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45"/>
  </p:notesMasterIdLst>
  <p:sldIdLst>
    <p:sldId id="321" r:id="rId2"/>
    <p:sldId id="330" r:id="rId3"/>
    <p:sldId id="382" r:id="rId4"/>
    <p:sldId id="383" r:id="rId5"/>
    <p:sldId id="384" r:id="rId6"/>
    <p:sldId id="385" r:id="rId7"/>
    <p:sldId id="331" r:id="rId8"/>
    <p:sldId id="332" r:id="rId9"/>
    <p:sldId id="333" r:id="rId10"/>
    <p:sldId id="334" r:id="rId11"/>
    <p:sldId id="335" r:id="rId12"/>
    <p:sldId id="336" r:id="rId13"/>
    <p:sldId id="389" r:id="rId14"/>
    <p:sldId id="338" r:id="rId15"/>
    <p:sldId id="386" r:id="rId16"/>
    <p:sldId id="340" r:id="rId17"/>
    <p:sldId id="342" r:id="rId18"/>
    <p:sldId id="390" r:id="rId19"/>
    <p:sldId id="343" r:id="rId20"/>
    <p:sldId id="391" r:id="rId21"/>
    <p:sldId id="344" r:id="rId22"/>
    <p:sldId id="345" r:id="rId23"/>
    <p:sldId id="346" r:id="rId24"/>
    <p:sldId id="376" r:id="rId25"/>
    <p:sldId id="349" r:id="rId26"/>
    <p:sldId id="350" r:id="rId27"/>
    <p:sldId id="387" r:id="rId28"/>
    <p:sldId id="351" r:id="rId29"/>
    <p:sldId id="392" r:id="rId30"/>
    <p:sldId id="393" r:id="rId31"/>
    <p:sldId id="394" r:id="rId32"/>
    <p:sldId id="352" r:id="rId33"/>
    <p:sldId id="353" r:id="rId34"/>
    <p:sldId id="355" r:id="rId35"/>
    <p:sldId id="356" r:id="rId36"/>
    <p:sldId id="357" r:id="rId37"/>
    <p:sldId id="358" r:id="rId38"/>
    <p:sldId id="388" r:id="rId39"/>
    <p:sldId id="360" r:id="rId40"/>
    <p:sldId id="361" r:id="rId41"/>
    <p:sldId id="362" r:id="rId42"/>
    <p:sldId id="363" r:id="rId43"/>
    <p:sldId id="375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7" autoAdjust="0"/>
    <p:restoredTop sz="97059" autoAdjust="0"/>
  </p:normalViewPr>
  <p:slideViewPr>
    <p:cSldViewPr snapToGrid="0">
      <p:cViewPr varScale="1">
        <p:scale>
          <a:sx n="130" d="100"/>
          <a:sy n="130" d="100"/>
        </p:scale>
        <p:origin x="200" y="240"/>
      </p:cViewPr>
      <p:guideLst/>
    </p:cSldViewPr>
  </p:slideViewPr>
  <p:outlineViewPr>
    <p:cViewPr>
      <p:scale>
        <a:sx n="33" d="100"/>
        <a:sy n="33" d="100"/>
      </p:scale>
      <p:origin x="0" y="-640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9159E0-43FE-E847-BD1F-013D39EEF7AD}" type="doc">
      <dgm:prSet loTypeId="urn:microsoft.com/office/officeart/2005/8/layout/arrow6" loCatId="relationship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799D16A-35E0-6740-9B74-8F1C9729CE21}">
      <dgm:prSet/>
      <dgm:spPr/>
      <dgm:t>
        <a:bodyPr/>
        <a:lstStyle/>
        <a:p>
          <a:pPr rtl="0"/>
          <a:r>
            <a:rPr lang="en-US" b="1" dirty="0"/>
            <a:t>User Level Thread (ULT)</a:t>
          </a:r>
        </a:p>
      </dgm:t>
    </dgm:pt>
    <dgm:pt modelId="{FDD94F53-35CB-2242-8F4E-828BB85D3FAF}" type="parTrans" cxnId="{6AB236C5-4BDC-1E45-8B59-718C7F7B3667}">
      <dgm:prSet/>
      <dgm:spPr/>
      <dgm:t>
        <a:bodyPr/>
        <a:lstStyle/>
        <a:p>
          <a:endParaRPr lang="en-US" b="1"/>
        </a:p>
      </dgm:t>
    </dgm:pt>
    <dgm:pt modelId="{184FBB80-03CA-734D-8281-28A639685E55}" type="sibTrans" cxnId="{6AB236C5-4BDC-1E45-8B59-718C7F7B3667}">
      <dgm:prSet/>
      <dgm:spPr/>
      <dgm:t>
        <a:bodyPr/>
        <a:lstStyle/>
        <a:p>
          <a:endParaRPr lang="en-US" b="1"/>
        </a:p>
      </dgm:t>
    </dgm:pt>
    <dgm:pt modelId="{C803ADBF-8CE0-C844-8CEF-99760ABDF659}">
      <dgm:prSet/>
      <dgm:spPr/>
      <dgm:t>
        <a:bodyPr/>
        <a:lstStyle/>
        <a:p>
          <a:pPr rtl="0"/>
          <a:endParaRPr lang="en-NZ" b="1" dirty="0"/>
        </a:p>
      </dgm:t>
    </dgm:pt>
    <dgm:pt modelId="{66974104-EED0-1346-B9EA-2004DB459F12}" type="parTrans" cxnId="{6417AEE5-8F4B-4641-99FA-8F439BE8AD4E}">
      <dgm:prSet/>
      <dgm:spPr/>
      <dgm:t>
        <a:bodyPr/>
        <a:lstStyle/>
        <a:p>
          <a:endParaRPr lang="en-US" b="1"/>
        </a:p>
      </dgm:t>
    </dgm:pt>
    <dgm:pt modelId="{D9EE15B6-445A-8C46-A10D-7C487F0E2F37}" type="sibTrans" cxnId="{6417AEE5-8F4B-4641-99FA-8F439BE8AD4E}">
      <dgm:prSet/>
      <dgm:spPr/>
      <dgm:t>
        <a:bodyPr/>
        <a:lstStyle/>
        <a:p>
          <a:endParaRPr lang="en-US" b="1"/>
        </a:p>
      </dgm:t>
    </dgm:pt>
    <dgm:pt modelId="{DC411167-CC55-CB42-BD03-7807F64D5679}">
      <dgm:prSet/>
      <dgm:spPr/>
      <dgm:t>
        <a:bodyPr/>
        <a:lstStyle/>
        <a:p>
          <a:pPr rtl="0"/>
          <a:r>
            <a:rPr lang="en-NZ" b="1" dirty="0"/>
            <a:t>Kernel level Thread (KLT) </a:t>
          </a:r>
        </a:p>
      </dgm:t>
    </dgm:pt>
    <dgm:pt modelId="{98E173CB-7F0A-B344-AD55-CDD680A68ED8}" type="parTrans" cxnId="{2366C24F-60CA-F941-9291-5FE1DC720459}">
      <dgm:prSet/>
      <dgm:spPr/>
      <dgm:t>
        <a:bodyPr/>
        <a:lstStyle/>
        <a:p>
          <a:endParaRPr lang="en-US" b="1"/>
        </a:p>
      </dgm:t>
    </dgm:pt>
    <dgm:pt modelId="{3060C359-71F5-1C41-96AA-761973EDE44E}" type="sibTrans" cxnId="{2366C24F-60CA-F941-9291-5FE1DC720459}">
      <dgm:prSet/>
      <dgm:spPr/>
      <dgm:t>
        <a:bodyPr/>
        <a:lstStyle/>
        <a:p>
          <a:endParaRPr lang="en-US" b="1"/>
        </a:p>
      </dgm:t>
    </dgm:pt>
    <dgm:pt modelId="{179BE68D-A4BF-DB4D-8129-B93AAA7C285F}" type="pres">
      <dgm:prSet presAssocID="{309159E0-43FE-E847-BD1F-013D39EEF7AD}" presName="compositeShape" presStyleCnt="0">
        <dgm:presLayoutVars>
          <dgm:chMax val="2"/>
          <dgm:dir/>
          <dgm:resizeHandles val="exact"/>
        </dgm:presLayoutVars>
      </dgm:prSet>
      <dgm:spPr/>
    </dgm:pt>
    <dgm:pt modelId="{7BE085AC-6150-B14A-A83D-67F237B285BA}" type="pres">
      <dgm:prSet presAssocID="{309159E0-43FE-E847-BD1F-013D39EEF7AD}" presName="ribbon" presStyleLbl="node1" presStyleIdx="0" presStyleCnt="1"/>
      <dgm:spPr/>
    </dgm:pt>
    <dgm:pt modelId="{14344616-8A66-5441-84C7-1DA3555BB89A}" type="pres">
      <dgm:prSet presAssocID="{309159E0-43FE-E847-BD1F-013D39EEF7AD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E8D499D1-31A4-DF4A-800E-FEE8DE3CF070}" type="pres">
      <dgm:prSet presAssocID="{309159E0-43FE-E847-BD1F-013D39EEF7AD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484921E-8A27-1A4B-A15D-4AAF8EA5B535}" type="presOf" srcId="{C803ADBF-8CE0-C844-8CEF-99760ABDF659}" destId="{14344616-8A66-5441-84C7-1DA3555BB89A}" srcOrd="0" destOrd="1" presId="urn:microsoft.com/office/officeart/2005/8/layout/arrow6"/>
    <dgm:cxn modelId="{AE4B9C48-3A05-2F44-A2BE-C5567B9C8A3A}" type="presOf" srcId="{6799D16A-35E0-6740-9B74-8F1C9729CE21}" destId="{14344616-8A66-5441-84C7-1DA3555BB89A}" srcOrd="0" destOrd="0" presId="urn:microsoft.com/office/officeart/2005/8/layout/arrow6"/>
    <dgm:cxn modelId="{2366C24F-60CA-F941-9291-5FE1DC720459}" srcId="{309159E0-43FE-E847-BD1F-013D39EEF7AD}" destId="{DC411167-CC55-CB42-BD03-7807F64D5679}" srcOrd="1" destOrd="0" parTransId="{98E173CB-7F0A-B344-AD55-CDD680A68ED8}" sibTransId="{3060C359-71F5-1C41-96AA-761973EDE44E}"/>
    <dgm:cxn modelId="{5F39187C-45DA-BF45-8DBB-2BE4B64DCEB8}" type="presOf" srcId="{309159E0-43FE-E847-BD1F-013D39EEF7AD}" destId="{179BE68D-A4BF-DB4D-8129-B93AAA7C285F}" srcOrd="0" destOrd="0" presId="urn:microsoft.com/office/officeart/2005/8/layout/arrow6"/>
    <dgm:cxn modelId="{94F7CEB7-5EF8-5C49-A05A-1A72C7B540C8}" type="presOf" srcId="{DC411167-CC55-CB42-BD03-7807F64D5679}" destId="{E8D499D1-31A4-DF4A-800E-FEE8DE3CF070}" srcOrd="0" destOrd="0" presId="urn:microsoft.com/office/officeart/2005/8/layout/arrow6"/>
    <dgm:cxn modelId="{6AB236C5-4BDC-1E45-8B59-718C7F7B3667}" srcId="{309159E0-43FE-E847-BD1F-013D39EEF7AD}" destId="{6799D16A-35E0-6740-9B74-8F1C9729CE21}" srcOrd="0" destOrd="0" parTransId="{FDD94F53-35CB-2242-8F4E-828BB85D3FAF}" sibTransId="{184FBB80-03CA-734D-8281-28A639685E55}"/>
    <dgm:cxn modelId="{6417AEE5-8F4B-4641-99FA-8F439BE8AD4E}" srcId="{6799D16A-35E0-6740-9B74-8F1C9729CE21}" destId="{C803ADBF-8CE0-C844-8CEF-99760ABDF659}" srcOrd="0" destOrd="0" parTransId="{66974104-EED0-1346-B9EA-2004DB459F12}" sibTransId="{D9EE15B6-445A-8C46-A10D-7C487F0E2F37}"/>
    <dgm:cxn modelId="{A49971C1-FDF8-5540-B3FB-1EEF31070A2C}" type="presParOf" srcId="{179BE68D-A4BF-DB4D-8129-B93AAA7C285F}" destId="{7BE085AC-6150-B14A-A83D-67F237B285BA}" srcOrd="0" destOrd="0" presId="urn:microsoft.com/office/officeart/2005/8/layout/arrow6"/>
    <dgm:cxn modelId="{B9126B3E-6491-754B-A7BB-5826BDB47042}" type="presParOf" srcId="{179BE68D-A4BF-DB4D-8129-B93AAA7C285F}" destId="{14344616-8A66-5441-84C7-1DA3555BB89A}" srcOrd="1" destOrd="0" presId="urn:microsoft.com/office/officeart/2005/8/layout/arrow6"/>
    <dgm:cxn modelId="{6899E1F8-AE76-7843-ACA6-9E901FA2858B}" type="presParOf" srcId="{179BE68D-A4BF-DB4D-8129-B93AAA7C285F}" destId="{E8D499D1-31A4-DF4A-800E-FEE8DE3CF070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E085AC-6150-B14A-A83D-67F237B285BA}">
      <dsp:nvSpPr>
        <dsp:cNvPr id="0" name=""/>
        <dsp:cNvSpPr/>
      </dsp:nvSpPr>
      <dsp:spPr>
        <a:xfrm>
          <a:off x="0" y="830579"/>
          <a:ext cx="7848600" cy="3139440"/>
        </a:xfrm>
        <a:prstGeom prst="leftRightRibb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344616-8A66-5441-84C7-1DA3555BB89A}">
      <dsp:nvSpPr>
        <dsp:cNvPr id="0" name=""/>
        <dsp:cNvSpPr/>
      </dsp:nvSpPr>
      <dsp:spPr>
        <a:xfrm>
          <a:off x="941831" y="1379981"/>
          <a:ext cx="2590038" cy="153832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03124" rIns="0" bIns="110490" numCol="1" spcCol="1270" anchor="ctr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User Level Thread (ULT)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NZ" sz="2300" b="1" kern="1200" dirty="0"/>
        </a:p>
      </dsp:txBody>
      <dsp:txXfrm>
        <a:off x="941831" y="1379981"/>
        <a:ext cx="2590038" cy="1538325"/>
      </dsp:txXfrm>
    </dsp:sp>
    <dsp:sp modelId="{E8D499D1-31A4-DF4A-800E-FEE8DE3CF070}">
      <dsp:nvSpPr>
        <dsp:cNvPr id="0" name=""/>
        <dsp:cNvSpPr/>
      </dsp:nvSpPr>
      <dsp:spPr>
        <a:xfrm>
          <a:off x="3924300" y="1882292"/>
          <a:ext cx="3060954" cy="153832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03124" rIns="0" bIns="110490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900" b="1" kern="1200" dirty="0"/>
            <a:t>Kernel level Thread (KLT) </a:t>
          </a:r>
        </a:p>
      </dsp:txBody>
      <dsp:txXfrm>
        <a:off x="3924300" y="1882292"/>
        <a:ext cx="3060954" cy="15383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C0710-FEB9-4CE2-9CD9-B63D1A3DC4C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A7FE0-CD29-4BAD-A9FD-CBED1172C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22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333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549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009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729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325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650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b="1" dirty="0">
                <a:effectLst/>
                <a:latin typeface="Segoe UI Web (West European)"/>
              </a:rPr>
              <a:t>前台和后台工作</a:t>
            </a:r>
            <a:r>
              <a:rPr lang="zh-CN" altLang="en-US" dirty="0">
                <a:effectLst/>
                <a:latin typeface="Segoe UI Web (West European)"/>
              </a:rPr>
              <a:t>：例如，在电子表格程序中， 一个线程可以显示菜单并读取用户输入，而另一个线程执行用户命令并更新电子表格。这种安排通常允许程序在上一个命令完成之前提示输入下一个命令，从而提高应用程序的感知速度。</a:t>
            </a:r>
            <a:endParaRPr lang="en-US" altLang="zh-CN" dirty="0">
              <a:effectLst/>
              <a:latin typeface="Segoe UI Web (West European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  <a:latin typeface="Segoe UI Web (West European)"/>
              </a:rPr>
              <a:t> </a:t>
            </a:r>
            <a:r>
              <a:rPr lang="en-US" altLang="zh-CN" dirty="0">
                <a:effectLst/>
                <a:latin typeface="Segoe UI Web (West European)"/>
              </a:rPr>
              <a:t>• </a:t>
            </a:r>
            <a:r>
              <a:rPr lang="zh-CN" altLang="en-US" b="1" dirty="0">
                <a:effectLst/>
                <a:latin typeface="Segoe UI Web (West European)"/>
              </a:rPr>
              <a:t>异步处理</a:t>
            </a:r>
            <a:r>
              <a:rPr lang="zh-CN" altLang="en-US" dirty="0">
                <a:effectLst/>
                <a:latin typeface="Segoe UI Web (West European)"/>
              </a:rPr>
              <a:t>：程序中的异步元素可以 作为线程实现。例如，为了防止电源故障，可以设计一个字处理器，使其随机存取存储器 （</a:t>
            </a:r>
            <a:r>
              <a:rPr lang="en-US" altLang="zh-CN" dirty="0">
                <a:effectLst/>
                <a:latin typeface="Segoe UI Web (West European)"/>
              </a:rPr>
              <a:t>RAM</a:t>
            </a:r>
            <a:r>
              <a:rPr lang="zh-CN" altLang="en-US" dirty="0">
                <a:effectLst/>
                <a:latin typeface="Segoe UI Web (West European)"/>
              </a:rPr>
              <a:t>） 缓冲区每分钟写入磁盘一次。可以创建一个线程，其唯一工作是定期备份，并且直接与 </a:t>
            </a:r>
            <a:r>
              <a:rPr lang="en-US" altLang="zh-CN" dirty="0">
                <a:effectLst/>
                <a:latin typeface="Segoe UI Web (West European)"/>
              </a:rPr>
              <a:t>OS </a:t>
            </a:r>
            <a:r>
              <a:rPr lang="zh-CN" altLang="en-US" dirty="0">
                <a:effectLst/>
                <a:latin typeface="Segoe UI Web (West European)"/>
              </a:rPr>
              <a:t>调度自身</a:t>
            </a:r>
            <a:r>
              <a:rPr lang="en-US" altLang="zh-CN" dirty="0">
                <a:effectLst/>
                <a:latin typeface="Segoe UI Web (West European)"/>
              </a:rPr>
              <a:t>;</a:t>
            </a:r>
            <a:r>
              <a:rPr lang="zh-CN" altLang="en-US" dirty="0">
                <a:effectLst/>
                <a:latin typeface="Segoe UI Web (West European)"/>
              </a:rPr>
              <a:t>主程序中不需要花哨的代码来提供时间检查或协调输入和输出。</a:t>
            </a:r>
            <a:endParaRPr lang="en-US" altLang="zh-CN" dirty="0">
              <a:effectLst/>
              <a:latin typeface="Segoe UI Web (West European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  <a:latin typeface="Segoe UI Web (West European)"/>
              </a:rPr>
              <a:t> </a:t>
            </a:r>
            <a:r>
              <a:rPr lang="en-US" altLang="zh-CN" dirty="0">
                <a:effectLst/>
                <a:latin typeface="Segoe UI Web (West European)"/>
              </a:rPr>
              <a:t>• </a:t>
            </a:r>
            <a:r>
              <a:rPr lang="zh-CN" altLang="en-US" b="1" dirty="0">
                <a:effectLst/>
                <a:latin typeface="Segoe UI Web (West European)"/>
              </a:rPr>
              <a:t>执行速度</a:t>
            </a:r>
            <a:r>
              <a:rPr lang="zh-CN" altLang="en-US" dirty="0">
                <a:effectLst/>
                <a:latin typeface="Segoe UI Web (West European)"/>
              </a:rPr>
              <a:t>：多线程进程可以计算一批数据 从设备读取下一批时。在多处理器系统上，来自同一进程的多个线程可能能够同时执行。因此，即使一个线程可能被阻塞以使 </a:t>
            </a:r>
            <a:r>
              <a:rPr lang="en-US" altLang="zh-CN" dirty="0">
                <a:effectLst/>
                <a:latin typeface="Segoe UI Web (West European)"/>
              </a:rPr>
              <a:t>I/O</a:t>
            </a:r>
            <a:r>
              <a:rPr lang="zh-CN" altLang="en-US" dirty="0">
                <a:effectLst/>
                <a:latin typeface="Segoe UI Web (West European)"/>
              </a:rPr>
              <a:t>作读取一批数据，另一个线程也可能正在执行。</a:t>
            </a:r>
            <a:endParaRPr lang="en-US" altLang="zh-CN" b="1" dirty="0">
              <a:effectLst/>
              <a:latin typeface="Segoe UI Web (West European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effectLst/>
                <a:latin typeface="Segoe UI Web (West European)"/>
              </a:rPr>
              <a:t> </a:t>
            </a:r>
            <a:r>
              <a:rPr lang="en-US" altLang="zh-CN" b="1" dirty="0">
                <a:effectLst/>
                <a:latin typeface="Segoe UI Web (West European)"/>
              </a:rPr>
              <a:t>• </a:t>
            </a:r>
            <a:r>
              <a:rPr lang="zh-CN" altLang="en-US" b="1" dirty="0">
                <a:effectLst/>
                <a:latin typeface="Segoe UI Web (West European)"/>
              </a:rPr>
              <a:t>模块化项目结构</a:t>
            </a:r>
            <a:r>
              <a:rPr lang="zh-CN" altLang="en-US" dirty="0">
                <a:effectLst/>
                <a:latin typeface="Segoe UI Web (West European)"/>
              </a:rPr>
              <a:t>：涉及各种活动或 使用线程可以更轻松地设计和实现输入和输出的各种源和目标。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845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3582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896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44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401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794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825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494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523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05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5217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169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1731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235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8404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6338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1587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498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450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676ED-31AD-43FB-A49E-D33E228AB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422C94-50F2-4AE9-86A9-E61113E14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A43B6-600F-417C-93A9-1FD37B86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518D2-B6AF-44E6-AA62-E551DAC8C681}" type="datetime1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46F7F6-9FE2-4D4C-864B-75CAFF397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D69EF-23A2-4ACE-83F0-B1DA318E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78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71735-B29C-4DD1-A401-C0EC3324C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136523"/>
            <a:ext cx="10515600" cy="61676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E37B7-8C78-4782-A312-6CE3597C9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5175794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372F8-B13E-4C13-8035-517AFC04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‹#›</a:t>
            </a:fld>
            <a:r>
              <a:rPr lang="en-US" dirty="0"/>
              <a:t>/56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CFC96DF-A291-4168-A068-D1202F815F00}"/>
              </a:ext>
            </a:extLst>
          </p:cNvPr>
          <p:cNvSpPr txBox="1"/>
          <p:nvPr userDrawn="1"/>
        </p:nvSpPr>
        <p:spPr>
          <a:xfrm>
            <a:off x="4464595" y="6369251"/>
            <a:ext cx="3262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OS: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Thread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7DCD789-2F9C-4890-8FFB-CFE5A82A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/>
          <a:p>
            <a:fld id="{CAE4635A-F0E4-48AF-AAB4-A99FBE2C944F}" type="datetime1">
              <a:rPr lang="zh-CN" altLang="en-US" smtClean="0"/>
              <a:t>2026/3/17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04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FB2E7-CD10-401E-B2A8-7149F847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A83809-0CD6-4E99-B235-4D681390A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11F12C-08AA-45AB-908E-59440A6C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1E9D2-2264-459C-8B3D-B5F4E24A78EE}" type="datetime1">
              <a:rPr lang="zh-CN" altLang="en-US" smtClean="0"/>
              <a:t>2026/3/17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61642-9D96-4148-8180-D0B2B501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4EB5D8-A13F-457E-826D-95AC9FB5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385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E999A-7582-4E5D-A9FB-8CDEF52E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3E153-1AD5-46DD-B8DE-61DF0461F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5248A8-0745-4392-A1F2-F6DF355FF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9D8C1F-5ACD-48A3-93C6-718634CC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14383-127D-45CE-985C-F5D7DFB9A214}" type="datetime1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E22B1C-A4A1-4342-9DAC-218041BC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CCC53A-B54E-4AEB-86B3-C8CD6AF7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698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DE34E-984F-4F04-A7FF-17195BCF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761511-A802-4F5E-86A2-D80D5C0AD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E9FAF3-D8C1-45A2-BA48-80B349866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251460-B631-4C46-908A-FE9A10522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EF5D71-25C4-4922-9405-6A048B911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9751F0-F0EA-4B00-B971-5EE1B377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0796-D505-4121-85A8-A7000215742F}" type="datetime1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047BC4-C2D4-4C81-B588-5459ACF0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9723A5-6ECE-4EAA-A5C6-EABD8CD3A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63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852D2-8976-40DD-BA31-408AB98E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858EC2-E957-4F1C-83FD-787BB2CC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18E7-AF16-403D-9175-2BEDA2EA9B61}" type="datetime1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06991F-2419-4982-884B-D42FF1AA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98A650-CAEE-412E-B9BF-886CCFDE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13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DBD33B-092C-4074-8EDA-3C4FE78A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8788" y="6356351"/>
            <a:ext cx="2743200" cy="365125"/>
          </a:xfrm>
        </p:spPr>
        <p:txBody>
          <a:bodyPr/>
          <a:lstStyle/>
          <a:p>
            <a:fld id="{E85D3D3A-77F9-424B-8401-D88E7443C7BA}" type="datetime1">
              <a:rPr lang="zh-CN" altLang="en-US" smtClean="0"/>
              <a:t>2026/3/17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0D8F40-5181-4836-B8DD-3A9908B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D2A77F-D152-4CDD-99EA-FD8387BB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461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21370-F61A-4FFA-8158-63411BEF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54B4E2-CBF2-4B8F-9FBE-CE369EF6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417E24-6C8C-4AC7-8665-96EC08B1E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33FA8D-1C48-4107-82A1-179513CC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0EA7-74E6-4FB2-9140-FB5D8B03A084}" type="datetime1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FBC6DC-C4E0-4913-82DB-024E67FF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67BBE5-0CE5-41DC-8976-ECDB9176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570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4D30F-E495-4188-86D6-1CC70B805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FD1BDB-E14E-4C2F-8A31-0C6039476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D96B3D-921F-4319-83AB-6599543C1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720358-A521-4F46-ABEB-E0AE1BAB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A25B-0834-4655-A019-0CA277BBA62B}" type="datetime1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78CC20-8FFA-4C0C-89A1-56552414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CBA9C1-FE7E-475B-A075-82D6279F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10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17C9F-382B-48B3-AEE3-A1275451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5CEB06-E6AC-47BF-A94B-0ED4AAAD2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C0F83F-CE58-4F03-BCC7-46A6A13F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E3FE8-D20A-4EE4-8226-599A06356ED0}" type="datetime1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9299B-B55F-4721-90C3-0CFE23FA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90ADCF-1B44-43D8-AB3F-8541D623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477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D9C40E-5C6D-4234-8128-E50188E5E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E915B8-7307-4BCC-9A61-569D45C95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FCA776-3C88-4450-AD71-6D2C500A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E7FE-20C0-45BF-B15A-146DCD6D0F0A}" type="datetime1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002269-E005-4BE1-94C3-C26720F2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9685CF-5F0E-4F70-99BE-CCD46BC0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24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42FFB6-8F21-4ACC-BC1E-3F66BCBF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17" y="156305"/>
            <a:ext cx="10515600" cy="5969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25B20-A1AA-4A92-9D7A-2F7B14A4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28915"/>
            <a:ext cx="10515600" cy="5175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 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8EA23-1C26-401F-ABA1-2D300BB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D2516-6BB2-4D80-AD17-EF4D1CEDF814}" type="datetime1">
              <a:rPr lang="zh-CN" altLang="en-US" smtClean="0"/>
              <a:pPr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A4D13-4A5F-475E-88F7-2A6ECD6DB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FCE78-DD67-4C8D-A584-09B016DC5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3D444-7193-46AD-90E8-D84AE4B61CFF}" type="slidenum">
              <a:rPr lang="en-US" smtClean="0"/>
              <a:pPr/>
              <a:t>‹#›</a:t>
            </a:fld>
            <a:r>
              <a:rPr lang="en-US"/>
              <a:t>/56</a:t>
            </a:r>
            <a:endParaRPr 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0F50452-02B7-425B-AC62-B4A14A701625}"/>
              </a:ext>
            </a:extLst>
          </p:cNvPr>
          <p:cNvCxnSpPr>
            <a:cxnSpLocks/>
          </p:cNvCxnSpPr>
          <p:nvPr userDrawn="1"/>
        </p:nvCxnSpPr>
        <p:spPr>
          <a:xfrm>
            <a:off x="627017" y="767807"/>
            <a:ext cx="1098441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5A9AA1-FEE7-4EAB-B05C-92F8372A2329}"/>
              </a:ext>
            </a:extLst>
          </p:cNvPr>
          <p:cNvCxnSpPr>
            <a:cxnSpLocks/>
          </p:cNvCxnSpPr>
          <p:nvPr userDrawn="1"/>
        </p:nvCxnSpPr>
        <p:spPr>
          <a:xfrm>
            <a:off x="627017" y="6287589"/>
            <a:ext cx="1098441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E98AC04-83D3-4028-869F-84D382FA74BB}"/>
              </a:ext>
            </a:extLst>
          </p:cNvPr>
          <p:cNvGrpSpPr/>
          <p:nvPr userDrawn="1"/>
        </p:nvGrpSpPr>
        <p:grpSpPr>
          <a:xfrm>
            <a:off x="9982200" y="186423"/>
            <a:ext cx="1794536" cy="472074"/>
            <a:chOff x="504825" y="327025"/>
            <a:chExt cx="2482851" cy="636440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49F7D68F-F6C5-482F-BB06-4C7202C968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8955" t="8651" r="74262" b="8651"/>
            <a:stretch>
              <a:fillRect/>
            </a:stretch>
          </p:blipFill>
          <p:spPr>
            <a:xfrm>
              <a:off x="504825" y="327025"/>
              <a:ext cx="593725" cy="63644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8389FF0-6461-4154-A98D-1E4418062F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6206" t="8651" r="14969" b="8651"/>
            <a:stretch>
              <a:fillRect/>
            </a:stretch>
          </p:blipFill>
          <p:spPr>
            <a:xfrm>
              <a:off x="1260475" y="327025"/>
              <a:ext cx="1727201" cy="636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2796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7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q"/>
        <a:defRPr sz="20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iyang23@swjtu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161687FF-4D8B-476F-A989-0CACF6331D95}"/>
              </a:ext>
            </a:extLst>
          </p:cNvPr>
          <p:cNvSpPr/>
          <p:nvPr/>
        </p:nvSpPr>
        <p:spPr>
          <a:xfrm>
            <a:off x="618565" y="936171"/>
            <a:ext cx="10972800" cy="20585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5D9B819D-D4EF-4E75-9C10-0ED2F166A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0" y="3434241"/>
            <a:ext cx="6858000" cy="248758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Lecturer: Li Yang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Contact: </a:t>
            </a: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hlinkClick r:id="rId3"/>
              </a:rPr>
              <a:t>liyang23@swjtu.edu.cn</a:t>
            </a:r>
            <a:endParaRPr lang="en-US" altLang="zh-CN" sz="2800" dirty="0">
              <a:solidFill>
                <a:srgbClr val="0070C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Office: X31506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Faculty: Computer and AI</a:t>
            </a:r>
            <a:endParaRPr lang="zh-CN" altLang="en-US" sz="2800" dirty="0">
              <a:solidFill>
                <a:srgbClr val="0070C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D461E08B-6FE5-4470-BBEF-6F5FD1A23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5500" y="1418343"/>
            <a:ext cx="8001000" cy="988682"/>
          </a:xfrm>
        </p:spPr>
        <p:txBody>
          <a:bodyPr>
            <a:normAutofit/>
          </a:bodyPr>
          <a:lstStyle/>
          <a:p>
            <a:r>
              <a:rPr lang="en-US" altLang="zh-CN" sz="6000" dirty="0">
                <a:solidFill>
                  <a:schemeClr val="accent1"/>
                </a:solidFill>
              </a:rPr>
              <a:t>T</a:t>
            </a:r>
            <a:r>
              <a:rPr lang="en-US" altLang="zh-CN" sz="6000" b="1" dirty="0">
                <a:solidFill>
                  <a:schemeClr val="accent1"/>
                </a:solidFill>
              </a:rPr>
              <a:t>hreads</a:t>
            </a:r>
            <a:endParaRPr lang="zh-CN" altLang="en-US" sz="6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3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4: Threads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Process and threads</a:t>
            </a:r>
          </a:p>
          <a:p>
            <a:r>
              <a:rPr lang="en-US" altLang="zh-CN" dirty="0"/>
              <a:t>Types of Threads </a:t>
            </a:r>
          </a:p>
          <a:p>
            <a:r>
              <a:rPr lang="en-US" altLang="zh-CN" dirty="0"/>
              <a:t>Multicore / Multithread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5090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44A96-7EBA-4592-ABB0-C03F979D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altLang="zh-CN" dirty="0"/>
              <a:t>revious Content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8AFF-1CC0-4BD4-930D-AA1002DEB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state (2, 5, 7)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381169-3271-4BE2-882E-A41DDC7D7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032187-C433-4E12-994F-B312C84D7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2026/3/17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8442A8A-9BB3-4E67-8097-F06B369C6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45" y="2271722"/>
            <a:ext cx="4743953" cy="274956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03E6839-30B9-4DB9-A3B6-BDDE7BD47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153" y="1737023"/>
            <a:ext cx="5893787" cy="381896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BC08B2C-A123-4330-944B-A51D45F60503}"/>
              </a:ext>
            </a:extLst>
          </p:cNvPr>
          <p:cNvSpPr/>
          <p:nvPr/>
        </p:nvSpPr>
        <p:spPr>
          <a:xfrm>
            <a:off x="6737350" y="1737023"/>
            <a:ext cx="742950" cy="345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04A224-4108-4216-9B96-D616A45C3342}"/>
              </a:ext>
            </a:extLst>
          </p:cNvPr>
          <p:cNvSpPr/>
          <p:nvPr/>
        </p:nvSpPr>
        <p:spPr>
          <a:xfrm>
            <a:off x="7308850" y="2082801"/>
            <a:ext cx="171450" cy="441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5E4BA5-E65F-431D-9924-782E4900BA37}"/>
              </a:ext>
            </a:extLst>
          </p:cNvPr>
          <p:cNvSpPr/>
          <p:nvPr/>
        </p:nvSpPr>
        <p:spPr>
          <a:xfrm>
            <a:off x="7721600" y="2738878"/>
            <a:ext cx="742950" cy="345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94E28A-7C81-440A-9FF2-760B4B85ADB6}"/>
              </a:ext>
            </a:extLst>
          </p:cNvPr>
          <p:cNvSpPr/>
          <p:nvPr/>
        </p:nvSpPr>
        <p:spPr>
          <a:xfrm>
            <a:off x="7715250" y="2957833"/>
            <a:ext cx="171450" cy="441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8825A0-2021-4347-937D-25EC3F04AF92}"/>
              </a:ext>
            </a:extLst>
          </p:cNvPr>
          <p:cNvSpPr/>
          <p:nvPr/>
        </p:nvSpPr>
        <p:spPr>
          <a:xfrm>
            <a:off x="9099550" y="2149683"/>
            <a:ext cx="742950" cy="345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23AABF0-D59E-413C-8761-AAA549E6D0B4}"/>
              </a:ext>
            </a:extLst>
          </p:cNvPr>
          <p:cNvSpPr/>
          <p:nvPr/>
        </p:nvSpPr>
        <p:spPr>
          <a:xfrm>
            <a:off x="9610724" y="3226386"/>
            <a:ext cx="942975" cy="1536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37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35A77-8B99-4EE4-A308-72528361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altLang="zh-CN" dirty="0"/>
              <a:t>revious Content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2CB114-566E-40BA-9923-59ECCF99C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altLang="zh-CN" dirty="0"/>
              <a:t>rocess Image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A79ECD-F82C-4DB7-903B-1485218B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72D661-2885-454A-A06B-C673DE969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2026/3/17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698033-72F8-4094-98D3-20E903898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350154"/>
            <a:ext cx="5480050" cy="46667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D08830E-D1A3-4503-BE6F-121B211C3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929" y="1126198"/>
            <a:ext cx="1958292" cy="511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11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148BB-EC5E-4F17-93F7-D055313F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altLang="zh-CN" dirty="0"/>
              <a:t>revious Content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117AB-92ED-4731-A3BA-BFA9B14AB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altLang="zh-CN" dirty="0"/>
              <a:t>odel of Execution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D494E3-2AA1-409B-A9DA-A872769C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5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97375C-E233-4807-89FA-254D20EC2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2026/3/17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6B6930-B7D2-4E5E-92B6-B4F78C8FC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610" y="2032000"/>
            <a:ext cx="8667757" cy="2675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8355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09239-7E49-42AF-83C3-E3A3F44F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altLang="zh-CN" dirty="0"/>
              <a:t>revious Content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03618-31CB-43D8-8BF3-B51FCC4C0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altLang="zh-CN" dirty="0"/>
              <a:t>rocess Switch</a:t>
            </a: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save the </a:t>
            </a:r>
            <a:r>
              <a:rPr lang="en-US" b="1" dirty="0">
                <a:solidFill>
                  <a:srgbClr val="FF0000"/>
                </a:solidFill>
              </a:rPr>
              <a:t>context</a:t>
            </a:r>
            <a:r>
              <a:rPr lang="en-US" b="1" dirty="0"/>
              <a:t> of the processor</a:t>
            </a: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update the </a:t>
            </a:r>
            <a:r>
              <a:rPr lang="en-US" b="1" dirty="0">
                <a:solidFill>
                  <a:srgbClr val="FF0000"/>
                </a:solidFill>
              </a:rPr>
              <a:t>process control block </a:t>
            </a:r>
            <a:r>
              <a:rPr lang="en-US" b="1" dirty="0"/>
              <a:t>of the process currently in the running state</a:t>
            </a: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move the process control block of this process to the </a:t>
            </a:r>
            <a:r>
              <a:rPr lang="en-US" b="1" dirty="0">
                <a:solidFill>
                  <a:srgbClr val="FF0000"/>
                </a:solidFill>
              </a:rPr>
              <a:t>appropriate queue</a:t>
            </a: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select</a:t>
            </a:r>
            <a:r>
              <a:rPr lang="en-US" b="1" dirty="0"/>
              <a:t> another process for execution</a:t>
            </a: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update</a:t>
            </a:r>
            <a:r>
              <a:rPr lang="en-US" b="1" dirty="0"/>
              <a:t> the process control block of the process selected</a:t>
            </a: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update</a:t>
            </a:r>
            <a:r>
              <a:rPr lang="en-US" b="1" dirty="0"/>
              <a:t> memory management data structures</a:t>
            </a:r>
          </a:p>
          <a:p>
            <a:pPr marL="8001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restore </a:t>
            </a:r>
            <a:r>
              <a:rPr lang="en-US" b="1" dirty="0"/>
              <a:t>the context of the </a:t>
            </a:r>
            <a:r>
              <a:rPr lang="en-US" b="1" dirty="0">
                <a:solidFill>
                  <a:srgbClr val="FF0000"/>
                </a:solidFill>
              </a:rPr>
              <a:t>processor</a:t>
            </a:r>
            <a:r>
              <a:rPr lang="en-US" b="1" dirty="0"/>
              <a:t> to that which existed at the time the selected process was last switched out</a:t>
            </a:r>
            <a:endParaRPr lang="en-NZ" b="1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623A7F-A5FE-49A2-B9A4-1E869DD27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6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FEFD4C-CC80-4208-A0C5-F9D2E0F50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2026/3/17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4620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Mp3 application</a:t>
            </a:r>
            <a:endParaRPr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529376A-4AB1-47FC-ACFC-ACDBD876ED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381500" y="1514475"/>
            <a:ext cx="342900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76741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Mp3 application</a:t>
            </a:r>
            <a:endParaRPr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4B42C3F-2AAB-4809-870B-7675584D03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071812" y="1971675"/>
            <a:ext cx="6048375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53135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 Processes and Threads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Processes have two characteristics: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Resource Ownership</a:t>
            </a:r>
          </a:p>
          <a:p>
            <a:pPr lvl="2"/>
            <a:r>
              <a:rPr lang="en-US" altLang="zh-CN" sz="2400" dirty="0"/>
              <a:t>Process includes </a:t>
            </a:r>
            <a:r>
              <a:rPr lang="en-US" altLang="zh-CN" sz="2400" dirty="0">
                <a:solidFill>
                  <a:srgbClr val="0070C0"/>
                </a:solidFill>
              </a:rPr>
              <a:t>a virtual address space</a:t>
            </a:r>
            <a:r>
              <a:rPr lang="en-US" altLang="zh-CN" sz="2400" dirty="0"/>
              <a:t> to hold the process image</a:t>
            </a:r>
          </a:p>
          <a:p>
            <a:pPr lvl="2"/>
            <a:r>
              <a:rPr lang="en-US" altLang="zh-CN" sz="2400" dirty="0"/>
              <a:t>OS performs a </a:t>
            </a:r>
            <a:r>
              <a:rPr lang="en-US" altLang="zh-CN" sz="2400" dirty="0">
                <a:solidFill>
                  <a:srgbClr val="0070C0"/>
                </a:solidFill>
              </a:rPr>
              <a:t>protection function </a:t>
            </a:r>
            <a:r>
              <a:rPr lang="en-US" altLang="zh-CN" sz="2400" dirty="0"/>
              <a:t>to prevent unwanted interference between processes with respect to </a:t>
            </a:r>
            <a:r>
              <a:rPr lang="en-US" altLang="zh-CN" sz="2400" dirty="0">
                <a:solidFill>
                  <a:srgbClr val="0070C0"/>
                </a:solidFill>
              </a:rPr>
              <a:t>resources</a:t>
            </a:r>
            <a:r>
              <a:rPr lang="en-US" altLang="zh-CN" sz="2400" dirty="0"/>
              <a:t>, such as </a:t>
            </a:r>
            <a:r>
              <a:rPr lang="en-US" altLang="zh-CN" sz="2400" dirty="0">
                <a:solidFill>
                  <a:srgbClr val="0070C0"/>
                </a:solidFill>
              </a:rPr>
              <a:t>processors, main memory, files and I/O resources</a:t>
            </a:r>
          </a:p>
          <a:p>
            <a:pPr lvl="2"/>
            <a:endParaRPr lang="en-US" altLang="zh-CN" sz="2400" dirty="0">
              <a:solidFill>
                <a:srgbClr val="0070C0"/>
              </a:solidFill>
            </a:endParaRP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Scheduling/Execution</a:t>
            </a:r>
          </a:p>
          <a:p>
            <a:pPr lvl="2"/>
            <a:r>
              <a:rPr lang="en-US" altLang="zh-CN" sz="2400" dirty="0"/>
              <a:t>Follows </a:t>
            </a:r>
            <a:r>
              <a:rPr lang="en-US" altLang="zh-CN" sz="2400" dirty="0">
                <a:solidFill>
                  <a:srgbClr val="0070C0"/>
                </a:solidFill>
              </a:rPr>
              <a:t>an execution path </a:t>
            </a:r>
            <a:r>
              <a:rPr lang="en-US" altLang="zh-CN" sz="2400" dirty="0"/>
              <a:t>that may be interleaved with other processes</a:t>
            </a:r>
          </a:p>
          <a:p>
            <a:pPr lvl="2"/>
            <a:r>
              <a:rPr lang="en-US" altLang="zh-CN" sz="2400" dirty="0"/>
              <a:t>A process has an execution </a:t>
            </a:r>
            <a:r>
              <a:rPr lang="en-US" altLang="zh-CN" sz="2400" dirty="0">
                <a:solidFill>
                  <a:srgbClr val="0070C0"/>
                </a:solidFill>
              </a:rPr>
              <a:t>state </a:t>
            </a:r>
            <a:r>
              <a:rPr lang="en-US" altLang="zh-CN" sz="2400" dirty="0"/>
              <a:t>(Running, Ready, etc.) and a dispatching </a:t>
            </a:r>
            <a:r>
              <a:rPr lang="en-US" altLang="zh-CN" sz="2400" dirty="0">
                <a:solidFill>
                  <a:srgbClr val="0070C0"/>
                </a:solidFill>
              </a:rPr>
              <a:t>priority </a:t>
            </a:r>
          </a:p>
          <a:p>
            <a:pPr lvl="2"/>
            <a:r>
              <a:rPr lang="en-US" altLang="zh-CN" sz="2400" dirty="0"/>
              <a:t>A process is </a:t>
            </a:r>
            <a:r>
              <a:rPr lang="en-US" altLang="zh-CN" sz="2400" dirty="0">
                <a:solidFill>
                  <a:srgbClr val="0070C0"/>
                </a:solidFill>
              </a:rPr>
              <a:t>scheduled</a:t>
            </a:r>
            <a:r>
              <a:rPr lang="en-US" altLang="zh-CN" sz="2400" dirty="0"/>
              <a:t> and </a:t>
            </a:r>
            <a:r>
              <a:rPr lang="en-US" altLang="zh-CN" sz="2400" dirty="0">
                <a:solidFill>
                  <a:srgbClr val="0070C0"/>
                </a:solidFill>
              </a:rPr>
              <a:t>dispatched</a:t>
            </a:r>
            <a:r>
              <a:rPr lang="en-US" altLang="zh-CN" sz="2400" dirty="0"/>
              <a:t> by the OS</a:t>
            </a:r>
          </a:p>
          <a:p>
            <a:pPr lvl="2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7669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Processes and Threads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Differences:</a:t>
            </a:r>
          </a:p>
          <a:p>
            <a:pPr lvl="1"/>
            <a:r>
              <a:rPr lang="en-US" altLang="zh-CN" sz="2400" dirty="0"/>
              <a:t>The </a:t>
            </a:r>
            <a:r>
              <a:rPr lang="en-US" altLang="zh-CN" sz="2400" dirty="0">
                <a:solidFill>
                  <a:srgbClr val="FF0000"/>
                </a:solidFill>
              </a:rPr>
              <a:t>unit of dispatching </a:t>
            </a:r>
            <a:r>
              <a:rPr lang="en-US" altLang="zh-CN" sz="2400" dirty="0"/>
              <a:t>is referred to as a thread or lightweight process</a:t>
            </a:r>
          </a:p>
          <a:p>
            <a:pPr lvl="1"/>
            <a:r>
              <a:rPr lang="en-US" altLang="zh-CN" sz="2400" dirty="0"/>
              <a:t>The </a:t>
            </a:r>
            <a:r>
              <a:rPr lang="en-US" altLang="zh-CN" sz="2400" dirty="0">
                <a:solidFill>
                  <a:srgbClr val="FF0000"/>
                </a:solidFill>
              </a:rPr>
              <a:t>unit of resource ownership</a:t>
            </a:r>
            <a:r>
              <a:rPr lang="en-US" altLang="zh-CN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/>
              <a:t>is referred to as a process or task</a:t>
            </a:r>
          </a:p>
          <a:p>
            <a:pPr lvl="1"/>
            <a:r>
              <a:rPr lang="en-US" altLang="zh-CN" sz="2400" dirty="0"/>
              <a:t>Multithreading - The ability of an OS to support </a:t>
            </a:r>
            <a:r>
              <a:rPr lang="en-US" altLang="zh-CN" sz="2400" dirty="0">
                <a:solidFill>
                  <a:srgbClr val="FF0000"/>
                </a:solidFill>
              </a:rPr>
              <a:t>multiple, concurrent paths of execution </a:t>
            </a:r>
            <a:r>
              <a:rPr lang="en-US" altLang="zh-CN" sz="2400" dirty="0"/>
              <a:t>within a single process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1396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 Threaded Approaches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single thread of execution per process</a:t>
            </a:r>
          </a:p>
          <a:p>
            <a:pPr lvl="1"/>
            <a:r>
              <a:rPr lang="en-US" altLang="zh-CN" sz="2400" dirty="0"/>
              <a:t>the concept of a thread is </a:t>
            </a:r>
            <a:r>
              <a:rPr lang="en-US" altLang="zh-CN" sz="2400" dirty="0">
                <a:solidFill>
                  <a:srgbClr val="0070C0"/>
                </a:solidFill>
              </a:rPr>
              <a:t>not </a:t>
            </a:r>
            <a:r>
              <a:rPr lang="en-US" sz="2400" dirty="0">
                <a:solidFill>
                  <a:srgbClr val="0070C0"/>
                </a:solidFill>
              </a:rPr>
              <a:t>recognized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MS-DOS</a:t>
            </a:r>
          </a:p>
          <a:p>
            <a:r>
              <a:rPr lang="en-US" altLang="zh-CN" dirty="0"/>
              <a:t>Traditional Unix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Content Placeholder 3" descr="Fig04_01.gif">
            <a:extLst>
              <a:ext uri="{FF2B5EF4-FFF2-40B4-BE49-F238E27FC236}">
                <a16:creationId xmlns:a16="http://schemas.microsoft.com/office/drawing/2014/main" id="{C28E3A58-ECC3-40BD-B7FE-AB4207F58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0" y="1701800"/>
            <a:ext cx="5418302" cy="416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CE0FB3B-FDED-4DB0-B4BB-FC5DFF7448A6}"/>
              </a:ext>
            </a:extLst>
          </p:cNvPr>
          <p:cNvSpPr/>
          <p:nvPr/>
        </p:nvSpPr>
        <p:spPr>
          <a:xfrm>
            <a:off x="6369050" y="1866900"/>
            <a:ext cx="2393950" cy="3086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B71D3B-5772-4A1F-ABCD-17B77DA304E3}"/>
              </a:ext>
            </a:extLst>
          </p:cNvPr>
          <p:cNvSpPr/>
          <p:nvPr/>
        </p:nvSpPr>
        <p:spPr>
          <a:xfrm>
            <a:off x="6634011" y="5187148"/>
            <a:ext cx="4454291" cy="840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The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implement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methods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of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an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application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647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Multithreaded Approaches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5111750" cy="5175794"/>
          </a:xfrm>
        </p:spPr>
        <p:txBody>
          <a:bodyPr/>
          <a:lstStyle/>
          <a:p>
            <a:r>
              <a:rPr lang="en-US" altLang="zh-CN" dirty="0"/>
              <a:t>The right half depicts multithreaded approaches</a:t>
            </a:r>
          </a:p>
          <a:p>
            <a:r>
              <a:rPr lang="en-US" sz="2400" dirty="0"/>
              <a:t>A Java </a:t>
            </a:r>
            <a:r>
              <a:rPr lang="en-US" sz="2400" dirty="0">
                <a:solidFill>
                  <a:srgbClr val="FF0000"/>
                </a:solidFill>
              </a:rPr>
              <a:t>run-time environment </a:t>
            </a:r>
            <a:r>
              <a:rPr lang="en-US" sz="2400" dirty="0"/>
              <a:t>is an example of a system of one process with multiple threads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Windows, Solaris and modern Unix </a:t>
            </a:r>
            <a:r>
              <a:rPr lang="en-US" altLang="zh-CN" dirty="0"/>
              <a:t>are multiple processes with multiple threads</a:t>
            </a:r>
          </a:p>
          <a:p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826FF51-79AA-4904-A10D-BC315817F631}"/>
              </a:ext>
            </a:extLst>
          </p:cNvPr>
          <p:cNvGrpSpPr/>
          <p:nvPr/>
        </p:nvGrpSpPr>
        <p:grpSpPr>
          <a:xfrm>
            <a:off x="6502400" y="1352550"/>
            <a:ext cx="5418302" cy="4402909"/>
            <a:chOff x="6096000" y="1701800"/>
            <a:chExt cx="5418302" cy="4402909"/>
          </a:xfrm>
        </p:grpSpPr>
        <p:pic>
          <p:nvPicPr>
            <p:cNvPr id="5" name="Content Placeholder 3" descr="Fig04_01.gif">
              <a:extLst>
                <a:ext uri="{FF2B5EF4-FFF2-40B4-BE49-F238E27FC236}">
                  <a16:creationId xmlns:a16="http://schemas.microsoft.com/office/drawing/2014/main" id="{08605B39-1B70-47D1-8041-48DEB98D7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 bwMode="auto">
            <a:xfrm>
              <a:off x="6096000" y="1701800"/>
              <a:ext cx="5418302" cy="4162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51CEFDB-7790-4ED0-8CC0-CDFFD9C56906}"/>
                </a:ext>
              </a:extLst>
            </p:cNvPr>
            <p:cNvSpPr/>
            <p:nvPr/>
          </p:nvSpPr>
          <p:spPr>
            <a:xfrm>
              <a:off x="7105650" y="5264150"/>
              <a:ext cx="3327400" cy="8405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A198C9DA-3001-4A6A-A715-66B759BFCB25}"/>
              </a:ext>
            </a:extLst>
          </p:cNvPr>
          <p:cNvSpPr/>
          <p:nvPr/>
        </p:nvSpPr>
        <p:spPr>
          <a:xfrm>
            <a:off x="9302750" y="1588328"/>
            <a:ext cx="2393950" cy="3086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5">
            <a:extLst>
              <a:ext uri="{FF2B5EF4-FFF2-40B4-BE49-F238E27FC236}">
                <a16:creationId xmlns:a16="http://schemas.microsoft.com/office/drawing/2014/main" id="{0497C81E-CF4C-FD44-8D19-2189CFDFBE67}"/>
              </a:ext>
            </a:extLst>
          </p:cNvPr>
          <p:cNvSpPr/>
          <p:nvPr/>
        </p:nvSpPr>
        <p:spPr>
          <a:xfrm>
            <a:off x="7144150" y="5033144"/>
            <a:ext cx="4454291" cy="840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The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implement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methods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of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an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application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422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3F7BC-B6A2-4144-BA68-76761026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CN" dirty="0"/>
              <a:t>ing</a:t>
            </a:r>
            <a:r>
              <a:rPr lang="en-US" altLang="zh-CN" dirty="0"/>
              <a:t>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5C97D-78C2-D440-B6AF-342A98569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13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5559F-8BCA-5243-9FDF-9693975F4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2026/3/17</a:t>
            </a:fld>
            <a:endParaRPr lang="zh-CN" altLang="en-US" dirty="0"/>
          </a:p>
        </p:txBody>
      </p:sp>
      <p:pic>
        <p:nvPicPr>
          <p:cNvPr id="6" name="Picture 1" descr="4_01.pdf">
            <a:extLst>
              <a:ext uri="{FF2B5EF4-FFF2-40B4-BE49-F238E27FC236}">
                <a16:creationId xmlns:a16="http://schemas.microsoft.com/office/drawing/2014/main" id="{CF799537-5B6F-1A48-AA71-6ECB92669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024" y="1064593"/>
            <a:ext cx="8548706" cy="4931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2552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One or More Threads in a Process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7300" y="942703"/>
            <a:ext cx="5168900" cy="5175794"/>
          </a:xfrm>
        </p:spPr>
        <p:txBody>
          <a:bodyPr/>
          <a:lstStyle/>
          <a:p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process,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has:</a:t>
            </a:r>
          </a:p>
          <a:p>
            <a:pPr lvl="1"/>
            <a:r>
              <a:rPr lang="en-US" altLang="zh-CN" sz="2400" dirty="0"/>
              <a:t>an execution </a:t>
            </a:r>
            <a:r>
              <a:rPr lang="en-US" altLang="zh-CN" sz="2400" dirty="0">
                <a:solidFill>
                  <a:srgbClr val="0070C0"/>
                </a:solidFill>
              </a:rPr>
              <a:t>state</a:t>
            </a:r>
            <a:r>
              <a:rPr lang="en-US" altLang="zh-CN" sz="2400" dirty="0"/>
              <a:t> (Running, Ready, etc.)</a:t>
            </a:r>
          </a:p>
          <a:p>
            <a:pPr lvl="1"/>
            <a:r>
              <a:rPr lang="en-US" altLang="zh-CN" sz="2400" dirty="0"/>
              <a:t>an execution </a:t>
            </a:r>
            <a:r>
              <a:rPr lang="en-US" altLang="zh-CN" sz="2400" dirty="0">
                <a:solidFill>
                  <a:srgbClr val="0070C0"/>
                </a:solidFill>
              </a:rPr>
              <a:t>stack</a:t>
            </a:r>
          </a:p>
          <a:p>
            <a:pPr lvl="1"/>
            <a:r>
              <a:rPr lang="en-US" altLang="zh-CN" sz="2400" dirty="0"/>
              <a:t>saved </a:t>
            </a:r>
            <a:r>
              <a:rPr lang="en-US" altLang="zh-CN" sz="2400" dirty="0">
                <a:solidFill>
                  <a:srgbClr val="0070C0"/>
                </a:solidFill>
              </a:rPr>
              <a:t>thread context </a:t>
            </a:r>
            <a:r>
              <a:rPr lang="en-US" altLang="zh-CN" sz="2400" dirty="0"/>
              <a:t>when not running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static storage </a:t>
            </a:r>
            <a:r>
              <a:rPr lang="en-US" sz="2400" dirty="0"/>
              <a:t>for local variables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lvl="1"/>
            <a:r>
              <a:rPr lang="en-US" altLang="zh-CN" sz="2400" dirty="0"/>
              <a:t>access to </a:t>
            </a:r>
            <a:r>
              <a:rPr lang="en-US" altLang="zh-CN" sz="2400" dirty="0">
                <a:solidFill>
                  <a:srgbClr val="0070C0"/>
                </a:solidFill>
              </a:rPr>
              <a:t>the memory and resources of its process </a:t>
            </a:r>
            <a:r>
              <a:rPr lang="en-US" altLang="zh-CN" sz="2400" dirty="0"/>
              <a:t>(all threads of a process share this)</a:t>
            </a:r>
          </a:p>
          <a:p>
            <a:pPr lvl="1"/>
            <a:endParaRPr lang="zh-CN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33FA78-5FC1-4A37-A742-F2DC46EDE547}"/>
              </a:ext>
            </a:extLst>
          </p:cNvPr>
          <p:cNvSpPr txBox="1">
            <a:spLocks/>
          </p:cNvSpPr>
          <p:nvPr/>
        </p:nvSpPr>
        <p:spPr>
          <a:xfrm>
            <a:off x="568225" y="993274"/>
            <a:ext cx="54356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just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143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2pPr>
            <a:lvl3pPr marL="8572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3pPr>
            <a:lvl4pPr marL="12001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4pPr>
            <a:lvl5pPr marL="15430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dirty="0"/>
              <a:t>Each process has</a:t>
            </a:r>
          </a:p>
          <a:p>
            <a:pPr lvl="1">
              <a:lnSpc>
                <a:spcPct val="110000"/>
              </a:lnSpc>
              <a:buSzPct val="155000"/>
            </a:pPr>
            <a:r>
              <a:rPr lang="en-US" sz="2400" dirty="0"/>
              <a:t>A </a:t>
            </a:r>
            <a:r>
              <a:rPr lang="en-US" sz="2400" dirty="0">
                <a:solidFill>
                  <a:srgbClr val="FF0000"/>
                </a:solidFill>
              </a:rPr>
              <a:t>virtual address space </a:t>
            </a:r>
            <a:r>
              <a:rPr lang="en-US" sz="2400" dirty="0"/>
              <a:t>that holds the process imag</a:t>
            </a:r>
            <a:r>
              <a:rPr lang="en-US" altLang="zh-CN" sz="2400" dirty="0"/>
              <a:t>e</a:t>
            </a:r>
            <a:endParaRPr lang="en-US" sz="2400" dirty="0"/>
          </a:p>
          <a:p>
            <a:pPr lvl="1">
              <a:lnSpc>
                <a:spcPct val="110000"/>
              </a:lnSpc>
              <a:buSzPct val="155000"/>
            </a:pPr>
            <a:r>
              <a:rPr lang="en-US" sz="2400" dirty="0"/>
              <a:t>The unit o</a:t>
            </a:r>
            <a:r>
              <a:rPr lang="en-US" altLang="zh-CN" sz="2400" dirty="0"/>
              <a:t>f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resource allocation</a:t>
            </a:r>
            <a:r>
              <a:rPr lang="en-US" sz="2400" dirty="0"/>
              <a:t> and a </a:t>
            </a:r>
            <a:r>
              <a:rPr lang="en-US" sz="2400" dirty="0">
                <a:solidFill>
                  <a:srgbClr val="FF0000"/>
                </a:solidFill>
              </a:rPr>
              <a:t>unit of protection</a:t>
            </a:r>
          </a:p>
          <a:p>
            <a:pPr lvl="1">
              <a:lnSpc>
                <a:spcPct val="110000"/>
              </a:lnSpc>
              <a:buSzPct val="155000"/>
            </a:pPr>
            <a:r>
              <a:rPr lang="en-US" sz="2400" dirty="0"/>
              <a:t>Protected access to:</a:t>
            </a:r>
          </a:p>
          <a:p>
            <a:pPr lvl="2">
              <a:lnSpc>
                <a:spcPct val="110000"/>
              </a:lnSpc>
              <a:buSzPct val="90000"/>
            </a:pPr>
            <a:r>
              <a:rPr lang="en-US" sz="2400" dirty="0"/>
              <a:t>processors</a:t>
            </a:r>
          </a:p>
          <a:p>
            <a:pPr lvl="2">
              <a:lnSpc>
                <a:spcPct val="110000"/>
              </a:lnSpc>
              <a:buSzPct val="90000"/>
            </a:pPr>
            <a:r>
              <a:rPr lang="en-US" sz="2400" dirty="0"/>
              <a:t>other processes </a:t>
            </a:r>
          </a:p>
          <a:p>
            <a:pPr lvl="2">
              <a:lnSpc>
                <a:spcPct val="110000"/>
              </a:lnSpc>
              <a:buSzPct val="90000"/>
            </a:pPr>
            <a:r>
              <a:rPr lang="en-US" sz="2400" dirty="0"/>
              <a:t>files</a:t>
            </a:r>
          </a:p>
          <a:p>
            <a:pPr lvl="2">
              <a:lnSpc>
                <a:spcPct val="110000"/>
              </a:lnSpc>
              <a:buSzPct val="90000"/>
            </a:pPr>
            <a:r>
              <a:rPr lang="en-US" sz="2400" dirty="0"/>
              <a:t>I/O resources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35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3CB3148-E053-1B4F-81D5-00F99247B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732" y="881742"/>
            <a:ext cx="5313980" cy="506185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E564E73-09EA-411A-9830-9B8DB0E0D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Single-Threaded and Multithreaded Process Models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1208ED-5C1A-463E-B321-9FAFF65DB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15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1753BD-5F96-4B71-80AE-8DB21D44E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2026/3/17</a:t>
            </a:fld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4F24FA-5BE5-4E29-9921-83C0B8E4A9B5}"/>
              </a:ext>
            </a:extLst>
          </p:cNvPr>
          <p:cNvSpPr/>
          <p:nvPr/>
        </p:nvSpPr>
        <p:spPr>
          <a:xfrm>
            <a:off x="6148615" y="2895963"/>
            <a:ext cx="1485900" cy="267335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6EED5-7B5D-4F1E-A7AF-3CAC35719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811" y="5670368"/>
            <a:ext cx="7090954" cy="52142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Share the process  state and  address space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2423E9-A5E1-A04B-9B5D-8519E8778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258" y="931968"/>
            <a:ext cx="3552371" cy="468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2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Benefits of Threads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7AC120-CE17-4EE7-BCE8-6617F66252B2}"/>
              </a:ext>
            </a:extLst>
          </p:cNvPr>
          <p:cNvSpPr txBox="1"/>
          <p:nvPr/>
        </p:nvSpPr>
        <p:spPr>
          <a:xfrm>
            <a:off x="1131933" y="5187587"/>
            <a:ext cx="10274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A collection of thread is </a:t>
            </a:r>
            <a:r>
              <a:rPr lang="en-US" sz="28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more</a:t>
            </a:r>
            <a:r>
              <a:rPr 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efficient</a:t>
            </a:r>
            <a:r>
              <a:rPr 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to a collection of separate processes!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C80E1E-78F9-6845-BFB3-A7854B71A3A1}"/>
              </a:ext>
            </a:extLst>
          </p:cNvPr>
          <p:cNvSpPr/>
          <p:nvPr/>
        </p:nvSpPr>
        <p:spPr>
          <a:xfrm>
            <a:off x="1085248" y="2177216"/>
            <a:ext cx="1468885" cy="1211523"/>
          </a:xfrm>
          <a:prstGeom prst="roundRect">
            <a:avLst>
              <a:gd name="adj" fmla="val 10000"/>
            </a:avLst>
          </a:prstGeom>
          <a:solidFill>
            <a:schemeClr val="accent5">
              <a:lumMod val="20000"/>
              <a:lumOff val="80000"/>
              <a:alpha val="90000"/>
            </a:schemeClr>
          </a:solidFill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69DD85E0-80CC-6A4E-9F6F-ED1D81E8F2CE}"/>
              </a:ext>
            </a:extLst>
          </p:cNvPr>
          <p:cNvSpPr/>
          <p:nvPr/>
        </p:nvSpPr>
        <p:spPr>
          <a:xfrm>
            <a:off x="1634695" y="2526465"/>
            <a:ext cx="2232696" cy="2232696"/>
          </a:xfrm>
          <a:prstGeom prst="leftCircularArrow">
            <a:avLst>
              <a:gd name="adj1" fmla="val 2113"/>
              <a:gd name="adj2" fmla="val 253844"/>
              <a:gd name="adj3" fmla="val 1999392"/>
              <a:gd name="adj4" fmla="val 8994526"/>
              <a:gd name="adj5" fmla="val 2466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25A1DA-E373-6348-B8AA-C8F9A4741C0F}"/>
              </a:ext>
            </a:extLst>
          </p:cNvPr>
          <p:cNvGrpSpPr/>
          <p:nvPr/>
        </p:nvGrpSpPr>
        <p:grpSpPr>
          <a:xfrm>
            <a:off x="748151" y="2600580"/>
            <a:ext cx="2162447" cy="1576317"/>
            <a:chOff x="1840" y="2433688"/>
            <a:chExt cx="2162447" cy="15763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B7A05CF0-DF14-8C4E-99E1-5988FD40B3F0}"/>
                </a:ext>
              </a:extLst>
            </p:cNvPr>
            <p:cNvSpPr/>
            <p:nvPr/>
          </p:nvSpPr>
          <p:spPr>
            <a:xfrm>
              <a:off x="1840" y="2433688"/>
              <a:ext cx="2162447" cy="157631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6">
              <a:extLst>
                <a:ext uri="{FF2B5EF4-FFF2-40B4-BE49-F238E27FC236}">
                  <a16:creationId xmlns:a16="http://schemas.microsoft.com/office/drawing/2014/main" id="{4EB85FB0-0E7C-1545-8A22-6725F519CDBC}"/>
                </a:ext>
              </a:extLst>
            </p:cNvPr>
            <p:cNvSpPr txBox="1"/>
            <p:nvPr/>
          </p:nvSpPr>
          <p:spPr>
            <a:xfrm>
              <a:off x="48009" y="2479857"/>
              <a:ext cx="2070109" cy="14839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30480" rIns="45720" bIns="30480" numCol="1" spcCol="1270" anchor="ctr" anchorCtr="0">
              <a:noAutofit/>
            </a:bodyPr>
            <a:lstStyle/>
            <a:p>
              <a:pPr marL="0" lvl="0" indent="0" algn="ctr" defTabSz="10668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Takes less time to create a new thread than a process</a:t>
              </a: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4F433B5-6622-9C42-915A-28659C8BA42D}"/>
              </a:ext>
            </a:extLst>
          </p:cNvPr>
          <p:cNvSpPr/>
          <p:nvPr/>
        </p:nvSpPr>
        <p:spPr>
          <a:xfrm>
            <a:off x="3414792" y="2778190"/>
            <a:ext cx="1468885" cy="1211523"/>
          </a:xfrm>
          <a:prstGeom prst="roundRect">
            <a:avLst>
              <a:gd name="adj" fmla="val 10000"/>
            </a:avLst>
          </a:prstGeom>
          <a:solidFill>
            <a:schemeClr val="accent5">
              <a:lumMod val="20000"/>
              <a:lumOff val="80000"/>
              <a:alpha val="90000"/>
            </a:schemeClr>
          </a:solidFill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Circular Arrow 14">
            <a:extLst>
              <a:ext uri="{FF2B5EF4-FFF2-40B4-BE49-F238E27FC236}">
                <a16:creationId xmlns:a16="http://schemas.microsoft.com/office/drawing/2014/main" id="{F18A2502-F096-B24E-9D85-01713D25A9EE}"/>
              </a:ext>
            </a:extLst>
          </p:cNvPr>
          <p:cNvSpPr/>
          <p:nvPr/>
        </p:nvSpPr>
        <p:spPr>
          <a:xfrm>
            <a:off x="4185488" y="1183516"/>
            <a:ext cx="2815755" cy="2815755"/>
          </a:xfrm>
          <a:prstGeom prst="circularArrow">
            <a:avLst>
              <a:gd name="adj1" fmla="val 1676"/>
              <a:gd name="adj2" fmla="val 199283"/>
              <a:gd name="adj3" fmla="val 19522303"/>
              <a:gd name="adj4" fmla="val 12472608"/>
              <a:gd name="adj5" fmla="val 1955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3135CCB-084A-FA46-B0EA-BD81E1D1655C}"/>
              </a:ext>
            </a:extLst>
          </p:cNvPr>
          <p:cNvGrpSpPr/>
          <p:nvPr/>
        </p:nvGrpSpPr>
        <p:grpSpPr>
          <a:xfrm>
            <a:off x="3075370" y="2035388"/>
            <a:ext cx="2219348" cy="1511731"/>
            <a:chOff x="2388970" y="1766859"/>
            <a:chExt cx="2219348" cy="1511731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4CCD4E15-CD00-B144-957A-E8286E295C0B}"/>
                </a:ext>
              </a:extLst>
            </p:cNvPr>
            <p:cNvSpPr/>
            <p:nvPr/>
          </p:nvSpPr>
          <p:spPr>
            <a:xfrm>
              <a:off x="2388970" y="1766859"/>
              <a:ext cx="2219348" cy="151173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Rounded Rectangle 6">
              <a:extLst>
                <a:ext uri="{FF2B5EF4-FFF2-40B4-BE49-F238E27FC236}">
                  <a16:creationId xmlns:a16="http://schemas.microsoft.com/office/drawing/2014/main" id="{CC1E25FC-CD0F-A84E-93EC-10EA67E2D0A7}"/>
                </a:ext>
              </a:extLst>
            </p:cNvPr>
            <p:cNvSpPr txBox="1"/>
            <p:nvPr/>
          </p:nvSpPr>
          <p:spPr>
            <a:xfrm>
              <a:off x="2433247" y="1811136"/>
              <a:ext cx="2130794" cy="14231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30480" rIns="45720" bIns="30480" numCol="1" spcCol="1270" anchor="ctr" anchorCtr="0">
              <a:noAutofit/>
            </a:bodyPr>
            <a:lstStyle/>
            <a:p>
              <a:pPr marL="0" lvl="0" indent="0" algn="ctr" defTabSz="10668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Less time to terminate a thread than a process</a:t>
              </a:r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8E905D8-ECF1-4749-B9B5-10E05604F4AB}"/>
              </a:ext>
            </a:extLst>
          </p:cNvPr>
          <p:cNvSpPr/>
          <p:nvPr/>
        </p:nvSpPr>
        <p:spPr>
          <a:xfrm>
            <a:off x="6565071" y="1936998"/>
            <a:ext cx="1468885" cy="1211523"/>
          </a:xfrm>
          <a:prstGeom prst="roundRect">
            <a:avLst>
              <a:gd name="adj" fmla="val 10000"/>
            </a:avLst>
          </a:prstGeom>
          <a:solidFill>
            <a:schemeClr val="accent5">
              <a:lumMod val="20000"/>
              <a:lumOff val="80000"/>
              <a:alpha val="90000"/>
            </a:schemeClr>
          </a:solidFill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38EC9A19-DB1E-6B4B-BEB7-6C4F80195CFD}"/>
              </a:ext>
            </a:extLst>
          </p:cNvPr>
          <p:cNvSpPr/>
          <p:nvPr/>
        </p:nvSpPr>
        <p:spPr>
          <a:xfrm>
            <a:off x="7123045" y="1935495"/>
            <a:ext cx="2955216" cy="2955216"/>
          </a:xfrm>
          <a:prstGeom prst="leftCircularArrow">
            <a:avLst>
              <a:gd name="adj1" fmla="val 1597"/>
              <a:gd name="adj2" fmla="val 189539"/>
              <a:gd name="adj3" fmla="val 2090650"/>
              <a:gd name="adj4" fmla="val 9150090"/>
              <a:gd name="adj5" fmla="val 1863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4DDAAC-C674-AF43-A5E1-F4B5732D0E14}"/>
              </a:ext>
            </a:extLst>
          </p:cNvPr>
          <p:cNvGrpSpPr/>
          <p:nvPr/>
        </p:nvGrpSpPr>
        <p:grpSpPr>
          <a:xfrm>
            <a:off x="5911287" y="2277541"/>
            <a:ext cx="2848070" cy="1794210"/>
            <a:chOff x="4833002" y="2270269"/>
            <a:chExt cx="2848070" cy="1794210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E2731CA2-8150-F445-A797-B010D1692394}"/>
                </a:ext>
              </a:extLst>
            </p:cNvPr>
            <p:cNvSpPr/>
            <p:nvPr/>
          </p:nvSpPr>
          <p:spPr>
            <a:xfrm>
              <a:off x="4833002" y="2270269"/>
              <a:ext cx="2848070" cy="179421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Rounded Rectangle 10">
              <a:extLst>
                <a:ext uri="{FF2B5EF4-FFF2-40B4-BE49-F238E27FC236}">
                  <a16:creationId xmlns:a16="http://schemas.microsoft.com/office/drawing/2014/main" id="{B67B6F9B-EEC6-EC43-9709-F80AC9CC201D}"/>
                </a:ext>
              </a:extLst>
            </p:cNvPr>
            <p:cNvSpPr txBox="1"/>
            <p:nvPr/>
          </p:nvSpPr>
          <p:spPr>
            <a:xfrm>
              <a:off x="4885553" y="2322820"/>
              <a:ext cx="2742968" cy="1689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30480" rIns="45720" bIns="30480" numCol="1" spcCol="1270" anchor="ctr" anchorCtr="0">
              <a:noAutofit/>
            </a:bodyPr>
            <a:lstStyle/>
            <a:p>
              <a:pPr marL="0" lvl="0" indent="0" algn="ctr" defTabSz="10668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Switching between two threads takes less time than switching between processes</a:t>
              </a:r>
            </a:p>
          </p:txBody>
        </p:sp>
      </p:grp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9C215EC-B64F-4F48-AAE5-57DA1B85C18D}"/>
              </a:ext>
            </a:extLst>
          </p:cNvPr>
          <p:cNvSpPr/>
          <p:nvPr/>
        </p:nvSpPr>
        <p:spPr>
          <a:xfrm>
            <a:off x="9329802" y="3409315"/>
            <a:ext cx="1997845" cy="594082"/>
          </a:xfrm>
          <a:prstGeom prst="roundRect">
            <a:avLst>
              <a:gd name="adj" fmla="val 10000"/>
            </a:avLst>
          </a:prstGeom>
          <a:solidFill>
            <a:schemeClr val="accent5">
              <a:lumMod val="20000"/>
              <a:lumOff val="80000"/>
              <a:alpha val="90000"/>
            </a:schemeClr>
          </a:solidFill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11C798-9166-A64D-AC2B-D06290BF7BE9}"/>
              </a:ext>
            </a:extLst>
          </p:cNvPr>
          <p:cNvGrpSpPr/>
          <p:nvPr/>
        </p:nvGrpSpPr>
        <p:grpSpPr>
          <a:xfrm>
            <a:off x="9023228" y="1978395"/>
            <a:ext cx="2562284" cy="1635203"/>
            <a:chOff x="7905755" y="1735991"/>
            <a:chExt cx="2562284" cy="1635203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A1F3D37A-62A0-F841-8936-27CCF62EC0DC}"/>
                </a:ext>
              </a:extLst>
            </p:cNvPr>
            <p:cNvSpPr/>
            <p:nvPr/>
          </p:nvSpPr>
          <p:spPr>
            <a:xfrm>
              <a:off x="7905755" y="1735991"/>
              <a:ext cx="2562284" cy="163520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ounded Rectangle 13">
              <a:extLst>
                <a:ext uri="{FF2B5EF4-FFF2-40B4-BE49-F238E27FC236}">
                  <a16:creationId xmlns:a16="http://schemas.microsoft.com/office/drawing/2014/main" id="{B7BC6E38-C27C-F941-A580-BDA70BCE1478}"/>
                </a:ext>
              </a:extLst>
            </p:cNvPr>
            <p:cNvSpPr txBox="1"/>
            <p:nvPr/>
          </p:nvSpPr>
          <p:spPr>
            <a:xfrm>
              <a:off x="7953648" y="1783884"/>
              <a:ext cx="2466498" cy="15394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30480" rIns="45720" bIns="30480" numCol="1" spcCol="1270" anchor="ctr" anchorCtr="0">
              <a:noAutofit/>
            </a:bodyPr>
            <a:lstStyle/>
            <a:p>
              <a:pPr marL="0" lvl="0" indent="0" algn="ctr" defTabSz="10668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Threads enhance efficiency in communication between programs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387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Thread Usage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Single-user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Multi-Processor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Foreground and background work</a:t>
            </a:r>
          </a:p>
          <a:p>
            <a:r>
              <a:rPr lang="en-US" altLang="zh-CN" sz="2800" dirty="0"/>
              <a:t>Asynchronous processing</a:t>
            </a:r>
          </a:p>
          <a:p>
            <a:r>
              <a:rPr lang="en-US" altLang="zh-CN" sz="2800" dirty="0"/>
              <a:t>Speed of execution</a:t>
            </a:r>
          </a:p>
          <a:p>
            <a:r>
              <a:rPr lang="en-US" altLang="zh-CN" sz="2800" dirty="0"/>
              <a:t>Modular program structure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4122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BE2CC-1A85-B14C-A84C-96CAA624F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Threads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AEC72-84AE-254B-B49C-56B820246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an OS that supports threads, scheduling and dispatching is done on a </a:t>
            </a:r>
            <a:r>
              <a:rPr lang="en-US" dirty="0">
                <a:solidFill>
                  <a:srgbClr val="FF0000"/>
                </a:solidFill>
              </a:rPr>
              <a:t>thread basis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Most of the state information dealing with execution is maintained in </a:t>
            </a:r>
            <a:r>
              <a:rPr lang="en-US" dirty="0">
                <a:solidFill>
                  <a:srgbClr val="FF0000"/>
                </a:solidFill>
              </a:rPr>
              <a:t>thread-level data structures</a:t>
            </a:r>
          </a:p>
          <a:p>
            <a:pPr lvl="1"/>
            <a:r>
              <a:rPr lang="en-US" sz="2400" dirty="0"/>
              <a:t>suspending a process involves suspending all threads of the process </a:t>
            </a:r>
          </a:p>
          <a:p>
            <a:pPr lvl="1"/>
            <a:r>
              <a:rPr lang="en-US" sz="2400" dirty="0"/>
              <a:t>termination of a process terminates all threads within the process</a:t>
            </a:r>
          </a:p>
          <a:p>
            <a:pPr lvl="1"/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F72BD-A9EC-584D-A684-C7925EC1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18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7849B-C3E3-5145-9CB0-E725DBFDB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2026/3/17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673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Thread States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The key states for a thread are:</a:t>
            </a:r>
          </a:p>
          <a:p>
            <a:pPr lvl="1"/>
            <a:r>
              <a:rPr lang="en-US" altLang="zh-CN" sz="2400" dirty="0"/>
              <a:t>Running</a:t>
            </a:r>
          </a:p>
          <a:p>
            <a:pPr lvl="1"/>
            <a:r>
              <a:rPr lang="en-US" altLang="zh-CN" sz="2400" dirty="0"/>
              <a:t>Ready</a:t>
            </a:r>
          </a:p>
          <a:p>
            <a:pPr lvl="1"/>
            <a:r>
              <a:rPr lang="en-US" altLang="zh-CN" sz="2400" dirty="0"/>
              <a:t>Blocked</a:t>
            </a:r>
            <a:endParaRPr lang="en-US" altLang="zh-CN" dirty="0"/>
          </a:p>
          <a:p>
            <a:pPr marL="342900" lvl="1" indent="0">
              <a:buNone/>
            </a:pPr>
            <a:endParaRPr lang="en-US" altLang="zh-CN" dirty="0"/>
          </a:p>
          <a:p>
            <a:r>
              <a:rPr lang="en-US" altLang="zh-CN" dirty="0">
                <a:solidFill>
                  <a:srgbClr val="0070C0"/>
                </a:solidFill>
              </a:rPr>
              <a:t>Thread operations </a:t>
            </a:r>
            <a:r>
              <a:rPr lang="en-US" altLang="zh-CN" dirty="0"/>
              <a:t>associated with a change in thread state are:</a:t>
            </a:r>
          </a:p>
          <a:p>
            <a:pPr lvl="1"/>
            <a:r>
              <a:rPr lang="en-US" altLang="zh-CN" sz="2400" dirty="0">
                <a:solidFill>
                  <a:srgbClr val="0070C0"/>
                </a:solidFill>
              </a:rPr>
              <a:t>Spawn</a:t>
            </a:r>
            <a:r>
              <a:rPr lang="zh-CN" altLang="en-US" sz="2400" dirty="0">
                <a:solidFill>
                  <a:srgbClr val="0070C0"/>
                </a:solidFill>
              </a:rPr>
              <a:t>（派生）</a:t>
            </a:r>
            <a:r>
              <a:rPr lang="en-US" altLang="zh-CN" sz="2400" dirty="0">
                <a:solidFill>
                  <a:srgbClr val="0070C0"/>
                </a:solidFill>
              </a:rPr>
              <a:t>: </a:t>
            </a:r>
            <a:r>
              <a:rPr lang="en-US" altLang="zh-CN" sz="2400" dirty="0"/>
              <a:t>a thread within a process may spawn another thread </a:t>
            </a:r>
            <a:r>
              <a:rPr lang="en-US" altLang="zh-CN" sz="2400" dirty="0">
                <a:solidFill>
                  <a:srgbClr val="FF0000"/>
                </a:solidFill>
              </a:rPr>
              <a:t>within the same process</a:t>
            </a:r>
            <a:r>
              <a:rPr lang="en-US" altLang="zh-CN" sz="2400" dirty="0"/>
              <a:t>.</a:t>
            </a:r>
            <a:r>
              <a:rPr lang="zh-CN" altLang="en-US" sz="2400" dirty="0"/>
              <a:t> </a:t>
            </a:r>
            <a:r>
              <a:rPr lang="en-US" altLang="zh-CN" sz="2400" dirty="0"/>
              <a:t>The new thread is placed on the </a:t>
            </a:r>
            <a:r>
              <a:rPr lang="en-US" altLang="zh-CN" sz="2400" b="1" dirty="0"/>
              <a:t>Ready queue</a:t>
            </a:r>
            <a:r>
              <a:rPr lang="en-US" altLang="zh-CN" sz="2400" dirty="0"/>
              <a:t>.</a:t>
            </a:r>
          </a:p>
          <a:p>
            <a:pPr lvl="1"/>
            <a:r>
              <a:rPr lang="en-US" altLang="zh-CN" sz="2400" dirty="0"/>
              <a:t>Block: waiting for an event, </a:t>
            </a:r>
            <a:r>
              <a:rPr lang="en-US" altLang="zh-CN" sz="2400" b="1" dirty="0"/>
              <a:t>running-&gt;block</a:t>
            </a:r>
          </a:p>
          <a:p>
            <a:pPr lvl="1"/>
            <a:r>
              <a:rPr lang="en-US" altLang="zh-CN" sz="2400" dirty="0"/>
              <a:t>Unblock: waited event occurs , </a:t>
            </a:r>
            <a:r>
              <a:rPr lang="en-US" altLang="zh-CN" sz="2400" b="1" dirty="0"/>
              <a:t>block-&gt;ready queue</a:t>
            </a:r>
          </a:p>
          <a:p>
            <a:pPr lvl="1"/>
            <a:r>
              <a:rPr lang="en-US" altLang="zh-CN" sz="2400" dirty="0"/>
              <a:t>Finish: a thread completes, the register context and stacks are </a:t>
            </a:r>
            <a:r>
              <a:rPr lang="en-US" altLang="zh-CN" sz="2400" b="1" dirty="0"/>
              <a:t>deallocated</a:t>
            </a:r>
            <a:r>
              <a:rPr lang="en-US" altLang="zh-CN" sz="2400" dirty="0"/>
              <a:t>.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0346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D405-876C-7F4D-9D24-266270D4E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25997-B553-8E4B-8F01-B310C9C79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1" dirty="0"/>
              <a:t>Whether the thread is in a blocked state</a:t>
            </a:r>
            <a:r>
              <a:rPr lang="zh-CN" altLang="en-US" sz="2400" b="1" dirty="0"/>
              <a:t>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Whether the blocking of a thread results in the blocking of the entire process?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9928D-9C35-B247-AB70-3813E06B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20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06FA2-0E0E-F340-9355-94ED7429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2026/3/17</a:t>
            </a:fld>
            <a:endParaRPr lang="zh-CN" altLang="en-US" dirty="0"/>
          </a:p>
        </p:txBody>
      </p:sp>
      <p:sp>
        <p:nvSpPr>
          <p:cNvPr id="6" name="矩形: 圆顶角 5">
            <a:extLst>
              <a:ext uri="{FF2B5EF4-FFF2-40B4-BE49-F238E27FC236}">
                <a16:creationId xmlns:a16="http://schemas.microsoft.com/office/drawing/2014/main" id="{D29B28F6-219B-6A45-B75B-C3A59B433F1C}"/>
              </a:ext>
            </a:extLst>
          </p:cNvPr>
          <p:cNvSpPr/>
          <p:nvPr/>
        </p:nvSpPr>
        <p:spPr>
          <a:xfrm>
            <a:off x="1968683" y="1371600"/>
            <a:ext cx="7554140" cy="606152"/>
          </a:xfrm>
          <a:prstGeom prst="round2SameRect">
            <a:avLst>
              <a:gd name="adj1" fmla="val 0"/>
              <a:gd name="adj2" fmla="val 0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Suspend state is a</a:t>
            </a:r>
            <a:r>
              <a:rPr lang="zh-CN" alt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process-level concept.</a:t>
            </a:r>
          </a:p>
        </p:txBody>
      </p:sp>
      <p:sp>
        <p:nvSpPr>
          <p:cNvPr id="7" name="矩形: 圆顶角 5">
            <a:extLst>
              <a:ext uri="{FF2B5EF4-FFF2-40B4-BE49-F238E27FC236}">
                <a16:creationId xmlns:a16="http://schemas.microsoft.com/office/drawing/2014/main" id="{508D3C6F-CE52-464F-8F18-2ACAA7540B78}"/>
              </a:ext>
            </a:extLst>
          </p:cNvPr>
          <p:cNvSpPr/>
          <p:nvPr/>
        </p:nvSpPr>
        <p:spPr>
          <a:xfrm>
            <a:off x="2121083" y="4097383"/>
            <a:ext cx="7554140" cy="606152"/>
          </a:xfrm>
          <a:prstGeom prst="round2SameRect">
            <a:avLst>
              <a:gd name="adj1" fmla="val 0"/>
              <a:gd name="adj2" fmla="val 0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If</a:t>
            </a:r>
            <a:r>
              <a:rPr lang="zh-CN" alt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yes,</a:t>
            </a:r>
            <a:r>
              <a:rPr lang="zh-CN" alt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flexibility of threads will partially fail.</a:t>
            </a:r>
            <a:r>
              <a:rPr lang="zh-CN" alt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endParaRPr lang="en-US" altLang="zh-CN" sz="24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539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Remote</a:t>
            </a:r>
            <a:r>
              <a:rPr lang="zh-CN" altLang="en-US" dirty="0"/>
              <a:t> </a:t>
            </a:r>
            <a:r>
              <a:rPr lang="en-US" altLang="zh-CN" dirty="0"/>
              <a:t>Procedure</a:t>
            </a:r>
            <a:r>
              <a:rPr lang="zh-CN" altLang="en-US" dirty="0"/>
              <a:t> </a:t>
            </a:r>
            <a:r>
              <a:rPr lang="en-US" altLang="zh-CN" dirty="0"/>
              <a:t>Call</a:t>
            </a:r>
            <a:r>
              <a:rPr lang="zh-CN" altLang="en-US" dirty="0"/>
              <a:t> </a:t>
            </a:r>
            <a:r>
              <a:rPr lang="en-US" altLang="zh-CN" dirty="0"/>
              <a:t>(RPC) Using Single Thread</a:t>
            </a:r>
            <a:endParaRPr lang="zh-CN" alt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7188B92C-5DBD-44A8-999F-20A03E18D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example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of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performance benefits of </a:t>
            </a:r>
            <a:r>
              <a:rPr lang="en-US" altLang="zh-CN" sz="2400" b="1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threads that do not block an entire process</a:t>
            </a:r>
          </a:p>
          <a:p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In a </a:t>
            </a:r>
            <a:r>
              <a:rPr lang="en-US" altLang="zh-CN" sz="2400" b="1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single-threaded</a:t>
            </a:r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program, the results are obtained in sequence, so the program has to wait for a response from each server in turn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25CBF66-F835-4841-9801-22FEF4AFA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3049364"/>
            <a:ext cx="6743700" cy="245745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44EE377-8D67-41EF-AC8B-4B7E0285B6D9}"/>
              </a:ext>
            </a:extLst>
          </p:cNvPr>
          <p:cNvSpPr txBox="1"/>
          <p:nvPr/>
        </p:nvSpPr>
        <p:spPr>
          <a:xfrm>
            <a:off x="2343150" y="5550720"/>
            <a:ext cx="79629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231F2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program that performs two remote procedure calls (RPCs)2 to </a:t>
            </a:r>
            <a:r>
              <a:rPr lang="en-US" sz="2000" dirty="0">
                <a:solidFill>
                  <a:srgbClr val="0070C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two different hosts </a:t>
            </a:r>
            <a:r>
              <a:rPr 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to obtain a combined result.</a:t>
            </a:r>
            <a:endParaRPr lang="en-US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6208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RPC Using One Thread per Server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BE267EB-6728-476C-B7E3-30C3375C3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211638" algn="l"/>
              </a:tabLst>
            </a:pPr>
            <a:r>
              <a:rPr lang="en-US" dirty="0"/>
              <a:t>Rewriting the program to use </a:t>
            </a:r>
            <a:r>
              <a:rPr lang="en-US" dirty="0">
                <a:solidFill>
                  <a:srgbClr val="0070C0"/>
                </a:solidFill>
              </a:rPr>
              <a:t>a separate thread for each RPC </a:t>
            </a:r>
            <a:r>
              <a:rPr lang="en-US" dirty="0"/>
              <a:t>results in a substantial </a:t>
            </a:r>
            <a:r>
              <a:rPr lang="en-US" dirty="0">
                <a:solidFill>
                  <a:srgbClr val="FF0000"/>
                </a:solidFill>
              </a:rPr>
              <a:t>speedup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79D168D-D7B0-49D8-879D-D0D894F15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338" y="1825284"/>
            <a:ext cx="6755607" cy="40836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AF6472-C8F2-A94B-99F2-92E45AD78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15" y="2690949"/>
            <a:ext cx="2362200" cy="337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423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BEDD813-352D-41C1-8970-900C1E5D7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On a uniprocessor, multiprogramming enables the </a:t>
            </a:r>
            <a:r>
              <a:rPr lang="en-US" sz="2800" dirty="0">
                <a:solidFill>
                  <a:srgbClr val="FF0000"/>
                </a:solidFill>
              </a:rPr>
              <a:t>interleaving of multiple threads</a:t>
            </a:r>
            <a:r>
              <a:rPr lang="en-US" sz="2800" dirty="0"/>
              <a:t> within multiple processes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Multithreading on a Uniprocessor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05E8105-A521-4CF7-BCC5-59BA16055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229" y="2273730"/>
            <a:ext cx="7940177" cy="387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243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270CF-6A7B-4B81-ABA5-59B0A5F80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Thread Synchronization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4F051-2073-E549-99E2-145474B54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It is necessary to synchronize the activities of the various threads</a:t>
            </a:r>
          </a:p>
          <a:p>
            <a:pPr lvl="3"/>
            <a:r>
              <a:rPr lang="en-US" sz="2800" dirty="0"/>
              <a:t>all threads of a process share the </a:t>
            </a:r>
            <a:r>
              <a:rPr lang="en-US" sz="2800" dirty="0">
                <a:solidFill>
                  <a:srgbClr val="FF0000"/>
                </a:solidFill>
              </a:rPr>
              <a:t>same address space and other resources</a:t>
            </a:r>
          </a:p>
          <a:p>
            <a:pPr lvl="3"/>
            <a:r>
              <a:rPr lang="en-US" sz="2800" dirty="0"/>
              <a:t>any </a:t>
            </a:r>
            <a:r>
              <a:rPr lang="en-US" sz="2800" dirty="0">
                <a:solidFill>
                  <a:srgbClr val="FF0000"/>
                </a:solidFill>
              </a:rPr>
              <a:t>alteration of a resource </a:t>
            </a:r>
            <a:r>
              <a:rPr lang="en-US" sz="2800" dirty="0"/>
              <a:t>by one thread affects the other threads in the same process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35973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Types of Threads</a:t>
            </a:r>
            <a:endParaRPr lang="zh-CN" alt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711C2C7-BBD9-E741-A887-CFDB7D9537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8234587"/>
              </p:ext>
            </p:extLst>
          </p:nvPr>
        </p:nvGraphicFramePr>
        <p:xfrm>
          <a:off x="2283823" y="502921"/>
          <a:ext cx="78486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67BD7A7-8CBF-3D47-8C76-BAD3C8B479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9000" y="4093438"/>
            <a:ext cx="1774063" cy="182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859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User-Level Threads (ULTs)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5980611" cy="5175794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All </a:t>
            </a:r>
            <a:r>
              <a:rPr lang="en-US" altLang="zh-CN" sz="2800" dirty="0">
                <a:solidFill>
                  <a:srgbClr val="FF0000"/>
                </a:solidFill>
              </a:rPr>
              <a:t>thread management</a:t>
            </a:r>
            <a:r>
              <a:rPr lang="en-US" altLang="zh-CN" sz="2800" dirty="0"/>
              <a:t> is done by the application</a:t>
            </a:r>
          </a:p>
          <a:p>
            <a:r>
              <a:rPr lang="en-US" altLang="zh-CN" sz="2800" dirty="0"/>
              <a:t>The kernel is </a:t>
            </a:r>
            <a:r>
              <a:rPr lang="en-US" altLang="zh-CN" sz="2800" dirty="0">
                <a:solidFill>
                  <a:srgbClr val="FF0000"/>
                </a:solidFill>
              </a:rPr>
              <a:t>not aware </a:t>
            </a:r>
            <a:r>
              <a:rPr lang="en-US" altLang="zh-CN" sz="2800" dirty="0"/>
              <a:t>of the existence of threads</a:t>
            </a:r>
          </a:p>
          <a:p>
            <a:r>
              <a:rPr lang="en-US" altLang="zh-CN" sz="2800" dirty="0">
                <a:solidFill>
                  <a:srgbClr val="FF0000"/>
                </a:solidFill>
              </a:rPr>
              <a:t>Thread library </a:t>
            </a:r>
            <a:r>
              <a:rPr lang="en-US" altLang="zh-CN" sz="2800" dirty="0"/>
              <a:t>provides programmer with API for creating and managing threads</a:t>
            </a:r>
          </a:p>
          <a:p>
            <a:pPr marL="0" indent="0">
              <a:buNone/>
            </a:pPr>
            <a:endParaRPr lang="en-US" altLang="zh-CN" sz="2800" dirty="0"/>
          </a:p>
          <a:p>
            <a:endParaRPr lang="zh-CN" altLang="en-US" sz="2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0B3682-7F57-4944-B73D-0498973F8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490" y="946376"/>
            <a:ext cx="4446202" cy="434469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F720CAA-AAFF-4AAB-8864-47FA7762B087}"/>
              </a:ext>
            </a:extLst>
          </p:cNvPr>
          <p:cNvSpPr txBox="1"/>
          <p:nvPr/>
        </p:nvSpPr>
        <p:spPr>
          <a:xfrm>
            <a:off x="8069762" y="5329464"/>
            <a:ext cx="2546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Pure user–level</a:t>
            </a:r>
            <a:endParaRPr lang="en-US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05671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E2704-8575-41A3-B314-6E4060AE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Management </a:t>
            </a:r>
            <a:r>
              <a:rPr lang="en-US" altLang="zh-CN" dirty="0"/>
              <a:t>of ULTs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3DF842-5CB8-4AB4-B44F-27ECAC754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Procedures of thread</a:t>
            </a:r>
            <a:r>
              <a:rPr lang="zh-CN" altLang="en-US" dirty="0"/>
              <a:t> </a:t>
            </a:r>
            <a:r>
              <a:rPr lang="en-US" altLang="zh-CN" dirty="0"/>
              <a:t>spawning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F4262A-652A-49EB-99A1-3DF6C6D1A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27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FB4962-7EDA-4F93-B864-A59665FBB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2026/3/17</a:t>
            </a:fld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525F543-4952-4E1F-B771-B0A3407BA1AB}"/>
              </a:ext>
            </a:extLst>
          </p:cNvPr>
          <p:cNvSpPr/>
          <p:nvPr/>
        </p:nvSpPr>
        <p:spPr>
          <a:xfrm>
            <a:off x="2025650" y="2586809"/>
            <a:ext cx="835116" cy="6344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T1</a:t>
            </a:r>
          </a:p>
        </p:txBody>
      </p:sp>
      <p:sp>
        <p:nvSpPr>
          <p:cNvPr id="7" name="矩形: 圆顶角 6">
            <a:extLst>
              <a:ext uri="{FF2B5EF4-FFF2-40B4-BE49-F238E27FC236}">
                <a16:creationId xmlns:a16="http://schemas.microsoft.com/office/drawing/2014/main" id="{C938C42E-B06D-49A3-9F96-E5BC1B4B73AF}"/>
              </a:ext>
            </a:extLst>
          </p:cNvPr>
          <p:cNvSpPr/>
          <p:nvPr/>
        </p:nvSpPr>
        <p:spPr>
          <a:xfrm>
            <a:off x="4311650" y="2291262"/>
            <a:ext cx="3397250" cy="1225550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A0B770C-C03F-4903-A9B0-685E089505DF}"/>
              </a:ext>
            </a:extLst>
          </p:cNvPr>
          <p:cNvSpPr/>
          <p:nvPr/>
        </p:nvSpPr>
        <p:spPr>
          <a:xfrm>
            <a:off x="9223373" y="1840412"/>
            <a:ext cx="887277" cy="6545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Tn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7D433E4-103D-4BAF-9C83-86AF9A69B244}"/>
              </a:ext>
            </a:extLst>
          </p:cNvPr>
          <p:cNvSpPr/>
          <p:nvPr/>
        </p:nvSpPr>
        <p:spPr>
          <a:xfrm>
            <a:off x="9277349" y="3065961"/>
            <a:ext cx="820239" cy="6700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E2D023-6139-4C27-B1E0-2E153F775BB2}"/>
              </a:ext>
            </a:extLst>
          </p:cNvPr>
          <p:cNvSpPr/>
          <p:nvPr/>
        </p:nvSpPr>
        <p:spPr>
          <a:xfrm>
            <a:off x="4673600" y="2932977"/>
            <a:ext cx="2673350" cy="3916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Spaw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</a:t>
            </a:r>
            <a:r>
              <a:rPr lang="en-US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utility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D9CEED-CA7B-4E24-92FD-23975ADB8691}"/>
              </a:ext>
            </a:extLst>
          </p:cNvPr>
          <p:cNvSpPr txBox="1"/>
          <p:nvPr/>
        </p:nvSpPr>
        <p:spPr>
          <a:xfrm>
            <a:off x="4495800" y="2371423"/>
            <a:ext cx="292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Thread Library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3F107B0-1931-473A-9FC9-1E4AFA6D0225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2860766" y="2904037"/>
            <a:ext cx="1450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CC7F80B-AD41-4CEA-ABCA-3F71A3DB91EF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7708900" y="2167709"/>
            <a:ext cx="1514473" cy="736328"/>
          </a:xfrm>
          <a:prstGeom prst="straightConnector1">
            <a:avLst/>
          </a:prstGeom>
          <a:ln w="1270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DEBF999-4B94-4EA8-9043-8B800F9E684E}"/>
              </a:ext>
            </a:extLst>
          </p:cNvPr>
          <p:cNvCxnSpPr>
            <a:cxnSpLocks/>
            <a:stCxn id="7" idx="0"/>
            <a:endCxn id="9" idx="2"/>
          </p:cNvCxnSpPr>
          <p:nvPr/>
        </p:nvCxnSpPr>
        <p:spPr>
          <a:xfrm>
            <a:off x="7708900" y="2904037"/>
            <a:ext cx="1568449" cy="496932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25EE22A-41BF-46BD-A2F6-0F3EA8BAB46F}"/>
              </a:ext>
            </a:extLst>
          </p:cNvPr>
          <p:cNvCxnSpPr/>
          <p:nvPr/>
        </p:nvCxnSpPr>
        <p:spPr>
          <a:xfrm flipV="1">
            <a:off x="3670300" y="2904037"/>
            <a:ext cx="0" cy="127426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8ED7F7A6-CACB-41C9-A277-6B168942D95E}"/>
              </a:ext>
            </a:extLst>
          </p:cNvPr>
          <p:cNvSpPr txBox="1"/>
          <p:nvPr/>
        </p:nvSpPr>
        <p:spPr>
          <a:xfrm>
            <a:off x="1240972" y="4246837"/>
            <a:ext cx="470262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Save the context of T1, such as user registers, the PC, stack pointers.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D953323-82FC-4EB4-A498-B569766203D9}"/>
              </a:ext>
            </a:extLst>
          </p:cNvPr>
          <p:cNvSpPr txBox="1"/>
          <p:nvPr/>
        </p:nvSpPr>
        <p:spPr>
          <a:xfrm>
            <a:off x="6774134" y="4525017"/>
            <a:ext cx="384651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Restor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the  the context of Tn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2896573-89F3-4B7C-A79E-B8CF039C7DB4}"/>
              </a:ext>
            </a:extLst>
          </p:cNvPr>
          <p:cNvSpPr/>
          <p:nvPr/>
        </p:nvSpPr>
        <p:spPr>
          <a:xfrm flipH="1">
            <a:off x="1695449" y="1606550"/>
            <a:ext cx="8997947" cy="2286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A36712AF-F8B3-4998-94E3-93E6D7AF4310}"/>
              </a:ext>
            </a:extLst>
          </p:cNvPr>
          <p:cNvCxnSpPr>
            <a:cxnSpLocks/>
          </p:cNvCxnSpPr>
          <p:nvPr/>
        </p:nvCxnSpPr>
        <p:spPr>
          <a:xfrm flipV="1">
            <a:off x="8466137" y="2571479"/>
            <a:ext cx="0" cy="15306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54FEA471-4557-4C15-8646-41E4E425880D}"/>
              </a:ext>
            </a:extLst>
          </p:cNvPr>
          <p:cNvSpPr txBox="1"/>
          <p:nvPr/>
        </p:nvSpPr>
        <p:spPr>
          <a:xfrm>
            <a:off x="1739899" y="1681446"/>
            <a:ext cx="1721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Process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ACCE4F31-8A08-4C69-9097-A662C40BEFE9}"/>
              </a:ext>
            </a:extLst>
          </p:cNvPr>
          <p:cNvSpPr/>
          <p:nvPr/>
        </p:nvSpPr>
        <p:spPr>
          <a:xfrm>
            <a:off x="1240971" y="3429000"/>
            <a:ext cx="924379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BB8266-FABA-48A1-8721-6A3774DFEC61}"/>
              </a:ext>
            </a:extLst>
          </p:cNvPr>
          <p:cNvSpPr txBox="1"/>
          <p:nvPr/>
        </p:nvSpPr>
        <p:spPr>
          <a:xfrm>
            <a:off x="367753" y="3067353"/>
            <a:ext cx="1545616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U</a:t>
            </a:r>
            <a:r>
              <a:rPr lang="en-US" altLang="zh-CN" sz="2400" dirty="0">
                <a:solidFill>
                  <a:srgbClr val="FF0000"/>
                </a:solidFill>
              </a:rPr>
              <a:t>ser space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5" name="七边形 14">
            <a:extLst>
              <a:ext uri="{FF2B5EF4-FFF2-40B4-BE49-F238E27FC236}">
                <a16:creationId xmlns:a16="http://schemas.microsoft.com/office/drawing/2014/main" id="{04B46136-CD03-4BE7-BD00-FEF1E00CA995}"/>
              </a:ext>
            </a:extLst>
          </p:cNvPr>
          <p:cNvSpPr/>
          <p:nvPr/>
        </p:nvSpPr>
        <p:spPr>
          <a:xfrm>
            <a:off x="3144838" y="3360783"/>
            <a:ext cx="355600" cy="312057"/>
          </a:xfrm>
          <a:prstGeom prst="heptag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4" name="七边形 23">
            <a:extLst>
              <a:ext uri="{FF2B5EF4-FFF2-40B4-BE49-F238E27FC236}">
                <a16:creationId xmlns:a16="http://schemas.microsoft.com/office/drawing/2014/main" id="{90C383FF-F3AE-46E2-A3EE-018062C1E77F}"/>
              </a:ext>
            </a:extLst>
          </p:cNvPr>
          <p:cNvSpPr/>
          <p:nvPr/>
        </p:nvSpPr>
        <p:spPr>
          <a:xfrm>
            <a:off x="7213602" y="2384239"/>
            <a:ext cx="355600" cy="312057"/>
          </a:xfrm>
          <a:prstGeom prst="heptag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0" name="七边形 29">
            <a:extLst>
              <a:ext uri="{FF2B5EF4-FFF2-40B4-BE49-F238E27FC236}">
                <a16:creationId xmlns:a16="http://schemas.microsoft.com/office/drawing/2014/main" id="{89573404-29CE-47EE-9C71-A324F913C15F}"/>
              </a:ext>
            </a:extLst>
          </p:cNvPr>
          <p:cNvSpPr/>
          <p:nvPr/>
        </p:nvSpPr>
        <p:spPr>
          <a:xfrm>
            <a:off x="8644729" y="3456973"/>
            <a:ext cx="355600" cy="312057"/>
          </a:xfrm>
          <a:prstGeom prst="heptag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8266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/>
      <p:bldP spid="11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Relationships Between  ULT States and Process States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3096E74E-2A97-4062-987C-CD32C2A69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30" y="1008743"/>
            <a:ext cx="4514727" cy="5175794"/>
          </a:xfrm>
        </p:spPr>
        <p:txBody>
          <a:bodyPr/>
          <a:lstStyle/>
          <a:p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r>
              <a:rPr lang="zh-CN" altLang="en-US" dirty="0"/>
              <a:t> </a:t>
            </a:r>
            <a:r>
              <a:rPr lang="en-US" altLang="zh-CN" dirty="0"/>
              <a:t>consists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threads,</a:t>
            </a:r>
            <a:r>
              <a:rPr lang="zh-CN" altLang="en-US" dirty="0"/>
              <a:t> </a:t>
            </a:r>
            <a:r>
              <a:rPr lang="en-US" altLang="zh-CN" dirty="0"/>
              <a:t>i.e.,</a:t>
            </a:r>
            <a:r>
              <a:rPr lang="zh-CN" altLang="en-US" dirty="0"/>
              <a:t> </a:t>
            </a:r>
            <a:r>
              <a:rPr lang="en-US" altLang="zh-CN" dirty="0"/>
              <a:t>Thread</a:t>
            </a:r>
            <a:r>
              <a:rPr lang="zh-CN" altLang="en-US" dirty="0"/>
              <a:t> </a:t>
            </a:r>
            <a:r>
              <a:rPr lang="en-US" altLang="zh-CN" dirty="0"/>
              <a:t>1,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Thread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</a:p>
          <a:p>
            <a:r>
              <a:rPr lang="en-US" altLang="zh-CN" dirty="0"/>
              <a:t>Thread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running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C9471C-99AD-E842-9DEB-4A2EF152E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400521" y="206545"/>
            <a:ext cx="4326542" cy="6228806"/>
          </a:xfrm>
          <a:prstGeom prst="rect">
            <a:avLst/>
          </a:prstGeom>
        </p:spPr>
      </p:pic>
      <p:sp>
        <p:nvSpPr>
          <p:cNvPr id="14" name="文本框 14">
            <a:extLst>
              <a:ext uri="{FF2B5EF4-FFF2-40B4-BE49-F238E27FC236}">
                <a16:creationId xmlns:a16="http://schemas.microsoft.com/office/drawing/2014/main" id="{520B0AE6-A9F8-F84E-B269-FC373AFF90F7}"/>
              </a:ext>
            </a:extLst>
          </p:cNvPr>
          <p:cNvSpPr txBox="1"/>
          <p:nvPr/>
        </p:nvSpPr>
        <p:spPr>
          <a:xfrm>
            <a:off x="6040625" y="5526091"/>
            <a:ext cx="5273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Examples of the Relationships between User-Level Thread States and Process States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804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Relationships Between  ULT States and Process States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3096E74E-2A97-4062-987C-CD32C2A69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30" y="1008743"/>
            <a:ext cx="4514727" cy="5175794"/>
          </a:xfrm>
        </p:spPr>
        <p:txBody>
          <a:bodyPr/>
          <a:lstStyle/>
          <a:p>
            <a:r>
              <a:rPr lang="en-US" dirty="0"/>
              <a:t>Case1: T2 makes a system call, </a:t>
            </a:r>
          </a:p>
          <a:p>
            <a:pPr lvl="1"/>
            <a:r>
              <a:rPr lang="en-US" altLang="zh-CN" sz="2400" dirty="0"/>
              <a:t>Controller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switched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kernel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process</a:t>
            </a:r>
            <a:r>
              <a:rPr lang="zh-CN" altLang="en-US" sz="2400" dirty="0"/>
              <a:t> </a:t>
            </a:r>
            <a:r>
              <a:rPr lang="en-US" altLang="zh-CN" sz="2400" dirty="0"/>
              <a:t>B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blocked</a:t>
            </a:r>
            <a:r>
              <a:rPr lang="zh-CN" altLang="en-US" sz="2400" dirty="0"/>
              <a:t> </a:t>
            </a:r>
            <a:r>
              <a:rPr lang="en-US" altLang="zh-CN" sz="2400" dirty="0"/>
              <a:t>by</a:t>
            </a:r>
            <a:r>
              <a:rPr lang="zh-CN" altLang="en-US" sz="2400" dirty="0"/>
              <a:t> </a:t>
            </a:r>
            <a:r>
              <a:rPr lang="en-US" altLang="zh-CN" sz="2400" dirty="0"/>
              <a:t>kernel.</a:t>
            </a:r>
          </a:p>
          <a:p>
            <a:pPr lvl="1"/>
            <a:endParaRPr lang="en-US" altLang="zh-CN" sz="2400" dirty="0"/>
          </a:p>
          <a:p>
            <a:pPr lvl="1"/>
            <a:r>
              <a:rPr lang="en-US" altLang="zh-CN" sz="2400" dirty="0"/>
              <a:t>According to the </a:t>
            </a:r>
            <a:r>
              <a:rPr lang="en-US" altLang="zh-CN" sz="2400" dirty="0">
                <a:solidFill>
                  <a:srgbClr val="FF0000"/>
                </a:solidFill>
              </a:rPr>
              <a:t>data structure maintained by the threads library</a:t>
            </a:r>
            <a:r>
              <a:rPr lang="en-US" altLang="zh-CN" sz="2400" dirty="0"/>
              <a:t>, thread 2 is still in the Running state.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A407D7-7080-4EF1-B200-3D9602B47000}"/>
              </a:ext>
            </a:extLst>
          </p:cNvPr>
          <p:cNvSpPr txBox="1"/>
          <p:nvPr/>
        </p:nvSpPr>
        <p:spPr>
          <a:xfrm>
            <a:off x="6040625" y="5526091"/>
            <a:ext cx="5273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Examples of the Relationships between User-Level Thread States and Process States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0EA55E-1EC4-7548-A5F0-CD1F24FBF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331436" y="316963"/>
            <a:ext cx="4112012" cy="592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482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Relationships Between  ULT States and Process States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3096E74E-2A97-4062-987C-CD32C2A69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30" y="1008743"/>
            <a:ext cx="4514727" cy="5175794"/>
          </a:xfrm>
        </p:spPr>
        <p:txBody>
          <a:bodyPr/>
          <a:lstStyle/>
          <a:p>
            <a:r>
              <a:rPr lang="en-US" dirty="0"/>
              <a:t>Case 2: A clock interrupt</a:t>
            </a:r>
          </a:p>
          <a:p>
            <a:pPr lvl="1"/>
            <a:r>
              <a:rPr lang="en-US" altLang="zh-CN" sz="2400" dirty="0"/>
              <a:t>Controller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switched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kernel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process</a:t>
            </a:r>
            <a:r>
              <a:rPr lang="zh-CN" altLang="en-US" sz="2400" dirty="0"/>
              <a:t> </a:t>
            </a:r>
            <a:r>
              <a:rPr lang="en-US" altLang="zh-CN" sz="2400" dirty="0"/>
              <a:t>B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blocked</a:t>
            </a:r>
            <a:r>
              <a:rPr lang="zh-CN" altLang="en-US" sz="2400" dirty="0"/>
              <a:t> </a:t>
            </a:r>
            <a:r>
              <a:rPr lang="en-US" altLang="zh-CN" sz="2400" dirty="0"/>
              <a:t>by</a:t>
            </a:r>
            <a:r>
              <a:rPr lang="zh-CN" altLang="en-US" sz="2400" dirty="0"/>
              <a:t> </a:t>
            </a:r>
            <a:r>
              <a:rPr lang="en-US" altLang="zh-CN" sz="2400" dirty="0"/>
              <a:t>kernel.</a:t>
            </a:r>
          </a:p>
          <a:p>
            <a:pPr lvl="1"/>
            <a:endParaRPr lang="en-US" altLang="zh-CN" sz="2400" dirty="0"/>
          </a:p>
          <a:p>
            <a:pPr lvl="1"/>
            <a:r>
              <a:rPr lang="en-US" altLang="zh-CN" sz="2400" dirty="0"/>
              <a:t>According to the </a:t>
            </a:r>
            <a:r>
              <a:rPr lang="en-US" altLang="zh-CN" sz="2400" dirty="0">
                <a:solidFill>
                  <a:srgbClr val="FF0000"/>
                </a:solidFill>
              </a:rPr>
              <a:t>data structure maintained by the threads library</a:t>
            </a:r>
            <a:r>
              <a:rPr lang="en-US" altLang="zh-CN" sz="2400" dirty="0"/>
              <a:t>, thread 2 is still in the Running state.</a:t>
            </a:r>
          </a:p>
          <a:p>
            <a:pPr lvl="1"/>
            <a:endParaRPr 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A407D7-7080-4EF1-B200-3D9602B47000}"/>
              </a:ext>
            </a:extLst>
          </p:cNvPr>
          <p:cNvSpPr txBox="1"/>
          <p:nvPr/>
        </p:nvSpPr>
        <p:spPr>
          <a:xfrm>
            <a:off x="6040625" y="5526091"/>
            <a:ext cx="5273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Examples of the Relationships between User-Level Thread States and Process States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681FC9-F248-9C46-A24D-21F1ED908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276025" y="74701"/>
            <a:ext cx="4440273" cy="635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58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Relationships Between  ULT States and Process States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3096E74E-2A97-4062-987C-CD32C2A69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30" y="1008743"/>
            <a:ext cx="4514727" cy="5175794"/>
          </a:xfrm>
        </p:spPr>
        <p:txBody>
          <a:bodyPr/>
          <a:lstStyle/>
          <a:p>
            <a:r>
              <a:rPr lang="en-US" dirty="0"/>
              <a:t>Case 3: </a:t>
            </a:r>
            <a:r>
              <a:rPr lang="zh-CN" altLang="en-US" dirty="0"/>
              <a:t> </a:t>
            </a:r>
            <a:r>
              <a:rPr lang="en-US" dirty="0"/>
              <a:t>thread 2 waits the results of thread 1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A407D7-7080-4EF1-B200-3D9602B47000}"/>
              </a:ext>
            </a:extLst>
          </p:cNvPr>
          <p:cNvSpPr txBox="1"/>
          <p:nvPr/>
        </p:nvSpPr>
        <p:spPr>
          <a:xfrm>
            <a:off x="6040625" y="5526091"/>
            <a:ext cx="5273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Examples of the Relationships between User-Level Thread States and Process States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A1245-C526-6241-B52D-9BBBA5138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426897" y="106713"/>
            <a:ext cx="4355555" cy="628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426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Advantages of ULTs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Thread switching does </a:t>
            </a:r>
            <a:r>
              <a:rPr lang="en-US" altLang="zh-CN" dirty="0">
                <a:solidFill>
                  <a:srgbClr val="FF0000"/>
                </a:solidFill>
              </a:rPr>
              <a:t>not require kernel mode </a:t>
            </a:r>
            <a:r>
              <a:rPr lang="en-US" altLang="zh-CN" dirty="0"/>
              <a:t>privileges</a:t>
            </a:r>
          </a:p>
          <a:p>
            <a:pPr lvl="1"/>
            <a:r>
              <a:rPr lang="en-US" altLang="zh-CN" sz="2400" dirty="0"/>
              <a:t>all of the thread management data structures are within the </a:t>
            </a:r>
            <a:r>
              <a:rPr lang="en-US" altLang="zh-CN" sz="2400" dirty="0">
                <a:solidFill>
                  <a:srgbClr val="0070C0"/>
                </a:solidFill>
              </a:rPr>
              <a:t>user address space </a:t>
            </a:r>
            <a:r>
              <a:rPr lang="en-US" altLang="zh-CN" sz="2400" dirty="0"/>
              <a:t>of a single process. </a:t>
            </a:r>
          </a:p>
          <a:p>
            <a:pPr lvl="1"/>
            <a:r>
              <a:rPr lang="en-US" altLang="zh-CN" sz="2400" dirty="0"/>
              <a:t>saves the overhead of two </a:t>
            </a:r>
            <a:r>
              <a:rPr lang="en-US" altLang="zh-CN" sz="2400" dirty="0">
                <a:solidFill>
                  <a:srgbClr val="0070C0"/>
                </a:solidFill>
              </a:rPr>
              <a:t>mode switches </a:t>
            </a:r>
            <a:r>
              <a:rPr lang="en-US" altLang="zh-CN" sz="2400" dirty="0"/>
              <a:t>(user to kernel; kernel back to user).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Scheduling can be </a:t>
            </a:r>
            <a:r>
              <a:rPr lang="en-US" altLang="zh-CN" dirty="0">
                <a:solidFill>
                  <a:srgbClr val="FF0000"/>
                </a:solidFill>
              </a:rPr>
              <a:t>application specific</a:t>
            </a:r>
          </a:p>
          <a:p>
            <a:pPr lvl="1"/>
            <a:r>
              <a:rPr lang="en-US" altLang="zh-CN" sz="2400" dirty="0"/>
              <a:t>The scheduling algorithm can be </a:t>
            </a:r>
            <a:r>
              <a:rPr lang="en-US" altLang="zh-CN" sz="2400" dirty="0">
                <a:solidFill>
                  <a:srgbClr val="0070C0"/>
                </a:solidFill>
              </a:rPr>
              <a:t>tailored to the application </a:t>
            </a:r>
            <a:r>
              <a:rPr lang="en-US" altLang="zh-CN" sz="2400" dirty="0"/>
              <a:t>without disturbing the underlying OS scheduler.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ULTs can run on </a:t>
            </a:r>
            <a:r>
              <a:rPr lang="en-US" altLang="zh-CN" dirty="0">
                <a:solidFill>
                  <a:srgbClr val="FF0000"/>
                </a:solidFill>
              </a:rPr>
              <a:t>any OS</a:t>
            </a:r>
          </a:p>
          <a:p>
            <a:pPr lvl="1"/>
            <a:r>
              <a:rPr lang="en-US" altLang="zh-CN" sz="2400" dirty="0">
                <a:solidFill>
                  <a:srgbClr val="0070C0"/>
                </a:solidFill>
              </a:rPr>
              <a:t>No changes </a:t>
            </a:r>
            <a:r>
              <a:rPr lang="en-US" altLang="zh-CN" sz="2400" dirty="0"/>
              <a:t>are required to the underlying kernel to support ULTs. The threads library is a set of </a:t>
            </a:r>
            <a:r>
              <a:rPr lang="en-US" altLang="zh-CN" sz="2400" dirty="0">
                <a:solidFill>
                  <a:srgbClr val="0070C0"/>
                </a:solidFill>
              </a:rPr>
              <a:t>application-level functions shared by all applications.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4886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Disadvantages of ULTs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41103"/>
            <a:ext cx="4635137" cy="5175794"/>
          </a:xfrm>
        </p:spPr>
        <p:txBody>
          <a:bodyPr>
            <a:normAutofit/>
          </a:bodyPr>
          <a:lstStyle/>
          <a:p>
            <a:r>
              <a:rPr lang="en-US" altLang="zh-CN" dirty="0"/>
              <a:t>when a ULT executes a system call, not only is that thread blocked, but </a:t>
            </a:r>
            <a:r>
              <a:rPr lang="en-US" altLang="zh-CN" dirty="0">
                <a:solidFill>
                  <a:srgbClr val="FF0000"/>
                </a:solidFill>
              </a:rPr>
              <a:t>all of the threads </a:t>
            </a:r>
            <a:r>
              <a:rPr lang="en-US" altLang="zh-CN" dirty="0"/>
              <a:t>within the process are </a:t>
            </a:r>
            <a:r>
              <a:rPr lang="en-US" altLang="zh-CN" dirty="0">
                <a:solidFill>
                  <a:srgbClr val="FF0000"/>
                </a:solidFill>
              </a:rPr>
              <a:t>blocked (Case 1)</a:t>
            </a:r>
          </a:p>
          <a:p>
            <a:endParaRPr lang="en-US" altLang="zh-CN" dirty="0"/>
          </a:p>
          <a:p>
            <a:r>
              <a:rPr lang="en-US" altLang="zh-CN" dirty="0"/>
              <a:t>In a pure ULT strategy, a multithreaded application </a:t>
            </a:r>
            <a:r>
              <a:rPr lang="en-US" altLang="zh-CN" dirty="0">
                <a:solidFill>
                  <a:srgbClr val="FF0000"/>
                </a:solidFill>
              </a:rPr>
              <a:t>cannot take advantage of multiprocessing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since</a:t>
            </a:r>
            <a:r>
              <a:rPr lang="zh-CN" altLang="en-US" dirty="0"/>
              <a:t> </a:t>
            </a:r>
            <a:r>
              <a:rPr lang="en-US" altLang="zh-CN" dirty="0"/>
              <a:t>kernel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allocate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rather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thread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44D7FA3-B72B-48BE-8BD2-24FCFCDB33B6}"/>
              </a:ext>
            </a:extLst>
          </p:cNvPr>
          <p:cNvSpPr txBox="1">
            <a:spLocks/>
          </p:cNvSpPr>
          <p:nvPr/>
        </p:nvSpPr>
        <p:spPr>
          <a:xfrm>
            <a:off x="7048863" y="809898"/>
            <a:ext cx="4401457" cy="2534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just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143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2pPr>
            <a:lvl3pPr marL="8572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3pPr>
            <a:lvl4pPr marL="12001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4pPr>
            <a:lvl5pPr marL="15430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Writing an application as </a:t>
            </a:r>
            <a:r>
              <a:rPr lang="en-US" altLang="zh-CN" dirty="0">
                <a:solidFill>
                  <a:srgbClr val="0070C0"/>
                </a:solidFill>
              </a:rPr>
              <a:t>multiple processes </a:t>
            </a:r>
            <a:r>
              <a:rPr lang="en-US" altLang="zh-CN" dirty="0"/>
              <a:t>rather than multiple threads.</a:t>
            </a:r>
          </a:p>
          <a:p>
            <a:pPr lvl="1"/>
            <a:r>
              <a:rPr lang="en-US" altLang="zh-CN" sz="2400" dirty="0"/>
              <a:t>Introduce the overhead of process switching</a:t>
            </a:r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F2BF9E-0F39-CC4D-AEDB-EFFD62FF2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955" y="2575560"/>
            <a:ext cx="1066800" cy="1088137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389E078D-FD86-EE48-AE69-2895EE9D0BD5}"/>
              </a:ext>
            </a:extLst>
          </p:cNvPr>
          <p:cNvSpPr/>
          <p:nvPr/>
        </p:nvSpPr>
        <p:spPr>
          <a:xfrm>
            <a:off x="5721532" y="2129246"/>
            <a:ext cx="1214845" cy="37882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27F66-5DB2-724A-9426-F3CEFBE734A0}"/>
              </a:ext>
            </a:extLst>
          </p:cNvPr>
          <p:cNvSpPr txBox="1"/>
          <p:nvPr/>
        </p:nvSpPr>
        <p:spPr>
          <a:xfrm>
            <a:off x="5460275" y="1711234"/>
            <a:ext cx="1651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</a:rPr>
              <a:t>SOLUTIONS</a:t>
            </a:r>
            <a:endParaRPr lang="en-CN" sz="2400" b="1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794E96-AD18-8243-B302-257422471B20}"/>
              </a:ext>
            </a:extLst>
          </p:cNvPr>
          <p:cNvSpPr txBox="1"/>
          <p:nvPr/>
        </p:nvSpPr>
        <p:spPr>
          <a:xfrm>
            <a:off x="6764383" y="3152283"/>
            <a:ext cx="500525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457200" algn="ju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Jacketing(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封装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742950" lvl="1" indent="-457200" algn="just" defTabSz="685800"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converts a blocking system call into a non-blocking system call (</a:t>
            </a:r>
            <a:r>
              <a:rPr lang="en-US" altLang="zh-CN" sz="24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using the thread library to passes control to another thread rather than the OS scheduler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6678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animBg="1"/>
      <p:bldP spid="9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Kernel-Level Threads (KLTs)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2"/>
            <a:ext cx="7318829" cy="5585823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Thread management is done by the kernel</a:t>
            </a:r>
          </a:p>
          <a:p>
            <a:pPr lvl="1"/>
            <a:r>
              <a:rPr lang="en-US" altLang="zh-CN" sz="2400" dirty="0"/>
              <a:t>no thread management is done by the application</a:t>
            </a:r>
          </a:p>
          <a:p>
            <a:pPr lvl="1"/>
            <a:r>
              <a:rPr lang="en-US" altLang="zh-CN" sz="2400" dirty="0"/>
              <a:t>The kernel </a:t>
            </a:r>
            <a:r>
              <a:rPr lang="en-US" altLang="zh-CN" sz="2400" dirty="0">
                <a:solidFill>
                  <a:schemeClr val="accent1"/>
                </a:solidFill>
              </a:rPr>
              <a:t>maintains context information </a:t>
            </a:r>
            <a:r>
              <a:rPr lang="en-US" altLang="zh-CN" sz="2400" dirty="0"/>
              <a:t>for the </a:t>
            </a:r>
            <a:r>
              <a:rPr lang="en-US" altLang="zh-CN" sz="2400" dirty="0">
                <a:solidFill>
                  <a:srgbClr val="0070C0"/>
                </a:solidFill>
              </a:rPr>
              <a:t>process</a:t>
            </a:r>
            <a:r>
              <a:rPr lang="en-US" altLang="zh-CN" sz="2400" dirty="0"/>
              <a:t> and for </a:t>
            </a:r>
            <a:r>
              <a:rPr lang="en-US" altLang="zh-CN" sz="2400" dirty="0">
                <a:solidFill>
                  <a:srgbClr val="0070C0"/>
                </a:solidFill>
              </a:rPr>
              <a:t>individual threads </a:t>
            </a:r>
            <a:r>
              <a:rPr lang="en-US" altLang="zh-CN" sz="2400" dirty="0"/>
              <a:t>within the process. </a:t>
            </a:r>
          </a:p>
          <a:p>
            <a:pPr lvl="1"/>
            <a:r>
              <a:rPr lang="en-US" altLang="zh-CN" sz="2400" dirty="0"/>
              <a:t>Scheduling by the kernel is done on a </a:t>
            </a:r>
            <a:r>
              <a:rPr lang="en-US" altLang="zh-CN" sz="2400" dirty="0">
                <a:solidFill>
                  <a:srgbClr val="FF0000"/>
                </a:solidFill>
              </a:rPr>
              <a:t>thread basis.</a:t>
            </a:r>
          </a:p>
          <a:p>
            <a:r>
              <a:rPr lang="en-US" altLang="zh-CN" dirty="0"/>
              <a:t>Examples – virtually all general purpose OS</a:t>
            </a:r>
          </a:p>
          <a:p>
            <a:pPr lvl="1"/>
            <a:r>
              <a:rPr lang="en-US" altLang="zh-CN" sz="2400" dirty="0"/>
              <a:t>Windows </a:t>
            </a:r>
          </a:p>
          <a:p>
            <a:pPr lvl="1"/>
            <a:r>
              <a:rPr lang="en-US" altLang="zh-CN" sz="2400" dirty="0"/>
              <a:t>Solaris</a:t>
            </a:r>
          </a:p>
          <a:p>
            <a:pPr lvl="1"/>
            <a:r>
              <a:rPr lang="en-US" altLang="zh-CN" sz="2400" dirty="0"/>
              <a:t>Linux</a:t>
            </a:r>
          </a:p>
          <a:p>
            <a:pPr lvl="1"/>
            <a:r>
              <a:rPr lang="en-US" altLang="zh-CN" sz="2400" dirty="0"/>
              <a:t>Tru64 UNIX</a:t>
            </a:r>
          </a:p>
          <a:p>
            <a:pPr lvl="1"/>
            <a:r>
              <a:rPr lang="en-US" altLang="zh-CN" sz="2400" dirty="0"/>
              <a:t>Mac OS X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1979528-052C-4D77-B780-0BBD962BE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021" y="943428"/>
            <a:ext cx="3778115" cy="504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61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Advantages of KLTs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kernel can simultaneously schedule </a:t>
            </a:r>
            <a:r>
              <a:rPr lang="en-US" altLang="zh-CN" dirty="0">
                <a:solidFill>
                  <a:srgbClr val="FF0000"/>
                </a:solidFill>
              </a:rPr>
              <a:t>multiple threads </a:t>
            </a:r>
            <a:r>
              <a:rPr lang="en-US" altLang="zh-CN" dirty="0"/>
              <a:t>from the same process on </a:t>
            </a:r>
            <a:r>
              <a:rPr lang="en-US" altLang="zh-CN" dirty="0">
                <a:solidFill>
                  <a:srgbClr val="FF0000"/>
                </a:solidFill>
              </a:rPr>
              <a:t>multiple processors </a:t>
            </a:r>
          </a:p>
          <a:p>
            <a:r>
              <a:rPr lang="en-US" altLang="zh-CN" dirty="0"/>
              <a:t>If one thread in a process is blocked, the kernel can schedule another thread of the same process</a:t>
            </a:r>
          </a:p>
          <a:p>
            <a:r>
              <a:rPr lang="en-US" altLang="zh-CN" dirty="0"/>
              <a:t> Kernel routines (</a:t>
            </a:r>
            <a:r>
              <a:rPr lang="zh-CN" altLang="en-US" dirty="0"/>
              <a:t>内核例程</a:t>
            </a:r>
            <a:r>
              <a:rPr lang="en-US" altLang="zh-CN" dirty="0"/>
              <a:t>) can be multithreaded</a:t>
            </a:r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646FA-F622-6F4E-B6E8-DACF99D13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91239">
            <a:off x="9786706" y="4606160"/>
            <a:ext cx="1321322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012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transfer of control from one thread to another within the same process requires a </a:t>
            </a:r>
            <a:r>
              <a:rPr lang="en-US" altLang="zh-CN" dirty="0">
                <a:solidFill>
                  <a:srgbClr val="FF0000"/>
                </a:solidFill>
              </a:rPr>
              <a:t>mode switch</a:t>
            </a:r>
            <a:r>
              <a:rPr lang="en-US" altLang="zh-CN" dirty="0"/>
              <a:t> to the kernel</a:t>
            </a:r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Disadvantage of KLTs</a:t>
            </a:r>
            <a:endParaRPr lang="zh-CN" alt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400C4956-9668-4E79-AE28-F02A3AFB0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776" y="2583812"/>
            <a:ext cx="10531289" cy="2581173"/>
          </a:xfrm>
          <a:prstGeom prst="rect">
            <a:avLst/>
          </a:prstGeom>
          <a:blipFill rotWithShape="1">
            <a:blip r:embed="rId4"/>
            <a:tile tx="0" ty="0" sx="100000" sy="100000" flip="none" algn="tl"/>
          </a:blipFill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A46BB96-1401-4204-9086-A1721FD056C9}"/>
              </a:ext>
            </a:extLst>
          </p:cNvPr>
          <p:cNvSpPr txBox="1"/>
          <p:nvPr/>
        </p:nvSpPr>
        <p:spPr>
          <a:xfrm>
            <a:off x="3217833" y="5259784"/>
            <a:ext cx="60948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31F20"/>
                </a:solidFill>
                <a:effectLst/>
                <a:latin typeface="TimesTenLTStd-Roman"/>
              </a:rPr>
              <a:t>Thread and Process Operation Latencies (</a:t>
            </a:r>
            <a:r>
              <a:rPr lang="en-US" altLang="zh-CN" sz="2400" i="1" dirty="0">
                <a:solidFill>
                  <a:srgbClr val="231F20"/>
                </a:solidFill>
                <a:effectLst/>
                <a:latin typeface="PearsonMATHPRO01"/>
              </a:rPr>
              <a:t>u</a:t>
            </a:r>
            <a:r>
              <a:rPr lang="en-US" sz="2400" i="1" dirty="0">
                <a:solidFill>
                  <a:srgbClr val="231F20"/>
                </a:solidFill>
                <a:effectLst/>
                <a:latin typeface="TimesTenLTStd-Italic"/>
              </a:rPr>
              <a:t>s</a:t>
            </a:r>
            <a:r>
              <a:rPr lang="en-US" sz="2400" dirty="0">
                <a:solidFill>
                  <a:srgbClr val="231F20"/>
                </a:solidFill>
                <a:effectLst/>
                <a:latin typeface="TimesTenLTStd-Roman"/>
              </a:rPr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18771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Combined Approaches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7041776" cy="5175794"/>
          </a:xfrm>
        </p:spPr>
        <p:txBody>
          <a:bodyPr/>
          <a:lstStyle/>
          <a:p>
            <a:r>
              <a:rPr lang="en-US" altLang="zh-CN" dirty="0"/>
              <a:t>Thread </a:t>
            </a:r>
            <a:r>
              <a:rPr lang="en-US" altLang="zh-CN" dirty="0">
                <a:solidFill>
                  <a:srgbClr val="FF0000"/>
                </a:solidFill>
              </a:rPr>
              <a:t>creation</a:t>
            </a:r>
            <a:r>
              <a:rPr lang="en-US" altLang="zh-CN" dirty="0"/>
              <a:t> is done in the </a:t>
            </a:r>
            <a:r>
              <a:rPr lang="en-US" altLang="zh-CN" dirty="0">
                <a:solidFill>
                  <a:srgbClr val="FF0000"/>
                </a:solidFill>
              </a:rPr>
              <a:t>user space</a:t>
            </a:r>
          </a:p>
          <a:p>
            <a:r>
              <a:rPr lang="en-US" altLang="zh-CN" dirty="0"/>
              <a:t>Bulk of </a:t>
            </a:r>
            <a:r>
              <a:rPr lang="en-US" altLang="zh-CN" dirty="0">
                <a:solidFill>
                  <a:srgbClr val="FF0000"/>
                </a:solidFill>
              </a:rPr>
              <a:t>scheduling and synchronization </a:t>
            </a:r>
            <a:r>
              <a:rPr lang="en-US" altLang="zh-CN" dirty="0"/>
              <a:t>of threads is by the within an application</a:t>
            </a:r>
          </a:p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multiple ULTs</a:t>
            </a:r>
            <a:r>
              <a:rPr lang="en-US" altLang="zh-CN" dirty="0"/>
              <a:t> from a single application are mapped onto some (smaller or equal) </a:t>
            </a:r>
            <a:r>
              <a:rPr lang="en-US" altLang="zh-CN" dirty="0">
                <a:solidFill>
                  <a:srgbClr val="FF0000"/>
                </a:solidFill>
              </a:rPr>
              <a:t>number of KLTs</a:t>
            </a:r>
            <a:r>
              <a:rPr lang="en-US" altLang="zh-CN" dirty="0"/>
              <a:t>. </a:t>
            </a:r>
          </a:p>
          <a:p>
            <a:r>
              <a:rPr lang="en-US" altLang="zh-CN" dirty="0"/>
              <a:t>The programmer may </a:t>
            </a:r>
            <a:r>
              <a:rPr lang="en-US" altLang="zh-CN" dirty="0">
                <a:solidFill>
                  <a:srgbClr val="FF0000"/>
                </a:solidFill>
              </a:rPr>
              <a:t>adjust the number of KLTs </a:t>
            </a:r>
            <a:r>
              <a:rPr lang="en-US" altLang="zh-CN" dirty="0"/>
              <a:t>for a particular application and processor to achieve the best overall results.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AC2D2BC-E229-40FF-BBB2-0E35DB2D5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745" y="1170372"/>
            <a:ext cx="3282576" cy="426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844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D737A907-85F4-477E-9C0B-F65895A37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62" y="1490491"/>
            <a:ext cx="10895500" cy="353870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CA526D9-D16D-42ED-A617-7571DD582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Between Threads and Processes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6B939B-2349-4DC6-9D73-A8E0BCA9E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38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FBB1CB-646B-49C5-89F5-9EFCC7B9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2026/3/17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1013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Multicore and Multithread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1686944"/>
          </a:xfrm>
        </p:spPr>
        <p:txBody>
          <a:bodyPr>
            <a:normAutofit/>
          </a:bodyPr>
          <a:lstStyle/>
          <a:p>
            <a:pPr marL="228600" lvl="1" indent="-228600">
              <a:buFont typeface="Wingdings" panose="05000000000000000000" pitchFamily="2" charset="2"/>
              <a:buChar char="q"/>
            </a:pPr>
            <a:r>
              <a:rPr lang="en-US" altLang="zh-CN" sz="2400" b="1" dirty="0"/>
              <a:t>The potential performance benefits of a multicore organization depend on the ability to effectively </a:t>
            </a:r>
            <a:r>
              <a:rPr lang="en-US" altLang="zh-CN" sz="2400" b="1" dirty="0">
                <a:solidFill>
                  <a:srgbClr val="FF0000"/>
                </a:solidFill>
              </a:rPr>
              <a:t>exploit the parallel resources </a:t>
            </a:r>
            <a:r>
              <a:rPr lang="en-US" altLang="zh-CN" sz="2400" b="1" dirty="0"/>
              <a:t>available to the application.</a:t>
            </a:r>
          </a:p>
          <a:p>
            <a:pPr marL="228600" lvl="1" indent="-228600">
              <a:buFont typeface="Wingdings" panose="05000000000000000000" pitchFamily="2" charset="2"/>
              <a:buChar char="q"/>
            </a:pPr>
            <a:r>
              <a:rPr lang="en-US" altLang="zh-CN" sz="2400" b="1" dirty="0"/>
              <a:t>A single application running on a multicore system</a:t>
            </a:r>
          </a:p>
          <a:p>
            <a:pPr marL="228600" lvl="1" indent="-228600">
              <a:buFont typeface="Wingdings" panose="05000000000000000000" pitchFamily="2" charset="2"/>
              <a:buChar char="q"/>
            </a:pPr>
            <a:endParaRPr lang="en-US" altLang="zh-CN" sz="2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659FD3-E70D-4B24-9AF7-BB7429CB3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257" y="3281087"/>
            <a:ext cx="9548132" cy="126838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D1F197-5E85-45FA-BD6A-E64C3EDD5A62}"/>
              </a:ext>
            </a:extLst>
          </p:cNvPr>
          <p:cNvSpPr txBox="1"/>
          <p:nvPr/>
        </p:nvSpPr>
        <p:spPr>
          <a:xfrm>
            <a:off x="1322855" y="4755024"/>
            <a:ext cx="10318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1-</a:t>
            </a:r>
            <a:r>
              <a:rPr lang="en-US" altLang="zh-CN" sz="20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fraction of </a:t>
            </a:r>
            <a:r>
              <a:rPr 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</a:t>
            </a:r>
            <a:r>
              <a:rPr lang="en-US" sz="2000" dirty="0">
                <a:solidFill>
                  <a:srgbClr val="FF000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serial</a:t>
            </a:r>
            <a:r>
              <a:rPr 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execution time</a:t>
            </a:r>
          </a:p>
          <a:p>
            <a:r>
              <a:rPr 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en-US" sz="2000" dirty="0">
                <a:solidFill>
                  <a:srgbClr val="231F2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 </a:t>
            </a:r>
            <a:r>
              <a:rPr 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</a:t>
            </a:r>
            <a:r>
              <a:rPr lang="en-US" sz="20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fraction</a:t>
            </a:r>
            <a:r>
              <a:rPr lang="en-US" sz="2000" dirty="0">
                <a:solidFill>
                  <a:srgbClr val="FF000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of </a:t>
            </a:r>
            <a:r>
              <a:rPr 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</a:t>
            </a:r>
            <a:r>
              <a:rPr lang="en-US" sz="2000" dirty="0">
                <a:solidFill>
                  <a:srgbClr val="FF000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parallelizable</a:t>
            </a:r>
            <a:r>
              <a:rPr lang="en-US" sz="20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execution time with no scheduling overhead</a:t>
            </a:r>
            <a:endParaRPr lang="en-US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0B74AE-D823-431C-B2FD-C31DB0BCBD5A}"/>
              </a:ext>
            </a:extLst>
          </p:cNvPr>
          <p:cNvSpPr txBox="1"/>
          <p:nvPr/>
        </p:nvSpPr>
        <p:spPr>
          <a:xfrm>
            <a:off x="1134036" y="2704512"/>
            <a:ext cx="4096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Amdahl’s Law (</a:t>
            </a:r>
            <a:r>
              <a:rPr lang="zh-CN" altLang="en-US"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阿姆达尔定律</a:t>
            </a:r>
            <a:r>
              <a:rPr lang="en-US" altLang="zh-CN"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en-US" sz="20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8233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Performance Effect of Multiple Cores</a:t>
            </a:r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6A5A090-F433-486B-A389-3F7BB9F94B6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942309" y="1443285"/>
            <a:ext cx="4828571" cy="3971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2C061225-7D49-4988-9554-793CC45F7E0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79462" y="1428163"/>
            <a:ext cx="5525299" cy="4215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67251F8-C84C-4B54-856D-5DB9693488B8}"/>
              </a:ext>
            </a:extLst>
          </p:cNvPr>
          <p:cNvSpPr/>
          <p:nvPr/>
        </p:nvSpPr>
        <p:spPr>
          <a:xfrm>
            <a:off x="2814049" y="5517384"/>
            <a:ext cx="2209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Figure 4.7 (a)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ABD4B0F-5F7C-480F-ACDF-4F5412751E35}"/>
              </a:ext>
            </a:extLst>
          </p:cNvPr>
          <p:cNvSpPr/>
          <p:nvPr/>
        </p:nvSpPr>
        <p:spPr>
          <a:xfrm>
            <a:off x="8479239" y="5707774"/>
            <a:ext cx="2362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Figure 4.7 (b)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A39471-FD94-49F6-88DB-AA195AE327BD}"/>
              </a:ext>
            </a:extLst>
          </p:cNvPr>
          <p:cNvSpPr txBox="1"/>
          <p:nvPr/>
        </p:nvSpPr>
        <p:spPr>
          <a:xfrm>
            <a:off x="4498760" y="1036849"/>
            <a:ext cx="1305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Value of 1-f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9EAF4-B1C3-4986-9D53-A34E300125C9}"/>
              </a:ext>
            </a:extLst>
          </p:cNvPr>
          <p:cNvSpPr/>
          <p:nvPr/>
        </p:nvSpPr>
        <p:spPr>
          <a:xfrm>
            <a:off x="4948787" y="1443285"/>
            <a:ext cx="719148" cy="1931927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7B7998-C7D6-46C8-B744-34B2843CACD3}"/>
              </a:ext>
            </a:extLst>
          </p:cNvPr>
          <p:cNvSpPr/>
          <p:nvPr/>
        </p:nvSpPr>
        <p:spPr>
          <a:xfrm>
            <a:off x="9337607" y="5396217"/>
            <a:ext cx="855261" cy="2876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C26393-CB13-4D0F-90DD-0A4F69468137}"/>
              </a:ext>
            </a:extLst>
          </p:cNvPr>
          <p:cNvSpPr txBox="1"/>
          <p:nvPr/>
        </p:nvSpPr>
        <p:spPr>
          <a:xfrm>
            <a:off x="6705063" y="906061"/>
            <a:ext cx="5088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31F2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e.g., </a:t>
            </a:r>
            <a:r>
              <a:rPr lang="en-US" sz="1800" dirty="0">
                <a:solidFill>
                  <a:srgbClr val="231F20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communication and cache overhead</a:t>
            </a:r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27586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63" y="129799"/>
            <a:ext cx="10515600" cy="616768"/>
          </a:xfrm>
        </p:spPr>
        <p:txBody>
          <a:bodyPr>
            <a:normAutofit/>
          </a:bodyPr>
          <a:lstStyle/>
          <a:p>
            <a:r>
              <a:rPr lang="en-US" altLang="zh-CN" dirty="0"/>
              <a:t>Example of Multicore for Database</a:t>
            </a:r>
            <a:endParaRPr lang="zh-CN" alt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B612FF20-56BE-4863-B584-AD7F86C61DE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643735" y="957800"/>
            <a:ext cx="6944402" cy="459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134DF29-6DE6-4539-BD4C-581100EE1C21}"/>
              </a:ext>
            </a:extLst>
          </p:cNvPr>
          <p:cNvSpPr/>
          <p:nvPr/>
        </p:nvSpPr>
        <p:spPr>
          <a:xfrm>
            <a:off x="2017594" y="5619182"/>
            <a:ext cx="81568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Figure 4.8  Scaling of Database Workloads on Multiple Processor Hardware</a:t>
            </a:r>
          </a:p>
        </p:txBody>
      </p:sp>
    </p:spTree>
    <p:extLst>
      <p:ext uri="{BB962C8B-B14F-4D97-AF65-F5344CB8AC3E}">
        <p14:creationId xmlns:p14="http://schemas.microsoft.com/office/powerpoint/2010/main" val="40706865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62C9C-28E4-45E0-8DB4-E9CC327E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Benefited Applications from Multicore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0E03A-E015-43EC-9DC0-EBD19FBB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Multithreaded native applications</a:t>
            </a:r>
          </a:p>
          <a:p>
            <a:pPr lvl="1"/>
            <a:r>
              <a:rPr lang="en-US" altLang="zh-CN" sz="2400" dirty="0"/>
              <a:t>characterized by </a:t>
            </a:r>
            <a:r>
              <a:rPr lang="en-US" altLang="zh-CN" sz="2400" dirty="0">
                <a:solidFill>
                  <a:srgbClr val="FF0000"/>
                </a:solidFill>
              </a:rPr>
              <a:t>having a small number of highly threaded processes</a:t>
            </a:r>
          </a:p>
          <a:p>
            <a:pPr lvl="1"/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dirty="0" err="1"/>
              <a:t>Multiprocessed</a:t>
            </a:r>
            <a:r>
              <a:rPr lang="en-US" altLang="zh-CN" dirty="0"/>
              <a:t> applications</a:t>
            </a:r>
          </a:p>
          <a:p>
            <a:pPr lvl="1"/>
            <a:r>
              <a:rPr lang="en-US" altLang="zh-CN" sz="2400" dirty="0"/>
              <a:t>characterized by the presence of </a:t>
            </a:r>
            <a:r>
              <a:rPr lang="en-US" altLang="zh-CN" sz="2400" dirty="0">
                <a:solidFill>
                  <a:srgbClr val="FF0000"/>
                </a:solidFill>
              </a:rPr>
              <a:t>many single-threaded processes</a:t>
            </a:r>
          </a:p>
          <a:p>
            <a:pPr lvl="1"/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dirty="0"/>
              <a:t>Java applications</a:t>
            </a:r>
          </a:p>
          <a:p>
            <a:endParaRPr lang="en-US" altLang="zh-CN" dirty="0"/>
          </a:p>
          <a:p>
            <a:r>
              <a:rPr lang="en-US" altLang="zh-CN" dirty="0"/>
              <a:t>Multi-instance applications</a:t>
            </a:r>
          </a:p>
          <a:p>
            <a:pPr lvl="1"/>
            <a:r>
              <a:rPr lang="en-US" altLang="zh-CN" sz="2400" dirty="0"/>
              <a:t>multiple instances of the </a:t>
            </a:r>
            <a:r>
              <a:rPr lang="en-US" altLang="zh-CN" sz="2400" dirty="0">
                <a:solidFill>
                  <a:srgbClr val="FF0000"/>
                </a:solidFill>
              </a:rPr>
              <a:t>application in parallel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09722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BFF59-96C8-48DB-9E2F-511924603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CD68CB-D129-4875-8C41-96C6644B3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Thread</a:t>
            </a:r>
          </a:p>
          <a:p>
            <a:pPr lvl="1"/>
            <a:r>
              <a:rPr lang="en-US" altLang="zh-CN" dirty="0"/>
              <a:t>Process:</a:t>
            </a:r>
            <a:r>
              <a:rPr lang="zh-CN" altLang="en-US" dirty="0"/>
              <a:t> </a:t>
            </a:r>
            <a:r>
              <a:rPr lang="en-US" altLang="zh-CN" dirty="0"/>
              <a:t>virtual</a:t>
            </a:r>
            <a:r>
              <a:rPr lang="zh-CN" altLang="en-US" dirty="0"/>
              <a:t> </a:t>
            </a:r>
            <a:r>
              <a:rPr lang="en-US" altLang="zh-CN" dirty="0"/>
              <a:t>address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protected</a:t>
            </a:r>
            <a:r>
              <a:rPr lang="zh-CN" altLang="en-US" dirty="0"/>
              <a:t> </a:t>
            </a:r>
            <a:r>
              <a:rPr lang="en-US" altLang="zh-CN" dirty="0"/>
              <a:t>access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resource</a:t>
            </a:r>
          </a:p>
          <a:p>
            <a:pPr lvl="1"/>
            <a:r>
              <a:rPr lang="en-US" altLang="zh-CN" dirty="0"/>
              <a:t>Thread:</a:t>
            </a:r>
            <a:r>
              <a:rPr lang="zh-CN" altLang="en-US" dirty="0"/>
              <a:t> </a:t>
            </a:r>
            <a:r>
              <a:rPr lang="en-US" altLang="zh-CN" dirty="0"/>
              <a:t>state,</a:t>
            </a:r>
            <a:r>
              <a:rPr lang="zh-CN" altLang="en-US" dirty="0"/>
              <a:t> </a:t>
            </a:r>
            <a:r>
              <a:rPr lang="en-US" altLang="zh-CN" dirty="0"/>
              <a:t>context,</a:t>
            </a:r>
            <a:r>
              <a:rPr lang="zh-CN" altLang="en-US" dirty="0"/>
              <a:t> </a:t>
            </a:r>
            <a:r>
              <a:rPr lang="en-US" altLang="zh-CN" dirty="0"/>
              <a:t>Stack,</a:t>
            </a:r>
            <a:r>
              <a:rPr lang="zh-CN" altLang="en-US" dirty="0"/>
              <a:t> </a:t>
            </a:r>
            <a:r>
              <a:rPr lang="en-US" altLang="zh-CN" dirty="0"/>
              <a:t>static</a:t>
            </a:r>
            <a:r>
              <a:rPr lang="zh-CN" altLang="en-US" dirty="0"/>
              <a:t> </a:t>
            </a:r>
            <a:r>
              <a:rPr lang="en-US" altLang="zh-CN" dirty="0"/>
              <a:t>space,</a:t>
            </a:r>
            <a:r>
              <a:rPr lang="zh-CN" altLang="en-US" dirty="0"/>
              <a:t> </a:t>
            </a:r>
            <a:r>
              <a:rPr lang="en-US" altLang="zh-CN" dirty="0"/>
              <a:t>shared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resource</a:t>
            </a:r>
          </a:p>
          <a:p>
            <a:r>
              <a:rPr lang="en-US" altLang="zh-CN" dirty="0"/>
              <a:t>Thread</a:t>
            </a:r>
            <a:r>
              <a:rPr lang="zh-CN" altLang="en-US" dirty="0"/>
              <a:t> </a:t>
            </a:r>
            <a:r>
              <a:rPr lang="en-US" altLang="zh-CN" dirty="0"/>
              <a:t>state</a:t>
            </a:r>
          </a:p>
          <a:p>
            <a:r>
              <a:rPr lang="en-US" altLang="zh-CN" dirty="0"/>
              <a:t>User-level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kernel-level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</a:p>
          <a:p>
            <a:r>
              <a:rPr lang="en-US" altLang="zh-CN" dirty="0"/>
              <a:t>Multicore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multithread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25100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2789</TotalTime>
  <Words>2036</Words>
  <Application>Microsoft Macintosh PowerPoint</Application>
  <PresentationFormat>Widescreen</PresentationFormat>
  <Paragraphs>284</Paragraphs>
  <Slides>43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等线</vt:lpstr>
      <vt:lpstr>Microsoft YaHei</vt:lpstr>
      <vt:lpstr>Microsoft YaHei UI</vt:lpstr>
      <vt:lpstr>PearsonMATHPRO01</vt:lpstr>
      <vt:lpstr>Segoe UI Web (West European)</vt:lpstr>
      <vt:lpstr>TimesTenLTStd-Bold</vt:lpstr>
      <vt:lpstr>TimesTenLTStd-Italic</vt:lpstr>
      <vt:lpstr>TimesTenLTStd-Roman</vt:lpstr>
      <vt:lpstr>Arial</vt:lpstr>
      <vt:lpstr>Calibri</vt:lpstr>
      <vt:lpstr>Times New Roman</vt:lpstr>
      <vt:lpstr>Wingdings</vt:lpstr>
      <vt:lpstr>1_Office 主题​​</vt:lpstr>
      <vt:lpstr>Threads</vt:lpstr>
      <vt:lpstr>Chapter 4: Threads</vt:lpstr>
      <vt:lpstr>Previous Content</vt:lpstr>
      <vt:lpstr>Previous Content</vt:lpstr>
      <vt:lpstr>Previous Content</vt:lpstr>
      <vt:lpstr>Previous Content</vt:lpstr>
      <vt:lpstr>A Mp3 application</vt:lpstr>
      <vt:lpstr>A Mp3 application</vt:lpstr>
      <vt:lpstr>4.1 Processes and Threads</vt:lpstr>
      <vt:lpstr>Processes and Threads</vt:lpstr>
      <vt:lpstr>Single Threaded Approaches</vt:lpstr>
      <vt:lpstr>Multithreaded Approaches</vt:lpstr>
      <vt:lpstr>Single and multiple threads process</vt:lpstr>
      <vt:lpstr>One or More Threads in a Process</vt:lpstr>
      <vt:lpstr>Single-Threaded and Multithreaded Process Models</vt:lpstr>
      <vt:lpstr>Benefits of Threads</vt:lpstr>
      <vt:lpstr>Thread Usage in a Single-user in Multi-Processor System</vt:lpstr>
      <vt:lpstr>Threads</vt:lpstr>
      <vt:lpstr>Thread States</vt:lpstr>
      <vt:lpstr>Questions</vt:lpstr>
      <vt:lpstr>Remote Procedure Call (RPC) Using Single Thread</vt:lpstr>
      <vt:lpstr>RPC Using One Thread per Server</vt:lpstr>
      <vt:lpstr>Multithreading on a Uniprocessor</vt:lpstr>
      <vt:lpstr>Thread Synchronization</vt:lpstr>
      <vt:lpstr>4.2 Types of Threads</vt:lpstr>
      <vt:lpstr>User-Level Threads (ULTs)</vt:lpstr>
      <vt:lpstr>Thread Management of ULTs</vt:lpstr>
      <vt:lpstr>Relationships Between  ULT States and Process States</vt:lpstr>
      <vt:lpstr>Relationships Between  ULT States and Process States</vt:lpstr>
      <vt:lpstr>Relationships Between  ULT States and Process States</vt:lpstr>
      <vt:lpstr>Relationships Between  ULT States and Process States</vt:lpstr>
      <vt:lpstr>Advantages of ULTs</vt:lpstr>
      <vt:lpstr>Disadvantages of ULTs</vt:lpstr>
      <vt:lpstr>Kernel-Level Threads (KLTs)</vt:lpstr>
      <vt:lpstr>Advantages of KLTs</vt:lpstr>
      <vt:lpstr>Disadvantage of KLTs</vt:lpstr>
      <vt:lpstr>Combined Approaches</vt:lpstr>
      <vt:lpstr>Relationship Between Threads and Processes</vt:lpstr>
      <vt:lpstr>4.3 Multicore and Multithread</vt:lpstr>
      <vt:lpstr>Performance Effect of Multiple Cores</vt:lpstr>
      <vt:lpstr>Example of Multicore for Database</vt:lpstr>
      <vt:lpstr>Benefited Applications from Multicore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</dc:title>
  <dc:creator>飞 滕</dc:creator>
  <cp:lastModifiedBy>yang li</cp:lastModifiedBy>
  <cp:revision>819</cp:revision>
  <dcterms:created xsi:type="dcterms:W3CDTF">2020-02-20T05:29:15Z</dcterms:created>
  <dcterms:modified xsi:type="dcterms:W3CDTF">2026-03-17T03:28:29Z</dcterms:modified>
</cp:coreProperties>
</file>