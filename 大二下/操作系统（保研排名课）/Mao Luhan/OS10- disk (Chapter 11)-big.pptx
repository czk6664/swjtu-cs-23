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6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7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8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0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1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12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13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61"/>
  </p:notesMasterIdLst>
  <p:sldIdLst>
    <p:sldId id="403" r:id="rId2"/>
    <p:sldId id="404" r:id="rId3"/>
    <p:sldId id="346" r:id="rId4"/>
    <p:sldId id="347" r:id="rId5"/>
    <p:sldId id="393" r:id="rId6"/>
    <p:sldId id="416" r:id="rId7"/>
    <p:sldId id="348" r:id="rId8"/>
    <p:sldId id="405" r:id="rId9"/>
    <p:sldId id="349" r:id="rId10"/>
    <p:sldId id="350" r:id="rId11"/>
    <p:sldId id="417" r:id="rId12"/>
    <p:sldId id="418" r:id="rId13"/>
    <p:sldId id="406" r:id="rId14"/>
    <p:sldId id="352" r:id="rId15"/>
    <p:sldId id="351" r:id="rId16"/>
    <p:sldId id="353" r:id="rId17"/>
    <p:sldId id="354" r:id="rId18"/>
    <p:sldId id="355" r:id="rId19"/>
    <p:sldId id="356" r:id="rId20"/>
    <p:sldId id="357" r:id="rId21"/>
    <p:sldId id="359" r:id="rId22"/>
    <p:sldId id="360" r:id="rId23"/>
    <p:sldId id="361" r:id="rId24"/>
    <p:sldId id="407" r:id="rId25"/>
    <p:sldId id="408" r:id="rId26"/>
    <p:sldId id="409" r:id="rId27"/>
    <p:sldId id="362" r:id="rId28"/>
    <p:sldId id="363" r:id="rId29"/>
    <p:sldId id="364" r:id="rId30"/>
    <p:sldId id="365" r:id="rId31"/>
    <p:sldId id="366" r:id="rId32"/>
    <p:sldId id="367" r:id="rId33"/>
    <p:sldId id="370" r:id="rId34"/>
    <p:sldId id="371" r:id="rId35"/>
    <p:sldId id="410" r:id="rId36"/>
    <p:sldId id="373" r:id="rId37"/>
    <p:sldId id="374" r:id="rId38"/>
    <p:sldId id="375" r:id="rId39"/>
    <p:sldId id="419" r:id="rId40"/>
    <p:sldId id="377" r:id="rId41"/>
    <p:sldId id="378" r:id="rId42"/>
    <p:sldId id="379" r:id="rId43"/>
    <p:sldId id="380" r:id="rId44"/>
    <p:sldId id="381" r:id="rId45"/>
    <p:sldId id="382" r:id="rId46"/>
    <p:sldId id="383" r:id="rId47"/>
    <p:sldId id="376" r:id="rId48"/>
    <p:sldId id="386" r:id="rId49"/>
    <p:sldId id="385" r:id="rId50"/>
    <p:sldId id="388" r:id="rId51"/>
    <p:sldId id="411" r:id="rId52"/>
    <p:sldId id="389" r:id="rId53"/>
    <p:sldId id="412" r:id="rId54"/>
    <p:sldId id="390" r:id="rId55"/>
    <p:sldId id="413" r:id="rId56"/>
    <p:sldId id="391" r:id="rId57"/>
    <p:sldId id="414" r:id="rId58"/>
    <p:sldId id="392" r:id="rId59"/>
    <p:sldId id="415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9" autoAdjust="0"/>
    <p:restoredTop sz="75699" autoAdjust="0"/>
  </p:normalViewPr>
  <p:slideViewPr>
    <p:cSldViewPr snapToGrid="0">
      <p:cViewPr varScale="1">
        <p:scale>
          <a:sx n="129" d="100"/>
          <a:sy n="129" d="100"/>
        </p:scale>
        <p:origin x="240" y="272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592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读写速度快：采用闪存作为存储介质，读取速度相对机械硬盘更快。固态硬盘不用磁头，寻道时间几乎为</a:t>
            </a:r>
            <a:r>
              <a:rPr lang="en-US" altLang="zh-CN" dirty="0"/>
              <a:t>0</a:t>
            </a:r>
            <a:r>
              <a:rPr lang="zh-CN" altLang="en-US" dirty="0"/>
              <a:t>。最常见的</a:t>
            </a:r>
            <a:r>
              <a:rPr lang="en-US" altLang="zh-CN" dirty="0"/>
              <a:t>7200</a:t>
            </a:r>
            <a:r>
              <a:rPr lang="zh-CN" altLang="en-US" dirty="0"/>
              <a:t>转机械硬盘的寻道时间一般为</a:t>
            </a:r>
            <a:r>
              <a:rPr lang="en-US" altLang="zh-CN" dirty="0"/>
              <a:t>12-14</a:t>
            </a:r>
            <a:r>
              <a:rPr lang="zh-CN" altLang="en-US" dirty="0"/>
              <a:t>毫秒，而固态硬盘可以轻易达到</a:t>
            </a:r>
            <a:r>
              <a:rPr lang="en-US" altLang="zh-CN" dirty="0"/>
              <a:t>0.1</a:t>
            </a:r>
            <a:r>
              <a:rPr lang="zh-CN" altLang="en-US" dirty="0"/>
              <a:t>毫秒甚至更低。 </a:t>
            </a:r>
          </a:p>
          <a:p>
            <a:r>
              <a:rPr lang="zh-CN" altLang="en-US" dirty="0"/>
              <a:t>防震抗摔性：</a:t>
            </a:r>
          </a:p>
          <a:p>
            <a:r>
              <a:rPr lang="zh-CN" altLang="en-US" dirty="0"/>
              <a:t>低功耗：固态硬盘的功耗上要低于传统硬盘。</a:t>
            </a:r>
          </a:p>
          <a:p>
            <a:r>
              <a:rPr lang="zh-CN" altLang="en-US" dirty="0"/>
              <a:t>无噪音：固态硬盘没有机械马达和风扇，工作时噪音值为</a:t>
            </a:r>
            <a:r>
              <a:rPr lang="en-US" altLang="zh-CN" dirty="0"/>
              <a:t>0</a:t>
            </a:r>
            <a:r>
              <a:rPr lang="zh-CN" altLang="en-US" dirty="0"/>
              <a:t>分贝。基于闪存的固态硬盘在工作状态下能耗和发热量较低（但高端或大容量产品能耗会较高）。内部不存在任何机械活动部件，不会发生机械故障，也不怕碰撞、冲击、振动。由于固态硬盘采用无机械部件的闪存芯片，所以具有了发热量小、散热快等特点。 </a:t>
            </a:r>
            <a:r>
              <a:rPr lang="en-US" altLang="zh-CN" dirty="0"/>
              <a:t>[5] </a:t>
            </a:r>
          </a:p>
          <a:p>
            <a:r>
              <a:rPr lang="zh-CN" altLang="en-US" dirty="0"/>
              <a:t>工作温度范围大：</a:t>
            </a:r>
          </a:p>
          <a:p>
            <a:r>
              <a:rPr lang="zh-CN" altLang="en-US" dirty="0"/>
              <a:t>轻便：</a:t>
            </a:r>
          </a:p>
          <a:p>
            <a:r>
              <a:rPr lang="zh-CN" altLang="en-US" dirty="0"/>
              <a:t>缺点</a:t>
            </a:r>
            <a:r>
              <a:rPr lang="en-US" altLang="zh-CN" dirty="0"/>
              <a:t>:  </a:t>
            </a:r>
            <a:r>
              <a:rPr lang="zh-CN" altLang="en-US" dirty="0"/>
              <a:t>容量</a:t>
            </a:r>
            <a:r>
              <a:rPr lang="en-US" altLang="zh-CN" dirty="0"/>
              <a:t>, </a:t>
            </a:r>
            <a:r>
              <a:rPr lang="zh-CN" altLang="en-US" dirty="0"/>
              <a:t>寿命限制</a:t>
            </a:r>
            <a:r>
              <a:rPr lang="en-US" altLang="zh-CN" dirty="0"/>
              <a:t>, </a:t>
            </a:r>
            <a:r>
              <a:rPr lang="zh-CN" altLang="en-US" dirty="0"/>
              <a:t>售价高：市场上的</a:t>
            </a:r>
            <a:r>
              <a:rPr lang="en-US" altLang="zh-CN" dirty="0"/>
              <a:t>128GB </a:t>
            </a:r>
            <a:r>
              <a:rPr lang="zh-CN" altLang="en-US" dirty="0"/>
              <a:t>固态硬盘产品的价格大约在在</a:t>
            </a:r>
            <a:r>
              <a:rPr lang="en-US" altLang="zh-CN" dirty="0"/>
              <a:t>550</a:t>
            </a:r>
            <a:r>
              <a:rPr lang="zh-CN" altLang="en-US" dirty="0"/>
              <a:t>元人民币左右，</a:t>
            </a:r>
            <a:r>
              <a:rPr lang="en-US" altLang="zh-CN" dirty="0"/>
              <a:t>128GB SLC</a:t>
            </a:r>
            <a:r>
              <a:rPr lang="zh-CN" altLang="en-US" dirty="0"/>
              <a:t>（单层单元）固态硬盘价格则高达</a:t>
            </a:r>
            <a:r>
              <a:rPr lang="en-US" altLang="zh-CN" dirty="0"/>
              <a:t>2000</a:t>
            </a:r>
            <a:r>
              <a:rPr lang="zh-CN" altLang="en-US" dirty="0"/>
              <a:t>元以上。 </a:t>
            </a:r>
            <a:r>
              <a:rPr lang="en-US" altLang="zh-CN" dirty="0"/>
              <a:t>[1]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538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381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5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759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648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042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43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05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18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122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116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586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063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23FB5-DA9B-D449-BD3F-23B81C5F3DB2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48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C96DF-A291-4168-A068-D1202F815F00}"/>
              </a:ext>
            </a:extLst>
          </p:cNvPr>
          <p:cNvSpPr txBox="1"/>
          <p:nvPr userDrawn="1"/>
        </p:nvSpPr>
        <p:spPr>
          <a:xfrm>
            <a:off x="1879601" y="6356352"/>
            <a:ext cx="843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I/O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Management and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Disk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Scheduling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165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DB72-4C83-9C4A-866B-4D5142DBA58B}" type="datetime1">
              <a:rPr lang="zh-CN" altLang="en-US" smtClean="0"/>
              <a:t>2026/6/2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00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16-4739-7441-B90B-83F2CA2BC9BA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99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1E67-9620-AB48-8C22-118A8ACF42A3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01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96E-3180-8C40-81AA-950720D6E543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19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FD9F80F7-C3DF-D742-871B-8631AA2F4284}" type="datetime1">
              <a:rPr lang="zh-CN" altLang="en-US" smtClean="0"/>
              <a:t>2026/6/2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37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033B-6B8A-DF41-A2EB-ACFE77114C01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46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7BDB-3D9C-3044-9065-01E1FE9EC8B3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81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3FAF-27E8-3442-8C9B-7C060914ABFE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12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C4F1-59CC-944D-839A-A20122FC4C2B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36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DF019-1C96-0B48-8006-AD0D34BEC94E}" type="datetime1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 dirty="0"/>
              <a:t>I/O Management and Disk Scheduling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en-US" altLang="zh-CN" dirty="0"/>
              <a:t>63</a:t>
            </a:r>
            <a:endParaRPr 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F50452-02B7-425B-AC62-B4A14A701625}"/>
              </a:ext>
            </a:extLst>
          </p:cNvPr>
          <p:cNvCxnSpPr>
            <a:cxnSpLocks/>
          </p:cNvCxnSpPr>
          <p:nvPr userDrawn="1"/>
        </p:nvCxnSpPr>
        <p:spPr>
          <a:xfrm>
            <a:off x="627017" y="767807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5A9AA1-FEE7-4EAB-B05C-92F8372A2329}"/>
              </a:ext>
            </a:extLst>
          </p:cNvPr>
          <p:cNvCxnSpPr>
            <a:cxnSpLocks/>
          </p:cNvCxnSpPr>
          <p:nvPr userDrawn="1"/>
        </p:nvCxnSpPr>
        <p:spPr>
          <a:xfrm>
            <a:off x="627017" y="6287589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742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ang23@sw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png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41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41.tmp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tags" Target="../tags/tag53.xml"/><Relationship Id="rId3" Type="http://schemas.openxmlformats.org/officeDocument/2006/relationships/tags" Target="../tags/tag38.xml"/><Relationship Id="rId21" Type="http://schemas.openxmlformats.org/officeDocument/2006/relationships/image" Target="../media/image41.tmp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image" Target="../media/image41.tmp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notesSlide" Target="../notesSlides/notesSlide8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18" Type="http://schemas.openxmlformats.org/officeDocument/2006/relationships/tags" Target="../tags/tag88.xml"/><Relationship Id="rId3" Type="http://schemas.openxmlformats.org/officeDocument/2006/relationships/tags" Target="../tags/tag73.xml"/><Relationship Id="rId21" Type="http://schemas.openxmlformats.org/officeDocument/2006/relationships/image" Target="../media/image41.tmp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20" Type="http://schemas.openxmlformats.org/officeDocument/2006/relationships/notesSlide" Target="../notesSlides/notesSlide9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tags" Target="../tags/tag85.xml"/><Relationship Id="rId10" Type="http://schemas.openxmlformats.org/officeDocument/2006/relationships/tags" Target="../tags/tag8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image" Target="../media/image41.tmp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10" Type="http://schemas.openxmlformats.org/officeDocument/2006/relationships/tags" Target="../tags/tag98.xml"/><Relationship Id="rId19" Type="http://schemas.openxmlformats.org/officeDocument/2006/relationships/notesSlide" Target="../notesSlides/notesSlide10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3" Type="http://schemas.openxmlformats.org/officeDocument/2006/relationships/tags" Target="../tags/tag108.xml"/><Relationship Id="rId21" Type="http://schemas.openxmlformats.org/officeDocument/2006/relationships/image" Target="../media/image41.tmp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notesSlide" Target="../notesSlides/notesSlide11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tags" Target="../tags/tag136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0" Type="http://schemas.openxmlformats.org/officeDocument/2006/relationships/image" Target="../media/image41.tmp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10" Type="http://schemas.openxmlformats.org/officeDocument/2006/relationships/tags" Target="../tags/tag133.xml"/><Relationship Id="rId19" Type="http://schemas.openxmlformats.org/officeDocument/2006/relationships/notesSlide" Target="../notesSlides/notesSlide12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3" Type="http://schemas.openxmlformats.org/officeDocument/2006/relationships/tags" Target="../tags/tag143.xml"/><Relationship Id="rId21" Type="http://schemas.openxmlformats.org/officeDocument/2006/relationships/image" Target="../media/image41.tmp"/><Relationship Id="rId7" Type="http://schemas.openxmlformats.org/officeDocument/2006/relationships/tags" Target="../tags/tag147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0" Type="http://schemas.openxmlformats.org/officeDocument/2006/relationships/notesSlide" Target="../notesSlides/notesSlide13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10" Type="http://schemas.openxmlformats.org/officeDocument/2006/relationships/tags" Target="../tags/tag15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2" Type="http://schemas.openxmlformats.org/officeDocument/2006/relationships/tags" Target="../tags/tag160.xml"/><Relationship Id="rId16" Type="http://schemas.openxmlformats.org/officeDocument/2006/relationships/tags" Target="../tags/tag174.xml"/><Relationship Id="rId20" Type="http://schemas.openxmlformats.org/officeDocument/2006/relationships/image" Target="../media/image41.tmp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tags" Target="../tags/tag173.xml"/><Relationship Id="rId10" Type="http://schemas.openxmlformats.org/officeDocument/2006/relationships/tags" Target="../tags/tag168.xml"/><Relationship Id="rId19" Type="http://schemas.openxmlformats.org/officeDocument/2006/relationships/notesSlide" Target="../notesSlides/notesSlide14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0F020E3-DBF1-4524-ACC1-A4EAF25A4641}"/>
              </a:ext>
            </a:extLst>
          </p:cNvPr>
          <p:cNvSpPr/>
          <p:nvPr/>
        </p:nvSpPr>
        <p:spPr>
          <a:xfrm>
            <a:off x="875558" y="1041399"/>
            <a:ext cx="10440884" cy="19532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EC02B943-8764-434E-9C4F-C8ED1CA9902A}"/>
              </a:ext>
            </a:extLst>
          </p:cNvPr>
          <p:cNvSpPr txBox="1">
            <a:spLocks/>
          </p:cNvSpPr>
          <p:nvPr/>
        </p:nvSpPr>
        <p:spPr>
          <a:xfrm>
            <a:off x="875558" y="988422"/>
            <a:ext cx="10440884" cy="2006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0" dirty="0">
                <a:solidFill>
                  <a:srgbClr val="4F81BD"/>
                </a:solidFill>
              </a:rPr>
              <a:t>I/O</a:t>
            </a:r>
            <a:r>
              <a:rPr lang="zh-CN" altLang="en-US" sz="6000" dirty="0">
                <a:solidFill>
                  <a:srgbClr val="4F81BD"/>
                </a:solidFill>
              </a:rPr>
              <a:t> </a:t>
            </a:r>
            <a:r>
              <a:rPr lang="en-US" altLang="zh-CN" sz="6000" dirty="0">
                <a:solidFill>
                  <a:srgbClr val="4F81BD"/>
                </a:solidFill>
              </a:rPr>
              <a:t>Management</a:t>
            </a:r>
            <a:r>
              <a:rPr lang="zh-CN" altLang="en-US" sz="6000" dirty="0">
                <a:solidFill>
                  <a:srgbClr val="4F81BD"/>
                </a:solidFill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&amp;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Disk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Scheduling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97EA9A9-A80E-4CA5-A659-E3C2DCBB225C}"/>
              </a:ext>
            </a:extLst>
          </p:cNvPr>
          <p:cNvSpPr txBox="1">
            <a:spLocks/>
          </p:cNvSpPr>
          <p:nvPr/>
        </p:nvSpPr>
        <p:spPr>
          <a:xfrm>
            <a:off x="2701835" y="3381990"/>
            <a:ext cx="6858000" cy="2487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35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Lecturer: Li Yang</a:t>
            </a:r>
          </a:p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Contact: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  <a:hlinkClick r:id="rId2"/>
              </a:rPr>
              <a:t>liyang23@swjtu.edu.cn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Office: X31506</a:t>
            </a:r>
          </a:p>
          <a:p>
            <a:pPr marL="0" marR="0" lvl="0" indent="0" algn="ctr" defTabSz="685800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 pitchFamily="34" charset="0"/>
              </a:rPr>
              <a:t>Faculty: Computer and AI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9B245-3D08-4029-B040-F3B5B425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D98DE-4C45-4E55-AE2F-30EAC7ACC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Devices</a:t>
            </a:r>
          </a:p>
          <a:p>
            <a:r>
              <a:rPr lang="en-US" altLang="zh-CN" dirty="0"/>
              <a:t>Organization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Operating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Design</a:t>
            </a:r>
            <a:r>
              <a:rPr lang="zh-CN" altLang="en-US" dirty="0"/>
              <a:t> </a:t>
            </a:r>
            <a:r>
              <a:rPr lang="en-US" altLang="zh-CN" dirty="0"/>
              <a:t>Issues</a:t>
            </a:r>
          </a:p>
          <a:p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Buffering</a:t>
            </a:r>
          </a:p>
          <a:p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</a:p>
          <a:p>
            <a:r>
              <a:rPr lang="en-US" altLang="zh-CN" dirty="0"/>
              <a:t>RAID</a:t>
            </a:r>
          </a:p>
          <a:p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D253DE-3235-432D-B1DF-787247AF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93D444-7193-46AD-90E8-D84AE4B61CF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6DFD01-4408-484B-9A90-14ADD5C6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6D1B6-B1AF-7D4D-A84B-F73F4DDF98DE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2026/6/2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22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11.1 Categories of I/O Devices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External devices that engage in I/O with computer systems can be grouped into three categories: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Human readable</a:t>
            </a:r>
          </a:p>
          <a:p>
            <a:pPr lvl="2"/>
            <a:r>
              <a:rPr lang="en-US" altLang="zh-CN" sz="2400" dirty="0"/>
              <a:t>suitable for communicating with the computer user</a:t>
            </a:r>
          </a:p>
          <a:p>
            <a:pPr lvl="2"/>
            <a:r>
              <a:rPr lang="en-US" altLang="zh-CN" sz="2400" dirty="0"/>
              <a:t>printers, terminals, video display, keyboard, mouse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Machine readable</a:t>
            </a:r>
          </a:p>
          <a:p>
            <a:pPr lvl="2"/>
            <a:r>
              <a:rPr lang="en-US" altLang="zh-CN" sz="2400" dirty="0"/>
              <a:t>suitable for communicating with electronic equipment</a:t>
            </a:r>
          </a:p>
          <a:p>
            <a:pPr lvl="2"/>
            <a:r>
              <a:rPr lang="en-US" altLang="zh-CN" sz="2400" dirty="0"/>
              <a:t>disk drives, USB keys, sensors, controllers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Communication</a:t>
            </a:r>
          </a:p>
          <a:p>
            <a:pPr lvl="2"/>
            <a:r>
              <a:rPr lang="en-US" altLang="zh-CN" sz="2400" dirty="0"/>
              <a:t>suitable for communicating with remote devices</a:t>
            </a:r>
          </a:p>
          <a:p>
            <a:pPr lvl="2"/>
            <a:r>
              <a:rPr lang="en-US" altLang="zh-CN" sz="2400" dirty="0"/>
              <a:t>Modems</a:t>
            </a:r>
            <a:r>
              <a:rPr lang="zh-CN" altLang="en-US" sz="2400" dirty="0"/>
              <a:t>（调制解调器）</a:t>
            </a:r>
            <a:r>
              <a:rPr lang="en-US" altLang="zh-CN" sz="2400" dirty="0"/>
              <a:t>, digital line drivers</a:t>
            </a:r>
          </a:p>
          <a:p>
            <a:pPr lvl="2"/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D732E-26D1-8249-939B-0801942A8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739" y="4482548"/>
            <a:ext cx="1448055" cy="148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Differences in I/O Devices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23017B-E5AE-3B4B-811C-BA2960F8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1103"/>
            <a:ext cx="4903177" cy="5175794"/>
          </a:xfrm>
        </p:spPr>
        <p:txBody>
          <a:bodyPr/>
          <a:lstStyle/>
          <a:p>
            <a:r>
              <a:rPr lang="en" altLang="zh-CN" dirty="0"/>
              <a:t>Data rate</a:t>
            </a:r>
          </a:p>
          <a:p>
            <a:r>
              <a:rPr lang="en" altLang="zh-CN" dirty="0"/>
              <a:t>Application</a:t>
            </a:r>
          </a:p>
          <a:p>
            <a:r>
              <a:rPr lang="en" altLang="zh-CN" dirty="0"/>
              <a:t>Complexity of control</a:t>
            </a:r>
          </a:p>
          <a:p>
            <a:r>
              <a:rPr lang="en" altLang="zh-CN" dirty="0"/>
              <a:t>Unit of transfer</a:t>
            </a:r>
          </a:p>
          <a:p>
            <a:r>
              <a:rPr lang="en" altLang="zh-CN" dirty="0"/>
              <a:t>Data representation</a:t>
            </a:r>
          </a:p>
          <a:p>
            <a:r>
              <a:rPr lang="en" altLang="zh-CN" dirty="0"/>
              <a:t>Error conditions</a:t>
            </a:r>
          </a:p>
          <a:p>
            <a:endParaRPr lang="en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8867F9-5E54-8A49-AB5D-2A0BEC875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959" y="903009"/>
            <a:ext cx="6892579" cy="507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8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5C18C-AEF1-40D3-902C-C2740599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11.2 Organization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EB39F-5218-42AC-B0C0-BF80D1203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Techniques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Performing</a:t>
            </a:r>
            <a:r>
              <a:rPr lang="zh-CN" altLang="en-US" dirty="0"/>
              <a:t> </a:t>
            </a:r>
            <a:r>
              <a:rPr lang="en-US" altLang="zh-CN" dirty="0"/>
              <a:t>I/O:</a:t>
            </a:r>
          </a:p>
          <a:p>
            <a:pPr lvl="1"/>
            <a:r>
              <a:rPr lang="en-US" altLang="zh-CN" sz="2400" b="1" dirty="0"/>
              <a:t>Programmed I/O</a:t>
            </a:r>
          </a:p>
          <a:p>
            <a:pPr lvl="2"/>
            <a:r>
              <a:rPr lang="en-US" altLang="zh-CN" sz="2400" dirty="0">
                <a:solidFill>
                  <a:srgbClr val="0070C0"/>
                </a:solidFill>
              </a:rPr>
              <a:t>processor</a:t>
            </a:r>
            <a:r>
              <a:rPr lang="en-US" altLang="zh-CN" sz="2400" dirty="0"/>
              <a:t> issues an I/O command</a:t>
            </a:r>
            <a:r>
              <a:rPr lang="zh-CN" altLang="en-US" sz="2400" dirty="0"/>
              <a:t> </a:t>
            </a:r>
            <a:r>
              <a:rPr lang="en-US" altLang="zh-CN" sz="2400" dirty="0"/>
              <a:t>on behalf of a process</a:t>
            </a:r>
            <a:r>
              <a:rPr lang="zh-CN" altLang="en-US" sz="2400" dirty="0"/>
              <a:t> </a:t>
            </a:r>
            <a:r>
              <a:rPr lang="en-US" altLang="zh-CN" sz="2400" dirty="0"/>
              <a:t>to an I/O module;</a:t>
            </a:r>
          </a:p>
          <a:p>
            <a:pPr lvl="2"/>
            <a:r>
              <a:rPr lang="en-US" altLang="zh-CN" sz="2400" dirty="0"/>
              <a:t>that process then </a:t>
            </a:r>
            <a:r>
              <a:rPr lang="en-US" altLang="zh-CN" sz="2400" dirty="0">
                <a:solidFill>
                  <a:srgbClr val="FF0000"/>
                </a:solidFill>
              </a:rPr>
              <a:t>busy waits </a:t>
            </a:r>
            <a:r>
              <a:rPr lang="en-US" altLang="zh-CN" sz="2400" dirty="0"/>
              <a:t>for the operation to be completed before proceeding</a:t>
            </a:r>
          </a:p>
          <a:p>
            <a:pPr lvl="1"/>
            <a:r>
              <a:rPr lang="en-US" altLang="zh-CN" sz="2400" b="1" dirty="0"/>
              <a:t>Interrupt-driven I/O</a:t>
            </a:r>
          </a:p>
          <a:p>
            <a:pPr lvl="2"/>
            <a:r>
              <a:rPr lang="en-US" altLang="zh-CN" sz="2400" dirty="0">
                <a:solidFill>
                  <a:srgbClr val="0070C0"/>
                </a:solidFill>
              </a:rPr>
              <a:t>processor</a:t>
            </a:r>
            <a:r>
              <a:rPr lang="en-US" altLang="zh-CN" sz="2400" dirty="0"/>
              <a:t> issues an I/O command on behalf of a process</a:t>
            </a:r>
          </a:p>
          <a:p>
            <a:pPr lvl="2"/>
            <a:r>
              <a:rPr lang="en-US" altLang="zh-CN" sz="2400" dirty="0">
                <a:solidFill>
                  <a:srgbClr val="0070C0"/>
                </a:solidFill>
              </a:rPr>
              <a:t>non-blocking VS blocking </a:t>
            </a:r>
          </a:p>
          <a:p>
            <a:pPr lvl="1"/>
            <a:r>
              <a:rPr lang="en-US" altLang="zh-CN" sz="2400" b="1" dirty="0"/>
              <a:t>Direct Memory Access (DMA)</a:t>
            </a:r>
          </a:p>
          <a:p>
            <a:pPr lvl="2"/>
            <a:r>
              <a:rPr lang="en-US" altLang="zh-CN" sz="2400" dirty="0"/>
              <a:t>a </a:t>
            </a:r>
            <a:r>
              <a:rPr lang="en-US" altLang="zh-CN" sz="2400" dirty="0">
                <a:solidFill>
                  <a:srgbClr val="0070C0"/>
                </a:solidFill>
              </a:rPr>
              <a:t>DMA module controls </a:t>
            </a:r>
            <a:r>
              <a:rPr lang="en-US" altLang="zh-CN" sz="2400" dirty="0"/>
              <a:t>the exchange of data between main memory and an I/O module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7154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5C18C-AEF1-40D3-902C-C2740599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11.2 Techniques for Performing I/O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EB39F-5218-42AC-B0C0-BF80D1203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635C18-F32E-4BC7-B44E-F95B00EC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46" y="2041726"/>
            <a:ext cx="10423041" cy="212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8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dirty="0">
                <a:solidFill>
                  <a:srgbClr val="0070C0"/>
                </a:solidFill>
              </a:rPr>
              <a:t>Processor directly </a:t>
            </a:r>
            <a:r>
              <a:rPr lang="en-US" altLang="zh-CN" dirty="0"/>
              <a:t>controls a peripheral</a:t>
            </a:r>
            <a:r>
              <a:rPr lang="zh-CN" altLang="en-US" dirty="0"/>
              <a:t>（外围）</a:t>
            </a:r>
            <a:r>
              <a:rPr lang="en-US" altLang="zh-CN" dirty="0"/>
              <a:t> device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A controller or I/O module is added. The processor uses </a:t>
            </a:r>
            <a:r>
              <a:rPr lang="en-US" altLang="zh-CN" dirty="0">
                <a:solidFill>
                  <a:srgbClr val="0070C0"/>
                </a:solidFill>
              </a:rPr>
              <a:t>programmed I/O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without interrupts</a:t>
            </a:r>
            <a:r>
              <a:rPr lang="en-US" altLang="zh-CN" dirty="0"/>
              <a:t>.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Same configuration as step 2, but now </a:t>
            </a:r>
            <a:r>
              <a:rPr lang="en-US" altLang="zh-CN" dirty="0">
                <a:solidFill>
                  <a:srgbClr val="0070C0"/>
                </a:solidFill>
              </a:rPr>
              <a:t>interrupts</a:t>
            </a:r>
            <a:r>
              <a:rPr lang="en-US" altLang="zh-CN" dirty="0"/>
              <a:t> are employed</a:t>
            </a:r>
          </a:p>
          <a:p>
            <a:pPr marL="457200" indent="-457200">
              <a:buFont typeface="+mj-ea"/>
              <a:buAutoNum type="circleNumDbPlain"/>
            </a:pP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I/O module is given direct control of memory via </a:t>
            </a:r>
            <a:r>
              <a:rPr lang="en-US" altLang="zh-CN" dirty="0">
                <a:solidFill>
                  <a:srgbClr val="0070C0"/>
                </a:solidFill>
              </a:rPr>
              <a:t>DMA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chemeClr val="accent1"/>
                </a:solidFill>
              </a:rPr>
              <a:t>I/O module </a:t>
            </a:r>
            <a:r>
              <a:rPr lang="en-US" altLang="zh-CN" dirty="0"/>
              <a:t>is enhanced to become a </a:t>
            </a:r>
            <a:r>
              <a:rPr lang="en-US" altLang="zh-CN" dirty="0">
                <a:solidFill>
                  <a:srgbClr val="C00000"/>
                </a:solidFill>
              </a:rPr>
              <a:t>separate processor</a:t>
            </a:r>
            <a:r>
              <a:rPr lang="en-US" altLang="zh-CN" dirty="0"/>
              <a:t>, with a specialized </a:t>
            </a:r>
            <a:r>
              <a:rPr lang="en-US" altLang="zh-CN" dirty="0">
                <a:solidFill>
                  <a:srgbClr val="0070C0"/>
                </a:solidFill>
              </a:rPr>
              <a:t>instruction set </a:t>
            </a:r>
            <a:r>
              <a:rPr lang="en-US" altLang="zh-CN" dirty="0"/>
              <a:t>tailored for I/O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chemeClr val="accent1"/>
                </a:solidFill>
              </a:rPr>
              <a:t>I/O module </a:t>
            </a:r>
            <a:r>
              <a:rPr lang="en-US" altLang="zh-CN" dirty="0"/>
              <a:t>has a </a:t>
            </a:r>
            <a:r>
              <a:rPr lang="en-US" altLang="zh-CN" dirty="0">
                <a:solidFill>
                  <a:srgbClr val="0070C0"/>
                </a:solidFill>
              </a:rPr>
              <a:t>local memory</a:t>
            </a:r>
            <a:r>
              <a:rPr lang="en-US" altLang="zh-CN" dirty="0"/>
              <a:t> of its own and is, in fact, a computer in its own right</a:t>
            </a:r>
            <a:endParaRPr lang="zh-CN" altLang="en-US" dirty="0"/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C2580199-460F-4A24-AF81-969ED74D7638}"/>
              </a:ext>
            </a:extLst>
          </p:cNvPr>
          <p:cNvSpPr/>
          <p:nvPr/>
        </p:nvSpPr>
        <p:spPr>
          <a:xfrm>
            <a:off x="562013" y="1489464"/>
            <a:ext cx="256309" cy="969818"/>
          </a:xfrm>
          <a:prstGeom prst="leftBrace">
            <a:avLst>
              <a:gd name="adj1" fmla="val 8333"/>
              <a:gd name="adj2" fmla="val 4815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8972A4EE-A6E2-4C8B-B32E-76B3E00CEFAD}"/>
              </a:ext>
            </a:extLst>
          </p:cNvPr>
          <p:cNvSpPr/>
          <p:nvPr/>
        </p:nvSpPr>
        <p:spPr>
          <a:xfrm>
            <a:off x="589972" y="3513842"/>
            <a:ext cx="256309" cy="1580012"/>
          </a:xfrm>
          <a:prstGeom prst="lef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8435D5-4865-4970-B0CD-C41D64BFF50A}"/>
              </a:ext>
            </a:extLst>
          </p:cNvPr>
          <p:cNvSpPr txBox="1"/>
          <p:nvPr/>
        </p:nvSpPr>
        <p:spPr>
          <a:xfrm>
            <a:off x="250948" y="5171561"/>
            <a:ext cx="5069658" cy="461665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highlight>
                  <a:srgbClr val="FFFF00"/>
                </a:highlight>
              </a:rPr>
              <a:t>Processor do not participate in control</a:t>
            </a:r>
            <a:endParaRPr lang="en-US" sz="2400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9F13A6-0B43-468C-A403-843B44226513}"/>
              </a:ext>
            </a:extLst>
          </p:cNvPr>
          <p:cNvSpPr txBox="1"/>
          <p:nvPr/>
        </p:nvSpPr>
        <p:spPr>
          <a:xfrm>
            <a:off x="234730" y="5529395"/>
            <a:ext cx="4065087" cy="461665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highlight>
                  <a:srgbClr val="FFFF00"/>
                </a:highlight>
              </a:rPr>
              <a:t>Processor only send command</a:t>
            </a:r>
            <a:endParaRPr lang="en-US" sz="2400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785C46-80E7-794B-B826-68CC60E8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913" y="5055704"/>
            <a:ext cx="1737995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0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AB062-B0D8-4006-B07E-92502A80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DMA Configurations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B4CEB61-9113-4050-BEFD-3B6D2C8A1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568" y="1046917"/>
            <a:ext cx="5408468" cy="127812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5E233-6294-4E9B-8B5D-CB35F7D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8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A2D798-F00E-4EBF-AA4E-BA55DDBE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DA42CE8-1323-427C-B5CF-A8751837F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93" y="2325038"/>
            <a:ext cx="5185496" cy="18152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5C9C2DC-0D11-4CD9-AE64-871F8C96E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15" y="4067298"/>
            <a:ext cx="5034251" cy="217359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75E3C97-11F8-4CA8-A9F6-D9723BAD6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191" y="1046917"/>
            <a:ext cx="4843241" cy="460851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86F2D66-A3B5-4509-BA29-AC8B11B4969B}"/>
              </a:ext>
            </a:extLst>
          </p:cNvPr>
          <p:cNvSpPr txBox="1"/>
          <p:nvPr/>
        </p:nvSpPr>
        <p:spPr>
          <a:xfrm>
            <a:off x="8568426" y="5759161"/>
            <a:ext cx="3005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231F20"/>
                </a:solidFill>
                <a:effectLst/>
              </a:defRPr>
            </a:lvl1pPr>
          </a:lstStyle>
          <a:p>
            <a:pPr algn="ctr"/>
            <a:r>
              <a:rPr lang="en-US" dirty="0"/>
              <a:t>Typical DMA Block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866686-6B8A-8C49-9CDA-A16DC13A1F49}"/>
              </a:ext>
            </a:extLst>
          </p:cNvPr>
          <p:cNvSpPr/>
          <p:nvPr/>
        </p:nvSpPr>
        <p:spPr>
          <a:xfrm>
            <a:off x="3399183" y="2613991"/>
            <a:ext cx="1282147" cy="566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81B0C9-339A-E946-9DF2-B48EFB4DAEDD}"/>
              </a:ext>
            </a:extLst>
          </p:cNvPr>
          <p:cNvSpPr/>
          <p:nvPr/>
        </p:nvSpPr>
        <p:spPr>
          <a:xfrm>
            <a:off x="1812235" y="2537791"/>
            <a:ext cx="1282147" cy="566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F07676-9B27-2449-A0CC-4D2B1C59AB5A}"/>
              </a:ext>
            </a:extLst>
          </p:cNvPr>
          <p:cNvSpPr/>
          <p:nvPr/>
        </p:nvSpPr>
        <p:spPr>
          <a:xfrm>
            <a:off x="2557670" y="4495799"/>
            <a:ext cx="1282147" cy="566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958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11.3. Design Objectives of Operating 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515600" cy="5420549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Efficiency</a:t>
            </a:r>
          </a:p>
          <a:p>
            <a:pPr lvl="1"/>
            <a:r>
              <a:rPr lang="en-US" altLang="zh-CN" sz="2600" b="1" dirty="0">
                <a:solidFill>
                  <a:srgbClr val="FF0000"/>
                </a:solidFill>
              </a:rPr>
              <a:t>Major effort </a:t>
            </a:r>
            <a:r>
              <a:rPr lang="en-US" altLang="zh-CN" sz="2600" dirty="0"/>
              <a:t>in I/O design</a:t>
            </a:r>
          </a:p>
          <a:p>
            <a:pPr lvl="1"/>
            <a:r>
              <a:rPr lang="en-US" altLang="zh-CN" sz="2600" dirty="0"/>
              <a:t>Important because I/O operations often form a </a:t>
            </a:r>
            <a:r>
              <a:rPr lang="en-US" altLang="zh-CN" sz="2600" b="1" dirty="0">
                <a:solidFill>
                  <a:srgbClr val="C00000"/>
                </a:solidFill>
              </a:rPr>
              <a:t>bottleneck</a:t>
            </a:r>
          </a:p>
          <a:p>
            <a:pPr lvl="1"/>
            <a:r>
              <a:rPr lang="en-US" altLang="zh-CN" sz="2600" dirty="0"/>
              <a:t>Most I/O devices are </a:t>
            </a:r>
            <a:r>
              <a:rPr lang="en-US" altLang="zh-CN" sz="2600" b="1" dirty="0">
                <a:solidFill>
                  <a:srgbClr val="FF0000"/>
                </a:solidFill>
              </a:rPr>
              <a:t>extremely slow</a:t>
            </a:r>
            <a:r>
              <a:rPr lang="en-US" altLang="zh-CN" sz="2600" dirty="0"/>
              <a:t> compared with main memory and the processor</a:t>
            </a:r>
          </a:p>
          <a:p>
            <a:pPr lvl="1"/>
            <a:r>
              <a:rPr lang="en-US" altLang="zh-CN" sz="2600" dirty="0"/>
              <a:t>The area that has received the most attention is </a:t>
            </a:r>
            <a:r>
              <a:rPr lang="en-US" altLang="zh-CN" sz="2600" b="1" dirty="0">
                <a:solidFill>
                  <a:srgbClr val="FF0000"/>
                </a:solidFill>
              </a:rPr>
              <a:t>disk I/O</a:t>
            </a:r>
            <a:endParaRPr lang="en-US" altLang="zh-CN" sz="2600" dirty="0">
              <a:solidFill>
                <a:srgbClr val="0070C0"/>
              </a:solidFill>
            </a:endParaRPr>
          </a:p>
          <a:p>
            <a:r>
              <a:rPr lang="en-US" altLang="zh-CN" dirty="0"/>
              <a:t>Generality</a:t>
            </a:r>
          </a:p>
          <a:p>
            <a:pPr lvl="1"/>
            <a:r>
              <a:rPr lang="en-US" altLang="zh-CN" sz="2600" dirty="0"/>
              <a:t>Desirable to handle all devices in a </a:t>
            </a:r>
            <a:r>
              <a:rPr lang="en-US" altLang="zh-CN" sz="2600" b="1" dirty="0">
                <a:solidFill>
                  <a:srgbClr val="FF0000"/>
                </a:solidFill>
              </a:rPr>
              <a:t>uniform manner</a:t>
            </a:r>
          </a:p>
          <a:p>
            <a:pPr lvl="2"/>
            <a:r>
              <a:rPr lang="en-US" altLang="zh-CN" sz="2600" dirty="0"/>
              <a:t>the way processor view I/O devices </a:t>
            </a:r>
          </a:p>
          <a:p>
            <a:pPr lvl="2"/>
            <a:r>
              <a:rPr lang="en-US" altLang="zh-CN" sz="2600" dirty="0"/>
              <a:t>the way the operating system manages I/O devices and operations</a:t>
            </a:r>
          </a:p>
          <a:p>
            <a:pPr lvl="1"/>
            <a:r>
              <a:rPr lang="en-US" altLang="zh-CN" sz="2600" b="1" dirty="0">
                <a:solidFill>
                  <a:srgbClr val="0070C0"/>
                </a:solidFill>
              </a:rPr>
              <a:t>Diversity</a:t>
            </a:r>
            <a:r>
              <a:rPr lang="en-US" altLang="zh-CN" sz="2600" dirty="0"/>
              <a:t> of devices makes it difficult to achieve true generality</a:t>
            </a:r>
          </a:p>
          <a:p>
            <a:pPr lvl="1"/>
            <a:r>
              <a:rPr lang="en-US" altLang="zh-CN" sz="2600" dirty="0"/>
              <a:t>Use</a:t>
            </a:r>
            <a:r>
              <a:rPr lang="en-US" altLang="zh-CN" sz="2600" b="1" dirty="0"/>
              <a:t> </a:t>
            </a:r>
            <a:r>
              <a:rPr lang="en-US" altLang="zh-CN" sz="2600" b="1" dirty="0">
                <a:solidFill>
                  <a:srgbClr val="C00000"/>
                </a:solidFill>
              </a:rPr>
              <a:t>a hierarchical, modular approach </a:t>
            </a:r>
            <a:r>
              <a:rPr lang="en-US" altLang="zh-CN" sz="2600" dirty="0"/>
              <a:t>to the design of the I/O function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6683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Logical Structure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41205-D880-0A44-9A1C-DA718BFB0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444" y="771528"/>
            <a:ext cx="5830956" cy="5808176"/>
          </a:xfrm>
        </p:spPr>
        <p:txBody>
          <a:bodyPr>
            <a:normAutofit/>
          </a:bodyPr>
          <a:lstStyle/>
          <a:p>
            <a:r>
              <a:rPr lang="en-US" altLang="zh-CN" dirty="0"/>
              <a:t>The details of the organization will depend on the </a:t>
            </a:r>
            <a:r>
              <a:rPr lang="en-US" altLang="zh-CN" dirty="0">
                <a:solidFill>
                  <a:srgbClr val="0070C0"/>
                </a:solidFill>
              </a:rPr>
              <a:t>type</a:t>
            </a:r>
            <a:r>
              <a:rPr lang="en-US" altLang="zh-CN" dirty="0"/>
              <a:t> of device and the </a:t>
            </a:r>
            <a:r>
              <a:rPr lang="en-US" altLang="zh-CN" dirty="0">
                <a:solidFill>
                  <a:srgbClr val="0070C0"/>
                </a:solidFill>
              </a:rPr>
              <a:t>application</a:t>
            </a:r>
          </a:p>
          <a:p>
            <a:pPr lvl="1"/>
            <a:r>
              <a:rPr lang="en-US" b="1" dirty="0"/>
              <a:t>Logical I/O</a:t>
            </a:r>
            <a:endParaRPr lang="en-US" dirty="0"/>
          </a:p>
          <a:p>
            <a:pPr lvl="2"/>
            <a:r>
              <a:rPr lang="en-US" sz="2400" dirty="0"/>
              <a:t>is concerned with </a:t>
            </a:r>
            <a:r>
              <a:rPr lang="en-US" sz="2400" dirty="0">
                <a:solidFill>
                  <a:srgbClr val="0070C0"/>
                </a:solidFill>
              </a:rPr>
              <a:t>managing general I/O functions </a:t>
            </a:r>
            <a:r>
              <a:rPr lang="en-US" sz="2400" dirty="0"/>
              <a:t>on behalf of user processes, dealing with the </a:t>
            </a:r>
            <a:r>
              <a:rPr lang="en-US" sz="2400" b="1" dirty="0">
                <a:solidFill>
                  <a:srgbClr val="FF0000"/>
                </a:solidFill>
              </a:rPr>
              <a:t>device identifier </a:t>
            </a:r>
            <a:r>
              <a:rPr lang="en-US" sz="2400" dirty="0"/>
              <a:t>and simple commands such as </a:t>
            </a:r>
            <a:r>
              <a:rPr lang="en-US" sz="2400" b="1" dirty="0">
                <a:solidFill>
                  <a:srgbClr val="FF0000"/>
                </a:solidFill>
              </a:rPr>
              <a:t>open, close, read, and write</a:t>
            </a:r>
            <a:r>
              <a:rPr lang="en-US" sz="2400" dirty="0"/>
              <a:t>.</a:t>
            </a:r>
          </a:p>
          <a:p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7E620-9BD9-C542-906C-DF68AF083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055" y="805068"/>
            <a:ext cx="1475628" cy="5585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54E28-38A6-BF4C-BE2D-3B6D96F6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8" y="815009"/>
            <a:ext cx="1279336" cy="5550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16DAF-7E19-284A-96E6-01478938E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455" y="815010"/>
            <a:ext cx="1018674" cy="55957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58360D-D781-454E-BE19-F75B78F28EA6}"/>
              </a:ext>
            </a:extLst>
          </p:cNvPr>
          <p:cNvSpPr/>
          <p:nvPr/>
        </p:nvSpPr>
        <p:spPr>
          <a:xfrm>
            <a:off x="7487479" y="1394791"/>
            <a:ext cx="4051851" cy="1567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117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Logical Structure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41205-D880-0A44-9A1C-DA718BFB0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5927436" cy="5365733"/>
          </a:xfrm>
        </p:spPr>
        <p:txBody>
          <a:bodyPr>
            <a:normAutofit/>
          </a:bodyPr>
          <a:lstStyle/>
          <a:p>
            <a:r>
              <a:rPr lang="en-US" altLang="zh-CN" dirty="0"/>
              <a:t>The details of the organization will depend on the </a:t>
            </a:r>
            <a:r>
              <a:rPr lang="en-US" altLang="zh-CN" dirty="0">
                <a:solidFill>
                  <a:srgbClr val="0070C0"/>
                </a:solidFill>
              </a:rPr>
              <a:t>type</a:t>
            </a:r>
            <a:r>
              <a:rPr lang="en-US" altLang="zh-CN" dirty="0"/>
              <a:t> of device and the </a:t>
            </a:r>
            <a:r>
              <a:rPr lang="en-US" altLang="zh-CN" dirty="0">
                <a:solidFill>
                  <a:srgbClr val="0070C0"/>
                </a:solidFill>
              </a:rPr>
              <a:t>application</a:t>
            </a:r>
          </a:p>
          <a:p>
            <a:pPr lvl="1"/>
            <a:r>
              <a:rPr lang="en-US" altLang="zh-CN" b="1" dirty="0"/>
              <a:t>Device I/O</a:t>
            </a:r>
            <a:r>
              <a:rPr lang="en-US" altLang="zh-CN" dirty="0"/>
              <a:t>: </a:t>
            </a:r>
          </a:p>
          <a:p>
            <a:pPr lvl="2"/>
            <a:r>
              <a:rPr lang="en-US" altLang="zh-CN" sz="2400" dirty="0"/>
              <a:t>The requested operations and data are </a:t>
            </a:r>
            <a:r>
              <a:rPr lang="en-US" altLang="zh-CN" sz="2400" b="1" dirty="0">
                <a:solidFill>
                  <a:srgbClr val="0070C0"/>
                </a:solidFill>
              </a:rPr>
              <a:t>converted into I/O instructions, channel commands, and controller orders</a:t>
            </a:r>
            <a:r>
              <a:rPr lang="en-US" altLang="zh-CN" sz="2400" dirty="0"/>
              <a:t>. </a:t>
            </a:r>
          </a:p>
          <a:p>
            <a:pPr lvl="2"/>
            <a:r>
              <a:rPr lang="en-US" altLang="zh-CN" sz="2400" b="1" dirty="0">
                <a:solidFill>
                  <a:srgbClr val="FF0000"/>
                </a:solidFill>
              </a:rPr>
              <a:t>Buffering techniques </a:t>
            </a:r>
            <a:r>
              <a:rPr lang="en-US" altLang="zh-CN" sz="2400" dirty="0"/>
              <a:t>may be used to improve utilization.</a:t>
            </a:r>
          </a:p>
          <a:p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E817D-5942-CA4A-812D-A646A1100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055" y="805068"/>
            <a:ext cx="1475628" cy="5585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343EAF-46E6-5B42-B36B-23013B0F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8" y="815009"/>
            <a:ext cx="1279336" cy="5550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0E78AA-5770-2B45-B84F-0F4BC0DB1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455" y="815010"/>
            <a:ext cx="1018674" cy="55957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A356B0-7E5C-C140-973C-5A85A8D4333C}"/>
              </a:ext>
            </a:extLst>
          </p:cNvPr>
          <p:cNvSpPr/>
          <p:nvPr/>
        </p:nvSpPr>
        <p:spPr>
          <a:xfrm>
            <a:off x="7487479" y="1394791"/>
            <a:ext cx="4051851" cy="1567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4668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Logical Structure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41205-D880-0A44-9A1C-DA718BFB0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5927436" cy="5365733"/>
          </a:xfrm>
        </p:spPr>
        <p:txBody>
          <a:bodyPr>
            <a:normAutofit/>
          </a:bodyPr>
          <a:lstStyle/>
          <a:p>
            <a:r>
              <a:rPr lang="en-US" altLang="zh-CN" dirty="0"/>
              <a:t>The details of the organization will depend on the </a:t>
            </a:r>
            <a:r>
              <a:rPr lang="en-US" altLang="zh-CN" dirty="0">
                <a:solidFill>
                  <a:srgbClr val="0070C0"/>
                </a:solidFill>
              </a:rPr>
              <a:t>type</a:t>
            </a:r>
            <a:r>
              <a:rPr lang="en-US" altLang="zh-CN" dirty="0"/>
              <a:t> of device and the </a:t>
            </a:r>
            <a:r>
              <a:rPr lang="en-US" altLang="zh-CN" dirty="0">
                <a:solidFill>
                  <a:srgbClr val="0070C0"/>
                </a:solidFill>
              </a:rPr>
              <a:t>application</a:t>
            </a:r>
          </a:p>
          <a:p>
            <a:pPr lvl="1"/>
            <a:r>
              <a:rPr lang="en-US" altLang="zh-CN" b="1" dirty="0"/>
              <a:t>Scheduling and control</a:t>
            </a:r>
            <a:r>
              <a:rPr lang="en-US" altLang="zh-CN" dirty="0"/>
              <a:t>: </a:t>
            </a:r>
          </a:p>
          <a:p>
            <a:pPr lvl="2"/>
            <a:r>
              <a:rPr lang="en-US" altLang="zh-CN" sz="2400" dirty="0"/>
              <a:t>The actual </a:t>
            </a:r>
            <a:r>
              <a:rPr lang="en-US" altLang="zh-CN" sz="2400" b="1" dirty="0">
                <a:solidFill>
                  <a:srgbClr val="FF0000"/>
                </a:solidFill>
              </a:rPr>
              <a:t>queueing and scheduling</a:t>
            </a:r>
            <a:r>
              <a:rPr lang="en-US" altLang="zh-CN" sz="2400" dirty="0"/>
              <a:t> of I/O operations, as well as the control of the operations. </a:t>
            </a:r>
          </a:p>
          <a:p>
            <a:pPr lvl="2"/>
            <a:r>
              <a:rPr lang="en-US" altLang="zh-CN" sz="2400" dirty="0"/>
              <a:t>Thus, </a:t>
            </a:r>
            <a:r>
              <a:rPr lang="en-US" altLang="zh-CN" sz="2400" b="1" dirty="0">
                <a:solidFill>
                  <a:srgbClr val="0070C0"/>
                </a:solidFill>
              </a:rPr>
              <a:t>interrupts</a:t>
            </a:r>
            <a:r>
              <a:rPr lang="en-US" altLang="zh-CN" sz="2400" dirty="0"/>
              <a:t> are handled at this layer and </a:t>
            </a:r>
            <a:r>
              <a:rPr lang="en-US" altLang="zh-CN" sz="2400" b="1" dirty="0">
                <a:solidFill>
                  <a:srgbClr val="0070C0"/>
                </a:solidFill>
              </a:rPr>
              <a:t>I/O status </a:t>
            </a:r>
            <a:r>
              <a:rPr lang="en-US" altLang="zh-CN" sz="2400" dirty="0"/>
              <a:t>is collected and reported. </a:t>
            </a:r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F51E8B-3F20-DE45-B569-5537A082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055" y="805068"/>
            <a:ext cx="1475628" cy="5585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CE4A3-9F34-D041-A6F3-B7DA8CDAB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8" y="815009"/>
            <a:ext cx="1279336" cy="5550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81ED0F-51BE-5843-A7E2-11402B43F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455" y="815010"/>
            <a:ext cx="1018674" cy="55957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D34EF4-18FC-8F4C-AC73-6F7FD283EBA0}"/>
              </a:ext>
            </a:extLst>
          </p:cNvPr>
          <p:cNvSpPr/>
          <p:nvPr/>
        </p:nvSpPr>
        <p:spPr>
          <a:xfrm>
            <a:off x="7487479" y="1394791"/>
            <a:ext cx="4051851" cy="1567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991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01BF4-5298-42AF-8AF4-DB10B85D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</a:t>
            </a:r>
            <a:r>
              <a:rPr lang="en-US" dirty="0"/>
              <a:t>4. I/O Buffer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181576-5599-41B0-B350-5C63A1C20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616768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ase Discussion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B29CD-2590-4D25-86C1-F61DE345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2B6EFE-D3BB-4297-AC31-029ADBB8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FB3475-7AC9-4701-8BA8-593CEF294DF8}"/>
              </a:ext>
            </a:extLst>
          </p:cNvPr>
          <p:cNvSpPr/>
          <p:nvPr/>
        </p:nvSpPr>
        <p:spPr>
          <a:xfrm>
            <a:off x="713015" y="1411478"/>
            <a:ext cx="3749655" cy="13118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process request to read blocks of data from Disk into a </a:t>
            </a:r>
            <a:r>
              <a:rPr lang="en-US" sz="2400" dirty="0">
                <a:solidFill>
                  <a:srgbClr val="FF0000"/>
                </a:solidFill>
              </a:rPr>
              <a:t>data area [X] (virtual </a:t>
            </a:r>
            <a:r>
              <a:rPr lang="en-US" sz="2400" dirty="0" err="1">
                <a:solidFill>
                  <a:srgbClr val="FF0000"/>
                </a:solidFill>
              </a:rPr>
              <a:t>addr</a:t>
            </a:r>
            <a:r>
              <a:rPr lang="en-US" sz="2400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C5EC8A-35EA-4560-85EF-BA235AD10036}"/>
              </a:ext>
            </a:extLst>
          </p:cNvPr>
          <p:cNvSpPr/>
          <p:nvPr/>
        </p:nvSpPr>
        <p:spPr>
          <a:xfrm>
            <a:off x="6864153" y="1255965"/>
            <a:ext cx="3462604" cy="483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Busy waiting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132D5F-F98F-4F7E-9478-E3D9368BD913}"/>
              </a:ext>
            </a:extLst>
          </p:cNvPr>
          <p:cNvSpPr/>
          <p:nvPr/>
        </p:nvSpPr>
        <p:spPr>
          <a:xfrm>
            <a:off x="6854214" y="1917828"/>
            <a:ext cx="3462604" cy="8750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Suspension on an interrupt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8A39E1-8DA3-489E-981A-8428C83473D1}"/>
              </a:ext>
            </a:extLst>
          </p:cNvPr>
          <p:cNvSpPr txBox="1"/>
          <p:nvPr/>
        </p:nvSpPr>
        <p:spPr>
          <a:xfrm>
            <a:off x="626165" y="3117936"/>
            <a:ext cx="107143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/>
              <a:t> Virtual locations </a:t>
            </a:r>
            <a:r>
              <a:rPr lang="en-US" sz="2400" dirty="0">
                <a:solidFill>
                  <a:srgbClr val="FF0000"/>
                </a:solidFill>
              </a:rPr>
              <a:t>[x] </a:t>
            </a:r>
            <a:r>
              <a:rPr lang="en-US" sz="2400" dirty="0"/>
              <a:t>must </a:t>
            </a:r>
            <a:r>
              <a:rPr lang="en-US" sz="2400" dirty="0">
                <a:solidFill>
                  <a:srgbClr val="FF0000"/>
                </a:solidFill>
              </a:rPr>
              <a:t>remain in main memory </a:t>
            </a:r>
            <a:r>
              <a:rPr lang="en-US" sz="2400" dirty="0"/>
              <a:t>during the course of the block transfer.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altLang="zh-CN" sz="2400" dirty="0"/>
              <a:t>Otherwise, some data will be </a:t>
            </a:r>
            <a:r>
              <a:rPr lang="en-US" altLang="zh-CN" sz="2400" dirty="0">
                <a:solidFill>
                  <a:srgbClr val="0070C0"/>
                </a:solidFill>
              </a:rPr>
              <a:t>lost</a:t>
            </a:r>
            <a:r>
              <a:rPr lang="en-US" altLang="zh-CN" sz="2400" dirty="0"/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400" dirty="0"/>
              <a:t>It is impossible to </a:t>
            </a:r>
            <a:r>
              <a:rPr lang="en-US" sz="2400" dirty="0">
                <a:solidFill>
                  <a:srgbClr val="0070C0"/>
                </a:solidFill>
              </a:rPr>
              <a:t>swap the process out completely</a:t>
            </a:r>
            <a:r>
              <a:rPr lang="en-US" sz="24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altLang="zh-CN" sz="2400" dirty="0"/>
              <a:t> There is a risk of single-process </a:t>
            </a:r>
            <a:r>
              <a:rPr lang="en-US" altLang="zh-CN" sz="2400" b="1" dirty="0">
                <a:solidFill>
                  <a:srgbClr val="FF0000"/>
                </a:solidFill>
              </a:rPr>
              <a:t>deadlock</a:t>
            </a:r>
            <a:r>
              <a:rPr lang="en-US" altLang="zh-CN" sz="2400" dirty="0"/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altLang="zh-CN" sz="2400" dirty="0"/>
              <a:t>The process is swapped out </a:t>
            </a:r>
            <a:r>
              <a:rPr lang="en-US" altLang="zh-CN" sz="2400" b="1" dirty="0">
                <a:solidFill>
                  <a:srgbClr val="FF0000"/>
                </a:solidFill>
              </a:rPr>
              <a:t>before</a:t>
            </a:r>
            <a:r>
              <a:rPr lang="en-US" altLang="zh-CN" sz="2400" dirty="0"/>
              <a:t> the I/O operation starting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altLang="zh-CN" sz="2400" dirty="0"/>
              <a:t>Process is suspend by I/O command 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sym typeface="Wingdings" panose="05000000000000000000" pitchFamily="2" charset="2"/>
              </a:rPr>
              <a:t> </a:t>
            </a:r>
            <a:r>
              <a:rPr lang="en-US" altLang="zh-CN" sz="2400" dirty="0"/>
              <a:t>I/O is blocked by swapping out 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ym typeface="Wingdings" panose="05000000000000000000" pitchFamily="2" charset="2"/>
              </a:rPr>
              <a:t>deadlock</a:t>
            </a:r>
            <a:endParaRPr lang="en-US" altLang="zh-CN" sz="2400" dirty="0"/>
          </a:p>
          <a:p>
            <a:pPr algn="just"/>
            <a:endParaRPr lang="en-US" altLang="zh-CN" sz="2400" dirty="0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EDA57C13-A1A2-4372-8D0D-F745F463319E}"/>
              </a:ext>
            </a:extLst>
          </p:cNvPr>
          <p:cNvSpPr/>
          <p:nvPr/>
        </p:nvSpPr>
        <p:spPr>
          <a:xfrm rot="21273085">
            <a:off x="4819784" y="1514609"/>
            <a:ext cx="1816116" cy="210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箭头: 右 24">
            <a:extLst>
              <a:ext uri="{FF2B5EF4-FFF2-40B4-BE49-F238E27FC236}">
                <a16:creationId xmlns:a16="http://schemas.microsoft.com/office/drawing/2014/main" id="{901E83D7-17E7-CC4E-A380-D0760FEB0B0F}"/>
              </a:ext>
            </a:extLst>
          </p:cNvPr>
          <p:cNvSpPr/>
          <p:nvPr/>
        </p:nvSpPr>
        <p:spPr>
          <a:xfrm rot="619962">
            <a:off x="4819015" y="2096239"/>
            <a:ext cx="1722431" cy="2019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0825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Buffer</a:t>
            </a:r>
            <a:r>
              <a:rPr lang="zh-CN" altLang="en-US" dirty="0"/>
              <a:t>：</a:t>
            </a:r>
            <a:r>
              <a:rPr lang="en-US" altLang="zh-CN" dirty="0"/>
              <a:t>Perform input transfers in </a:t>
            </a:r>
            <a:r>
              <a:rPr lang="en-US" altLang="zh-CN" dirty="0">
                <a:solidFill>
                  <a:srgbClr val="0070C0"/>
                </a:solidFill>
              </a:rPr>
              <a:t>advance</a:t>
            </a:r>
            <a:r>
              <a:rPr lang="en-US" altLang="zh-CN" dirty="0"/>
              <a:t> of requests being made (</a:t>
            </a:r>
            <a:r>
              <a:rPr lang="en-US" altLang="zh-CN" dirty="0">
                <a:solidFill>
                  <a:srgbClr val="FF0000"/>
                </a:solidFill>
              </a:rPr>
              <a:t>read-ahead</a:t>
            </a:r>
            <a:r>
              <a:rPr lang="en-US" altLang="zh-CN" dirty="0"/>
              <a:t>) and perform output transfers some time </a:t>
            </a:r>
            <a:r>
              <a:rPr lang="en-US" altLang="zh-CN" dirty="0">
                <a:solidFill>
                  <a:srgbClr val="0070C0"/>
                </a:solidFill>
              </a:rPr>
              <a:t>after</a:t>
            </a:r>
            <a:r>
              <a:rPr lang="en-US" altLang="zh-CN" dirty="0"/>
              <a:t> the request is made  (</a:t>
            </a:r>
            <a:r>
              <a:rPr lang="en-US" altLang="zh-CN" dirty="0">
                <a:solidFill>
                  <a:srgbClr val="FF0000"/>
                </a:solidFill>
              </a:rPr>
              <a:t>write-back</a:t>
            </a:r>
            <a:r>
              <a:rPr lang="en-US" altLang="zh-CN" dirty="0"/>
              <a:t>) . 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Block</a:t>
            </a:r>
            <a:r>
              <a:rPr lang="en-US" altLang="zh-CN" dirty="0"/>
              <a:t>-oriented device</a:t>
            </a:r>
          </a:p>
          <a:p>
            <a:pPr lvl="1"/>
            <a:r>
              <a:rPr lang="en-US" altLang="zh-CN" sz="2400" dirty="0"/>
              <a:t>stores information in blocks that are usually of </a:t>
            </a:r>
            <a:r>
              <a:rPr lang="en-US" altLang="zh-CN" sz="2400" dirty="0">
                <a:solidFill>
                  <a:srgbClr val="0070C0"/>
                </a:solidFill>
              </a:rPr>
              <a:t>fixed size</a:t>
            </a:r>
          </a:p>
          <a:p>
            <a:pPr lvl="1"/>
            <a:r>
              <a:rPr lang="en-US" altLang="zh-CN" sz="2400" dirty="0"/>
              <a:t>transfers are made </a:t>
            </a:r>
            <a:r>
              <a:rPr lang="en-US" altLang="zh-CN" sz="2400" dirty="0">
                <a:solidFill>
                  <a:srgbClr val="0070C0"/>
                </a:solidFill>
              </a:rPr>
              <a:t>one block at a time</a:t>
            </a:r>
          </a:p>
          <a:p>
            <a:pPr lvl="1"/>
            <a:r>
              <a:rPr lang="en-US" altLang="zh-CN" sz="2400" dirty="0"/>
              <a:t>possible to reference data by </a:t>
            </a:r>
            <a:r>
              <a:rPr lang="en-US" altLang="zh-CN" sz="2400" dirty="0">
                <a:solidFill>
                  <a:schemeClr val="accent1"/>
                </a:solidFill>
              </a:rPr>
              <a:t>its block number</a:t>
            </a:r>
          </a:p>
          <a:p>
            <a:pPr lvl="1"/>
            <a:r>
              <a:rPr lang="en-US" altLang="zh-CN" sz="2400" dirty="0">
                <a:solidFill>
                  <a:srgbClr val="C00000"/>
                </a:solidFill>
              </a:rPr>
              <a:t>Storage devices: </a:t>
            </a:r>
            <a:r>
              <a:rPr lang="en-US" altLang="zh-CN" sz="2400" dirty="0"/>
              <a:t>disks and USB keys are examples</a:t>
            </a:r>
            <a:endParaRPr lang="en-US" altLang="zh-CN" dirty="0"/>
          </a:p>
          <a:p>
            <a:r>
              <a:rPr lang="en-US" altLang="zh-CN" dirty="0">
                <a:solidFill>
                  <a:srgbClr val="0070C0"/>
                </a:solidFill>
              </a:rPr>
              <a:t>Stream</a:t>
            </a:r>
            <a:r>
              <a:rPr lang="en-US" altLang="zh-CN" dirty="0"/>
              <a:t>-oriented device</a:t>
            </a:r>
          </a:p>
          <a:p>
            <a:pPr lvl="1"/>
            <a:r>
              <a:rPr lang="en-US" altLang="zh-CN" sz="2400" dirty="0"/>
              <a:t>transfers data in and out as a stream of </a:t>
            </a:r>
            <a:r>
              <a:rPr lang="en-US" altLang="zh-CN" sz="2400" dirty="0">
                <a:solidFill>
                  <a:srgbClr val="C00000"/>
                </a:solidFill>
              </a:rPr>
              <a:t>bytes</a:t>
            </a:r>
          </a:p>
          <a:p>
            <a:pPr lvl="1"/>
            <a:r>
              <a:rPr lang="en-US" altLang="zh-CN" sz="2400" dirty="0">
                <a:solidFill>
                  <a:srgbClr val="C00000"/>
                </a:solidFill>
              </a:rPr>
              <a:t>Non-secondary storage devices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r>
              <a:rPr lang="en-US" altLang="zh-CN" sz="2400" dirty="0"/>
              <a:t>terminals, printers, communications ports, and most other devices are examples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2105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 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 Buffer</a:t>
            </a:r>
          </a:p>
          <a:p>
            <a:pPr lvl="1"/>
            <a:r>
              <a:rPr lang="en-US" altLang="zh-CN" sz="2400" dirty="0"/>
              <a:t>Without a buffer, the OS directly accesses the device when it needs</a:t>
            </a:r>
          </a:p>
          <a:p>
            <a:pPr lvl="1"/>
            <a:r>
              <a:rPr lang="en-US" altLang="zh-CN" sz="2400" dirty="0"/>
              <a:t>Disadvantage: block/swap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D75BBBC-0C06-443D-A489-909660D80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380" y="3000753"/>
            <a:ext cx="78486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27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Operating system assigns </a:t>
            </a:r>
            <a:r>
              <a:rPr lang="en-US" altLang="zh-CN" dirty="0">
                <a:solidFill>
                  <a:srgbClr val="FF0000"/>
                </a:solidFill>
              </a:rPr>
              <a:t>a buffer in main memory </a:t>
            </a:r>
            <a:r>
              <a:rPr lang="en-US" altLang="zh-CN" dirty="0"/>
              <a:t>for an I/O request.</a:t>
            </a:r>
          </a:p>
          <a:p>
            <a:r>
              <a:rPr lang="en-US" altLang="zh-CN" dirty="0"/>
              <a:t>Producer/customer</a:t>
            </a:r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1E06E40-E627-4C60-8462-8DB50F63C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904505"/>
              </p:ext>
            </p:extLst>
          </p:nvPr>
        </p:nvGraphicFramePr>
        <p:xfrm>
          <a:off x="5307329" y="5003201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" name="公式" r:id="rId3" imgW="952200" imgH="203040" progId="Equation.3">
                  <p:embed/>
                </p:oleObj>
              </mc:Choice>
              <mc:Fallback>
                <p:oleObj name="公式" r:id="rId3" imgW="952200" imgH="20304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329" y="5003201"/>
                        <a:ext cx="1905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3333810-F631-41C9-90EA-47953982C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112" y="2381663"/>
            <a:ext cx="8364515" cy="23096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798038-60BB-42D0-BEF7-8293599FAA66}"/>
              </a:ext>
            </a:extLst>
          </p:cNvPr>
          <p:cNvSpPr txBox="1"/>
          <p:nvPr/>
        </p:nvSpPr>
        <p:spPr>
          <a:xfrm>
            <a:off x="1476103" y="5497413"/>
            <a:ext cx="935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Max{request interval, data transfer from I/O to buffer} + time from buffer to  user space </a:t>
            </a:r>
          </a:p>
        </p:txBody>
      </p:sp>
    </p:spTree>
    <p:extLst>
      <p:ext uri="{BB962C8B-B14F-4D97-AF65-F5344CB8AC3E}">
        <p14:creationId xmlns:p14="http://schemas.microsoft.com/office/powerpoint/2010/main" val="3740154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Block-Oriented 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Input transfers are made to the system buffer</a:t>
            </a:r>
            <a:r>
              <a:rPr lang="zh-CN" altLang="en-US" dirty="0"/>
              <a:t>，</a:t>
            </a:r>
            <a:r>
              <a:rPr lang="en-US" altLang="zh-CN" dirty="0"/>
              <a:t>called reading ahead/anticipated input (</a:t>
            </a:r>
            <a:r>
              <a:rPr lang="zh-CN" altLang="en-US" dirty="0"/>
              <a:t>预输入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Generally provides a </a:t>
            </a:r>
            <a:r>
              <a:rPr lang="en-US" altLang="zh-CN" dirty="0">
                <a:solidFill>
                  <a:srgbClr val="FF0000"/>
                </a:solidFill>
              </a:rPr>
              <a:t>speedup</a:t>
            </a:r>
            <a:r>
              <a:rPr lang="en-US" altLang="zh-CN" dirty="0"/>
              <a:t> compared to the lack of system buffering.</a:t>
            </a:r>
          </a:p>
          <a:p>
            <a:r>
              <a:rPr lang="en-US" altLang="zh-CN" dirty="0"/>
              <a:t>Able to </a:t>
            </a:r>
            <a:r>
              <a:rPr lang="en-US" altLang="zh-CN" dirty="0">
                <a:solidFill>
                  <a:srgbClr val="FF0000"/>
                </a:solidFill>
              </a:rPr>
              <a:t>swap the process out </a:t>
            </a:r>
            <a:r>
              <a:rPr lang="en-US" altLang="zh-CN" dirty="0"/>
              <a:t>because the input operation is taking place in system memory rather than user process memory.</a:t>
            </a:r>
          </a:p>
          <a:p>
            <a:r>
              <a:rPr lang="en-US" altLang="zh-CN" dirty="0"/>
              <a:t>Disadvantages: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complicates</a:t>
            </a:r>
            <a:r>
              <a:rPr lang="en-US" altLang="zh-CN" sz="2400" dirty="0"/>
              <a:t> the logic of operating system in terms of the </a:t>
            </a:r>
            <a:r>
              <a:rPr lang="en-US" altLang="zh-CN" sz="2400" dirty="0">
                <a:solidFill>
                  <a:srgbClr val="0070C0"/>
                </a:solidFill>
              </a:rPr>
              <a:t>assignment of buffer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swapping</a:t>
            </a:r>
            <a:r>
              <a:rPr lang="en-US" altLang="zh-CN" sz="2400" dirty="0"/>
              <a:t> logic is also affected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53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Stream-Oriented 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770704" cy="5539819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Line</a:t>
            </a:r>
            <a:r>
              <a:rPr lang="en-US" altLang="zh-CN" dirty="0"/>
              <a:t>-at-a-time operation</a:t>
            </a:r>
          </a:p>
          <a:p>
            <a:pPr lvl="1"/>
            <a:r>
              <a:rPr lang="en-US" altLang="zh-CN" sz="2400" dirty="0"/>
              <a:t>appropriate for </a:t>
            </a:r>
            <a:r>
              <a:rPr lang="en-US" altLang="zh-CN" sz="2400" dirty="0">
                <a:solidFill>
                  <a:srgbClr val="C00000"/>
                </a:solidFill>
              </a:rPr>
              <a:t>scroll-mode </a:t>
            </a:r>
            <a:r>
              <a:rPr lang="zh-CN" altLang="en-US" sz="2400" dirty="0">
                <a:solidFill>
                  <a:srgbClr val="C00000"/>
                </a:solidFill>
              </a:rPr>
              <a:t>（滚动模式）</a:t>
            </a:r>
            <a:r>
              <a:rPr lang="en-US" altLang="zh-CN" sz="2400" dirty="0"/>
              <a:t> terminals (dumb terminals)</a:t>
            </a:r>
          </a:p>
          <a:p>
            <a:pPr lvl="1"/>
            <a:r>
              <a:rPr lang="en-US" altLang="zh-CN" sz="2400" dirty="0">
                <a:solidFill>
                  <a:schemeClr val="accent1"/>
                </a:solidFill>
              </a:rPr>
              <a:t>input</a:t>
            </a:r>
            <a:r>
              <a:rPr lang="en-US" altLang="zh-CN" sz="2400" dirty="0"/>
              <a:t> is </a:t>
            </a:r>
            <a:r>
              <a:rPr lang="en-US" altLang="zh-CN" sz="2400" dirty="0">
                <a:solidFill>
                  <a:schemeClr val="accent1"/>
                </a:solidFill>
              </a:rPr>
              <a:t>one line at a time </a:t>
            </a:r>
            <a:r>
              <a:rPr lang="en-US" altLang="zh-CN" sz="2400" dirty="0"/>
              <a:t>with a </a:t>
            </a:r>
            <a:r>
              <a:rPr lang="en-US" altLang="zh-CN" sz="2400" dirty="0">
                <a:solidFill>
                  <a:schemeClr val="accent1"/>
                </a:solidFill>
              </a:rPr>
              <a:t>carriage return </a:t>
            </a:r>
            <a:r>
              <a:rPr lang="zh-CN" altLang="en-US" sz="2400" dirty="0">
                <a:solidFill>
                  <a:schemeClr val="accent1"/>
                </a:solidFill>
              </a:rPr>
              <a:t>（回车）</a:t>
            </a:r>
            <a:r>
              <a:rPr lang="en-US" altLang="zh-CN" sz="2400" dirty="0">
                <a:solidFill>
                  <a:schemeClr val="accent1"/>
                </a:solidFill>
              </a:rPr>
              <a:t> signaling </a:t>
            </a:r>
            <a:r>
              <a:rPr lang="en-US" altLang="zh-CN" sz="2400" dirty="0"/>
              <a:t>the end of a line</a:t>
            </a:r>
          </a:p>
          <a:p>
            <a:pPr lvl="1"/>
            <a:r>
              <a:rPr lang="en-US" altLang="zh-CN" sz="2400" dirty="0">
                <a:solidFill>
                  <a:schemeClr val="accent1"/>
                </a:solidFill>
              </a:rPr>
              <a:t>output</a:t>
            </a:r>
            <a:r>
              <a:rPr lang="en-US" altLang="zh-CN" sz="2400" dirty="0"/>
              <a:t> to the terminal is similarly one line at a time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Byte</a:t>
            </a:r>
            <a:r>
              <a:rPr lang="en-US" altLang="zh-CN" dirty="0"/>
              <a:t>-at-a-time operation</a:t>
            </a:r>
          </a:p>
          <a:p>
            <a:pPr lvl="1"/>
            <a:r>
              <a:rPr lang="en-US" altLang="zh-CN" sz="2400" dirty="0"/>
              <a:t>used on </a:t>
            </a:r>
            <a:r>
              <a:rPr lang="en-US" altLang="zh-CN" sz="2400" dirty="0">
                <a:solidFill>
                  <a:srgbClr val="C00000"/>
                </a:solidFill>
              </a:rPr>
              <a:t>forms-mode </a:t>
            </a:r>
            <a:r>
              <a:rPr lang="zh-CN" altLang="en-US" sz="2400" dirty="0">
                <a:solidFill>
                  <a:srgbClr val="C00000"/>
                </a:solidFill>
              </a:rPr>
              <a:t>（表格模式）</a:t>
            </a:r>
            <a:r>
              <a:rPr lang="en-US" altLang="zh-CN" sz="2400" dirty="0"/>
              <a:t> terminals</a:t>
            </a:r>
          </a:p>
          <a:p>
            <a:pPr lvl="1"/>
            <a:r>
              <a:rPr lang="en-US" altLang="zh-CN" sz="2400" dirty="0"/>
              <a:t>when each keystroke is significant</a:t>
            </a:r>
          </a:p>
          <a:p>
            <a:pPr lvl="1"/>
            <a:r>
              <a:rPr lang="en-US" altLang="zh-CN" sz="2400" dirty="0"/>
              <a:t>other peripherals such as </a:t>
            </a:r>
            <a:r>
              <a:rPr lang="en-US" altLang="zh-CN" sz="2400" dirty="0">
                <a:solidFill>
                  <a:srgbClr val="0070C0"/>
                </a:solidFill>
              </a:rPr>
              <a:t>sensors and controllers</a:t>
            </a:r>
          </a:p>
          <a:p>
            <a:r>
              <a:rPr lang="en-US" altLang="zh-CN" dirty="0"/>
              <a:t>In the case of line-at-a-time I/O, the buffer can be used to hold a single line. The </a:t>
            </a:r>
            <a:r>
              <a:rPr lang="en-US" altLang="zh-CN" dirty="0">
                <a:solidFill>
                  <a:srgbClr val="0070C0"/>
                </a:solidFill>
              </a:rPr>
              <a:t>user process is suspended during input</a:t>
            </a:r>
            <a:r>
              <a:rPr lang="en-US" altLang="zh-CN" dirty="0"/>
              <a:t>, awaiting the arrival of the entire line. </a:t>
            </a:r>
          </a:p>
          <a:p>
            <a:r>
              <a:rPr lang="en-US" altLang="zh-CN" dirty="0"/>
              <a:t>In the case of byte-at-a-time I/O, the interaction between the OS and the user process follows the </a:t>
            </a:r>
            <a:r>
              <a:rPr lang="en-US" altLang="zh-CN" dirty="0">
                <a:solidFill>
                  <a:srgbClr val="0070C0"/>
                </a:solidFill>
              </a:rPr>
              <a:t>producer/consumer model.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49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Double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</a:t>
            </a:r>
            <a:r>
              <a:rPr lang="en-US" altLang="zh-CN" dirty="0">
                <a:solidFill>
                  <a:srgbClr val="C00000"/>
                </a:solidFill>
              </a:rPr>
              <a:t>two system buffers </a:t>
            </a:r>
            <a:r>
              <a:rPr lang="en-US" altLang="zh-CN" dirty="0"/>
              <a:t>instead of one</a:t>
            </a:r>
          </a:p>
          <a:p>
            <a:r>
              <a:rPr lang="en-US" altLang="zh-CN" dirty="0"/>
              <a:t>A process can transfer data to or from one buffer while the operating system empties or fills the other buffer</a:t>
            </a:r>
          </a:p>
          <a:p>
            <a:r>
              <a:rPr lang="en-US" altLang="zh-CN" dirty="0"/>
              <a:t>Also known as </a:t>
            </a:r>
            <a:r>
              <a:rPr lang="en-US" altLang="zh-CN" dirty="0">
                <a:solidFill>
                  <a:srgbClr val="C00000"/>
                </a:solidFill>
              </a:rPr>
              <a:t>buffer swapping </a:t>
            </a:r>
            <a:r>
              <a:rPr lang="zh-CN" altLang="en-US" dirty="0">
                <a:solidFill>
                  <a:srgbClr val="C00000"/>
                </a:solidFill>
              </a:rPr>
              <a:t>（缓冲交换）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8E9390-6DEC-454A-A583-D03D1FCD5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55" y="3071191"/>
            <a:ext cx="9603103" cy="270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4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Circular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Two or more </a:t>
            </a:r>
            <a:r>
              <a:rPr lang="en-US" altLang="zh-CN" dirty="0"/>
              <a:t>buffers are used</a:t>
            </a:r>
          </a:p>
          <a:p>
            <a:r>
              <a:rPr lang="en-US" altLang="zh-CN" dirty="0"/>
              <a:t>Each individual buffer is one unit in a circular buffer.</a:t>
            </a:r>
          </a:p>
          <a:p>
            <a:r>
              <a:rPr lang="en-US" altLang="zh-CN" dirty="0"/>
              <a:t>This is simply the </a:t>
            </a:r>
            <a:r>
              <a:rPr lang="en-US" altLang="zh-CN" dirty="0">
                <a:solidFill>
                  <a:srgbClr val="0070C0"/>
                </a:solidFill>
              </a:rPr>
              <a:t>bounded-buffer producer/consumer model</a:t>
            </a:r>
          </a:p>
          <a:p>
            <a:r>
              <a:rPr lang="en-US" altLang="zh-CN" dirty="0"/>
              <a:t>Used when </a:t>
            </a:r>
            <a:r>
              <a:rPr lang="en-US" altLang="zh-CN" dirty="0">
                <a:solidFill>
                  <a:srgbClr val="C00000"/>
                </a:solidFill>
              </a:rPr>
              <a:t>I/O operation must keep up with process</a:t>
            </a:r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DD54D0-552F-490C-A286-B7259DD3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309" y="3181759"/>
            <a:ext cx="809625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93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11.5. Disk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67811"/>
          </a:xfrm>
        </p:spPr>
        <p:txBody>
          <a:bodyPr/>
          <a:lstStyle/>
          <a:p>
            <a:r>
              <a:rPr lang="en-US" altLang="zh-CN" dirty="0"/>
              <a:t>Physical Structure of HDD (Hard Disk Drive)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B732024-B643-470B-B1C6-46802AA15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502" y="1937385"/>
            <a:ext cx="3467028" cy="346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A134335-300F-4228-9AE9-30D54F9B9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883" y="2003242"/>
            <a:ext cx="3835629" cy="310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375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Disk Performance Parameters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actual details of disk I/O operation depend on the:</a:t>
            </a:r>
          </a:p>
          <a:p>
            <a:pPr lvl="1"/>
            <a:r>
              <a:rPr lang="en-US" altLang="zh-CN" sz="2400" dirty="0"/>
              <a:t>computer system</a:t>
            </a:r>
          </a:p>
          <a:p>
            <a:pPr lvl="1"/>
            <a:r>
              <a:rPr lang="en-US" altLang="zh-CN" sz="2400" dirty="0"/>
              <a:t>operating system</a:t>
            </a:r>
          </a:p>
          <a:p>
            <a:pPr lvl="1"/>
            <a:r>
              <a:rPr lang="en-US" altLang="zh-CN" sz="2400" dirty="0"/>
              <a:t>nature of the I/O channel and disk controller hardware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C099A1-7659-47C7-BDF1-2B8976CED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32" y="2972650"/>
            <a:ext cx="10174270" cy="19869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E68E0B-EADE-49B5-B0CB-D75507A507BB}"/>
              </a:ext>
            </a:extLst>
          </p:cNvPr>
          <p:cNvSpPr txBox="1"/>
          <p:nvPr/>
        </p:nvSpPr>
        <p:spPr>
          <a:xfrm>
            <a:off x="2808421" y="514419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Timing of a Disk I/O Transfer</a:t>
            </a:r>
          </a:p>
        </p:txBody>
      </p:sp>
    </p:spTree>
    <p:extLst>
      <p:ext uri="{BB962C8B-B14F-4D97-AF65-F5344CB8AC3E}">
        <p14:creationId xmlns:p14="http://schemas.microsoft.com/office/powerpoint/2010/main" val="756148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Positioning the Read/Write Heads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4401457"/>
          </a:xfrm>
        </p:spPr>
        <p:txBody>
          <a:bodyPr/>
          <a:lstStyle/>
          <a:p>
            <a:r>
              <a:rPr lang="en-US" altLang="zh-CN" dirty="0"/>
              <a:t> When the disk drive is operating, the disk is </a:t>
            </a:r>
            <a:r>
              <a:rPr lang="en-US" altLang="zh-CN" dirty="0">
                <a:solidFill>
                  <a:srgbClr val="C00000"/>
                </a:solidFill>
              </a:rPr>
              <a:t>rotating at constant speed</a:t>
            </a:r>
          </a:p>
          <a:p>
            <a:r>
              <a:rPr lang="en-US" altLang="zh-CN" dirty="0"/>
              <a:t> To read or write the head must be positioned at the </a:t>
            </a:r>
            <a:r>
              <a:rPr lang="en-US" altLang="zh-CN" dirty="0">
                <a:solidFill>
                  <a:srgbClr val="C00000"/>
                </a:solidFill>
              </a:rPr>
              <a:t>desired track </a:t>
            </a:r>
            <a:r>
              <a:rPr lang="en-US" altLang="zh-CN" dirty="0"/>
              <a:t>and at the beginning of the </a:t>
            </a:r>
            <a:r>
              <a:rPr lang="en-US" altLang="zh-CN" dirty="0">
                <a:solidFill>
                  <a:srgbClr val="C00000"/>
                </a:solidFill>
              </a:rPr>
              <a:t>desired sector </a:t>
            </a:r>
            <a:r>
              <a:rPr lang="en-US" altLang="zh-CN" dirty="0"/>
              <a:t>on that track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Track selection </a:t>
            </a:r>
            <a:r>
              <a:rPr lang="en-US" altLang="zh-CN" dirty="0"/>
              <a:t>involves moving the head in a </a:t>
            </a:r>
            <a:r>
              <a:rPr lang="en-US" altLang="zh-CN" dirty="0">
                <a:solidFill>
                  <a:srgbClr val="C00000"/>
                </a:solidFill>
              </a:rPr>
              <a:t>movable-head system</a:t>
            </a:r>
          </a:p>
          <a:p>
            <a:pPr lvl="1"/>
            <a:r>
              <a:rPr lang="en-US" altLang="zh-CN" dirty="0"/>
              <a:t>The time it takes to position the head at the track is known as </a:t>
            </a:r>
            <a:r>
              <a:rPr lang="en-US" altLang="zh-CN" b="1" dirty="0">
                <a:solidFill>
                  <a:srgbClr val="0070C0"/>
                </a:solidFill>
              </a:rPr>
              <a:t>seek time</a:t>
            </a:r>
          </a:p>
          <a:p>
            <a:pPr lvl="1"/>
            <a:r>
              <a:rPr lang="en-US" altLang="zh-CN" dirty="0"/>
              <a:t>The time it takes for the beginning of the sector to reach the head is known as </a:t>
            </a:r>
            <a:r>
              <a:rPr lang="en-US" altLang="zh-CN" b="1" dirty="0">
                <a:solidFill>
                  <a:srgbClr val="0070C0"/>
                </a:solidFill>
              </a:rPr>
              <a:t>rotational delay</a:t>
            </a:r>
          </a:p>
          <a:p>
            <a:r>
              <a:rPr lang="en-US" altLang="zh-CN" dirty="0"/>
              <a:t> The sum of the seek time and the rotational delay equals the </a:t>
            </a:r>
            <a:r>
              <a:rPr lang="en-US" altLang="zh-CN" dirty="0">
                <a:solidFill>
                  <a:srgbClr val="C00000"/>
                </a:solidFill>
              </a:rPr>
              <a:t>average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access time (</a:t>
            </a:r>
            <a:r>
              <a:rPr lang="zh-CN" altLang="en-US" dirty="0">
                <a:solidFill>
                  <a:srgbClr val="C00000"/>
                </a:solidFill>
              </a:rPr>
              <a:t>存取时间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D1168B-6E90-49A0-9CE2-F03BFE7E5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361914"/>
              </p:ext>
            </p:extLst>
          </p:nvPr>
        </p:nvGraphicFramePr>
        <p:xfrm>
          <a:off x="5254585" y="5247808"/>
          <a:ext cx="2133600" cy="76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0" name="公式" r:id="rId3" imgW="1091880" imgH="393480" progId="Equation.3">
                  <p:embed/>
                </p:oleObj>
              </mc:Choice>
              <mc:Fallback>
                <p:oleObj name="公式" r:id="rId3" imgW="1091880" imgH="39348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585" y="5247808"/>
                        <a:ext cx="2133600" cy="7690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7A56EC66-7298-42D7-B62F-8C5CBB7DC9FB}"/>
              </a:ext>
            </a:extLst>
          </p:cNvPr>
          <p:cNvSpPr/>
          <p:nvPr/>
        </p:nvSpPr>
        <p:spPr>
          <a:xfrm>
            <a:off x="6361611" y="5242560"/>
            <a:ext cx="339635" cy="801189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1A35BB7-7B3E-4509-BC5E-F9155D8483AC}"/>
              </a:ext>
            </a:extLst>
          </p:cNvPr>
          <p:cNvCxnSpPr/>
          <p:nvPr/>
        </p:nvCxnSpPr>
        <p:spPr>
          <a:xfrm flipV="1">
            <a:off x="6527074" y="4079966"/>
            <a:ext cx="0" cy="116259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7D47FD0-6994-4267-8026-DA4F41628A89}"/>
              </a:ext>
            </a:extLst>
          </p:cNvPr>
          <p:cNvSpPr/>
          <p:nvPr/>
        </p:nvSpPr>
        <p:spPr>
          <a:xfrm>
            <a:off x="5830390" y="5408023"/>
            <a:ext cx="265610" cy="535577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759832C-B66B-4DD8-AC8D-D3041D0259ED}"/>
              </a:ext>
            </a:extLst>
          </p:cNvPr>
          <p:cNvCxnSpPr/>
          <p:nvPr/>
        </p:nvCxnSpPr>
        <p:spPr>
          <a:xfrm flipV="1">
            <a:off x="5974080" y="3661954"/>
            <a:ext cx="0" cy="171921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391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09A7E-2EDB-4FF2-BCB3-A213BCC9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Discussion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E9DDE1-0E33-44FB-B08F-1ED6116C0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disk with an advertised </a:t>
            </a:r>
            <a:r>
              <a:rPr lang="en-US" dirty="0">
                <a:solidFill>
                  <a:srgbClr val="0070C0"/>
                </a:solidFill>
              </a:rPr>
              <a:t>average seek time </a:t>
            </a:r>
            <a:r>
              <a:rPr lang="en-US" dirty="0"/>
              <a:t>of 4 </a:t>
            </a:r>
            <a:r>
              <a:rPr lang="en-US" dirty="0" err="1"/>
              <a:t>ms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rotation speed </a:t>
            </a:r>
            <a:r>
              <a:rPr lang="en-US" dirty="0"/>
              <a:t>of 7,500 rpm, and 512-byte </a:t>
            </a:r>
            <a:r>
              <a:rPr lang="en-US" dirty="0">
                <a:solidFill>
                  <a:srgbClr val="0070C0"/>
                </a:solidFill>
              </a:rPr>
              <a:t>sectors</a:t>
            </a:r>
            <a:r>
              <a:rPr lang="en-US" dirty="0"/>
              <a:t> with 500 sectors per track. Suppose we wish to </a:t>
            </a:r>
            <a:r>
              <a:rPr lang="en-US" dirty="0">
                <a:solidFill>
                  <a:srgbClr val="0070C0"/>
                </a:solidFill>
              </a:rPr>
              <a:t>read a file </a:t>
            </a:r>
            <a:r>
              <a:rPr lang="en-US" dirty="0"/>
              <a:t>consisting of 2,500 sectors for a total of 1.28 Mbytes.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would like to estimate the total time for the transfer.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A208F5-4C0E-44E1-8676-EBCCA8A2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24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7F93A9-9B2F-48D6-A19D-46CE9BE7A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4009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8029B-425D-4AC1-930E-F7D84C30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4636588"/>
          </a:xfrm>
        </p:spPr>
        <p:txBody>
          <a:bodyPr/>
          <a:lstStyle/>
          <a:p>
            <a:r>
              <a:rPr lang="en-US" dirty="0"/>
              <a:t> the file is stored as compactly as possible on the disk</a:t>
            </a:r>
            <a:r>
              <a:rPr lang="zh-CN" altLang="en-US" dirty="0"/>
              <a:t>， </a:t>
            </a:r>
            <a:r>
              <a:rPr lang="en-US" altLang="zh-CN" dirty="0">
                <a:solidFill>
                  <a:srgbClr val="C00000"/>
                </a:solidFill>
              </a:rPr>
              <a:t>sequential organization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read the same data using </a:t>
            </a:r>
            <a:r>
              <a:rPr lang="en-US" dirty="0">
                <a:solidFill>
                  <a:srgbClr val="C00000"/>
                </a:solidFill>
              </a:rPr>
              <a:t>random access </a:t>
            </a:r>
            <a:r>
              <a:rPr lang="en-US" dirty="0"/>
              <a:t>rather than sequential access</a:t>
            </a:r>
          </a:p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1B9CA5-2A70-4B5A-8B25-1DF5EC5D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time for the transfer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BBB2D-321E-4CB5-A7C0-5B50D5C8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44B1D8-A467-49BB-90E9-C70DA2EE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852738-C0E0-4A1A-BAB8-843161E6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1" y="1764893"/>
            <a:ext cx="2976154" cy="12975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51DEFE-79E8-4219-B3E7-8CFB46CC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23" y="2231287"/>
            <a:ext cx="5761947" cy="3270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91529B-CB9A-4E63-8724-D7044B5F7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1" y="4054207"/>
            <a:ext cx="3268436" cy="13315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3BF5C95-ADAD-45F7-9878-48EC81747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444" y="4469807"/>
            <a:ext cx="5465309" cy="2501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DFF2777-C0BB-43E7-BC97-F9DB6C028770}"/>
              </a:ext>
            </a:extLst>
          </p:cNvPr>
          <p:cNvSpPr txBox="1"/>
          <p:nvPr/>
        </p:nvSpPr>
        <p:spPr>
          <a:xfrm>
            <a:off x="2686595" y="5385792"/>
            <a:ext cx="6605451" cy="830997"/>
          </a:xfrm>
          <a:prstGeom prst="rect">
            <a:avLst/>
          </a:prstGeom>
          <a:noFill/>
          <a:ln w="19050">
            <a:solidFill>
              <a:srgbClr val="FFC000"/>
            </a:solidFill>
            <a:prstDash val="lg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effectLst/>
                <a:highlight>
                  <a:srgbClr val="FFFF00"/>
                </a:highlight>
              </a:rPr>
              <a:t>The  order in which sectors are read from the disk has a tremendous effect on I/O performance</a:t>
            </a:r>
            <a:r>
              <a:rPr lang="zh-CN" altLang="en-US" sz="2400" b="1" dirty="0">
                <a:solidFill>
                  <a:srgbClr val="0070C0"/>
                </a:solidFill>
                <a:effectLst/>
                <a:highlight>
                  <a:srgbClr val="FFFF00"/>
                </a:highlight>
              </a:rPr>
              <a:t>！</a:t>
            </a:r>
            <a:endParaRPr lang="en-US" sz="2400" b="1" dirty="0">
              <a:solidFill>
                <a:srgbClr val="0070C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7573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25D8B-FC1F-463E-92C7-07B0313F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 Policies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005F2-197A-4094-8D1C-705E3BF71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To improve matters, we need to </a:t>
            </a:r>
            <a:r>
              <a:rPr lang="en-US" dirty="0">
                <a:solidFill>
                  <a:srgbClr val="C00000"/>
                </a:solidFill>
              </a:rPr>
              <a:t>reduce the average time spent on seeks </a:t>
            </a:r>
            <a:r>
              <a:rPr lang="en-US" dirty="0"/>
              <a:t>via disk scheduling policies.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980435-2D6D-4E61-A7BC-D0E0F6AE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26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F4E3C8-BB1B-414D-AB55-A5D84FD0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85CF3-6A43-4D54-B51E-864BDE79C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671" y="2296939"/>
            <a:ext cx="5774687" cy="38090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6451E53-1C30-47EE-A016-77E9D9082C9E}"/>
              </a:ext>
            </a:extLst>
          </p:cNvPr>
          <p:cNvSpPr txBox="1"/>
          <p:nvPr/>
        </p:nvSpPr>
        <p:spPr>
          <a:xfrm>
            <a:off x="955768" y="2296939"/>
            <a:ext cx="40625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  <a:effectLst/>
              </a:rPr>
              <a:t>First-In-First-Out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effectLst/>
              </a:rPr>
              <a:t>Priority</a:t>
            </a:r>
            <a:endParaRPr lang="en-US" sz="2400" b="1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effectLst/>
              </a:rPr>
              <a:t>Last-In-First-Out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  <a:effectLst/>
              </a:rPr>
              <a:t>Shortest-Service-Time-First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</a:rPr>
              <a:t>SCAN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007E7A"/>
                </a:solidFill>
                <a:effectLst/>
              </a:rPr>
              <a:t>C-SCAN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/>
              <a:t>N-STEP-SCAN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i="1" dirty="0"/>
              <a:t>FSCAN</a:t>
            </a:r>
            <a:endParaRPr 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5D18F5-6C34-4E29-B6AF-9EC03E8FE730}"/>
              </a:ext>
            </a:extLst>
          </p:cNvPr>
          <p:cNvSpPr/>
          <p:nvPr/>
        </p:nvSpPr>
        <p:spPr>
          <a:xfrm>
            <a:off x="6723711" y="5503817"/>
            <a:ext cx="3104606" cy="6008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5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First-In, First-Out (FIFO)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Processes in </a:t>
            </a:r>
            <a:r>
              <a:rPr lang="en-US" altLang="zh-CN" dirty="0">
                <a:solidFill>
                  <a:srgbClr val="0070C0"/>
                </a:solidFill>
              </a:rPr>
              <a:t>sequential</a:t>
            </a:r>
            <a:r>
              <a:rPr lang="en-US" altLang="zh-CN" dirty="0"/>
              <a:t> order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Fair</a:t>
            </a:r>
            <a:r>
              <a:rPr lang="en-US" altLang="zh-CN" dirty="0"/>
              <a:t> to all processes</a:t>
            </a:r>
          </a:p>
          <a:p>
            <a:r>
              <a:rPr lang="en-US" altLang="zh-CN" dirty="0"/>
              <a:t>Approximates random scheduling in performance if there are many processes competing for the disk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a.gif">
            <a:extLst>
              <a:ext uri="{FF2B5EF4-FFF2-40B4-BE49-F238E27FC236}">
                <a16:creationId xmlns:a16="http://schemas.microsoft.com/office/drawing/2014/main" id="{03CBACDD-4EC8-4573-BE61-4D80121A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91" y="3315237"/>
            <a:ext cx="8229600" cy="265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Priority (PRI)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Control of the scheduling is outside the control of disk management software</a:t>
            </a:r>
          </a:p>
          <a:p>
            <a:r>
              <a:rPr lang="en-US" altLang="zh-CN" dirty="0"/>
              <a:t>Goal is not to optimize disk utilization but to </a:t>
            </a:r>
            <a:r>
              <a:rPr lang="en-US" altLang="zh-CN" dirty="0">
                <a:solidFill>
                  <a:srgbClr val="C00000"/>
                </a:solidFill>
              </a:rPr>
              <a:t>meet other objectives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Short batch jobs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0070C0"/>
                </a:solidFill>
              </a:rPr>
              <a:t>interactive jobs </a:t>
            </a:r>
            <a:r>
              <a:rPr lang="en-US" altLang="zh-CN" dirty="0"/>
              <a:t>are given higher priority</a:t>
            </a:r>
          </a:p>
          <a:p>
            <a:r>
              <a:rPr lang="en-US" altLang="zh-CN" dirty="0"/>
              <a:t>Provides good interactive response time</a:t>
            </a:r>
          </a:p>
          <a:p>
            <a:r>
              <a:rPr lang="en-US" altLang="zh-CN" dirty="0"/>
              <a:t>Longer jobs may have to wait an excessively long time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9838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Shortest Service Time First (SSTF)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Select the disk I/O request that requires the </a:t>
            </a:r>
            <a:r>
              <a:rPr lang="en-US" altLang="zh-CN" dirty="0">
                <a:solidFill>
                  <a:srgbClr val="C00000"/>
                </a:solidFill>
              </a:rPr>
              <a:t>least movement </a:t>
            </a:r>
            <a:r>
              <a:rPr lang="en-US" altLang="zh-CN" dirty="0"/>
              <a:t>of the disk arm from its current position</a:t>
            </a:r>
          </a:p>
          <a:p>
            <a:r>
              <a:rPr lang="en-US" altLang="zh-CN" dirty="0"/>
              <a:t>Always choose the </a:t>
            </a:r>
            <a:r>
              <a:rPr lang="en-US" altLang="zh-CN" dirty="0">
                <a:solidFill>
                  <a:srgbClr val="C00000"/>
                </a:solidFill>
              </a:rPr>
              <a:t>minimum seek time</a:t>
            </a:r>
          </a:p>
          <a:p>
            <a:r>
              <a:rPr lang="en-US" altLang="zh-CN" dirty="0"/>
              <a:t>starvation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b.gif">
            <a:extLst>
              <a:ext uri="{FF2B5EF4-FFF2-40B4-BE49-F238E27FC236}">
                <a16:creationId xmlns:a16="http://schemas.microsoft.com/office/drawing/2014/main" id="{5CD11C95-54CB-447B-8ECF-3A0917BAA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961954"/>
            <a:ext cx="8229600" cy="274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9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Also known as the </a:t>
            </a:r>
            <a:r>
              <a:rPr lang="en-US" altLang="zh-CN" dirty="0">
                <a:solidFill>
                  <a:srgbClr val="C00000"/>
                </a:solidFill>
              </a:rPr>
              <a:t>elevator algorithm</a:t>
            </a:r>
          </a:p>
          <a:p>
            <a:r>
              <a:rPr lang="en-US" altLang="zh-CN" dirty="0"/>
              <a:t>Arm moves in </a:t>
            </a:r>
            <a:r>
              <a:rPr lang="en-US" altLang="zh-CN" dirty="0">
                <a:solidFill>
                  <a:srgbClr val="C00000"/>
                </a:solidFill>
              </a:rPr>
              <a:t>one direction only</a:t>
            </a:r>
          </a:p>
          <a:p>
            <a:pPr lvl="1"/>
            <a:r>
              <a:rPr lang="en-US" altLang="zh-CN" sz="2400" dirty="0"/>
              <a:t>satisfies all requests until it reaches the </a:t>
            </a:r>
            <a:r>
              <a:rPr lang="en-US" altLang="zh-CN" sz="2400" dirty="0">
                <a:solidFill>
                  <a:srgbClr val="0070C0"/>
                </a:solidFill>
              </a:rPr>
              <a:t>last track </a:t>
            </a:r>
            <a:r>
              <a:rPr lang="en-US" altLang="zh-CN" sz="2400" dirty="0"/>
              <a:t>in that direction then the direction is </a:t>
            </a:r>
            <a:r>
              <a:rPr lang="en-US" altLang="zh-CN" sz="2400" dirty="0">
                <a:solidFill>
                  <a:srgbClr val="0070C0"/>
                </a:solidFill>
              </a:rPr>
              <a:t>reversed</a:t>
            </a:r>
          </a:p>
          <a:p>
            <a:r>
              <a:rPr lang="en-US" altLang="zh-CN" dirty="0"/>
              <a:t>Favors jobs whose requests are for tracks nearest to both </a:t>
            </a:r>
            <a:r>
              <a:rPr lang="en-US" altLang="zh-CN" dirty="0">
                <a:solidFill>
                  <a:srgbClr val="C00000"/>
                </a:solidFill>
              </a:rPr>
              <a:t>innermost and outermost </a:t>
            </a:r>
            <a:r>
              <a:rPr lang="en-US" altLang="zh-CN" dirty="0"/>
              <a:t>tracks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c.gif">
            <a:extLst>
              <a:ext uri="{FF2B5EF4-FFF2-40B4-BE49-F238E27FC236}">
                <a16:creationId xmlns:a16="http://schemas.microsoft.com/office/drawing/2014/main" id="{96585762-9D00-4329-8226-8D266740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71" y="3932705"/>
            <a:ext cx="6339904" cy="217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10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C-SCAN (Circular SCAN)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Restricts scanning to </a:t>
            </a:r>
            <a:r>
              <a:rPr lang="en-US" altLang="zh-CN" dirty="0">
                <a:solidFill>
                  <a:srgbClr val="C00000"/>
                </a:solidFill>
              </a:rPr>
              <a:t>one direction only</a:t>
            </a:r>
          </a:p>
          <a:p>
            <a:r>
              <a:rPr lang="en-US" altLang="zh-CN" dirty="0"/>
              <a:t>When the last track has been visited in one direction, </a:t>
            </a:r>
            <a:r>
              <a:rPr lang="en-US" altLang="zh-CN" dirty="0">
                <a:solidFill>
                  <a:srgbClr val="C00000"/>
                </a:solidFill>
              </a:rPr>
              <a:t>the arm is returned to the opposite end of the disk </a:t>
            </a:r>
            <a:r>
              <a:rPr lang="en-US" altLang="zh-CN" dirty="0"/>
              <a:t>and the scan begins again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d.gif">
            <a:extLst>
              <a:ext uri="{FF2B5EF4-FFF2-40B4-BE49-F238E27FC236}">
                <a16:creationId xmlns:a16="http://schemas.microsoft.com/office/drawing/2014/main" id="{C2F535B4-AE69-42A5-B06F-A2CD6BF5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272" y="3069609"/>
            <a:ext cx="82360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8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N-Step-SCAN &amp; </a:t>
            </a:r>
            <a:r>
              <a:rPr lang="en-US" dirty="0"/>
              <a:t>FSCAN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35940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Issues</a:t>
            </a:r>
            <a:r>
              <a:rPr lang="en-US" altLang="zh-CN" dirty="0"/>
              <a:t>: </a:t>
            </a:r>
            <a:r>
              <a:rPr lang="en-US" dirty="0"/>
              <a:t>With SSTF, SCAN, and C-SCAN, it is possible the arm may not move for a considerable period of time</a:t>
            </a:r>
            <a:r>
              <a:rPr lang="en-US" altLang="zh-CN" dirty="0"/>
              <a:t>——</a:t>
            </a:r>
            <a:r>
              <a:rPr lang="en-US" dirty="0">
                <a:solidFill>
                  <a:srgbClr val="0070C0"/>
                </a:solidFill>
              </a:rPr>
              <a:t>N-step-SCAN and FSCAN</a:t>
            </a:r>
            <a:endParaRPr lang="en-US" altLang="zh-CN" dirty="0"/>
          </a:p>
          <a:p>
            <a:r>
              <a:rPr lang="en-US" dirty="0">
                <a:solidFill>
                  <a:srgbClr val="C00000"/>
                </a:solidFill>
              </a:rPr>
              <a:t>N-step-SCAN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sz="2400" dirty="0"/>
              <a:t>Segments the disk request queue </a:t>
            </a:r>
            <a:r>
              <a:rPr lang="en-US" altLang="zh-CN" sz="2400" dirty="0">
                <a:solidFill>
                  <a:srgbClr val="0070C0"/>
                </a:solidFill>
              </a:rPr>
              <a:t>into </a:t>
            </a:r>
            <a:r>
              <a:rPr lang="en-US" altLang="zh-CN" sz="2400" dirty="0" err="1">
                <a:solidFill>
                  <a:srgbClr val="0070C0"/>
                </a:solidFill>
              </a:rPr>
              <a:t>subqueues</a:t>
            </a:r>
            <a:r>
              <a:rPr lang="en-US" altLang="zh-CN" sz="2400" dirty="0">
                <a:solidFill>
                  <a:srgbClr val="0070C0"/>
                </a:solidFill>
              </a:rPr>
              <a:t> of length N</a:t>
            </a:r>
          </a:p>
          <a:p>
            <a:pPr lvl="1"/>
            <a:r>
              <a:rPr lang="en-US" altLang="zh-CN" sz="2400" dirty="0"/>
              <a:t>While a queue is being processed </a:t>
            </a:r>
            <a:r>
              <a:rPr lang="en-US" altLang="zh-CN" sz="2400" dirty="0">
                <a:solidFill>
                  <a:srgbClr val="0070C0"/>
                </a:solidFill>
              </a:rPr>
              <a:t>new requests must be added to some other queue</a:t>
            </a:r>
          </a:p>
          <a:p>
            <a:pPr lvl="1"/>
            <a:endParaRPr lang="en-US" altLang="zh-CN" sz="2400" dirty="0">
              <a:solidFill>
                <a:srgbClr val="0070C0"/>
              </a:solidFill>
            </a:endParaRPr>
          </a:p>
          <a:p>
            <a:r>
              <a:rPr lang="en-US" altLang="zh-CN" dirty="0"/>
              <a:t>FSCAN: </a:t>
            </a:r>
          </a:p>
          <a:p>
            <a:pPr lvl="1"/>
            <a:r>
              <a:rPr lang="en-US" altLang="zh-CN" sz="2400" dirty="0"/>
              <a:t>Uses </a:t>
            </a:r>
            <a:r>
              <a:rPr lang="en-US" altLang="zh-CN" sz="2400" dirty="0">
                <a:solidFill>
                  <a:srgbClr val="0070C0"/>
                </a:solidFill>
              </a:rPr>
              <a:t>two </a:t>
            </a:r>
            <a:r>
              <a:rPr lang="en-US" altLang="zh-CN" sz="2400" dirty="0" err="1">
                <a:solidFill>
                  <a:srgbClr val="0070C0"/>
                </a:solidFill>
              </a:rPr>
              <a:t>subqueues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lvl="1"/>
            <a:r>
              <a:rPr lang="en-US" altLang="zh-CN" sz="2400" dirty="0"/>
              <a:t>When a scan begins, </a:t>
            </a:r>
            <a:r>
              <a:rPr lang="en-US" altLang="zh-CN" sz="2400" dirty="0">
                <a:solidFill>
                  <a:srgbClr val="0070C0"/>
                </a:solidFill>
              </a:rPr>
              <a:t>all</a:t>
            </a:r>
            <a:r>
              <a:rPr lang="en-US" altLang="zh-CN" sz="2400" dirty="0"/>
              <a:t> of the requests are in one of the queues</a:t>
            </a:r>
          </a:p>
          <a:p>
            <a:pPr lvl="1"/>
            <a:r>
              <a:rPr lang="en-US" altLang="zh-CN" sz="2400" dirty="0"/>
              <a:t>During scan, all </a:t>
            </a:r>
            <a:r>
              <a:rPr lang="en-US" altLang="zh-CN" sz="2400" dirty="0">
                <a:solidFill>
                  <a:srgbClr val="0070C0"/>
                </a:solidFill>
              </a:rPr>
              <a:t>new requests</a:t>
            </a:r>
            <a:r>
              <a:rPr lang="en-US" altLang="zh-CN" sz="2400" dirty="0"/>
              <a:t> are put into the other queue</a:t>
            </a:r>
          </a:p>
        </p:txBody>
      </p:sp>
    </p:spTree>
    <p:extLst>
      <p:ext uri="{BB962C8B-B14F-4D97-AF65-F5344CB8AC3E}">
        <p14:creationId xmlns:p14="http://schemas.microsoft.com/office/powerpoint/2010/main" val="3973192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0F45D-53C1-AB46-B013-2A6D8E16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Disk Scheduling Algorithms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412FF4-191D-47E0-AC62-57764AEF196A}"/>
              </a:ext>
            </a:extLst>
          </p:cNvPr>
          <p:cNvSpPr txBox="1"/>
          <p:nvPr/>
        </p:nvSpPr>
        <p:spPr>
          <a:xfrm>
            <a:off x="4435523" y="5950002"/>
            <a:ext cx="555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Table 11.3   Disk Scheduling Algorithms 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FC9E9F-AB1D-41F2-B973-0FDEFF905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09F84C3-A0BA-4345-9BBA-0E2264DC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02" y="863799"/>
            <a:ext cx="10356080" cy="523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58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11.6. Disk Cache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Reduces average memory access time</a:t>
            </a:r>
            <a:r>
              <a:rPr lang="en-US" altLang="zh-CN" dirty="0"/>
              <a:t> by exploiting the </a:t>
            </a:r>
            <a:r>
              <a:rPr lang="en-US" altLang="zh-CN" dirty="0">
                <a:solidFill>
                  <a:srgbClr val="0070C0"/>
                </a:solidFill>
              </a:rPr>
              <a:t>principle of locality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Disk cache </a:t>
            </a:r>
            <a:r>
              <a:rPr lang="en-US" altLang="zh-CN" dirty="0"/>
              <a:t>is a </a:t>
            </a:r>
            <a:r>
              <a:rPr lang="en-US" altLang="zh-CN" dirty="0">
                <a:solidFill>
                  <a:srgbClr val="0070C0"/>
                </a:solidFill>
              </a:rPr>
              <a:t>buffer</a:t>
            </a:r>
            <a:r>
              <a:rPr lang="en-US" altLang="zh-CN" dirty="0"/>
              <a:t> in main memory for disk sectors</a:t>
            </a:r>
          </a:p>
          <a:p>
            <a:pPr lvl="1"/>
            <a:r>
              <a:rPr lang="en-US" altLang="zh-CN" sz="2400" dirty="0"/>
              <a:t>Contains a </a:t>
            </a:r>
            <a:r>
              <a:rPr lang="en-US" altLang="zh-CN" sz="2400" dirty="0">
                <a:solidFill>
                  <a:srgbClr val="0070C0"/>
                </a:solidFill>
              </a:rPr>
              <a:t>copy of some of the sectors </a:t>
            </a:r>
            <a:r>
              <a:rPr lang="en-US" altLang="zh-CN" sz="2400" dirty="0"/>
              <a:t>on the disk</a:t>
            </a:r>
          </a:p>
          <a:p>
            <a:r>
              <a:rPr lang="en-US" altLang="zh-CN" dirty="0"/>
              <a:t> when an I/O request is made for a particular sector, a </a:t>
            </a:r>
            <a:r>
              <a:rPr lang="en-US" altLang="zh-CN" dirty="0">
                <a:solidFill>
                  <a:srgbClr val="0070C0"/>
                </a:solidFill>
              </a:rPr>
              <a:t>check</a:t>
            </a:r>
            <a:r>
              <a:rPr lang="en-US" altLang="zh-CN" dirty="0"/>
              <a:t> is made to determine if the sector is in the disk cache</a:t>
            </a:r>
          </a:p>
          <a:p>
            <a:pPr lvl="1"/>
            <a:r>
              <a:rPr lang="en-US" altLang="zh-CN" sz="2400" dirty="0"/>
              <a:t>if YES</a:t>
            </a:r>
          </a:p>
          <a:p>
            <a:pPr lvl="2"/>
            <a:r>
              <a:rPr lang="en-US" altLang="zh-CN" sz="2400" dirty="0"/>
              <a:t>the request is satisfied via the cache</a:t>
            </a:r>
          </a:p>
          <a:p>
            <a:pPr lvl="1"/>
            <a:r>
              <a:rPr lang="en-US" altLang="zh-CN" sz="2400" dirty="0"/>
              <a:t>if NO</a:t>
            </a:r>
          </a:p>
          <a:p>
            <a:pPr lvl="2"/>
            <a:r>
              <a:rPr lang="en-US" altLang="zh-CN" sz="2400" dirty="0"/>
              <a:t>the requested sector is read into the disk </a:t>
            </a:r>
            <a:r>
              <a:rPr lang="en-US" altLang="zh-CN" sz="2400" dirty="0">
                <a:solidFill>
                  <a:srgbClr val="C00000"/>
                </a:solidFill>
              </a:rPr>
              <a:t>cache</a:t>
            </a:r>
            <a:r>
              <a:rPr lang="en-US" altLang="zh-CN" sz="2400" dirty="0"/>
              <a:t> from the disk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2468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6246E-E633-4CEC-BD39-B6E55552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Considerations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8A9F3-47F2-4AF1-8A07-28C5F744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When an I/O request is </a:t>
            </a:r>
            <a:r>
              <a:rPr lang="en-US" dirty="0">
                <a:solidFill>
                  <a:srgbClr val="C00000"/>
                </a:solidFill>
              </a:rPr>
              <a:t>satisfied from the disk cache</a:t>
            </a:r>
            <a:r>
              <a:rPr lang="en-US" dirty="0"/>
              <a:t>, the data in the disk cache must be delivered to the requesting process. </a:t>
            </a:r>
          </a:p>
          <a:p>
            <a:pPr lvl="1"/>
            <a:r>
              <a:rPr lang="en-US" sz="2400" dirty="0"/>
              <a:t>transferring the block of data within main memory </a:t>
            </a:r>
            <a:r>
              <a:rPr lang="en-US" sz="2400" b="1" dirty="0">
                <a:solidFill>
                  <a:srgbClr val="FF0000"/>
                </a:solidFill>
              </a:rPr>
              <a:t>from the disk cache to memory</a:t>
            </a:r>
            <a:r>
              <a:rPr lang="en-US" sz="2400" dirty="0"/>
              <a:t> assigned to the user process</a:t>
            </a:r>
          </a:p>
          <a:p>
            <a:pPr lvl="1"/>
            <a:r>
              <a:rPr lang="en-US" sz="2400" dirty="0"/>
              <a:t>simply by using a shared memory capability and </a:t>
            </a:r>
            <a:r>
              <a:rPr lang="en-US" sz="2400" b="1" dirty="0">
                <a:solidFill>
                  <a:srgbClr val="FF0000"/>
                </a:solidFill>
              </a:rPr>
              <a:t>passing a pointer </a:t>
            </a:r>
            <a:r>
              <a:rPr lang="en-US" sz="2400" dirty="0"/>
              <a:t>to the appropriate slot in the disk cache. </a:t>
            </a:r>
          </a:p>
          <a:p>
            <a:pPr lvl="2"/>
            <a:r>
              <a:rPr lang="en-US" sz="2400" dirty="0">
                <a:solidFill>
                  <a:srgbClr val="0070C0"/>
                </a:solidFill>
              </a:rPr>
              <a:t>saves the time </a:t>
            </a:r>
            <a:r>
              <a:rPr lang="en-US" sz="2400" dirty="0"/>
              <a:t>of a memory-to-memory transfer and also allows </a:t>
            </a:r>
            <a:r>
              <a:rPr lang="en-US" sz="2400" dirty="0">
                <a:solidFill>
                  <a:srgbClr val="0070C0"/>
                </a:solidFill>
              </a:rPr>
              <a:t>shared access by other processes</a:t>
            </a:r>
            <a:r>
              <a:rPr lang="en-US" sz="2400" dirty="0"/>
              <a:t> using the readers/writers model.</a:t>
            </a:r>
          </a:p>
          <a:p>
            <a:pPr marL="171450" lvl="2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sz="2400" b="1" dirty="0"/>
              <a:t>A second design issue has to do with the </a:t>
            </a:r>
            <a:r>
              <a:rPr lang="en-US" sz="2400" b="1" dirty="0">
                <a:solidFill>
                  <a:srgbClr val="C00000"/>
                </a:solidFill>
              </a:rPr>
              <a:t>replacement strategy</a:t>
            </a:r>
          </a:p>
          <a:p>
            <a:pPr lvl="1"/>
            <a:r>
              <a:rPr lang="en-US" sz="2400" dirty="0"/>
              <a:t>least </a:t>
            </a:r>
            <a:r>
              <a:rPr lang="en-US" sz="2400" dirty="0">
                <a:solidFill>
                  <a:srgbClr val="0070C0"/>
                </a:solidFill>
              </a:rPr>
              <a:t>recently</a:t>
            </a:r>
            <a:r>
              <a:rPr lang="en-US" sz="2400" dirty="0"/>
              <a:t> used (LRU)</a:t>
            </a:r>
            <a:r>
              <a:rPr lang="zh-CN" altLang="en-US" sz="2400" dirty="0"/>
              <a:t>（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most commonly used </a:t>
            </a:r>
            <a:r>
              <a:rPr lang="zh-CN" altLang="en-US" sz="2400" dirty="0"/>
              <a:t>）</a:t>
            </a:r>
            <a:endParaRPr lang="en-US" sz="2400" dirty="0"/>
          </a:p>
          <a:p>
            <a:pPr lvl="1"/>
            <a:r>
              <a:rPr lang="en-US" sz="2400" dirty="0"/>
              <a:t>least </a:t>
            </a:r>
            <a:r>
              <a:rPr lang="en-US" sz="2400" dirty="0">
                <a:solidFill>
                  <a:srgbClr val="0070C0"/>
                </a:solidFill>
              </a:rPr>
              <a:t>frequently</a:t>
            </a:r>
            <a:r>
              <a:rPr lang="en-US" sz="2400" dirty="0"/>
              <a:t> used (LFU)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1CFDF-547C-4090-91E4-0244A11E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35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D416E8-A094-4020-A5C8-1A805D7A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2026/6/2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200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Least Frequently Used (LFU)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The block that has experienced the </a:t>
            </a:r>
            <a:r>
              <a:rPr lang="en-US" altLang="zh-CN" dirty="0">
                <a:solidFill>
                  <a:srgbClr val="0070C0"/>
                </a:solidFill>
              </a:rPr>
              <a:t>fewest references (</a:t>
            </a:r>
            <a:r>
              <a:rPr lang="zh-CN" altLang="en-US" dirty="0">
                <a:solidFill>
                  <a:srgbClr val="0070C0"/>
                </a:solidFill>
              </a:rPr>
              <a:t>使用次数最少</a:t>
            </a:r>
            <a:r>
              <a:rPr lang="en-US" altLang="zh-CN" dirty="0">
                <a:solidFill>
                  <a:srgbClr val="0070C0"/>
                </a:solidFill>
              </a:rPr>
              <a:t>) </a:t>
            </a:r>
            <a:r>
              <a:rPr lang="en-US" altLang="zh-CN" dirty="0"/>
              <a:t>is replaced</a:t>
            </a:r>
          </a:p>
          <a:p>
            <a:r>
              <a:rPr lang="en-US" altLang="zh-CN" dirty="0"/>
              <a:t>A </a:t>
            </a:r>
            <a:r>
              <a:rPr lang="en-US" altLang="zh-CN" dirty="0">
                <a:solidFill>
                  <a:srgbClr val="0070C0"/>
                </a:solidFill>
              </a:rPr>
              <a:t>counter</a:t>
            </a:r>
            <a:r>
              <a:rPr lang="en-US" altLang="zh-CN" dirty="0"/>
              <a:t> is associated with each block</a:t>
            </a:r>
          </a:p>
          <a:p>
            <a:r>
              <a:rPr lang="en-US" altLang="zh-CN" dirty="0"/>
              <a:t>Counter is </a:t>
            </a:r>
            <a:r>
              <a:rPr lang="en-US" altLang="zh-CN" dirty="0">
                <a:solidFill>
                  <a:srgbClr val="0070C0"/>
                </a:solidFill>
              </a:rPr>
              <a:t>incremented</a:t>
            </a:r>
            <a:r>
              <a:rPr lang="en-US" altLang="zh-CN" dirty="0"/>
              <a:t> each time block is accessed</a:t>
            </a:r>
          </a:p>
          <a:p>
            <a:r>
              <a:rPr lang="en-US" altLang="zh-CN" dirty="0"/>
              <a:t>When replacement is required, the block with the </a:t>
            </a:r>
            <a:r>
              <a:rPr lang="en-US" altLang="zh-CN" dirty="0">
                <a:solidFill>
                  <a:srgbClr val="0070C0"/>
                </a:solidFill>
              </a:rPr>
              <a:t>smallest count </a:t>
            </a:r>
            <a:r>
              <a:rPr lang="en-US" altLang="zh-CN" dirty="0"/>
              <a:t>is selected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Issues</a:t>
            </a:r>
          </a:p>
          <a:p>
            <a:pPr lvl="1"/>
            <a:r>
              <a:rPr lang="en-US" sz="2400" dirty="0"/>
              <a:t>certain blocks are referenced </a:t>
            </a:r>
            <a:r>
              <a:rPr lang="en-US" sz="2400" dirty="0">
                <a:solidFill>
                  <a:srgbClr val="0070C0"/>
                </a:solidFill>
              </a:rPr>
              <a:t>relatively infrequently overall</a:t>
            </a:r>
          </a:p>
          <a:p>
            <a:pPr lvl="1"/>
            <a:r>
              <a:rPr lang="en-US" sz="2400" dirty="0"/>
              <a:t>when they are referenced, there are </a:t>
            </a:r>
            <a:r>
              <a:rPr lang="en-US" sz="2400" dirty="0">
                <a:solidFill>
                  <a:srgbClr val="0070C0"/>
                </a:solidFill>
              </a:rPr>
              <a:t>short intervals of repeated references </a:t>
            </a:r>
            <a:r>
              <a:rPr lang="en-US" sz="2400" dirty="0"/>
              <a:t>due to locality, thus building up high reference counts. </a:t>
            </a:r>
          </a:p>
          <a:p>
            <a:pPr lvl="1"/>
            <a:r>
              <a:rPr lang="en-US" sz="2400" dirty="0"/>
              <a:t>After such an interval is over, the reference count may be misleading and </a:t>
            </a:r>
            <a:r>
              <a:rPr lang="en-US" sz="2400" dirty="0">
                <a:solidFill>
                  <a:srgbClr val="0070C0"/>
                </a:solidFill>
              </a:rPr>
              <a:t>not reflect the probability that the block will soon be referenced again</a:t>
            </a:r>
            <a:r>
              <a:rPr lang="en-US" sz="2400" dirty="0"/>
              <a:t>.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83164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Frequency-Based Replacement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4BCA4A-AA09-4BA7-86D1-1097C586C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198" y="1481072"/>
            <a:ext cx="5528111" cy="36785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66E03FA-95F4-4DDF-8284-A3C934C9874F}"/>
              </a:ext>
            </a:extLst>
          </p:cNvPr>
          <p:cNvSpPr txBox="1"/>
          <p:nvPr/>
        </p:nvSpPr>
        <p:spPr>
          <a:xfrm>
            <a:off x="2834640" y="58873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</a:rPr>
              <a:t>Frequency-Based Replacement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0BB43-4C64-1043-BA81-9A13529EF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140" y="898015"/>
            <a:ext cx="5546444" cy="5175794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Idea</a:t>
            </a:r>
            <a:r>
              <a:rPr lang="en-US" altLang="zh-CN" dirty="0"/>
              <a:t> : </a:t>
            </a:r>
          </a:p>
          <a:p>
            <a:pPr lvl="1"/>
            <a:r>
              <a:rPr lang="en-US" dirty="0"/>
              <a:t>The referenced block is moved to the </a:t>
            </a:r>
            <a:r>
              <a:rPr lang="en-US" dirty="0">
                <a:solidFill>
                  <a:srgbClr val="0070C0"/>
                </a:solidFill>
              </a:rPr>
              <a:t>top of the stack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the block was already in the </a:t>
            </a:r>
            <a:r>
              <a:rPr lang="en-US" dirty="0">
                <a:solidFill>
                  <a:srgbClr val="0070C0"/>
                </a:solidFill>
              </a:rPr>
              <a:t>new section</a:t>
            </a:r>
            <a:r>
              <a:rPr lang="en-US" dirty="0"/>
              <a:t>, its reference count is not incremented; otherwise, it is incremented by 1. </a:t>
            </a:r>
          </a:p>
          <a:p>
            <a:pPr lvl="1"/>
            <a:r>
              <a:rPr lang="en-US" dirty="0"/>
              <a:t>Given a sufficiently large new section, the reference are repeatedly re-referenced within a short interval </a:t>
            </a:r>
            <a:r>
              <a:rPr lang="en-US" dirty="0">
                <a:solidFill>
                  <a:srgbClr val="0070C0"/>
                </a:solidFill>
              </a:rPr>
              <a:t>remaining unchanged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On a miss, the block with the </a:t>
            </a:r>
            <a:r>
              <a:rPr lang="en-US" dirty="0">
                <a:solidFill>
                  <a:srgbClr val="0070C0"/>
                </a:solidFill>
              </a:rPr>
              <a:t>smallest reference</a:t>
            </a:r>
            <a:r>
              <a:rPr lang="en-US" dirty="0"/>
              <a:t> will be replaced.</a:t>
            </a:r>
          </a:p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</a:rPr>
              <a:t>Issue</a:t>
            </a:r>
            <a:r>
              <a:rPr lang="en-US" altLang="zh-CN" sz="2400" b="1" dirty="0"/>
              <a:t>: </a:t>
            </a:r>
          </a:p>
          <a:p>
            <a:pPr marL="514350" lvl="2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US" dirty="0"/>
              <a:t>relatively frequently referenced blocks are replaced.</a:t>
            </a:r>
          </a:p>
          <a:p>
            <a:pPr marL="514350" lvl="2">
              <a:spcBef>
                <a:spcPts val="750"/>
              </a:spcBef>
              <a:buFont typeface="Wingdings" panose="05000000000000000000" pitchFamily="2" charset="2"/>
              <a:buChar char="§"/>
            </a:pP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FF1AF2-4BFA-4F1D-8AD5-E305DE2003C6}"/>
              </a:ext>
            </a:extLst>
          </p:cNvPr>
          <p:cNvSpPr txBox="1"/>
          <p:nvPr/>
        </p:nvSpPr>
        <p:spPr>
          <a:xfrm>
            <a:off x="6935651" y="5107968"/>
            <a:ext cx="4093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Frequency-Based Replacement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20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RAID(</a:t>
            </a:r>
            <a:r>
              <a:rPr lang="zh-CN" altLang="en-US" dirty="0"/>
              <a:t>独立磁盘冗余阵列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Redundant Array of Independent Disks </a:t>
            </a:r>
          </a:p>
          <a:p>
            <a:r>
              <a:rPr lang="en-US" dirty="0"/>
              <a:t>The development of </a:t>
            </a:r>
            <a:r>
              <a:rPr lang="en-US" dirty="0">
                <a:solidFill>
                  <a:srgbClr val="0070C0"/>
                </a:solidFill>
              </a:rPr>
              <a:t>arrays of disks </a:t>
            </a:r>
            <a:r>
              <a:rPr lang="en-US" dirty="0"/>
              <a:t>that operate </a:t>
            </a:r>
            <a:r>
              <a:rPr lang="en-US" dirty="0">
                <a:solidFill>
                  <a:srgbClr val="0070C0"/>
                </a:solidFill>
              </a:rPr>
              <a:t>independently</a:t>
            </a:r>
            <a:r>
              <a:rPr lang="en-US" dirty="0"/>
              <a:t> and in </a:t>
            </a:r>
            <a:r>
              <a:rPr lang="en-US" dirty="0">
                <a:solidFill>
                  <a:srgbClr val="0070C0"/>
                </a:solidFill>
              </a:rPr>
              <a:t>parallel</a:t>
            </a:r>
            <a:r>
              <a:rPr lang="en-US" dirty="0"/>
              <a:t>.</a:t>
            </a:r>
          </a:p>
          <a:p>
            <a:pPr lvl="1"/>
            <a:r>
              <a:rPr lang="en-US" sz="2400" dirty="0"/>
              <a:t>With multiple disks, separate </a:t>
            </a:r>
            <a:r>
              <a:rPr lang="en-US" sz="2400" dirty="0">
                <a:solidFill>
                  <a:srgbClr val="0070C0"/>
                </a:solidFill>
              </a:rPr>
              <a:t>I/O requests can be handled in parallel</a:t>
            </a:r>
            <a:r>
              <a:rPr lang="en-US" sz="2400" dirty="0"/>
              <a:t>, as long as the data required reside on separate disks.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a single I/O request can be executed in parallel </a:t>
            </a:r>
            <a:r>
              <a:rPr lang="en-US" sz="2400" dirty="0"/>
              <a:t>if the block of data to be accessed is distributed across multiple disks.</a:t>
            </a:r>
            <a:endParaRPr lang="en-US" altLang="zh-CN" sz="240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553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RAID(</a:t>
            </a:r>
            <a:r>
              <a:rPr lang="zh-CN" altLang="en-US" dirty="0"/>
              <a:t>独立磁盘冗余阵列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Consists of </a:t>
            </a:r>
            <a:r>
              <a:rPr lang="en-US" altLang="zh-CN" dirty="0">
                <a:solidFill>
                  <a:srgbClr val="0070C0"/>
                </a:solidFill>
              </a:rPr>
              <a:t>seven</a:t>
            </a:r>
            <a:r>
              <a:rPr lang="en-US" altLang="zh-CN" dirty="0"/>
              <a:t> levels, zero through six</a:t>
            </a:r>
          </a:p>
          <a:p>
            <a:r>
              <a:rPr lang="en-US" altLang="zh-CN" dirty="0"/>
              <a:t>Design architectures share three characteristics:</a:t>
            </a:r>
          </a:p>
          <a:p>
            <a:pPr lvl="1"/>
            <a:r>
              <a:rPr lang="en-US" altLang="zh-CN" sz="2400" dirty="0"/>
              <a:t>RAID is </a:t>
            </a:r>
            <a:r>
              <a:rPr lang="en-US" altLang="zh-CN" sz="2400" dirty="0">
                <a:solidFill>
                  <a:srgbClr val="0070C0"/>
                </a:solidFill>
              </a:rPr>
              <a:t>a set of physical disk drives </a:t>
            </a:r>
            <a:r>
              <a:rPr lang="en-US" altLang="zh-CN" sz="2400" dirty="0"/>
              <a:t>viewed by the operating system as </a:t>
            </a:r>
            <a:r>
              <a:rPr lang="en-US" altLang="zh-CN" sz="2400" dirty="0">
                <a:solidFill>
                  <a:srgbClr val="0070C0"/>
                </a:solidFill>
              </a:rPr>
              <a:t>a single logical drive</a:t>
            </a:r>
          </a:p>
          <a:p>
            <a:pPr lvl="1"/>
            <a:r>
              <a:rPr lang="en-US" altLang="zh-CN" sz="2400" dirty="0"/>
              <a:t>data are distributed across the physical drives of an array in a scheme known as </a:t>
            </a:r>
            <a:r>
              <a:rPr lang="en-US" altLang="zh-CN" sz="2400" dirty="0">
                <a:solidFill>
                  <a:srgbClr val="C00000"/>
                </a:solidFill>
              </a:rPr>
              <a:t>striping(</a:t>
            </a:r>
            <a:r>
              <a:rPr lang="zh-CN" altLang="en-US" sz="2400" dirty="0">
                <a:solidFill>
                  <a:srgbClr val="C00000"/>
                </a:solidFill>
              </a:rPr>
              <a:t>条带</a:t>
            </a:r>
            <a:r>
              <a:rPr lang="en-US" altLang="zh-CN" sz="2400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redundant disk capacity </a:t>
            </a:r>
            <a:r>
              <a:rPr lang="en-US" altLang="zh-CN" sz="2400" dirty="0"/>
              <a:t>is used to store </a:t>
            </a:r>
            <a:r>
              <a:rPr lang="en-US" altLang="zh-CN" sz="2400" dirty="0">
                <a:solidFill>
                  <a:srgbClr val="C00000"/>
                </a:solidFill>
              </a:rPr>
              <a:t>parity information </a:t>
            </a:r>
            <a:r>
              <a:rPr lang="zh-CN" altLang="en-US" sz="2400" dirty="0">
                <a:solidFill>
                  <a:srgbClr val="C00000"/>
                </a:solidFill>
              </a:rPr>
              <a:t>（校验）</a:t>
            </a:r>
            <a:r>
              <a:rPr lang="en-US" altLang="zh-CN" sz="2400" dirty="0"/>
              <a:t>, which guarantees data recoverability in case of a disk failure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1965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Not a true RAID because it does </a:t>
            </a:r>
            <a:r>
              <a:rPr lang="en-US" altLang="zh-CN" dirty="0">
                <a:solidFill>
                  <a:srgbClr val="0070C0"/>
                </a:solidFill>
              </a:rPr>
              <a:t>not include redundancy </a:t>
            </a:r>
            <a:r>
              <a:rPr lang="en-US" altLang="zh-CN" dirty="0"/>
              <a:t>to improve performance or provide data protection</a:t>
            </a:r>
          </a:p>
          <a:p>
            <a:r>
              <a:rPr lang="en-US" altLang="zh-CN" dirty="0"/>
              <a:t>User and system data are distributed </a:t>
            </a:r>
            <a:r>
              <a:rPr lang="en-US" altLang="zh-CN" dirty="0">
                <a:solidFill>
                  <a:srgbClr val="0070C0"/>
                </a:solidFill>
              </a:rPr>
              <a:t>across all of the disks </a:t>
            </a:r>
            <a:r>
              <a:rPr lang="en-US" altLang="zh-CN" dirty="0"/>
              <a:t>in the array</a:t>
            </a:r>
          </a:p>
          <a:p>
            <a:r>
              <a:rPr lang="en-US" altLang="zh-CN" dirty="0"/>
              <a:t>Logical disk is divided into </a:t>
            </a:r>
            <a:r>
              <a:rPr lang="en-US" altLang="zh-CN" dirty="0">
                <a:solidFill>
                  <a:srgbClr val="0070C0"/>
                </a:solidFill>
              </a:rPr>
              <a:t>strips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909CF5-D8DF-4077-BDBC-241371B99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686" y="3327163"/>
            <a:ext cx="5232628" cy="2923912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B8F60DF7-1090-4897-B319-945EC7E06C35}"/>
              </a:ext>
            </a:extLst>
          </p:cNvPr>
          <p:cNvSpPr/>
          <p:nvPr/>
        </p:nvSpPr>
        <p:spPr>
          <a:xfrm>
            <a:off x="3720193" y="3060463"/>
            <a:ext cx="4751614" cy="2667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7BFF26-B886-4805-AAAA-0182D7E76608}"/>
              </a:ext>
            </a:extLst>
          </p:cNvPr>
          <p:cNvSpPr txBox="1"/>
          <p:nvPr/>
        </p:nvSpPr>
        <p:spPr>
          <a:xfrm>
            <a:off x="9154886" y="441978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894280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Redundancy is achieved by the simple expedient of </a:t>
            </a:r>
            <a:r>
              <a:rPr lang="en-US" altLang="zh-CN" dirty="0">
                <a:solidFill>
                  <a:srgbClr val="0070C0"/>
                </a:solidFill>
              </a:rPr>
              <a:t>duplicating</a:t>
            </a:r>
            <a:r>
              <a:rPr lang="en-US" altLang="zh-CN" dirty="0"/>
              <a:t> all the data</a:t>
            </a:r>
          </a:p>
          <a:p>
            <a:r>
              <a:rPr lang="en-US" altLang="zh-CN" dirty="0"/>
              <a:t>When a drive fails the data may still be accessed from the </a:t>
            </a:r>
            <a:r>
              <a:rPr lang="en-US" altLang="zh-CN" dirty="0">
                <a:solidFill>
                  <a:srgbClr val="0070C0"/>
                </a:solidFill>
              </a:rPr>
              <a:t>second</a:t>
            </a:r>
            <a:r>
              <a:rPr lang="en-US" altLang="zh-CN" dirty="0"/>
              <a:t> drive</a:t>
            </a:r>
          </a:p>
          <a:p>
            <a:r>
              <a:rPr lang="en-US" altLang="zh-CN" dirty="0"/>
              <a:t>Principal </a:t>
            </a:r>
            <a:r>
              <a:rPr lang="en-US" altLang="zh-CN" dirty="0">
                <a:solidFill>
                  <a:srgbClr val="C00000"/>
                </a:solidFill>
              </a:rPr>
              <a:t>disadvantage is the cost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CB39B2-E6FF-416A-B7B2-FC76C1A7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3429000"/>
            <a:ext cx="8582025" cy="23907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D004C2C-A3D1-4DE0-A0A9-7DA90782AD3F}"/>
              </a:ext>
            </a:extLst>
          </p:cNvPr>
          <p:cNvSpPr txBox="1"/>
          <p:nvPr/>
        </p:nvSpPr>
        <p:spPr>
          <a:xfrm>
            <a:off x="10703533" y="421295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2N</a:t>
            </a:r>
          </a:p>
        </p:txBody>
      </p:sp>
    </p:spTree>
    <p:extLst>
      <p:ext uri="{BB962C8B-B14F-4D97-AF65-F5344CB8AC3E}">
        <p14:creationId xmlns:p14="http://schemas.microsoft.com/office/powerpoint/2010/main" val="949167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Each disk head </a:t>
            </a:r>
            <a:r>
              <a:rPr lang="en-US" dirty="0"/>
              <a:t>is in the same position</a:t>
            </a:r>
            <a:r>
              <a:rPr lang="zh-CN" altLang="en-US" dirty="0"/>
              <a:t>，</a:t>
            </a:r>
            <a:r>
              <a:rPr lang="en-US" altLang="zh-CN" dirty="0"/>
              <a:t> employs </a:t>
            </a:r>
            <a:r>
              <a:rPr lang="en-US" altLang="zh-CN" dirty="0">
                <a:solidFill>
                  <a:srgbClr val="FF0000"/>
                </a:solidFill>
              </a:rPr>
              <a:t>parallel access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all member disks </a:t>
            </a:r>
            <a:r>
              <a:rPr lang="en-US" dirty="0"/>
              <a:t>participate in the execution of </a:t>
            </a:r>
            <a:r>
              <a:rPr lang="en-US" dirty="0">
                <a:solidFill>
                  <a:srgbClr val="0070C0"/>
                </a:solidFill>
              </a:rPr>
              <a:t>every I/O</a:t>
            </a:r>
            <a:r>
              <a:rPr lang="en-US" dirty="0"/>
              <a:t> request </a:t>
            </a:r>
          </a:p>
          <a:p>
            <a:r>
              <a:rPr lang="en-US" dirty="0"/>
              <a:t>An error-correcting code is calculated across </a:t>
            </a:r>
            <a:r>
              <a:rPr lang="en-US" dirty="0">
                <a:solidFill>
                  <a:srgbClr val="0070C0"/>
                </a:solidFill>
              </a:rPr>
              <a:t>corresponding </a:t>
            </a:r>
            <a:r>
              <a:rPr lang="en-US" dirty="0">
                <a:solidFill>
                  <a:srgbClr val="FF0000"/>
                </a:solidFill>
              </a:rPr>
              <a:t>bits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on each data disk, and the bits of the code are stored in the corresponding bit positions on </a:t>
            </a:r>
            <a:r>
              <a:rPr lang="en-US" dirty="0">
                <a:solidFill>
                  <a:srgbClr val="0070C0"/>
                </a:solidFill>
              </a:rPr>
              <a:t>multiple parity disks</a:t>
            </a:r>
            <a:r>
              <a:rPr lang="zh-CN" altLang="en-US" dirty="0">
                <a:solidFill>
                  <a:srgbClr val="0070C0"/>
                </a:solidFill>
              </a:rPr>
              <a:t>（奇偶校验）</a:t>
            </a:r>
            <a:r>
              <a:rPr lang="en-US" dirty="0"/>
              <a:t>.</a:t>
            </a:r>
          </a:p>
          <a:p>
            <a:r>
              <a:rPr lang="en-US" altLang="zh-CN" dirty="0"/>
              <a:t>Typically a </a:t>
            </a:r>
            <a:r>
              <a:rPr lang="en-US" altLang="zh-CN" dirty="0">
                <a:solidFill>
                  <a:srgbClr val="0070C0"/>
                </a:solidFill>
              </a:rPr>
              <a:t>Hamming code </a:t>
            </a:r>
            <a:r>
              <a:rPr lang="en-US" altLang="zh-CN" dirty="0"/>
              <a:t>is used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359301-1D35-4096-9848-3681172B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395" y="3861179"/>
            <a:ext cx="6294991" cy="1961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72087BD-A9D6-43C3-9C87-9E2510DBE9CB}"/>
                  </a:ext>
                </a:extLst>
              </p:cNvPr>
              <p:cNvSpPr txBox="1"/>
              <p:nvPr/>
            </p:nvSpPr>
            <p:spPr>
              <a:xfrm>
                <a:off x="9701470" y="4726882"/>
                <a:ext cx="8723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altLang="zh-CN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𝐌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72087BD-A9D6-43C3-9C87-9E2510DBE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470" y="4726882"/>
                <a:ext cx="87235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大括号 7">
            <a:extLst>
              <a:ext uri="{FF2B5EF4-FFF2-40B4-BE49-F238E27FC236}">
                <a16:creationId xmlns:a16="http://schemas.microsoft.com/office/drawing/2014/main" id="{13D93350-158F-4270-BAB1-3CF73EBC23DF}"/>
              </a:ext>
            </a:extLst>
          </p:cNvPr>
          <p:cNvSpPr/>
          <p:nvPr/>
        </p:nvSpPr>
        <p:spPr>
          <a:xfrm rot="16200000">
            <a:off x="7479062" y="4524315"/>
            <a:ext cx="261257" cy="22630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3CF1C6-4097-4335-897A-4C094703D034}"/>
              </a:ext>
            </a:extLst>
          </p:cNvPr>
          <p:cNvSpPr txBox="1"/>
          <p:nvPr/>
        </p:nvSpPr>
        <p:spPr>
          <a:xfrm>
            <a:off x="6825919" y="5800637"/>
            <a:ext cx="1567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M parity disks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84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Requires only </a:t>
            </a:r>
            <a:r>
              <a:rPr lang="en-US" altLang="zh-CN" dirty="0">
                <a:solidFill>
                  <a:srgbClr val="0070C0"/>
                </a:solidFill>
              </a:rPr>
              <a:t>a single redundant disk</a:t>
            </a:r>
            <a:r>
              <a:rPr lang="en-US" altLang="zh-CN" dirty="0"/>
              <a:t>, no matter how large the disk array</a:t>
            </a:r>
          </a:p>
          <a:p>
            <a:r>
              <a:rPr lang="en-US" altLang="zh-CN" dirty="0"/>
              <a:t>Employs </a:t>
            </a:r>
            <a:r>
              <a:rPr lang="en-US" altLang="zh-CN" dirty="0">
                <a:solidFill>
                  <a:srgbClr val="FF0000"/>
                </a:solidFill>
              </a:rPr>
              <a:t>parallel access</a:t>
            </a:r>
            <a:r>
              <a:rPr lang="en-US" altLang="zh-CN" dirty="0"/>
              <a:t>, with data distributed </a:t>
            </a:r>
            <a:r>
              <a:rPr lang="en-US" altLang="zh-CN" dirty="0">
                <a:solidFill>
                  <a:srgbClr val="C00000"/>
                </a:solidFill>
              </a:rPr>
              <a:t>in small strips</a:t>
            </a:r>
          </a:p>
          <a:p>
            <a:r>
              <a:rPr lang="en-US" altLang="zh-CN" dirty="0"/>
              <a:t>Can achieve very high data transfer rates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8363A9-D520-4D0E-9B0E-3DD0693EA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486" y="3031126"/>
            <a:ext cx="6181725" cy="23899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BD74F68-DDAB-48E5-8E41-7EE402BF52CF}"/>
              </a:ext>
            </a:extLst>
          </p:cNvPr>
          <p:cNvSpPr txBox="1"/>
          <p:nvPr/>
        </p:nvSpPr>
        <p:spPr>
          <a:xfrm>
            <a:off x="9454996" y="385677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N+1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DC6E03-24AA-4F6F-916D-D658FD9C0EDC}"/>
              </a:ext>
            </a:extLst>
          </p:cNvPr>
          <p:cNvSpPr/>
          <p:nvPr/>
        </p:nvSpPr>
        <p:spPr>
          <a:xfrm>
            <a:off x="3918857" y="5143500"/>
            <a:ext cx="212272" cy="2231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89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Makes use of an </a:t>
            </a:r>
            <a:r>
              <a:rPr lang="en-US" altLang="zh-CN" dirty="0">
                <a:solidFill>
                  <a:srgbClr val="FF0000"/>
                </a:solidFill>
              </a:rPr>
              <a:t>independent access </a:t>
            </a:r>
            <a:r>
              <a:rPr lang="en-US" altLang="zh-CN" dirty="0"/>
              <a:t>technique</a:t>
            </a:r>
          </a:p>
          <a:p>
            <a:r>
              <a:rPr lang="en-US" altLang="zh-CN" dirty="0"/>
              <a:t>A bit-by-bit parity strip is calculated across corresponding </a:t>
            </a:r>
            <a:r>
              <a:rPr lang="en-US" altLang="zh-CN" dirty="0">
                <a:solidFill>
                  <a:srgbClr val="0070C0"/>
                </a:solidFill>
              </a:rPr>
              <a:t>strips</a:t>
            </a:r>
            <a:r>
              <a:rPr lang="en-US" altLang="zh-CN" dirty="0"/>
              <a:t> on each data disk, and the parity bits are stored in the corresponding strip on the parity disk</a:t>
            </a:r>
          </a:p>
          <a:p>
            <a:r>
              <a:rPr lang="en-US" altLang="zh-CN" dirty="0"/>
              <a:t>Involves a </a:t>
            </a:r>
            <a:r>
              <a:rPr lang="en-US" altLang="zh-CN" dirty="0">
                <a:solidFill>
                  <a:srgbClr val="C00000"/>
                </a:solidFill>
              </a:rPr>
              <a:t>write penalty </a:t>
            </a:r>
            <a:r>
              <a:rPr lang="en-US" altLang="zh-CN" dirty="0"/>
              <a:t>when an I/O write request of small size is performed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A00610-BD3D-4586-8F16-7A0845286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3429000"/>
            <a:ext cx="6191250" cy="23145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C7169B5-4230-4799-B259-AC19400FF3F0}"/>
              </a:ext>
            </a:extLst>
          </p:cNvPr>
          <p:cNvSpPr txBox="1"/>
          <p:nvPr/>
        </p:nvSpPr>
        <p:spPr>
          <a:xfrm>
            <a:off x="9785050" y="421695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N+1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C609BD-1984-4801-86A4-91675849095E}"/>
              </a:ext>
            </a:extLst>
          </p:cNvPr>
          <p:cNvSpPr/>
          <p:nvPr/>
        </p:nvSpPr>
        <p:spPr>
          <a:xfrm>
            <a:off x="4071257" y="5475514"/>
            <a:ext cx="391886" cy="2680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9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Similar to RAID-4 but </a:t>
            </a:r>
            <a:r>
              <a:rPr lang="en-US" altLang="zh-CN" dirty="0">
                <a:solidFill>
                  <a:srgbClr val="0070C0"/>
                </a:solidFill>
              </a:rPr>
              <a:t>distributes the parity bits </a:t>
            </a:r>
            <a:r>
              <a:rPr lang="en-US" altLang="zh-CN" dirty="0">
                <a:solidFill>
                  <a:srgbClr val="FF0000"/>
                </a:solidFill>
              </a:rPr>
              <a:t>across all disks</a:t>
            </a:r>
          </a:p>
          <a:p>
            <a:r>
              <a:rPr lang="en-US" altLang="zh-CN" dirty="0"/>
              <a:t>Typical allocation is a round-robin scheme</a:t>
            </a:r>
          </a:p>
          <a:p>
            <a:r>
              <a:rPr lang="en-US" altLang="zh-CN" dirty="0"/>
              <a:t>Has the characteristic that the </a:t>
            </a:r>
            <a:r>
              <a:rPr lang="en-US" altLang="zh-CN" dirty="0">
                <a:solidFill>
                  <a:srgbClr val="C00000"/>
                </a:solidFill>
              </a:rPr>
              <a:t>loss of any one disk does not result in data loss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0FE7E2-0B7C-40D5-8B88-1AB13FDB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555" y="3035073"/>
            <a:ext cx="6124575" cy="27146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56C83F-2B48-4650-87C3-565A6834CB23}"/>
              </a:ext>
            </a:extLst>
          </p:cNvPr>
          <p:cNvSpPr txBox="1"/>
          <p:nvPr/>
        </p:nvSpPr>
        <p:spPr>
          <a:xfrm>
            <a:off x="10050271" y="386861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N+1</a:t>
            </a:r>
          </a:p>
        </p:txBody>
      </p:sp>
    </p:spTree>
    <p:extLst>
      <p:ext uri="{BB962C8B-B14F-4D97-AF65-F5344CB8AC3E}">
        <p14:creationId xmlns:p14="http://schemas.microsoft.com/office/powerpoint/2010/main" val="4194931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Two different parity calculations </a:t>
            </a:r>
            <a:r>
              <a:rPr lang="en-US" altLang="zh-CN" dirty="0"/>
              <a:t>are carried out and stored in separate blocks on different disks</a:t>
            </a:r>
          </a:p>
          <a:p>
            <a:r>
              <a:rPr lang="en-US" altLang="zh-CN" dirty="0"/>
              <a:t>Provides extremely </a:t>
            </a:r>
            <a:r>
              <a:rPr lang="en-US" altLang="zh-CN" dirty="0">
                <a:solidFill>
                  <a:srgbClr val="0070C0"/>
                </a:solidFill>
              </a:rPr>
              <a:t>high data availability</a:t>
            </a:r>
          </a:p>
          <a:p>
            <a:r>
              <a:rPr lang="en-US" altLang="zh-CN" dirty="0"/>
              <a:t>Incurs a </a:t>
            </a:r>
            <a:r>
              <a:rPr lang="en-US" altLang="zh-CN" dirty="0">
                <a:solidFill>
                  <a:srgbClr val="0070C0"/>
                </a:solidFill>
              </a:rPr>
              <a:t>substantial write penalty</a:t>
            </a:r>
            <a:r>
              <a:rPr lang="en-US" altLang="zh-CN" dirty="0"/>
              <a:t> because each write affects two parity blocks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E80287-54DB-4E65-86C2-9D38085C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3323409"/>
            <a:ext cx="8515350" cy="2781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EB8EA1E-B7EB-4F8B-87BD-D0B9D040D44C}"/>
              </a:ext>
            </a:extLst>
          </p:cNvPr>
          <p:cNvSpPr txBox="1"/>
          <p:nvPr/>
        </p:nvSpPr>
        <p:spPr>
          <a:xfrm>
            <a:off x="10413546" y="419518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N+2</a:t>
            </a:r>
          </a:p>
        </p:txBody>
      </p:sp>
    </p:spTree>
    <p:extLst>
      <p:ext uri="{BB962C8B-B14F-4D97-AF65-F5344CB8AC3E}">
        <p14:creationId xmlns:p14="http://schemas.microsoft.com/office/powerpoint/2010/main" val="2429979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67C35-F1E3-0042-AF6A-649FCDA8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Levels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269C0F-9B4B-4F5F-B71B-2CAC6DEF45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340592" y="814348"/>
            <a:ext cx="8549548" cy="5407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10779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7FA01-5E11-4665-BC14-D816B94E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BA0E06-3696-41B1-A851-A6C11201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Consider a 4-drive, 200GB-per-drive RAID array. What is the available data storage capacity for each of the RAID levels, 0, 1, 3, 4, 5, and 6?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2571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I/O architecture is the computer system’s </a:t>
            </a:r>
            <a:r>
              <a:rPr lang="en-US" altLang="zh-CN" dirty="0">
                <a:solidFill>
                  <a:srgbClr val="0070C0"/>
                </a:solidFill>
              </a:rPr>
              <a:t>interface</a:t>
            </a:r>
            <a:r>
              <a:rPr lang="en-US" altLang="zh-CN" dirty="0"/>
              <a:t> to the outside world</a:t>
            </a:r>
          </a:p>
          <a:p>
            <a:pPr lvl="1"/>
            <a:r>
              <a:rPr lang="en-US" altLang="zh-CN" dirty="0"/>
              <a:t>I/O functions are generally broken up into </a:t>
            </a:r>
            <a:r>
              <a:rPr lang="en-US" altLang="zh-CN" dirty="0">
                <a:solidFill>
                  <a:srgbClr val="0070C0"/>
                </a:solidFill>
              </a:rPr>
              <a:t>a number of layers</a:t>
            </a:r>
          </a:p>
          <a:p>
            <a:pPr lvl="1"/>
            <a:r>
              <a:rPr lang="en-US" altLang="zh-CN" dirty="0"/>
              <a:t>A key aspect of I/O is the </a:t>
            </a:r>
            <a:r>
              <a:rPr lang="en-US" altLang="zh-CN" dirty="0">
                <a:solidFill>
                  <a:srgbClr val="0070C0"/>
                </a:solidFill>
              </a:rPr>
              <a:t>use of buffers </a:t>
            </a:r>
            <a:r>
              <a:rPr lang="en-US" altLang="zh-CN" dirty="0"/>
              <a:t>that are controlled by I/O utilities</a:t>
            </a:r>
          </a:p>
          <a:p>
            <a:r>
              <a:rPr lang="en-US" altLang="zh-CN" dirty="0"/>
              <a:t>Buffering </a:t>
            </a:r>
            <a:r>
              <a:rPr lang="en-US" altLang="zh-CN" dirty="0">
                <a:solidFill>
                  <a:srgbClr val="0070C0"/>
                </a:solidFill>
              </a:rPr>
              <a:t>smoothens</a:t>
            </a:r>
            <a:r>
              <a:rPr lang="en-US" altLang="zh-CN" dirty="0"/>
              <a:t> out the differences between the speeds</a:t>
            </a:r>
          </a:p>
          <a:p>
            <a:pPr lvl="1"/>
            <a:r>
              <a:rPr lang="en-US" altLang="zh-CN" dirty="0"/>
              <a:t>The use of buffers also decouples the actual I/O transfer from the address space of the application process</a:t>
            </a:r>
          </a:p>
          <a:p>
            <a:r>
              <a:rPr lang="en-US" altLang="zh-CN" dirty="0"/>
              <a:t>Disk I/O has the </a:t>
            </a:r>
            <a:r>
              <a:rPr lang="en-US" altLang="zh-CN" dirty="0">
                <a:solidFill>
                  <a:srgbClr val="0070C0"/>
                </a:solidFill>
              </a:rPr>
              <a:t>greatest impact </a:t>
            </a:r>
            <a:r>
              <a:rPr lang="en-US" altLang="zh-CN" dirty="0"/>
              <a:t>on overall system performance</a:t>
            </a:r>
          </a:p>
          <a:p>
            <a:pPr lvl="1"/>
            <a:r>
              <a:rPr lang="en-US" altLang="zh-CN" dirty="0"/>
              <a:t>Two of the most widely used approaches are </a:t>
            </a:r>
            <a:r>
              <a:rPr lang="en-US" altLang="zh-CN" dirty="0">
                <a:solidFill>
                  <a:srgbClr val="0070C0"/>
                </a:solidFill>
              </a:rPr>
              <a:t>disk scheduling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0070C0"/>
                </a:solidFill>
              </a:rPr>
              <a:t>the disk cache</a:t>
            </a:r>
          </a:p>
          <a:p>
            <a:r>
              <a:rPr lang="en-US" altLang="zh-CN" dirty="0"/>
              <a:t>A </a:t>
            </a:r>
            <a:r>
              <a:rPr lang="en-US" altLang="zh-CN" dirty="0">
                <a:solidFill>
                  <a:srgbClr val="0070C0"/>
                </a:solidFill>
              </a:rPr>
              <a:t>disk cache is a buffer</a:t>
            </a:r>
            <a:r>
              <a:rPr lang="en-US" altLang="zh-CN" dirty="0"/>
              <a:t>, usually kept in main memory, that functions as a cache of disk block between disk memory and the rest of main memory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85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C868245-C4F8-4979-86EF-4D6B9AA38E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在操作系统中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用户在使用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通常采用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8EA12C-CFC6-401C-BC29-B7C500B6F1C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71057" y="2460920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物理设备名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2F68A0-BA72-462F-A305-52C940DBC87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04282" y="244758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BA6743-4185-4FB0-96DA-E322E31D15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71057" y="3318170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逻辑设备名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DD0A31-C7C1-4768-B8A3-D86C41E96A3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604282" y="330483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F9E209-E6E9-44D4-95A3-3716FE3ED85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71057" y="4175420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虚拟设备名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BF60351-75EE-40B9-B314-66D60165632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04282" y="416208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2F0A10-3870-4CA7-8618-6651646D054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71057" y="5032670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设备牌号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D544681-6178-4EE8-BEA0-0B93DA60D45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04282" y="501933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3B9C18F-BBC8-4011-84E0-B63D2A98AE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2BF225-0BD4-EE42-BC4B-CA6FA494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2CFC7A2-59CB-4F77-838E-E84911B1B0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EEA1BE58-F195-49C7-BAA1-058C1C4D171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790F56A-97E6-488D-BA4F-6E3315785D7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27313EFA-E80B-4935-AE4A-5009A29A69C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1DB4182-1284-4286-9658-B36C760575F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7247F76-1B3A-4B8B-9699-84ADE077596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6D64DC7-3868-440B-A9AA-FD70E4D55F1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2183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C868245-C4F8-4979-86EF-4D6B9AA38E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在操作系统中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用户在使用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通常采用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8EA12C-CFC6-401C-BC29-B7C500B6F1C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71057" y="2460920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物理设备名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2F68A0-BA72-462F-A305-52C940DBC87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04282" y="244758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BA6743-4185-4FB0-96DA-E322E31D15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71057" y="3318170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逻辑设备名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DD0A31-C7C1-4768-B8A3-D86C41E96A3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604282" y="330483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F9E209-E6E9-44D4-95A3-3716FE3ED85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71057" y="4175420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虚拟设备名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BF60351-75EE-40B9-B314-66D60165632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04282" y="416208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2F0A10-3870-4CA7-8618-6651646D054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71057" y="5032670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设备牌号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D544681-6178-4EE8-BEA0-0B93DA60D45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04282" y="501933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3B9C18F-BBC8-4011-84E0-B63D2A98AE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2BF225-0BD4-EE42-BC4B-CA6FA494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B257349-6064-4D92-97FC-319842D2D34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0" name="TitleBackground">
              <a:extLst>
                <a:ext uri="{FF2B5EF4-FFF2-40B4-BE49-F238E27FC236}">
                  <a16:creationId xmlns:a16="http://schemas.microsoft.com/office/drawing/2014/main" id="{C2F6791E-7719-419F-B460-839B329BFD0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olorBlock">
              <a:extLst>
                <a:ext uri="{FF2B5EF4-FFF2-40B4-BE49-F238E27FC236}">
                  <a16:creationId xmlns:a16="http://schemas.microsoft.com/office/drawing/2014/main" id="{4D95FE30-0F86-400E-9B19-F143DCC70D5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ypeText">
              <a:extLst>
                <a:ext uri="{FF2B5EF4-FFF2-40B4-BE49-F238E27FC236}">
                  <a16:creationId xmlns:a16="http://schemas.microsoft.com/office/drawing/2014/main" id="{96B6595C-85AD-4EA5-8458-AA63B0B6B64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3" name="TipText">
              <a:extLst>
                <a:ext uri="{FF2B5EF4-FFF2-40B4-BE49-F238E27FC236}">
                  <a16:creationId xmlns:a16="http://schemas.microsoft.com/office/drawing/2014/main" id="{0BAE6F60-7945-4B48-8BBF-A2670850D71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7247F76-1B3A-4B8B-9699-84ADE077596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15306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004EF87-5AEE-4FED-9668-6C8FDAEC90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9039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操作系统采用缓冲技术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能够减少对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次数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从而提高资源的利用率。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69E3BB-83B0-4556-B13D-81EB21ACDF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中断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AFFB5A3-2178-43C4-8C62-220B16DB4A3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8EBC-BFFB-483B-B39B-A97D05EC05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访问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367C133-FC35-470B-8205-68C43F71FC1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658993-3583-4EB3-95D6-5FA1771EE6E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控制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606679E-50C0-4A9D-A2E6-B8DA33633E9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E1FE3A-3FDC-44F8-95AA-C03F262030B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依赖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49BAA9E-BA07-4467-9E6C-EBFA4C9A2B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CFB4253-C9F8-4933-9CCD-82E6CAD6AC8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A326F3-E081-A94E-BDB6-8CBD068A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32734DF-8BD8-45FB-9D09-7A0A591E4E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467D80E-DC7D-4C78-AB6C-32F1ED5F9BC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89949D97-A2C3-4EB6-A8A8-29E931301BF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144F39F1-AB5C-43B9-AF17-79A5D220817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0EBCCBE-43B9-45FF-A709-C785F592900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972EDBE-10EC-4D24-BA9B-72BB3B914A3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03B3A52-76A5-4513-9463-17E2B701782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399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004EF87-5AEE-4FED-9668-6C8FDAEC90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9039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操作系统采用缓冲技术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能够减少对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次数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从而提高资源的利用率。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69E3BB-83B0-4556-B13D-81EB21ACDF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中断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AFFB5A3-2178-43C4-8C62-220B16DB4A3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8EBC-BFFB-483B-B39B-A97D05EC05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访问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367C133-FC35-470B-8205-68C43F71FC1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658993-3583-4EB3-95D6-5FA1771EE6E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控制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606679E-50C0-4A9D-A2E6-B8DA33633E9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E1FE3A-3FDC-44F8-95AA-C03F262030B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依赖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49BAA9E-BA07-4467-9E6C-EBFA4C9A2B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CFB4253-C9F8-4933-9CCD-82E6CAD6AC8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A326F3-E081-A94E-BDB6-8CBD068A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32734DF-8BD8-45FB-9D09-7A0A591E4E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467D80E-DC7D-4C78-AB6C-32F1ED5F9BC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89949D97-A2C3-4EB6-A8A8-29E931301BF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144F39F1-AB5C-43B9-AF17-79A5D220817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0EBCCBE-43B9-45FF-A709-C785F592900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972EDBE-10EC-4D24-BA9B-72BB3B914A3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66370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36BBE92-1A89-4F4F-AAAF-33AC2004C0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864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输出数据的速度远远高于打印机的打印速度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为了解决这一矛盾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可采用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FD71B4-1837-4BD1-BF14-DE43353ED8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并行技术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2113A52-D6DF-4664-8648-7D0BC07FC3F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80703-0183-461F-B4E5-AF8BA1CB661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通道技术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FA5C1A7-A697-4FF4-963D-0C6B1C3FD5B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94C183-C66A-434D-ADD8-37F8C2194A4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缓冲技术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4C39693-46EF-43E5-A811-14AAEB616A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8BFB57-0AD4-434C-A4FA-77950B31315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虚存技术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45D33DA-877C-4E11-8837-6BA837F7A6C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8180B99-4627-413F-8BFF-BE626EAB0F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E48A16-677C-FB41-9FC6-6F1B60B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AC5FE7D-102D-4398-A954-85104371A5E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9BBE258-6ED5-452C-8B0F-F5AC39E6943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F0C2593-AF48-4FB2-ADDF-73232041BA2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5ACC6FB-83DA-4AE3-B888-907DAB4D84F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D87FE183-74C3-47E4-B3C1-FB8EC5FC53F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AC7FFCF-5F5D-486C-8206-04D0CEA66A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C6E25D4-C72B-4C90-89D5-56FCAA044BD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1171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36BBE92-1A89-4F4F-AAAF-33AC2004C0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864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输出数据的速度远远高于打印机的打印速度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为了解决这一矛盾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可采用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FD71B4-1837-4BD1-BF14-DE43353ED8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并行技术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2113A52-D6DF-4664-8648-7D0BC07FC3F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80703-0183-461F-B4E5-AF8BA1CB661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通道技术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FA5C1A7-A697-4FF4-963D-0C6B1C3FD5B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94C183-C66A-434D-ADD8-37F8C2194A4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缓冲技术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4C39693-46EF-43E5-A811-14AAEB616A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8BFB57-0AD4-434C-A4FA-77950B31315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虚存技术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45D33DA-877C-4E11-8837-6BA837F7A6C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8180B99-4627-413F-8BFF-BE626EAB0F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E48A16-677C-FB41-9FC6-6F1B60B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AC5FE7D-102D-4398-A954-85104371A5E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9BBE258-6ED5-452C-8B0F-F5AC39E6943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F0C2593-AF48-4FB2-ADDF-73232041BA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5ACC6FB-83DA-4AE3-B888-907DAB4D84F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D87FE183-74C3-47E4-B3C1-FB8EC5FC53F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AC7FFCF-5F5D-486C-8206-04D0CEA66A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2804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726E30C-4DB5-4E0D-9EBB-6F9474855F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3478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缓冲技术用于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14F7D1-5962-497E-80F3-04F33F69F5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提高主机和设备交换信息的速度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78A600A-3348-474D-AFF6-608C17432FA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21D302-7CA0-4B50-B346-573631AF09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提供主、辅存接口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380188E-B8DB-40AD-BF74-1B69F3B6FEA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8D5712-6596-400C-A435-47C5F2E176E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592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提高设备利用率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B42AC0-983E-41F0-9C7F-CC88C737CDA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38A683-87BA-42BF-81E1-70D424BBC86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扩充相对地址空间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65270AC-292F-47F5-8798-4B43B5D4C32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BA7BDF-D0C8-47A4-BCEF-A94F459C4C6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54A5D29-7A9F-4D46-9BD2-99E58C21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内容占位符 19">
            <a:extLst>
              <a:ext uri="{FF2B5EF4-FFF2-40B4-BE49-F238E27FC236}">
                <a16:creationId xmlns:a16="http://schemas.microsoft.com/office/drawing/2014/main" id="{183E6244-7277-2448-A563-DBE42070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08D858-72F2-4079-82D0-4441D2C25B3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4E64B940-2908-4175-81F6-7767CC6576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4812CF16-9243-4F21-9102-2B392F1BF84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DED18116-2BFD-455B-B5D4-518D628066F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EFF5A5E8-C004-417A-8FEB-B4EDBE8084F7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3388EA5-F8FB-40E6-8E7A-CC59B407D8C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1A5FDF2-BC2B-43D5-947C-23B5435DAAC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075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726E30C-4DB5-4E0D-9EBB-6F9474855F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3478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缓冲技术用于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14F7D1-5962-497E-80F3-04F33F69F5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提高主机和设备交换信息的速度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78A600A-3348-474D-AFF6-608C17432FA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21D302-7CA0-4B50-B346-573631AF09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提供主、辅存接口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380188E-B8DB-40AD-BF74-1B69F3B6FEA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8D5712-6596-400C-A435-47C5F2E176E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592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提高设备利用率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B42AC0-983E-41F0-9C7F-CC88C737CDA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38A683-87BA-42BF-81E1-70D424BBC86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扩充相对地址空间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65270AC-292F-47F5-8798-4B43B5D4C32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BA7BDF-D0C8-47A4-BCEF-A94F459C4C6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54A5D29-7A9F-4D46-9BD2-99E58C21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08D858-72F2-4079-82D0-4441D2C25B3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4E64B940-2908-4175-81F6-7767CC6576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4812CF16-9243-4F21-9102-2B392F1BF84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DED18116-2BFD-455B-B5D4-518D628066F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EFF5A5E8-C004-417A-8FEB-B4EDBE8084F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3388EA5-F8FB-40E6-8E7A-CC59B407D8C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22625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C6907A9-57B1-4BC1-BB22-2A84DDCA3E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3148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通道是一种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D32D8-420C-45EF-822A-60546D950EC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449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端口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A5075D7-F314-4B33-A0A1-41B0FC6E5F2C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D6ED1B-4CC8-42C6-BF90-4A6364A34B2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数据通道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FF44598-DE5F-4241-ADA0-2326F6D5955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8479F8-6598-49F5-B059-F221F7B4741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440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专用处理机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8B73AD5-B7FF-4B9F-BFFB-C39F7589AB0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F24464-6BCB-495E-8D4A-B112E884807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软件工具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44B9EDD-14FB-4293-A614-1E9ECB5C300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50AFD35-014C-4904-AEC6-F1BE1851317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B44F38-2A4C-F947-97A4-B86EAB34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内容占位符 19">
            <a:extLst>
              <a:ext uri="{FF2B5EF4-FFF2-40B4-BE49-F238E27FC236}">
                <a16:creationId xmlns:a16="http://schemas.microsoft.com/office/drawing/2014/main" id="{299C535C-646B-5F44-8944-4DC568E1A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3991F7-A184-4927-978D-3AF202952A8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8791AA03-6AC4-4741-8B4F-10218A785A7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D627C919-DF09-4D6A-925C-143B6A3A5A1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1159B7E-C504-426A-B4A1-EDF3C7B608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6C970EC-4064-465B-879D-2B5C44D907B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93590E9-A247-4A81-951F-7C9CEA4D067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C47F071-8478-4E2F-B04D-94BD53F697C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58993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C6907A9-57B1-4BC1-BB22-2A84DDCA3E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3148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通道是一种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D32D8-420C-45EF-822A-60546D950EC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449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端口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A5075D7-F314-4B33-A0A1-41B0FC6E5F2C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D6ED1B-4CC8-42C6-BF90-4A6364A34B2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数据通道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FF44598-DE5F-4241-ADA0-2326F6D5955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8479F8-6598-49F5-B059-F221F7B4741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440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专用处理机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8B73AD5-B7FF-4B9F-BFFB-C39F7589AB0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F24464-6BCB-495E-8D4A-B112E884807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软件工具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44B9EDD-14FB-4293-A614-1E9ECB5C300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50AFD35-014C-4904-AEC6-F1BE1851317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B44F38-2A4C-F947-97A4-B86EAB34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3991F7-A184-4927-978D-3AF202952A8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8791AA03-6AC4-4741-8B4F-10218A785A7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D627C919-DF09-4D6A-925C-143B6A3A5A1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1159B7E-C504-426A-B4A1-EDF3C7B608C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6C970EC-4064-465B-879D-2B5C44D907B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93590E9-A247-4A81-951F-7C9CEA4D067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12309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3569</TotalTime>
  <Words>3668</Words>
  <Application>Microsoft Macintosh PowerPoint</Application>
  <PresentationFormat>Widescreen</PresentationFormat>
  <Paragraphs>483</Paragraphs>
  <Slides>59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等线</vt:lpstr>
      <vt:lpstr>Microsoft Yahei</vt:lpstr>
      <vt:lpstr>Microsoft Yahei</vt:lpstr>
      <vt:lpstr>Microsoft YaHei UI</vt:lpstr>
      <vt:lpstr>TimesTenLTStd-Bold</vt:lpstr>
      <vt:lpstr>Arial</vt:lpstr>
      <vt:lpstr>Calibri</vt:lpstr>
      <vt:lpstr>Cambria Math</vt:lpstr>
      <vt:lpstr>Wingdings</vt:lpstr>
      <vt:lpstr>1_Office 主题​​</vt:lpstr>
      <vt:lpstr>公式</vt:lpstr>
      <vt:lpstr>PowerPoint Presentation</vt:lpstr>
      <vt:lpstr>Outline</vt:lpstr>
      <vt:lpstr>11.1 Categories of I/O Devices</vt:lpstr>
      <vt:lpstr>Differences in I/O Devices</vt:lpstr>
      <vt:lpstr>11.2 Organization of the I/O Function</vt:lpstr>
      <vt:lpstr>11.2 Techniques for Performing I/O</vt:lpstr>
      <vt:lpstr>Evolution of the I/O Function</vt:lpstr>
      <vt:lpstr>Alternative DMA Configurations</vt:lpstr>
      <vt:lpstr>11.3. Design Objectives of Operating System</vt:lpstr>
      <vt:lpstr>Logical Structure of the I/O Function</vt:lpstr>
      <vt:lpstr>Logical Structure of the I/O Function</vt:lpstr>
      <vt:lpstr>Logical Structure of the I/O Function</vt:lpstr>
      <vt:lpstr>11.4. I/O Buffer</vt:lpstr>
      <vt:lpstr>Buffering</vt:lpstr>
      <vt:lpstr>No Buffering</vt:lpstr>
      <vt:lpstr>Single Buffer</vt:lpstr>
      <vt:lpstr>Block-Oriented Single Buffer</vt:lpstr>
      <vt:lpstr>Stream-Oriented Single Buffer</vt:lpstr>
      <vt:lpstr>Double Buffer</vt:lpstr>
      <vt:lpstr>Circular Buffer</vt:lpstr>
      <vt:lpstr>11.5. Disk Scheduling</vt:lpstr>
      <vt:lpstr>Disk Performance Parameters</vt:lpstr>
      <vt:lpstr>Positioning the Read/Write Heads</vt:lpstr>
      <vt:lpstr>Case Discussion</vt:lpstr>
      <vt:lpstr>Total time for the transfer</vt:lpstr>
      <vt:lpstr>Disk Scheduling Policies</vt:lpstr>
      <vt:lpstr>First-In, First-Out (FIFO)</vt:lpstr>
      <vt:lpstr>Priority (PRI)</vt:lpstr>
      <vt:lpstr>Shortest Service Time First (SSTF)</vt:lpstr>
      <vt:lpstr>SCAN</vt:lpstr>
      <vt:lpstr>C-SCAN (Circular SCAN)</vt:lpstr>
      <vt:lpstr>N-Step-SCAN &amp; FSCAN </vt:lpstr>
      <vt:lpstr>Disk Scheduling Algorithms</vt:lpstr>
      <vt:lpstr>11.6. Disk Cache</vt:lpstr>
      <vt:lpstr>Design Considerations</vt:lpstr>
      <vt:lpstr>Least Frequently Used (LFU)</vt:lpstr>
      <vt:lpstr>Frequency-Based Replacement</vt:lpstr>
      <vt:lpstr>7. RAID(独立磁盘冗余阵列)</vt:lpstr>
      <vt:lpstr>RAID(独立磁盘冗余阵列)</vt:lpstr>
      <vt:lpstr>RAID Level 0</vt:lpstr>
      <vt:lpstr>RAID Level 1</vt:lpstr>
      <vt:lpstr>RAID Level 2</vt:lpstr>
      <vt:lpstr>RAID Level 3</vt:lpstr>
      <vt:lpstr>RAID Level 4</vt:lpstr>
      <vt:lpstr>RAID Level 5</vt:lpstr>
      <vt:lpstr>RAID Level 6</vt:lpstr>
      <vt:lpstr>RAID Levels</vt:lpstr>
      <vt:lpstr>Quiz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yang li</cp:lastModifiedBy>
  <cp:revision>699</cp:revision>
  <dcterms:created xsi:type="dcterms:W3CDTF">2020-02-20T05:29:15Z</dcterms:created>
  <dcterms:modified xsi:type="dcterms:W3CDTF">2026-06-02T03:28:24Z</dcterms:modified>
</cp:coreProperties>
</file>