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51"/>
  </p:notesMasterIdLst>
  <p:sldIdLst>
    <p:sldId id="386" r:id="rId2"/>
    <p:sldId id="387" r:id="rId3"/>
    <p:sldId id="327" r:id="rId4"/>
    <p:sldId id="328" r:id="rId5"/>
    <p:sldId id="329" r:id="rId6"/>
    <p:sldId id="330" r:id="rId7"/>
    <p:sldId id="394" r:id="rId8"/>
    <p:sldId id="331" r:id="rId9"/>
    <p:sldId id="395" r:id="rId10"/>
    <p:sldId id="332" r:id="rId11"/>
    <p:sldId id="333" r:id="rId12"/>
    <p:sldId id="334" r:id="rId13"/>
    <p:sldId id="335" r:id="rId14"/>
    <p:sldId id="337" r:id="rId15"/>
    <p:sldId id="389" r:id="rId16"/>
    <p:sldId id="396" r:id="rId17"/>
    <p:sldId id="338" r:id="rId18"/>
    <p:sldId id="339" r:id="rId19"/>
    <p:sldId id="390" r:id="rId20"/>
    <p:sldId id="388" r:id="rId21"/>
    <p:sldId id="343" r:id="rId22"/>
    <p:sldId id="397" r:id="rId23"/>
    <p:sldId id="345" r:id="rId24"/>
    <p:sldId id="346" r:id="rId25"/>
    <p:sldId id="391" r:id="rId26"/>
    <p:sldId id="398" r:id="rId27"/>
    <p:sldId id="392" r:id="rId28"/>
    <p:sldId id="349" r:id="rId29"/>
    <p:sldId id="350" r:id="rId30"/>
    <p:sldId id="351" r:id="rId31"/>
    <p:sldId id="352" r:id="rId32"/>
    <p:sldId id="353" r:id="rId33"/>
    <p:sldId id="399" r:id="rId34"/>
    <p:sldId id="373" r:id="rId35"/>
    <p:sldId id="354" r:id="rId36"/>
    <p:sldId id="355" r:id="rId37"/>
    <p:sldId id="357" r:id="rId38"/>
    <p:sldId id="359" r:id="rId39"/>
    <p:sldId id="393" r:id="rId40"/>
    <p:sldId id="361" r:id="rId41"/>
    <p:sldId id="363" r:id="rId42"/>
    <p:sldId id="366" r:id="rId43"/>
    <p:sldId id="367" r:id="rId44"/>
    <p:sldId id="368" r:id="rId45"/>
    <p:sldId id="369" r:id="rId46"/>
    <p:sldId id="372" r:id="rId47"/>
    <p:sldId id="400" r:id="rId48"/>
    <p:sldId id="401" r:id="rId49"/>
    <p:sldId id="402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5" autoAdjust="0"/>
    <p:restoredTop sz="88993" autoAdjust="0"/>
  </p:normalViewPr>
  <p:slideViewPr>
    <p:cSldViewPr snapToGrid="0">
      <p:cViewPr varScale="1">
        <p:scale>
          <a:sx n="127" d="100"/>
          <a:sy n="12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69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2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53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63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473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65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62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57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5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E119-DF05-436F-96BD-DC6A42BA136E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459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/40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1879601" y="6356352"/>
            <a:ext cx="843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Concurrency: Deadlock and Starvation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E0B91B0C-9005-4F3C-AFC7-BED016BC6699}" type="datetime1">
              <a:rPr lang="zh-CN" altLang="en-US" smtClean="0"/>
              <a:t>2026/5/12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020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EC51-017D-44DC-A212-348172845BE1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50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46245-EC3C-492E-9194-FEA3C140D016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796-3839-45F5-BDBF-12EC889BF34D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00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6BC60-3F34-4398-A309-9743BF14DC6D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9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C30450D4-B383-49E2-BB4C-14049C2142C5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83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2145-CB8E-4577-8606-477DF885BFA6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37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5CAA-38DD-46AD-B61A-72AD9F866F60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2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3D970-801C-4674-9382-9B28E5016859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112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0155-C2F6-44A4-9715-49E0A7AED7A2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6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F08B7-C070-45B8-ACAE-9A320036F3B7}" type="datetime1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1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ng23@sw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0F020E3-DBF1-4524-ACC1-A4EAF25A4641}"/>
              </a:ext>
            </a:extLst>
          </p:cNvPr>
          <p:cNvSpPr/>
          <p:nvPr/>
        </p:nvSpPr>
        <p:spPr>
          <a:xfrm>
            <a:off x="875558" y="1041399"/>
            <a:ext cx="10440884" cy="1953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813336" y="1041400"/>
            <a:ext cx="10565328" cy="19532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6000" dirty="0">
                <a:solidFill>
                  <a:schemeClr val="accent1"/>
                </a:solidFill>
              </a:rPr>
              <a:t>Concurrency: </a:t>
            </a:r>
          </a:p>
          <a:p>
            <a:r>
              <a:rPr lang="en-US" altLang="zh-CN" sz="6000" dirty="0">
                <a:solidFill>
                  <a:schemeClr val="accent1"/>
                </a:solidFill>
              </a:rPr>
              <a:t>Deadlock and Starvation</a:t>
            </a:r>
            <a:endParaRPr lang="zh-CN" altLang="en-US" sz="6000" dirty="0">
              <a:solidFill>
                <a:schemeClr val="accent1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97EA9A9-A80E-4CA5-A659-E3C2DCBB225C}"/>
              </a:ext>
            </a:extLst>
          </p:cNvPr>
          <p:cNvSpPr txBox="1">
            <a:spLocks/>
          </p:cNvSpPr>
          <p:nvPr/>
        </p:nvSpPr>
        <p:spPr>
          <a:xfrm>
            <a:off x="2701835" y="3381990"/>
            <a:ext cx="6858000" cy="2487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35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Lecturer: Li Yang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Contact: 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liyang23@swjtu.edu.cn</a:t>
            </a:r>
            <a:endParaRPr lang="en-US" altLang="zh-CN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Office: X31506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QQ Group No.</a:t>
            </a:r>
            <a:r>
              <a:rPr lang="zh-CN" altLang="en-US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733269440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Faculty: Computer and AI</a:t>
            </a:r>
            <a:endParaRPr lang="zh-CN" altLang="en-US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94416-59F5-4D0E-B202-5AAF5D9D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utline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07CCAF-2F8E-4CB9-B2E0-A930AFAC5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rinciples of Deadlock</a:t>
            </a:r>
          </a:p>
          <a:p>
            <a:r>
              <a:rPr lang="en-US" dirty="0"/>
              <a:t>Deadlock Prevention</a:t>
            </a:r>
          </a:p>
          <a:p>
            <a:r>
              <a:rPr lang="en-US" dirty="0"/>
              <a:t>Deadlock Avoidance</a:t>
            </a:r>
          </a:p>
          <a:p>
            <a:r>
              <a:rPr lang="en-US" dirty="0"/>
              <a:t>Deadlock Detection</a:t>
            </a:r>
          </a:p>
          <a:p>
            <a:r>
              <a:rPr lang="en-US" dirty="0"/>
              <a:t>Dining Philosophers Problem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C2DD2-914A-430C-B13B-A01BC4F4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</a:t>
            </a:fld>
            <a:r>
              <a:rPr lang="en-US" dirty="0"/>
              <a:t>/40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04449A-5032-4F34-AF7F-46B867ED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21B07-EAEC-48AA-A28B-14945BDFCC42}" type="datetime1">
              <a:rPr lang="zh-CN" altLang="en-US" smtClean="0"/>
              <a:t>2026/5/12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82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Deadlock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Definition: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The permanent</a:t>
            </a:r>
            <a:r>
              <a:rPr lang="zh-CN" altLang="en-US" dirty="0">
                <a:solidFill>
                  <a:srgbClr val="C00000"/>
                </a:solidFill>
              </a:rPr>
              <a:t>（永久）</a:t>
            </a:r>
            <a:r>
              <a:rPr lang="en-US" altLang="zh-CN" dirty="0">
                <a:solidFill>
                  <a:srgbClr val="C00000"/>
                </a:solidFill>
              </a:rPr>
              <a:t> blocking </a:t>
            </a:r>
            <a:r>
              <a:rPr lang="en-US" altLang="zh-CN" dirty="0"/>
              <a:t>of a set of processes since </a:t>
            </a:r>
            <a:r>
              <a:rPr lang="en-US" altLang="zh-CN" dirty="0">
                <a:solidFill>
                  <a:srgbClr val="0070C0"/>
                </a:solidFill>
              </a:rPr>
              <a:t>competing</a:t>
            </a:r>
            <a:r>
              <a:rPr lang="en-US" altLang="zh-CN" dirty="0"/>
              <a:t> for system resources or </a:t>
            </a:r>
            <a:r>
              <a:rPr lang="en-US" altLang="zh-CN" dirty="0">
                <a:solidFill>
                  <a:srgbClr val="0070C0"/>
                </a:solidFill>
              </a:rPr>
              <a:t>communicate</a:t>
            </a:r>
            <a:r>
              <a:rPr lang="en-US" altLang="zh-CN" dirty="0"/>
              <a:t> with each other</a:t>
            </a:r>
          </a:p>
          <a:p>
            <a:endParaRPr lang="en-US" altLang="zh-CN" dirty="0"/>
          </a:p>
          <a:p>
            <a:r>
              <a:rPr lang="en-US" altLang="zh-CN" dirty="0"/>
              <a:t> Each process in the set is </a:t>
            </a:r>
            <a:r>
              <a:rPr lang="en-US" altLang="zh-CN" dirty="0">
                <a:solidFill>
                  <a:srgbClr val="C00000"/>
                </a:solidFill>
              </a:rPr>
              <a:t>blocked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awaiting</a:t>
            </a:r>
            <a:r>
              <a:rPr lang="en-US" altLang="zh-CN" dirty="0"/>
              <a:t> an event that can only be </a:t>
            </a:r>
            <a:r>
              <a:rPr lang="en-US" altLang="zh-CN" dirty="0">
                <a:solidFill>
                  <a:srgbClr val="C00000"/>
                </a:solidFill>
              </a:rPr>
              <a:t>triggered</a:t>
            </a:r>
            <a:r>
              <a:rPr lang="en-US" altLang="zh-CN" dirty="0"/>
              <a:t> by another blocked process in the set</a:t>
            </a:r>
          </a:p>
          <a:p>
            <a:endParaRPr lang="en-US" altLang="zh-CN" dirty="0"/>
          </a:p>
          <a:p>
            <a:r>
              <a:rPr lang="en-US" altLang="zh-CN" dirty="0"/>
              <a:t> No efficient solution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FCA115-77BA-4763-8932-3D79C3F9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50927-4F8B-4C1F-906C-48239B04DDF9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B87EEB-473C-4414-9030-48824F7B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37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7313523-BEBE-4703-B23C-308BE6451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rule of the road in the United States is that a </a:t>
            </a:r>
            <a:r>
              <a:rPr lang="en-US" sz="2400" b="1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car at a four-way stop </a:t>
            </a:r>
            <a:r>
              <a:rPr lang="en-US" sz="24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should </a:t>
            </a:r>
            <a:r>
              <a:rPr lang="en-US" sz="2400" b="1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defer to a car immediately to its right</a:t>
            </a:r>
            <a:r>
              <a:rPr lang="en-US" sz="24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endParaRPr lang="en-US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7FA9863-FFE6-4BB5-B4E0-3DBA8CA9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186" y="1782493"/>
            <a:ext cx="3694336" cy="371349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Potential Deadlock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D94673-8574-484E-8337-DE0821C37F79}"/>
              </a:ext>
            </a:extLst>
          </p:cNvPr>
          <p:cNvSpPr txBox="1"/>
          <p:nvPr/>
        </p:nvSpPr>
        <p:spPr>
          <a:xfrm>
            <a:off x="2129051" y="1931158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 need to cross c and 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7982DF-D88C-4226-9C1D-8B86D23C82AB}"/>
              </a:ext>
            </a:extLst>
          </p:cNvPr>
          <p:cNvSpPr txBox="1"/>
          <p:nvPr/>
        </p:nvSpPr>
        <p:spPr>
          <a:xfrm>
            <a:off x="2129050" y="4560627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 need to cross d and 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187428-4091-444D-8855-56C8C0B4956B}"/>
              </a:ext>
            </a:extLst>
          </p:cNvPr>
          <p:cNvSpPr txBox="1"/>
          <p:nvPr/>
        </p:nvSpPr>
        <p:spPr>
          <a:xfrm>
            <a:off x="6437125" y="1931158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 need to cross B and 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BD6BAB-4561-4AD9-AE72-B947E507E036}"/>
              </a:ext>
            </a:extLst>
          </p:cNvPr>
          <p:cNvSpPr txBox="1"/>
          <p:nvPr/>
        </p:nvSpPr>
        <p:spPr>
          <a:xfrm>
            <a:off x="6669206" y="4560626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 need to cross a and b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488FB37-F853-439C-8507-EF55CC0E6BA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647365" y="2392823"/>
            <a:ext cx="1430240" cy="106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917D13A-6093-45D6-9FE4-B27E9D1FC0D5}"/>
              </a:ext>
            </a:extLst>
          </p:cNvPr>
          <p:cNvCxnSpPr>
            <a:cxnSpLocks/>
          </p:cNvCxnSpPr>
          <p:nvPr/>
        </p:nvCxnSpPr>
        <p:spPr>
          <a:xfrm flipH="1">
            <a:off x="6741994" y="2365187"/>
            <a:ext cx="1140158" cy="5554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C4D3115-3A9B-4EF6-81C6-219F4FC8DC44}"/>
              </a:ext>
            </a:extLst>
          </p:cNvPr>
          <p:cNvCxnSpPr>
            <a:cxnSpLocks/>
          </p:cNvCxnSpPr>
          <p:nvPr/>
        </p:nvCxnSpPr>
        <p:spPr>
          <a:xfrm flipV="1">
            <a:off x="3471331" y="4012442"/>
            <a:ext cx="1098770" cy="6025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25198AE-B1C6-4778-8276-7C2FFD87D4C6}"/>
              </a:ext>
            </a:extLst>
          </p:cNvPr>
          <p:cNvCxnSpPr>
            <a:cxnSpLocks/>
          </p:cNvCxnSpPr>
          <p:nvPr/>
        </p:nvCxnSpPr>
        <p:spPr>
          <a:xfrm flipH="1" flipV="1">
            <a:off x="6230203" y="4313725"/>
            <a:ext cx="1548770" cy="3012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日期占位符 16">
            <a:extLst>
              <a:ext uri="{FF2B5EF4-FFF2-40B4-BE49-F238E27FC236}">
                <a16:creationId xmlns:a16="http://schemas.microsoft.com/office/drawing/2014/main" id="{22E99B3D-5297-4F2C-8894-AE8BF281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7152-0999-4F04-AE40-7CE895746C75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0DBF3CEE-3CE0-4E37-BD97-C1B0B249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1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90D4BB6-C4D7-4835-A743-32C827F4A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Each car seizes one resource </a:t>
            </a:r>
            <a:r>
              <a:rPr lang="en-US" dirty="0"/>
              <a:t>(one quadrant) but cannot proceed because the required second resource has already been seized by another car. </a:t>
            </a:r>
          </a:p>
          <a:p>
            <a:r>
              <a:rPr lang="en-US" dirty="0"/>
              <a:t>This is an actual deadlock.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15C564F-3FA1-419F-ADD8-5C811D69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698" y="1870382"/>
            <a:ext cx="4130219" cy="41130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Actual Deadlock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52283C-A871-470D-AE1C-851DBA96B73B}"/>
              </a:ext>
            </a:extLst>
          </p:cNvPr>
          <p:cNvSpPr txBox="1"/>
          <p:nvPr/>
        </p:nvSpPr>
        <p:spPr>
          <a:xfrm>
            <a:off x="4667636" y="2542263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HALT until d is free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026E1-7AF0-4CE8-8E9C-684C6888B362}"/>
              </a:ext>
            </a:extLst>
          </p:cNvPr>
          <p:cNvSpPr txBox="1"/>
          <p:nvPr/>
        </p:nvSpPr>
        <p:spPr>
          <a:xfrm>
            <a:off x="8859773" y="4917840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HALT until b is free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FCDC61-58D4-4AF4-A1D6-A6787C31E345}"/>
              </a:ext>
            </a:extLst>
          </p:cNvPr>
          <p:cNvSpPr txBox="1"/>
          <p:nvPr/>
        </p:nvSpPr>
        <p:spPr>
          <a:xfrm>
            <a:off x="4802953" y="4917841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HALT until a is free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24FFAB-4D2D-42B6-89FC-8B8D11FE1E13}"/>
              </a:ext>
            </a:extLst>
          </p:cNvPr>
          <p:cNvSpPr txBox="1"/>
          <p:nvPr/>
        </p:nvSpPr>
        <p:spPr>
          <a:xfrm>
            <a:off x="8734669" y="2542263"/>
            <a:ext cx="3036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HALT until c is free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480DC36-D1B7-4466-A5FD-35BF3D2AE65F}"/>
              </a:ext>
            </a:extLst>
          </p:cNvPr>
          <p:cNvCxnSpPr>
            <a:cxnSpLocks/>
          </p:cNvCxnSpPr>
          <p:nvPr/>
        </p:nvCxnSpPr>
        <p:spPr>
          <a:xfrm>
            <a:off x="6101693" y="3001247"/>
            <a:ext cx="1472916" cy="527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02D6E2D-BCE0-43BF-A48B-3EB102C9DA18}"/>
              </a:ext>
            </a:extLst>
          </p:cNvPr>
          <p:cNvCxnSpPr>
            <a:cxnSpLocks/>
          </p:cNvCxnSpPr>
          <p:nvPr/>
        </p:nvCxnSpPr>
        <p:spPr>
          <a:xfrm flipH="1">
            <a:off x="8859773" y="3001247"/>
            <a:ext cx="1004153" cy="527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877164-0F3C-4110-BD62-708266EEF372}"/>
              </a:ext>
            </a:extLst>
          </p:cNvPr>
          <p:cNvCxnSpPr>
            <a:cxnSpLocks/>
          </p:cNvCxnSpPr>
          <p:nvPr/>
        </p:nvCxnSpPr>
        <p:spPr>
          <a:xfrm flipV="1">
            <a:off x="6321266" y="4361725"/>
            <a:ext cx="1107908" cy="5561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02851E8-53DF-4E04-9B3A-9A06349502F6}"/>
              </a:ext>
            </a:extLst>
          </p:cNvPr>
          <p:cNvCxnSpPr>
            <a:cxnSpLocks/>
          </p:cNvCxnSpPr>
          <p:nvPr/>
        </p:nvCxnSpPr>
        <p:spPr>
          <a:xfrm flipH="1" flipV="1">
            <a:off x="8577936" y="4393378"/>
            <a:ext cx="1222323" cy="5754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日期占位符 17">
            <a:extLst>
              <a:ext uri="{FF2B5EF4-FFF2-40B4-BE49-F238E27FC236}">
                <a16:creationId xmlns:a16="http://schemas.microsoft.com/office/drawing/2014/main" id="{B7F1F047-FF28-452B-8C0A-AC467B9C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4A57-67F3-4B1C-A86F-F1A1C86CED24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4832F07C-E1A2-4857-B524-872C0AF2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78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Deadlock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326F898-0018-4538-BAF4-C9B8863BF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1103"/>
            <a:ext cx="10481109" cy="5175794"/>
          </a:xfrm>
        </p:spPr>
        <p:txBody>
          <a:bodyPr/>
          <a:lstStyle/>
          <a:p>
            <a:r>
              <a:rPr lang="en-US" dirty="0"/>
              <a:t>illustrates the progress of two processes competing for two resources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1BB5E1-9E72-4A19-B45B-6BE5E5D8D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986" y="1600708"/>
            <a:ext cx="5021987" cy="4184990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0CFB470D-B738-4D7B-82E5-3A37460C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21E4-BF41-4195-ACF1-CA044194136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41FDD99-49B8-465C-9237-D1637E83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4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Joint Progress Diagram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联合进程图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203B73-4BFD-4215-A2A1-8127ED402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310" y="812455"/>
            <a:ext cx="6708430" cy="5513779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0CFB470D-B738-4D7B-82E5-3A37460C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21E4-BF41-4195-ACF1-CA044194136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41FDD99-49B8-465C-9237-D1637E83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7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21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Deadlock Example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CE1943F-59D9-45A4-95A5-2BCD5A9E0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471484" cy="5175794"/>
          </a:xfrm>
        </p:spPr>
        <p:txBody>
          <a:bodyPr/>
          <a:lstStyle/>
          <a:p>
            <a:r>
              <a:rPr lang="en-US" dirty="0"/>
              <a:t>Whether or not deadlock occurs depends on both the </a:t>
            </a:r>
            <a:r>
              <a:rPr lang="en-US" dirty="0">
                <a:solidFill>
                  <a:srgbClr val="FF0000"/>
                </a:solidFill>
              </a:rPr>
              <a:t>dynamics of the execution </a:t>
            </a:r>
            <a:r>
              <a:rPr lang="en-US" dirty="0"/>
              <a:t>and on the </a:t>
            </a:r>
            <a:r>
              <a:rPr lang="en-US" dirty="0">
                <a:solidFill>
                  <a:srgbClr val="FF0000"/>
                </a:solidFill>
              </a:rPr>
              <a:t>details of the application</a:t>
            </a:r>
            <a:r>
              <a:rPr lang="en-US" dirty="0"/>
              <a:t>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187187C-6383-428D-8048-3330AE2D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22" y="1760511"/>
            <a:ext cx="4858610" cy="4067673"/>
          </a:xfrm>
          <a:prstGeom prst="rect">
            <a:avLst/>
          </a:prstGeom>
        </p:spPr>
      </p:pic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71B0D04A-F28C-497F-89EB-F6E19353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6336-BCCE-4655-8EDB-99A58C2BCBDA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F052F0A-07E3-42FE-BF42-1441DE60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8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4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Joint Progress Diagram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联合进程图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71B0D04A-F28C-497F-89EB-F6E19353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6336-BCCE-4655-8EDB-99A58C2BCBDA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F052F0A-07E3-42FE-BF42-1441DE60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9</a:t>
            </a:fld>
            <a:r>
              <a:rPr lang="en-US"/>
              <a:t>/40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0F2219-A995-274B-8007-FF7EB61B7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27" y="892208"/>
            <a:ext cx="7405689" cy="50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5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Resource Categories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Reusable</a:t>
            </a:r>
          </a:p>
          <a:p>
            <a:pPr lvl="1"/>
            <a:r>
              <a:rPr lang="en-US" altLang="zh-CN" dirty="0"/>
              <a:t>can be safely used by only one process at a time and is </a:t>
            </a:r>
            <a:r>
              <a:rPr lang="en-US" altLang="zh-CN" dirty="0">
                <a:solidFill>
                  <a:srgbClr val="FF0000"/>
                </a:solidFill>
              </a:rPr>
              <a:t>not deleted </a:t>
            </a:r>
            <a:r>
              <a:rPr lang="en-US" altLang="zh-CN" dirty="0"/>
              <a:t>by that use</a:t>
            </a:r>
          </a:p>
          <a:p>
            <a:pPr lvl="1"/>
            <a:r>
              <a:rPr lang="en-US" altLang="zh-CN" dirty="0"/>
              <a:t>processors, I/O channels, main and secondary memory, devices, files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Consumable</a:t>
            </a:r>
          </a:p>
          <a:p>
            <a:pPr lvl="1"/>
            <a:r>
              <a:rPr lang="en-US" altLang="zh-CN" dirty="0"/>
              <a:t>one that can be </a:t>
            </a:r>
            <a:r>
              <a:rPr lang="en-US" altLang="zh-CN" dirty="0">
                <a:solidFill>
                  <a:srgbClr val="FF0000"/>
                </a:solidFill>
              </a:rPr>
              <a:t>created</a:t>
            </a:r>
            <a:r>
              <a:rPr lang="en-US" altLang="zh-CN" dirty="0"/>
              <a:t> (produced) and </a:t>
            </a:r>
            <a:r>
              <a:rPr lang="en-US" altLang="zh-CN" dirty="0">
                <a:solidFill>
                  <a:srgbClr val="FF0000"/>
                </a:solidFill>
              </a:rPr>
              <a:t>destroyed</a:t>
            </a:r>
            <a:r>
              <a:rPr lang="en-US" altLang="zh-CN" dirty="0"/>
              <a:t> (consumed)</a:t>
            </a:r>
          </a:p>
          <a:p>
            <a:pPr lvl="1"/>
            <a:r>
              <a:rPr lang="en-US" altLang="zh-CN" dirty="0"/>
              <a:t>interrupts, signals, messages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B2FF7F-10E3-4BF5-8AFE-C1B1456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48B5-471C-42B7-BCD0-671FB2C17135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6532F6-C45D-4CD0-ABAC-3BA6935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10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 1: reusable resource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7CEE46-B9C4-4700-AAE2-D2E3E7F3A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disk file D and a tape drive 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2F37A6-01FF-4B68-9A28-E26AC9E20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10" y="1473131"/>
            <a:ext cx="9622427" cy="37834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7EFA67A-9B02-4E73-821B-CECAD9A6BBD4}"/>
              </a:ext>
            </a:extLst>
          </p:cNvPr>
          <p:cNvSpPr txBox="1"/>
          <p:nvPr/>
        </p:nvSpPr>
        <p:spPr>
          <a:xfrm>
            <a:off x="2487567" y="5711701"/>
            <a:ext cx="8231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While execute p0 p1 q0 q1 p2 q2</a:t>
            </a:r>
            <a:r>
              <a:rPr lang="zh-CN" altLang="en-US" sz="2400" b="1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400" b="1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deadlock or not?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814D68-31E2-4369-B30C-18DEFAC1036A}"/>
              </a:ext>
            </a:extLst>
          </p:cNvPr>
          <p:cNvSpPr txBox="1"/>
          <p:nvPr/>
        </p:nvSpPr>
        <p:spPr>
          <a:xfrm>
            <a:off x="3984171" y="52002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Processes Competing for Reusable Resources</a:t>
            </a:r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1D3B64D7-74FA-4D48-947A-DEFFE63D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1203-8CA1-400B-ABB7-FE361A54DA3C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B23FD675-2BD0-4C5C-84BC-E72008B6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11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3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Space is available for allocation of 200Kbytes, and the following sequence of events occur: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Deadlock or not? R1(p1), R1(p2), R2(p2), R2(p1)?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 2: Memory Request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27A6309-44DD-483B-8954-176E78738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774" y="1748972"/>
            <a:ext cx="6240451" cy="2490107"/>
          </a:xfrm>
          <a:prstGeom prst="rect">
            <a:avLst/>
          </a:prstGeom>
        </p:spPr>
      </p:pic>
      <p:sp>
        <p:nvSpPr>
          <p:cNvPr id="18" name="日期占位符 17">
            <a:extLst>
              <a:ext uri="{FF2B5EF4-FFF2-40B4-BE49-F238E27FC236}">
                <a16:creationId xmlns:a16="http://schemas.microsoft.com/office/drawing/2014/main" id="{F215FD0C-44DD-4790-B469-DF5BE1D9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F912-3B27-45A9-A88E-A0E2B1810AD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BFB1A8F5-2687-48F5-9133-C303976C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12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54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Consumable Resources Deadlock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Consider a  pair of processes, in which each process attempts to </a:t>
            </a:r>
            <a:r>
              <a:rPr lang="en-US" altLang="zh-CN" dirty="0">
                <a:solidFill>
                  <a:srgbClr val="FF0000"/>
                </a:solidFill>
              </a:rPr>
              <a:t>receive a message</a:t>
            </a:r>
            <a:r>
              <a:rPr lang="en-US" altLang="zh-CN" dirty="0"/>
              <a:t> from the other process and then send a message to the other process: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Deadlock occurs if the </a:t>
            </a:r>
            <a:r>
              <a:rPr lang="en-US" altLang="zh-CN" dirty="0">
                <a:solidFill>
                  <a:srgbClr val="FF0000"/>
                </a:solidFill>
              </a:rPr>
              <a:t>Receive is blocking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415B9A-C153-46B8-B619-B680EB5D6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58" y="2124081"/>
            <a:ext cx="4807971" cy="2181077"/>
          </a:xfrm>
          <a:prstGeom prst="rect">
            <a:avLst/>
          </a:prstGeom>
        </p:spPr>
      </p:pic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AF17CA-824E-45FC-A0FB-2FBAE371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76A5-A84D-4F72-ACDD-4620280868B5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EF97FBB-CC23-4C7A-9D93-2A40E953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13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1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FDD644-516C-49DC-AC0A-1A36ECF49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useful tool in </a:t>
            </a:r>
            <a:r>
              <a:rPr lang="en-US" dirty="0">
                <a:solidFill>
                  <a:srgbClr val="FF0000"/>
                </a:solidFill>
              </a:rPr>
              <a:t>characterizing the allocation of resources </a:t>
            </a:r>
            <a:r>
              <a:rPr lang="en-US" dirty="0"/>
              <a:t>to processes is the resource allocation graph</a:t>
            </a:r>
          </a:p>
          <a:p>
            <a:endParaRPr lang="en-US" dirty="0"/>
          </a:p>
          <a:p>
            <a:r>
              <a:rPr lang="en-US" dirty="0"/>
              <a:t>The resource allocation graph is a </a:t>
            </a:r>
            <a:r>
              <a:rPr lang="en-US" dirty="0">
                <a:solidFill>
                  <a:srgbClr val="FF0000"/>
                </a:solidFill>
              </a:rPr>
              <a:t>directed graph </a:t>
            </a:r>
            <a:r>
              <a:rPr lang="en-US" dirty="0"/>
              <a:t>that depicts a state of the system of resources and processes, with each process and each resource represented by a node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Resource Allocation Graphs</a:t>
            </a:r>
            <a:endParaRPr lang="zh-CN" altLang="en-US" dirty="0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806C4044-3D77-401D-AFAC-3B4C772A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4F976-E1A2-4803-8840-58FCE7B351B8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1F61A0DC-ABC1-4C24-A0B7-E184F824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14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24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8BF77-A841-433D-933C-470ED1EF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Allocation Graphs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5ED4B-1D3A-46CF-A434-B7AA4D8F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9E8BB-C8D3-468D-A6DC-9A6D8DD0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B6A8E0-63E9-4FAD-991B-6988DE34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7977-182B-4467-BB15-1EADBA641075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C92795-26F2-4543-802F-BDD3077A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3" y="2605972"/>
            <a:ext cx="9833851" cy="15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4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8BF77-A841-433D-933C-470ED1EF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Allocation Graphs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5ED4B-1D3A-46CF-A434-B7AA4D8F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9E8BB-C8D3-468D-A6DC-9A6D8DD0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B6A8E0-63E9-4FAD-991B-6988DE34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7977-182B-4467-BB15-1EADBA641075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0E6706-E0BE-4BB0-8916-7C9D42AED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19" y="906791"/>
            <a:ext cx="10118237" cy="500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82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Resource Allocation Graphs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EAC072-49E3-4648-A56A-E3ED9A14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Circular wait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循环等待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dirty="0"/>
              <a:t>. A closed chain of processes exists, such that </a:t>
            </a:r>
            <a:r>
              <a:rPr lang="en-US" dirty="0">
                <a:solidFill>
                  <a:srgbClr val="FF0000"/>
                </a:solidFill>
              </a:rPr>
              <a:t>each process holds at least one resource needed by the next process </a:t>
            </a:r>
            <a:r>
              <a:rPr lang="en-US" dirty="0"/>
              <a:t>in the chain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1FE8E6-8A9C-4429-9DF3-2897F9AE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443" y="2065309"/>
            <a:ext cx="6106270" cy="32968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E16FE2-AB13-414D-9D8E-4C56D74D26EA}"/>
              </a:ext>
            </a:extLst>
          </p:cNvPr>
          <p:cNvSpPr txBox="1"/>
          <p:nvPr/>
        </p:nvSpPr>
        <p:spPr>
          <a:xfrm>
            <a:off x="3890087" y="5421151"/>
            <a:ext cx="5161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Resource Allocation Graph for Figure 6.1b</a:t>
            </a:r>
            <a:endParaRPr lang="en-US" dirty="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6E62858D-64B5-41E2-A473-15B48433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9B8F8-FFBD-44D6-9199-17641788B43A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FAA51FFD-6C03-49D6-88FD-EE4E7D3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17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46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Conditions for Deadlock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5878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Necessary Conditions</a:t>
            </a:r>
            <a:r>
              <a:rPr lang="zh-CN" altLang="en-US" dirty="0">
                <a:solidFill>
                  <a:srgbClr val="FF0000"/>
                </a:solidFill>
              </a:rPr>
              <a:t> （必要条件）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for a deadlock: </a:t>
            </a:r>
          </a:p>
          <a:p>
            <a:r>
              <a:rPr lang="en-US" altLang="zh-CN" dirty="0"/>
              <a:t>Mutual Exclusion</a:t>
            </a:r>
          </a:p>
          <a:p>
            <a:pPr lvl="1"/>
            <a:r>
              <a:rPr lang="en-US" altLang="zh-CN" dirty="0"/>
              <a:t>only one process may use a resource at a time</a:t>
            </a:r>
          </a:p>
          <a:p>
            <a:r>
              <a:rPr lang="en-US" altLang="zh-CN" dirty="0"/>
              <a:t>Hold and Wait</a:t>
            </a:r>
          </a:p>
          <a:p>
            <a:pPr lvl="1"/>
            <a:r>
              <a:rPr lang="en-US" altLang="zh-CN" dirty="0"/>
              <a:t>a process may </a:t>
            </a:r>
            <a:r>
              <a:rPr lang="en-US" altLang="zh-CN" dirty="0">
                <a:solidFill>
                  <a:srgbClr val="FF0000"/>
                </a:solidFill>
              </a:rPr>
              <a:t>hold allocated resources </a:t>
            </a:r>
            <a:r>
              <a:rPr lang="en-US" altLang="zh-CN" dirty="0"/>
              <a:t>while awaiting assignment of others</a:t>
            </a:r>
          </a:p>
          <a:p>
            <a:r>
              <a:rPr lang="en-US" altLang="zh-CN" dirty="0"/>
              <a:t>No Preemption</a:t>
            </a:r>
          </a:p>
          <a:p>
            <a:pPr lvl="1"/>
            <a:r>
              <a:rPr lang="en-US" altLang="zh-CN" dirty="0"/>
              <a:t>no resource can be forcibly removed from a process holding it</a:t>
            </a:r>
          </a:p>
          <a:p>
            <a:pPr lvl="1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B12261-5C4E-4FF4-9BB4-AE799481A5E9}"/>
              </a:ext>
            </a:extLst>
          </p:cNvPr>
          <p:cNvSpPr txBox="1"/>
          <p:nvPr/>
        </p:nvSpPr>
        <p:spPr>
          <a:xfrm>
            <a:off x="916011" y="3729931"/>
            <a:ext cx="10237094" cy="2007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>
              <a:lnSpc>
                <a:spcPct val="90000"/>
              </a:lnSpc>
              <a:spcBef>
                <a:spcPts val="750"/>
              </a:spcBef>
            </a:pPr>
            <a:r>
              <a:rPr lang="en-US" altLang="zh-CN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Sufficient Condition</a:t>
            </a:r>
            <a:r>
              <a:rPr lang="zh-CN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充分条件</a:t>
            </a:r>
            <a:r>
              <a:rPr lang="en-US" altLang="zh-CN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for a deadlock: </a:t>
            </a:r>
          </a:p>
          <a:p>
            <a:pPr marL="171450" marR="0" lvl="0" indent="-171450" algn="just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Above</a:t>
            </a:r>
            <a:r>
              <a:rPr lang="zh-CN" altLang="en-US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three</a:t>
            </a:r>
            <a:r>
              <a:rPr lang="zh-CN" altLang="en-US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conditions,</a:t>
            </a:r>
            <a:r>
              <a:rPr lang="zh-CN" altLang="en-US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Circular Wait</a:t>
            </a:r>
          </a:p>
          <a:p>
            <a:pPr marL="514350" marR="0" lvl="1" indent="-171450" algn="just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 closed chain of processes exists, such that each process holds at least one resource needed by the next process in the chain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2524A07D-D13A-4C3B-8DFD-3F791927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AF60-7D97-4FD6-BDE0-F1BA220CFFF6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A09A6BD-1BA6-4CF5-9B8D-F9D3F518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18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17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6AC6F-4AB6-45DB-93A4-98B83EBA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Conditions for Deadlock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852A3-8BA3-42D8-95F4-55AB23BF4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6F4452-A057-4EEF-9541-1F4FE45C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19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857EB-DE44-4DBD-96FB-134380FC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AEBD-BF5C-4BC5-AA39-51AE2EC4C4E3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781338-A901-4C49-BE48-60560889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42" y="1776185"/>
            <a:ext cx="9934338" cy="276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58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DF91-7E76-4C5B-8F92-40A29932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Approaches Dealing with Deadlock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CBC82-1376-47EF-B191-4CD01C66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prevention</a:t>
            </a:r>
            <a:r>
              <a:rPr lang="en-US" dirty="0"/>
              <a:t>: Disallow one of the three necessary conditions for deadlock occurrence, or prevent circular wait condition from happening.</a:t>
            </a:r>
          </a:p>
          <a:p>
            <a:endParaRPr lang="en-US" dirty="0"/>
          </a:p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avoidance</a:t>
            </a:r>
            <a:r>
              <a:rPr lang="en-US" dirty="0"/>
              <a:t>: Do not grant a resource request if this allocation might lead to deadlock.</a:t>
            </a:r>
          </a:p>
          <a:p>
            <a:endParaRPr lang="en-US" dirty="0"/>
          </a:p>
          <a:p>
            <a:r>
              <a:rPr lang="en-US" dirty="0"/>
              <a:t>Deadlock </a:t>
            </a:r>
            <a:r>
              <a:rPr lang="en-US" dirty="0">
                <a:solidFill>
                  <a:srgbClr val="FF0000"/>
                </a:solidFill>
              </a:rPr>
              <a:t>detection</a:t>
            </a:r>
            <a:r>
              <a:rPr lang="en-US" dirty="0"/>
              <a:t>: Grant resource requests when possible, but periodically check for the presence of deadlock and take action to recover.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161E80-5444-4983-8FCF-4B77D8F8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20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AED82-780A-4556-8197-55BCBD38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EFB7F-4AC8-4705-AA4B-48C8D833686C}" type="datetime1">
              <a:rPr lang="zh-CN" altLang="en-US" smtClean="0"/>
              <a:t>2026/5/12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967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6.2</a:t>
            </a:r>
            <a:r>
              <a:rPr lang="zh-CN" altLang="en-US" dirty="0"/>
              <a:t> </a:t>
            </a:r>
            <a:r>
              <a:rPr lang="en-US" altLang="zh-CN" dirty="0"/>
              <a:t>Deadlock Prevention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Mutual Exclusion</a:t>
            </a:r>
          </a:p>
          <a:p>
            <a:pPr lvl="1"/>
            <a:r>
              <a:rPr lang="en-US" altLang="zh-CN" sz="2400" dirty="0"/>
              <a:t>In general, the first of the four listed conditions </a:t>
            </a:r>
            <a:r>
              <a:rPr lang="en-US" altLang="zh-CN" sz="2400" dirty="0">
                <a:solidFill>
                  <a:srgbClr val="FF0000"/>
                </a:solidFill>
              </a:rPr>
              <a:t>cannot be disallowed</a:t>
            </a:r>
            <a:r>
              <a:rPr lang="en-US" altLang="zh-CN" sz="2400" dirty="0"/>
              <a:t>.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Hold and Wait</a:t>
            </a:r>
          </a:p>
          <a:p>
            <a:pPr lvl="1"/>
            <a:r>
              <a:rPr lang="en-US" altLang="zh-CN" sz="2400" dirty="0"/>
              <a:t>require that a process </a:t>
            </a:r>
            <a:r>
              <a:rPr lang="en-US" altLang="zh-CN" sz="2400" dirty="0">
                <a:solidFill>
                  <a:srgbClr val="FF0000"/>
                </a:solidFill>
              </a:rPr>
              <a:t>request all of its required resources at one time </a:t>
            </a:r>
            <a:r>
              <a:rPr lang="en-US" altLang="zh-CN" sz="2400" dirty="0"/>
              <a:t>and blocking the process until all requests can be granted simultaneously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Inefficient</a:t>
            </a:r>
            <a:r>
              <a:rPr lang="en-US" altLang="zh-CN" sz="2400" dirty="0"/>
              <a:t>: a long time waiting and some resource may be unused during the allocation</a:t>
            </a:r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E1BDD-4E51-4BB3-92FD-2CCC5760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0D08-7992-4F57-9348-F7080DEE6573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B1E027-E49D-4F6D-BEBF-4D3BF184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21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749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6.2</a:t>
            </a:r>
            <a:r>
              <a:rPr lang="zh-CN" altLang="en-US" dirty="0"/>
              <a:t> </a:t>
            </a:r>
            <a:r>
              <a:rPr lang="en-US" altLang="zh-CN" dirty="0"/>
              <a:t>Deadlock Prevention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No Preemption</a:t>
            </a:r>
          </a:p>
          <a:p>
            <a:pPr lvl="1"/>
            <a:r>
              <a:rPr lang="en-US" altLang="zh-CN" sz="2400" dirty="0"/>
              <a:t>if a process holding certain resources is </a:t>
            </a:r>
            <a:r>
              <a:rPr lang="en-US" altLang="zh-CN" sz="2400" b="1" dirty="0">
                <a:solidFill>
                  <a:srgbClr val="0070C0"/>
                </a:solidFill>
              </a:rPr>
              <a:t>denied</a:t>
            </a:r>
            <a:r>
              <a:rPr lang="en-US" altLang="zh-CN" sz="2400" dirty="0"/>
              <a:t> a further request, that process must </a:t>
            </a:r>
            <a:r>
              <a:rPr lang="en-US" altLang="zh-CN" sz="2400" dirty="0">
                <a:solidFill>
                  <a:srgbClr val="FF0000"/>
                </a:solidFill>
              </a:rPr>
              <a:t>release its original resources </a:t>
            </a:r>
            <a:r>
              <a:rPr lang="en-US" altLang="zh-CN" sz="2400" dirty="0"/>
              <a:t>and request them again</a:t>
            </a:r>
          </a:p>
          <a:p>
            <a:pPr lvl="1"/>
            <a:r>
              <a:rPr lang="en-US" altLang="zh-CN" sz="2400" dirty="0"/>
              <a:t> if a process requests a resource that is currently held by another process, OS</a:t>
            </a:r>
            <a:r>
              <a:rPr lang="en-US" altLang="zh-CN" sz="2400" dirty="0">
                <a:solidFill>
                  <a:srgbClr val="FF0000"/>
                </a:solidFill>
              </a:rPr>
              <a:t> may preempt the second process </a:t>
            </a:r>
            <a:r>
              <a:rPr lang="en-US" altLang="zh-CN" sz="2400" dirty="0"/>
              <a:t>and require it to release its resources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Circular Wait</a:t>
            </a:r>
          </a:p>
          <a:p>
            <a:pPr lvl="1"/>
            <a:r>
              <a:rPr lang="en-US" altLang="zh-CN" sz="2400" dirty="0"/>
              <a:t>define a </a:t>
            </a:r>
            <a:r>
              <a:rPr lang="en-US" altLang="zh-CN" sz="2400" dirty="0">
                <a:solidFill>
                  <a:srgbClr val="FF0000"/>
                </a:solidFill>
              </a:rPr>
              <a:t>linear ordering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of resource types. If a process has been allocated resources of type R, then it may </a:t>
            </a:r>
            <a:r>
              <a:rPr lang="en-US" altLang="zh-CN" sz="2400" dirty="0">
                <a:solidFill>
                  <a:srgbClr val="FF0000"/>
                </a:solidFill>
              </a:rPr>
              <a:t>subsequently request only those resources of types following R in the ordering.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E1BDD-4E51-4BB3-92FD-2CCC5760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0D08-7992-4F57-9348-F7080DEE6573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B1E027-E49D-4F6D-BEBF-4D3BF184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22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32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</a:t>
            </a:r>
            <a:r>
              <a:rPr lang="zh-CN" altLang="en-US" dirty="0"/>
              <a:t> </a:t>
            </a:r>
            <a:r>
              <a:rPr lang="en-US" altLang="zh-CN" dirty="0"/>
              <a:t>Deadlock Avoidance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Deadlock prevent leads to </a:t>
            </a:r>
            <a:r>
              <a:rPr lang="en-US" altLang="zh-CN" dirty="0">
                <a:solidFill>
                  <a:srgbClr val="FF0000"/>
                </a:solidFill>
              </a:rPr>
              <a:t>inefficient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use</a:t>
            </a:r>
            <a:r>
              <a:rPr lang="en-US" altLang="zh-CN" dirty="0"/>
              <a:t> of resource and </a:t>
            </a:r>
            <a:r>
              <a:rPr lang="en-US" altLang="zh-CN" dirty="0">
                <a:solidFill>
                  <a:srgbClr val="FF0000"/>
                </a:solidFill>
              </a:rPr>
              <a:t>inefficient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execution</a:t>
            </a:r>
            <a:r>
              <a:rPr lang="en-US" altLang="zh-CN" dirty="0"/>
              <a:t> of processes.</a:t>
            </a:r>
          </a:p>
          <a:p>
            <a:endParaRPr lang="en-US" altLang="zh-CN" dirty="0"/>
          </a:p>
          <a:p>
            <a:r>
              <a:rPr lang="en-US" altLang="zh-CN" dirty="0"/>
              <a:t> Deadlock avoidance: allows the three necessary conditions but </a:t>
            </a:r>
            <a:r>
              <a:rPr lang="en-US" altLang="zh-CN" dirty="0">
                <a:solidFill>
                  <a:srgbClr val="FF0000"/>
                </a:solidFill>
              </a:rPr>
              <a:t>makes judicious choices </a:t>
            </a:r>
            <a:r>
              <a:rPr lang="en-US" altLang="zh-CN" dirty="0"/>
              <a:t>to assure that the </a:t>
            </a:r>
            <a:r>
              <a:rPr lang="en-US" altLang="zh-CN" dirty="0">
                <a:solidFill>
                  <a:srgbClr val="FF0000"/>
                </a:solidFill>
              </a:rPr>
              <a:t>deadlock point </a:t>
            </a:r>
            <a:r>
              <a:rPr lang="en-US" altLang="zh-CN" dirty="0"/>
              <a:t>is never reached. </a:t>
            </a:r>
          </a:p>
          <a:p>
            <a:endParaRPr lang="en-US" altLang="zh-CN" dirty="0"/>
          </a:p>
          <a:p>
            <a:r>
              <a:rPr lang="en-US" altLang="zh-CN" dirty="0"/>
              <a:t>As such, avoidance </a:t>
            </a:r>
            <a:r>
              <a:rPr lang="en-US" altLang="zh-CN" dirty="0">
                <a:solidFill>
                  <a:srgbClr val="FF0000"/>
                </a:solidFill>
              </a:rPr>
              <a:t>allows more concurrency </a:t>
            </a:r>
            <a:r>
              <a:rPr lang="en-US" altLang="zh-CN" dirty="0"/>
              <a:t>than prevention.</a:t>
            </a:r>
          </a:p>
          <a:p>
            <a:endParaRPr lang="en-US" altLang="zh-CN" dirty="0"/>
          </a:p>
          <a:p>
            <a:r>
              <a:rPr lang="en-US" altLang="zh-CN" dirty="0"/>
              <a:t>Requires knowledge of </a:t>
            </a:r>
            <a:r>
              <a:rPr lang="en-US" altLang="zh-CN" dirty="0">
                <a:solidFill>
                  <a:srgbClr val="FF0000"/>
                </a:solidFill>
              </a:rPr>
              <a:t>future process requests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662EF-AD69-4C31-B7FF-CD180BA0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E990F-A1CC-440D-98F1-FAEA8C3006E0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FA3E2D-77DD-40CC-A32B-28E88E2FE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23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85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Two Approaches to Deadlock Avoidance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Process Initiation Denial</a:t>
            </a:r>
          </a:p>
          <a:p>
            <a:pPr lvl="1"/>
            <a:r>
              <a:rPr lang="en-US" altLang="zh-CN" sz="2400" dirty="0"/>
              <a:t>do not </a:t>
            </a:r>
            <a:r>
              <a:rPr lang="en-US" altLang="zh-CN" sz="2400" dirty="0">
                <a:solidFill>
                  <a:srgbClr val="0070C0"/>
                </a:solidFill>
              </a:rPr>
              <a:t>start</a:t>
            </a:r>
            <a:r>
              <a:rPr lang="en-US" altLang="zh-CN" sz="2400" dirty="0"/>
              <a:t> a process if its demands might lead to deadlock</a:t>
            </a:r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r>
              <a:rPr lang="en-US" altLang="zh-CN" dirty="0"/>
              <a:t>Resource Allocation Denial</a:t>
            </a:r>
            <a:r>
              <a:rPr lang="zh-CN" altLang="en-US" dirty="0"/>
              <a:t> （</a:t>
            </a:r>
            <a:r>
              <a:rPr lang="en-US" altLang="zh-CN" sz="2400" b="1" dirty="0">
                <a:solidFill>
                  <a:srgbClr val="FF0000"/>
                </a:solidFill>
              </a:rPr>
              <a:t>the banker algorithm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sz="2400" dirty="0"/>
              <a:t>do not </a:t>
            </a:r>
            <a:r>
              <a:rPr lang="en-US" altLang="zh-CN" sz="2400" dirty="0">
                <a:solidFill>
                  <a:srgbClr val="0070C0"/>
                </a:solidFill>
              </a:rPr>
              <a:t>grant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an incremental resource request </a:t>
            </a:r>
            <a:r>
              <a:rPr lang="en-US" altLang="zh-CN" sz="2400" dirty="0"/>
              <a:t>to a process if this allocation might lead to deadlock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1A6D7-4E69-4A9A-B124-0682A91B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7E8D-0A79-451C-97CD-0C4F00D7A7B0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E1A5C-261E-4555-B8E7-6076902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24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1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1D5AC-916C-41C2-BC35-42DB2C1A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Element</a:t>
            </a:r>
            <a:r>
              <a:rPr lang="zh-CN" altLang="en-US" dirty="0"/>
              <a:t> </a:t>
            </a:r>
            <a:r>
              <a:rPr lang="en-US" altLang="zh-CN" dirty="0"/>
              <a:t>Definitions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1D41C9-DF43-44E1-9BFD-ACE3824C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8123C-135A-495A-84BE-A9CDD8F5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7663F-5571-412E-8DF9-C9766B3CEC9C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4CF076-51F3-4CEA-94A1-2F3A6D18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03" y="3154298"/>
            <a:ext cx="8624557" cy="3002340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3A90C832-9AD7-4E6D-9C8B-81083F07E1E8}"/>
              </a:ext>
            </a:extLst>
          </p:cNvPr>
          <p:cNvGrpSpPr/>
          <p:nvPr/>
        </p:nvGrpSpPr>
        <p:grpSpPr>
          <a:xfrm>
            <a:off x="857379" y="942770"/>
            <a:ext cx="11520710" cy="2070568"/>
            <a:chOff x="1511075" y="1289279"/>
            <a:chExt cx="9357949" cy="166973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0067C29-981A-4FA9-BA59-E3137804F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1075" y="1289279"/>
              <a:ext cx="1396825" cy="1576533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6239BD7-31A4-4132-8F76-11F6D5EF20B8}"/>
                </a:ext>
              </a:extLst>
            </p:cNvPr>
            <p:cNvSpPr txBox="1"/>
            <p:nvPr/>
          </p:nvSpPr>
          <p:spPr>
            <a:xfrm>
              <a:off x="3100788" y="1829312"/>
              <a:ext cx="7768236" cy="372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231F20"/>
                  </a:solidFill>
                  <a:effectLst/>
                  <a:latin typeface="TimesTenLTStd-Roman"/>
                </a:rPr>
                <a:t>No process can claim more than the total amount of resources in th</a:t>
              </a:r>
              <a:r>
                <a:rPr lang="en-US" altLang="zh-CN" sz="2400" dirty="0">
                  <a:solidFill>
                    <a:srgbClr val="231F20"/>
                  </a:solidFill>
                  <a:effectLst/>
                  <a:latin typeface="TimesTenLTStd-Roman"/>
                </a:rPr>
                <a:t>e</a:t>
              </a:r>
              <a:r>
                <a:rPr lang="en-US" sz="2400" dirty="0">
                  <a:solidFill>
                    <a:srgbClr val="231F20"/>
                  </a:solidFill>
                  <a:effectLst/>
                  <a:latin typeface="TimesTenLTStd-Roman"/>
                </a:rPr>
                <a:t> system.</a:t>
              </a:r>
              <a:endParaRPr lang="en-US" sz="2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2F8010F-7D14-4397-818A-666C43E79D5C}"/>
                </a:ext>
              </a:extLst>
            </p:cNvPr>
            <p:cNvSpPr txBox="1"/>
            <p:nvPr/>
          </p:nvSpPr>
          <p:spPr>
            <a:xfrm>
              <a:off x="3132063" y="2288883"/>
              <a:ext cx="6470392" cy="670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231F20"/>
                  </a:solidFill>
                  <a:effectLst/>
                  <a:latin typeface="TimesTenLTStd-Roman"/>
                </a:rPr>
                <a:t>No process is allocated more resources of any type than the process originally claimed to need.</a:t>
              </a:r>
              <a:endParaRPr lang="en-US" sz="2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9D71318-58A2-4E9F-A458-6C7385DE1CC6}"/>
                </a:ext>
              </a:extLst>
            </p:cNvPr>
            <p:cNvSpPr txBox="1"/>
            <p:nvPr/>
          </p:nvSpPr>
          <p:spPr>
            <a:xfrm>
              <a:off x="3097844" y="1318412"/>
              <a:ext cx="6096000" cy="372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231F20"/>
                  </a:solidFill>
                  <a:effectLst/>
                  <a:latin typeface="TimesTenLTStd-Roman"/>
                </a:rPr>
                <a:t>All resources are either available or allocated.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1476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79139-AD14-4CDE-B942-6D7E1444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837784"/>
            <a:ext cx="10515600" cy="5175794"/>
          </a:xfrm>
        </p:spPr>
        <p:txBody>
          <a:bodyPr/>
          <a:lstStyle/>
          <a:p>
            <a:r>
              <a:rPr lang="en-US" dirty="0"/>
              <a:t>The following relationships hold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starting a new process</a:t>
            </a:r>
          </a:p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51D5AC-916C-41C2-BC35-42DB2C1A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Initiation Denial</a:t>
            </a:r>
            <a:r>
              <a:rPr lang="zh-CN" altLang="en-US" dirty="0"/>
              <a:t> （进程启动拒绝）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1D41C9-DF43-44E1-9BFD-ACE3824C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8123C-135A-495A-84BE-A9CDD8F5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7663F-5571-412E-8DF9-C9766B3CEC9C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CB713BA-830E-44CE-B75E-C251AD6CF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42" y="2183870"/>
            <a:ext cx="8179948" cy="148335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44932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11E28-7AA9-4309-BD5C-D45E38EA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Allocation Denial</a:t>
            </a:r>
            <a:r>
              <a:rPr lang="zh-CN" altLang="en-US" dirty="0"/>
              <a:t> （资源分配拒绝）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2458D-A06F-4C77-AFBE-21E72CA1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the banker algorithm</a:t>
            </a:r>
            <a:endParaRPr lang="en-US" dirty="0"/>
          </a:p>
          <a:p>
            <a:r>
              <a:rPr lang="en-US" dirty="0"/>
              <a:t>do </a:t>
            </a:r>
            <a:r>
              <a:rPr lang="en-US" dirty="0">
                <a:solidFill>
                  <a:srgbClr val="FF0000"/>
                </a:solidFill>
              </a:rPr>
              <a:t>not grant </a:t>
            </a:r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incremental resource request </a:t>
            </a:r>
            <a:r>
              <a:rPr lang="en-US" dirty="0"/>
              <a:t>to a process if this allocation might lead to deadlock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State of the system </a:t>
            </a:r>
            <a:r>
              <a:rPr lang="en-US" dirty="0"/>
              <a:t>reflects the current allocation of resources to processes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Safe state </a:t>
            </a:r>
            <a:r>
              <a:rPr lang="en-US" dirty="0"/>
              <a:t>is one in which there is </a:t>
            </a:r>
            <a:r>
              <a:rPr lang="en-US" dirty="0">
                <a:solidFill>
                  <a:srgbClr val="FF0000"/>
                </a:solidFill>
              </a:rPr>
              <a:t>at least one sequence</a:t>
            </a:r>
            <a:r>
              <a:rPr lang="en-US" dirty="0"/>
              <a:t> of resource allocations to processes that does not result in a deadlock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Unsafe state </a:t>
            </a:r>
            <a:r>
              <a:rPr lang="en-US" dirty="0"/>
              <a:t>is a state that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execution</a:t>
            </a:r>
            <a:r>
              <a:rPr lang="zh-CN" altLang="en-US" dirty="0"/>
              <a:t> </a:t>
            </a:r>
            <a:r>
              <a:rPr lang="en-US" altLang="zh-CN" dirty="0"/>
              <a:t>sequences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result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deadlock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F9591-7F38-4AAF-B387-87044F49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27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15FB79-F488-482F-BA30-E48CE625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2BDB-3382-4DEC-8C69-BB765A78AACB}" type="datetime1">
              <a:rPr lang="zh-CN" altLang="en-US" smtClean="0"/>
              <a:t>2026/5/12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5982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Determination of a Safe 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State of a system consisting of four processes and three resources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98C312-74F8-40BE-9488-92C028912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48" y="2080766"/>
            <a:ext cx="9457952" cy="3708543"/>
          </a:xfrm>
          <a:prstGeom prst="rect">
            <a:avLst/>
          </a:prstGeom>
        </p:spPr>
      </p:pic>
      <p:sp>
        <p:nvSpPr>
          <p:cNvPr id="9" name="日期占位符 8">
            <a:extLst>
              <a:ext uri="{FF2B5EF4-FFF2-40B4-BE49-F238E27FC236}">
                <a16:creationId xmlns:a16="http://schemas.microsoft.com/office/drawing/2014/main" id="{E0CE0060-BEFF-4CCC-A861-6A8BABDF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B3BA-8907-47B4-8BCB-5FBD031D0CE0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ECF7BEF-CFEA-4905-8895-A07C8829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28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3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 Runs to Completion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5E1088-A5AC-4EB8-8699-7267F572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48DCEE-F334-430E-8254-6748DCEB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3" y="1069720"/>
            <a:ext cx="10829041" cy="4339678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8434BF57-363E-4DB6-8F47-29A5C7F4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7091-1C43-4D38-99F5-3F00C855289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9CA5C6-91F2-44BD-AD61-28D5FDD2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29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74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 Runs to Completion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BD24604-5FBA-4764-AAE0-CA1C6690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823A5F-46AE-4682-9A98-60EB1CA4C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03" y="999039"/>
            <a:ext cx="10449758" cy="4278437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B777032E-8C2E-4F0F-837D-CE44A071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1E81-8926-4295-9545-BDCF19EF72E0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C91D34-8C51-4DA4-ABC4-13E48102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30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27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P3 Runs to Completion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1DCC68-7C90-4DA9-A8B3-24525EF30035}"/>
              </a:ext>
            </a:extLst>
          </p:cNvPr>
          <p:cNvSpPr txBox="1"/>
          <p:nvPr/>
        </p:nvSpPr>
        <p:spPr>
          <a:xfrm>
            <a:off x="259883" y="5485407"/>
            <a:ext cx="1148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</a:rPr>
              <a:t>Thus, the state defined originally is a safe state. </a:t>
            </a:r>
            <a:r>
              <a:rPr lang="zh-CN" altLang="en-US" sz="2400" b="1" dirty="0">
                <a:solidFill>
                  <a:srgbClr val="0070C0"/>
                </a:solidFill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</a:rPr>
              <a:t>The sequence is P2, P1,P3,P4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A5E0A2-294E-41CA-B7B3-504845BF3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370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BBD681-58F2-423D-A59E-EF300021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9" y="1054162"/>
            <a:ext cx="11163738" cy="4355236"/>
          </a:xfrm>
          <a:prstGeom prst="rect">
            <a:avLst/>
          </a:prstGeom>
        </p:spPr>
      </p:pic>
      <p:sp>
        <p:nvSpPr>
          <p:cNvPr id="9" name="日期占位符 8">
            <a:extLst>
              <a:ext uri="{FF2B5EF4-FFF2-40B4-BE49-F238E27FC236}">
                <a16:creationId xmlns:a16="http://schemas.microsoft.com/office/drawing/2014/main" id="{61E59C3A-C476-43DD-A8CB-0F0C315D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F3067-BCD1-4B4E-B49C-A6F0F4CF31C9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9A633FF-EC22-4386-ABC9-B5EB53EF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31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0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Determination of an Unsafe State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375210-DBCF-4165-8008-4C308958A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47" y="1389311"/>
            <a:ext cx="10086953" cy="4029712"/>
          </a:xfrm>
          <a:prstGeom prst="rect">
            <a:avLst/>
          </a:prstGeom>
        </p:spPr>
      </p:pic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B2017A2-4272-4305-849F-293C9F1C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D32C-EE53-4471-8C4E-24B0952219E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F533ED9-78AD-44C0-BC3D-AEF35A57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32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Determination of an Unsafe State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0DEFCB8-FC6A-4D89-8AF4-56D51AE13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806" y="1114506"/>
            <a:ext cx="10761445" cy="4256392"/>
          </a:xfrm>
        </p:spPr>
      </p:pic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B2017A2-4272-4305-849F-293C9F1C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D32C-EE53-4471-8C4E-24B0952219E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F533ED9-78AD-44C0-BC3D-AEF35A57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33</a:t>
            </a:fld>
            <a:r>
              <a:rPr lang="en-US"/>
              <a:t>/40</a:t>
            </a:r>
            <a:endParaRPr lang="en-US" dirty="0"/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3353D1E5-89BC-6846-9A4F-7BC069AEE1E3}"/>
              </a:ext>
            </a:extLst>
          </p:cNvPr>
          <p:cNvSpPr txBox="1"/>
          <p:nvPr/>
        </p:nvSpPr>
        <p:spPr>
          <a:xfrm>
            <a:off x="259883" y="5485407"/>
            <a:ext cx="1148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It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is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a unsafe state.</a:t>
            </a:r>
          </a:p>
        </p:txBody>
      </p:sp>
    </p:spTree>
    <p:extLst>
      <p:ext uri="{BB962C8B-B14F-4D97-AF65-F5344CB8AC3E}">
        <p14:creationId xmlns:p14="http://schemas.microsoft.com/office/powerpoint/2010/main" val="163968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F00D2-B252-4528-A5A3-2426DC29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Quiz</a:t>
            </a:r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853E96F-BF9B-4C89-B846-4844E89D6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707" y="1123632"/>
            <a:ext cx="10863806" cy="4487897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3F21D5-0DE0-42EA-87C6-D116D1996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FC5B-A65F-4B67-821B-538323A7B149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C358F2-971F-42B4-952A-0E29A4CA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34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35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Deadlock Avoidance Logic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7DCEB75-5721-490A-ABCA-F947B5982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9BD165-5669-4BCA-B975-0FC6ED878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793" y="841102"/>
            <a:ext cx="6424411" cy="5420597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9E9BA7D6-9051-47EB-91C1-5D13366C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5C39F-0621-4916-B3F9-861D5A50D038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FB11E0-9DA3-4C2D-9473-B1E8FB1E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35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4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Deadlock Avoidance Logic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7DF8B14-025B-479A-BB85-5D6810CE9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80E822-062B-4087-875F-3CE2D1F23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85" y="888289"/>
            <a:ext cx="8402572" cy="5300261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10219A73-0C29-4098-A6B1-5B0DEA0A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AE749-F8C3-4E9B-924A-973F8BA02433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7B09BE-7601-4043-A87A-30C84180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36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9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Deadlock Avoidance Advantages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Advantages</a:t>
            </a:r>
          </a:p>
          <a:p>
            <a:pPr lvl="1"/>
            <a:r>
              <a:rPr lang="en-US" altLang="zh-CN" sz="2400" dirty="0"/>
              <a:t>It is not necessary to </a:t>
            </a:r>
            <a:r>
              <a:rPr lang="en-US" altLang="zh-CN" sz="2400" dirty="0">
                <a:solidFill>
                  <a:srgbClr val="FF0000"/>
                </a:solidFill>
              </a:rPr>
              <a:t>preempt and rollback </a:t>
            </a:r>
            <a:r>
              <a:rPr lang="en-US" altLang="zh-CN" sz="2400" dirty="0"/>
              <a:t>processes, as in deadlock prevention </a:t>
            </a:r>
          </a:p>
          <a:p>
            <a:pPr lvl="1"/>
            <a:r>
              <a:rPr lang="en-US" altLang="zh-CN" sz="2400" dirty="0"/>
              <a:t>It is </a:t>
            </a:r>
            <a:r>
              <a:rPr lang="en-US" altLang="zh-CN" sz="2400" dirty="0">
                <a:solidFill>
                  <a:srgbClr val="FF0000"/>
                </a:solidFill>
              </a:rPr>
              <a:t>less restrictive </a:t>
            </a:r>
            <a:r>
              <a:rPr lang="en-US" altLang="zh-CN" sz="2400" dirty="0"/>
              <a:t>than deadlock prevention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Restrictions</a:t>
            </a:r>
          </a:p>
          <a:p>
            <a:pPr lvl="1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Maximum resource requirement </a:t>
            </a:r>
            <a:r>
              <a:rPr lang="en-US" altLang="zh-CN" sz="2400" dirty="0"/>
              <a:t>for each process must be stated in advance</a:t>
            </a:r>
          </a:p>
          <a:p>
            <a:pPr lvl="1"/>
            <a:r>
              <a:rPr lang="en-US" altLang="zh-CN" sz="2400" b="1" dirty="0"/>
              <a:t> Processes under consideration must be independent and with </a:t>
            </a:r>
            <a:r>
              <a:rPr lang="en-US" altLang="zh-CN" sz="2400" b="1" dirty="0">
                <a:solidFill>
                  <a:srgbClr val="FF0000"/>
                </a:solidFill>
              </a:rPr>
              <a:t>no synchronization requirements</a:t>
            </a:r>
          </a:p>
          <a:p>
            <a:pPr lvl="1"/>
            <a:r>
              <a:rPr lang="en-US" altLang="zh-CN" sz="2400" dirty="0"/>
              <a:t> There must be </a:t>
            </a:r>
            <a:r>
              <a:rPr lang="en-US" altLang="zh-CN" sz="2400" dirty="0">
                <a:solidFill>
                  <a:srgbClr val="FF0000"/>
                </a:solidFill>
              </a:rPr>
              <a:t>a fixed number of resources </a:t>
            </a:r>
            <a:r>
              <a:rPr lang="en-US" altLang="zh-CN" sz="2400" dirty="0"/>
              <a:t>to allocate</a:t>
            </a:r>
          </a:p>
          <a:p>
            <a:pPr lvl="1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No process may exit </a:t>
            </a:r>
            <a:r>
              <a:rPr lang="en-US" altLang="zh-CN" sz="2400" dirty="0"/>
              <a:t>while holding resources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7A9B0-1EC2-4657-AF5B-2ECBC167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7586-F378-422B-85BF-512237541FDC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D325A-1AE3-4A93-B172-36492EA5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37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</a:t>
            </a:r>
            <a:r>
              <a:rPr lang="zh-CN" altLang="en-US" dirty="0"/>
              <a:t> </a:t>
            </a:r>
            <a:r>
              <a:rPr lang="en-US" altLang="zh-CN" dirty="0"/>
              <a:t>Deadlock Detection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Deadlock prevention strategies are very </a:t>
            </a:r>
            <a:r>
              <a:rPr lang="en-US" altLang="zh-CN" dirty="0">
                <a:solidFill>
                  <a:srgbClr val="FF0000"/>
                </a:solidFill>
              </a:rPr>
              <a:t>conservative</a:t>
            </a:r>
            <a:r>
              <a:rPr lang="en-US" altLang="zh-CN" dirty="0"/>
              <a:t> </a:t>
            </a:r>
            <a:r>
              <a:rPr lang="zh-CN" altLang="en-US" dirty="0"/>
              <a:t>（保守）</a:t>
            </a:r>
            <a:endParaRPr lang="en-US" altLang="zh-CN" dirty="0"/>
          </a:p>
          <a:p>
            <a:pPr lvl="1"/>
            <a:r>
              <a:rPr lang="en-US" altLang="zh-CN" sz="2400" dirty="0"/>
              <a:t>limit access to resources by imposing restrictions on processes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Deadlock detection strategies do the </a:t>
            </a:r>
            <a:r>
              <a:rPr lang="en-US" altLang="zh-CN" dirty="0">
                <a:solidFill>
                  <a:srgbClr val="FF0000"/>
                </a:solidFill>
              </a:rPr>
              <a:t>opposite</a:t>
            </a:r>
          </a:p>
          <a:p>
            <a:pPr lvl="1"/>
            <a:r>
              <a:rPr lang="en-US" altLang="zh-CN" sz="2400" dirty="0"/>
              <a:t>resource requests are granted whenever possible</a:t>
            </a:r>
          </a:p>
          <a:p>
            <a:pPr lvl="1"/>
            <a:endParaRPr lang="en-US" altLang="zh-CN" sz="2400" dirty="0"/>
          </a:p>
          <a:p>
            <a:pPr marL="171450" marR="0" lvl="0" indent="-171450" algn="just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 check for deadlock can be made as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frequently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as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each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resource request or,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less frequently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, depending on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how likely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it is for a deadlock to occur.</a:t>
            </a:r>
          </a:p>
          <a:p>
            <a:pPr lvl="1"/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90ECA-0FDB-4523-B0C9-2D30EA28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CC18-FB2E-45CB-9FEA-CC5198A92AA9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A5BBC-4F2F-4826-8AEC-E28C7667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38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75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51DD7-4F80-4FAD-8B42-A107A33C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Detection Strategy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4EB907-C637-4BB1-8053-8C0791BAB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A request matrix Q is defined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dirty="0"/>
                  <a:t> represents the amount of resources of type j requested by process </a:t>
                </a:r>
                <a:r>
                  <a:rPr lang="en-US" dirty="0" err="1"/>
                  <a:t>i</a:t>
                </a:r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>
                    <a:solidFill>
                      <a:srgbClr val="FF0000"/>
                    </a:solidFill>
                  </a:rPr>
                  <a:t>Mark</a:t>
                </a:r>
                <a:r>
                  <a:rPr lang="en-US" b="0" dirty="0"/>
                  <a:t> each process that has a row in the Allocation matrix of </a:t>
                </a:r>
                <a:r>
                  <a:rPr lang="en-US" b="0" dirty="0">
                    <a:solidFill>
                      <a:srgbClr val="FF0000"/>
                    </a:solidFill>
                  </a:rPr>
                  <a:t>all zeros</a:t>
                </a:r>
                <a:r>
                  <a:rPr lang="en-US" b="0" dirty="0"/>
                  <a:t>. A process that has </a:t>
                </a:r>
                <a:r>
                  <a:rPr lang="en-US" b="0" dirty="0">
                    <a:solidFill>
                      <a:srgbClr val="FF0000"/>
                    </a:solidFill>
                  </a:rPr>
                  <a:t>no allocated resources </a:t>
                </a:r>
                <a:r>
                  <a:rPr lang="en-US" b="0" dirty="0"/>
                  <a:t>cannot participate in a deadlock.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Initialize a temporary vector </a:t>
                </a:r>
                <a:r>
                  <a:rPr lang="en-US" b="0" dirty="0">
                    <a:solidFill>
                      <a:srgbClr val="FF0000"/>
                    </a:solidFill>
                  </a:rPr>
                  <a:t>W</a:t>
                </a:r>
                <a:r>
                  <a:rPr lang="en-US" b="0" dirty="0"/>
                  <a:t> to equal the </a:t>
                </a:r>
                <a:r>
                  <a:rPr lang="en-US" b="0" dirty="0">
                    <a:solidFill>
                      <a:srgbClr val="FF0000"/>
                    </a:solidFill>
                  </a:rPr>
                  <a:t>Available vector</a:t>
                </a:r>
                <a:r>
                  <a:rPr lang="en-US" b="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Find an index</a:t>
                </a:r>
                <a:r>
                  <a:rPr lang="en-US" b="0" dirty="0">
                    <a:solidFill>
                      <a:srgbClr val="FF0000"/>
                    </a:solidFill>
                  </a:rPr>
                  <a:t> </a:t>
                </a:r>
                <a:r>
                  <a:rPr lang="en-US" b="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b="0" dirty="0">
                    <a:solidFill>
                      <a:srgbClr val="FF0000"/>
                    </a:solidFill>
                  </a:rPr>
                  <a:t> </a:t>
                </a:r>
                <a:r>
                  <a:rPr lang="en-US" b="0" dirty="0"/>
                  <a:t>such that process </a:t>
                </a:r>
                <a:r>
                  <a:rPr lang="en-US" b="0" dirty="0" err="1"/>
                  <a:t>i</a:t>
                </a:r>
                <a:r>
                  <a:rPr lang="en-US" b="0" dirty="0"/>
                  <a:t> is currently </a:t>
                </a:r>
                <a:r>
                  <a:rPr lang="en-US" b="0" dirty="0">
                    <a:solidFill>
                      <a:srgbClr val="FF0000"/>
                    </a:solidFill>
                  </a:rPr>
                  <a:t>unmarked</a:t>
                </a:r>
                <a:r>
                  <a:rPr lang="en-US" b="0" dirty="0"/>
                  <a:t> </a:t>
                </a:r>
                <a:r>
                  <a:rPr lang="en-US" b="0" dirty="0">
                    <a:solidFill>
                      <a:srgbClr val="FF0000"/>
                    </a:solidFill>
                  </a:rPr>
                  <a:t>and the </a:t>
                </a:r>
                <a:r>
                  <a:rPr lang="en-US" b="0" dirty="0" err="1">
                    <a:solidFill>
                      <a:srgbClr val="FF0000"/>
                    </a:solidFill>
                  </a:rPr>
                  <a:t>i-th</a:t>
                </a:r>
                <a:r>
                  <a:rPr lang="en-US" b="0" dirty="0">
                    <a:solidFill>
                      <a:srgbClr val="FF0000"/>
                    </a:solidFill>
                  </a:rPr>
                  <a:t> row of Q is less than or equal to W. </a:t>
                </a:r>
                <a:r>
                  <a:rPr lang="en-US" b="0" dirty="0"/>
                  <a:t>That is</a:t>
                </a:r>
                <a:r>
                  <a:rPr lang="en-US" b="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0" dirty="0"/>
                  <a:t>,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. If no such row is found, terminate the algorithm.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If such a row is found, </a:t>
                </a:r>
                <a:r>
                  <a:rPr lang="en-US" b="0" dirty="0">
                    <a:solidFill>
                      <a:srgbClr val="FF0000"/>
                    </a:solidFill>
                  </a:rPr>
                  <a:t>mark</a:t>
                </a:r>
                <a:r>
                  <a:rPr lang="en-US" b="0" dirty="0"/>
                  <a:t> process </a:t>
                </a:r>
                <a:r>
                  <a:rPr lang="en-US" b="0" dirty="0" err="1"/>
                  <a:t>i</a:t>
                </a:r>
                <a:r>
                  <a:rPr lang="en-US" b="0" dirty="0"/>
                  <a:t> and add the corresponding row of the allocation matrix to W. That is,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𝒊𝒌</m:t>
                        </m:r>
                      </m:sub>
                    </m:sSub>
                  </m:oMath>
                </a14:m>
                <a:r>
                  <a:rPr lang="en-US" b="0" dirty="0"/>
                  <a:t>, for 1 … k … m. Return to step 3.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4EB907-C637-4BB1-8053-8C0791BAB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980" r="-84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30B7FF-0502-40EB-B95A-7B7C8542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39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EB7A2-24E4-4C87-9358-39CD3617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AD71-C06B-4462-B69E-217D6A7E31D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14D258-EBC5-4FBF-8C5A-3E84F9F19375}"/>
              </a:ext>
            </a:extLst>
          </p:cNvPr>
          <p:cNvSpPr txBox="1"/>
          <p:nvPr/>
        </p:nvSpPr>
        <p:spPr>
          <a:xfrm>
            <a:off x="962526" y="5828776"/>
            <a:ext cx="10116152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deadlock exists </a:t>
            </a:r>
            <a:r>
              <a:rPr lang="en-US" sz="24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if and only if there are unmarked processes </a:t>
            </a:r>
            <a:r>
              <a:rPr lang="en-US" sz="2400" b="1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 the end of the algorithm</a:t>
            </a:r>
            <a:endParaRPr lang="en-US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195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Examples of Deadlock Detection 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ADAF176-C00C-402F-983C-9441C420E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P4, P3 are marked, then terminated. </a:t>
            </a:r>
          </a:p>
          <a:p>
            <a:r>
              <a:rPr lang="en-US" dirty="0"/>
              <a:t>P1, P2 are unmarked.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BDA09E-0CA4-4070-B58B-AAECB915C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41" y="2029989"/>
            <a:ext cx="10600259" cy="3703547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F9AE9D86-8A21-42EE-AB0C-E7F00D4E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ECFD-1AF2-4062-B92A-83AC847A8A7B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E3028184-2E3B-4886-891C-F919DC66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40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91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Recovery Strategies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Abort all deadlocked processes </a:t>
            </a:r>
            <a:r>
              <a:rPr lang="zh-CN" altLang="en-US" dirty="0"/>
              <a:t>（</a:t>
            </a:r>
            <a:r>
              <a:rPr lang="en-US" altLang="zh-CN" dirty="0"/>
              <a:t>applied by most of OS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Back up </a:t>
            </a:r>
            <a:r>
              <a:rPr lang="en-US" altLang="zh-CN" dirty="0"/>
              <a:t>each deadlocked process to some previously defined checkpoint and </a:t>
            </a:r>
            <a:r>
              <a:rPr lang="en-US" altLang="zh-CN" dirty="0">
                <a:solidFill>
                  <a:srgbClr val="C00000"/>
                </a:solidFill>
              </a:rPr>
              <a:t>restart all processes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Successively abort </a:t>
            </a:r>
            <a:r>
              <a:rPr lang="en-US" altLang="zh-CN" dirty="0"/>
              <a:t>deadlocked processes until deadlock no longer exists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Successively preempt </a:t>
            </a:r>
            <a:r>
              <a:rPr lang="en-US" altLang="zh-CN" dirty="0"/>
              <a:t>resources until deadlock no longer exists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2F596-5219-4AFE-8CD1-4E02EDFA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0ABC-22E9-408D-8CE9-22E50B935A44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02F746-3723-48EB-81B0-8CC29953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41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38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Dining Philosophers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Devise a algorithm that allow the philosophers to eat</a:t>
            </a:r>
          </a:p>
          <a:p>
            <a:pPr lvl="1"/>
            <a:r>
              <a:rPr lang="en-US" altLang="zh-CN" sz="2400" dirty="0"/>
              <a:t>No two philosophers can use the same fork at the same time (</a:t>
            </a:r>
            <a:r>
              <a:rPr lang="en-US" altLang="zh-CN" sz="2400" dirty="0">
                <a:solidFill>
                  <a:srgbClr val="FF0000"/>
                </a:solidFill>
              </a:rPr>
              <a:t>mutual exclusion</a:t>
            </a:r>
            <a:r>
              <a:rPr lang="en-US" altLang="zh-CN" sz="2400" dirty="0"/>
              <a:t>)</a:t>
            </a:r>
          </a:p>
          <a:p>
            <a:pPr lvl="1"/>
            <a:r>
              <a:rPr lang="en-US" altLang="zh-CN" sz="2400" dirty="0"/>
              <a:t>Avoid </a:t>
            </a:r>
            <a:r>
              <a:rPr lang="en-US" altLang="zh-CN" sz="2400" dirty="0">
                <a:solidFill>
                  <a:srgbClr val="FF0000"/>
                </a:solidFill>
              </a:rPr>
              <a:t>deadlock and starvation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63BDEA-CA76-4A16-911B-ABB33D7E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350" y="1782367"/>
            <a:ext cx="4342829" cy="44405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DEF876-AA14-4BC1-B675-D0FD4A27EB8F}"/>
              </a:ext>
            </a:extLst>
          </p:cNvPr>
          <p:cNvSpPr txBox="1"/>
          <p:nvPr/>
        </p:nvSpPr>
        <p:spPr>
          <a:xfrm>
            <a:off x="923827" y="3294107"/>
            <a:ext cx="3869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using the </a:t>
            </a:r>
            <a:r>
              <a:rPr lang="en-US" sz="24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two forks </a:t>
            </a:r>
            <a:r>
              <a:rPr lang="en-US" sz="24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 either side of the plate, takes and eats some spaghetti</a:t>
            </a:r>
            <a:endParaRPr 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1ABE54AE-92DE-49BF-A793-B6B7B580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70233-16EF-4E33-AC35-254A3EC95612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815187C-C6CC-463C-8B9E-1F66226E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42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8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Using Semaphores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8A168-9C8B-4B9F-B1A2-FA01ED0B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Each philosopher first picks up the fork on the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then the fork on the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.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446CF3-E073-4B15-B5ED-9A6213F50641}"/>
              </a:ext>
            </a:extLst>
          </p:cNvPr>
          <p:cNvGrpSpPr/>
          <p:nvPr/>
        </p:nvGrpSpPr>
        <p:grpSpPr>
          <a:xfrm>
            <a:off x="3100676" y="1507498"/>
            <a:ext cx="6822712" cy="4738889"/>
            <a:chOff x="3014759" y="1188379"/>
            <a:chExt cx="6822712" cy="47388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46196C2-6772-44CE-B50A-1C0511163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4759" y="1188379"/>
              <a:ext cx="6822712" cy="473888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E5685A6-FA6D-408D-9822-7B2672DAF000}"/>
                </a:ext>
              </a:extLst>
            </p:cNvPr>
            <p:cNvSpPr/>
            <p:nvPr/>
          </p:nvSpPr>
          <p:spPr>
            <a:xfrm>
              <a:off x="4259017" y="1528091"/>
              <a:ext cx="1712199" cy="2086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E92E3A1-5458-4AE4-9CAE-812C08FA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FCE13-59BE-430D-AAC4-18CB14B096A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422232A-F959-4052-A3F5-45B1B5FC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43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92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Second Solution . . .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DC733A-3D8B-4C53-BDB6-AC3B6BA8A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consider adding an attendant who </a:t>
            </a:r>
            <a:r>
              <a:rPr lang="en-US" dirty="0">
                <a:solidFill>
                  <a:srgbClr val="FF0000"/>
                </a:solidFill>
              </a:rPr>
              <a:t>only allows four </a:t>
            </a:r>
            <a:r>
              <a:rPr lang="en-US" dirty="0"/>
              <a:t>philosophers at a time into the dining room.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92E517-4388-41B8-BACC-867E6150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477" y="1620143"/>
            <a:ext cx="5834054" cy="463574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F52CE9-74EE-42F6-A396-710BE780A002}"/>
              </a:ext>
            </a:extLst>
          </p:cNvPr>
          <p:cNvSpPr/>
          <p:nvPr/>
        </p:nvSpPr>
        <p:spPr>
          <a:xfrm>
            <a:off x="3933761" y="2062004"/>
            <a:ext cx="1712199" cy="20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320221BE-4C2C-4AB6-BA89-8BF3C91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3E3-FA96-41B3-B26E-B2E688D5A44E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9D132A2-481A-4233-8749-561043A3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44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696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Using A Monitor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214FD58-B19B-4271-B6AD-5574069D0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763" y="858567"/>
            <a:ext cx="5440340" cy="5420092"/>
          </a:xfr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B18FBC20-3D6C-4574-ADFA-4600A7E136F4}"/>
              </a:ext>
            </a:extLst>
          </p:cNvPr>
          <p:cNvSpPr txBox="1"/>
          <p:nvPr/>
        </p:nvSpPr>
        <p:spPr>
          <a:xfrm>
            <a:off x="6440764" y="3254606"/>
            <a:ext cx="5031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Will deadlock happen using monitor</a:t>
            </a:r>
            <a:r>
              <a:rPr lang="zh-CN" altLang="en-US" sz="2400" b="1" dirty="0">
                <a:solidFill>
                  <a:srgbClr val="FF0000"/>
                </a:solidFill>
              </a:rPr>
              <a:t>？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How many philosopher can eat together?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D8DDC7C-05DF-453C-8E52-901AB362B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103" y="1075099"/>
            <a:ext cx="5046642" cy="1502052"/>
          </a:xfrm>
          <a:prstGeom prst="rect">
            <a:avLst/>
          </a:prstGeom>
        </p:spPr>
      </p:pic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F85544B7-11C3-496B-98F1-8D828F2A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C4248-B756-4D05-B720-CC87067B75F2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4FD2B193-4EC0-4B91-8BB4-C17693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45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Deadlock:</a:t>
            </a:r>
          </a:p>
          <a:p>
            <a:pPr lvl="1"/>
            <a:r>
              <a:rPr lang="en-US" altLang="zh-CN" sz="2400" dirty="0"/>
              <a:t>the blocking of a set of processes that either </a:t>
            </a:r>
            <a:r>
              <a:rPr lang="en-US" altLang="zh-CN" sz="2400" dirty="0">
                <a:solidFill>
                  <a:srgbClr val="FF0000"/>
                </a:solidFill>
              </a:rPr>
              <a:t>compete</a:t>
            </a:r>
            <a:r>
              <a:rPr lang="en-US" altLang="zh-CN" sz="2400" dirty="0"/>
              <a:t> for system resources or </a:t>
            </a:r>
            <a:r>
              <a:rPr lang="en-US" altLang="zh-CN" sz="2400" dirty="0">
                <a:solidFill>
                  <a:srgbClr val="FF0000"/>
                </a:solidFill>
              </a:rPr>
              <a:t>communicate</a:t>
            </a:r>
            <a:r>
              <a:rPr lang="en-US" altLang="zh-CN" sz="2400" dirty="0"/>
              <a:t> with each other</a:t>
            </a:r>
          </a:p>
          <a:p>
            <a:pPr lvl="1"/>
            <a:r>
              <a:rPr lang="en-US" altLang="zh-CN" sz="2400" dirty="0"/>
              <a:t>blockage is </a:t>
            </a:r>
            <a:r>
              <a:rPr lang="en-US" altLang="zh-CN" sz="2400" dirty="0">
                <a:solidFill>
                  <a:srgbClr val="FF0000"/>
                </a:solidFill>
              </a:rPr>
              <a:t>permanent</a:t>
            </a:r>
            <a:r>
              <a:rPr lang="en-US" altLang="zh-CN" sz="2400" dirty="0"/>
              <a:t> unless OS takes action</a:t>
            </a:r>
          </a:p>
          <a:p>
            <a:pPr lvl="1"/>
            <a:r>
              <a:rPr lang="en-US" altLang="zh-CN" sz="2400" dirty="0"/>
              <a:t>may involve </a:t>
            </a:r>
            <a:r>
              <a:rPr lang="en-US" altLang="zh-CN" sz="2400" dirty="0">
                <a:solidFill>
                  <a:srgbClr val="FF0000"/>
                </a:solidFill>
              </a:rPr>
              <a:t>reusable or consumable </a:t>
            </a:r>
            <a:r>
              <a:rPr lang="en-US" altLang="zh-CN" sz="2400" dirty="0"/>
              <a:t>resources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Dealing with deadlock: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prevention</a:t>
            </a:r>
            <a:r>
              <a:rPr lang="en-US" altLang="zh-CN" sz="2400" dirty="0"/>
              <a:t> – guarantees that deadlock will not occur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avoidance</a:t>
            </a:r>
            <a:r>
              <a:rPr lang="en-US" altLang="zh-CN" sz="2400" dirty="0"/>
              <a:t> – analyzes each new resource request (Banker algorithm)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detection</a:t>
            </a:r>
            <a:r>
              <a:rPr lang="en-US" altLang="zh-CN" sz="2400" dirty="0"/>
              <a:t> – OS checks for deadlock and takes action (recovery)</a:t>
            </a:r>
          </a:p>
          <a:p>
            <a:pPr lvl="1"/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C6A4BA-6123-45E7-B227-3B3D739C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06A3A-E781-4953-9A55-76E854E98172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9ED51F-6719-43B3-825B-08C83D08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46</a:t>
            </a:fld>
            <a:r>
              <a:rPr lang="en-US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8357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625C-F710-DA4B-84B6-4DD21362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86BB-89EB-9040-9826-83BDC586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state of a system:</a:t>
            </a:r>
          </a:p>
          <a:p>
            <a:r>
              <a:rPr lang="en-US" dirty="0"/>
              <a:t>The system comprises of five processes and four resources.</a:t>
            </a:r>
          </a:p>
          <a:p>
            <a:r>
              <a:rPr lang="en-US" dirty="0"/>
              <a:t>P1–P5 denotes the set of processes.</a:t>
            </a:r>
          </a:p>
          <a:p>
            <a:r>
              <a:rPr lang="en-US" dirty="0"/>
              <a:t>R1–R4 denotes the set of resources.</a:t>
            </a:r>
          </a:p>
          <a:p>
            <a:r>
              <a:rPr lang="en-US" dirty="0"/>
              <a:t>Total Existing Resources: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9BEAD-A74F-7D4A-ADB0-DD204888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47</a:t>
            </a:fld>
            <a:r>
              <a:rPr lang="en-US"/>
              <a:t>/40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DD0C-7749-304B-ADAC-9B755295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1B0C-9005-4F3C-AFC7-BED016BC6699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499F3-36E2-2848-BFE4-1F5465A2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74" y="3890650"/>
            <a:ext cx="10285533" cy="115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3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49AA-2524-5749-B3AB-14854423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EEDA3-A61F-A247-B672-CECBE60A5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Snapshot at the initial time stage: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63264-BC19-ED41-97C4-54548D56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48</a:t>
            </a:fld>
            <a:r>
              <a:rPr lang="en-US"/>
              <a:t>/40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598C5-78E4-A147-A983-67863DDF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1B0C-9005-4F3C-AFC7-BED016BC6699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DC056-54E5-B444-9BFD-16DB1A1E3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079" y="1220051"/>
            <a:ext cx="6235569" cy="25861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904AD-4591-F74E-A007-476CF2ADD759}"/>
              </a:ext>
            </a:extLst>
          </p:cNvPr>
          <p:cNvSpPr txBox="1"/>
          <p:nvPr/>
        </p:nvSpPr>
        <p:spPr>
          <a:xfrm>
            <a:off x="1112363" y="3970397"/>
            <a:ext cx="108785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a. Compute the Available vector.</a:t>
            </a:r>
          </a:p>
          <a:p>
            <a:r>
              <a:rPr lang="en-US" sz="2000" dirty="0"/>
              <a:t>b. Compute the Need Matrix.</a:t>
            </a:r>
          </a:p>
          <a:p>
            <a:r>
              <a:rPr lang="en-US" sz="2000" dirty="0"/>
              <a:t>c. Is the current allocation state safe? If so, give a safe sequence of the process.</a:t>
            </a:r>
            <a:r>
              <a:rPr lang="zh-CN" altLang="en-US" sz="2000" dirty="0"/>
              <a:t> </a:t>
            </a:r>
            <a:r>
              <a:rPr lang="en-US" sz="2000" dirty="0"/>
              <a:t>In addition, show how the Available (working array) changes as each process</a:t>
            </a:r>
            <a:r>
              <a:rPr lang="zh-CN" altLang="en-US" sz="2000" dirty="0"/>
              <a:t> </a:t>
            </a:r>
            <a:r>
              <a:rPr lang="en-US" sz="2000" dirty="0"/>
              <a:t>terminates.</a:t>
            </a:r>
          </a:p>
          <a:p>
            <a:r>
              <a:rPr lang="en-US" sz="2000" dirty="0"/>
              <a:t>d. If the request (1, 1, 0, 0) from P1 arrives, will it be correct to grant the </a:t>
            </a:r>
            <a:r>
              <a:rPr lang="en-US" sz="2000" dirty="0" err="1"/>
              <a:t>request?Justify</a:t>
            </a:r>
            <a:r>
              <a:rPr lang="en-US" sz="2000" dirty="0"/>
              <a:t> your decision.</a:t>
            </a:r>
          </a:p>
        </p:txBody>
      </p:sp>
    </p:spTree>
    <p:extLst>
      <p:ext uri="{BB962C8B-B14F-4D97-AF65-F5344CB8AC3E}">
        <p14:creationId xmlns:p14="http://schemas.microsoft.com/office/powerpoint/2010/main" val="2460316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3408-5E10-304B-AF8D-90F7CF2A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702E-8CCA-244F-9F03-2DD4D711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43725-E9EB-9A48-AFD0-8D5A4E7C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49</a:t>
            </a:fld>
            <a:r>
              <a:rPr lang="en-US"/>
              <a:t>/40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92BCF-A807-5B44-8F01-5C6FD1D9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1B0C-9005-4F3C-AFC7-BED016BC6699}" type="datetime1">
              <a:rPr lang="zh-CN" altLang="en-US" smtClean="0"/>
              <a:t>2026/5/12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2DE8A-5E51-684F-94CB-F8BF2E74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7" y="849787"/>
            <a:ext cx="10469458" cy="497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95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3151</TotalTime>
  <Words>1947</Words>
  <Application>Microsoft Macintosh PowerPoint</Application>
  <PresentationFormat>Widescreen</PresentationFormat>
  <Paragraphs>332</Paragraphs>
  <Slides>49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等线</vt:lpstr>
      <vt:lpstr>Microsoft YaHei</vt:lpstr>
      <vt:lpstr>Microsoft YaHei UI</vt:lpstr>
      <vt:lpstr>TimesTenLTStd-Bold</vt:lpstr>
      <vt:lpstr>TimesTenLTStd-Roman</vt:lpstr>
      <vt:lpstr>Arial</vt:lpstr>
      <vt:lpstr>Calibri</vt:lpstr>
      <vt:lpstr>Cambria Math</vt:lpstr>
      <vt:lpstr>Wingdings</vt:lpstr>
      <vt:lpstr>1_Office 主题​​</vt:lpstr>
      <vt:lpstr>PowerPoint Presentation</vt:lpstr>
      <vt:lpstr>Outline</vt:lpstr>
      <vt:lpstr>6.1 Deadlock</vt:lpstr>
      <vt:lpstr>Potential Deadlock </vt:lpstr>
      <vt:lpstr>Actual Deadlock</vt:lpstr>
      <vt:lpstr>Deadlock Example</vt:lpstr>
      <vt:lpstr>Joint Progress Diagram (联合进程图)</vt:lpstr>
      <vt:lpstr>No Deadlock Example</vt:lpstr>
      <vt:lpstr>Joint Progress Diagram (联合进程图)</vt:lpstr>
      <vt:lpstr>Resource Categories</vt:lpstr>
      <vt:lpstr>Example 1: reusable resource</vt:lpstr>
      <vt:lpstr>Example 2: Memory Request</vt:lpstr>
      <vt:lpstr>Consumable Resources Deadlock</vt:lpstr>
      <vt:lpstr>Resource Allocation Graphs</vt:lpstr>
      <vt:lpstr>Resource Allocation Graphs</vt:lpstr>
      <vt:lpstr>Resource Allocation Graphs</vt:lpstr>
      <vt:lpstr>Resource Allocation Graphs</vt:lpstr>
      <vt:lpstr>Conditions for Deadlock</vt:lpstr>
      <vt:lpstr>Conditions for Deadlock</vt:lpstr>
      <vt:lpstr>Three Approaches Dealing with Deadlock</vt:lpstr>
      <vt:lpstr>6.2 Deadlock Prevention </vt:lpstr>
      <vt:lpstr>6.2 Deadlock Prevention </vt:lpstr>
      <vt:lpstr>6.3 Deadlock Avoidance</vt:lpstr>
      <vt:lpstr>Two Approaches to Deadlock Avoidance</vt:lpstr>
      <vt:lpstr>Key Element Definitions</vt:lpstr>
      <vt:lpstr>Process Initiation Denial （进程启动拒绝）</vt:lpstr>
      <vt:lpstr>Resource Allocation Denial （资源分配拒绝）</vt:lpstr>
      <vt:lpstr>Determination of a Safe State</vt:lpstr>
      <vt:lpstr>P2 Runs to Completion</vt:lpstr>
      <vt:lpstr>P1 Runs to Completion</vt:lpstr>
      <vt:lpstr>P3 Runs to Completion</vt:lpstr>
      <vt:lpstr>Determination of an Unsafe State</vt:lpstr>
      <vt:lpstr>Determination of an Unsafe State</vt:lpstr>
      <vt:lpstr>Quiz</vt:lpstr>
      <vt:lpstr>Deadlock Avoidance Logic</vt:lpstr>
      <vt:lpstr>Deadlock Avoidance Logic</vt:lpstr>
      <vt:lpstr>Deadlock Avoidance Advantages</vt:lpstr>
      <vt:lpstr>6.4 Deadlock Detection</vt:lpstr>
      <vt:lpstr>Deadlock Detection Strategy </vt:lpstr>
      <vt:lpstr>Examples of Deadlock Detection </vt:lpstr>
      <vt:lpstr>Recovery Strategies </vt:lpstr>
      <vt:lpstr>Dining Philosophers Problem</vt:lpstr>
      <vt:lpstr>Solution Using Semaphores</vt:lpstr>
      <vt:lpstr>A Second Solution . . . </vt:lpstr>
      <vt:lpstr>Solution Using A Monitor</vt:lpstr>
      <vt:lpstr>Summary</vt:lpstr>
      <vt:lpstr>Quiz</vt:lpstr>
      <vt:lpstr>Quiz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yang li</cp:lastModifiedBy>
  <cp:revision>513</cp:revision>
  <dcterms:created xsi:type="dcterms:W3CDTF">2020-02-20T05:29:15Z</dcterms:created>
  <dcterms:modified xsi:type="dcterms:W3CDTF">2026-05-11T16:37:47Z</dcterms:modified>
</cp:coreProperties>
</file>