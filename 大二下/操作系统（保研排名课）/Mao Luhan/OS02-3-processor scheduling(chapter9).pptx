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51"/>
  </p:notesMasterIdLst>
  <p:sldIdLst>
    <p:sldId id="321" r:id="rId2"/>
    <p:sldId id="379" r:id="rId3"/>
    <p:sldId id="380" r:id="rId4"/>
    <p:sldId id="370" r:id="rId5"/>
    <p:sldId id="329" r:id="rId6"/>
    <p:sldId id="331" r:id="rId7"/>
    <p:sldId id="381" r:id="rId8"/>
    <p:sldId id="334" r:id="rId9"/>
    <p:sldId id="335" r:id="rId10"/>
    <p:sldId id="336" r:id="rId11"/>
    <p:sldId id="371" r:id="rId12"/>
    <p:sldId id="339" r:id="rId13"/>
    <p:sldId id="372" r:id="rId14"/>
    <p:sldId id="340" r:id="rId15"/>
    <p:sldId id="373" r:id="rId16"/>
    <p:sldId id="341" r:id="rId17"/>
    <p:sldId id="342" r:id="rId18"/>
    <p:sldId id="345" r:id="rId19"/>
    <p:sldId id="346" r:id="rId20"/>
    <p:sldId id="382" r:id="rId21"/>
    <p:sldId id="374" r:id="rId22"/>
    <p:sldId id="347" r:id="rId23"/>
    <p:sldId id="383" r:id="rId24"/>
    <p:sldId id="384" r:id="rId25"/>
    <p:sldId id="348" r:id="rId26"/>
    <p:sldId id="375" r:id="rId27"/>
    <p:sldId id="351" r:id="rId28"/>
    <p:sldId id="385" r:id="rId29"/>
    <p:sldId id="353" r:id="rId30"/>
    <p:sldId id="386" r:id="rId31"/>
    <p:sldId id="354" r:id="rId32"/>
    <p:sldId id="355" r:id="rId33"/>
    <p:sldId id="356" r:id="rId34"/>
    <p:sldId id="357" r:id="rId35"/>
    <p:sldId id="387" r:id="rId36"/>
    <p:sldId id="358" r:id="rId37"/>
    <p:sldId id="388" r:id="rId38"/>
    <p:sldId id="359" r:id="rId39"/>
    <p:sldId id="360" r:id="rId40"/>
    <p:sldId id="352" r:id="rId41"/>
    <p:sldId id="376" r:id="rId42"/>
    <p:sldId id="367" r:id="rId43"/>
    <p:sldId id="368" r:id="rId44"/>
    <p:sldId id="377" r:id="rId45"/>
    <p:sldId id="389" r:id="rId46"/>
    <p:sldId id="369" r:id="rId47"/>
    <p:sldId id="378" r:id="rId48"/>
    <p:sldId id="390" r:id="rId49"/>
    <p:sldId id="391"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4" autoAdjust="0"/>
    <p:restoredTop sz="76445" autoAdjust="0"/>
  </p:normalViewPr>
  <p:slideViewPr>
    <p:cSldViewPr snapToGrid="0">
      <p:cViewPr varScale="1">
        <p:scale>
          <a:sx n="126" d="100"/>
          <a:sy n="126" d="100"/>
        </p:scale>
        <p:origin x="232" y="208"/>
      </p:cViewPr>
      <p:guideLst/>
    </p:cSldViewPr>
  </p:slideViewPr>
  <p:outlineViewPr>
    <p:cViewPr>
      <p:scale>
        <a:sx n="33" d="100"/>
        <a:sy n="33" d="100"/>
      </p:scale>
      <p:origin x="0" y="-640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C0710-FEB9-4CE2-9CD9-B63D1A3DC4CE}" type="datetimeFigureOut">
              <a:rPr lang="zh-CN" altLang="en-US" smtClean="0"/>
              <a:t>2026/3/24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1A7FE0-CD29-4BAD-A9FD-CBED1172C06E}" type="slidenum">
              <a:rPr lang="zh-CN" altLang="en-US" smtClean="0"/>
              <a:t>‹#›</a:t>
            </a:fld>
            <a:endParaRPr lang="zh-CN" altLang="en-US"/>
          </a:p>
        </p:txBody>
      </p:sp>
    </p:spTree>
    <p:extLst>
      <p:ext uri="{BB962C8B-B14F-4D97-AF65-F5344CB8AC3E}">
        <p14:creationId xmlns:p14="http://schemas.microsoft.com/office/powerpoint/2010/main" val="998221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8</a:t>
            </a:fld>
            <a:endParaRPr lang="zh-CN" altLang="en-US"/>
          </a:p>
        </p:txBody>
      </p:sp>
    </p:spTree>
    <p:extLst>
      <p:ext uri="{BB962C8B-B14F-4D97-AF65-F5344CB8AC3E}">
        <p14:creationId xmlns:p14="http://schemas.microsoft.com/office/powerpoint/2010/main" val="530562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10</a:t>
            </a:fld>
            <a:endParaRPr lang="zh-CN" altLang="en-US"/>
          </a:p>
        </p:txBody>
      </p:sp>
    </p:spTree>
    <p:extLst>
      <p:ext uri="{BB962C8B-B14F-4D97-AF65-F5344CB8AC3E}">
        <p14:creationId xmlns:p14="http://schemas.microsoft.com/office/powerpoint/2010/main" val="3347445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饥饿</a:t>
            </a:r>
          </a:p>
        </p:txBody>
      </p:sp>
      <p:sp>
        <p:nvSpPr>
          <p:cNvPr id="4" name="灯片编号占位符 3"/>
          <p:cNvSpPr>
            <a:spLocks noGrp="1"/>
          </p:cNvSpPr>
          <p:nvPr>
            <p:ph type="sldNum" sz="quarter" idx="5"/>
          </p:nvPr>
        </p:nvSpPr>
        <p:spPr/>
        <p:txBody>
          <a:bodyPr/>
          <a:lstStyle/>
          <a:p>
            <a:fld id="{201A7FE0-CD29-4BAD-A9FD-CBED1172C06E}" type="slidenum">
              <a:rPr lang="zh-CN" altLang="en-US" smtClean="0"/>
              <a:t>14</a:t>
            </a:fld>
            <a:endParaRPr lang="zh-CN" altLang="en-US"/>
          </a:p>
        </p:txBody>
      </p:sp>
    </p:spTree>
    <p:extLst>
      <p:ext uri="{BB962C8B-B14F-4D97-AF65-F5344CB8AC3E}">
        <p14:creationId xmlns:p14="http://schemas.microsoft.com/office/powerpoint/2010/main" val="3000135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22</a:t>
            </a:fld>
            <a:endParaRPr lang="zh-CN" altLang="en-US"/>
          </a:p>
        </p:txBody>
      </p:sp>
    </p:spTree>
    <p:extLst>
      <p:ext uri="{BB962C8B-B14F-4D97-AF65-F5344CB8AC3E}">
        <p14:creationId xmlns:p14="http://schemas.microsoft.com/office/powerpoint/2010/main" val="3551866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23</a:t>
            </a:fld>
            <a:endParaRPr lang="zh-CN" altLang="en-US"/>
          </a:p>
        </p:txBody>
      </p:sp>
    </p:spTree>
    <p:extLst>
      <p:ext uri="{BB962C8B-B14F-4D97-AF65-F5344CB8AC3E}">
        <p14:creationId xmlns:p14="http://schemas.microsoft.com/office/powerpoint/2010/main" val="643905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38</a:t>
            </a:fld>
            <a:endParaRPr lang="zh-CN" altLang="en-US"/>
          </a:p>
        </p:txBody>
      </p:sp>
    </p:spTree>
    <p:extLst>
      <p:ext uri="{BB962C8B-B14F-4D97-AF65-F5344CB8AC3E}">
        <p14:creationId xmlns:p14="http://schemas.microsoft.com/office/powerpoint/2010/main" val="471330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201A7FE0-CD29-4BAD-A9FD-CBED1172C06E}" type="slidenum">
              <a:rPr lang="zh-CN" altLang="en-US" smtClean="0"/>
              <a:t>46</a:t>
            </a:fld>
            <a:endParaRPr lang="zh-CN" altLang="en-US"/>
          </a:p>
        </p:txBody>
      </p:sp>
    </p:spTree>
    <p:extLst>
      <p:ext uri="{BB962C8B-B14F-4D97-AF65-F5344CB8AC3E}">
        <p14:creationId xmlns:p14="http://schemas.microsoft.com/office/powerpoint/2010/main" val="2083973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8676ED-31AD-43FB-A49E-D33E228AB4D0}"/>
              </a:ext>
            </a:extLst>
          </p:cNvPr>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81422C94-50F2-4AE9-86A9-E61113E142DD}"/>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585A43B6-600F-417C-93A9-1FD37B86D193}"/>
              </a:ext>
            </a:extLst>
          </p:cNvPr>
          <p:cNvSpPr>
            <a:spLocks noGrp="1"/>
          </p:cNvSpPr>
          <p:nvPr>
            <p:ph type="dt" sz="half" idx="10"/>
          </p:nvPr>
        </p:nvSpPr>
        <p:spPr/>
        <p:txBody>
          <a:bodyPr/>
          <a:lstStyle/>
          <a:p>
            <a:fld id="{8CD518D2-B6AF-44E6-AA62-E551DAC8C681}" type="datetime1">
              <a:rPr lang="zh-CN" altLang="en-US" smtClean="0"/>
              <a:t>2026/3/24</a:t>
            </a:fld>
            <a:endParaRPr lang="zh-CN" altLang="en-US"/>
          </a:p>
        </p:txBody>
      </p:sp>
      <p:sp>
        <p:nvSpPr>
          <p:cNvPr id="5" name="页脚占位符 4">
            <a:extLst>
              <a:ext uri="{FF2B5EF4-FFF2-40B4-BE49-F238E27FC236}">
                <a16:creationId xmlns:a16="http://schemas.microsoft.com/office/drawing/2014/main" id="{7D46F7F6-9FE2-4D4C-864B-75CAFF3974D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ED69EF-23A2-4ACE-83F0-B1DA318EB2B7}"/>
              </a:ext>
            </a:extLst>
          </p:cNvPr>
          <p:cNvSpPr>
            <a:spLocks noGrp="1"/>
          </p:cNvSpPr>
          <p:nvPr>
            <p:ph type="sldNum" sz="quarter" idx="12"/>
          </p:nvPr>
        </p:nvSpPr>
        <p:spPr/>
        <p:txBody>
          <a:bodyPr/>
          <a:lstStyle/>
          <a:p>
            <a:fld id="{7C1195D6-D476-4847-9419-038ABCB65AC4}" type="slidenum">
              <a:rPr lang="zh-CN" altLang="en-US" smtClean="0"/>
              <a:pPr/>
              <a:t>‹#›</a:t>
            </a:fld>
            <a:endParaRPr lang="zh-CN" altLang="en-US" dirty="0"/>
          </a:p>
        </p:txBody>
      </p:sp>
    </p:spTree>
    <p:extLst>
      <p:ext uri="{BB962C8B-B14F-4D97-AF65-F5344CB8AC3E}">
        <p14:creationId xmlns:p14="http://schemas.microsoft.com/office/powerpoint/2010/main" val="2598045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E71735-B29C-4DD1-A401-C0EC3324C0C3}"/>
              </a:ext>
            </a:extLst>
          </p:cNvPr>
          <p:cNvSpPr>
            <a:spLocks noGrp="1"/>
          </p:cNvSpPr>
          <p:nvPr>
            <p:ph type="title"/>
          </p:nvPr>
        </p:nvSpPr>
        <p:spPr>
          <a:xfrm>
            <a:off x="513080" y="136523"/>
            <a:ext cx="10515600" cy="616768"/>
          </a:xfrm>
        </p:spPr>
        <p:txBody>
          <a:bodyPr>
            <a:noAutofit/>
          </a:bodyPr>
          <a:lstStyle>
            <a:lvl1pPr>
              <a:defRPr sz="2800">
                <a:solidFill>
                  <a:schemeClr val="accent1">
                    <a:lumMod val="75000"/>
                  </a:schemeClr>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endParaRPr lang="en-US" dirty="0"/>
          </a:p>
        </p:txBody>
      </p:sp>
      <p:sp>
        <p:nvSpPr>
          <p:cNvPr id="3" name="内容占位符 2">
            <a:extLst>
              <a:ext uri="{FF2B5EF4-FFF2-40B4-BE49-F238E27FC236}">
                <a16:creationId xmlns:a16="http://schemas.microsoft.com/office/drawing/2014/main" id="{908E37B7-8C78-4782-A312-6CE3597C91CB}"/>
              </a:ext>
            </a:extLst>
          </p:cNvPr>
          <p:cNvSpPr>
            <a:spLocks noGrp="1"/>
          </p:cNvSpPr>
          <p:nvPr>
            <p:ph idx="1"/>
          </p:nvPr>
        </p:nvSpPr>
        <p:spPr>
          <a:xfrm>
            <a:off x="838200" y="841103"/>
            <a:ext cx="10515600" cy="5175794"/>
          </a:xfrm>
        </p:spPr>
        <p:txBody>
          <a:bodyPr>
            <a:normAutofit/>
          </a:bodyPr>
          <a:lstStyle>
            <a:lvl1pPr algn="just">
              <a:lnSpc>
                <a:spcPct val="100000"/>
              </a:lnSpc>
              <a:defRPr sz="2400">
                <a:latin typeface="Microsoft YaHei" panose="020B0503020204020204" pitchFamily="34" charset="-122"/>
                <a:ea typeface="Microsoft YaHei" panose="020B0503020204020204" pitchFamily="34" charset="-122"/>
              </a:defRPr>
            </a:lvl1pPr>
            <a:lvl2pPr algn="just">
              <a:lnSpc>
                <a:spcPct val="100000"/>
              </a:lnSpc>
              <a:defRPr sz="2000">
                <a:latin typeface="Microsoft YaHei" panose="020B0503020204020204" pitchFamily="34" charset="-122"/>
                <a:ea typeface="Microsoft YaHei" panose="020B0503020204020204" pitchFamily="34" charset="-122"/>
              </a:defRPr>
            </a:lvl2pPr>
            <a:lvl3pPr algn="just">
              <a:lnSpc>
                <a:spcPct val="100000"/>
              </a:lnSpc>
              <a:defRPr sz="2000">
                <a:latin typeface="Microsoft YaHei" panose="020B0503020204020204" pitchFamily="34" charset="-122"/>
                <a:ea typeface="Microsoft YaHei" panose="020B0503020204020204" pitchFamily="34" charset="-122"/>
              </a:defRPr>
            </a:lvl3pPr>
            <a:lvl4pPr algn="just">
              <a:lnSpc>
                <a:spcPct val="100000"/>
              </a:lnSpc>
              <a:defRPr sz="2000">
                <a:latin typeface="Microsoft YaHei" panose="020B0503020204020204" pitchFamily="34" charset="-122"/>
                <a:ea typeface="Microsoft YaHei" panose="020B0503020204020204" pitchFamily="34" charset="-122"/>
              </a:defRPr>
            </a:lvl4pPr>
            <a:lvl5pPr algn="just">
              <a:lnSpc>
                <a:spcPct val="100000"/>
              </a:lnSpc>
              <a:defRPr sz="2000">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6" name="灯片编号占位符 5">
            <a:extLst>
              <a:ext uri="{FF2B5EF4-FFF2-40B4-BE49-F238E27FC236}">
                <a16:creationId xmlns:a16="http://schemas.microsoft.com/office/drawing/2014/main" id="{ADB372F8-B13E-4C13-8035-517AFC049A58}"/>
              </a:ext>
            </a:extLst>
          </p:cNvPr>
          <p:cNvSpPr>
            <a:spLocks noGrp="1"/>
          </p:cNvSpPr>
          <p:nvPr>
            <p:ph type="sldNum" sz="quarter" idx="12"/>
          </p:nvPr>
        </p:nvSpPr>
        <p:spPr/>
        <p:txBody>
          <a:bodyPr/>
          <a:lstStyle/>
          <a:p>
            <a:fld id="{2093D444-7193-46AD-90E8-D84AE4B61CFF}" type="slidenum">
              <a:rPr lang="en-US" smtClean="0"/>
              <a:pPr/>
              <a:t>‹#›</a:t>
            </a:fld>
            <a:r>
              <a:rPr lang="en-US" dirty="0"/>
              <a:t>/56</a:t>
            </a:r>
          </a:p>
        </p:txBody>
      </p:sp>
      <p:sp>
        <p:nvSpPr>
          <p:cNvPr id="11" name="文本框 10">
            <a:extLst>
              <a:ext uri="{FF2B5EF4-FFF2-40B4-BE49-F238E27FC236}">
                <a16:creationId xmlns:a16="http://schemas.microsoft.com/office/drawing/2014/main" id="{CCFC96DF-A291-4168-A068-D1202F815F00}"/>
              </a:ext>
            </a:extLst>
          </p:cNvPr>
          <p:cNvSpPr txBox="1"/>
          <p:nvPr userDrawn="1"/>
        </p:nvSpPr>
        <p:spPr>
          <a:xfrm>
            <a:off x="4464595" y="6369251"/>
            <a:ext cx="3924031" cy="461665"/>
          </a:xfrm>
          <a:prstGeom prst="rect">
            <a:avLst/>
          </a:prstGeom>
          <a:noFill/>
        </p:spPr>
        <p:txBody>
          <a:bodyPr wrap="square" rtlCol="0">
            <a:spAutoFit/>
          </a:bodyPr>
          <a:lstStyle/>
          <a:p>
            <a:pPr algn="ctr"/>
            <a:r>
              <a:rPr lang="en-US" sz="2400" b="1" dirty="0">
                <a:solidFill>
                  <a:schemeClr val="accent1">
                    <a:lumMod val="75000"/>
                  </a:schemeClr>
                </a:solidFill>
              </a:rPr>
              <a:t>OS:</a:t>
            </a:r>
            <a:r>
              <a:rPr lang="zh-CN" altLang="en-US" sz="2400" b="1" dirty="0">
                <a:solidFill>
                  <a:schemeClr val="accent1">
                    <a:lumMod val="75000"/>
                  </a:schemeClr>
                </a:solidFill>
              </a:rPr>
              <a:t> </a:t>
            </a:r>
            <a:r>
              <a:rPr lang="en-US" sz="2400" b="1" dirty="0">
                <a:solidFill>
                  <a:schemeClr val="accent1">
                    <a:lumMod val="75000"/>
                  </a:schemeClr>
                </a:solidFill>
              </a:rPr>
              <a:t>U</a:t>
            </a:r>
            <a:r>
              <a:rPr lang="en-US" altLang="zh-CN" sz="2400" b="1" dirty="0">
                <a:solidFill>
                  <a:schemeClr val="accent1">
                    <a:lumMod val="75000"/>
                  </a:schemeClr>
                </a:solidFill>
              </a:rPr>
              <a:t>niprocessor Scheduling</a:t>
            </a:r>
            <a:endParaRPr lang="en-US" sz="2400" b="1" dirty="0">
              <a:solidFill>
                <a:schemeClr val="accent1">
                  <a:lumMod val="75000"/>
                </a:schemeClr>
              </a:solidFill>
            </a:endParaRPr>
          </a:p>
        </p:txBody>
      </p:sp>
      <p:sp>
        <p:nvSpPr>
          <p:cNvPr id="7" name="日期占位符 3">
            <a:extLst>
              <a:ext uri="{FF2B5EF4-FFF2-40B4-BE49-F238E27FC236}">
                <a16:creationId xmlns:a16="http://schemas.microsoft.com/office/drawing/2014/main" id="{D7DCD789-2F9C-4890-8FFB-CFE5A82A6AA3}"/>
              </a:ext>
            </a:extLst>
          </p:cNvPr>
          <p:cNvSpPr>
            <a:spLocks noGrp="1"/>
          </p:cNvSpPr>
          <p:nvPr>
            <p:ph type="dt" sz="half" idx="10"/>
          </p:nvPr>
        </p:nvSpPr>
        <p:spPr>
          <a:xfrm>
            <a:off x="838200" y="6356352"/>
            <a:ext cx="2743200" cy="365125"/>
          </a:xfrm>
        </p:spPr>
        <p:txBody>
          <a:bodyPr/>
          <a:lstStyle/>
          <a:p>
            <a:fld id="{CAE4635A-F0E4-48AF-AAB4-A99FBE2C944F}" type="datetime1">
              <a:rPr lang="zh-CN" altLang="en-US" smtClean="0"/>
              <a:t>2026/3/24</a:t>
            </a:fld>
            <a:endParaRPr lang="zh-CN" altLang="en-US" dirty="0"/>
          </a:p>
        </p:txBody>
      </p:sp>
    </p:spTree>
    <p:extLst>
      <p:ext uri="{BB962C8B-B14F-4D97-AF65-F5344CB8AC3E}">
        <p14:creationId xmlns:p14="http://schemas.microsoft.com/office/powerpoint/2010/main" val="588874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2FB2E7-CD10-401E-B2A8-7149F8475B8D}"/>
              </a:ext>
            </a:extLst>
          </p:cNvPr>
          <p:cNvSpPr>
            <a:spLocks noGrp="1"/>
          </p:cNvSpPr>
          <p:nvPr>
            <p:ph type="title"/>
          </p:nvPr>
        </p:nvSpPr>
        <p:spPr>
          <a:xfrm>
            <a:off x="831851" y="1709740"/>
            <a:ext cx="10515600" cy="2852737"/>
          </a:xfrm>
        </p:spPr>
        <p:txBody>
          <a:bodyPr anchor="b"/>
          <a:lstStyle>
            <a:lvl1pPr>
              <a:defRPr sz="4500">
                <a:latin typeface="Microsoft YaHei" panose="020B0503020204020204" pitchFamily="34" charset="-122"/>
                <a:ea typeface="Microsoft YaHei" panose="020B0503020204020204" pitchFamily="34" charset="-122"/>
              </a:defRPr>
            </a:lvl1pPr>
          </a:lstStyle>
          <a:p>
            <a:r>
              <a:rPr lang="zh-CN" altLang="en-US" dirty="0"/>
              <a:t>单击此处编辑母版标题样式</a:t>
            </a:r>
            <a:endParaRPr lang="en-US" dirty="0"/>
          </a:p>
        </p:txBody>
      </p:sp>
      <p:sp>
        <p:nvSpPr>
          <p:cNvPr id="3" name="文本占位符 2">
            <a:extLst>
              <a:ext uri="{FF2B5EF4-FFF2-40B4-BE49-F238E27FC236}">
                <a16:creationId xmlns:a16="http://schemas.microsoft.com/office/drawing/2014/main" id="{24A83809-0CD6-4E99-B235-4D681390A374}"/>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F11F12C-08AA-45AB-908E-59440A6C564C}"/>
              </a:ext>
            </a:extLst>
          </p:cNvPr>
          <p:cNvSpPr>
            <a:spLocks noGrp="1"/>
          </p:cNvSpPr>
          <p:nvPr>
            <p:ph type="dt" sz="half" idx="10"/>
          </p:nvPr>
        </p:nvSpPr>
        <p:spPr/>
        <p:txBody>
          <a:bodyPr/>
          <a:lstStyle/>
          <a:p>
            <a:fld id="{9311E9D2-2264-459C-8B3D-B5F4E24A78EE}" type="datetime1">
              <a:rPr lang="zh-CN" altLang="en-US" smtClean="0"/>
              <a:t>2026/3/24</a:t>
            </a:fld>
            <a:endParaRPr lang="zh-CN" altLang="en-US" dirty="0"/>
          </a:p>
        </p:txBody>
      </p:sp>
      <p:sp>
        <p:nvSpPr>
          <p:cNvPr id="5" name="页脚占位符 4">
            <a:extLst>
              <a:ext uri="{FF2B5EF4-FFF2-40B4-BE49-F238E27FC236}">
                <a16:creationId xmlns:a16="http://schemas.microsoft.com/office/drawing/2014/main" id="{A2461642-9D96-4148-8180-D0B2B5019D5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34EB5D8-A13F-457E-826D-95AC9FB55656}"/>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2379403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6E999A-7582-4E5D-A9FB-8CDEF52EED16}"/>
              </a:ext>
            </a:extLst>
          </p:cNvPr>
          <p:cNvSpPr>
            <a:spLocks noGrp="1"/>
          </p:cNvSpPr>
          <p:nvPr>
            <p:ph type="title"/>
          </p:nvPr>
        </p:nvSpPr>
        <p:spPr/>
        <p:txBody>
          <a:bodyPr/>
          <a:lstStyle>
            <a:lvl1pPr>
              <a:defRPr>
                <a:solidFill>
                  <a:schemeClr val="accent1">
                    <a:lumMod val="75000"/>
                  </a:schemeClr>
                </a:solidFill>
              </a:defRPr>
            </a:lvl1pPr>
          </a:lstStyle>
          <a:p>
            <a:r>
              <a:rPr lang="zh-CN" altLang="en-US" dirty="0"/>
              <a:t>单击此处编辑母版标题样式</a:t>
            </a:r>
            <a:endParaRPr lang="en-US" dirty="0"/>
          </a:p>
        </p:txBody>
      </p:sp>
      <p:sp>
        <p:nvSpPr>
          <p:cNvPr id="3" name="内容占位符 2">
            <a:extLst>
              <a:ext uri="{FF2B5EF4-FFF2-40B4-BE49-F238E27FC236}">
                <a16:creationId xmlns:a16="http://schemas.microsoft.com/office/drawing/2014/main" id="{0BA3E153-1AD5-46DD-B8DE-61DF0461F4A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a:extLst>
              <a:ext uri="{FF2B5EF4-FFF2-40B4-BE49-F238E27FC236}">
                <a16:creationId xmlns:a16="http://schemas.microsoft.com/office/drawing/2014/main" id="{2F5248A8-0745-4392-A1F2-F6DF355FFA8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8D9D8C1F-5ACD-48A3-93C6-718634CC3741}"/>
              </a:ext>
            </a:extLst>
          </p:cNvPr>
          <p:cNvSpPr>
            <a:spLocks noGrp="1"/>
          </p:cNvSpPr>
          <p:nvPr>
            <p:ph type="dt" sz="half" idx="10"/>
          </p:nvPr>
        </p:nvSpPr>
        <p:spPr/>
        <p:txBody>
          <a:bodyPr/>
          <a:lstStyle/>
          <a:p>
            <a:fld id="{00E14383-127D-45CE-985C-F5D7DFB9A214}" type="datetime1">
              <a:rPr lang="zh-CN" altLang="en-US" smtClean="0"/>
              <a:t>2026/3/24</a:t>
            </a:fld>
            <a:endParaRPr lang="zh-CN" altLang="en-US"/>
          </a:p>
        </p:txBody>
      </p:sp>
      <p:sp>
        <p:nvSpPr>
          <p:cNvPr id="6" name="页脚占位符 5">
            <a:extLst>
              <a:ext uri="{FF2B5EF4-FFF2-40B4-BE49-F238E27FC236}">
                <a16:creationId xmlns:a16="http://schemas.microsoft.com/office/drawing/2014/main" id="{C2E22B1C-A4A1-4342-9DAC-218041BCC35F}"/>
              </a:ext>
            </a:extLst>
          </p:cNvPr>
          <p:cNvSpPr>
            <a:spLocks noGrp="1"/>
          </p:cNvSpPr>
          <p:nvPr>
            <p:ph type="ftr" sz="quarter" idx="11"/>
          </p:nvPr>
        </p:nvSpPr>
        <p:spPr/>
        <p:txBody>
          <a:bodyPr/>
          <a:lstStyle/>
          <a:p>
            <a:endParaRPr lang="zh-CN" altLang="en-US" dirty="0"/>
          </a:p>
        </p:txBody>
      </p:sp>
      <p:sp>
        <p:nvSpPr>
          <p:cNvPr id="7" name="灯片编号占位符 6">
            <a:extLst>
              <a:ext uri="{FF2B5EF4-FFF2-40B4-BE49-F238E27FC236}">
                <a16:creationId xmlns:a16="http://schemas.microsoft.com/office/drawing/2014/main" id="{A7CCC53A-B54E-4AEB-86B3-C8CD6AF7F265}"/>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3854794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DDE34E-984F-4F04-A7FF-17195BCF186B}"/>
              </a:ext>
            </a:extLst>
          </p:cNvPr>
          <p:cNvSpPr>
            <a:spLocks noGrp="1"/>
          </p:cNvSpPr>
          <p:nvPr>
            <p:ph type="title"/>
          </p:nvPr>
        </p:nvSpPr>
        <p:spPr>
          <a:xfrm>
            <a:off x="839788" y="365127"/>
            <a:ext cx="10515600" cy="1325563"/>
          </a:xfrm>
        </p:spPr>
        <p:txBody>
          <a:bodyPr/>
          <a:lstStyle/>
          <a:p>
            <a:r>
              <a:rPr lang="zh-CN" altLang="en-US" dirty="0"/>
              <a:t>单击此处编辑母版标题样式</a:t>
            </a:r>
            <a:endParaRPr lang="en-US" dirty="0"/>
          </a:p>
        </p:txBody>
      </p:sp>
      <p:sp>
        <p:nvSpPr>
          <p:cNvPr id="3" name="文本占位符 2">
            <a:extLst>
              <a:ext uri="{FF2B5EF4-FFF2-40B4-BE49-F238E27FC236}">
                <a16:creationId xmlns:a16="http://schemas.microsoft.com/office/drawing/2014/main" id="{45761511-A802-4F5E-86A2-D80D5C0ADBBA}"/>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9E9FAF3-D8C1-45A2-BA48-80B34986626F}"/>
              </a:ext>
            </a:extLst>
          </p:cNvPr>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a:extLst>
              <a:ext uri="{FF2B5EF4-FFF2-40B4-BE49-F238E27FC236}">
                <a16:creationId xmlns:a16="http://schemas.microsoft.com/office/drawing/2014/main" id="{A9251460-B631-4C46-908A-FE9A1052266C}"/>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9EF5D71-25C4-4922-9405-6A048B91126B}"/>
              </a:ext>
            </a:extLst>
          </p:cNvPr>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a:extLst>
              <a:ext uri="{FF2B5EF4-FFF2-40B4-BE49-F238E27FC236}">
                <a16:creationId xmlns:a16="http://schemas.microsoft.com/office/drawing/2014/main" id="{919751F0-F0EA-4B00-B971-5EE1B3773975}"/>
              </a:ext>
            </a:extLst>
          </p:cNvPr>
          <p:cNvSpPr>
            <a:spLocks noGrp="1"/>
          </p:cNvSpPr>
          <p:nvPr>
            <p:ph type="dt" sz="half" idx="10"/>
          </p:nvPr>
        </p:nvSpPr>
        <p:spPr/>
        <p:txBody>
          <a:bodyPr/>
          <a:lstStyle/>
          <a:p>
            <a:fld id="{692E0796-D505-4121-85A8-A7000215742F}" type="datetime1">
              <a:rPr lang="zh-CN" altLang="en-US" smtClean="0"/>
              <a:t>2026/3/24</a:t>
            </a:fld>
            <a:endParaRPr lang="zh-CN" altLang="en-US"/>
          </a:p>
        </p:txBody>
      </p:sp>
      <p:sp>
        <p:nvSpPr>
          <p:cNvPr id="8" name="页脚占位符 7">
            <a:extLst>
              <a:ext uri="{FF2B5EF4-FFF2-40B4-BE49-F238E27FC236}">
                <a16:creationId xmlns:a16="http://schemas.microsoft.com/office/drawing/2014/main" id="{19047BC4-C2D4-4C81-B588-5459ACF089A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A9723A5-6ECE-4EAA-A5C6-EABD8CD3A520}"/>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443493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3852D2-8976-40DD-BA31-408AB98E4FED}"/>
              </a:ext>
            </a:extLst>
          </p:cNvPr>
          <p:cNvSpPr>
            <a:spLocks noGrp="1"/>
          </p:cNvSpPr>
          <p:nvPr>
            <p:ph type="title"/>
          </p:nvPr>
        </p:nvSpPr>
        <p:spPr/>
        <p:txBody>
          <a:bodyPr/>
          <a:lstStyle>
            <a:lvl1pPr>
              <a:defRPr>
                <a:solidFill>
                  <a:schemeClr val="accent1">
                    <a:lumMod val="75000"/>
                  </a:schemeClr>
                </a:solidFill>
              </a:defRPr>
            </a:lvl1pPr>
          </a:lstStyle>
          <a:p>
            <a:r>
              <a:rPr lang="zh-CN" altLang="en-US" dirty="0"/>
              <a:t>单击此处编辑母版标题样式</a:t>
            </a:r>
            <a:endParaRPr lang="en-US" dirty="0"/>
          </a:p>
        </p:txBody>
      </p:sp>
      <p:sp>
        <p:nvSpPr>
          <p:cNvPr id="3" name="日期占位符 2">
            <a:extLst>
              <a:ext uri="{FF2B5EF4-FFF2-40B4-BE49-F238E27FC236}">
                <a16:creationId xmlns:a16="http://schemas.microsoft.com/office/drawing/2014/main" id="{C4858EC2-E957-4F1C-83FD-787BB2CC1D2F}"/>
              </a:ext>
            </a:extLst>
          </p:cNvPr>
          <p:cNvSpPr>
            <a:spLocks noGrp="1"/>
          </p:cNvSpPr>
          <p:nvPr>
            <p:ph type="dt" sz="half" idx="10"/>
          </p:nvPr>
        </p:nvSpPr>
        <p:spPr/>
        <p:txBody>
          <a:bodyPr/>
          <a:lstStyle/>
          <a:p>
            <a:fld id="{A3ED18E7-AF16-403D-9175-2BEDA2EA9B61}" type="datetime1">
              <a:rPr lang="zh-CN" altLang="en-US" smtClean="0"/>
              <a:t>2026/3/24</a:t>
            </a:fld>
            <a:endParaRPr lang="zh-CN" altLang="en-US"/>
          </a:p>
        </p:txBody>
      </p:sp>
      <p:sp>
        <p:nvSpPr>
          <p:cNvPr id="4" name="页脚占位符 3">
            <a:extLst>
              <a:ext uri="{FF2B5EF4-FFF2-40B4-BE49-F238E27FC236}">
                <a16:creationId xmlns:a16="http://schemas.microsoft.com/office/drawing/2014/main" id="{7806991F-2419-4982-884B-D42FF1AACC1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398A650-CAEE-412E-B9BF-886CCFDE59DE}"/>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5979014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2DBD33B-092C-4074-8EDA-3C4FE78AD990}"/>
              </a:ext>
            </a:extLst>
          </p:cNvPr>
          <p:cNvSpPr>
            <a:spLocks noGrp="1"/>
          </p:cNvSpPr>
          <p:nvPr>
            <p:ph type="dt" sz="half" idx="10"/>
          </p:nvPr>
        </p:nvSpPr>
        <p:spPr>
          <a:xfrm>
            <a:off x="648788" y="6356351"/>
            <a:ext cx="2743200" cy="365125"/>
          </a:xfrm>
        </p:spPr>
        <p:txBody>
          <a:bodyPr/>
          <a:lstStyle/>
          <a:p>
            <a:fld id="{E85D3D3A-77F9-424B-8401-D88E7443C7BA}" type="datetime1">
              <a:rPr lang="zh-CN" altLang="en-US" smtClean="0"/>
              <a:t>2026/3/24</a:t>
            </a:fld>
            <a:endParaRPr lang="zh-CN" altLang="en-US" dirty="0"/>
          </a:p>
        </p:txBody>
      </p:sp>
      <p:sp>
        <p:nvSpPr>
          <p:cNvPr id="3" name="页脚占位符 2">
            <a:extLst>
              <a:ext uri="{FF2B5EF4-FFF2-40B4-BE49-F238E27FC236}">
                <a16:creationId xmlns:a16="http://schemas.microsoft.com/office/drawing/2014/main" id="{A90D8F40-5181-4836-B8DD-3A9908B08A7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2D2A77F-D152-4CDD-99EA-FD8387BB9014}"/>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3575517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621370-F61A-4FFA-8158-63411BEFA177}"/>
              </a:ext>
            </a:extLst>
          </p:cNvPr>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5054B4E2-CBF2-4B8F-9FBE-CE369EF6ADA3}"/>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a:extLst>
              <a:ext uri="{FF2B5EF4-FFF2-40B4-BE49-F238E27FC236}">
                <a16:creationId xmlns:a16="http://schemas.microsoft.com/office/drawing/2014/main" id="{B1417E24-6C8C-4AC7-8665-96EC08B1E1F7}"/>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E33FA8D-1C48-4107-82A1-179513CC6589}"/>
              </a:ext>
            </a:extLst>
          </p:cNvPr>
          <p:cNvSpPr>
            <a:spLocks noGrp="1"/>
          </p:cNvSpPr>
          <p:nvPr>
            <p:ph type="dt" sz="half" idx="10"/>
          </p:nvPr>
        </p:nvSpPr>
        <p:spPr/>
        <p:txBody>
          <a:bodyPr/>
          <a:lstStyle/>
          <a:p>
            <a:fld id="{CFCB0EA7-74E6-4FB2-9140-FB5D8B03A084}" type="datetime1">
              <a:rPr lang="zh-CN" altLang="en-US" smtClean="0"/>
              <a:t>2026/3/24</a:t>
            </a:fld>
            <a:endParaRPr lang="zh-CN" altLang="en-US"/>
          </a:p>
        </p:txBody>
      </p:sp>
      <p:sp>
        <p:nvSpPr>
          <p:cNvPr id="6" name="页脚占位符 5">
            <a:extLst>
              <a:ext uri="{FF2B5EF4-FFF2-40B4-BE49-F238E27FC236}">
                <a16:creationId xmlns:a16="http://schemas.microsoft.com/office/drawing/2014/main" id="{C1FBC6DC-C4E0-4913-82DB-024E67FFA4B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867BBE5-0CE5-41DC-8976-ECDB91764343}"/>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4156004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E4D30F-E495-4188-86D6-1CC70B805245}"/>
              </a:ext>
            </a:extLst>
          </p:cNvPr>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22FD1BDB-E14E-4C2F-8A31-0C6039476416}"/>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文本占位符 3">
            <a:extLst>
              <a:ext uri="{FF2B5EF4-FFF2-40B4-BE49-F238E27FC236}">
                <a16:creationId xmlns:a16="http://schemas.microsoft.com/office/drawing/2014/main" id="{D4D96B3D-921F-4319-83AB-6599543C116E}"/>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A720358-A521-4F46-ABEB-E0AE1BAB1572}"/>
              </a:ext>
            </a:extLst>
          </p:cNvPr>
          <p:cNvSpPr>
            <a:spLocks noGrp="1"/>
          </p:cNvSpPr>
          <p:nvPr>
            <p:ph type="dt" sz="half" idx="10"/>
          </p:nvPr>
        </p:nvSpPr>
        <p:spPr/>
        <p:txBody>
          <a:bodyPr/>
          <a:lstStyle/>
          <a:p>
            <a:fld id="{46B6A25B-0834-4655-A019-0CA277BBA62B}" type="datetime1">
              <a:rPr lang="zh-CN" altLang="en-US" smtClean="0"/>
              <a:t>2026/3/24</a:t>
            </a:fld>
            <a:endParaRPr lang="zh-CN" altLang="en-US"/>
          </a:p>
        </p:txBody>
      </p:sp>
      <p:sp>
        <p:nvSpPr>
          <p:cNvPr id="6" name="页脚占位符 5">
            <a:extLst>
              <a:ext uri="{FF2B5EF4-FFF2-40B4-BE49-F238E27FC236}">
                <a16:creationId xmlns:a16="http://schemas.microsoft.com/office/drawing/2014/main" id="{C778CC20-8FFA-4C0C-89A1-565524146CE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0CBA9C1-FE7E-475B-A075-82D6279FF9AA}"/>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11974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917C9F-382B-48B3-AEE3-A1275451A3D3}"/>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E05CEB06-E6AC-47BF-A94B-0ED4AAAD249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E1C0F83F-CE58-4F03-BCC7-46A6A13F7963}"/>
              </a:ext>
            </a:extLst>
          </p:cNvPr>
          <p:cNvSpPr>
            <a:spLocks noGrp="1"/>
          </p:cNvSpPr>
          <p:nvPr>
            <p:ph type="dt" sz="half" idx="10"/>
          </p:nvPr>
        </p:nvSpPr>
        <p:spPr/>
        <p:txBody>
          <a:bodyPr/>
          <a:lstStyle/>
          <a:p>
            <a:fld id="{173E3FE8-D20A-4EE4-8226-599A06356ED0}" type="datetime1">
              <a:rPr lang="zh-CN" altLang="en-US" smtClean="0"/>
              <a:t>2026/3/24</a:t>
            </a:fld>
            <a:endParaRPr lang="zh-CN" altLang="en-US"/>
          </a:p>
        </p:txBody>
      </p:sp>
      <p:sp>
        <p:nvSpPr>
          <p:cNvPr id="5" name="页脚占位符 4">
            <a:extLst>
              <a:ext uri="{FF2B5EF4-FFF2-40B4-BE49-F238E27FC236}">
                <a16:creationId xmlns:a16="http://schemas.microsoft.com/office/drawing/2014/main" id="{F059299B-B55F-4721-90C3-0CFE23FA0E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90ADCF-1B44-43D8-AB3F-8541D6238899}"/>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2523736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ED9C40E-5C6D-4234-8128-E50188E5E66C}"/>
              </a:ext>
            </a:extLst>
          </p:cNvPr>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C2E915B8-7307-4BCC-9A61-569D45C95F27}"/>
              </a:ext>
            </a:extLst>
          </p:cNvPr>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66FCA776-3C88-4450-AD71-6D2C500AF8AD}"/>
              </a:ext>
            </a:extLst>
          </p:cNvPr>
          <p:cNvSpPr>
            <a:spLocks noGrp="1"/>
          </p:cNvSpPr>
          <p:nvPr>
            <p:ph type="dt" sz="half" idx="10"/>
          </p:nvPr>
        </p:nvSpPr>
        <p:spPr/>
        <p:txBody>
          <a:bodyPr/>
          <a:lstStyle/>
          <a:p>
            <a:fld id="{4BDFE7FE-20C0-45BF-B15A-146DCD6D0F0A}" type="datetime1">
              <a:rPr lang="zh-CN" altLang="en-US" smtClean="0"/>
              <a:t>2026/3/24</a:t>
            </a:fld>
            <a:endParaRPr lang="zh-CN" altLang="en-US"/>
          </a:p>
        </p:txBody>
      </p:sp>
      <p:sp>
        <p:nvSpPr>
          <p:cNvPr id="5" name="页脚占位符 4">
            <a:extLst>
              <a:ext uri="{FF2B5EF4-FFF2-40B4-BE49-F238E27FC236}">
                <a16:creationId xmlns:a16="http://schemas.microsoft.com/office/drawing/2014/main" id="{46002269-E005-4BE1-94C3-C26720F2B5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9685CF-5F0E-4F70-99BE-CCD46BC0293D}"/>
              </a:ext>
            </a:extLst>
          </p:cNvPr>
          <p:cNvSpPr>
            <a:spLocks noGrp="1"/>
          </p:cNvSpPr>
          <p:nvPr>
            <p:ph type="sldNum" sz="quarter" idx="12"/>
          </p:nvPr>
        </p:nvSpPr>
        <p:spPr/>
        <p:txBody>
          <a:bodyPr/>
          <a:lstStyle/>
          <a:p>
            <a:fld id="{7C1195D6-D476-4847-9419-038ABCB65AC4}" type="slidenum">
              <a:rPr lang="zh-CN" altLang="en-US" smtClean="0"/>
              <a:t>‹#›</a:t>
            </a:fld>
            <a:endParaRPr lang="zh-CN" altLang="en-US"/>
          </a:p>
        </p:txBody>
      </p:sp>
    </p:spTree>
    <p:extLst>
      <p:ext uri="{BB962C8B-B14F-4D97-AF65-F5344CB8AC3E}">
        <p14:creationId xmlns:p14="http://schemas.microsoft.com/office/powerpoint/2010/main" val="3358475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342FFB6-8F21-4ACC-BC1E-3F66BCBF3CA6}"/>
              </a:ext>
            </a:extLst>
          </p:cNvPr>
          <p:cNvSpPr>
            <a:spLocks noGrp="1"/>
          </p:cNvSpPr>
          <p:nvPr>
            <p:ph type="title"/>
          </p:nvPr>
        </p:nvSpPr>
        <p:spPr>
          <a:xfrm>
            <a:off x="627017" y="156305"/>
            <a:ext cx="10515600" cy="596985"/>
          </a:xfrm>
          <a:prstGeom prst="rect">
            <a:avLst/>
          </a:prstGeom>
        </p:spPr>
        <p:txBody>
          <a:bodyPr vert="horz" lIns="91440" tIns="45720" rIns="91440" bIns="45720" rtlCol="0" anchor="ctr">
            <a:noAutofit/>
          </a:bodyPr>
          <a:lstStyle/>
          <a:p>
            <a:r>
              <a:rPr lang="zh-CN" altLang="en-US" dirty="0"/>
              <a:t>单击此处编辑母版标题样式</a:t>
            </a:r>
            <a:endParaRPr lang="en-US" dirty="0"/>
          </a:p>
        </p:txBody>
      </p:sp>
      <p:sp>
        <p:nvSpPr>
          <p:cNvPr id="3" name="文本占位符 2">
            <a:extLst>
              <a:ext uri="{FF2B5EF4-FFF2-40B4-BE49-F238E27FC236}">
                <a16:creationId xmlns:a16="http://schemas.microsoft.com/office/drawing/2014/main" id="{AD525B20-A1AA-4A92-9D7A-2F7B14A413F6}"/>
              </a:ext>
            </a:extLst>
          </p:cNvPr>
          <p:cNvSpPr>
            <a:spLocks noGrp="1"/>
          </p:cNvSpPr>
          <p:nvPr>
            <p:ph type="body" idx="1"/>
          </p:nvPr>
        </p:nvSpPr>
        <p:spPr>
          <a:xfrm>
            <a:off x="838200" y="928915"/>
            <a:ext cx="10515600" cy="5175794"/>
          </a:xfrm>
          <a:prstGeom prst="rect">
            <a:avLst/>
          </a:prstGeom>
        </p:spPr>
        <p:txBody>
          <a:bodyPr vert="horz" lIns="91440" tIns="45720" rIns="91440" bIns="45720" rtlCol="0">
            <a:normAutofit/>
          </a:bodyPr>
          <a:lstStyle/>
          <a:p>
            <a:pPr lvl="0"/>
            <a:r>
              <a:rPr lang="zh-CN" altLang="en-US" dirty="0"/>
              <a:t> 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日期占位符 3">
            <a:extLst>
              <a:ext uri="{FF2B5EF4-FFF2-40B4-BE49-F238E27FC236}">
                <a16:creationId xmlns:a16="http://schemas.microsoft.com/office/drawing/2014/main" id="{7B28EA23-1C26-401F-ABA1-2D300BB691C7}"/>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b="1">
                <a:solidFill>
                  <a:schemeClr val="tx1">
                    <a:tint val="75000"/>
                  </a:schemeClr>
                </a:solidFill>
              </a:defRPr>
            </a:lvl1pPr>
          </a:lstStyle>
          <a:p>
            <a:fld id="{292D2516-6BB2-4D80-AD17-EF4D1CEDF814}" type="datetime1">
              <a:rPr lang="zh-CN" altLang="en-US" smtClean="0"/>
              <a:pPr/>
              <a:t>2026/3/24</a:t>
            </a:fld>
            <a:endParaRPr lang="zh-CN" altLang="en-US"/>
          </a:p>
        </p:txBody>
      </p:sp>
      <p:sp>
        <p:nvSpPr>
          <p:cNvPr id="5" name="页脚占位符 4">
            <a:extLst>
              <a:ext uri="{FF2B5EF4-FFF2-40B4-BE49-F238E27FC236}">
                <a16:creationId xmlns:a16="http://schemas.microsoft.com/office/drawing/2014/main" id="{B22A4D13-4A5F-475E-88F7-2A6ECD6DB426}"/>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b="1">
                <a:solidFill>
                  <a:schemeClr val="tx1">
                    <a:tint val="75000"/>
                  </a:schemeClr>
                </a:solidFill>
              </a:defRPr>
            </a:lvl1pPr>
          </a:lstStyle>
          <a:p>
            <a:endParaRPr lang="zh-CN" altLang="en-US" dirty="0"/>
          </a:p>
        </p:txBody>
      </p:sp>
      <p:sp>
        <p:nvSpPr>
          <p:cNvPr id="6" name="灯片编号占位符 5">
            <a:extLst>
              <a:ext uri="{FF2B5EF4-FFF2-40B4-BE49-F238E27FC236}">
                <a16:creationId xmlns:a16="http://schemas.microsoft.com/office/drawing/2014/main" id="{F9AFCE78-DD67-4C8D-A584-09B016DC5D58}"/>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b="1">
                <a:solidFill>
                  <a:schemeClr val="tx1">
                    <a:tint val="75000"/>
                  </a:schemeClr>
                </a:solidFill>
              </a:defRPr>
            </a:lvl1pPr>
          </a:lstStyle>
          <a:p>
            <a:fld id="{2093D444-7193-46AD-90E8-D84AE4B61CFF}" type="slidenum">
              <a:rPr lang="en-US" smtClean="0"/>
              <a:pPr/>
              <a:t>‹#›</a:t>
            </a:fld>
            <a:r>
              <a:rPr lang="en-US"/>
              <a:t>/56</a:t>
            </a:r>
            <a:endParaRPr lang="en-US" dirty="0"/>
          </a:p>
        </p:txBody>
      </p:sp>
      <p:cxnSp>
        <p:nvCxnSpPr>
          <p:cNvPr id="8" name="直接连接符 7">
            <a:extLst>
              <a:ext uri="{FF2B5EF4-FFF2-40B4-BE49-F238E27FC236}">
                <a16:creationId xmlns:a16="http://schemas.microsoft.com/office/drawing/2014/main" id="{B0F50452-02B7-425B-AC62-B4A14A701625}"/>
              </a:ext>
            </a:extLst>
          </p:cNvPr>
          <p:cNvCxnSpPr>
            <a:cxnSpLocks/>
          </p:cNvCxnSpPr>
          <p:nvPr userDrawn="1"/>
        </p:nvCxnSpPr>
        <p:spPr>
          <a:xfrm>
            <a:off x="627017" y="767807"/>
            <a:ext cx="10984411" cy="0"/>
          </a:xfrm>
          <a:prstGeom prst="line">
            <a:avLst/>
          </a:prstGeom>
          <a:ln w="19050">
            <a:solidFill>
              <a:schemeClr val="accent1">
                <a:lumMod val="75000"/>
              </a:schemeClr>
            </a:solidFill>
          </a:ln>
        </p:spPr>
        <p:style>
          <a:lnRef idx="1">
            <a:schemeClr val="dk1"/>
          </a:lnRef>
          <a:fillRef idx="0">
            <a:schemeClr val="dk1"/>
          </a:fillRef>
          <a:effectRef idx="0">
            <a:schemeClr val="dk1"/>
          </a:effectRef>
          <a:fontRef idx="minor">
            <a:schemeClr val="tx1"/>
          </a:fontRef>
        </p:style>
      </p:cxnSp>
      <p:cxnSp>
        <p:nvCxnSpPr>
          <p:cNvPr id="9" name="直接连接符 8">
            <a:extLst>
              <a:ext uri="{FF2B5EF4-FFF2-40B4-BE49-F238E27FC236}">
                <a16:creationId xmlns:a16="http://schemas.microsoft.com/office/drawing/2014/main" id="{175A9AA1-FEE7-4EAB-B05C-92F8372A2329}"/>
              </a:ext>
            </a:extLst>
          </p:cNvPr>
          <p:cNvCxnSpPr>
            <a:cxnSpLocks/>
          </p:cNvCxnSpPr>
          <p:nvPr userDrawn="1"/>
        </p:nvCxnSpPr>
        <p:spPr>
          <a:xfrm>
            <a:off x="627017" y="6287589"/>
            <a:ext cx="10984411" cy="0"/>
          </a:xfrm>
          <a:prstGeom prst="line">
            <a:avLst/>
          </a:prstGeom>
          <a:ln w="19050">
            <a:solidFill>
              <a:schemeClr val="accent1">
                <a:lumMod val="75000"/>
              </a:schemeClr>
            </a:solidFill>
          </a:ln>
        </p:spPr>
        <p:style>
          <a:lnRef idx="1">
            <a:schemeClr val="dk1"/>
          </a:lnRef>
          <a:fillRef idx="0">
            <a:schemeClr val="dk1"/>
          </a:fillRef>
          <a:effectRef idx="0">
            <a:schemeClr val="dk1"/>
          </a:effectRef>
          <a:fontRef idx="minor">
            <a:schemeClr val="tx1"/>
          </a:fontRef>
        </p:style>
      </p:cxnSp>
      <p:grpSp>
        <p:nvGrpSpPr>
          <p:cNvPr id="15" name="组合 14">
            <a:extLst>
              <a:ext uri="{FF2B5EF4-FFF2-40B4-BE49-F238E27FC236}">
                <a16:creationId xmlns:a16="http://schemas.microsoft.com/office/drawing/2014/main" id="{9E98AC04-83D3-4028-869F-84D382FA74BB}"/>
              </a:ext>
            </a:extLst>
          </p:cNvPr>
          <p:cNvGrpSpPr/>
          <p:nvPr userDrawn="1"/>
        </p:nvGrpSpPr>
        <p:grpSpPr>
          <a:xfrm>
            <a:off x="9982200" y="186423"/>
            <a:ext cx="1794536" cy="472074"/>
            <a:chOff x="504825" y="327025"/>
            <a:chExt cx="2482851" cy="636440"/>
          </a:xfrm>
        </p:grpSpPr>
        <p:pic>
          <p:nvPicPr>
            <p:cNvPr id="16" name="图片 15">
              <a:extLst>
                <a:ext uri="{FF2B5EF4-FFF2-40B4-BE49-F238E27FC236}">
                  <a16:creationId xmlns:a16="http://schemas.microsoft.com/office/drawing/2014/main" id="{49F7D68F-F6C5-482F-BB06-4C7202C968E5}"/>
                </a:ext>
              </a:extLst>
            </p:cNvPr>
            <p:cNvPicPr>
              <a:picLocks noChangeAspect="1"/>
            </p:cNvPicPr>
            <p:nvPr/>
          </p:nvPicPr>
          <p:blipFill rotWithShape="1">
            <a:blip r:embed="rId13">
              <a:duotone>
                <a:schemeClr val="accent1">
                  <a:shade val="45000"/>
                  <a:satMod val="135000"/>
                </a:schemeClr>
                <a:prstClr val="white"/>
              </a:duotone>
            </a:blip>
            <a:srcRect l="8955" t="8651" r="74262" b="8651"/>
            <a:stretch>
              <a:fillRect/>
            </a:stretch>
          </p:blipFill>
          <p:spPr>
            <a:xfrm>
              <a:off x="504825" y="327025"/>
              <a:ext cx="593725" cy="636440"/>
            </a:xfrm>
            <a:prstGeom prst="rect">
              <a:avLst/>
            </a:prstGeom>
          </p:spPr>
        </p:pic>
        <p:pic>
          <p:nvPicPr>
            <p:cNvPr id="17" name="图片 16">
              <a:extLst>
                <a:ext uri="{FF2B5EF4-FFF2-40B4-BE49-F238E27FC236}">
                  <a16:creationId xmlns:a16="http://schemas.microsoft.com/office/drawing/2014/main" id="{18389FF0-6461-4154-A98D-1E4418062FEA}"/>
                </a:ext>
              </a:extLst>
            </p:cNvPr>
            <p:cNvPicPr>
              <a:picLocks noChangeAspect="1"/>
            </p:cNvPicPr>
            <p:nvPr/>
          </p:nvPicPr>
          <p:blipFill rotWithShape="1">
            <a:blip r:embed="rId13">
              <a:duotone>
                <a:schemeClr val="accent1">
                  <a:shade val="45000"/>
                  <a:satMod val="135000"/>
                </a:schemeClr>
                <a:prstClr val="white"/>
              </a:duotone>
            </a:blip>
            <a:srcRect l="36206" t="8651" r="14969" b="8651"/>
            <a:stretch>
              <a:fillRect/>
            </a:stretch>
          </p:blipFill>
          <p:spPr>
            <a:xfrm>
              <a:off x="1260475" y="327025"/>
              <a:ext cx="1727201" cy="636440"/>
            </a:xfrm>
            <a:prstGeom prst="rect">
              <a:avLst/>
            </a:prstGeom>
          </p:spPr>
        </p:pic>
      </p:grpSp>
    </p:spTree>
    <p:extLst>
      <p:ext uri="{BB962C8B-B14F-4D97-AF65-F5344CB8AC3E}">
        <p14:creationId xmlns:p14="http://schemas.microsoft.com/office/powerpoint/2010/main" val="301530019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ftr="0"/>
  <p:txStyles>
    <p:titleStyle>
      <a:lvl1pPr algn="l" defTabSz="685800" rtl="0" eaLnBrk="1" latinLnBrk="0" hangingPunct="1">
        <a:lnSpc>
          <a:spcPct val="90000"/>
        </a:lnSpc>
        <a:spcBef>
          <a:spcPct val="0"/>
        </a:spcBef>
        <a:buNone/>
        <a:defRPr sz="2800" b="1" kern="1200">
          <a:solidFill>
            <a:schemeClr val="accent1">
              <a:lumMod val="75000"/>
            </a:schemeClr>
          </a:solidFill>
          <a:latin typeface="Microsoft YaHei" panose="020B0503020204020204" pitchFamily="34" charset="-122"/>
          <a:ea typeface="Microsoft YaHei" panose="020B0503020204020204" pitchFamily="34" charset="-122"/>
          <a:cs typeface="Arial" panose="020B0604020202020204" pitchFamily="34" charset="0"/>
        </a:defRPr>
      </a:lvl1pPr>
    </p:titleStyle>
    <p:bodyStyle>
      <a:lvl1pPr marL="171450" indent="-171450" algn="l" defTabSz="685800" rtl="0" eaLnBrk="1" latinLnBrk="0" hangingPunct="1">
        <a:lnSpc>
          <a:spcPct val="90000"/>
        </a:lnSpc>
        <a:spcBef>
          <a:spcPts val="750"/>
        </a:spcBef>
        <a:buFont typeface="Wingdings" panose="05000000000000000000" pitchFamily="2" charset="2"/>
        <a:buChar char="q"/>
        <a:defRPr sz="2000" b="1"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2pPr>
      <a:lvl3pPr marL="857250" indent="-171450" algn="l" defTabSz="685800" rtl="0" eaLnBrk="1" latinLnBrk="0" hangingPunct="1">
        <a:lnSpc>
          <a:spcPct val="90000"/>
        </a:lnSpc>
        <a:spcBef>
          <a:spcPts val="375"/>
        </a:spcBef>
        <a:buFont typeface="Wingdings" panose="05000000000000000000" pitchFamily="2" charset="2"/>
        <a:buChar char="Ø"/>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liyang23@swjtu.edu.c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3.png"/><Relationship Id="rId4" Type="http://schemas.openxmlformats.org/officeDocument/2006/relationships/image" Target="../media/image22.wmf"/></Relationships>
</file>

<file path=ppt/slides/_rels/slide3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oleObject" Target="../embeddings/oleObject2.bin"/><Relationship Id="rId7"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5.wmf"/><Relationship Id="rId5" Type="http://schemas.openxmlformats.org/officeDocument/2006/relationships/oleObject" Target="../embeddings/oleObject3.bin"/><Relationship Id="rId4" Type="http://schemas.openxmlformats.org/officeDocument/2006/relationships/image" Target="../media/image24.wmf"/><Relationship Id="rId9"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tiff"/><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3.tif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6.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4049FF0F-9A2E-4D53-AA74-EBD28C2130D5}"/>
              </a:ext>
            </a:extLst>
          </p:cNvPr>
          <p:cNvSpPr/>
          <p:nvPr/>
        </p:nvSpPr>
        <p:spPr>
          <a:xfrm>
            <a:off x="875558" y="1041399"/>
            <a:ext cx="10440884" cy="195329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标题 1">
            <a:extLst>
              <a:ext uri="{FF2B5EF4-FFF2-40B4-BE49-F238E27FC236}">
                <a16:creationId xmlns:a16="http://schemas.microsoft.com/office/drawing/2014/main" id="{36745571-2F0A-495B-9681-F40F6EF02874}"/>
              </a:ext>
            </a:extLst>
          </p:cNvPr>
          <p:cNvSpPr>
            <a:spLocks noGrp="1"/>
          </p:cNvSpPr>
          <p:nvPr>
            <p:ph type="ctrTitle"/>
          </p:nvPr>
        </p:nvSpPr>
        <p:spPr>
          <a:xfrm>
            <a:off x="813336" y="1600200"/>
            <a:ext cx="10565328" cy="962724"/>
          </a:xfrm>
        </p:spPr>
        <p:txBody>
          <a:bodyPr>
            <a:normAutofit/>
          </a:bodyPr>
          <a:lstStyle/>
          <a:p>
            <a:r>
              <a:rPr lang="en-US" altLang="zh-CN" sz="6000" b="1" dirty="0">
                <a:solidFill>
                  <a:schemeClr val="accent1"/>
                </a:solidFill>
              </a:rPr>
              <a:t>Uniproces</a:t>
            </a:r>
            <a:r>
              <a:rPr lang="en-US" altLang="zh-CN" sz="6000" dirty="0">
                <a:solidFill>
                  <a:schemeClr val="accent1"/>
                </a:solidFill>
              </a:rPr>
              <a:t>sor Scheduling</a:t>
            </a:r>
            <a:endParaRPr lang="zh-CN" altLang="en-US" sz="6000" b="1" dirty="0">
              <a:solidFill>
                <a:schemeClr val="accent1"/>
              </a:solidFill>
            </a:endParaRPr>
          </a:p>
        </p:txBody>
      </p:sp>
      <p:sp>
        <p:nvSpPr>
          <p:cNvPr id="10" name="副标题 2">
            <a:extLst>
              <a:ext uri="{FF2B5EF4-FFF2-40B4-BE49-F238E27FC236}">
                <a16:creationId xmlns:a16="http://schemas.microsoft.com/office/drawing/2014/main" id="{840A840C-E5AA-45FF-8158-9206D5149264}"/>
              </a:ext>
            </a:extLst>
          </p:cNvPr>
          <p:cNvSpPr>
            <a:spLocks noGrp="1"/>
          </p:cNvSpPr>
          <p:nvPr>
            <p:ph type="subTitle" idx="1"/>
          </p:nvPr>
        </p:nvSpPr>
        <p:spPr>
          <a:xfrm>
            <a:off x="2667000" y="3434241"/>
            <a:ext cx="6858000" cy="2487588"/>
          </a:xfrm>
        </p:spPr>
        <p:txBody>
          <a:bodyPr>
            <a:normAutofit/>
          </a:bodyPr>
          <a:lstStyle/>
          <a:p>
            <a:pPr>
              <a:lnSpc>
                <a:spcPct val="120000"/>
              </a:lnSpc>
            </a:pPr>
            <a:r>
              <a:rPr lang="en-US" altLang="zh-CN" sz="2800" dirty="0">
                <a:solidFill>
                  <a:srgbClr val="0070C0"/>
                </a:solidFill>
                <a:latin typeface="Microsoft YaHei UI" panose="020B0503020204020204" pitchFamily="34" charset="-122"/>
                <a:ea typeface="Microsoft YaHei UI" panose="020B0503020204020204" pitchFamily="34" charset="-122"/>
              </a:rPr>
              <a:t>Lecturer: Li Yang</a:t>
            </a:r>
          </a:p>
          <a:p>
            <a:pPr>
              <a:lnSpc>
                <a:spcPct val="120000"/>
              </a:lnSpc>
            </a:pPr>
            <a:r>
              <a:rPr lang="en-US" altLang="zh-CN" sz="2800" dirty="0">
                <a:solidFill>
                  <a:srgbClr val="0070C0"/>
                </a:solidFill>
                <a:latin typeface="Microsoft YaHei UI" panose="020B0503020204020204" pitchFamily="34" charset="-122"/>
                <a:ea typeface="Microsoft YaHei UI" panose="020B0503020204020204" pitchFamily="34" charset="-122"/>
              </a:rPr>
              <a:t>Contact: </a:t>
            </a:r>
            <a:r>
              <a:rPr lang="en-US" altLang="zh-CN" sz="2800" dirty="0">
                <a:solidFill>
                  <a:srgbClr val="0070C0"/>
                </a:solidFill>
                <a:latin typeface="Microsoft YaHei UI" panose="020B0503020204020204" pitchFamily="34" charset="-122"/>
                <a:ea typeface="Microsoft YaHei UI" panose="020B0503020204020204" pitchFamily="34" charset="-122"/>
                <a:hlinkClick r:id="rId2"/>
              </a:rPr>
              <a:t>liyang23@swjtu.edu.cn</a:t>
            </a:r>
            <a:endParaRPr lang="en-US" altLang="zh-CN" sz="2800" dirty="0">
              <a:solidFill>
                <a:srgbClr val="0070C0"/>
              </a:solidFill>
              <a:latin typeface="Microsoft YaHei UI" panose="020B0503020204020204" pitchFamily="34" charset="-122"/>
              <a:ea typeface="Microsoft YaHei UI" panose="020B0503020204020204" pitchFamily="34" charset="-122"/>
            </a:endParaRPr>
          </a:p>
          <a:p>
            <a:pPr>
              <a:lnSpc>
                <a:spcPct val="120000"/>
              </a:lnSpc>
            </a:pPr>
            <a:r>
              <a:rPr lang="en-US" altLang="zh-CN" sz="2800" dirty="0">
                <a:solidFill>
                  <a:srgbClr val="0070C0"/>
                </a:solidFill>
                <a:latin typeface="Microsoft YaHei UI" panose="020B0503020204020204" pitchFamily="34" charset="-122"/>
                <a:ea typeface="Microsoft YaHei UI" panose="020B0503020204020204" pitchFamily="34" charset="-122"/>
              </a:rPr>
              <a:t>Office: X31506</a:t>
            </a:r>
          </a:p>
          <a:p>
            <a:pPr>
              <a:lnSpc>
                <a:spcPct val="120000"/>
              </a:lnSpc>
            </a:pPr>
            <a:r>
              <a:rPr lang="en-US" altLang="zh-CN" sz="2800" dirty="0">
                <a:solidFill>
                  <a:srgbClr val="0070C0"/>
                </a:solidFill>
                <a:latin typeface="Microsoft YaHei UI" panose="020B0503020204020204" pitchFamily="34" charset="-122"/>
                <a:ea typeface="Microsoft YaHei UI" panose="020B0503020204020204" pitchFamily="34" charset="-122"/>
              </a:rPr>
              <a:t>Faculty: Computer and AI</a:t>
            </a:r>
            <a:endParaRPr lang="zh-CN" altLang="en-US" sz="2800" dirty="0">
              <a:solidFill>
                <a:srgbClr val="0070C0"/>
              </a:solidFill>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29863927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3D6C8-5C8E-D544-B91B-C70BF77E7E32}"/>
              </a:ext>
            </a:extLst>
          </p:cNvPr>
          <p:cNvSpPr>
            <a:spLocks noGrp="1"/>
          </p:cNvSpPr>
          <p:nvPr>
            <p:ph type="title"/>
          </p:nvPr>
        </p:nvSpPr>
        <p:spPr/>
        <p:txBody>
          <a:bodyPr/>
          <a:lstStyle/>
          <a:p>
            <a:r>
              <a:rPr lang="en-US" altLang="zh-CN" dirty="0"/>
              <a:t>Bridge-In:</a:t>
            </a:r>
            <a:r>
              <a:rPr lang="zh-CN" altLang="en-US" dirty="0"/>
              <a:t> </a:t>
            </a:r>
            <a:r>
              <a:rPr lang="en-US" altLang="zh-CN" dirty="0"/>
              <a:t>Seven</a:t>
            </a:r>
            <a:r>
              <a:rPr lang="zh-CN" altLang="en-US" dirty="0"/>
              <a:t> </a:t>
            </a:r>
            <a:r>
              <a:rPr lang="en-US" altLang="zh-CN" dirty="0"/>
              <a:t>State</a:t>
            </a:r>
            <a:r>
              <a:rPr lang="zh-CN" altLang="en-US" dirty="0"/>
              <a:t> </a:t>
            </a:r>
            <a:r>
              <a:rPr lang="en-US" dirty="0"/>
              <a:t>Diagram</a:t>
            </a:r>
            <a:r>
              <a:rPr lang="zh-CN" altLang="en-US" dirty="0"/>
              <a:t> </a:t>
            </a:r>
            <a:endParaRPr lang="en-CN" dirty="0"/>
          </a:p>
        </p:txBody>
      </p:sp>
      <p:sp>
        <p:nvSpPr>
          <p:cNvPr id="4" name="Slide Number Placeholder 3">
            <a:extLst>
              <a:ext uri="{FF2B5EF4-FFF2-40B4-BE49-F238E27FC236}">
                <a16:creationId xmlns:a16="http://schemas.microsoft.com/office/drawing/2014/main" id="{6E6EC17A-BCC8-5347-A9CD-ECD3034143F3}"/>
              </a:ext>
            </a:extLst>
          </p:cNvPr>
          <p:cNvSpPr>
            <a:spLocks noGrp="1"/>
          </p:cNvSpPr>
          <p:nvPr>
            <p:ph type="sldNum" sz="quarter" idx="12"/>
          </p:nvPr>
        </p:nvSpPr>
        <p:spPr/>
        <p:txBody>
          <a:bodyPr/>
          <a:lstStyle/>
          <a:p>
            <a:fld id="{2093D444-7193-46AD-90E8-D84AE4B61CFF}" type="slidenum">
              <a:rPr lang="en-US" smtClean="0"/>
              <a:pPr/>
              <a:t>2</a:t>
            </a:fld>
            <a:r>
              <a:rPr lang="en-US"/>
              <a:t>/56</a:t>
            </a:r>
            <a:endParaRPr lang="en-US" dirty="0"/>
          </a:p>
        </p:txBody>
      </p:sp>
      <p:sp>
        <p:nvSpPr>
          <p:cNvPr id="5" name="Date Placeholder 4">
            <a:extLst>
              <a:ext uri="{FF2B5EF4-FFF2-40B4-BE49-F238E27FC236}">
                <a16:creationId xmlns:a16="http://schemas.microsoft.com/office/drawing/2014/main" id="{32CB0EB7-2277-F046-A7EF-10809DFA4926}"/>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p:pic>
        <p:nvPicPr>
          <p:cNvPr id="7" name="图片 7">
            <a:extLst>
              <a:ext uri="{FF2B5EF4-FFF2-40B4-BE49-F238E27FC236}">
                <a16:creationId xmlns:a16="http://schemas.microsoft.com/office/drawing/2014/main" id="{34822BB2-8A96-4A44-9E82-1BA10DDD98CC}"/>
              </a:ext>
            </a:extLst>
          </p:cNvPr>
          <p:cNvPicPr>
            <a:picLocks noChangeAspect="1"/>
          </p:cNvPicPr>
          <p:nvPr/>
        </p:nvPicPr>
        <p:blipFill>
          <a:blip r:embed="rId2"/>
          <a:stretch>
            <a:fillRect/>
          </a:stretch>
        </p:blipFill>
        <p:spPr>
          <a:xfrm>
            <a:off x="2041210" y="1023839"/>
            <a:ext cx="8465497" cy="4906554"/>
          </a:xfrm>
          <a:prstGeom prst="rect">
            <a:avLst/>
          </a:prstGeom>
        </p:spPr>
      </p:pic>
    </p:spTree>
    <p:extLst>
      <p:ext uri="{BB962C8B-B14F-4D97-AF65-F5344CB8AC3E}">
        <p14:creationId xmlns:p14="http://schemas.microsoft.com/office/powerpoint/2010/main" val="859000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CBC03-890D-C24A-ADE6-F57494B175B7}"/>
              </a:ext>
            </a:extLst>
          </p:cNvPr>
          <p:cNvSpPr>
            <a:spLocks noGrp="1"/>
          </p:cNvSpPr>
          <p:nvPr>
            <p:ph type="title"/>
          </p:nvPr>
        </p:nvSpPr>
        <p:spPr/>
        <p:txBody>
          <a:bodyPr/>
          <a:lstStyle/>
          <a:p>
            <a:r>
              <a:rPr lang="en-US" dirty="0"/>
              <a:t>Queueing Diagram</a:t>
            </a:r>
            <a:endParaRPr lang="en-CN" dirty="0"/>
          </a:p>
        </p:txBody>
      </p:sp>
      <p:pic>
        <p:nvPicPr>
          <p:cNvPr id="6" name="Content Placeholder 5">
            <a:extLst>
              <a:ext uri="{FF2B5EF4-FFF2-40B4-BE49-F238E27FC236}">
                <a16:creationId xmlns:a16="http://schemas.microsoft.com/office/drawing/2014/main" id="{2CD0B4F8-F77D-934D-A401-B57E375179FF}"/>
              </a:ext>
            </a:extLst>
          </p:cNvPr>
          <p:cNvPicPr>
            <a:picLocks noGrp="1" noChangeAspect="1"/>
          </p:cNvPicPr>
          <p:nvPr>
            <p:ph idx="1"/>
          </p:nvPr>
        </p:nvPicPr>
        <p:blipFill>
          <a:blip r:embed="rId2"/>
          <a:stretch>
            <a:fillRect/>
          </a:stretch>
        </p:blipFill>
        <p:spPr>
          <a:xfrm>
            <a:off x="2331805" y="1265918"/>
            <a:ext cx="7562379" cy="4982482"/>
          </a:xfrm>
          <a:prstGeom prst="rect">
            <a:avLst/>
          </a:prstGeom>
        </p:spPr>
      </p:pic>
      <p:sp>
        <p:nvSpPr>
          <p:cNvPr id="4" name="Slide Number Placeholder 3">
            <a:extLst>
              <a:ext uri="{FF2B5EF4-FFF2-40B4-BE49-F238E27FC236}">
                <a16:creationId xmlns:a16="http://schemas.microsoft.com/office/drawing/2014/main" id="{ACAF077B-0290-6448-B5C9-999146FD856F}"/>
              </a:ext>
            </a:extLst>
          </p:cNvPr>
          <p:cNvSpPr>
            <a:spLocks noGrp="1"/>
          </p:cNvSpPr>
          <p:nvPr>
            <p:ph type="sldNum" sz="quarter" idx="12"/>
          </p:nvPr>
        </p:nvSpPr>
        <p:spPr/>
        <p:txBody>
          <a:bodyPr/>
          <a:lstStyle/>
          <a:p>
            <a:fld id="{2093D444-7193-46AD-90E8-D84AE4B61CFF}" type="slidenum">
              <a:rPr lang="en-US" smtClean="0"/>
              <a:pPr/>
              <a:t>3</a:t>
            </a:fld>
            <a:r>
              <a:rPr lang="en-US"/>
              <a:t>/56</a:t>
            </a:r>
            <a:endParaRPr lang="en-US" dirty="0"/>
          </a:p>
        </p:txBody>
      </p:sp>
      <p:sp>
        <p:nvSpPr>
          <p:cNvPr id="5" name="Date Placeholder 4">
            <a:extLst>
              <a:ext uri="{FF2B5EF4-FFF2-40B4-BE49-F238E27FC236}">
                <a16:creationId xmlns:a16="http://schemas.microsoft.com/office/drawing/2014/main" id="{A15B04FD-E4EF-074F-A029-DA7DF93601AE}"/>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p:sp>
        <p:nvSpPr>
          <p:cNvPr id="8" name="Rectangle 7">
            <a:extLst>
              <a:ext uri="{FF2B5EF4-FFF2-40B4-BE49-F238E27FC236}">
                <a16:creationId xmlns:a16="http://schemas.microsoft.com/office/drawing/2014/main" id="{E49544D1-6C06-1946-86FC-C17B4D137EFD}"/>
              </a:ext>
            </a:extLst>
          </p:cNvPr>
          <p:cNvSpPr/>
          <p:nvPr/>
        </p:nvSpPr>
        <p:spPr>
          <a:xfrm>
            <a:off x="3864429" y="1230085"/>
            <a:ext cx="892628" cy="478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9" name="Rectangle 8">
            <a:extLst>
              <a:ext uri="{FF2B5EF4-FFF2-40B4-BE49-F238E27FC236}">
                <a16:creationId xmlns:a16="http://schemas.microsoft.com/office/drawing/2014/main" id="{92F15044-F7F8-6944-9EEB-D85A99AD3FBC}"/>
              </a:ext>
            </a:extLst>
          </p:cNvPr>
          <p:cNvSpPr/>
          <p:nvPr/>
        </p:nvSpPr>
        <p:spPr>
          <a:xfrm>
            <a:off x="4506686" y="1709056"/>
            <a:ext cx="239486" cy="478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Rectangle 9">
            <a:extLst>
              <a:ext uri="{FF2B5EF4-FFF2-40B4-BE49-F238E27FC236}">
                <a16:creationId xmlns:a16="http://schemas.microsoft.com/office/drawing/2014/main" id="{B92A6C95-CD7A-E445-854D-0A7C346FFF15}"/>
              </a:ext>
            </a:extLst>
          </p:cNvPr>
          <p:cNvSpPr/>
          <p:nvPr/>
        </p:nvSpPr>
        <p:spPr>
          <a:xfrm>
            <a:off x="6803572" y="1752598"/>
            <a:ext cx="892628" cy="478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Rectangle 10">
            <a:extLst>
              <a:ext uri="{FF2B5EF4-FFF2-40B4-BE49-F238E27FC236}">
                <a16:creationId xmlns:a16="http://schemas.microsoft.com/office/drawing/2014/main" id="{2A7F6376-C7A7-F948-BCF8-FA932779F4A1}"/>
              </a:ext>
            </a:extLst>
          </p:cNvPr>
          <p:cNvSpPr/>
          <p:nvPr/>
        </p:nvSpPr>
        <p:spPr>
          <a:xfrm>
            <a:off x="7467600" y="3265712"/>
            <a:ext cx="1240971" cy="151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Rectangle 11">
            <a:extLst>
              <a:ext uri="{FF2B5EF4-FFF2-40B4-BE49-F238E27FC236}">
                <a16:creationId xmlns:a16="http://schemas.microsoft.com/office/drawing/2014/main" id="{F8B33765-0F26-1247-BE84-205696E814FB}"/>
              </a:ext>
            </a:extLst>
          </p:cNvPr>
          <p:cNvSpPr/>
          <p:nvPr/>
        </p:nvSpPr>
        <p:spPr>
          <a:xfrm>
            <a:off x="5105400" y="2514600"/>
            <a:ext cx="892628" cy="478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3" name="Rectangle 12">
            <a:extLst>
              <a:ext uri="{FF2B5EF4-FFF2-40B4-BE49-F238E27FC236}">
                <a16:creationId xmlns:a16="http://schemas.microsoft.com/office/drawing/2014/main" id="{BFE33490-B69C-5B44-8BD0-3FD64562D0F9}"/>
              </a:ext>
            </a:extLst>
          </p:cNvPr>
          <p:cNvSpPr/>
          <p:nvPr/>
        </p:nvSpPr>
        <p:spPr>
          <a:xfrm>
            <a:off x="4985657" y="2895599"/>
            <a:ext cx="239486" cy="478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TextBox 6">
            <a:extLst>
              <a:ext uri="{FF2B5EF4-FFF2-40B4-BE49-F238E27FC236}">
                <a16:creationId xmlns:a16="http://schemas.microsoft.com/office/drawing/2014/main" id="{3ED63FA1-9833-1844-94F8-E92B05FD6AD6}"/>
              </a:ext>
            </a:extLst>
          </p:cNvPr>
          <p:cNvSpPr txBox="1"/>
          <p:nvPr/>
        </p:nvSpPr>
        <p:spPr>
          <a:xfrm>
            <a:off x="685801" y="805543"/>
            <a:ext cx="5440144" cy="523220"/>
          </a:xfrm>
          <a:prstGeom prst="rect">
            <a:avLst/>
          </a:prstGeom>
          <a:noFill/>
        </p:spPr>
        <p:txBody>
          <a:bodyPr wrap="none" rtlCol="0">
            <a:spAutoFit/>
          </a:bodyPr>
          <a:lstStyle/>
          <a:p>
            <a:pPr marL="457200" indent="-457200">
              <a:buFont typeface="Wingdings" pitchFamily="2" charset="2"/>
              <a:buChar char="q"/>
            </a:pPr>
            <a:r>
              <a:rPr lang="en-US" altLang="zh-CN" sz="2800" b="1" dirty="0"/>
              <a:t>How</a:t>
            </a:r>
            <a:r>
              <a:rPr lang="zh-CN" altLang="en-US" sz="2800" b="1" dirty="0"/>
              <a:t> </a:t>
            </a:r>
            <a:r>
              <a:rPr lang="en-US" altLang="zh-CN" sz="2800" b="1" dirty="0"/>
              <a:t>many</a:t>
            </a:r>
            <a:r>
              <a:rPr lang="zh-CN" altLang="en-US" sz="2800" b="1" dirty="0"/>
              <a:t> </a:t>
            </a:r>
            <a:r>
              <a:rPr lang="en-US" altLang="zh-CN" sz="2800" b="1" dirty="0"/>
              <a:t>types</a:t>
            </a:r>
            <a:r>
              <a:rPr lang="zh-CN" altLang="en-US" sz="2800" b="1" dirty="0"/>
              <a:t> </a:t>
            </a:r>
            <a:r>
              <a:rPr lang="en-US" altLang="zh-CN" sz="2800" b="1" dirty="0"/>
              <a:t>of</a:t>
            </a:r>
            <a:r>
              <a:rPr lang="zh-CN" altLang="en-US" sz="2800" b="1" dirty="0"/>
              <a:t> </a:t>
            </a:r>
            <a:r>
              <a:rPr lang="en-US" altLang="zh-CN" sz="2800" b="1" dirty="0"/>
              <a:t>scheduling?</a:t>
            </a:r>
            <a:r>
              <a:rPr lang="zh-CN" altLang="en-US" sz="2800" b="1" dirty="0"/>
              <a:t> </a:t>
            </a:r>
            <a:endParaRPr lang="en-CN" sz="2800" b="1" dirty="0"/>
          </a:p>
        </p:txBody>
      </p:sp>
    </p:spTree>
    <p:extLst>
      <p:ext uri="{BB962C8B-B14F-4D97-AF65-F5344CB8AC3E}">
        <p14:creationId xmlns:p14="http://schemas.microsoft.com/office/powerpoint/2010/main" val="347088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grpId="0" nodeType="clickEffect">
                                  <p:stCondLst>
                                    <p:cond delay="0"/>
                                  </p:stCondLst>
                                  <p:childTnLst>
                                    <p:animEffect transition="out" filter="checkerboard(across)">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par>
                                <p:cTn id="8" presetID="5" presetClass="exit" presetSubtype="10" fill="hold" grpId="0" nodeType="withEffect">
                                  <p:stCondLst>
                                    <p:cond delay="0"/>
                                  </p:stCondLst>
                                  <p:childTnLst>
                                    <p:animEffect transition="out" filter="checkerboard(across)">
                                      <p:cBhvr>
                                        <p:cTn id="9" dur="500"/>
                                        <p:tgtEl>
                                          <p:spTgt spid="9"/>
                                        </p:tgtEl>
                                      </p:cBhvr>
                                    </p:animEffect>
                                    <p:set>
                                      <p:cBhvr>
                                        <p:cTn id="10" dur="1" fill="hold">
                                          <p:stCondLst>
                                            <p:cond delay="499"/>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5" presetClass="exit" presetSubtype="10" fill="hold" grpId="0" nodeType="clickEffect">
                                  <p:stCondLst>
                                    <p:cond delay="0"/>
                                  </p:stCondLst>
                                  <p:childTnLst>
                                    <p:animEffect transition="out" filter="checkerboard(across)">
                                      <p:cBhvr>
                                        <p:cTn id="14" dur="500"/>
                                        <p:tgtEl>
                                          <p:spTgt spid="12"/>
                                        </p:tgtEl>
                                      </p:cBhvr>
                                    </p:animEffect>
                                    <p:set>
                                      <p:cBhvr>
                                        <p:cTn id="15" dur="1" fill="hold">
                                          <p:stCondLst>
                                            <p:cond delay="499"/>
                                          </p:stCondLst>
                                        </p:cTn>
                                        <p:tgtEl>
                                          <p:spTgt spid="12"/>
                                        </p:tgtEl>
                                        <p:attrNameLst>
                                          <p:attrName>style.visibility</p:attrName>
                                        </p:attrNameLst>
                                      </p:cBhvr>
                                      <p:to>
                                        <p:strVal val="hidden"/>
                                      </p:to>
                                    </p:set>
                                  </p:childTnLst>
                                </p:cTn>
                              </p:par>
                              <p:par>
                                <p:cTn id="16" presetID="5" presetClass="exit" presetSubtype="10" fill="hold" grpId="0" nodeType="withEffect">
                                  <p:stCondLst>
                                    <p:cond delay="0"/>
                                  </p:stCondLst>
                                  <p:childTnLst>
                                    <p:animEffect transition="out" filter="checkerboard(across)">
                                      <p:cBhvr>
                                        <p:cTn id="17" dur="500"/>
                                        <p:tgtEl>
                                          <p:spTgt spid="13"/>
                                        </p:tgtEl>
                                      </p:cBhvr>
                                    </p:animEffect>
                                    <p:set>
                                      <p:cBhvr>
                                        <p:cTn id="18" dur="1" fill="hold">
                                          <p:stCondLst>
                                            <p:cond delay="499"/>
                                          </p:stCondLst>
                                        </p:cTn>
                                        <p:tgtEl>
                                          <p:spTgt spid="13"/>
                                        </p:tgtEl>
                                        <p:attrNameLst>
                                          <p:attrName>style.visibility</p:attrName>
                                        </p:attrNameLst>
                                      </p:cBhvr>
                                      <p:to>
                                        <p:strVal val="hidden"/>
                                      </p:to>
                                    </p:set>
                                  </p:childTnLst>
                                </p:cTn>
                              </p:par>
                              <p:par>
                                <p:cTn id="19" presetID="5" presetClass="exit" presetSubtype="10" fill="hold" grpId="0" nodeType="withEffect">
                                  <p:stCondLst>
                                    <p:cond delay="0"/>
                                  </p:stCondLst>
                                  <p:childTnLst>
                                    <p:animEffect transition="out" filter="checkerboard(across)">
                                      <p:cBhvr>
                                        <p:cTn id="20" dur="500"/>
                                        <p:tgtEl>
                                          <p:spTgt spid="11"/>
                                        </p:tgtEl>
                                      </p:cBhvr>
                                    </p:animEffect>
                                    <p:set>
                                      <p:cBhvr>
                                        <p:cTn id="21" dur="1" fill="hold">
                                          <p:stCondLst>
                                            <p:cond delay="499"/>
                                          </p:stCondLst>
                                        </p:cTn>
                                        <p:tgtEl>
                                          <p:spTgt spid="11"/>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5" presetClass="exit" presetSubtype="10" fill="hold" grpId="0" nodeType="clickEffect">
                                  <p:stCondLst>
                                    <p:cond delay="0"/>
                                  </p:stCondLst>
                                  <p:childTnLst>
                                    <p:animEffect transition="out" filter="checkerboard(across)">
                                      <p:cBhvr>
                                        <p:cTn id="25" dur="500"/>
                                        <p:tgtEl>
                                          <p:spTgt spid="10"/>
                                        </p:tgtEl>
                                      </p:cBhvr>
                                    </p:animEffect>
                                    <p:set>
                                      <p:cBhvr>
                                        <p:cTn id="26"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E76D89-9B7F-4B3D-A752-9C56FDEFFCDF}"/>
              </a:ext>
            </a:extLst>
          </p:cNvPr>
          <p:cNvSpPr>
            <a:spLocks noGrp="1"/>
          </p:cNvSpPr>
          <p:nvPr>
            <p:ph type="title"/>
          </p:nvPr>
        </p:nvSpPr>
        <p:spPr/>
        <p:txBody>
          <a:bodyPr/>
          <a:lstStyle/>
          <a:p>
            <a:r>
              <a:rPr lang="en-US" altLang="zh-CN" dirty="0">
                <a:solidFill>
                  <a:schemeClr val="accent1"/>
                </a:solidFill>
              </a:rPr>
              <a:t>Objectives</a:t>
            </a:r>
            <a:endParaRPr lang="en-US" dirty="0"/>
          </a:p>
        </p:txBody>
      </p:sp>
      <p:sp>
        <p:nvSpPr>
          <p:cNvPr id="3" name="内容占位符 2">
            <a:extLst>
              <a:ext uri="{FF2B5EF4-FFF2-40B4-BE49-F238E27FC236}">
                <a16:creationId xmlns:a16="http://schemas.microsoft.com/office/drawing/2014/main" id="{09C42CCA-6454-4D39-A25F-CFAC4D0E5C6C}"/>
              </a:ext>
            </a:extLst>
          </p:cNvPr>
          <p:cNvSpPr>
            <a:spLocks noGrp="1"/>
          </p:cNvSpPr>
          <p:nvPr>
            <p:ph idx="1"/>
          </p:nvPr>
        </p:nvSpPr>
        <p:spPr/>
        <p:txBody>
          <a:bodyPr>
            <a:normAutofit/>
          </a:bodyPr>
          <a:lstStyle/>
          <a:p>
            <a:r>
              <a:rPr lang="en-US" sz="2800" dirty="0"/>
              <a:t>Type of processor scheduling</a:t>
            </a:r>
          </a:p>
          <a:p>
            <a:pPr lvl="1"/>
            <a:r>
              <a:rPr lang="en-US" sz="2800" dirty="0"/>
              <a:t>Long-term scheduling</a:t>
            </a:r>
          </a:p>
          <a:p>
            <a:pPr lvl="1"/>
            <a:r>
              <a:rPr lang="en-US" sz="2800" dirty="0"/>
              <a:t>Medium-term scheduling</a:t>
            </a:r>
          </a:p>
          <a:p>
            <a:pPr lvl="1"/>
            <a:r>
              <a:rPr lang="en-US" sz="2800" dirty="0"/>
              <a:t>Short-term scheduling</a:t>
            </a:r>
          </a:p>
          <a:p>
            <a:pPr lvl="1"/>
            <a:endParaRPr lang="en-US" dirty="0"/>
          </a:p>
          <a:p>
            <a:r>
              <a:rPr lang="en-US" sz="2800" dirty="0"/>
              <a:t>Scheduling Algorithms</a:t>
            </a:r>
          </a:p>
          <a:p>
            <a:pPr lvl="1"/>
            <a:r>
              <a:rPr lang="en-US" sz="2800" dirty="0"/>
              <a:t>Short-term scheduling criteria</a:t>
            </a:r>
          </a:p>
          <a:p>
            <a:pPr lvl="1"/>
            <a:r>
              <a:rPr lang="en-US" sz="2800" dirty="0"/>
              <a:t>The use of priorities</a:t>
            </a:r>
          </a:p>
          <a:p>
            <a:pPr lvl="1"/>
            <a:r>
              <a:rPr lang="en-US" sz="2800" dirty="0">
                <a:solidFill>
                  <a:srgbClr val="FF0000"/>
                </a:solidFill>
              </a:rPr>
              <a:t>Alternative scheduling policies</a:t>
            </a:r>
            <a:r>
              <a:rPr lang="zh-CN" altLang="en-US" sz="2800" dirty="0">
                <a:solidFill>
                  <a:srgbClr val="FF0000"/>
                </a:solidFill>
              </a:rPr>
              <a:t>*</a:t>
            </a:r>
            <a:endParaRPr lang="en-US" sz="2800" dirty="0">
              <a:solidFill>
                <a:srgbClr val="FF0000"/>
              </a:solidFill>
            </a:endParaRPr>
          </a:p>
          <a:p>
            <a:pPr lvl="1"/>
            <a:r>
              <a:rPr lang="en-US" sz="2800" dirty="0"/>
              <a:t>Fair-share scheduling</a:t>
            </a:r>
          </a:p>
        </p:txBody>
      </p:sp>
      <p:sp>
        <p:nvSpPr>
          <p:cNvPr id="4" name="灯片编号占位符 3">
            <a:extLst>
              <a:ext uri="{FF2B5EF4-FFF2-40B4-BE49-F238E27FC236}">
                <a16:creationId xmlns:a16="http://schemas.microsoft.com/office/drawing/2014/main" id="{1781E45A-08D7-47DF-8A04-A3E087E687EB}"/>
              </a:ext>
            </a:extLst>
          </p:cNvPr>
          <p:cNvSpPr>
            <a:spLocks noGrp="1"/>
          </p:cNvSpPr>
          <p:nvPr>
            <p:ph type="sldNum" sz="quarter" idx="12"/>
          </p:nvPr>
        </p:nvSpPr>
        <p:spPr/>
        <p:txBody>
          <a:bodyPr/>
          <a:lstStyle/>
          <a:p>
            <a:fld id="{2093D444-7193-46AD-90E8-D84AE4B61CFF}" type="slidenum">
              <a:rPr lang="en-US" smtClean="0"/>
              <a:pPr/>
              <a:t>4</a:t>
            </a:fld>
            <a:r>
              <a:rPr lang="en-US"/>
              <a:t>/56</a:t>
            </a:r>
            <a:endParaRPr lang="en-US" dirty="0"/>
          </a:p>
        </p:txBody>
      </p:sp>
      <p:sp>
        <p:nvSpPr>
          <p:cNvPr id="5" name="日期占位符 4">
            <a:extLst>
              <a:ext uri="{FF2B5EF4-FFF2-40B4-BE49-F238E27FC236}">
                <a16:creationId xmlns:a16="http://schemas.microsoft.com/office/drawing/2014/main" id="{C794C808-2B12-4811-A483-1D230E2C3477}"/>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p:spTree>
    <p:extLst>
      <p:ext uri="{BB962C8B-B14F-4D97-AF65-F5344CB8AC3E}">
        <p14:creationId xmlns:p14="http://schemas.microsoft.com/office/powerpoint/2010/main" val="44912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9.1</a:t>
            </a:r>
            <a:r>
              <a:rPr lang="zh-CN" altLang="en-US" dirty="0"/>
              <a:t> </a:t>
            </a:r>
            <a:r>
              <a:rPr lang="en-US" altLang="zh-CN" dirty="0"/>
              <a:t>Processor Scheduling</a:t>
            </a:r>
            <a:endParaRPr lang="zh-CN" altLang="en-US" dirty="0"/>
          </a:p>
        </p:txBody>
      </p:sp>
      <p:sp>
        <p:nvSpPr>
          <p:cNvPr id="3" name="内容占位符 2">
            <a:extLst>
              <a:ext uri="{FF2B5EF4-FFF2-40B4-BE49-F238E27FC236}">
                <a16:creationId xmlns:a16="http://schemas.microsoft.com/office/drawing/2014/main" id="{A5AAF1E7-7DFD-420F-85D5-4414E74DCF35}"/>
              </a:ext>
            </a:extLst>
          </p:cNvPr>
          <p:cNvSpPr>
            <a:spLocks noGrp="1"/>
          </p:cNvSpPr>
          <p:nvPr>
            <p:ph idx="1"/>
          </p:nvPr>
        </p:nvSpPr>
        <p:spPr/>
        <p:txBody>
          <a:bodyPr/>
          <a:lstStyle/>
          <a:p>
            <a:r>
              <a:rPr lang="en-US" altLang="zh-CN" dirty="0"/>
              <a:t>Key of multiprogramming system: </a:t>
            </a:r>
            <a:r>
              <a:rPr lang="en-US" altLang="zh-CN" dirty="0">
                <a:solidFill>
                  <a:srgbClr val="FF0000"/>
                </a:solidFill>
              </a:rPr>
              <a:t>scheduling</a:t>
            </a:r>
          </a:p>
          <a:p>
            <a:r>
              <a:rPr lang="en-US" altLang="zh-CN" dirty="0"/>
              <a:t>Aim to assign processes to be executed by the processor in a way that </a:t>
            </a:r>
            <a:r>
              <a:rPr lang="en-US" altLang="zh-CN" dirty="0">
                <a:solidFill>
                  <a:srgbClr val="FF0000"/>
                </a:solidFill>
              </a:rPr>
              <a:t>meets system objectives, </a:t>
            </a:r>
            <a:r>
              <a:rPr lang="en-US" altLang="zh-CN" dirty="0"/>
              <a:t>such as response time, throughput, and processor efficiency</a:t>
            </a:r>
          </a:p>
          <a:p>
            <a:r>
              <a:rPr lang="en-US" altLang="zh-CN" dirty="0"/>
              <a:t> Four types of scheduling are typically involved:</a:t>
            </a:r>
          </a:p>
          <a:p>
            <a:pPr lvl="1"/>
            <a:endParaRPr lang="zh-CN" altLang="en-US" dirty="0"/>
          </a:p>
        </p:txBody>
      </p:sp>
      <p:pic>
        <p:nvPicPr>
          <p:cNvPr id="6" name="图片 5">
            <a:extLst>
              <a:ext uri="{FF2B5EF4-FFF2-40B4-BE49-F238E27FC236}">
                <a16:creationId xmlns:a16="http://schemas.microsoft.com/office/drawing/2014/main" id="{E6B08DD0-6CFD-4387-9D78-0F7E568A68C2}"/>
              </a:ext>
            </a:extLst>
          </p:cNvPr>
          <p:cNvPicPr>
            <a:picLocks noChangeAspect="1"/>
          </p:cNvPicPr>
          <p:nvPr/>
        </p:nvPicPr>
        <p:blipFill>
          <a:blip r:embed="rId2"/>
          <a:stretch>
            <a:fillRect/>
          </a:stretch>
        </p:blipFill>
        <p:spPr>
          <a:xfrm>
            <a:off x="746879" y="3298372"/>
            <a:ext cx="10955263" cy="2218102"/>
          </a:xfrm>
          <a:prstGeom prst="rect">
            <a:avLst/>
          </a:prstGeom>
        </p:spPr>
      </p:pic>
    </p:spTree>
    <p:extLst>
      <p:ext uri="{BB962C8B-B14F-4D97-AF65-F5344CB8AC3E}">
        <p14:creationId xmlns:p14="http://schemas.microsoft.com/office/powerpoint/2010/main" val="3808819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normAutofit/>
          </a:bodyPr>
          <a:lstStyle/>
          <a:p>
            <a:r>
              <a:rPr lang="en-US" altLang="zh-CN" dirty="0"/>
              <a:t>Scheduling and Process State Transitions</a:t>
            </a:r>
            <a:endParaRPr lang="zh-CN" altLang="en-US" dirty="0"/>
          </a:p>
        </p:txBody>
      </p:sp>
      <p:pic>
        <p:nvPicPr>
          <p:cNvPr id="9" name="图片 8">
            <a:extLst>
              <a:ext uri="{FF2B5EF4-FFF2-40B4-BE49-F238E27FC236}">
                <a16:creationId xmlns:a16="http://schemas.microsoft.com/office/drawing/2014/main" id="{ACC1710A-338E-40E3-9F16-13FA769011FB}"/>
              </a:ext>
            </a:extLst>
          </p:cNvPr>
          <p:cNvPicPr>
            <a:picLocks noChangeAspect="1"/>
          </p:cNvPicPr>
          <p:nvPr/>
        </p:nvPicPr>
        <p:blipFill>
          <a:blip r:embed="rId2"/>
          <a:stretch>
            <a:fillRect/>
          </a:stretch>
        </p:blipFill>
        <p:spPr>
          <a:xfrm>
            <a:off x="800812" y="4483856"/>
            <a:ext cx="4685589" cy="1251065"/>
          </a:xfrm>
          <a:prstGeom prst="rect">
            <a:avLst/>
          </a:prstGeom>
        </p:spPr>
      </p:pic>
      <p:pic>
        <p:nvPicPr>
          <p:cNvPr id="7" name="图片 6">
            <a:extLst>
              <a:ext uri="{FF2B5EF4-FFF2-40B4-BE49-F238E27FC236}">
                <a16:creationId xmlns:a16="http://schemas.microsoft.com/office/drawing/2014/main" id="{14ABDC77-1AA0-4716-818C-AECABCBBFC47}"/>
              </a:ext>
            </a:extLst>
          </p:cNvPr>
          <p:cNvPicPr>
            <a:picLocks noChangeAspect="1"/>
          </p:cNvPicPr>
          <p:nvPr/>
        </p:nvPicPr>
        <p:blipFill>
          <a:blip r:embed="rId3"/>
          <a:stretch>
            <a:fillRect/>
          </a:stretch>
        </p:blipFill>
        <p:spPr>
          <a:xfrm>
            <a:off x="740797" y="928786"/>
            <a:ext cx="9951837" cy="3708526"/>
          </a:xfrm>
          <a:prstGeom prst="rect">
            <a:avLst/>
          </a:prstGeom>
        </p:spPr>
      </p:pic>
      <p:sp>
        <p:nvSpPr>
          <p:cNvPr id="5" name="内容占位符 4">
            <a:extLst>
              <a:ext uri="{FF2B5EF4-FFF2-40B4-BE49-F238E27FC236}">
                <a16:creationId xmlns:a16="http://schemas.microsoft.com/office/drawing/2014/main" id="{67B4FEB7-6125-4AFE-AD09-56AF0FC93E72}"/>
              </a:ext>
            </a:extLst>
          </p:cNvPr>
          <p:cNvSpPr>
            <a:spLocks noGrp="1"/>
          </p:cNvSpPr>
          <p:nvPr>
            <p:ph idx="1"/>
          </p:nvPr>
        </p:nvSpPr>
        <p:spPr>
          <a:xfrm>
            <a:off x="7815943" y="1037046"/>
            <a:ext cx="4049485" cy="4960982"/>
          </a:xfrm>
          <a:solidFill>
            <a:schemeClr val="bg1"/>
          </a:solidFill>
        </p:spPr>
        <p:txBody>
          <a:bodyPr/>
          <a:lstStyle/>
          <a:p>
            <a:r>
              <a:rPr lang="en-US" dirty="0"/>
              <a:t> </a:t>
            </a:r>
            <a:r>
              <a:rPr lang="en-US" dirty="0">
                <a:solidFill>
                  <a:srgbClr val="FF0000"/>
                </a:solidFill>
              </a:rPr>
              <a:t>Long-term</a:t>
            </a:r>
            <a:r>
              <a:rPr lang="en-US" dirty="0"/>
              <a:t> scheduling is performed when a new process is created.</a:t>
            </a:r>
          </a:p>
          <a:p>
            <a:r>
              <a:rPr lang="en-US" dirty="0"/>
              <a:t> </a:t>
            </a:r>
            <a:r>
              <a:rPr lang="en-US" dirty="0">
                <a:solidFill>
                  <a:srgbClr val="FF0000"/>
                </a:solidFill>
              </a:rPr>
              <a:t>Medium-term </a:t>
            </a:r>
            <a:r>
              <a:rPr lang="en-US" dirty="0"/>
              <a:t>scheduling is a part of the swapping function.</a:t>
            </a:r>
          </a:p>
          <a:p>
            <a:r>
              <a:rPr lang="zh-CN" altLang="en-US" dirty="0"/>
              <a:t> </a:t>
            </a:r>
            <a:r>
              <a:rPr lang="en-US" dirty="0">
                <a:solidFill>
                  <a:srgbClr val="FF0000"/>
                </a:solidFill>
              </a:rPr>
              <a:t>Short-term</a:t>
            </a:r>
            <a:r>
              <a:rPr lang="en-US" dirty="0"/>
              <a:t> scheduling is the actual decision of which ready process to execute next.</a:t>
            </a:r>
          </a:p>
        </p:txBody>
      </p:sp>
    </p:spTree>
    <p:extLst>
      <p:ext uri="{BB962C8B-B14F-4D97-AF65-F5344CB8AC3E}">
        <p14:creationId xmlns:p14="http://schemas.microsoft.com/office/powerpoint/2010/main" val="2203384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CA3F1-537D-ED41-80A7-D2B78B1BE21F}"/>
              </a:ext>
            </a:extLst>
          </p:cNvPr>
          <p:cNvSpPr>
            <a:spLocks noGrp="1"/>
          </p:cNvSpPr>
          <p:nvPr>
            <p:ph type="title"/>
          </p:nvPr>
        </p:nvSpPr>
        <p:spPr/>
        <p:txBody>
          <a:bodyPr/>
          <a:lstStyle/>
          <a:p>
            <a:r>
              <a:rPr lang="en-US" dirty="0">
                <a:effectLst/>
              </a:rPr>
              <a:t>Levels of Scheduling</a:t>
            </a:r>
          </a:p>
        </p:txBody>
      </p:sp>
      <p:sp>
        <p:nvSpPr>
          <p:cNvPr id="3" name="Content Placeholder 2">
            <a:extLst>
              <a:ext uri="{FF2B5EF4-FFF2-40B4-BE49-F238E27FC236}">
                <a16:creationId xmlns:a16="http://schemas.microsoft.com/office/drawing/2014/main" id="{C3F256AD-AC32-834C-942F-A70A53D27BE2}"/>
              </a:ext>
            </a:extLst>
          </p:cNvPr>
          <p:cNvSpPr>
            <a:spLocks noGrp="1"/>
          </p:cNvSpPr>
          <p:nvPr>
            <p:ph idx="1"/>
          </p:nvPr>
        </p:nvSpPr>
        <p:spPr/>
        <p:txBody>
          <a:bodyPr/>
          <a:lstStyle/>
          <a:p>
            <a:endParaRPr lang="en-CN"/>
          </a:p>
        </p:txBody>
      </p:sp>
      <p:sp>
        <p:nvSpPr>
          <p:cNvPr id="4" name="Slide Number Placeholder 3">
            <a:extLst>
              <a:ext uri="{FF2B5EF4-FFF2-40B4-BE49-F238E27FC236}">
                <a16:creationId xmlns:a16="http://schemas.microsoft.com/office/drawing/2014/main" id="{5A464BBA-DC92-7A41-A3EB-FEBAF1A7D72B}"/>
              </a:ext>
            </a:extLst>
          </p:cNvPr>
          <p:cNvSpPr>
            <a:spLocks noGrp="1"/>
          </p:cNvSpPr>
          <p:nvPr>
            <p:ph type="sldNum" sz="quarter" idx="12"/>
          </p:nvPr>
        </p:nvSpPr>
        <p:spPr/>
        <p:txBody>
          <a:bodyPr/>
          <a:lstStyle/>
          <a:p>
            <a:fld id="{2093D444-7193-46AD-90E8-D84AE4B61CFF}" type="slidenum">
              <a:rPr lang="en-US" smtClean="0"/>
              <a:pPr/>
              <a:t>7</a:t>
            </a:fld>
            <a:r>
              <a:rPr lang="en-US"/>
              <a:t>/56</a:t>
            </a:r>
            <a:endParaRPr lang="en-US" dirty="0"/>
          </a:p>
        </p:txBody>
      </p:sp>
      <p:sp>
        <p:nvSpPr>
          <p:cNvPr id="5" name="Date Placeholder 4">
            <a:extLst>
              <a:ext uri="{FF2B5EF4-FFF2-40B4-BE49-F238E27FC236}">
                <a16:creationId xmlns:a16="http://schemas.microsoft.com/office/drawing/2014/main" id="{9FE2762C-68A2-8A4B-BFFE-93B71BB09691}"/>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p:pic>
        <p:nvPicPr>
          <p:cNvPr id="6" name="Picture 5">
            <a:extLst>
              <a:ext uri="{FF2B5EF4-FFF2-40B4-BE49-F238E27FC236}">
                <a16:creationId xmlns:a16="http://schemas.microsoft.com/office/drawing/2014/main" id="{9156BAE2-B14D-884B-8E6E-692459515D8F}"/>
              </a:ext>
            </a:extLst>
          </p:cNvPr>
          <p:cNvPicPr>
            <a:picLocks noChangeAspect="1"/>
          </p:cNvPicPr>
          <p:nvPr/>
        </p:nvPicPr>
        <p:blipFill>
          <a:blip r:embed="rId2"/>
          <a:stretch>
            <a:fillRect/>
          </a:stretch>
        </p:blipFill>
        <p:spPr>
          <a:xfrm>
            <a:off x="8306373" y="843712"/>
            <a:ext cx="3178056" cy="5442251"/>
          </a:xfrm>
          <a:prstGeom prst="rect">
            <a:avLst/>
          </a:prstGeom>
        </p:spPr>
      </p:pic>
      <p:pic>
        <p:nvPicPr>
          <p:cNvPr id="7" name="图片 6">
            <a:extLst>
              <a:ext uri="{FF2B5EF4-FFF2-40B4-BE49-F238E27FC236}">
                <a16:creationId xmlns:a16="http://schemas.microsoft.com/office/drawing/2014/main" id="{9A57FEF6-D745-574C-A586-C4ABB7AD32DC}"/>
              </a:ext>
            </a:extLst>
          </p:cNvPr>
          <p:cNvPicPr>
            <a:picLocks noChangeAspect="1"/>
          </p:cNvPicPr>
          <p:nvPr/>
        </p:nvPicPr>
        <p:blipFill>
          <a:blip r:embed="rId3"/>
          <a:stretch>
            <a:fillRect/>
          </a:stretch>
        </p:blipFill>
        <p:spPr>
          <a:xfrm>
            <a:off x="653142" y="1024027"/>
            <a:ext cx="7366896" cy="4832488"/>
          </a:xfrm>
          <a:prstGeom prst="rect">
            <a:avLst/>
          </a:prstGeom>
        </p:spPr>
      </p:pic>
    </p:spTree>
    <p:extLst>
      <p:ext uri="{BB962C8B-B14F-4D97-AF65-F5344CB8AC3E}">
        <p14:creationId xmlns:p14="http://schemas.microsoft.com/office/powerpoint/2010/main" val="4237480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Long-Term Scheduling</a:t>
            </a:r>
            <a:endParaRPr lang="zh-CN" altLang="en-US" dirty="0"/>
          </a:p>
        </p:txBody>
      </p:sp>
      <p:sp>
        <p:nvSpPr>
          <p:cNvPr id="3" name="内容占位符 2">
            <a:extLst>
              <a:ext uri="{FF2B5EF4-FFF2-40B4-BE49-F238E27FC236}">
                <a16:creationId xmlns:a16="http://schemas.microsoft.com/office/drawing/2014/main" id="{A5AAF1E7-7DFD-420F-85D5-4414E74DCF35}"/>
              </a:ext>
            </a:extLst>
          </p:cNvPr>
          <p:cNvSpPr>
            <a:spLocks noGrp="1"/>
          </p:cNvSpPr>
          <p:nvPr>
            <p:ph idx="1"/>
          </p:nvPr>
        </p:nvSpPr>
        <p:spPr>
          <a:xfrm>
            <a:off x="695959" y="936519"/>
            <a:ext cx="10766697" cy="5175794"/>
          </a:xfrm>
        </p:spPr>
        <p:txBody>
          <a:bodyPr>
            <a:normAutofit/>
          </a:bodyPr>
          <a:lstStyle/>
          <a:p>
            <a:r>
              <a:rPr lang="en-US" altLang="zh-CN" dirty="0"/>
              <a:t>Once a job/user program is admitted it, it </a:t>
            </a:r>
            <a:r>
              <a:rPr lang="en-US" altLang="zh-CN" dirty="0">
                <a:solidFill>
                  <a:srgbClr val="FF0000"/>
                </a:solidFill>
              </a:rPr>
              <a:t>becomes a process</a:t>
            </a:r>
            <a:endParaRPr lang="en-US" dirty="0"/>
          </a:p>
          <a:p>
            <a:r>
              <a:rPr lang="en-US" dirty="0"/>
              <a:t>Controls the </a:t>
            </a:r>
            <a:r>
              <a:rPr lang="en-US" dirty="0">
                <a:solidFill>
                  <a:srgbClr val="FF0000"/>
                </a:solidFill>
              </a:rPr>
              <a:t>degree of multiprogramming</a:t>
            </a:r>
          </a:p>
          <a:p>
            <a:r>
              <a:rPr lang="en-US" altLang="zh-CN" dirty="0">
                <a:solidFill>
                  <a:srgbClr val="FF0000"/>
                </a:solidFill>
              </a:rPr>
              <a:t>When</a:t>
            </a:r>
            <a:r>
              <a:rPr lang="zh-CN" altLang="en-US" dirty="0"/>
              <a:t> </a:t>
            </a:r>
            <a:r>
              <a:rPr lang="en-US" altLang="zh-CN" dirty="0"/>
              <a:t>to</a:t>
            </a:r>
            <a:r>
              <a:rPr lang="zh-CN" altLang="en-US" dirty="0"/>
              <a:t> </a:t>
            </a:r>
            <a:r>
              <a:rPr lang="en-US" altLang="zh-CN" dirty="0"/>
              <a:t>create</a:t>
            </a:r>
            <a:r>
              <a:rPr lang="zh-CN" altLang="en-US" dirty="0"/>
              <a:t> </a:t>
            </a:r>
            <a:r>
              <a:rPr lang="en-US" altLang="zh-CN" dirty="0"/>
              <a:t>a</a:t>
            </a:r>
            <a:r>
              <a:rPr lang="zh-CN" altLang="en-US" dirty="0"/>
              <a:t> </a:t>
            </a:r>
            <a:r>
              <a:rPr lang="en-US" altLang="zh-CN" dirty="0"/>
              <a:t>new</a:t>
            </a:r>
            <a:r>
              <a:rPr lang="zh-CN" altLang="en-US" dirty="0"/>
              <a:t> </a:t>
            </a:r>
            <a:r>
              <a:rPr lang="en-US" altLang="zh-CN" dirty="0"/>
              <a:t>process</a:t>
            </a:r>
          </a:p>
          <a:p>
            <a:pPr lvl="1"/>
            <a:r>
              <a:rPr lang="en-US" altLang="zh-CN" sz="2400" dirty="0"/>
              <a:t>Each</a:t>
            </a:r>
            <a:r>
              <a:rPr lang="zh-CN" altLang="en-US" sz="2400" dirty="0"/>
              <a:t> </a:t>
            </a:r>
            <a:r>
              <a:rPr lang="en-US" altLang="zh-CN" sz="2400" dirty="0"/>
              <a:t>time</a:t>
            </a:r>
            <a:r>
              <a:rPr lang="zh-CN" altLang="en-US" sz="2400" dirty="0"/>
              <a:t> </a:t>
            </a:r>
            <a:r>
              <a:rPr lang="en-US" altLang="zh-CN" sz="2400" dirty="0"/>
              <a:t>a</a:t>
            </a:r>
            <a:r>
              <a:rPr lang="zh-CN" altLang="en-US" sz="2400" dirty="0"/>
              <a:t> </a:t>
            </a:r>
            <a:r>
              <a:rPr lang="en-US" altLang="zh-CN" sz="2400" dirty="0"/>
              <a:t>job</a:t>
            </a:r>
            <a:r>
              <a:rPr lang="zh-CN" altLang="en-US" sz="2400" dirty="0"/>
              <a:t> </a:t>
            </a:r>
            <a:r>
              <a:rPr lang="en-US" altLang="zh-CN" sz="2400" dirty="0"/>
              <a:t>terminates</a:t>
            </a:r>
          </a:p>
          <a:p>
            <a:pPr lvl="1"/>
            <a:r>
              <a:rPr lang="en-US" altLang="zh-CN" sz="2400" dirty="0"/>
              <a:t>The</a:t>
            </a:r>
            <a:r>
              <a:rPr lang="zh-CN" altLang="en-US" sz="2400" dirty="0"/>
              <a:t> </a:t>
            </a:r>
            <a:r>
              <a:rPr lang="en-US" altLang="zh-CN" sz="2400" dirty="0"/>
              <a:t>time</a:t>
            </a:r>
            <a:r>
              <a:rPr lang="zh-CN" altLang="en-US" sz="2400" dirty="0"/>
              <a:t> </a:t>
            </a:r>
            <a:r>
              <a:rPr lang="en-US" altLang="zh-CN" sz="2400" dirty="0"/>
              <a:t>that</a:t>
            </a:r>
            <a:r>
              <a:rPr lang="zh-CN" altLang="en-US" sz="2400" dirty="0"/>
              <a:t> </a:t>
            </a:r>
            <a:r>
              <a:rPr lang="en-US" altLang="zh-CN" sz="2400" dirty="0"/>
              <a:t>processor</a:t>
            </a:r>
            <a:r>
              <a:rPr lang="zh-CN" altLang="en-US" sz="2400" dirty="0"/>
              <a:t> </a:t>
            </a:r>
            <a:r>
              <a:rPr lang="en-US" altLang="zh-CN" sz="2400" dirty="0"/>
              <a:t>is</a:t>
            </a:r>
            <a:r>
              <a:rPr lang="zh-CN" altLang="en-US" sz="2400" dirty="0"/>
              <a:t> </a:t>
            </a:r>
            <a:r>
              <a:rPr lang="en-US" altLang="zh-CN" sz="2400" dirty="0"/>
              <a:t>idle</a:t>
            </a:r>
            <a:r>
              <a:rPr lang="zh-CN" altLang="en-US" sz="2400" dirty="0"/>
              <a:t> </a:t>
            </a:r>
            <a:r>
              <a:rPr lang="en-US" altLang="zh-CN" sz="2400" dirty="0"/>
              <a:t>exceeds</a:t>
            </a:r>
            <a:r>
              <a:rPr lang="zh-CN" altLang="en-US" sz="2400" dirty="0"/>
              <a:t> </a:t>
            </a:r>
            <a:r>
              <a:rPr lang="en-US" altLang="zh-CN" sz="2400" dirty="0"/>
              <a:t>a</a:t>
            </a:r>
            <a:r>
              <a:rPr lang="zh-CN" altLang="en-US" sz="2400" dirty="0"/>
              <a:t> </a:t>
            </a:r>
            <a:r>
              <a:rPr lang="en-US" altLang="zh-CN" sz="2400" dirty="0"/>
              <a:t>certain</a:t>
            </a:r>
            <a:r>
              <a:rPr lang="zh-CN" altLang="en-US" sz="2400" dirty="0"/>
              <a:t> </a:t>
            </a:r>
            <a:r>
              <a:rPr lang="en-US" altLang="zh-CN" sz="2400" dirty="0"/>
              <a:t>threshold</a:t>
            </a:r>
          </a:p>
          <a:p>
            <a:r>
              <a:rPr lang="en-US" altLang="zh-CN" dirty="0">
                <a:solidFill>
                  <a:srgbClr val="FF0000"/>
                </a:solidFill>
              </a:rPr>
              <a:t>Which</a:t>
            </a:r>
            <a:r>
              <a:rPr lang="zh-CN" altLang="en-US" dirty="0"/>
              <a:t> </a:t>
            </a:r>
            <a:r>
              <a:rPr lang="en-US" altLang="zh-CN" dirty="0"/>
              <a:t>job</a:t>
            </a:r>
            <a:r>
              <a:rPr lang="zh-CN" altLang="en-US" dirty="0"/>
              <a:t> </a:t>
            </a:r>
            <a:r>
              <a:rPr lang="en-US" altLang="zh-CN" dirty="0"/>
              <a:t>to</a:t>
            </a:r>
            <a:r>
              <a:rPr lang="zh-CN" altLang="en-US" dirty="0"/>
              <a:t> </a:t>
            </a:r>
            <a:r>
              <a:rPr lang="en-US" altLang="zh-CN" dirty="0"/>
              <a:t>admit</a:t>
            </a:r>
          </a:p>
          <a:p>
            <a:pPr lvl="1"/>
            <a:r>
              <a:rPr lang="en-US" altLang="zh-CN" sz="2400" dirty="0"/>
              <a:t>First</a:t>
            </a:r>
            <a:r>
              <a:rPr lang="zh-CN" altLang="en-US" sz="2400" dirty="0"/>
              <a:t> </a:t>
            </a:r>
            <a:r>
              <a:rPr lang="en-US" altLang="zh-CN" sz="2400" dirty="0"/>
              <a:t>come</a:t>
            </a:r>
            <a:r>
              <a:rPr lang="zh-CN" altLang="en-US" sz="2400" dirty="0"/>
              <a:t> </a:t>
            </a:r>
            <a:r>
              <a:rPr lang="en-US" altLang="zh-CN" sz="2400" dirty="0"/>
              <a:t>first</a:t>
            </a:r>
            <a:r>
              <a:rPr lang="zh-CN" altLang="en-US" sz="2400" dirty="0"/>
              <a:t> </a:t>
            </a:r>
            <a:r>
              <a:rPr lang="en-US" altLang="zh-CN" sz="2400" dirty="0"/>
              <a:t>serve</a:t>
            </a:r>
          </a:p>
          <a:p>
            <a:pPr lvl="1"/>
            <a:r>
              <a:rPr lang="en-US" altLang="zh-CN" sz="2400" dirty="0"/>
              <a:t>priority</a:t>
            </a:r>
            <a:r>
              <a:rPr lang="zh-CN" altLang="en-US" sz="2400" dirty="0"/>
              <a:t>、</a:t>
            </a:r>
            <a:r>
              <a:rPr lang="en-US" altLang="zh-CN" sz="2400" dirty="0"/>
              <a:t>service</a:t>
            </a:r>
            <a:r>
              <a:rPr lang="zh-CN" altLang="en-US" sz="2400" dirty="0"/>
              <a:t> </a:t>
            </a:r>
            <a:r>
              <a:rPr lang="en-US" altLang="zh-CN" sz="2400" dirty="0"/>
              <a:t>time</a:t>
            </a:r>
            <a:r>
              <a:rPr lang="zh-CN" altLang="en-US" sz="2400" dirty="0"/>
              <a:t>、</a:t>
            </a:r>
            <a:r>
              <a:rPr lang="en-US" altLang="zh-CN" sz="2400" dirty="0"/>
              <a:t>I/O</a:t>
            </a:r>
            <a:r>
              <a:rPr lang="zh-CN" altLang="en-US" sz="2400" dirty="0"/>
              <a:t> </a:t>
            </a:r>
            <a:r>
              <a:rPr lang="en-US" altLang="zh-CN" sz="2400" dirty="0"/>
              <a:t>requirement</a:t>
            </a:r>
            <a:r>
              <a:rPr lang="zh-CN" altLang="en-US" sz="2400" dirty="0"/>
              <a:t>，</a:t>
            </a:r>
            <a:r>
              <a:rPr lang="en-US" altLang="zh-CN" sz="2400" dirty="0"/>
              <a:t>…</a:t>
            </a:r>
            <a:endParaRPr lang="en-US" sz="2400" dirty="0"/>
          </a:p>
          <a:p>
            <a:pPr lvl="3"/>
            <a:endParaRPr lang="en-US" dirty="0"/>
          </a:p>
          <a:p>
            <a:pPr marL="0" indent="0">
              <a:buNone/>
            </a:pPr>
            <a:endParaRPr lang="en-US" dirty="0"/>
          </a:p>
        </p:txBody>
      </p:sp>
    </p:spTree>
    <p:extLst>
      <p:ext uri="{BB962C8B-B14F-4D97-AF65-F5344CB8AC3E}">
        <p14:creationId xmlns:p14="http://schemas.microsoft.com/office/powerpoint/2010/main" val="2656301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Medium-Term Scheduling</a:t>
            </a:r>
            <a:endParaRPr lang="zh-CN" altLang="en-US" dirty="0"/>
          </a:p>
        </p:txBody>
      </p:sp>
      <p:sp>
        <p:nvSpPr>
          <p:cNvPr id="3" name="内容占位符 2">
            <a:extLst>
              <a:ext uri="{FF2B5EF4-FFF2-40B4-BE49-F238E27FC236}">
                <a16:creationId xmlns:a16="http://schemas.microsoft.com/office/drawing/2014/main" id="{A5AAF1E7-7DFD-420F-85D5-4414E74DCF35}"/>
              </a:ext>
            </a:extLst>
          </p:cNvPr>
          <p:cNvSpPr>
            <a:spLocks noGrp="1"/>
          </p:cNvSpPr>
          <p:nvPr>
            <p:ph idx="1"/>
          </p:nvPr>
        </p:nvSpPr>
        <p:spPr/>
        <p:txBody>
          <a:bodyPr/>
          <a:lstStyle/>
          <a:p>
            <a:r>
              <a:rPr lang="en-US" altLang="zh-CN" dirty="0"/>
              <a:t>Part of the </a:t>
            </a:r>
            <a:r>
              <a:rPr lang="en-US" altLang="zh-CN" dirty="0">
                <a:solidFill>
                  <a:srgbClr val="FF0000"/>
                </a:solidFill>
              </a:rPr>
              <a:t>swapping</a:t>
            </a:r>
            <a:r>
              <a:rPr lang="en-US" altLang="zh-CN" dirty="0"/>
              <a:t> function</a:t>
            </a:r>
          </a:p>
          <a:p>
            <a:endParaRPr lang="en-US" altLang="zh-CN" dirty="0"/>
          </a:p>
          <a:p>
            <a:r>
              <a:rPr lang="en-US" altLang="zh-CN" dirty="0"/>
              <a:t>Swapping-in decisions are based on the need to </a:t>
            </a:r>
            <a:r>
              <a:rPr lang="en-US" altLang="zh-CN" dirty="0">
                <a:solidFill>
                  <a:srgbClr val="FF0000"/>
                </a:solidFill>
              </a:rPr>
              <a:t>manage the degree of  multiprogramming</a:t>
            </a:r>
          </a:p>
          <a:p>
            <a:pPr lvl="1"/>
            <a:r>
              <a:rPr lang="en-US" altLang="zh-CN" sz="2400" dirty="0"/>
              <a:t>considers the </a:t>
            </a:r>
            <a:r>
              <a:rPr lang="en-US" altLang="zh-CN" sz="2400" dirty="0">
                <a:solidFill>
                  <a:srgbClr val="FF0000"/>
                </a:solidFill>
              </a:rPr>
              <a:t>memory</a:t>
            </a:r>
            <a:r>
              <a:rPr lang="en-US" altLang="zh-CN" sz="2400" dirty="0"/>
              <a:t> requirements of the swapped-out processes</a:t>
            </a:r>
          </a:p>
          <a:p>
            <a:endParaRPr lang="zh-CN" altLang="en-US" dirty="0"/>
          </a:p>
        </p:txBody>
      </p:sp>
    </p:spTree>
    <p:extLst>
      <p:ext uri="{BB962C8B-B14F-4D97-AF65-F5344CB8AC3E}">
        <p14:creationId xmlns:p14="http://schemas.microsoft.com/office/powerpoint/2010/main" val="4114880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9.2</a:t>
            </a:r>
            <a:r>
              <a:rPr lang="zh-CN" altLang="en-US" dirty="0"/>
              <a:t> </a:t>
            </a:r>
            <a:r>
              <a:rPr lang="en-US" altLang="zh-CN" dirty="0"/>
              <a:t>Short-Term Scheduling</a:t>
            </a:r>
            <a:endParaRPr lang="zh-CN" altLang="en-US" dirty="0"/>
          </a:p>
        </p:txBody>
      </p:sp>
      <p:sp>
        <p:nvSpPr>
          <p:cNvPr id="3" name="内容占位符 2">
            <a:extLst>
              <a:ext uri="{FF2B5EF4-FFF2-40B4-BE49-F238E27FC236}">
                <a16:creationId xmlns:a16="http://schemas.microsoft.com/office/drawing/2014/main" id="{A5AAF1E7-7DFD-420F-85D5-4414E74DCF35}"/>
              </a:ext>
            </a:extLst>
          </p:cNvPr>
          <p:cNvSpPr>
            <a:spLocks noGrp="1"/>
          </p:cNvSpPr>
          <p:nvPr>
            <p:ph idx="1"/>
          </p:nvPr>
        </p:nvSpPr>
        <p:spPr/>
        <p:txBody>
          <a:bodyPr>
            <a:normAutofit/>
          </a:bodyPr>
          <a:lstStyle/>
          <a:p>
            <a:r>
              <a:rPr lang="en-US" altLang="zh-CN" dirty="0"/>
              <a:t>Known as the </a:t>
            </a:r>
            <a:r>
              <a:rPr lang="en-US" altLang="zh-CN" dirty="0">
                <a:solidFill>
                  <a:srgbClr val="FF0000"/>
                </a:solidFill>
              </a:rPr>
              <a:t>dispatcher</a:t>
            </a:r>
          </a:p>
          <a:p>
            <a:r>
              <a:rPr lang="en-US" altLang="zh-CN" dirty="0"/>
              <a:t>Executes </a:t>
            </a:r>
            <a:r>
              <a:rPr lang="en-US" altLang="zh-CN" dirty="0">
                <a:solidFill>
                  <a:srgbClr val="FF0000"/>
                </a:solidFill>
              </a:rPr>
              <a:t>most frequently</a:t>
            </a:r>
          </a:p>
          <a:p>
            <a:r>
              <a:rPr lang="en-US" altLang="zh-CN" dirty="0"/>
              <a:t>Makes the fine-grained decision of which process to execute next</a:t>
            </a:r>
          </a:p>
          <a:p>
            <a:r>
              <a:rPr lang="en-US" altLang="zh-CN" dirty="0">
                <a:solidFill>
                  <a:srgbClr val="FF0000"/>
                </a:solidFill>
              </a:rPr>
              <a:t>Invoked</a:t>
            </a:r>
            <a:r>
              <a:rPr lang="en-US" altLang="zh-CN" dirty="0"/>
              <a:t> </a:t>
            </a:r>
          </a:p>
          <a:p>
            <a:pPr lvl="1"/>
            <a:r>
              <a:rPr lang="en-US" altLang="zh-CN" sz="2400" dirty="0"/>
              <a:t>when an </a:t>
            </a:r>
            <a:r>
              <a:rPr lang="en-US" altLang="zh-CN" sz="2400" dirty="0">
                <a:solidFill>
                  <a:srgbClr val="FF0000"/>
                </a:solidFill>
              </a:rPr>
              <a:t>event occurs </a:t>
            </a:r>
            <a:r>
              <a:rPr lang="en-US" altLang="zh-CN" sz="2400" dirty="0"/>
              <a:t>blocking of the current process </a:t>
            </a:r>
          </a:p>
          <a:p>
            <a:pPr lvl="1"/>
            <a:r>
              <a:rPr lang="en-US" altLang="zh-CN" sz="2400" dirty="0">
                <a:solidFill>
                  <a:srgbClr val="FF0000"/>
                </a:solidFill>
              </a:rPr>
              <a:t>preempt </a:t>
            </a:r>
            <a:r>
              <a:rPr lang="zh-CN" altLang="en-US" sz="2400" dirty="0"/>
              <a:t>（抢占）</a:t>
            </a:r>
            <a:r>
              <a:rPr lang="en-US" altLang="zh-CN" sz="2400" dirty="0"/>
              <a:t> a currently running process in favor of another</a:t>
            </a:r>
          </a:p>
          <a:p>
            <a:pPr lvl="1"/>
            <a:r>
              <a:rPr lang="en-US" altLang="zh-CN" sz="2400" dirty="0"/>
              <a:t>Examples:</a:t>
            </a:r>
          </a:p>
          <a:p>
            <a:pPr lvl="2"/>
            <a:r>
              <a:rPr lang="en-US" altLang="zh-CN" sz="2400" dirty="0"/>
              <a:t>Clock interrupts</a:t>
            </a:r>
          </a:p>
          <a:p>
            <a:pPr lvl="2"/>
            <a:r>
              <a:rPr lang="en-US" altLang="zh-CN" sz="2400" dirty="0"/>
              <a:t>I/O interrupts</a:t>
            </a:r>
          </a:p>
          <a:p>
            <a:pPr lvl="2"/>
            <a:r>
              <a:rPr lang="en-US" altLang="zh-CN" sz="2400" dirty="0"/>
              <a:t>Operating system calls</a:t>
            </a:r>
          </a:p>
          <a:p>
            <a:pPr lvl="2"/>
            <a:r>
              <a:rPr lang="en-US" altLang="zh-CN" sz="2400" dirty="0"/>
              <a:t>Signals (e.g., semaphores)</a:t>
            </a:r>
          </a:p>
          <a:p>
            <a:pPr lvl="2"/>
            <a:endParaRPr lang="zh-CN" altLang="en-US" dirty="0"/>
          </a:p>
        </p:txBody>
      </p:sp>
    </p:spTree>
    <p:extLst>
      <p:ext uri="{BB962C8B-B14F-4D97-AF65-F5344CB8AC3E}">
        <p14:creationId xmlns:p14="http://schemas.microsoft.com/office/powerpoint/2010/main" val="1112990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745ADA-68BE-486D-A46D-401BC62B572B}"/>
              </a:ext>
            </a:extLst>
          </p:cNvPr>
          <p:cNvSpPr>
            <a:spLocks noGrp="1"/>
          </p:cNvSpPr>
          <p:nvPr>
            <p:ph type="title"/>
          </p:nvPr>
        </p:nvSpPr>
        <p:spPr/>
        <p:txBody>
          <a:bodyPr/>
          <a:lstStyle/>
          <a:p>
            <a:r>
              <a:rPr lang="en-US" altLang="zh-CN" dirty="0"/>
              <a:t>9.2.1</a:t>
            </a:r>
            <a:r>
              <a:rPr lang="zh-CN" altLang="en-US" dirty="0"/>
              <a:t> </a:t>
            </a:r>
            <a:r>
              <a:rPr lang="en-US" altLang="zh-CN" dirty="0"/>
              <a:t>Short Term Scheduling Criteria</a:t>
            </a:r>
            <a:endParaRPr lang="en-US" dirty="0"/>
          </a:p>
        </p:txBody>
      </p:sp>
      <p:sp>
        <p:nvSpPr>
          <p:cNvPr id="3" name="内容占位符 2">
            <a:extLst>
              <a:ext uri="{FF2B5EF4-FFF2-40B4-BE49-F238E27FC236}">
                <a16:creationId xmlns:a16="http://schemas.microsoft.com/office/drawing/2014/main" id="{8052C91F-6AF0-42D8-93EC-D269C56F36F5}"/>
              </a:ext>
            </a:extLst>
          </p:cNvPr>
          <p:cNvSpPr>
            <a:spLocks noGrp="1"/>
          </p:cNvSpPr>
          <p:nvPr>
            <p:ph idx="1"/>
          </p:nvPr>
        </p:nvSpPr>
        <p:spPr/>
        <p:txBody>
          <a:bodyPr/>
          <a:lstStyle/>
          <a:p>
            <a:r>
              <a:rPr lang="en-NZ" dirty="0">
                <a:solidFill>
                  <a:srgbClr val="FF0000"/>
                </a:solidFill>
              </a:rPr>
              <a:t>A set of criteria </a:t>
            </a:r>
            <a:r>
              <a:rPr lang="en-NZ" dirty="0"/>
              <a:t>is needed to evaluate the scheduling policy</a:t>
            </a:r>
          </a:p>
        </p:txBody>
      </p:sp>
      <p:sp>
        <p:nvSpPr>
          <p:cNvPr id="4" name="灯片编号占位符 3">
            <a:extLst>
              <a:ext uri="{FF2B5EF4-FFF2-40B4-BE49-F238E27FC236}">
                <a16:creationId xmlns:a16="http://schemas.microsoft.com/office/drawing/2014/main" id="{2A96C41B-230C-4032-BD2B-782ADF89F28A}"/>
              </a:ext>
            </a:extLst>
          </p:cNvPr>
          <p:cNvSpPr>
            <a:spLocks noGrp="1"/>
          </p:cNvSpPr>
          <p:nvPr>
            <p:ph type="sldNum" sz="quarter" idx="12"/>
          </p:nvPr>
        </p:nvSpPr>
        <p:spPr/>
        <p:txBody>
          <a:bodyPr/>
          <a:lstStyle/>
          <a:p>
            <a:fld id="{2093D444-7193-46AD-90E8-D84AE4B61CFF}" type="slidenum">
              <a:rPr lang="en-US" smtClean="0"/>
              <a:pPr/>
              <a:t>11</a:t>
            </a:fld>
            <a:r>
              <a:rPr lang="en-US"/>
              <a:t>/56</a:t>
            </a:r>
            <a:endParaRPr lang="en-US" dirty="0"/>
          </a:p>
        </p:txBody>
      </p:sp>
      <p:sp>
        <p:nvSpPr>
          <p:cNvPr id="5" name="日期占位符 4">
            <a:extLst>
              <a:ext uri="{FF2B5EF4-FFF2-40B4-BE49-F238E27FC236}">
                <a16:creationId xmlns:a16="http://schemas.microsoft.com/office/drawing/2014/main" id="{0663C874-2EBC-40DC-91E6-8B6D04BD7E51}"/>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p:pic>
        <p:nvPicPr>
          <p:cNvPr id="8" name="图片 10">
            <a:extLst>
              <a:ext uri="{FF2B5EF4-FFF2-40B4-BE49-F238E27FC236}">
                <a16:creationId xmlns:a16="http://schemas.microsoft.com/office/drawing/2014/main" id="{ACF3EDED-4FA6-A645-AAD4-F9E2CB007918}"/>
              </a:ext>
            </a:extLst>
          </p:cNvPr>
          <p:cNvPicPr>
            <a:picLocks noChangeAspect="1"/>
          </p:cNvPicPr>
          <p:nvPr/>
        </p:nvPicPr>
        <p:blipFill>
          <a:blip r:embed="rId2"/>
          <a:stretch>
            <a:fillRect/>
          </a:stretch>
        </p:blipFill>
        <p:spPr>
          <a:xfrm>
            <a:off x="1865902" y="1262901"/>
            <a:ext cx="9324612" cy="5187523"/>
          </a:xfrm>
          <a:prstGeom prst="rect">
            <a:avLst/>
          </a:prstGeom>
        </p:spPr>
      </p:pic>
    </p:spTree>
    <p:extLst>
      <p:ext uri="{BB962C8B-B14F-4D97-AF65-F5344CB8AC3E}">
        <p14:creationId xmlns:p14="http://schemas.microsoft.com/office/powerpoint/2010/main" val="718602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normAutofit/>
          </a:bodyPr>
          <a:lstStyle/>
          <a:p>
            <a:r>
              <a:rPr lang="en-US" altLang="zh-CN" dirty="0"/>
              <a:t>Scheduling Criteria</a:t>
            </a:r>
            <a:endParaRPr lang="zh-CN" altLang="en-US" dirty="0"/>
          </a:p>
        </p:txBody>
      </p:sp>
      <p:sp>
        <p:nvSpPr>
          <p:cNvPr id="5" name="内容占位符 4">
            <a:extLst>
              <a:ext uri="{FF2B5EF4-FFF2-40B4-BE49-F238E27FC236}">
                <a16:creationId xmlns:a16="http://schemas.microsoft.com/office/drawing/2014/main" id="{5A0DB606-2A42-4AE7-AD4B-9331F004E706}"/>
              </a:ext>
            </a:extLst>
          </p:cNvPr>
          <p:cNvSpPr>
            <a:spLocks noGrp="1"/>
          </p:cNvSpPr>
          <p:nvPr>
            <p:ph idx="1"/>
          </p:nvPr>
        </p:nvSpPr>
        <p:spPr/>
        <p:txBody>
          <a:bodyPr/>
          <a:lstStyle/>
          <a:p>
            <a:endParaRPr lang="en-US" dirty="0"/>
          </a:p>
        </p:txBody>
      </p:sp>
      <p:pic>
        <p:nvPicPr>
          <p:cNvPr id="9" name="图片 8">
            <a:extLst>
              <a:ext uri="{FF2B5EF4-FFF2-40B4-BE49-F238E27FC236}">
                <a16:creationId xmlns:a16="http://schemas.microsoft.com/office/drawing/2014/main" id="{954B9084-E754-4DAC-97B7-D9E2CAE5294C}"/>
              </a:ext>
            </a:extLst>
          </p:cNvPr>
          <p:cNvPicPr>
            <a:picLocks noChangeAspect="1"/>
          </p:cNvPicPr>
          <p:nvPr/>
        </p:nvPicPr>
        <p:blipFill>
          <a:blip r:embed="rId2"/>
          <a:stretch>
            <a:fillRect/>
          </a:stretch>
        </p:blipFill>
        <p:spPr>
          <a:xfrm>
            <a:off x="3315218" y="801348"/>
            <a:ext cx="6170687" cy="5496801"/>
          </a:xfrm>
          <a:prstGeom prst="rect">
            <a:avLst/>
          </a:prstGeom>
        </p:spPr>
      </p:pic>
    </p:spTree>
    <p:extLst>
      <p:ext uri="{BB962C8B-B14F-4D97-AF65-F5344CB8AC3E}">
        <p14:creationId xmlns:p14="http://schemas.microsoft.com/office/powerpoint/2010/main" val="1778563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676FDA-D956-4448-B4D4-392A2C3DF1E8}"/>
              </a:ext>
            </a:extLst>
          </p:cNvPr>
          <p:cNvSpPr>
            <a:spLocks noGrp="1"/>
          </p:cNvSpPr>
          <p:nvPr>
            <p:ph type="title"/>
          </p:nvPr>
        </p:nvSpPr>
        <p:spPr/>
        <p:txBody>
          <a:bodyPr/>
          <a:lstStyle/>
          <a:p>
            <a:r>
              <a:rPr lang="en-US" dirty="0"/>
              <a:t>Another dimension</a:t>
            </a:r>
          </a:p>
        </p:txBody>
      </p:sp>
      <p:sp>
        <p:nvSpPr>
          <p:cNvPr id="4" name="灯片编号占位符 3">
            <a:extLst>
              <a:ext uri="{FF2B5EF4-FFF2-40B4-BE49-F238E27FC236}">
                <a16:creationId xmlns:a16="http://schemas.microsoft.com/office/drawing/2014/main" id="{1C33C1A3-BC45-4002-B5F3-82D5A8DF9192}"/>
              </a:ext>
            </a:extLst>
          </p:cNvPr>
          <p:cNvSpPr>
            <a:spLocks noGrp="1"/>
          </p:cNvSpPr>
          <p:nvPr>
            <p:ph type="sldNum" sz="quarter" idx="12"/>
          </p:nvPr>
        </p:nvSpPr>
        <p:spPr/>
        <p:txBody>
          <a:bodyPr/>
          <a:lstStyle/>
          <a:p>
            <a:fld id="{2093D444-7193-46AD-90E8-D84AE4B61CFF}" type="slidenum">
              <a:rPr lang="en-US" smtClean="0"/>
              <a:pPr/>
              <a:t>13</a:t>
            </a:fld>
            <a:r>
              <a:rPr lang="en-US"/>
              <a:t>/56</a:t>
            </a:r>
            <a:endParaRPr lang="en-US" dirty="0"/>
          </a:p>
        </p:txBody>
      </p:sp>
      <p:sp>
        <p:nvSpPr>
          <p:cNvPr id="5" name="日期占位符 4">
            <a:extLst>
              <a:ext uri="{FF2B5EF4-FFF2-40B4-BE49-F238E27FC236}">
                <a16:creationId xmlns:a16="http://schemas.microsoft.com/office/drawing/2014/main" id="{5927285C-8A58-4B66-BD60-7198A90B0FBC}"/>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p:pic>
        <p:nvPicPr>
          <p:cNvPr id="14" name="图片 13">
            <a:extLst>
              <a:ext uri="{FF2B5EF4-FFF2-40B4-BE49-F238E27FC236}">
                <a16:creationId xmlns:a16="http://schemas.microsoft.com/office/drawing/2014/main" id="{FC375692-EC66-4CF1-948D-73C2EBE0E9D0}"/>
              </a:ext>
            </a:extLst>
          </p:cNvPr>
          <p:cNvPicPr>
            <a:picLocks noChangeAspect="1"/>
          </p:cNvPicPr>
          <p:nvPr/>
        </p:nvPicPr>
        <p:blipFill>
          <a:blip r:embed="rId2"/>
          <a:stretch>
            <a:fillRect/>
          </a:stretch>
        </p:blipFill>
        <p:spPr>
          <a:xfrm>
            <a:off x="1885587" y="962796"/>
            <a:ext cx="8204618" cy="5141913"/>
          </a:xfrm>
          <a:prstGeom prst="rect">
            <a:avLst/>
          </a:prstGeom>
        </p:spPr>
      </p:pic>
    </p:spTree>
    <p:extLst>
      <p:ext uri="{BB962C8B-B14F-4D97-AF65-F5344CB8AC3E}">
        <p14:creationId xmlns:p14="http://schemas.microsoft.com/office/powerpoint/2010/main" val="3614307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9.2.2</a:t>
            </a:r>
            <a:r>
              <a:rPr lang="zh-CN" altLang="en-US" dirty="0"/>
              <a:t> </a:t>
            </a:r>
            <a:r>
              <a:rPr lang="en-US" altLang="zh-CN" dirty="0"/>
              <a:t>The Use of Priorities</a:t>
            </a:r>
            <a:endParaRPr lang="zh-CN" altLang="en-US" dirty="0"/>
          </a:p>
        </p:txBody>
      </p:sp>
      <p:sp>
        <p:nvSpPr>
          <p:cNvPr id="3" name="矩形 2">
            <a:extLst>
              <a:ext uri="{FF2B5EF4-FFF2-40B4-BE49-F238E27FC236}">
                <a16:creationId xmlns:a16="http://schemas.microsoft.com/office/drawing/2014/main" id="{355C1108-1FA2-4EA4-8DF2-54A6C61BBCAF}"/>
              </a:ext>
            </a:extLst>
          </p:cNvPr>
          <p:cNvSpPr/>
          <p:nvPr/>
        </p:nvSpPr>
        <p:spPr>
          <a:xfrm>
            <a:off x="8320750" y="5801527"/>
            <a:ext cx="1895071" cy="400110"/>
          </a:xfrm>
          <a:prstGeom prst="rect">
            <a:avLst/>
          </a:prstGeom>
        </p:spPr>
        <p:txBody>
          <a:bodyPr wrap="none">
            <a:spAutoFit/>
          </a:bodyPr>
          <a:lstStyle/>
          <a:p>
            <a:r>
              <a:rPr lang="en-US" altLang="zh-CN" sz="2000" dirty="0"/>
              <a:t>Priority Queuing</a:t>
            </a:r>
            <a:endParaRPr lang="zh-CN" altLang="en-US" sz="2000" dirty="0"/>
          </a:p>
        </p:txBody>
      </p:sp>
      <p:sp>
        <p:nvSpPr>
          <p:cNvPr id="7" name="内容占位符 6">
            <a:extLst>
              <a:ext uri="{FF2B5EF4-FFF2-40B4-BE49-F238E27FC236}">
                <a16:creationId xmlns:a16="http://schemas.microsoft.com/office/drawing/2014/main" id="{8DFF8C4A-64D1-43BD-B8AF-E7F548805D96}"/>
              </a:ext>
            </a:extLst>
          </p:cNvPr>
          <p:cNvSpPr>
            <a:spLocks noGrp="1"/>
          </p:cNvSpPr>
          <p:nvPr>
            <p:ph idx="1"/>
          </p:nvPr>
        </p:nvSpPr>
        <p:spPr>
          <a:xfrm>
            <a:off x="838200" y="841103"/>
            <a:ext cx="4626685" cy="5175794"/>
          </a:xfrm>
        </p:spPr>
        <p:txBody>
          <a:bodyPr>
            <a:normAutofit/>
          </a:bodyPr>
          <a:lstStyle/>
          <a:p>
            <a:r>
              <a:rPr lang="en-US" dirty="0"/>
              <a:t>In many systems, each process is assigned a priority, and the scheduler will always </a:t>
            </a:r>
            <a:r>
              <a:rPr lang="en-US" dirty="0">
                <a:solidFill>
                  <a:srgbClr val="FF0000"/>
                </a:solidFill>
              </a:rPr>
              <a:t>choose a process of higher priority </a:t>
            </a:r>
            <a:r>
              <a:rPr lang="en-US" dirty="0"/>
              <a:t>over one of lower priority.</a:t>
            </a:r>
          </a:p>
          <a:p>
            <a:r>
              <a:rPr lang="en-US" sz="2400" dirty="0"/>
              <a:t>larger-priority values represent lower-priority processes</a:t>
            </a:r>
            <a:endParaRPr lang="en-US" dirty="0"/>
          </a:p>
          <a:p>
            <a:r>
              <a:rPr lang="en-US" altLang="zh-CN" dirty="0"/>
              <a:t>L</a:t>
            </a:r>
            <a:r>
              <a:rPr lang="en-US" dirty="0"/>
              <a:t>ower-priority</a:t>
            </a:r>
            <a:r>
              <a:rPr lang="zh-CN" altLang="en-US" dirty="0"/>
              <a:t> </a:t>
            </a:r>
            <a:r>
              <a:rPr lang="en-US" dirty="0"/>
              <a:t> processes may suffer </a:t>
            </a:r>
            <a:r>
              <a:rPr lang="en-US" dirty="0">
                <a:solidFill>
                  <a:srgbClr val="FF0000"/>
                </a:solidFill>
              </a:rPr>
              <a:t>starvation</a:t>
            </a:r>
          </a:p>
        </p:txBody>
      </p:sp>
      <p:pic>
        <p:nvPicPr>
          <p:cNvPr id="9" name="图片 8">
            <a:extLst>
              <a:ext uri="{FF2B5EF4-FFF2-40B4-BE49-F238E27FC236}">
                <a16:creationId xmlns:a16="http://schemas.microsoft.com/office/drawing/2014/main" id="{8F0C5680-F8CB-4CB2-869C-352AC66014AD}"/>
              </a:ext>
            </a:extLst>
          </p:cNvPr>
          <p:cNvPicPr>
            <a:picLocks noChangeAspect="1"/>
          </p:cNvPicPr>
          <p:nvPr/>
        </p:nvPicPr>
        <p:blipFill>
          <a:blip r:embed="rId3"/>
          <a:stretch>
            <a:fillRect/>
          </a:stretch>
        </p:blipFill>
        <p:spPr>
          <a:xfrm>
            <a:off x="5515432" y="943427"/>
            <a:ext cx="6231917" cy="4533056"/>
          </a:xfrm>
          <a:prstGeom prst="rect">
            <a:avLst/>
          </a:prstGeom>
        </p:spPr>
      </p:pic>
    </p:spTree>
    <p:extLst>
      <p:ext uri="{BB962C8B-B14F-4D97-AF65-F5344CB8AC3E}">
        <p14:creationId xmlns:p14="http://schemas.microsoft.com/office/powerpoint/2010/main" val="137684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CA4281-6C7C-48C3-A68F-965C1F4E1082}"/>
              </a:ext>
            </a:extLst>
          </p:cNvPr>
          <p:cNvSpPr>
            <a:spLocks noGrp="1"/>
          </p:cNvSpPr>
          <p:nvPr>
            <p:ph type="title"/>
          </p:nvPr>
        </p:nvSpPr>
        <p:spPr/>
        <p:txBody>
          <a:bodyPr/>
          <a:lstStyle/>
          <a:p>
            <a:r>
              <a:rPr lang="en-US" altLang="zh-CN" dirty="0"/>
              <a:t>9.2.3</a:t>
            </a:r>
            <a:r>
              <a:rPr lang="zh-CN" altLang="en-US" dirty="0"/>
              <a:t> </a:t>
            </a:r>
            <a:r>
              <a:rPr lang="en-US" dirty="0"/>
              <a:t>Alternative Scheduling Policies</a:t>
            </a:r>
          </a:p>
        </p:txBody>
      </p:sp>
      <p:sp>
        <p:nvSpPr>
          <p:cNvPr id="3" name="内容占位符 2">
            <a:extLst>
              <a:ext uri="{FF2B5EF4-FFF2-40B4-BE49-F238E27FC236}">
                <a16:creationId xmlns:a16="http://schemas.microsoft.com/office/drawing/2014/main" id="{A45460FD-6C07-41B1-8895-AE4C3D30EB12}"/>
              </a:ext>
            </a:extLst>
          </p:cNvPr>
          <p:cNvSpPr>
            <a:spLocks noGrp="1"/>
          </p:cNvSpPr>
          <p:nvPr>
            <p:ph idx="1"/>
          </p:nvPr>
        </p:nvSpPr>
        <p:spPr>
          <a:xfrm>
            <a:off x="537665" y="979691"/>
            <a:ext cx="3055390" cy="5175794"/>
          </a:xfrm>
        </p:spPr>
        <p:txBody>
          <a:bodyPr>
            <a:normAutofit/>
          </a:bodyPr>
          <a:lstStyle/>
          <a:p>
            <a:r>
              <a:rPr lang="en-US" dirty="0">
                <a:solidFill>
                  <a:srgbClr val="0070C0"/>
                </a:solidFill>
              </a:rPr>
              <a:t>FCFS</a:t>
            </a:r>
            <a:r>
              <a:rPr lang="en-US" dirty="0"/>
              <a:t>: first come first served</a:t>
            </a:r>
          </a:p>
          <a:p>
            <a:r>
              <a:rPr lang="en-US" dirty="0">
                <a:solidFill>
                  <a:srgbClr val="0070C0"/>
                </a:solidFill>
              </a:rPr>
              <a:t>RR</a:t>
            </a:r>
            <a:r>
              <a:rPr lang="en-US" dirty="0"/>
              <a:t>: R</a:t>
            </a:r>
            <a:r>
              <a:rPr lang="en-US" altLang="zh-CN" dirty="0"/>
              <a:t>ound</a:t>
            </a:r>
            <a:r>
              <a:rPr lang="zh-CN" altLang="en-US" dirty="0"/>
              <a:t> </a:t>
            </a:r>
            <a:r>
              <a:rPr lang="en-US" altLang="zh-CN" dirty="0"/>
              <a:t>Robin</a:t>
            </a:r>
          </a:p>
          <a:p>
            <a:r>
              <a:rPr lang="en-US" dirty="0">
                <a:solidFill>
                  <a:srgbClr val="0070C0"/>
                </a:solidFill>
              </a:rPr>
              <a:t>SPN</a:t>
            </a:r>
            <a:r>
              <a:rPr lang="en-US" dirty="0"/>
              <a:t>: Shortest Process Next</a:t>
            </a:r>
          </a:p>
          <a:p>
            <a:r>
              <a:rPr lang="en-US" dirty="0">
                <a:solidFill>
                  <a:srgbClr val="0070C0"/>
                </a:solidFill>
              </a:rPr>
              <a:t>SRT</a:t>
            </a:r>
            <a:r>
              <a:rPr lang="en-US" dirty="0"/>
              <a:t>: Shortest Remaining Time</a:t>
            </a:r>
          </a:p>
          <a:p>
            <a:r>
              <a:rPr lang="en-US" dirty="0">
                <a:solidFill>
                  <a:srgbClr val="0070C0"/>
                </a:solidFill>
              </a:rPr>
              <a:t>HRRN</a:t>
            </a:r>
            <a:r>
              <a:rPr lang="en-US" dirty="0"/>
              <a:t>: Highest Response Ratio Next</a:t>
            </a:r>
          </a:p>
          <a:p>
            <a:r>
              <a:rPr lang="en-US" dirty="0">
                <a:solidFill>
                  <a:srgbClr val="0070C0"/>
                </a:solidFill>
              </a:rPr>
              <a:t>FB</a:t>
            </a:r>
            <a:r>
              <a:rPr lang="en-US" dirty="0"/>
              <a:t>: F</a:t>
            </a:r>
            <a:r>
              <a:rPr lang="en-US" altLang="zh-CN" dirty="0"/>
              <a:t>eedback</a:t>
            </a:r>
            <a:endParaRPr lang="en-US" dirty="0"/>
          </a:p>
        </p:txBody>
      </p:sp>
      <p:sp>
        <p:nvSpPr>
          <p:cNvPr id="4" name="灯片编号占位符 3">
            <a:extLst>
              <a:ext uri="{FF2B5EF4-FFF2-40B4-BE49-F238E27FC236}">
                <a16:creationId xmlns:a16="http://schemas.microsoft.com/office/drawing/2014/main" id="{E93A91D4-DB69-49E6-9ABB-43622207E646}"/>
              </a:ext>
            </a:extLst>
          </p:cNvPr>
          <p:cNvSpPr>
            <a:spLocks noGrp="1"/>
          </p:cNvSpPr>
          <p:nvPr>
            <p:ph type="sldNum" sz="quarter" idx="12"/>
          </p:nvPr>
        </p:nvSpPr>
        <p:spPr/>
        <p:txBody>
          <a:bodyPr/>
          <a:lstStyle/>
          <a:p>
            <a:fld id="{2093D444-7193-46AD-90E8-D84AE4B61CFF}" type="slidenum">
              <a:rPr lang="en-US" smtClean="0"/>
              <a:pPr/>
              <a:t>15</a:t>
            </a:fld>
            <a:r>
              <a:rPr lang="en-US"/>
              <a:t>/56</a:t>
            </a:r>
            <a:endParaRPr lang="en-US" dirty="0"/>
          </a:p>
        </p:txBody>
      </p:sp>
      <p:sp>
        <p:nvSpPr>
          <p:cNvPr id="5" name="日期占位符 4">
            <a:extLst>
              <a:ext uri="{FF2B5EF4-FFF2-40B4-BE49-F238E27FC236}">
                <a16:creationId xmlns:a16="http://schemas.microsoft.com/office/drawing/2014/main" id="{E8C22B51-E751-47AA-AB22-43E6E1ABF162}"/>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p:pic>
        <p:nvPicPr>
          <p:cNvPr id="11" name="图片 10">
            <a:extLst>
              <a:ext uri="{FF2B5EF4-FFF2-40B4-BE49-F238E27FC236}">
                <a16:creationId xmlns:a16="http://schemas.microsoft.com/office/drawing/2014/main" id="{BD76A06F-3E7A-4061-AF4B-297CD6639A59}"/>
              </a:ext>
            </a:extLst>
          </p:cNvPr>
          <p:cNvPicPr>
            <a:picLocks noChangeAspect="1"/>
          </p:cNvPicPr>
          <p:nvPr/>
        </p:nvPicPr>
        <p:blipFill>
          <a:blip r:embed="rId2"/>
          <a:stretch>
            <a:fillRect/>
          </a:stretch>
        </p:blipFill>
        <p:spPr>
          <a:xfrm>
            <a:off x="4443580" y="841103"/>
            <a:ext cx="7210756" cy="5427122"/>
          </a:xfrm>
          <a:prstGeom prst="rect">
            <a:avLst/>
          </a:prstGeom>
        </p:spPr>
      </p:pic>
      <p:sp>
        <p:nvSpPr>
          <p:cNvPr id="12" name="矩形 11">
            <a:extLst>
              <a:ext uri="{FF2B5EF4-FFF2-40B4-BE49-F238E27FC236}">
                <a16:creationId xmlns:a16="http://schemas.microsoft.com/office/drawing/2014/main" id="{0EE260D2-2490-4DDE-A533-BEDB9A780313}"/>
              </a:ext>
            </a:extLst>
          </p:cNvPr>
          <p:cNvSpPr/>
          <p:nvPr/>
        </p:nvSpPr>
        <p:spPr>
          <a:xfrm>
            <a:off x="4443580" y="1327868"/>
            <a:ext cx="7300497" cy="120859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3047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Selection Function</a:t>
            </a:r>
            <a:endParaRPr lang="zh-CN" altLang="en-US" dirty="0"/>
          </a:p>
        </p:txBody>
      </p:sp>
      <p:sp>
        <p:nvSpPr>
          <p:cNvPr id="3" name="内容占位符 2">
            <a:extLst>
              <a:ext uri="{FF2B5EF4-FFF2-40B4-BE49-F238E27FC236}">
                <a16:creationId xmlns:a16="http://schemas.microsoft.com/office/drawing/2014/main" id="{A5AAF1E7-7DFD-420F-85D5-4414E74DCF35}"/>
              </a:ext>
            </a:extLst>
          </p:cNvPr>
          <p:cNvSpPr>
            <a:spLocks noGrp="1"/>
          </p:cNvSpPr>
          <p:nvPr>
            <p:ph idx="1"/>
          </p:nvPr>
        </p:nvSpPr>
        <p:spPr/>
        <p:txBody>
          <a:bodyPr>
            <a:normAutofit lnSpcReduction="10000"/>
          </a:bodyPr>
          <a:lstStyle/>
          <a:p>
            <a:r>
              <a:rPr lang="en-US" altLang="zh-CN" dirty="0"/>
              <a:t>Determines</a:t>
            </a:r>
            <a:r>
              <a:rPr lang="en-US" altLang="zh-CN" dirty="0">
                <a:solidFill>
                  <a:srgbClr val="FF0000"/>
                </a:solidFill>
              </a:rPr>
              <a:t> which process</a:t>
            </a:r>
            <a:r>
              <a:rPr lang="en-US" altLang="zh-CN" dirty="0"/>
              <a:t>, among ready processes, is selected next for execution</a:t>
            </a:r>
          </a:p>
          <a:p>
            <a:endParaRPr lang="en-US" altLang="zh-CN" dirty="0"/>
          </a:p>
          <a:p>
            <a:pPr lvl="1"/>
            <a:r>
              <a:rPr lang="en-US" altLang="zh-CN" sz="2400" dirty="0"/>
              <a:t>May be based on priority, resource requirements, or the execution characteristics of the process</a:t>
            </a:r>
          </a:p>
          <a:p>
            <a:pPr lvl="1"/>
            <a:endParaRPr lang="en-US" altLang="zh-CN" dirty="0"/>
          </a:p>
          <a:p>
            <a:pPr lvl="1"/>
            <a:r>
              <a:rPr lang="en-US" altLang="zh-CN" sz="2400" dirty="0"/>
              <a:t>If based on </a:t>
            </a:r>
            <a:r>
              <a:rPr lang="en-US" altLang="zh-CN" sz="2400" b="1" dirty="0">
                <a:solidFill>
                  <a:srgbClr val="FF0000"/>
                </a:solidFill>
              </a:rPr>
              <a:t>execution characteristics </a:t>
            </a:r>
            <a:r>
              <a:rPr lang="en-US" altLang="zh-CN" sz="2400" dirty="0"/>
              <a:t>then important quantities are:</a:t>
            </a:r>
          </a:p>
          <a:p>
            <a:pPr lvl="2"/>
            <a:r>
              <a:rPr lang="en-US" altLang="zh-CN" sz="2400" dirty="0">
                <a:solidFill>
                  <a:srgbClr val="FF0000"/>
                </a:solidFill>
                <a:highlight>
                  <a:srgbClr val="FFFF00"/>
                </a:highlight>
              </a:rPr>
              <a:t> w </a:t>
            </a:r>
            <a:r>
              <a:rPr lang="en-US" altLang="zh-CN" sz="2400" dirty="0"/>
              <a:t>= time spent in system so far, waiting</a:t>
            </a:r>
          </a:p>
          <a:p>
            <a:pPr lvl="2"/>
            <a:r>
              <a:rPr lang="en-US" altLang="zh-CN" sz="2400" dirty="0">
                <a:solidFill>
                  <a:srgbClr val="FF0000"/>
                </a:solidFill>
                <a:highlight>
                  <a:srgbClr val="FFFF00"/>
                </a:highlight>
              </a:rPr>
              <a:t> e </a:t>
            </a:r>
            <a:r>
              <a:rPr lang="en-US" altLang="zh-CN" sz="2400" dirty="0"/>
              <a:t>= time spent in execution so far</a:t>
            </a:r>
          </a:p>
          <a:p>
            <a:pPr lvl="2"/>
            <a:r>
              <a:rPr lang="en-US" altLang="zh-CN" sz="2400" dirty="0">
                <a:solidFill>
                  <a:srgbClr val="FF0000"/>
                </a:solidFill>
                <a:highlight>
                  <a:srgbClr val="FFFF00"/>
                </a:highlight>
              </a:rPr>
              <a:t> s </a:t>
            </a:r>
            <a:r>
              <a:rPr lang="en-US" altLang="zh-CN" sz="2400" dirty="0"/>
              <a:t>= total service time required by the process, including e; generally, this quantity must be </a:t>
            </a:r>
            <a:r>
              <a:rPr lang="en-US" altLang="zh-CN" sz="2400" dirty="0">
                <a:solidFill>
                  <a:srgbClr val="0070C0"/>
                </a:solidFill>
              </a:rPr>
              <a:t>estimated or supplied </a:t>
            </a:r>
            <a:r>
              <a:rPr lang="en-US" altLang="zh-CN" sz="2400" dirty="0"/>
              <a:t>by the user</a:t>
            </a:r>
          </a:p>
          <a:p>
            <a:pPr lvl="1"/>
            <a:endParaRPr lang="zh-CN" altLang="en-US" dirty="0"/>
          </a:p>
        </p:txBody>
      </p:sp>
    </p:spTree>
    <p:extLst>
      <p:ext uri="{BB962C8B-B14F-4D97-AF65-F5344CB8AC3E}">
        <p14:creationId xmlns:p14="http://schemas.microsoft.com/office/powerpoint/2010/main" val="4008267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Decision Mode</a:t>
            </a:r>
            <a:r>
              <a:rPr lang="zh-CN" altLang="en-US" dirty="0"/>
              <a:t>（决策模式）</a:t>
            </a:r>
          </a:p>
        </p:txBody>
      </p:sp>
      <p:sp>
        <p:nvSpPr>
          <p:cNvPr id="3" name="内容占位符 2">
            <a:extLst>
              <a:ext uri="{FF2B5EF4-FFF2-40B4-BE49-F238E27FC236}">
                <a16:creationId xmlns:a16="http://schemas.microsoft.com/office/drawing/2014/main" id="{A5AAF1E7-7DFD-420F-85D5-4414E74DCF35}"/>
              </a:ext>
            </a:extLst>
          </p:cNvPr>
          <p:cNvSpPr>
            <a:spLocks noGrp="1"/>
          </p:cNvSpPr>
          <p:nvPr>
            <p:ph idx="1"/>
          </p:nvPr>
        </p:nvSpPr>
        <p:spPr/>
        <p:txBody>
          <a:bodyPr>
            <a:normAutofit lnSpcReduction="10000"/>
          </a:bodyPr>
          <a:lstStyle/>
          <a:p>
            <a:r>
              <a:rPr lang="en-US" altLang="zh-CN" dirty="0"/>
              <a:t>The decision mode </a:t>
            </a:r>
            <a:r>
              <a:rPr lang="en-US" altLang="zh-CN" dirty="0">
                <a:solidFill>
                  <a:srgbClr val="FF0000"/>
                </a:solidFill>
              </a:rPr>
              <a:t>specifies the instants </a:t>
            </a:r>
            <a:r>
              <a:rPr lang="en-US" altLang="zh-CN" dirty="0"/>
              <a:t>in time at which the selection function is exercised.</a:t>
            </a:r>
          </a:p>
          <a:p>
            <a:endParaRPr lang="en-US" altLang="zh-CN" dirty="0"/>
          </a:p>
          <a:p>
            <a:r>
              <a:rPr lang="en-US" altLang="zh-CN" dirty="0"/>
              <a:t>Two categories:</a:t>
            </a:r>
          </a:p>
          <a:p>
            <a:pPr lvl="1"/>
            <a:r>
              <a:rPr lang="en-US" altLang="zh-CN" sz="2400" b="1" dirty="0">
                <a:solidFill>
                  <a:srgbClr val="FF0000"/>
                </a:solidFill>
              </a:rPr>
              <a:t>Non-preemptive</a:t>
            </a:r>
            <a:endParaRPr lang="en-US" altLang="zh-CN" sz="2400" dirty="0">
              <a:solidFill>
                <a:srgbClr val="FF0000"/>
              </a:solidFill>
            </a:endParaRPr>
          </a:p>
          <a:p>
            <a:pPr lvl="2"/>
            <a:r>
              <a:rPr lang="en-US" altLang="zh-CN" sz="2400" dirty="0"/>
              <a:t>once a process is in the running state, it will continue until it terminates or blocks itself for I/O</a:t>
            </a:r>
          </a:p>
          <a:p>
            <a:pPr lvl="1"/>
            <a:endParaRPr lang="en-US" altLang="zh-CN" sz="2400" dirty="0">
              <a:solidFill>
                <a:srgbClr val="FF0000"/>
              </a:solidFill>
            </a:endParaRPr>
          </a:p>
          <a:p>
            <a:pPr lvl="1"/>
            <a:r>
              <a:rPr lang="en-US" altLang="zh-CN" sz="2400" b="1" dirty="0">
                <a:solidFill>
                  <a:srgbClr val="FF0000"/>
                </a:solidFill>
              </a:rPr>
              <a:t>Preemptive</a:t>
            </a:r>
            <a:r>
              <a:rPr lang="en-US" altLang="zh-CN" sz="2400" dirty="0">
                <a:solidFill>
                  <a:srgbClr val="FF0000"/>
                </a:solidFill>
              </a:rPr>
              <a:t>: </a:t>
            </a:r>
          </a:p>
          <a:p>
            <a:pPr lvl="2"/>
            <a:r>
              <a:rPr lang="en-US" altLang="zh-CN" sz="2400" dirty="0"/>
              <a:t>currently </a:t>
            </a:r>
            <a:r>
              <a:rPr lang="en-US" altLang="zh-CN" sz="2400" dirty="0">
                <a:solidFill>
                  <a:srgbClr val="0070C0"/>
                </a:solidFill>
              </a:rPr>
              <a:t>running process </a:t>
            </a:r>
            <a:r>
              <a:rPr lang="en-US" altLang="zh-CN" sz="2400" dirty="0"/>
              <a:t>may be interrupted and moved to ready state by the OS</a:t>
            </a:r>
          </a:p>
          <a:p>
            <a:pPr lvl="2"/>
            <a:r>
              <a:rPr lang="en-US" altLang="zh-CN" sz="2400" dirty="0"/>
              <a:t>preemption may occur when </a:t>
            </a:r>
            <a:r>
              <a:rPr lang="en-US" altLang="zh-CN" sz="2400" dirty="0">
                <a:solidFill>
                  <a:srgbClr val="0070C0"/>
                </a:solidFill>
              </a:rPr>
              <a:t>new process arrives, on an interrupt, or periodically</a:t>
            </a:r>
          </a:p>
          <a:p>
            <a:pPr lvl="2"/>
            <a:endParaRPr lang="en-US" altLang="zh-CN" dirty="0"/>
          </a:p>
          <a:p>
            <a:pPr lvl="1"/>
            <a:endParaRPr lang="en-US" altLang="zh-CN" dirty="0"/>
          </a:p>
          <a:p>
            <a:endParaRPr lang="zh-CN" altLang="en-US" dirty="0"/>
          </a:p>
        </p:txBody>
      </p:sp>
    </p:spTree>
    <p:extLst>
      <p:ext uri="{BB962C8B-B14F-4D97-AF65-F5344CB8AC3E}">
        <p14:creationId xmlns:p14="http://schemas.microsoft.com/office/powerpoint/2010/main" val="2392793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normAutofit/>
          </a:bodyPr>
          <a:lstStyle/>
          <a:p>
            <a:r>
              <a:rPr lang="en-US" altLang="zh-CN" dirty="0"/>
              <a:t>Process Scheduling Example</a:t>
            </a:r>
            <a:endParaRPr lang="zh-CN" altLang="en-US" dirty="0"/>
          </a:p>
        </p:txBody>
      </p:sp>
      <p:sp>
        <p:nvSpPr>
          <p:cNvPr id="5" name="内容占位符 4">
            <a:extLst>
              <a:ext uri="{FF2B5EF4-FFF2-40B4-BE49-F238E27FC236}">
                <a16:creationId xmlns:a16="http://schemas.microsoft.com/office/drawing/2014/main" id="{A10AB270-AD50-4F2B-AFF5-0B444E711819}"/>
              </a:ext>
            </a:extLst>
          </p:cNvPr>
          <p:cNvSpPr>
            <a:spLocks noGrp="1"/>
          </p:cNvSpPr>
          <p:nvPr>
            <p:ph idx="1"/>
          </p:nvPr>
        </p:nvSpPr>
        <p:spPr/>
        <p:txBody>
          <a:bodyPr/>
          <a:lstStyle/>
          <a:p>
            <a:endParaRPr lang="en-US"/>
          </a:p>
        </p:txBody>
      </p:sp>
      <p:pic>
        <p:nvPicPr>
          <p:cNvPr id="7" name="图片 6">
            <a:extLst>
              <a:ext uri="{FF2B5EF4-FFF2-40B4-BE49-F238E27FC236}">
                <a16:creationId xmlns:a16="http://schemas.microsoft.com/office/drawing/2014/main" id="{12D1E95E-5DFA-430F-BE38-A527037DA926}"/>
              </a:ext>
            </a:extLst>
          </p:cNvPr>
          <p:cNvPicPr>
            <a:picLocks noChangeAspect="1"/>
          </p:cNvPicPr>
          <p:nvPr/>
        </p:nvPicPr>
        <p:blipFill>
          <a:blip r:embed="rId2"/>
          <a:stretch>
            <a:fillRect/>
          </a:stretch>
        </p:blipFill>
        <p:spPr>
          <a:xfrm>
            <a:off x="1550126" y="1037547"/>
            <a:ext cx="9263847" cy="4707036"/>
          </a:xfrm>
          <a:prstGeom prst="rect">
            <a:avLst/>
          </a:prstGeom>
        </p:spPr>
      </p:pic>
    </p:spTree>
    <p:extLst>
      <p:ext uri="{BB962C8B-B14F-4D97-AF65-F5344CB8AC3E}">
        <p14:creationId xmlns:p14="http://schemas.microsoft.com/office/powerpoint/2010/main" val="1442628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First-Come-First-Served (FCFS)</a:t>
            </a:r>
            <a:endParaRPr lang="zh-CN" altLang="en-US" dirty="0"/>
          </a:p>
        </p:txBody>
      </p:sp>
      <p:sp>
        <p:nvSpPr>
          <p:cNvPr id="3" name="内容占位符 2">
            <a:extLst>
              <a:ext uri="{FF2B5EF4-FFF2-40B4-BE49-F238E27FC236}">
                <a16:creationId xmlns:a16="http://schemas.microsoft.com/office/drawing/2014/main" id="{A5AAF1E7-7DFD-420F-85D5-4414E74DCF35}"/>
              </a:ext>
            </a:extLst>
          </p:cNvPr>
          <p:cNvSpPr>
            <a:spLocks noGrp="1"/>
          </p:cNvSpPr>
          <p:nvPr>
            <p:ph idx="1"/>
          </p:nvPr>
        </p:nvSpPr>
        <p:spPr/>
        <p:txBody>
          <a:bodyPr/>
          <a:lstStyle/>
          <a:p>
            <a:r>
              <a:rPr lang="en-US" altLang="zh-CN" dirty="0">
                <a:solidFill>
                  <a:srgbClr val="FF0000"/>
                </a:solidFill>
              </a:rPr>
              <a:t>Non-preemptive</a:t>
            </a:r>
            <a:r>
              <a:rPr lang="en-US" altLang="zh-CN" dirty="0"/>
              <a:t> policy</a:t>
            </a:r>
          </a:p>
          <a:p>
            <a:r>
              <a:rPr lang="en-US" altLang="zh-CN" dirty="0"/>
              <a:t>Also known as first-in-first-out (FIFO) or a </a:t>
            </a:r>
            <a:r>
              <a:rPr lang="en-US" altLang="zh-CN" dirty="0">
                <a:solidFill>
                  <a:srgbClr val="FF0000"/>
                </a:solidFill>
              </a:rPr>
              <a:t>strict queuing</a:t>
            </a:r>
            <a:r>
              <a:rPr lang="en-US" altLang="zh-CN" dirty="0"/>
              <a:t> scheme</a:t>
            </a:r>
          </a:p>
          <a:p>
            <a:r>
              <a:rPr lang="en-US" altLang="zh-CN" dirty="0"/>
              <a:t>When the current process ceases to execute, the </a:t>
            </a:r>
            <a:r>
              <a:rPr lang="en-US" altLang="zh-CN" dirty="0">
                <a:solidFill>
                  <a:srgbClr val="FF0000"/>
                </a:solidFill>
              </a:rPr>
              <a:t>longest process </a:t>
            </a:r>
            <a:r>
              <a:rPr lang="en-US" altLang="zh-CN" dirty="0"/>
              <a:t>in the Ready queue is selected</a:t>
            </a:r>
          </a:p>
          <a:p>
            <a:endParaRPr lang="zh-CN" altLang="en-US" dirty="0"/>
          </a:p>
        </p:txBody>
      </p:sp>
      <p:sp>
        <p:nvSpPr>
          <p:cNvPr id="4" name="TextBox 3">
            <a:extLst>
              <a:ext uri="{FF2B5EF4-FFF2-40B4-BE49-F238E27FC236}">
                <a16:creationId xmlns:a16="http://schemas.microsoft.com/office/drawing/2014/main" id="{8CEC6C33-59ED-5248-8775-BB8B334C60B3}"/>
              </a:ext>
            </a:extLst>
          </p:cNvPr>
          <p:cNvSpPr txBox="1"/>
          <p:nvPr/>
        </p:nvSpPr>
        <p:spPr>
          <a:xfrm>
            <a:off x="3689873" y="5798372"/>
            <a:ext cx="590226" cy="369332"/>
          </a:xfrm>
          <a:prstGeom prst="rect">
            <a:avLst/>
          </a:prstGeom>
          <a:noFill/>
        </p:spPr>
        <p:txBody>
          <a:bodyPr wrap="none" rtlCol="0">
            <a:spAutoFit/>
          </a:bodyPr>
          <a:lstStyle/>
          <a:p>
            <a:r>
              <a:rPr lang="en-CN" dirty="0"/>
              <a:t>long</a:t>
            </a:r>
          </a:p>
        </p:txBody>
      </p:sp>
    </p:spTree>
    <p:extLst>
      <p:ext uri="{BB962C8B-B14F-4D97-AF65-F5344CB8AC3E}">
        <p14:creationId xmlns:p14="http://schemas.microsoft.com/office/powerpoint/2010/main" val="431947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First-Come-First-Served (FCFS)</a:t>
            </a:r>
            <a:endParaRPr lang="zh-CN" altLang="en-US" dirty="0"/>
          </a:p>
        </p:txBody>
      </p:sp>
      <p:pic>
        <p:nvPicPr>
          <p:cNvPr id="6" name="图片 5">
            <a:extLst>
              <a:ext uri="{FF2B5EF4-FFF2-40B4-BE49-F238E27FC236}">
                <a16:creationId xmlns:a16="http://schemas.microsoft.com/office/drawing/2014/main" id="{C7BE18B4-8913-4F8B-984E-F5BC3755981C}"/>
              </a:ext>
            </a:extLst>
          </p:cNvPr>
          <p:cNvPicPr>
            <a:picLocks noChangeAspect="1"/>
          </p:cNvPicPr>
          <p:nvPr/>
        </p:nvPicPr>
        <p:blipFill>
          <a:blip r:embed="rId2"/>
          <a:stretch>
            <a:fillRect/>
          </a:stretch>
        </p:blipFill>
        <p:spPr>
          <a:xfrm>
            <a:off x="357541" y="1885351"/>
            <a:ext cx="11209048" cy="2579073"/>
          </a:xfrm>
          <a:prstGeom prst="rect">
            <a:avLst/>
          </a:prstGeom>
        </p:spPr>
      </p:pic>
      <p:sp>
        <p:nvSpPr>
          <p:cNvPr id="4" name="TextBox 3">
            <a:extLst>
              <a:ext uri="{FF2B5EF4-FFF2-40B4-BE49-F238E27FC236}">
                <a16:creationId xmlns:a16="http://schemas.microsoft.com/office/drawing/2014/main" id="{8CEC6C33-59ED-5248-8775-BB8B334C60B3}"/>
              </a:ext>
            </a:extLst>
          </p:cNvPr>
          <p:cNvSpPr txBox="1"/>
          <p:nvPr/>
        </p:nvSpPr>
        <p:spPr>
          <a:xfrm>
            <a:off x="3689873" y="5798372"/>
            <a:ext cx="590226" cy="369332"/>
          </a:xfrm>
          <a:prstGeom prst="rect">
            <a:avLst/>
          </a:prstGeom>
          <a:noFill/>
        </p:spPr>
        <p:txBody>
          <a:bodyPr wrap="none" rtlCol="0">
            <a:spAutoFit/>
          </a:bodyPr>
          <a:lstStyle/>
          <a:p>
            <a:r>
              <a:rPr lang="en-CN" dirty="0"/>
              <a:t>long</a:t>
            </a:r>
          </a:p>
        </p:txBody>
      </p:sp>
    </p:spTree>
    <p:extLst>
      <p:ext uri="{BB962C8B-B14F-4D97-AF65-F5344CB8AC3E}">
        <p14:creationId xmlns:p14="http://schemas.microsoft.com/office/powerpoint/2010/main" val="616204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C88ADE6-B431-4514-9D72-213369C9EF32}"/>
              </a:ext>
            </a:extLst>
          </p:cNvPr>
          <p:cNvSpPr>
            <a:spLocks noGrp="1"/>
          </p:cNvSpPr>
          <p:nvPr>
            <p:ph idx="1"/>
          </p:nvPr>
        </p:nvSpPr>
        <p:spPr>
          <a:xfrm>
            <a:off x="829456" y="841103"/>
            <a:ext cx="10515600" cy="5175794"/>
          </a:xfrm>
        </p:spPr>
        <p:txBody>
          <a:bodyPr/>
          <a:lstStyle/>
          <a:p>
            <a:r>
              <a:rPr lang="en-US" altLang="zh-CN" dirty="0"/>
              <a:t>FCFS performs </a:t>
            </a:r>
            <a:r>
              <a:rPr lang="en-US" altLang="zh-CN" dirty="0">
                <a:solidFill>
                  <a:srgbClr val="FF0000"/>
                </a:solidFill>
              </a:rPr>
              <a:t>much better for long processes </a:t>
            </a:r>
            <a:r>
              <a:rPr lang="en-US" altLang="zh-CN" dirty="0"/>
              <a:t>than short ones.</a:t>
            </a:r>
          </a:p>
          <a:p>
            <a:endParaRPr lang="en-US" dirty="0"/>
          </a:p>
          <a:p>
            <a:endParaRPr lang="en-US" dirty="0"/>
          </a:p>
          <a:p>
            <a:endParaRPr lang="en-US" dirty="0"/>
          </a:p>
          <a:p>
            <a:endParaRPr lang="en-US" dirty="0"/>
          </a:p>
          <a:p>
            <a:endParaRPr lang="en-US" dirty="0"/>
          </a:p>
          <a:p>
            <a:endParaRPr lang="en-US" dirty="0"/>
          </a:p>
          <a:p>
            <a:endParaRPr lang="en-US" dirty="0"/>
          </a:p>
          <a:p>
            <a:r>
              <a:rPr lang="en-US" altLang="zh-CN" dirty="0"/>
              <a:t>Tends to favor </a:t>
            </a:r>
            <a:r>
              <a:rPr lang="en-US" altLang="zh-CN" dirty="0">
                <a:solidFill>
                  <a:srgbClr val="FF0000"/>
                </a:solidFill>
              </a:rPr>
              <a:t>processor-bound processes</a:t>
            </a:r>
            <a:r>
              <a:rPr lang="en-US" altLang="zh-CN" dirty="0">
                <a:solidFill>
                  <a:srgbClr val="C00000"/>
                </a:solidFill>
              </a:rPr>
              <a:t> </a:t>
            </a:r>
            <a:r>
              <a:rPr lang="en-US" altLang="zh-CN" dirty="0"/>
              <a:t>over I/O-bound processes</a:t>
            </a:r>
          </a:p>
          <a:p>
            <a:endParaRPr lang="en-US" dirty="0"/>
          </a:p>
        </p:txBody>
      </p:sp>
      <p:sp>
        <p:nvSpPr>
          <p:cNvPr id="2" name="标题 1">
            <a:extLst>
              <a:ext uri="{FF2B5EF4-FFF2-40B4-BE49-F238E27FC236}">
                <a16:creationId xmlns:a16="http://schemas.microsoft.com/office/drawing/2014/main" id="{FD8E4BA5-A1D4-421A-890C-F167D70A7B1C}"/>
              </a:ext>
            </a:extLst>
          </p:cNvPr>
          <p:cNvSpPr>
            <a:spLocks noGrp="1"/>
          </p:cNvSpPr>
          <p:nvPr>
            <p:ph type="title"/>
          </p:nvPr>
        </p:nvSpPr>
        <p:spPr/>
        <p:txBody>
          <a:bodyPr/>
          <a:lstStyle/>
          <a:p>
            <a:r>
              <a:rPr lang="en-US" dirty="0"/>
              <a:t>I</a:t>
            </a:r>
            <a:r>
              <a:rPr lang="en-US" altLang="zh-CN" dirty="0"/>
              <a:t>ssues of FCFS</a:t>
            </a:r>
            <a:endParaRPr lang="en-US" dirty="0"/>
          </a:p>
        </p:txBody>
      </p:sp>
      <p:sp>
        <p:nvSpPr>
          <p:cNvPr id="4" name="灯片编号占位符 3">
            <a:extLst>
              <a:ext uri="{FF2B5EF4-FFF2-40B4-BE49-F238E27FC236}">
                <a16:creationId xmlns:a16="http://schemas.microsoft.com/office/drawing/2014/main" id="{5696D1ED-5661-4AFC-ADA5-1918EEF06E1B}"/>
              </a:ext>
            </a:extLst>
          </p:cNvPr>
          <p:cNvSpPr>
            <a:spLocks noGrp="1"/>
          </p:cNvSpPr>
          <p:nvPr>
            <p:ph type="sldNum" sz="quarter" idx="12"/>
          </p:nvPr>
        </p:nvSpPr>
        <p:spPr/>
        <p:txBody>
          <a:bodyPr/>
          <a:lstStyle/>
          <a:p>
            <a:fld id="{2093D444-7193-46AD-90E8-D84AE4B61CFF}" type="slidenum">
              <a:rPr lang="en-US" smtClean="0"/>
              <a:pPr/>
              <a:t>21</a:t>
            </a:fld>
            <a:r>
              <a:rPr lang="en-US"/>
              <a:t>/56</a:t>
            </a:r>
            <a:endParaRPr lang="en-US" dirty="0"/>
          </a:p>
        </p:txBody>
      </p:sp>
      <p:sp>
        <p:nvSpPr>
          <p:cNvPr id="5" name="日期占位符 4">
            <a:extLst>
              <a:ext uri="{FF2B5EF4-FFF2-40B4-BE49-F238E27FC236}">
                <a16:creationId xmlns:a16="http://schemas.microsoft.com/office/drawing/2014/main" id="{EEB8BF60-52FB-4B70-AB63-1FA19DF2CA6F}"/>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p:pic>
        <p:nvPicPr>
          <p:cNvPr id="7" name="图片 6">
            <a:extLst>
              <a:ext uri="{FF2B5EF4-FFF2-40B4-BE49-F238E27FC236}">
                <a16:creationId xmlns:a16="http://schemas.microsoft.com/office/drawing/2014/main" id="{A7D01B67-18B3-46D9-BF43-0846EB1394CA}"/>
              </a:ext>
            </a:extLst>
          </p:cNvPr>
          <p:cNvPicPr>
            <a:picLocks noChangeAspect="1"/>
          </p:cNvPicPr>
          <p:nvPr/>
        </p:nvPicPr>
        <p:blipFill>
          <a:blip r:embed="rId2"/>
          <a:stretch>
            <a:fillRect/>
          </a:stretch>
        </p:blipFill>
        <p:spPr>
          <a:xfrm>
            <a:off x="1706883" y="1433689"/>
            <a:ext cx="8778233" cy="2668094"/>
          </a:xfrm>
          <a:prstGeom prst="rect">
            <a:avLst/>
          </a:prstGeom>
        </p:spPr>
      </p:pic>
      <p:sp>
        <p:nvSpPr>
          <p:cNvPr id="8" name="矩形 7">
            <a:extLst>
              <a:ext uri="{FF2B5EF4-FFF2-40B4-BE49-F238E27FC236}">
                <a16:creationId xmlns:a16="http://schemas.microsoft.com/office/drawing/2014/main" id="{4E1B4454-97F7-4470-A20D-63367588A2D5}"/>
              </a:ext>
            </a:extLst>
          </p:cNvPr>
          <p:cNvSpPr/>
          <p:nvPr/>
        </p:nvSpPr>
        <p:spPr>
          <a:xfrm>
            <a:off x="2098623" y="2895231"/>
            <a:ext cx="8102184" cy="41223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文本框 9">
            <a:extLst>
              <a:ext uri="{FF2B5EF4-FFF2-40B4-BE49-F238E27FC236}">
                <a16:creationId xmlns:a16="http://schemas.microsoft.com/office/drawing/2014/main" id="{00151748-08AC-4749-851A-BA07FB3E947E}"/>
              </a:ext>
            </a:extLst>
          </p:cNvPr>
          <p:cNvSpPr txBox="1"/>
          <p:nvPr/>
        </p:nvSpPr>
        <p:spPr>
          <a:xfrm>
            <a:off x="10220355" y="2778180"/>
            <a:ext cx="463154" cy="646331"/>
          </a:xfrm>
          <a:prstGeom prst="rect">
            <a:avLst/>
          </a:prstGeom>
          <a:noFill/>
        </p:spPr>
        <p:txBody>
          <a:bodyPr wrap="square">
            <a:spAutoFit/>
          </a:bodyPr>
          <a:lstStyle/>
          <a:p>
            <a:r>
              <a:rPr lang="en-US" sz="3600" dirty="0">
                <a:solidFill>
                  <a:srgbClr val="FF0000"/>
                </a:solidFill>
                <a:sym typeface="Wingdings" panose="05000000000000000000" pitchFamily="2" charset="2"/>
              </a:rPr>
              <a:t></a:t>
            </a:r>
            <a:endParaRPr lang="en-US" sz="3600" dirty="0">
              <a:solidFill>
                <a:srgbClr val="FF0000"/>
              </a:solidFill>
            </a:endParaRPr>
          </a:p>
        </p:txBody>
      </p:sp>
    </p:spTree>
    <p:extLst>
      <p:ext uri="{BB962C8B-B14F-4D97-AF65-F5344CB8AC3E}">
        <p14:creationId xmlns:p14="http://schemas.microsoft.com/office/powerpoint/2010/main" val="3422092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Round Robin</a:t>
            </a:r>
            <a:endParaRPr lang="zh-CN" altLang="en-US" dirty="0"/>
          </a:p>
        </p:txBody>
      </p:sp>
      <p:sp>
        <p:nvSpPr>
          <p:cNvPr id="3" name="内容占位符 2">
            <a:extLst>
              <a:ext uri="{FF2B5EF4-FFF2-40B4-BE49-F238E27FC236}">
                <a16:creationId xmlns:a16="http://schemas.microsoft.com/office/drawing/2014/main" id="{A5AAF1E7-7DFD-420F-85D5-4414E74DCF35}"/>
              </a:ext>
            </a:extLst>
          </p:cNvPr>
          <p:cNvSpPr>
            <a:spLocks noGrp="1"/>
          </p:cNvSpPr>
          <p:nvPr>
            <p:ph idx="1"/>
          </p:nvPr>
        </p:nvSpPr>
        <p:spPr/>
        <p:txBody>
          <a:bodyPr/>
          <a:lstStyle/>
          <a:p>
            <a:r>
              <a:rPr lang="en-US" altLang="zh-CN" dirty="0">
                <a:solidFill>
                  <a:srgbClr val="FF0000"/>
                </a:solidFill>
              </a:rPr>
              <a:t>Preemptive</a:t>
            </a:r>
            <a:r>
              <a:rPr lang="zh-CN" altLang="en-US" dirty="0">
                <a:solidFill>
                  <a:srgbClr val="FF0000"/>
                </a:solidFill>
              </a:rPr>
              <a:t> </a:t>
            </a:r>
            <a:r>
              <a:rPr lang="en-US" altLang="zh-CN" dirty="0">
                <a:solidFill>
                  <a:srgbClr val="FF0000"/>
                </a:solidFill>
              </a:rPr>
              <a:t>policy based on a clock</a:t>
            </a:r>
          </a:p>
          <a:p>
            <a:endParaRPr lang="en-US" altLang="zh-CN" dirty="0">
              <a:solidFill>
                <a:srgbClr val="FF0000"/>
              </a:solidFill>
            </a:endParaRPr>
          </a:p>
          <a:p>
            <a:r>
              <a:rPr lang="en-US" altLang="zh-CN" dirty="0"/>
              <a:t>Also known as </a:t>
            </a:r>
            <a:r>
              <a:rPr lang="en-US" altLang="zh-CN" dirty="0">
                <a:solidFill>
                  <a:srgbClr val="FF0000"/>
                </a:solidFill>
              </a:rPr>
              <a:t>time slicing </a:t>
            </a:r>
            <a:r>
              <a:rPr lang="en-US" altLang="zh-CN" dirty="0"/>
              <a:t>because each process is given a slice of time </a:t>
            </a:r>
          </a:p>
          <a:p>
            <a:r>
              <a:rPr lang="en-US" sz="2400" b="1" dirty="0">
                <a:latin typeface="Microsoft YaHei UI" panose="020B0503020204020204" pitchFamily="34" charset="-122"/>
                <a:ea typeface="Microsoft YaHei UI" panose="020B0503020204020204" pitchFamily="34" charset="-122"/>
              </a:rPr>
              <a:t>Particularly effective in a general-purpose </a:t>
            </a:r>
            <a:r>
              <a:rPr lang="en-US" sz="2400" b="1" dirty="0">
                <a:solidFill>
                  <a:srgbClr val="FF0000"/>
                </a:solidFill>
                <a:latin typeface="Microsoft YaHei UI" panose="020B0503020204020204" pitchFamily="34" charset="-122"/>
                <a:ea typeface="Microsoft YaHei UI" panose="020B0503020204020204" pitchFamily="34" charset="-122"/>
              </a:rPr>
              <a:t>time-sharing </a:t>
            </a:r>
            <a:r>
              <a:rPr lang="en-US" sz="2400" b="1" dirty="0">
                <a:latin typeface="Microsoft YaHei UI" panose="020B0503020204020204" pitchFamily="34" charset="-122"/>
                <a:ea typeface="Microsoft YaHei UI" panose="020B0503020204020204" pitchFamily="34" charset="-122"/>
              </a:rPr>
              <a:t>system or transaction processing system</a:t>
            </a:r>
          </a:p>
          <a:p>
            <a:endParaRPr lang="en-US" altLang="zh-CN" dirty="0"/>
          </a:p>
          <a:p>
            <a:r>
              <a:rPr lang="en-US" altLang="zh-CN" dirty="0"/>
              <a:t>Principal </a:t>
            </a:r>
            <a:r>
              <a:rPr lang="en-US" altLang="zh-CN" dirty="0">
                <a:solidFill>
                  <a:srgbClr val="FF0000"/>
                </a:solidFill>
              </a:rPr>
              <a:t>design issue </a:t>
            </a:r>
            <a:r>
              <a:rPr lang="en-US" altLang="zh-CN" dirty="0"/>
              <a:t>is the length of the </a:t>
            </a:r>
            <a:r>
              <a:rPr lang="en-US" altLang="zh-CN" dirty="0">
                <a:solidFill>
                  <a:srgbClr val="FF0000"/>
                </a:solidFill>
              </a:rPr>
              <a:t>time quantum</a:t>
            </a:r>
            <a:r>
              <a:rPr lang="en-US" altLang="zh-CN" dirty="0"/>
              <a:t>, or slice, to be used</a:t>
            </a:r>
          </a:p>
          <a:p>
            <a:endParaRPr lang="zh-CN" altLang="en-US" dirty="0"/>
          </a:p>
        </p:txBody>
      </p:sp>
    </p:spTree>
    <p:extLst>
      <p:ext uri="{BB962C8B-B14F-4D97-AF65-F5344CB8AC3E}">
        <p14:creationId xmlns:p14="http://schemas.microsoft.com/office/powerpoint/2010/main" val="627788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Round Robin</a:t>
            </a:r>
            <a:endParaRPr lang="zh-CN" altLang="en-US" dirty="0"/>
          </a:p>
        </p:txBody>
      </p:sp>
      <p:grpSp>
        <p:nvGrpSpPr>
          <p:cNvPr id="13" name="组合 12">
            <a:extLst>
              <a:ext uri="{FF2B5EF4-FFF2-40B4-BE49-F238E27FC236}">
                <a16:creationId xmlns:a16="http://schemas.microsoft.com/office/drawing/2014/main" id="{5D181579-F5FC-4358-8D57-10FCABB23E3B}"/>
              </a:ext>
            </a:extLst>
          </p:cNvPr>
          <p:cNvGrpSpPr/>
          <p:nvPr/>
        </p:nvGrpSpPr>
        <p:grpSpPr>
          <a:xfrm>
            <a:off x="719194" y="1053075"/>
            <a:ext cx="10877202" cy="3924939"/>
            <a:chOff x="1077808" y="3169111"/>
            <a:chExt cx="8215708" cy="2648007"/>
          </a:xfrm>
        </p:grpSpPr>
        <p:pic>
          <p:nvPicPr>
            <p:cNvPr id="8" name="图片 7">
              <a:extLst>
                <a:ext uri="{FF2B5EF4-FFF2-40B4-BE49-F238E27FC236}">
                  <a16:creationId xmlns:a16="http://schemas.microsoft.com/office/drawing/2014/main" id="{9D3111B9-3B5A-496B-9E91-1921BEC617AC}"/>
                </a:ext>
              </a:extLst>
            </p:cNvPr>
            <p:cNvPicPr>
              <a:picLocks noChangeAspect="1"/>
            </p:cNvPicPr>
            <p:nvPr/>
          </p:nvPicPr>
          <p:blipFill>
            <a:blip r:embed="rId3"/>
            <a:stretch>
              <a:fillRect/>
            </a:stretch>
          </p:blipFill>
          <p:spPr>
            <a:xfrm>
              <a:off x="1077808" y="3169111"/>
              <a:ext cx="8215708" cy="2560195"/>
            </a:xfrm>
            <a:prstGeom prst="rect">
              <a:avLst/>
            </a:prstGeom>
          </p:spPr>
        </p:pic>
        <p:sp>
          <p:nvSpPr>
            <p:cNvPr id="9" name="矩形 8">
              <a:extLst>
                <a:ext uri="{FF2B5EF4-FFF2-40B4-BE49-F238E27FC236}">
                  <a16:creationId xmlns:a16="http://schemas.microsoft.com/office/drawing/2014/main" id="{9F424DCA-4410-46A2-9F41-476C986F7742}"/>
                </a:ext>
              </a:extLst>
            </p:cNvPr>
            <p:cNvSpPr/>
            <p:nvPr/>
          </p:nvSpPr>
          <p:spPr>
            <a:xfrm>
              <a:off x="6168453" y="4096939"/>
              <a:ext cx="1663908" cy="3522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9">
              <a:extLst>
                <a:ext uri="{FF2B5EF4-FFF2-40B4-BE49-F238E27FC236}">
                  <a16:creationId xmlns:a16="http://schemas.microsoft.com/office/drawing/2014/main" id="{D6AD9EA0-566A-4AB2-87C3-202603B4E271}"/>
                </a:ext>
              </a:extLst>
            </p:cNvPr>
            <p:cNvSpPr/>
            <p:nvPr/>
          </p:nvSpPr>
          <p:spPr>
            <a:xfrm>
              <a:off x="8060383" y="5284967"/>
              <a:ext cx="959370" cy="5321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文本框 11">
            <a:extLst>
              <a:ext uri="{FF2B5EF4-FFF2-40B4-BE49-F238E27FC236}">
                <a16:creationId xmlns:a16="http://schemas.microsoft.com/office/drawing/2014/main" id="{4ABB3F3D-44F5-4D08-9E6D-3B73E42B6ACA}"/>
              </a:ext>
            </a:extLst>
          </p:cNvPr>
          <p:cNvSpPr txBox="1"/>
          <p:nvPr/>
        </p:nvSpPr>
        <p:spPr>
          <a:xfrm>
            <a:off x="4967915" y="5117285"/>
            <a:ext cx="5822932" cy="954107"/>
          </a:xfrm>
          <a:prstGeom prst="rect">
            <a:avLst/>
          </a:prstGeom>
          <a:noFill/>
        </p:spPr>
        <p:txBody>
          <a:bodyPr wrap="square" rtlCol="0">
            <a:spAutoFit/>
          </a:bodyPr>
          <a:lstStyle/>
          <a:p>
            <a:pPr marL="285750" indent="-285750">
              <a:buFont typeface="Arial" panose="020B0604020202020204" pitchFamily="34" charset="0"/>
              <a:buChar char="•"/>
            </a:pPr>
            <a:r>
              <a:rPr lang="en-US" sz="2800" b="1" dirty="0"/>
              <a:t>Short process are processed quickly</a:t>
            </a:r>
          </a:p>
          <a:p>
            <a:pPr marL="285750" indent="-285750">
              <a:buFont typeface="Arial" panose="020B0604020202020204" pitchFamily="34" charset="0"/>
              <a:buChar char="•"/>
            </a:pPr>
            <a:r>
              <a:rPr lang="en-US" sz="2800" b="1" dirty="0"/>
              <a:t>Switch overhead</a:t>
            </a:r>
          </a:p>
        </p:txBody>
      </p:sp>
      <p:sp>
        <p:nvSpPr>
          <p:cNvPr id="15" name="TextBox 14">
            <a:extLst>
              <a:ext uri="{FF2B5EF4-FFF2-40B4-BE49-F238E27FC236}">
                <a16:creationId xmlns:a16="http://schemas.microsoft.com/office/drawing/2014/main" id="{470B0C75-7E84-4946-BF82-EE54FDF3B9E3}"/>
              </a:ext>
            </a:extLst>
          </p:cNvPr>
          <p:cNvSpPr txBox="1"/>
          <p:nvPr/>
        </p:nvSpPr>
        <p:spPr>
          <a:xfrm>
            <a:off x="322729" y="4722608"/>
            <a:ext cx="3915784" cy="1569660"/>
          </a:xfrm>
          <a:prstGeom prst="rect">
            <a:avLst/>
          </a:prstGeom>
          <a:noFill/>
        </p:spPr>
        <p:txBody>
          <a:bodyPr wrap="square" rtlCol="0">
            <a:spAutoFit/>
          </a:bodyPr>
          <a:lstStyle/>
          <a:p>
            <a:r>
              <a:rPr lang="en-US" altLang="zh-CN" sz="2400" b="1" dirty="0">
                <a:solidFill>
                  <a:srgbClr val="FF0000"/>
                </a:solidFill>
              </a:rPr>
              <a:t>Key</a:t>
            </a:r>
            <a:r>
              <a:rPr lang="zh-CN" altLang="en-US" sz="2400" b="1" dirty="0">
                <a:solidFill>
                  <a:srgbClr val="FF0000"/>
                </a:solidFill>
              </a:rPr>
              <a:t> </a:t>
            </a:r>
            <a:r>
              <a:rPr lang="en-US" altLang="zh-CN" sz="2400" b="1" dirty="0">
                <a:solidFill>
                  <a:srgbClr val="FF0000"/>
                </a:solidFill>
              </a:rPr>
              <a:t>point:</a:t>
            </a:r>
            <a:r>
              <a:rPr lang="zh-CN" altLang="en-US" sz="2400" b="1" dirty="0">
                <a:solidFill>
                  <a:srgbClr val="FF0000"/>
                </a:solidFill>
              </a:rPr>
              <a:t> </a:t>
            </a:r>
            <a:r>
              <a:rPr lang="en-US" altLang="zh-CN" sz="2400" b="1" dirty="0">
                <a:solidFill>
                  <a:srgbClr val="FF0000"/>
                </a:solidFill>
              </a:rPr>
              <a:t>Put</a:t>
            </a:r>
            <a:r>
              <a:rPr lang="zh-CN" altLang="en-US" sz="2400" b="1" dirty="0">
                <a:solidFill>
                  <a:srgbClr val="FF0000"/>
                </a:solidFill>
              </a:rPr>
              <a:t> </a:t>
            </a:r>
            <a:r>
              <a:rPr lang="en-US" altLang="zh-CN" sz="2400" b="1" dirty="0">
                <a:solidFill>
                  <a:srgbClr val="FF0000"/>
                </a:solidFill>
              </a:rPr>
              <a:t>the</a:t>
            </a:r>
            <a:r>
              <a:rPr lang="zh-CN" altLang="en-US" sz="2400" b="1" dirty="0">
                <a:solidFill>
                  <a:srgbClr val="FF0000"/>
                </a:solidFill>
              </a:rPr>
              <a:t> </a:t>
            </a:r>
            <a:r>
              <a:rPr lang="en-US" altLang="zh-CN" sz="2400" b="1" dirty="0">
                <a:solidFill>
                  <a:srgbClr val="FF0000"/>
                </a:solidFill>
              </a:rPr>
              <a:t>new</a:t>
            </a:r>
            <a:r>
              <a:rPr lang="zh-CN" altLang="en-US" sz="2400" b="1" dirty="0">
                <a:solidFill>
                  <a:srgbClr val="FF0000"/>
                </a:solidFill>
              </a:rPr>
              <a:t> </a:t>
            </a:r>
            <a:r>
              <a:rPr lang="en-US" altLang="zh-CN" sz="2400" b="1" dirty="0">
                <a:solidFill>
                  <a:srgbClr val="FF0000"/>
                </a:solidFill>
              </a:rPr>
              <a:t>arrival</a:t>
            </a:r>
            <a:r>
              <a:rPr lang="zh-CN" altLang="en-US" sz="2400" b="1" dirty="0">
                <a:solidFill>
                  <a:srgbClr val="FF0000"/>
                </a:solidFill>
              </a:rPr>
              <a:t> </a:t>
            </a:r>
            <a:r>
              <a:rPr lang="en-US" altLang="zh-CN" sz="2400" b="1" dirty="0">
                <a:solidFill>
                  <a:srgbClr val="FF0000"/>
                </a:solidFill>
              </a:rPr>
              <a:t>process</a:t>
            </a:r>
            <a:r>
              <a:rPr lang="zh-CN" altLang="en-US" sz="2400" b="1" dirty="0">
                <a:solidFill>
                  <a:srgbClr val="FF0000"/>
                </a:solidFill>
              </a:rPr>
              <a:t> </a:t>
            </a:r>
            <a:r>
              <a:rPr lang="en-US" altLang="zh-CN" sz="2400" b="1" dirty="0">
                <a:solidFill>
                  <a:srgbClr val="FF0000"/>
                </a:solidFill>
              </a:rPr>
              <a:t>first,</a:t>
            </a:r>
            <a:r>
              <a:rPr lang="zh-CN" altLang="en-US" sz="2400" b="1" dirty="0">
                <a:solidFill>
                  <a:srgbClr val="FF0000"/>
                </a:solidFill>
              </a:rPr>
              <a:t> </a:t>
            </a:r>
            <a:r>
              <a:rPr lang="en-US" altLang="zh-CN" sz="2400" b="1" dirty="0">
                <a:solidFill>
                  <a:srgbClr val="FF0000"/>
                </a:solidFill>
              </a:rPr>
              <a:t>then</a:t>
            </a:r>
            <a:r>
              <a:rPr lang="zh-CN" altLang="en-US" sz="2400" b="1" dirty="0">
                <a:solidFill>
                  <a:srgbClr val="FF0000"/>
                </a:solidFill>
              </a:rPr>
              <a:t> </a:t>
            </a:r>
            <a:r>
              <a:rPr lang="en-US" altLang="zh-CN" sz="2400" b="1" dirty="0">
                <a:solidFill>
                  <a:srgbClr val="FF0000"/>
                </a:solidFill>
              </a:rPr>
              <a:t>add</a:t>
            </a:r>
            <a:r>
              <a:rPr lang="zh-CN" altLang="en-US" sz="2400" b="1" dirty="0">
                <a:solidFill>
                  <a:srgbClr val="FF0000"/>
                </a:solidFill>
              </a:rPr>
              <a:t> </a:t>
            </a:r>
            <a:r>
              <a:rPr lang="en-US" altLang="zh-CN" sz="2400" b="1" dirty="0">
                <a:solidFill>
                  <a:srgbClr val="FF0000"/>
                </a:solidFill>
              </a:rPr>
              <a:t>the</a:t>
            </a:r>
            <a:r>
              <a:rPr lang="zh-CN" altLang="en-US" sz="2400" b="1" dirty="0">
                <a:solidFill>
                  <a:srgbClr val="FF0000"/>
                </a:solidFill>
              </a:rPr>
              <a:t> </a:t>
            </a:r>
            <a:r>
              <a:rPr lang="en-US" altLang="zh-CN" sz="2400" b="1" dirty="0">
                <a:solidFill>
                  <a:srgbClr val="FF0000"/>
                </a:solidFill>
              </a:rPr>
              <a:t>just-executed</a:t>
            </a:r>
            <a:r>
              <a:rPr lang="zh-CN" altLang="en-US" sz="2400" b="1" dirty="0">
                <a:solidFill>
                  <a:srgbClr val="FF0000"/>
                </a:solidFill>
              </a:rPr>
              <a:t> </a:t>
            </a:r>
            <a:r>
              <a:rPr lang="en-US" altLang="zh-CN" sz="2400" b="1" dirty="0">
                <a:solidFill>
                  <a:srgbClr val="FF0000"/>
                </a:solidFill>
              </a:rPr>
              <a:t>process</a:t>
            </a:r>
            <a:r>
              <a:rPr lang="zh-CN" altLang="en-US" sz="2400" b="1" dirty="0">
                <a:solidFill>
                  <a:srgbClr val="FF0000"/>
                </a:solidFill>
              </a:rPr>
              <a:t> </a:t>
            </a:r>
            <a:r>
              <a:rPr lang="en-US" altLang="zh-CN" sz="2400" b="1" dirty="0">
                <a:solidFill>
                  <a:srgbClr val="FF0000"/>
                </a:solidFill>
              </a:rPr>
              <a:t>into</a:t>
            </a:r>
            <a:r>
              <a:rPr lang="zh-CN" altLang="en-US" sz="2400" b="1" dirty="0">
                <a:solidFill>
                  <a:srgbClr val="FF0000"/>
                </a:solidFill>
              </a:rPr>
              <a:t> </a:t>
            </a:r>
            <a:r>
              <a:rPr lang="en-US" altLang="zh-CN" sz="2400" b="1" dirty="0">
                <a:solidFill>
                  <a:srgbClr val="FF0000"/>
                </a:solidFill>
              </a:rPr>
              <a:t>the</a:t>
            </a:r>
            <a:r>
              <a:rPr lang="zh-CN" altLang="en-US" sz="2400" b="1" dirty="0">
                <a:solidFill>
                  <a:srgbClr val="FF0000"/>
                </a:solidFill>
              </a:rPr>
              <a:t> </a:t>
            </a:r>
            <a:r>
              <a:rPr lang="en-US" altLang="zh-CN" sz="2400" b="1" dirty="0">
                <a:solidFill>
                  <a:srgbClr val="FF0000"/>
                </a:solidFill>
              </a:rPr>
              <a:t>end</a:t>
            </a:r>
            <a:r>
              <a:rPr lang="zh-CN" altLang="en-US" sz="2400" b="1" dirty="0">
                <a:solidFill>
                  <a:srgbClr val="FF0000"/>
                </a:solidFill>
              </a:rPr>
              <a:t> </a:t>
            </a:r>
            <a:r>
              <a:rPr lang="en-US" altLang="zh-CN" sz="2400" b="1" dirty="0">
                <a:solidFill>
                  <a:srgbClr val="FF0000"/>
                </a:solidFill>
              </a:rPr>
              <a:t>of</a:t>
            </a:r>
            <a:r>
              <a:rPr lang="zh-CN" altLang="en-US" sz="2400" b="1" dirty="0">
                <a:solidFill>
                  <a:srgbClr val="FF0000"/>
                </a:solidFill>
              </a:rPr>
              <a:t> </a:t>
            </a:r>
            <a:r>
              <a:rPr lang="en-US" altLang="zh-CN" sz="2400" b="1" dirty="0">
                <a:solidFill>
                  <a:srgbClr val="FF0000"/>
                </a:solidFill>
              </a:rPr>
              <a:t>queue</a:t>
            </a:r>
            <a:r>
              <a:rPr lang="zh-CN" altLang="en-US" sz="2400" b="1" dirty="0">
                <a:solidFill>
                  <a:srgbClr val="FF0000"/>
                </a:solidFill>
              </a:rPr>
              <a:t> </a:t>
            </a:r>
            <a:endParaRPr lang="en-CN" sz="2400" b="1" dirty="0">
              <a:solidFill>
                <a:srgbClr val="FF0000"/>
              </a:solidFill>
            </a:endParaRPr>
          </a:p>
        </p:txBody>
      </p:sp>
    </p:spTree>
    <p:extLst>
      <p:ext uri="{BB962C8B-B14F-4D97-AF65-F5344CB8AC3E}">
        <p14:creationId xmlns:p14="http://schemas.microsoft.com/office/powerpoint/2010/main" val="2998323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normAutofit/>
          </a:bodyPr>
          <a:lstStyle/>
          <a:p>
            <a:r>
              <a:rPr lang="en-US" altLang="zh-CN" dirty="0"/>
              <a:t>Effect of Size of Preemption Time Quantum</a:t>
            </a:r>
            <a:endParaRPr lang="zh-CN" altLang="en-US" dirty="0"/>
          </a:p>
        </p:txBody>
      </p:sp>
      <p:pic>
        <p:nvPicPr>
          <p:cNvPr id="8" name="图片 7">
            <a:extLst>
              <a:ext uri="{FF2B5EF4-FFF2-40B4-BE49-F238E27FC236}">
                <a16:creationId xmlns:a16="http://schemas.microsoft.com/office/drawing/2014/main" id="{784F9F11-3779-4500-A79F-5C7721611368}"/>
              </a:ext>
            </a:extLst>
          </p:cNvPr>
          <p:cNvPicPr>
            <a:picLocks noChangeAspect="1"/>
          </p:cNvPicPr>
          <p:nvPr/>
        </p:nvPicPr>
        <p:blipFill>
          <a:blip r:embed="rId2"/>
          <a:stretch>
            <a:fillRect/>
          </a:stretch>
        </p:blipFill>
        <p:spPr>
          <a:xfrm>
            <a:off x="3284314" y="2087737"/>
            <a:ext cx="4547253" cy="3688412"/>
          </a:xfrm>
          <a:prstGeom prst="rect">
            <a:avLst/>
          </a:prstGeom>
        </p:spPr>
      </p:pic>
      <p:sp>
        <p:nvSpPr>
          <p:cNvPr id="10" name="文本框 9">
            <a:extLst>
              <a:ext uri="{FF2B5EF4-FFF2-40B4-BE49-F238E27FC236}">
                <a16:creationId xmlns:a16="http://schemas.microsoft.com/office/drawing/2014/main" id="{7DC19708-7144-450D-9E69-8719E32AE6FA}"/>
              </a:ext>
            </a:extLst>
          </p:cNvPr>
          <p:cNvSpPr txBox="1"/>
          <p:nvPr/>
        </p:nvSpPr>
        <p:spPr>
          <a:xfrm>
            <a:off x="1469012" y="5728137"/>
            <a:ext cx="7911656" cy="461665"/>
          </a:xfrm>
          <a:prstGeom prst="rect">
            <a:avLst/>
          </a:prstGeom>
          <a:noFill/>
        </p:spPr>
        <p:txBody>
          <a:bodyPr wrap="square">
            <a:spAutoFit/>
          </a:bodyPr>
          <a:lstStyle/>
          <a:p>
            <a:pPr algn="ctr"/>
            <a:r>
              <a:rPr lang="en-US" sz="2400" dirty="0">
                <a:solidFill>
                  <a:srgbClr val="231F20"/>
                </a:solidFill>
                <a:effectLst/>
                <a:latin typeface="TimesLTPro-Roman"/>
              </a:rPr>
              <a:t>(a) Time quantum greater than typical interaction </a:t>
            </a:r>
            <a:endParaRPr lang="en-US" sz="2400" dirty="0"/>
          </a:p>
        </p:txBody>
      </p:sp>
      <p:sp>
        <p:nvSpPr>
          <p:cNvPr id="18" name="文本框 17">
            <a:extLst>
              <a:ext uri="{FF2B5EF4-FFF2-40B4-BE49-F238E27FC236}">
                <a16:creationId xmlns:a16="http://schemas.microsoft.com/office/drawing/2014/main" id="{36C608F6-8064-4B3C-A896-E3E3A53386F5}"/>
              </a:ext>
            </a:extLst>
          </p:cNvPr>
          <p:cNvSpPr txBox="1"/>
          <p:nvPr/>
        </p:nvSpPr>
        <p:spPr>
          <a:xfrm>
            <a:off x="745427" y="846550"/>
            <a:ext cx="10782010" cy="1569660"/>
          </a:xfrm>
          <a:prstGeom prst="rect">
            <a:avLst/>
          </a:prstGeom>
          <a:noFill/>
        </p:spPr>
        <p:txBody>
          <a:bodyPr wrap="square">
            <a:spAutoFit/>
          </a:bodyPr>
          <a:lstStyle/>
          <a:p>
            <a:pPr marL="342900" indent="-342900" algn="just">
              <a:buFont typeface="Wingdings" panose="05000000000000000000" pitchFamily="2" charset="2"/>
              <a:buChar char="q"/>
            </a:pPr>
            <a:r>
              <a:rPr lang="en-US" sz="2400" b="1" dirty="0">
                <a:latin typeface="Microsoft YaHei UI" panose="020B0503020204020204" pitchFamily="34" charset="-122"/>
                <a:ea typeface="Microsoft YaHei UI" panose="020B0503020204020204" pitchFamily="34" charset="-122"/>
              </a:rPr>
              <a:t>Very </a:t>
            </a:r>
            <a:r>
              <a:rPr lang="en-US" sz="2400" b="1" dirty="0">
                <a:solidFill>
                  <a:srgbClr val="FF0000"/>
                </a:solidFill>
                <a:latin typeface="Microsoft YaHei UI" panose="020B0503020204020204" pitchFamily="34" charset="-122"/>
                <a:ea typeface="Microsoft YaHei UI" panose="020B0503020204020204" pitchFamily="34" charset="-122"/>
              </a:rPr>
              <a:t>short time </a:t>
            </a:r>
            <a:r>
              <a:rPr lang="en-US" sz="2400" b="1" dirty="0">
                <a:latin typeface="Microsoft YaHei UI" panose="020B0503020204020204" pitchFamily="34" charset="-122"/>
                <a:ea typeface="Microsoft YaHei UI" panose="020B0503020204020204" pitchFamily="34" charset="-122"/>
              </a:rPr>
              <a:t>quanta should be </a:t>
            </a:r>
            <a:r>
              <a:rPr lang="en-US" sz="2400" b="1" dirty="0">
                <a:solidFill>
                  <a:srgbClr val="FF0000"/>
                </a:solidFill>
                <a:latin typeface="Microsoft YaHei UI" panose="020B0503020204020204" pitchFamily="34" charset="-122"/>
                <a:ea typeface="Microsoft YaHei UI" panose="020B0503020204020204" pitchFamily="34" charset="-122"/>
              </a:rPr>
              <a:t>avoided</a:t>
            </a:r>
          </a:p>
          <a:p>
            <a:pPr marL="342900" indent="-342900" algn="just">
              <a:buFont typeface="Wingdings" panose="05000000000000000000" pitchFamily="2" charset="2"/>
              <a:buChar char="q"/>
            </a:pPr>
            <a:r>
              <a:rPr lang="en-US" sz="2400" b="1" dirty="0">
                <a:latin typeface="Microsoft YaHei UI" panose="020B0503020204020204" pitchFamily="34" charset="-122"/>
                <a:ea typeface="Microsoft YaHei UI" panose="020B0503020204020204" pitchFamily="34" charset="-122"/>
              </a:rPr>
              <a:t>One useful guide is that the time quantum should be </a:t>
            </a:r>
            <a:r>
              <a:rPr lang="en-US" sz="2400" b="1" dirty="0">
                <a:solidFill>
                  <a:srgbClr val="FF0000"/>
                </a:solidFill>
                <a:latin typeface="Microsoft YaHei UI" panose="020B0503020204020204" pitchFamily="34" charset="-122"/>
                <a:ea typeface="Microsoft YaHei UI" panose="020B0503020204020204" pitchFamily="34" charset="-122"/>
              </a:rPr>
              <a:t>slightly greater </a:t>
            </a:r>
            <a:r>
              <a:rPr lang="en-US" sz="2400" b="1" dirty="0">
                <a:latin typeface="Microsoft YaHei UI" panose="020B0503020204020204" pitchFamily="34" charset="-122"/>
                <a:ea typeface="Microsoft YaHei UI" panose="020B0503020204020204" pitchFamily="34" charset="-122"/>
              </a:rPr>
              <a:t>than the time required for </a:t>
            </a:r>
            <a:r>
              <a:rPr lang="en-US" sz="2400" b="1" dirty="0">
                <a:solidFill>
                  <a:srgbClr val="FF0000"/>
                </a:solidFill>
                <a:latin typeface="Microsoft YaHei UI" panose="020B0503020204020204" pitchFamily="34" charset="-122"/>
                <a:ea typeface="Microsoft YaHei UI" panose="020B0503020204020204" pitchFamily="34" charset="-122"/>
              </a:rPr>
              <a:t>a typical interaction </a:t>
            </a:r>
            <a:r>
              <a:rPr lang="en-US" sz="2400" b="1" dirty="0">
                <a:latin typeface="Microsoft YaHei UI" panose="020B0503020204020204" pitchFamily="34" charset="-122"/>
                <a:ea typeface="Microsoft YaHei UI" panose="020B0503020204020204" pitchFamily="34" charset="-122"/>
              </a:rPr>
              <a:t>or process function</a:t>
            </a:r>
          </a:p>
        </p:txBody>
      </p:sp>
    </p:spTree>
    <p:extLst>
      <p:ext uri="{BB962C8B-B14F-4D97-AF65-F5344CB8AC3E}">
        <p14:creationId xmlns:p14="http://schemas.microsoft.com/office/powerpoint/2010/main" val="2610172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normAutofit/>
          </a:bodyPr>
          <a:lstStyle/>
          <a:p>
            <a:r>
              <a:rPr lang="en-US" altLang="zh-CN" dirty="0"/>
              <a:t>Effect of Size of Preemption Time Quantum</a:t>
            </a:r>
            <a:endParaRPr lang="zh-CN" altLang="en-US" dirty="0"/>
          </a:p>
        </p:txBody>
      </p:sp>
      <p:pic>
        <p:nvPicPr>
          <p:cNvPr id="12" name="图片 11">
            <a:extLst>
              <a:ext uri="{FF2B5EF4-FFF2-40B4-BE49-F238E27FC236}">
                <a16:creationId xmlns:a16="http://schemas.microsoft.com/office/drawing/2014/main" id="{86593A55-AFD0-4E59-84CA-CC7F78D2BA1F}"/>
              </a:ext>
            </a:extLst>
          </p:cNvPr>
          <p:cNvPicPr>
            <a:picLocks noChangeAspect="1"/>
          </p:cNvPicPr>
          <p:nvPr/>
        </p:nvPicPr>
        <p:blipFill>
          <a:blip r:embed="rId2"/>
          <a:stretch>
            <a:fillRect/>
          </a:stretch>
        </p:blipFill>
        <p:spPr>
          <a:xfrm>
            <a:off x="1528288" y="2650377"/>
            <a:ext cx="9406573" cy="2965115"/>
          </a:xfrm>
          <a:prstGeom prst="rect">
            <a:avLst/>
          </a:prstGeom>
        </p:spPr>
      </p:pic>
      <p:sp>
        <p:nvSpPr>
          <p:cNvPr id="14" name="文本框 13">
            <a:extLst>
              <a:ext uri="{FF2B5EF4-FFF2-40B4-BE49-F238E27FC236}">
                <a16:creationId xmlns:a16="http://schemas.microsoft.com/office/drawing/2014/main" id="{2DB68FC6-5FC4-47AF-9A99-EBBBDDC486F2}"/>
              </a:ext>
            </a:extLst>
          </p:cNvPr>
          <p:cNvSpPr txBox="1"/>
          <p:nvPr/>
        </p:nvSpPr>
        <p:spPr>
          <a:xfrm>
            <a:off x="1990165" y="5792683"/>
            <a:ext cx="7387822" cy="461665"/>
          </a:xfrm>
          <a:prstGeom prst="rect">
            <a:avLst/>
          </a:prstGeom>
          <a:noFill/>
        </p:spPr>
        <p:txBody>
          <a:bodyPr wrap="square">
            <a:spAutoFit/>
          </a:bodyPr>
          <a:lstStyle/>
          <a:p>
            <a:pPr algn="ctr"/>
            <a:r>
              <a:rPr lang="en-US" sz="2400" dirty="0">
                <a:solidFill>
                  <a:srgbClr val="231F20"/>
                </a:solidFill>
                <a:effectLst/>
                <a:latin typeface="TimesLTPro-Roman"/>
              </a:rPr>
              <a:t>(b) Time quantum less than typical interaction</a:t>
            </a:r>
            <a:endParaRPr lang="en-US" sz="2400" dirty="0"/>
          </a:p>
        </p:txBody>
      </p:sp>
      <p:sp>
        <p:nvSpPr>
          <p:cNvPr id="18" name="文本框 17">
            <a:extLst>
              <a:ext uri="{FF2B5EF4-FFF2-40B4-BE49-F238E27FC236}">
                <a16:creationId xmlns:a16="http://schemas.microsoft.com/office/drawing/2014/main" id="{36C608F6-8064-4B3C-A896-E3E3A53386F5}"/>
              </a:ext>
            </a:extLst>
          </p:cNvPr>
          <p:cNvSpPr txBox="1"/>
          <p:nvPr/>
        </p:nvSpPr>
        <p:spPr>
          <a:xfrm>
            <a:off x="745427" y="846550"/>
            <a:ext cx="10782010" cy="1569660"/>
          </a:xfrm>
          <a:prstGeom prst="rect">
            <a:avLst/>
          </a:prstGeom>
          <a:noFill/>
        </p:spPr>
        <p:txBody>
          <a:bodyPr wrap="square">
            <a:spAutoFit/>
          </a:bodyPr>
          <a:lstStyle/>
          <a:p>
            <a:pPr marL="342900" indent="-342900" algn="just">
              <a:buFont typeface="Wingdings" panose="05000000000000000000" pitchFamily="2" charset="2"/>
              <a:buChar char="q"/>
            </a:pPr>
            <a:r>
              <a:rPr lang="en-US" sz="2400" b="1" dirty="0">
                <a:latin typeface="Microsoft YaHei UI" panose="020B0503020204020204" pitchFamily="34" charset="-122"/>
                <a:ea typeface="Microsoft YaHei UI" panose="020B0503020204020204" pitchFamily="34" charset="-122"/>
              </a:rPr>
              <a:t>Very </a:t>
            </a:r>
            <a:r>
              <a:rPr lang="en-US" sz="2400" b="1" dirty="0">
                <a:solidFill>
                  <a:srgbClr val="FF0000"/>
                </a:solidFill>
                <a:latin typeface="Microsoft YaHei UI" panose="020B0503020204020204" pitchFamily="34" charset="-122"/>
                <a:ea typeface="Microsoft YaHei UI" panose="020B0503020204020204" pitchFamily="34" charset="-122"/>
              </a:rPr>
              <a:t>short time </a:t>
            </a:r>
            <a:r>
              <a:rPr lang="en-US" sz="2400" b="1" dirty="0">
                <a:latin typeface="Microsoft YaHei UI" panose="020B0503020204020204" pitchFamily="34" charset="-122"/>
                <a:ea typeface="Microsoft YaHei UI" panose="020B0503020204020204" pitchFamily="34" charset="-122"/>
              </a:rPr>
              <a:t>quanta should be </a:t>
            </a:r>
            <a:r>
              <a:rPr lang="en-US" sz="2400" b="1" dirty="0">
                <a:solidFill>
                  <a:srgbClr val="FF0000"/>
                </a:solidFill>
                <a:latin typeface="Microsoft YaHei UI" panose="020B0503020204020204" pitchFamily="34" charset="-122"/>
                <a:ea typeface="Microsoft YaHei UI" panose="020B0503020204020204" pitchFamily="34" charset="-122"/>
              </a:rPr>
              <a:t>avoided</a:t>
            </a:r>
          </a:p>
          <a:p>
            <a:pPr marL="342900" indent="-342900" algn="just">
              <a:buFont typeface="Wingdings" panose="05000000000000000000" pitchFamily="2" charset="2"/>
              <a:buChar char="q"/>
            </a:pPr>
            <a:r>
              <a:rPr lang="en-US" sz="2400" b="1" dirty="0">
                <a:latin typeface="Microsoft YaHei UI" panose="020B0503020204020204" pitchFamily="34" charset="-122"/>
                <a:ea typeface="Microsoft YaHei UI" panose="020B0503020204020204" pitchFamily="34" charset="-122"/>
              </a:rPr>
              <a:t>One useful guide is that the time quantum should be </a:t>
            </a:r>
            <a:r>
              <a:rPr lang="en-US" sz="2400" b="1" dirty="0">
                <a:solidFill>
                  <a:srgbClr val="FF0000"/>
                </a:solidFill>
                <a:latin typeface="Microsoft YaHei UI" panose="020B0503020204020204" pitchFamily="34" charset="-122"/>
                <a:ea typeface="Microsoft YaHei UI" panose="020B0503020204020204" pitchFamily="34" charset="-122"/>
              </a:rPr>
              <a:t>slightly greater </a:t>
            </a:r>
            <a:r>
              <a:rPr lang="en-US" sz="2400" b="1" dirty="0">
                <a:latin typeface="Microsoft YaHei UI" panose="020B0503020204020204" pitchFamily="34" charset="-122"/>
                <a:ea typeface="Microsoft YaHei UI" panose="020B0503020204020204" pitchFamily="34" charset="-122"/>
              </a:rPr>
              <a:t>than the time required for </a:t>
            </a:r>
            <a:r>
              <a:rPr lang="en-US" sz="2400" b="1" dirty="0">
                <a:solidFill>
                  <a:srgbClr val="FF0000"/>
                </a:solidFill>
                <a:latin typeface="Microsoft YaHei UI" panose="020B0503020204020204" pitchFamily="34" charset="-122"/>
                <a:ea typeface="Microsoft YaHei UI" panose="020B0503020204020204" pitchFamily="34" charset="-122"/>
              </a:rPr>
              <a:t>a typical interaction </a:t>
            </a:r>
            <a:r>
              <a:rPr lang="en-US" sz="2400" b="1" dirty="0">
                <a:latin typeface="Microsoft YaHei UI" panose="020B0503020204020204" pitchFamily="34" charset="-122"/>
                <a:ea typeface="Microsoft YaHei UI" panose="020B0503020204020204" pitchFamily="34" charset="-122"/>
              </a:rPr>
              <a:t>or process function</a:t>
            </a:r>
          </a:p>
        </p:txBody>
      </p:sp>
    </p:spTree>
    <p:extLst>
      <p:ext uri="{BB962C8B-B14F-4D97-AF65-F5344CB8AC3E}">
        <p14:creationId xmlns:p14="http://schemas.microsoft.com/office/powerpoint/2010/main" val="640978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88299435-B63C-4256-BB8E-3E4C67A93CC7}"/>
              </a:ext>
            </a:extLst>
          </p:cNvPr>
          <p:cNvPicPr>
            <a:picLocks noChangeAspect="1"/>
          </p:cNvPicPr>
          <p:nvPr/>
        </p:nvPicPr>
        <p:blipFill>
          <a:blip r:embed="rId2"/>
          <a:stretch>
            <a:fillRect/>
          </a:stretch>
        </p:blipFill>
        <p:spPr>
          <a:xfrm>
            <a:off x="5779934" y="805046"/>
            <a:ext cx="5232195" cy="5232195"/>
          </a:xfrm>
          <a:prstGeom prst="rect">
            <a:avLst/>
          </a:prstGeom>
        </p:spPr>
      </p:pic>
      <p:sp>
        <p:nvSpPr>
          <p:cNvPr id="2" name="标题 1">
            <a:extLst>
              <a:ext uri="{FF2B5EF4-FFF2-40B4-BE49-F238E27FC236}">
                <a16:creationId xmlns:a16="http://schemas.microsoft.com/office/drawing/2014/main" id="{F4B2C35C-AFC1-405F-A296-F6E44A6022D7}"/>
              </a:ext>
            </a:extLst>
          </p:cNvPr>
          <p:cNvSpPr>
            <a:spLocks noGrp="1"/>
          </p:cNvSpPr>
          <p:nvPr>
            <p:ph type="title"/>
          </p:nvPr>
        </p:nvSpPr>
        <p:spPr/>
        <p:txBody>
          <a:bodyPr/>
          <a:lstStyle/>
          <a:p>
            <a:r>
              <a:rPr lang="en-US" dirty="0">
                <a:latin typeface="Microsoft YaHei UI" panose="020B0503020204020204" pitchFamily="34" charset="-122"/>
                <a:ea typeface="Microsoft YaHei UI" panose="020B0503020204020204" pitchFamily="34" charset="-122"/>
              </a:rPr>
              <a:t>Virtual Round-Robin Scheduler</a:t>
            </a:r>
            <a:endParaRPr lang="en-US" dirty="0"/>
          </a:p>
        </p:txBody>
      </p:sp>
      <p:sp>
        <p:nvSpPr>
          <p:cNvPr id="3" name="内容占位符 2">
            <a:extLst>
              <a:ext uri="{FF2B5EF4-FFF2-40B4-BE49-F238E27FC236}">
                <a16:creationId xmlns:a16="http://schemas.microsoft.com/office/drawing/2014/main" id="{CB15478B-174C-4AF1-93C6-637F24E318C2}"/>
              </a:ext>
            </a:extLst>
          </p:cNvPr>
          <p:cNvSpPr>
            <a:spLocks noGrp="1"/>
          </p:cNvSpPr>
          <p:nvPr>
            <p:ph idx="1"/>
          </p:nvPr>
        </p:nvSpPr>
        <p:spPr>
          <a:xfrm>
            <a:off x="838200" y="841103"/>
            <a:ext cx="4258456" cy="5175794"/>
          </a:xfrm>
        </p:spPr>
        <p:txBody>
          <a:bodyPr/>
          <a:lstStyle/>
          <a:p>
            <a:r>
              <a:rPr lang="en-US" sz="2400" b="1" dirty="0">
                <a:latin typeface="Microsoft YaHei UI" panose="020B0503020204020204" pitchFamily="34" charset="-122"/>
                <a:ea typeface="Microsoft YaHei UI" panose="020B0503020204020204" pitchFamily="34" charset="-122"/>
              </a:rPr>
              <a:t>One </a:t>
            </a:r>
            <a:r>
              <a:rPr lang="en-US" sz="2400" b="1" dirty="0">
                <a:solidFill>
                  <a:srgbClr val="FF0000"/>
                </a:solidFill>
                <a:latin typeface="Microsoft YaHei UI" panose="020B0503020204020204" pitchFamily="34" charset="-122"/>
                <a:ea typeface="Microsoft YaHei UI" panose="020B0503020204020204" pitchFamily="34" charset="-122"/>
              </a:rPr>
              <a:t>drawback</a:t>
            </a:r>
            <a:r>
              <a:rPr lang="en-US" sz="2400" b="1" dirty="0">
                <a:latin typeface="Microsoft YaHei UI" panose="020B0503020204020204" pitchFamily="34" charset="-122"/>
                <a:ea typeface="Microsoft YaHei UI" panose="020B0503020204020204" pitchFamily="34" charset="-122"/>
              </a:rPr>
              <a:t> is its relative treatment of processor-bound and I/O-bound processes</a:t>
            </a:r>
          </a:p>
          <a:p>
            <a:pPr lvl="1"/>
            <a:r>
              <a:rPr lang="en-US" sz="2400" dirty="0">
                <a:solidFill>
                  <a:srgbClr val="231F20"/>
                </a:solidFill>
                <a:effectLst/>
                <a:latin typeface="Microsoft YaHei UI" panose="020B0503020204020204" pitchFamily="34" charset="-122"/>
                <a:ea typeface="Microsoft YaHei UI" panose="020B0503020204020204" pitchFamily="34" charset="-122"/>
              </a:rPr>
              <a:t>An I/O-bound process uses a processor for </a:t>
            </a:r>
            <a:r>
              <a:rPr lang="en-US" sz="2400" dirty="0">
                <a:solidFill>
                  <a:srgbClr val="FF0000"/>
                </a:solidFill>
                <a:effectLst/>
                <a:latin typeface="Microsoft YaHei UI" panose="020B0503020204020204" pitchFamily="34" charset="-122"/>
                <a:ea typeface="Microsoft YaHei UI" panose="020B0503020204020204" pitchFamily="34" charset="-122"/>
              </a:rPr>
              <a:t>a short period</a:t>
            </a:r>
            <a:r>
              <a:rPr lang="en-US" sz="2400" dirty="0">
                <a:solidFill>
                  <a:srgbClr val="231F20"/>
                </a:solidFill>
                <a:effectLst/>
                <a:latin typeface="Microsoft YaHei UI" panose="020B0503020204020204" pitchFamily="34" charset="-122"/>
                <a:ea typeface="Microsoft YaHei UI" panose="020B0503020204020204" pitchFamily="34" charset="-122"/>
              </a:rPr>
              <a:t>, then is blocked for I/O; </a:t>
            </a:r>
          </a:p>
          <a:p>
            <a:pPr lvl="1"/>
            <a:r>
              <a:rPr lang="en-US" sz="2400" dirty="0">
                <a:solidFill>
                  <a:srgbClr val="231F20"/>
                </a:solidFill>
                <a:effectLst/>
                <a:latin typeface="Microsoft YaHei UI" panose="020B0503020204020204" pitchFamily="34" charset="-122"/>
                <a:ea typeface="Microsoft YaHei UI" panose="020B0503020204020204" pitchFamily="34" charset="-122"/>
              </a:rPr>
              <a:t>a processor-bound process generally uses a </a:t>
            </a:r>
            <a:r>
              <a:rPr lang="en-US" sz="2400" dirty="0">
                <a:solidFill>
                  <a:srgbClr val="FF0000"/>
                </a:solidFill>
                <a:effectLst/>
                <a:latin typeface="Microsoft YaHei UI" panose="020B0503020204020204" pitchFamily="34" charset="-122"/>
                <a:ea typeface="Microsoft YaHei UI" panose="020B0503020204020204" pitchFamily="34" charset="-122"/>
              </a:rPr>
              <a:t>complete time quantum</a:t>
            </a:r>
            <a:endParaRPr lang="en-US" sz="2400" dirty="0"/>
          </a:p>
        </p:txBody>
      </p:sp>
      <p:sp>
        <p:nvSpPr>
          <p:cNvPr id="4" name="灯片编号占位符 3">
            <a:extLst>
              <a:ext uri="{FF2B5EF4-FFF2-40B4-BE49-F238E27FC236}">
                <a16:creationId xmlns:a16="http://schemas.microsoft.com/office/drawing/2014/main" id="{3C2384DC-9EF2-430E-9613-7E9B61457CF1}"/>
              </a:ext>
            </a:extLst>
          </p:cNvPr>
          <p:cNvSpPr>
            <a:spLocks noGrp="1"/>
          </p:cNvSpPr>
          <p:nvPr>
            <p:ph type="sldNum" sz="quarter" idx="12"/>
          </p:nvPr>
        </p:nvSpPr>
        <p:spPr/>
        <p:txBody>
          <a:bodyPr/>
          <a:lstStyle/>
          <a:p>
            <a:fld id="{2093D444-7193-46AD-90E8-D84AE4B61CFF}" type="slidenum">
              <a:rPr lang="en-US" smtClean="0"/>
              <a:pPr/>
              <a:t>26</a:t>
            </a:fld>
            <a:r>
              <a:rPr lang="en-US"/>
              <a:t>/56</a:t>
            </a:r>
            <a:endParaRPr lang="en-US" dirty="0"/>
          </a:p>
        </p:txBody>
      </p:sp>
      <p:sp>
        <p:nvSpPr>
          <p:cNvPr id="5" name="日期占位符 4">
            <a:extLst>
              <a:ext uri="{FF2B5EF4-FFF2-40B4-BE49-F238E27FC236}">
                <a16:creationId xmlns:a16="http://schemas.microsoft.com/office/drawing/2014/main" id="{F8E328CC-6B20-4E55-8F85-8A5E569030A2}"/>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p:sp>
        <p:nvSpPr>
          <p:cNvPr id="11" name="文本框 10">
            <a:extLst>
              <a:ext uri="{FF2B5EF4-FFF2-40B4-BE49-F238E27FC236}">
                <a16:creationId xmlns:a16="http://schemas.microsoft.com/office/drawing/2014/main" id="{63F3F979-131E-46CC-807A-1C255F296170}"/>
              </a:ext>
            </a:extLst>
          </p:cNvPr>
          <p:cNvSpPr txBox="1"/>
          <p:nvPr/>
        </p:nvSpPr>
        <p:spPr>
          <a:xfrm>
            <a:off x="4847304" y="5938998"/>
            <a:ext cx="6722806" cy="400110"/>
          </a:xfrm>
          <a:prstGeom prst="rect">
            <a:avLst/>
          </a:prstGeom>
          <a:noFill/>
        </p:spPr>
        <p:txBody>
          <a:bodyPr wrap="square">
            <a:spAutoFit/>
          </a:bodyPr>
          <a:lstStyle/>
          <a:p>
            <a:pPr algn="ctr"/>
            <a:r>
              <a:rPr lang="en-US" sz="2000" dirty="0"/>
              <a:t>Queueing Diagram for Virtual Round-Robin (VRR) Scheduler</a:t>
            </a:r>
          </a:p>
        </p:txBody>
      </p:sp>
      <p:sp>
        <p:nvSpPr>
          <p:cNvPr id="12" name="矩形 11">
            <a:extLst>
              <a:ext uri="{FF2B5EF4-FFF2-40B4-BE49-F238E27FC236}">
                <a16:creationId xmlns:a16="http://schemas.microsoft.com/office/drawing/2014/main" id="{4A75452C-AEAE-4FFB-B37B-E8786C1B8858}"/>
              </a:ext>
            </a:extLst>
          </p:cNvPr>
          <p:cNvSpPr/>
          <p:nvPr/>
        </p:nvSpPr>
        <p:spPr>
          <a:xfrm>
            <a:off x="6588298" y="2742152"/>
            <a:ext cx="2008682" cy="7045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99314FC-6DE1-4085-B36B-719BFEEFFD45}"/>
                  </a:ext>
                </a:extLst>
              </p:cNvPr>
              <p:cNvSpPr txBox="1"/>
              <p:nvPr/>
            </p:nvSpPr>
            <p:spPr>
              <a:xfrm>
                <a:off x="8702085" y="2776926"/>
                <a:ext cx="175943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b="1" i="1" dirty="0" smtClean="0">
                              <a:solidFill>
                                <a:srgbClr val="FF0000"/>
                              </a:solidFill>
                              <a:latin typeface="Cambria Math" panose="02040503050406030204" pitchFamily="18" charset="0"/>
                              <a:ea typeface="Microsoft YaHei UI" panose="020B0503020204020204" pitchFamily="34" charset="-122"/>
                            </a:rPr>
                          </m:ctrlPr>
                        </m:sSupPr>
                        <m:e>
                          <m:r>
                            <a:rPr lang="en-US" altLang="zh-CN" sz="2400" b="1" i="1" dirty="0">
                              <a:solidFill>
                                <a:srgbClr val="FF0000"/>
                              </a:solidFill>
                              <a:latin typeface="Cambria Math" panose="02040503050406030204" pitchFamily="18" charset="0"/>
                              <a:ea typeface="Microsoft YaHei UI" panose="020B0503020204020204" pitchFamily="34" charset="-122"/>
                            </a:rPr>
                            <m:t>𝒒</m:t>
                          </m:r>
                        </m:e>
                        <m:sup>
                          <m:r>
                            <a:rPr lang="en-US" altLang="zh-CN" sz="2400" b="1" i="1" dirty="0" smtClean="0">
                              <a:solidFill>
                                <a:srgbClr val="FF0000"/>
                              </a:solidFill>
                              <a:latin typeface="Cambria Math" panose="02040503050406030204" pitchFamily="18" charset="0"/>
                              <a:ea typeface="Microsoft YaHei UI" panose="020B0503020204020204" pitchFamily="34" charset="-122"/>
                            </a:rPr>
                            <m:t>𝒂</m:t>
                          </m:r>
                        </m:sup>
                      </m:sSup>
                      <m:r>
                        <a:rPr lang="en-US" altLang="zh-CN" sz="2400" b="1" i="0" dirty="0" smtClean="0">
                          <a:solidFill>
                            <a:srgbClr val="FF0000"/>
                          </a:solidFill>
                          <a:latin typeface="Cambria Math" panose="02040503050406030204" pitchFamily="18" charset="0"/>
                          <a:ea typeface="Microsoft YaHei UI" panose="020B0503020204020204" pitchFamily="34" charset="-122"/>
                        </a:rPr>
                        <m:t>=</m:t>
                      </m:r>
                      <m:r>
                        <a:rPr lang="en-US" altLang="zh-CN" sz="2400" b="1" i="1" dirty="0" smtClean="0">
                          <a:solidFill>
                            <a:srgbClr val="FF0000"/>
                          </a:solidFill>
                          <a:latin typeface="Cambria Math" panose="02040503050406030204" pitchFamily="18" charset="0"/>
                          <a:ea typeface="Microsoft YaHei UI" panose="020B0503020204020204" pitchFamily="34" charset="-122"/>
                        </a:rPr>
                        <m:t>𝒒</m:t>
                      </m:r>
                      <m:r>
                        <a:rPr lang="en-US" altLang="zh-CN" sz="2400" b="1" i="1" dirty="0" smtClean="0">
                          <a:solidFill>
                            <a:srgbClr val="FF0000"/>
                          </a:solidFill>
                          <a:latin typeface="Cambria Math" panose="02040503050406030204" pitchFamily="18" charset="0"/>
                          <a:ea typeface="Microsoft YaHei UI" panose="020B0503020204020204" pitchFamily="34" charset="-122"/>
                        </a:rPr>
                        <m:t>−</m:t>
                      </m:r>
                      <m:r>
                        <a:rPr lang="en-US" altLang="zh-CN" sz="2400" b="1" i="1" dirty="0" smtClean="0">
                          <a:solidFill>
                            <a:srgbClr val="FF0000"/>
                          </a:solidFill>
                          <a:latin typeface="Cambria Math" panose="02040503050406030204" pitchFamily="18" charset="0"/>
                          <a:ea typeface="Microsoft YaHei UI" panose="020B0503020204020204" pitchFamily="34" charset="-122"/>
                        </a:rPr>
                        <m:t>𝒆</m:t>
                      </m:r>
                    </m:oMath>
                  </m:oMathPara>
                </a14:m>
                <a:endParaRPr lang="en-US" sz="2400" b="1" dirty="0">
                  <a:solidFill>
                    <a:srgbClr val="FF0000"/>
                  </a:solidFill>
                  <a:latin typeface="Microsoft YaHei UI" panose="020B0503020204020204" pitchFamily="34" charset="-122"/>
                  <a:ea typeface="Microsoft YaHei UI" panose="020B0503020204020204" pitchFamily="34" charset="-122"/>
                </a:endParaRPr>
              </a:p>
            </p:txBody>
          </p:sp>
        </mc:Choice>
        <mc:Fallback xmlns="">
          <p:sp>
            <p:nvSpPr>
              <p:cNvPr id="13" name="文本框 12">
                <a:extLst>
                  <a:ext uri="{FF2B5EF4-FFF2-40B4-BE49-F238E27FC236}">
                    <a16:creationId xmlns:a16="http://schemas.microsoft.com/office/drawing/2014/main" id="{299314FC-6DE1-4085-B36B-719BFEEFFD45}"/>
                  </a:ext>
                </a:extLst>
              </p:cNvPr>
              <p:cNvSpPr txBox="1">
                <a:spLocks noRot="1" noChangeAspect="1" noMove="1" noResize="1" noEditPoints="1" noAdjustHandles="1" noChangeArrowheads="1" noChangeShapeType="1" noTextEdit="1"/>
              </p:cNvSpPr>
              <p:nvPr/>
            </p:nvSpPr>
            <p:spPr>
              <a:xfrm>
                <a:off x="8702085" y="2776926"/>
                <a:ext cx="1759438" cy="461665"/>
              </a:xfrm>
              <a:prstGeom prst="rect">
                <a:avLst/>
              </a:prstGeom>
              <a:blipFill>
                <a:blip r:embed="rId3"/>
                <a:stretch>
                  <a:fillRect b="-13514"/>
                </a:stretch>
              </a:blipFill>
            </p:spPr>
            <p:txBody>
              <a:bodyPr/>
              <a:lstStyle/>
              <a:p>
                <a:r>
                  <a:rPr lang="en-CN">
                    <a:noFill/>
                  </a:rPr>
                  <a:t> </a:t>
                </a:r>
              </a:p>
            </p:txBody>
          </p:sp>
        </mc:Fallback>
      </mc:AlternateContent>
    </p:spTree>
    <p:extLst>
      <p:ext uri="{BB962C8B-B14F-4D97-AF65-F5344CB8AC3E}">
        <p14:creationId xmlns:p14="http://schemas.microsoft.com/office/powerpoint/2010/main" val="128966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normAutofit/>
          </a:bodyPr>
          <a:lstStyle/>
          <a:p>
            <a:r>
              <a:rPr lang="en-US" altLang="zh-CN" dirty="0"/>
              <a:t>Shortest Process Next (SPN)</a:t>
            </a:r>
            <a:endParaRPr lang="zh-CN" altLang="en-US" dirty="0"/>
          </a:p>
        </p:txBody>
      </p:sp>
      <p:sp>
        <p:nvSpPr>
          <p:cNvPr id="3" name="内容占位符 2">
            <a:extLst>
              <a:ext uri="{FF2B5EF4-FFF2-40B4-BE49-F238E27FC236}">
                <a16:creationId xmlns:a16="http://schemas.microsoft.com/office/drawing/2014/main" id="{A5AAF1E7-7DFD-420F-85D5-4414E74DCF35}"/>
              </a:ext>
            </a:extLst>
          </p:cNvPr>
          <p:cNvSpPr>
            <a:spLocks noGrp="1"/>
          </p:cNvSpPr>
          <p:nvPr>
            <p:ph idx="1"/>
          </p:nvPr>
        </p:nvSpPr>
        <p:spPr/>
        <p:txBody>
          <a:bodyPr/>
          <a:lstStyle/>
          <a:p>
            <a:r>
              <a:rPr lang="en-US" altLang="zh-CN" sz="2800" dirty="0">
                <a:solidFill>
                  <a:srgbClr val="FF0000"/>
                </a:solidFill>
              </a:rPr>
              <a:t>Non-preemptive</a:t>
            </a:r>
            <a:r>
              <a:rPr lang="en-US" altLang="zh-CN" sz="2800" dirty="0"/>
              <a:t> policy</a:t>
            </a:r>
          </a:p>
          <a:p>
            <a:r>
              <a:rPr lang="en-US" altLang="zh-CN" sz="2800" dirty="0"/>
              <a:t>The </a:t>
            </a:r>
            <a:r>
              <a:rPr lang="en-US" altLang="zh-CN" sz="2800" dirty="0">
                <a:solidFill>
                  <a:srgbClr val="FF0000"/>
                </a:solidFill>
              </a:rPr>
              <a:t>shortest expected processing time </a:t>
            </a:r>
            <a:r>
              <a:rPr lang="en-US" altLang="zh-CN" sz="2800" dirty="0"/>
              <a:t>is selected next</a:t>
            </a:r>
          </a:p>
          <a:p>
            <a:pPr lvl="1"/>
            <a:r>
              <a:rPr lang="en-US" altLang="zh-CN" sz="2800" dirty="0"/>
              <a:t>Possibility of </a:t>
            </a:r>
            <a:r>
              <a:rPr lang="en-US" altLang="zh-CN" sz="2800" dirty="0">
                <a:solidFill>
                  <a:srgbClr val="FF0000"/>
                </a:solidFill>
              </a:rPr>
              <a:t>starvation for longer processes</a:t>
            </a:r>
          </a:p>
          <a:p>
            <a:pPr lvl="1"/>
            <a:r>
              <a:rPr lang="en-US" altLang="zh-CN" sz="2800" dirty="0"/>
              <a:t>One difficulty is the need to </a:t>
            </a:r>
            <a:r>
              <a:rPr lang="en-US" altLang="zh-CN" sz="2800" dirty="0">
                <a:solidFill>
                  <a:srgbClr val="FF0000"/>
                </a:solidFill>
              </a:rPr>
              <a:t>know</a:t>
            </a:r>
            <a:r>
              <a:rPr lang="en-US" altLang="zh-CN" sz="2800" dirty="0"/>
              <a:t>, or at least </a:t>
            </a:r>
            <a:r>
              <a:rPr lang="en-US" altLang="zh-CN" sz="2800" dirty="0">
                <a:solidFill>
                  <a:srgbClr val="FF0000"/>
                </a:solidFill>
              </a:rPr>
              <a:t>estimate</a:t>
            </a:r>
            <a:r>
              <a:rPr lang="en-US" altLang="zh-CN" sz="2800" dirty="0"/>
              <a:t>, the required </a:t>
            </a:r>
            <a:r>
              <a:rPr lang="en-US" altLang="zh-CN" sz="2800" dirty="0">
                <a:solidFill>
                  <a:srgbClr val="FF0000"/>
                </a:solidFill>
              </a:rPr>
              <a:t>processing time </a:t>
            </a:r>
            <a:r>
              <a:rPr lang="en-US" altLang="zh-CN" sz="2800" dirty="0"/>
              <a:t>of each process</a:t>
            </a:r>
          </a:p>
          <a:p>
            <a:pPr lvl="1"/>
            <a:r>
              <a:rPr lang="en-US" altLang="zh-CN" sz="2800" dirty="0"/>
              <a:t>If the programmer’s estimate is substantially </a:t>
            </a:r>
            <a:r>
              <a:rPr lang="en-US" altLang="zh-CN" sz="2800" dirty="0">
                <a:solidFill>
                  <a:srgbClr val="FF0000"/>
                </a:solidFill>
              </a:rPr>
              <a:t>under</a:t>
            </a:r>
            <a:r>
              <a:rPr lang="en-US" altLang="zh-CN" sz="2800" dirty="0"/>
              <a:t> the actual running time, the system may </a:t>
            </a:r>
            <a:r>
              <a:rPr lang="en-US" altLang="zh-CN" sz="2800" dirty="0">
                <a:solidFill>
                  <a:srgbClr val="FF0000"/>
                </a:solidFill>
              </a:rPr>
              <a:t>abort</a:t>
            </a:r>
            <a:r>
              <a:rPr lang="en-US" altLang="zh-CN" sz="2800" dirty="0"/>
              <a:t> the job</a:t>
            </a:r>
          </a:p>
          <a:p>
            <a:endParaRPr lang="zh-CN" altLang="en-US" dirty="0"/>
          </a:p>
        </p:txBody>
      </p:sp>
    </p:spTree>
    <p:extLst>
      <p:ext uri="{BB962C8B-B14F-4D97-AF65-F5344CB8AC3E}">
        <p14:creationId xmlns:p14="http://schemas.microsoft.com/office/powerpoint/2010/main" val="2515200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normAutofit/>
          </a:bodyPr>
          <a:lstStyle/>
          <a:p>
            <a:r>
              <a:rPr lang="en-US" altLang="zh-CN" dirty="0"/>
              <a:t>Shortest Process Next (SPN)</a:t>
            </a:r>
            <a:endParaRPr lang="zh-CN" altLang="en-US" dirty="0"/>
          </a:p>
        </p:txBody>
      </p:sp>
      <p:pic>
        <p:nvPicPr>
          <p:cNvPr id="4" name="Picture 8" descr="Fig09_05s.gif">
            <a:extLst>
              <a:ext uri="{FF2B5EF4-FFF2-40B4-BE49-F238E27FC236}">
                <a16:creationId xmlns:a16="http://schemas.microsoft.com/office/drawing/2014/main" id="{E766154E-9FD1-49C0-AF4E-B7E3160C0987}"/>
              </a:ext>
            </a:extLst>
          </p:cNvPr>
          <p:cNvPicPr>
            <a:picLocks noChangeAspect="1"/>
          </p:cNvPicPr>
          <p:nvPr/>
        </p:nvPicPr>
        <p:blipFill>
          <a:blip r:embed="rId2"/>
          <a:stretch>
            <a:fillRect/>
          </a:stretch>
        </p:blipFill>
        <p:spPr>
          <a:xfrm>
            <a:off x="687099" y="2212157"/>
            <a:ext cx="10728154" cy="1897839"/>
          </a:xfrm>
          <a:prstGeom prst="rect">
            <a:avLst/>
          </a:prstGeom>
        </p:spPr>
      </p:pic>
    </p:spTree>
    <p:extLst>
      <p:ext uri="{BB962C8B-B14F-4D97-AF65-F5344CB8AC3E}">
        <p14:creationId xmlns:p14="http://schemas.microsoft.com/office/powerpoint/2010/main" val="34218284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Estimate running time</a:t>
            </a:r>
            <a:endParaRPr lang="zh-CN" altLang="en-US" dirty="0"/>
          </a:p>
        </p:txBody>
      </p:sp>
      <p:sp>
        <p:nvSpPr>
          <p:cNvPr id="3" name="内容占位符 2">
            <a:extLst>
              <a:ext uri="{FF2B5EF4-FFF2-40B4-BE49-F238E27FC236}">
                <a16:creationId xmlns:a16="http://schemas.microsoft.com/office/drawing/2014/main" id="{A5AAF1E7-7DFD-420F-85D5-4414E74DCF35}"/>
              </a:ext>
            </a:extLst>
          </p:cNvPr>
          <p:cNvSpPr>
            <a:spLocks noGrp="1"/>
          </p:cNvSpPr>
          <p:nvPr>
            <p:ph idx="1"/>
          </p:nvPr>
        </p:nvSpPr>
        <p:spPr>
          <a:xfrm>
            <a:off x="838200" y="841104"/>
            <a:ext cx="10515600" cy="2246226"/>
          </a:xfrm>
        </p:spPr>
        <p:txBody>
          <a:bodyPr/>
          <a:lstStyle/>
          <a:p>
            <a:r>
              <a:rPr lang="en-US" altLang="zh-CN" dirty="0"/>
              <a:t>Simple averaging </a:t>
            </a:r>
          </a:p>
          <a:p>
            <a:endParaRPr lang="en-US" altLang="zh-CN" dirty="0"/>
          </a:p>
          <a:p>
            <a:endParaRPr lang="en-US" altLang="zh-CN" dirty="0"/>
          </a:p>
          <a:p>
            <a:endParaRPr lang="en-US" altLang="zh-CN" dirty="0"/>
          </a:p>
          <a:p>
            <a:endParaRPr lang="en-US" altLang="zh-CN" dirty="0"/>
          </a:p>
          <a:p>
            <a:pPr marL="0" indent="0">
              <a:buNone/>
            </a:pPr>
            <a:endParaRPr lang="en-US" altLang="zh-CN" dirty="0"/>
          </a:p>
          <a:p>
            <a:endParaRPr lang="zh-CN" altLang="en-US" dirty="0"/>
          </a:p>
        </p:txBody>
      </p:sp>
      <p:graphicFrame>
        <p:nvGraphicFramePr>
          <p:cNvPr id="4" name="对象 3">
            <a:extLst>
              <a:ext uri="{FF2B5EF4-FFF2-40B4-BE49-F238E27FC236}">
                <a16:creationId xmlns:a16="http://schemas.microsoft.com/office/drawing/2014/main" id="{20314AD0-92A1-4878-BF9D-42F7F3F4255D}"/>
              </a:ext>
            </a:extLst>
          </p:cNvPr>
          <p:cNvGraphicFramePr>
            <a:graphicFrameLocks noChangeAspect="1"/>
          </p:cNvGraphicFramePr>
          <p:nvPr>
            <p:extLst>
              <p:ext uri="{D42A27DB-BD31-4B8C-83A1-F6EECF244321}">
                <p14:modId xmlns:p14="http://schemas.microsoft.com/office/powerpoint/2010/main" val="1058007832"/>
              </p:ext>
            </p:extLst>
          </p:nvPr>
        </p:nvGraphicFramePr>
        <p:xfrm>
          <a:off x="1428301" y="2675483"/>
          <a:ext cx="2630735" cy="1374088"/>
        </p:xfrm>
        <a:graphic>
          <a:graphicData uri="http://schemas.openxmlformats.org/presentationml/2006/ole">
            <mc:AlternateContent xmlns:mc="http://schemas.openxmlformats.org/markup-compatibility/2006">
              <mc:Choice xmlns:v="urn:schemas-microsoft-com:vml" Requires="v">
                <p:oleObj spid="_x0000_s3854" name="公式" r:id="rId3" imgW="850680" imgH="444240" progId="Equation.3">
                  <p:embed/>
                </p:oleObj>
              </mc:Choice>
              <mc:Fallback>
                <p:oleObj name="公式" r:id="rId3" imgW="850680" imgH="444240" progId="Equation.3">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301" y="2675483"/>
                        <a:ext cx="2630735" cy="1374088"/>
                      </a:xfrm>
                      <a:prstGeom prst="rect">
                        <a:avLst/>
                      </a:prstGeom>
                      <a:noFill/>
                    </p:spPr>
                  </p:pic>
                </p:oleObj>
              </mc:Fallback>
            </mc:AlternateContent>
          </a:graphicData>
        </a:graphic>
      </p:graphicFrame>
      <p:pic>
        <p:nvPicPr>
          <p:cNvPr id="10" name="图片 9">
            <a:extLst>
              <a:ext uri="{FF2B5EF4-FFF2-40B4-BE49-F238E27FC236}">
                <a16:creationId xmlns:a16="http://schemas.microsoft.com/office/drawing/2014/main" id="{B4451FD9-BAE0-4B9E-96C7-426F987886F7}"/>
              </a:ext>
            </a:extLst>
          </p:cNvPr>
          <p:cNvPicPr>
            <a:picLocks noChangeAspect="1"/>
          </p:cNvPicPr>
          <p:nvPr/>
        </p:nvPicPr>
        <p:blipFill>
          <a:blip r:embed="rId5"/>
          <a:stretch>
            <a:fillRect/>
          </a:stretch>
        </p:blipFill>
        <p:spPr>
          <a:xfrm>
            <a:off x="6232045" y="2627010"/>
            <a:ext cx="4979001" cy="1246900"/>
          </a:xfrm>
          <a:prstGeom prst="rect">
            <a:avLst/>
          </a:prstGeom>
        </p:spPr>
      </p:pic>
      <p:sp>
        <p:nvSpPr>
          <p:cNvPr id="11" name="箭头: 虚尾 10">
            <a:extLst>
              <a:ext uri="{FF2B5EF4-FFF2-40B4-BE49-F238E27FC236}">
                <a16:creationId xmlns:a16="http://schemas.microsoft.com/office/drawing/2014/main" id="{8573A2F7-0B13-45EB-89ED-456F92A40651}"/>
              </a:ext>
            </a:extLst>
          </p:cNvPr>
          <p:cNvSpPr/>
          <p:nvPr/>
        </p:nvSpPr>
        <p:spPr>
          <a:xfrm>
            <a:off x="4694177" y="2963214"/>
            <a:ext cx="1392966" cy="525099"/>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文本框 14">
            <a:extLst>
              <a:ext uri="{FF2B5EF4-FFF2-40B4-BE49-F238E27FC236}">
                <a16:creationId xmlns:a16="http://schemas.microsoft.com/office/drawing/2014/main" id="{0CDE054E-9DF7-4A0B-98A4-3ABA24F86892}"/>
              </a:ext>
            </a:extLst>
          </p:cNvPr>
          <p:cNvSpPr txBox="1"/>
          <p:nvPr/>
        </p:nvSpPr>
        <p:spPr>
          <a:xfrm>
            <a:off x="7173579" y="4720386"/>
            <a:ext cx="3022300" cy="523220"/>
          </a:xfrm>
          <a:prstGeom prst="rect">
            <a:avLst/>
          </a:prstGeom>
          <a:noFill/>
        </p:spPr>
        <p:txBody>
          <a:bodyPr wrap="square">
            <a:spAutoFit/>
          </a:bodyPr>
          <a:lstStyle/>
          <a:p>
            <a:r>
              <a:rPr lang="en-US" sz="2800" b="1" dirty="0">
                <a:solidFill>
                  <a:srgbClr val="0070C0"/>
                </a:solidFill>
                <a:effectLst/>
                <a:latin typeface="Microsoft YaHei" panose="020B0503020204020204" pitchFamily="34" charset="-122"/>
                <a:ea typeface="Microsoft YaHei" panose="020B0503020204020204" pitchFamily="34" charset="-122"/>
              </a:rPr>
              <a:t>equal weight</a:t>
            </a:r>
            <a:endParaRPr lang="en-US" sz="2800" b="1" dirty="0">
              <a:solidFill>
                <a:srgbClr val="0070C0"/>
              </a:solidFill>
              <a:latin typeface="Microsoft YaHei" panose="020B0503020204020204" pitchFamily="34" charset="-122"/>
              <a:ea typeface="Microsoft YaHei" panose="020B0503020204020204" pitchFamily="34" charset="-122"/>
            </a:endParaRPr>
          </a:p>
        </p:txBody>
      </p:sp>
      <p:cxnSp>
        <p:nvCxnSpPr>
          <p:cNvPr id="9" name="Straight Arrow Connector 8">
            <a:extLst>
              <a:ext uri="{FF2B5EF4-FFF2-40B4-BE49-F238E27FC236}">
                <a16:creationId xmlns:a16="http://schemas.microsoft.com/office/drawing/2014/main" id="{9227971C-5942-1F42-9E6C-24550E886FB5}"/>
              </a:ext>
            </a:extLst>
          </p:cNvPr>
          <p:cNvCxnSpPr>
            <a:cxnSpLocks/>
          </p:cNvCxnSpPr>
          <p:nvPr/>
        </p:nvCxnSpPr>
        <p:spPr>
          <a:xfrm>
            <a:off x="8042788" y="3844414"/>
            <a:ext cx="0" cy="855405"/>
          </a:xfrm>
          <a:prstGeom prst="straightConnector1">
            <a:avLst/>
          </a:prstGeom>
          <a:ln w="28575">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346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Estimate running time</a:t>
            </a:r>
            <a:endParaRPr lang="zh-CN" altLang="en-US" dirty="0"/>
          </a:p>
        </p:txBody>
      </p:sp>
      <p:graphicFrame>
        <p:nvGraphicFramePr>
          <p:cNvPr id="5" name="Object 2">
            <a:extLst>
              <a:ext uri="{FF2B5EF4-FFF2-40B4-BE49-F238E27FC236}">
                <a16:creationId xmlns:a16="http://schemas.microsoft.com/office/drawing/2014/main" id="{A8485C47-DA5A-4D5B-9165-1F2AEFFAF2BA}"/>
              </a:ext>
            </a:extLst>
          </p:cNvPr>
          <p:cNvGraphicFramePr>
            <a:graphicFrameLocks noChangeAspect="1"/>
          </p:cNvGraphicFramePr>
          <p:nvPr>
            <p:extLst>
              <p:ext uri="{D42A27DB-BD31-4B8C-83A1-F6EECF244321}">
                <p14:modId xmlns:p14="http://schemas.microsoft.com/office/powerpoint/2010/main" val="1594537976"/>
              </p:ext>
            </p:extLst>
          </p:nvPr>
        </p:nvGraphicFramePr>
        <p:xfrm>
          <a:off x="3906913" y="2648629"/>
          <a:ext cx="4327354" cy="741831"/>
        </p:xfrm>
        <a:graphic>
          <a:graphicData uri="http://schemas.openxmlformats.org/presentationml/2006/ole">
            <mc:AlternateContent xmlns:mc="http://schemas.openxmlformats.org/markup-compatibility/2006">
              <mc:Choice xmlns:v="urn:schemas-microsoft-com:vml" Requires="v">
                <p:oleObj spid="_x0000_s4242" name="公式" r:id="rId3" imgW="1333440" imgH="228600" progId="Equation.3">
                  <p:embed/>
                </p:oleObj>
              </mc:Choice>
              <mc:Fallback>
                <p:oleObj name="公式" r:id="rId3" imgW="1333440" imgH="228600" progId="Equation.3">
                  <p:embed/>
                  <p:pic>
                    <p:nvPicPr>
                      <p:cNvPr id="5" name="Object 2">
                        <a:extLst>
                          <a:ext uri="{FF2B5EF4-FFF2-40B4-BE49-F238E27FC236}">
                            <a16:creationId xmlns:a16="http://schemas.microsoft.com/office/drawing/2014/main" id="{A8485C47-DA5A-4D5B-9165-1F2AEFFAF2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6913" y="2648629"/>
                        <a:ext cx="4327354" cy="741831"/>
                      </a:xfrm>
                      <a:prstGeom prst="rect">
                        <a:avLst/>
                      </a:prstGeom>
                      <a:noFill/>
                    </p:spPr>
                  </p:pic>
                </p:oleObj>
              </mc:Fallback>
            </mc:AlternateContent>
          </a:graphicData>
        </a:graphic>
      </p:graphicFrame>
      <p:graphicFrame>
        <p:nvGraphicFramePr>
          <p:cNvPr id="6" name="Object 3">
            <a:extLst>
              <a:ext uri="{FF2B5EF4-FFF2-40B4-BE49-F238E27FC236}">
                <a16:creationId xmlns:a16="http://schemas.microsoft.com/office/drawing/2014/main" id="{9DB35D71-FC35-488F-A852-66F0B4EF2C1D}"/>
              </a:ext>
            </a:extLst>
          </p:cNvPr>
          <p:cNvGraphicFramePr>
            <a:graphicFrameLocks noChangeAspect="1"/>
          </p:cNvGraphicFramePr>
          <p:nvPr>
            <p:extLst>
              <p:ext uri="{D42A27DB-BD31-4B8C-83A1-F6EECF244321}">
                <p14:modId xmlns:p14="http://schemas.microsoft.com/office/powerpoint/2010/main" val="94419982"/>
              </p:ext>
            </p:extLst>
          </p:nvPr>
        </p:nvGraphicFramePr>
        <p:xfrm>
          <a:off x="2929391" y="3625290"/>
          <a:ext cx="6662242" cy="651741"/>
        </p:xfrm>
        <a:graphic>
          <a:graphicData uri="http://schemas.openxmlformats.org/presentationml/2006/ole">
            <mc:AlternateContent xmlns:mc="http://schemas.openxmlformats.org/markup-compatibility/2006">
              <mc:Choice xmlns:v="urn:schemas-microsoft-com:vml" Requires="v">
                <p:oleObj spid="_x0000_s4243" name="公式" r:id="rId5" imgW="2336760" imgH="228600" progId="Equation.3">
                  <p:embed/>
                </p:oleObj>
              </mc:Choice>
              <mc:Fallback>
                <p:oleObj name="公式" r:id="rId5" imgW="2336760" imgH="228600" progId="Equation.3">
                  <p:embed/>
                  <p:pic>
                    <p:nvPicPr>
                      <p:cNvPr id="6" name="Object 3">
                        <a:extLst>
                          <a:ext uri="{FF2B5EF4-FFF2-40B4-BE49-F238E27FC236}">
                            <a16:creationId xmlns:a16="http://schemas.microsoft.com/office/drawing/2014/main" id="{9DB35D71-FC35-488F-A852-66F0B4EF2C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9391" y="3625290"/>
                        <a:ext cx="6662242" cy="651741"/>
                      </a:xfrm>
                      <a:prstGeom prst="rect">
                        <a:avLst/>
                      </a:prstGeom>
                      <a:noFill/>
                    </p:spPr>
                  </p:pic>
                </p:oleObj>
              </mc:Fallback>
            </mc:AlternateContent>
          </a:graphicData>
        </a:graphic>
      </p:graphicFrame>
      <p:pic>
        <p:nvPicPr>
          <p:cNvPr id="20" name="图片 19">
            <a:extLst>
              <a:ext uri="{FF2B5EF4-FFF2-40B4-BE49-F238E27FC236}">
                <a16:creationId xmlns:a16="http://schemas.microsoft.com/office/drawing/2014/main" id="{E1D5ECD3-2154-4A74-ACAB-0BC0595C3BE9}"/>
              </a:ext>
            </a:extLst>
          </p:cNvPr>
          <p:cNvPicPr>
            <a:picLocks noChangeAspect="1"/>
          </p:cNvPicPr>
          <p:nvPr/>
        </p:nvPicPr>
        <p:blipFill>
          <a:blip r:embed="rId7"/>
          <a:stretch>
            <a:fillRect/>
          </a:stretch>
        </p:blipFill>
        <p:spPr>
          <a:xfrm>
            <a:off x="363795" y="5445187"/>
            <a:ext cx="11700387" cy="652335"/>
          </a:xfrm>
          <a:prstGeom prst="rect">
            <a:avLst/>
          </a:prstGeom>
        </p:spPr>
      </p:pic>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2B94B72E-26CC-4170-930A-1F68D376E06E}"/>
                  </a:ext>
                </a:extLst>
              </p:cNvPr>
              <p:cNvSpPr txBox="1"/>
              <p:nvPr/>
            </p:nvSpPr>
            <p:spPr>
              <a:xfrm>
                <a:off x="196001" y="4691138"/>
                <a:ext cx="2183406"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chemeClr val="tx1"/>
                          </a:solidFill>
                          <a:latin typeface="Cambria Math" panose="02040503050406030204" pitchFamily="18" charset="0"/>
                        </a:rPr>
                        <m:t>𝜶</m:t>
                      </m:r>
                      <m:r>
                        <a:rPr lang="en-US" altLang="zh-CN" sz="3200" b="1" i="1" smtClean="0">
                          <a:solidFill>
                            <a:schemeClr val="tx1"/>
                          </a:solidFill>
                          <a:latin typeface="Cambria Math" panose="02040503050406030204" pitchFamily="18" charset="0"/>
                        </a:rPr>
                        <m:t>=</m:t>
                      </m:r>
                      <m:r>
                        <a:rPr lang="en-US" altLang="zh-CN" sz="3200" b="1" i="1" smtClean="0">
                          <a:solidFill>
                            <a:schemeClr val="tx1"/>
                          </a:solidFill>
                          <a:latin typeface="Cambria Math" panose="02040503050406030204" pitchFamily="18" charset="0"/>
                        </a:rPr>
                        <m:t>𝟎</m:t>
                      </m:r>
                      <m:r>
                        <a:rPr lang="en-US" altLang="zh-CN" sz="3200" b="1" i="1" smtClean="0">
                          <a:solidFill>
                            <a:schemeClr val="tx1"/>
                          </a:solidFill>
                          <a:latin typeface="Cambria Math" panose="02040503050406030204" pitchFamily="18" charset="0"/>
                        </a:rPr>
                        <m:t>.</m:t>
                      </m:r>
                      <m:r>
                        <a:rPr lang="en-US" altLang="zh-CN" sz="3200" b="1" i="1" smtClean="0">
                          <a:solidFill>
                            <a:schemeClr val="tx1"/>
                          </a:solidFill>
                          <a:latin typeface="Cambria Math" panose="02040503050406030204" pitchFamily="18" charset="0"/>
                        </a:rPr>
                        <m:t>𝟖</m:t>
                      </m:r>
                    </m:oMath>
                  </m:oMathPara>
                </a14:m>
                <a:endParaRPr lang="en-US" sz="3200" dirty="0">
                  <a:solidFill>
                    <a:schemeClr val="tx1"/>
                  </a:solidFill>
                </a:endParaRPr>
              </a:p>
            </p:txBody>
          </p:sp>
        </mc:Choice>
        <mc:Fallback xmlns="">
          <p:sp>
            <p:nvSpPr>
              <p:cNvPr id="22" name="文本框 21">
                <a:extLst>
                  <a:ext uri="{FF2B5EF4-FFF2-40B4-BE49-F238E27FC236}">
                    <a16:creationId xmlns:a16="http://schemas.microsoft.com/office/drawing/2014/main" id="{2B94B72E-26CC-4170-930A-1F68D376E06E}"/>
                  </a:ext>
                </a:extLst>
              </p:cNvPr>
              <p:cNvSpPr txBox="1">
                <a:spLocks noRot="1" noChangeAspect="1" noMove="1" noResize="1" noEditPoints="1" noAdjustHandles="1" noChangeArrowheads="1" noChangeShapeType="1" noTextEdit="1"/>
              </p:cNvSpPr>
              <p:nvPr/>
            </p:nvSpPr>
            <p:spPr>
              <a:xfrm>
                <a:off x="196001" y="4691138"/>
                <a:ext cx="2183406" cy="584775"/>
              </a:xfrm>
              <a:prstGeom prst="rect">
                <a:avLst/>
              </a:prstGeom>
              <a:blipFill>
                <a:blip r:embed="rId8"/>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81DAD21-0D47-7948-B876-4DA8F9A1E9E3}"/>
                  </a:ext>
                </a:extLst>
              </p:cNvPr>
              <p:cNvSpPr txBox="1"/>
              <p:nvPr/>
            </p:nvSpPr>
            <p:spPr>
              <a:xfrm>
                <a:off x="766914" y="993508"/>
                <a:ext cx="10687665" cy="1384995"/>
              </a:xfrm>
              <a:prstGeom prst="rect">
                <a:avLst/>
              </a:prstGeom>
              <a:noFill/>
            </p:spPr>
            <p:txBody>
              <a:bodyPr wrap="square">
                <a:spAutoFit/>
              </a:bodyPr>
              <a:lstStyle/>
              <a:p>
                <a:pPr marL="171450" indent="-171450" algn="just" defTabSz="685800">
                  <a:spcBef>
                    <a:spcPts val="750"/>
                  </a:spcBef>
                  <a:buFont typeface="Wingdings" panose="05000000000000000000" pitchFamily="2" charset="2"/>
                  <a:buChar char="q"/>
                </a:pPr>
                <a:r>
                  <a:rPr lang="en-US" altLang="zh-CN" sz="2800" b="1" dirty="0">
                    <a:latin typeface="Microsoft YaHei" panose="020B0503020204020204" pitchFamily="34" charset="-122"/>
                    <a:ea typeface="Microsoft YaHei" panose="020B0503020204020204" pitchFamily="34" charset="-122"/>
                    <a:cs typeface="Arial" panose="020B0604020202020204" pitchFamily="34" charset="0"/>
                  </a:rPr>
                  <a:t>Exponential averaging</a:t>
                </a:r>
                <a:r>
                  <a:rPr lang="zh-CN" altLang="en-US" sz="2800" b="1" dirty="0">
                    <a:latin typeface="Microsoft YaHei" panose="020B0503020204020204" pitchFamily="34" charset="-122"/>
                    <a:ea typeface="Microsoft YaHei" panose="020B0503020204020204" pitchFamily="34" charset="-122"/>
                    <a:cs typeface="Arial" panose="020B0604020202020204" pitchFamily="34" charset="0"/>
                  </a:rPr>
                  <a:t>，</a:t>
                </a:r>
                <a14:m>
                  <m:oMath xmlns:m="http://schemas.openxmlformats.org/officeDocument/2006/math">
                    <m:r>
                      <a:rPr lang="en-US" altLang="zh-CN" sz="2800" b="1">
                        <a:latin typeface="Cambria Math" panose="02040503050406030204" pitchFamily="18" charset="0"/>
                        <a:ea typeface="Microsoft YaHei" panose="020B0503020204020204" pitchFamily="34" charset="-122"/>
                        <a:cs typeface="Arial" panose="020B0604020202020204" pitchFamily="34" charset="0"/>
                      </a:rPr>
                      <m:t>𝜶</m:t>
                    </m:r>
                    <m:r>
                      <a:rPr lang="en-US" altLang="zh-CN" sz="2800" b="1">
                        <a:latin typeface="Cambria Math" panose="02040503050406030204" pitchFamily="18" charset="0"/>
                        <a:ea typeface="Microsoft YaHei" panose="020B0503020204020204" pitchFamily="34" charset="-122"/>
                        <a:cs typeface="Arial" panose="020B0604020202020204" pitchFamily="34" charset="0"/>
                      </a:rPr>
                      <m:t>∈(</m:t>
                    </m:r>
                    <m:r>
                      <a:rPr lang="en-US" altLang="zh-CN" sz="2800" b="1">
                        <a:latin typeface="Cambria Math" panose="02040503050406030204" pitchFamily="18" charset="0"/>
                        <a:ea typeface="Microsoft YaHei" panose="020B0503020204020204" pitchFamily="34" charset="-122"/>
                        <a:cs typeface="Arial" panose="020B0604020202020204" pitchFamily="34" charset="0"/>
                      </a:rPr>
                      <m:t>𝟎</m:t>
                    </m:r>
                    <m:r>
                      <a:rPr lang="en-US" altLang="zh-CN" sz="2800" b="1">
                        <a:latin typeface="Cambria Math" panose="02040503050406030204" pitchFamily="18" charset="0"/>
                        <a:ea typeface="Microsoft YaHei" panose="020B0503020204020204" pitchFamily="34" charset="-122"/>
                        <a:cs typeface="Arial" panose="020B0604020202020204" pitchFamily="34" charset="0"/>
                      </a:rPr>
                      <m:t>,</m:t>
                    </m:r>
                    <m:r>
                      <a:rPr lang="en-US" altLang="zh-CN" sz="2800" b="1">
                        <a:latin typeface="Cambria Math" panose="02040503050406030204" pitchFamily="18" charset="0"/>
                        <a:ea typeface="Microsoft YaHei" panose="020B0503020204020204" pitchFamily="34" charset="-122"/>
                        <a:cs typeface="Arial" panose="020B0604020202020204" pitchFamily="34" charset="0"/>
                      </a:rPr>
                      <m:t>𝟏</m:t>
                    </m:r>
                    <m:r>
                      <a:rPr lang="en-US" altLang="zh-CN" sz="2800" b="1">
                        <a:latin typeface="Cambria Math" panose="02040503050406030204" pitchFamily="18" charset="0"/>
                        <a:ea typeface="Microsoft YaHei" panose="020B0503020204020204" pitchFamily="34" charset="-122"/>
                        <a:cs typeface="Arial" panose="020B0604020202020204" pitchFamily="34" charset="0"/>
                      </a:rPr>
                      <m:t>)</m:t>
                    </m:r>
                  </m:oMath>
                </a14:m>
                <a:endParaRPr lang="en-US" altLang="zh-CN" sz="2800" b="1" dirty="0">
                  <a:latin typeface="Microsoft YaHei" panose="020B0503020204020204" pitchFamily="34" charset="-122"/>
                  <a:ea typeface="Microsoft YaHei" panose="020B0503020204020204" pitchFamily="34" charset="-122"/>
                  <a:cs typeface="Arial" panose="020B0604020202020204" pitchFamily="34" charset="0"/>
                </a:endParaRPr>
              </a:p>
              <a:p>
                <a:pPr lvl="1"/>
                <a:r>
                  <a:rPr lang="en-US" altLang="zh-CN" sz="2800" dirty="0"/>
                  <a:t>give </a:t>
                </a:r>
                <a:r>
                  <a:rPr lang="en-US" altLang="zh-CN" sz="2800" dirty="0">
                    <a:solidFill>
                      <a:srgbClr val="FF0000"/>
                    </a:solidFill>
                  </a:rPr>
                  <a:t>greater weight to more recent instances</a:t>
                </a:r>
                <a:r>
                  <a:rPr lang="en-US" altLang="zh-CN" sz="2800" dirty="0"/>
                  <a:t>, because these are more likely to reflect future behavior.</a:t>
                </a:r>
              </a:p>
            </p:txBody>
          </p:sp>
        </mc:Choice>
        <mc:Fallback xmlns="">
          <p:sp>
            <p:nvSpPr>
              <p:cNvPr id="17" name="TextBox 16">
                <a:extLst>
                  <a:ext uri="{FF2B5EF4-FFF2-40B4-BE49-F238E27FC236}">
                    <a16:creationId xmlns:a16="http://schemas.microsoft.com/office/drawing/2014/main" id="{A81DAD21-0D47-7948-B876-4DA8F9A1E9E3}"/>
                  </a:ext>
                </a:extLst>
              </p:cNvPr>
              <p:cNvSpPr txBox="1">
                <a:spLocks noRot="1" noChangeAspect="1" noMove="1" noResize="1" noEditPoints="1" noAdjustHandles="1" noChangeArrowheads="1" noChangeShapeType="1" noTextEdit="1"/>
              </p:cNvSpPr>
              <p:nvPr/>
            </p:nvSpPr>
            <p:spPr>
              <a:xfrm>
                <a:off x="766914" y="993508"/>
                <a:ext cx="10687665" cy="1384995"/>
              </a:xfrm>
              <a:prstGeom prst="rect">
                <a:avLst/>
              </a:prstGeom>
              <a:blipFill>
                <a:blip r:embed="rId9"/>
                <a:stretch>
                  <a:fillRect l="-1069" t="-5455" b="-10909"/>
                </a:stretch>
              </a:blipFill>
            </p:spPr>
            <p:txBody>
              <a:bodyPr/>
              <a:lstStyle/>
              <a:p>
                <a:r>
                  <a:rPr lang="en-CN">
                    <a:noFill/>
                  </a:rPr>
                  <a:t> </a:t>
                </a:r>
              </a:p>
            </p:txBody>
          </p:sp>
        </mc:Fallback>
      </mc:AlternateContent>
    </p:spTree>
    <p:extLst>
      <p:ext uri="{BB962C8B-B14F-4D97-AF65-F5344CB8AC3E}">
        <p14:creationId xmlns:p14="http://schemas.microsoft.com/office/powerpoint/2010/main" val="40615161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Exponential Smoothing Coefficients</a:t>
            </a:r>
            <a:endParaRPr lang="zh-CN" altLang="en-US" dirty="0"/>
          </a:p>
        </p:txBody>
      </p:sp>
      <p:pic>
        <p:nvPicPr>
          <p:cNvPr id="4" name="Content Placeholder 3" descr="Fig09_08.gif">
            <a:extLst>
              <a:ext uri="{FF2B5EF4-FFF2-40B4-BE49-F238E27FC236}">
                <a16:creationId xmlns:a16="http://schemas.microsoft.com/office/drawing/2014/main" id="{A376F9ED-B991-4DD7-8FF3-1CC3D6B59354}"/>
              </a:ext>
            </a:extLst>
          </p:cNvPr>
          <p:cNvPicPr>
            <a:picLocks noGrp="1" noChangeAspect="1"/>
          </p:cNvPicPr>
          <p:nvPr>
            <p:ph idx="1"/>
          </p:nvPr>
        </p:nvPicPr>
        <p:blipFill>
          <a:blip r:embed="rId2"/>
          <a:stretch>
            <a:fillRect/>
          </a:stretch>
        </p:blipFill>
        <p:spPr>
          <a:xfrm>
            <a:off x="2301759" y="824698"/>
            <a:ext cx="7166707" cy="5430862"/>
          </a:xfrm>
        </p:spPr>
      </p:pic>
    </p:spTree>
    <p:extLst>
      <p:ext uri="{BB962C8B-B14F-4D97-AF65-F5344CB8AC3E}">
        <p14:creationId xmlns:p14="http://schemas.microsoft.com/office/powerpoint/2010/main" val="27851169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Use Of Exponential Averaging</a:t>
            </a:r>
            <a:endParaRPr lang="zh-CN" altLang="en-US" dirty="0"/>
          </a:p>
        </p:txBody>
      </p:sp>
      <p:pic>
        <p:nvPicPr>
          <p:cNvPr id="4" name="内容占位符 3">
            <a:extLst>
              <a:ext uri="{FF2B5EF4-FFF2-40B4-BE49-F238E27FC236}">
                <a16:creationId xmlns:a16="http://schemas.microsoft.com/office/drawing/2014/main" id="{D3027F12-77B4-499D-9829-F388751BC97B}"/>
              </a:ext>
            </a:extLst>
          </p:cNvPr>
          <p:cNvPicPr>
            <a:picLocks noGrp="1" noChangeAspect="1"/>
          </p:cNvPicPr>
          <p:nvPr>
            <p:ph idx="1"/>
          </p:nvPr>
        </p:nvPicPr>
        <p:blipFill>
          <a:blip r:embed="rId2"/>
          <a:stretch>
            <a:fillRect/>
          </a:stretch>
        </p:blipFill>
        <p:spPr>
          <a:xfrm>
            <a:off x="2325297" y="871506"/>
            <a:ext cx="7919916" cy="5371713"/>
          </a:xfrm>
          <a:prstGeom prst="rect">
            <a:avLst/>
          </a:prstGeom>
        </p:spPr>
      </p:pic>
    </p:spTree>
    <p:extLst>
      <p:ext uri="{BB962C8B-B14F-4D97-AF65-F5344CB8AC3E}">
        <p14:creationId xmlns:p14="http://schemas.microsoft.com/office/powerpoint/2010/main" val="41170419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Use Of Exponential Averaging</a:t>
            </a:r>
            <a:endParaRPr lang="zh-CN" altLang="en-US" dirty="0"/>
          </a:p>
        </p:txBody>
      </p:sp>
      <p:pic>
        <p:nvPicPr>
          <p:cNvPr id="4" name="Content Placeholder 3" descr="Fig09_09b.gif">
            <a:extLst>
              <a:ext uri="{FF2B5EF4-FFF2-40B4-BE49-F238E27FC236}">
                <a16:creationId xmlns:a16="http://schemas.microsoft.com/office/drawing/2014/main" id="{EB2DF448-96A6-43E1-B0EB-791E2195D829}"/>
              </a:ext>
            </a:extLst>
          </p:cNvPr>
          <p:cNvPicPr>
            <a:picLocks noGrp="1" noChangeAspect="1"/>
          </p:cNvPicPr>
          <p:nvPr>
            <p:ph idx="1"/>
          </p:nvPr>
        </p:nvPicPr>
        <p:blipFill>
          <a:blip r:embed="rId2"/>
          <a:stretch>
            <a:fillRect/>
          </a:stretch>
        </p:blipFill>
        <p:spPr>
          <a:xfrm>
            <a:off x="1954161" y="935754"/>
            <a:ext cx="7907594" cy="5331317"/>
          </a:xfrm>
        </p:spPr>
      </p:pic>
    </p:spTree>
    <p:extLst>
      <p:ext uri="{BB962C8B-B14F-4D97-AF65-F5344CB8AC3E}">
        <p14:creationId xmlns:p14="http://schemas.microsoft.com/office/powerpoint/2010/main" val="37619765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Shortest Remaining Time (SRT)</a:t>
            </a:r>
            <a:endParaRPr lang="zh-CN" altLang="en-US" dirty="0"/>
          </a:p>
        </p:txBody>
      </p:sp>
      <p:sp>
        <p:nvSpPr>
          <p:cNvPr id="3" name="内容占位符 2">
            <a:extLst>
              <a:ext uri="{FF2B5EF4-FFF2-40B4-BE49-F238E27FC236}">
                <a16:creationId xmlns:a16="http://schemas.microsoft.com/office/drawing/2014/main" id="{A5AAF1E7-7DFD-420F-85D5-4414E74DCF35}"/>
              </a:ext>
            </a:extLst>
          </p:cNvPr>
          <p:cNvSpPr>
            <a:spLocks noGrp="1"/>
          </p:cNvSpPr>
          <p:nvPr>
            <p:ph idx="1"/>
          </p:nvPr>
        </p:nvSpPr>
        <p:spPr/>
        <p:txBody>
          <a:bodyPr/>
          <a:lstStyle/>
          <a:p>
            <a:r>
              <a:rPr lang="en-US" altLang="zh-CN" dirty="0">
                <a:solidFill>
                  <a:srgbClr val="FF0000"/>
                </a:solidFill>
              </a:rPr>
              <a:t>Preemptive </a:t>
            </a:r>
            <a:r>
              <a:rPr lang="en-US" altLang="zh-CN" dirty="0"/>
              <a:t>version of SPN</a:t>
            </a:r>
          </a:p>
          <a:p>
            <a:endParaRPr lang="en-US" altLang="zh-CN" dirty="0"/>
          </a:p>
          <a:p>
            <a:r>
              <a:rPr lang="en-US" altLang="zh-CN" dirty="0"/>
              <a:t>Chooses the process that has the </a:t>
            </a:r>
            <a:r>
              <a:rPr lang="en-US" altLang="zh-CN" dirty="0">
                <a:solidFill>
                  <a:srgbClr val="FF0000"/>
                </a:solidFill>
              </a:rPr>
              <a:t>shortest expected remaining </a:t>
            </a:r>
            <a:r>
              <a:rPr lang="en-US" altLang="zh-CN" dirty="0"/>
              <a:t>processing time</a:t>
            </a:r>
          </a:p>
          <a:p>
            <a:pPr lvl="1"/>
            <a:r>
              <a:rPr lang="en-US" sz="2400" dirty="0">
                <a:solidFill>
                  <a:srgbClr val="231F20"/>
                </a:solidFill>
                <a:effectLst/>
                <a:latin typeface="Microsoft YaHei UI" panose="020B0503020204020204" pitchFamily="34" charset="-122"/>
                <a:ea typeface="Microsoft YaHei UI" panose="020B0503020204020204" pitchFamily="34" charset="-122"/>
              </a:rPr>
              <a:t>have </a:t>
            </a:r>
            <a:r>
              <a:rPr lang="en-US" altLang="zh-CN" sz="2400" dirty="0">
                <a:solidFill>
                  <a:srgbClr val="231F20"/>
                </a:solidFill>
                <a:effectLst/>
                <a:latin typeface="Microsoft YaHei UI" panose="020B0503020204020204" pitchFamily="34" charset="-122"/>
                <a:ea typeface="Microsoft YaHei UI" panose="020B0503020204020204" pitchFamily="34" charset="-122"/>
              </a:rPr>
              <a:t>to</a:t>
            </a:r>
            <a:r>
              <a:rPr lang="en-US" sz="2400" dirty="0">
                <a:solidFill>
                  <a:srgbClr val="231F20"/>
                </a:solidFill>
                <a:effectLst/>
                <a:latin typeface="Microsoft YaHei UI" panose="020B0503020204020204" pitchFamily="34" charset="-122"/>
                <a:ea typeface="Microsoft YaHei UI" panose="020B0503020204020204" pitchFamily="34" charset="-122"/>
              </a:rPr>
              <a:t> </a:t>
            </a:r>
            <a:r>
              <a:rPr lang="en-US" sz="2400" dirty="0">
                <a:solidFill>
                  <a:srgbClr val="FF0000"/>
                </a:solidFill>
                <a:effectLst/>
                <a:latin typeface="Microsoft YaHei UI" panose="020B0503020204020204" pitchFamily="34" charset="-122"/>
                <a:ea typeface="Microsoft YaHei UI" panose="020B0503020204020204" pitchFamily="34" charset="-122"/>
              </a:rPr>
              <a:t>estimate</a:t>
            </a:r>
            <a:r>
              <a:rPr lang="en-US" sz="2400" dirty="0">
                <a:solidFill>
                  <a:srgbClr val="231F20"/>
                </a:solidFill>
                <a:effectLst/>
                <a:latin typeface="Microsoft YaHei UI" panose="020B0503020204020204" pitchFamily="34" charset="-122"/>
                <a:ea typeface="Microsoft YaHei UI" panose="020B0503020204020204" pitchFamily="34" charset="-122"/>
              </a:rPr>
              <a:t> the processing time</a:t>
            </a:r>
            <a:endParaRPr lang="en-US" altLang="zh-CN" sz="3200" dirty="0">
              <a:latin typeface="Microsoft YaHei UI" panose="020B0503020204020204" pitchFamily="34" charset="-122"/>
              <a:ea typeface="Microsoft YaHei UI" panose="020B0503020204020204" pitchFamily="34" charset="-122"/>
            </a:endParaRPr>
          </a:p>
          <a:p>
            <a:pPr lvl="1"/>
            <a:r>
              <a:rPr lang="en-US" altLang="zh-CN" sz="2400" dirty="0"/>
              <a:t>service times must be </a:t>
            </a:r>
            <a:r>
              <a:rPr lang="en-US" altLang="zh-CN" sz="2400" dirty="0">
                <a:solidFill>
                  <a:srgbClr val="FF0000"/>
                </a:solidFill>
              </a:rPr>
              <a:t>recorded</a:t>
            </a:r>
            <a:r>
              <a:rPr lang="en-US" altLang="zh-CN" sz="2400" dirty="0"/>
              <a:t>, contributing to overhead</a:t>
            </a:r>
          </a:p>
          <a:p>
            <a:pPr lvl="1"/>
            <a:r>
              <a:rPr lang="en-US" altLang="zh-CN" sz="2400" dirty="0"/>
              <a:t>Risk of </a:t>
            </a:r>
            <a:r>
              <a:rPr lang="en-US" altLang="zh-CN" sz="2400" dirty="0">
                <a:solidFill>
                  <a:srgbClr val="FF0000"/>
                </a:solidFill>
              </a:rPr>
              <a:t>starvation</a:t>
            </a:r>
            <a:r>
              <a:rPr lang="en-US" altLang="zh-CN" sz="2400" dirty="0"/>
              <a:t> of </a:t>
            </a:r>
            <a:r>
              <a:rPr lang="en-US" altLang="zh-CN" sz="2400" dirty="0">
                <a:solidFill>
                  <a:srgbClr val="FF0000"/>
                </a:solidFill>
              </a:rPr>
              <a:t>longer</a:t>
            </a:r>
            <a:r>
              <a:rPr lang="en-US" altLang="zh-CN" sz="2400" dirty="0"/>
              <a:t> processes</a:t>
            </a:r>
          </a:p>
          <a:p>
            <a:endParaRPr lang="zh-CN" altLang="en-US" dirty="0"/>
          </a:p>
        </p:txBody>
      </p:sp>
    </p:spTree>
    <p:extLst>
      <p:ext uri="{BB962C8B-B14F-4D97-AF65-F5344CB8AC3E}">
        <p14:creationId xmlns:p14="http://schemas.microsoft.com/office/powerpoint/2010/main" val="34751570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Shortest Remaining Time (SRT)</a:t>
            </a:r>
            <a:endParaRPr lang="zh-CN" altLang="en-US" dirty="0"/>
          </a:p>
        </p:txBody>
      </p:sp>
      <p:pic>
        <p:nvPicPr>
          <p:cNvPr id="5" name="Picture 4" descr="Fig09_05d.gif">
            <a:extLst>
              <a:ext uri="{FF2B5EF4-FFF2-40B4-BE49-F238E27FC236}">
                <a16:creationId xmlns:a16="http://schemas.microsoft.com/office/drawing/2014/main" id="{B1F13AF0-C559-4362-AC5D-6EEFBC6EA495}"/>
              </a:ext>
            </a:extLst>
          </p:cNvPr>
          <p:cNvPicPr>
            <a:picLocks noChangeAspect="1"/>
          </p:cNvPicPr>
          <p:nvPr/>
        </p:nvPicPr>
        <p:blipFill>
          <a:blip r:embed="rId2"/>
          <a:stretch>
            <a:fillRect/>
          </a:stretch>
        </p:blipFill>
        <p:spPr>
          <a:xfrm>
            <a:off x="740860" y="2264931"/>
            <a:ext cx="10780798" cy="1667972"/>
          </a:xfrm>
          <a:prstGeom prst="rect">
            <a:avLst/>
          </a:prstGeom>
        </p:spPr>
      </p:pic>
    </p:spTree>
    <p:extLst>
      <p:ext uri="{BB962C8B-B14F-4D97-AF65-F5344CB8AC3E}">
        <p14:creationId xmlns:p14="http://schemas.microsoft.com/office/powerpoint/2010/main" val="29573487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Highest Response Ratio Next (HRRN)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5AAF1E7-7DFD-420F-85D5-4414E74DCF35}"/>
                  </a:ext>
                </a:extLst>
              </p:cNvPr>
              <p:cNvSpPr>
                <a:spLocks noGrp="1"/>
              </p:cNvSpPr>
              <p:nvPr>
                <p:ph idx="1"/>
              </p:nvPr>
            </p:nvSpPr>
            <p:spPr/>
            <p:txBody>
              <a:bodyPr/>
              <a:lstStyle/>
              <a:p>
                <a:r>
                  <a:rPr lang="en-US" altLang="zh-CN" dirty="0">
                    <a:solidFill>
                      <a:srgbClr val="FF0000"/>
                    </a:solidFill>
                  </a:rPr>
                  <a:t>Non-preemptive</a:t>
                </a:r>
                <a:r>
                  <a:rPr lang="zh-CN" altLang="en-US" dirty="0"/>
                  <a:t> </a:t>
                </a:r>
                <a:r>
                  <a:rPr lang="en-US" altLang="zh-CN" dirty="0"/>
                  <a:t>policy</a:t>
                </a:r>
              </a:p>
              <a:p>
                <a:r>
                  <a:rPr lang="en-US" altLang="zh-CN" dirty="0"/>
                  <a:t>Chooses next process with the </a:t>
                </a:r>
                <a:r>
                  <a:rPr lang="en-US" altLang="zh-CN" dirty="0">
                    <a:solidFill>
                      <a:srgbClr val="FF0000"/>
                    </a:solidFill>
                  </a:rPr>
                  <a:t>greatest ratio: max R=</a:t>
                </a:r>
                <a14:m>
                  <m:oMath xmlns:m="http://schemas.openxmlformats.org/officeDocument/2006/math">
                    <m:f>
                      <m:fPr>
                        <m:ctrlPr>
                          <a:rPr lang="en-US" altLang="zh-CN" b="1" i="1" smtClean="0">
                            <a:solidFill>
                              <a:srgbClr val="FF0000"/>
                            </a:solidFill>
                            <a:latin typeface="Cambria Math" panose="02040503050406030204" pitchFamily="18" charset="0"/>
                          </a:rPr>
                        </m:ctrlPr>
                      </m:fPr>
                      <m:num>
                        <m:r>
                          <a:rPr lang="en-US" altLang="zh-CN" b="1" i="1" smtClean="0">
                            <a:solidFill>
                              <a:srgbClr val="FF0000"/>
                            </a:solidFill>
                            <a:latin typeface="Cambria Math" panose="02040503050406030204" pitchFamily="18" charset="0"/>
                          </a:rPr>
                          <m:t>𝒘</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𝒔</m:t>
                        </m:r>
                      </m:num>
                      <m:den>
                        <m:r>
                          <a:rPr lang="en-US" altLang="zh-CN" b="1" i="1" smtClean="0">
                            <a:solidFill>
                              <a:srgbClr val="FF0000"/>
                            </a:solidFill>
                            <a:latin typeface="Cambria Math" panose="02040503050406030204" pitchFamily="18" charset="0"/>
                          </a:rPr>
                          <m:t>𝒔</m:t>
                        </m:r>
                      </m:den>
                    </m:f>
                    <m:r>
                      <a:rPr lang="en-US" altLang="zh-CN" b="1" i="0" smtClean="0">
                        <a:solidFill>
                          <a:srgbClr val="FF0000"/>
                        </a:solidFill>
                        <a:latin typeface="Cambria Math" panose="02040503050406030204" pitchFamily="18" charset="0"/>
                      </a:rPr>
                      <m:t>,</m:t>
                    </m:r>
                    <m:sSup>
                      <m:sSupPr>
                        <m:ctrlPr>
                          <a:rPr lang="en-US" altLang="zh-CN" b="1" i="1" smtClean="0">
                            <a:solidFill>
                              <a:srgbClr val="FF0000"/>
                            </a:solidFill>
                            <a:latin typeface="Cambria Math" panose="02040503050406030204" pitchFamily="18" charset="0"/>
                          </a:rPr>
                        </m:ctrlPr>
                      </m:sSupPr>
                      <m:e>
                        <m:r>
                          <a:rPr lang="en-US" altLang="zh-CN" b="1" i="0" smtClean="0">
                            <a:solidFill>
                              <a:srgbClr val="FF0000"/>
                            </a:solidFill>
                            <a:latin typeface="Cambria Math" panose="02040503050406030204" pitchFamily="18" charset="0"/>
                          </a:rPr>
                          <m:t>𝐑</m:t>
                        </m:r>
                      </m:e>
                      <m:sup>
                        <m:r>
                          <a:rPr lang="en-US" altLang="zh-CN" b="1" i="0" smtClean="0">
                            <a:solidFill>
                              <a:srgbClr val="FF0000"/>
                            </a:solidFill>
                            <a:latin typeface="Cambria Math" panose="02040503050406030204" pitchFamily="18" charset="0"/>
                          </a:rPr>
                          <m:t>𝐦𝐢𝐧</m:t>
                        </m:r>
                      </m:sup>
                    </m:sSup>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𝟏</m:t>
                    </m:r>
                  </m:oMath>
                </a14:m>
                <a:endParaRPr lang="en-US" altLang="zh-CN" dirty="0">
                  <a:solidFill>
                    <a:srgbClr val="FF0000"/>
                  </a:solidFill>
                </a:endParaRPr>
              </a:p>
              <a:p>
                <a:pPr lvl="1"/>
                <a:r>
                  <a:rPr lang="en-US" altLang="zh-CN" sz="2400" dirty="0">
                    <a:solidFill>
                      <a:srgbClr val="FF0000"/>
                    </a:solidFill>
                  </a:rPr>
                  <a:t>Accounts  for the age </a:t>
                </a:r>
                <a:r>
                  <a:rPr lang="en-US" altLang="zh-CN" sz="2400" dirty="0"/>
                  <a:t>of the process </a:t>
                </a:r>
              </a:p>
              <a:p>
                <a:pPr lvl="1"/>
                <a:r>
                  <a:rPr lang="en-US" altLang="zh-CN" sz="2400" dirty="0"/>
                  <a:t>Need to </a:t>
                </a:r>
                <a:r>
                  <a:rPr lang="en-US" altLang="zh-CN" sz="2400" dirty="0">
                    <a:solidFill>
                      <a:srgbClr val="FF0000"/>
                    </a:solidFill>
                  </a:rPr>
                  <a:t>estimated</a:t>
                </a:r>
                <a:r>
                  <a:rPr lang="en-US" altLang="zh-CN" sz="2400" dirty="0"/>
                  <a:t> the expected service time</a:t>
                </a:r>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r>
                  <a:rPr lang="en-US" altLang="zh-CN" dirty="0"/>
                  <a:t>While shorter jobs are favored, </a:t>
                </a:r>
                <a:r>
                  <a:rPr lang="en-US" altLang="zh-CN" dirty="0">
                    <a:solidFill>
                      <a:srgbClr val="FF0000"/>
                    </a:solidFill>
                  </a:rPr>
                  <a:t>aging without service increases the ratio</a:t>
                </a:r>
                <a:r>
                  <a:rPr lang="en-US" altLang="zh-CN" dirty="0"/>
                  <a:t> so that a longer process will eventually get past competing shorter jobs</a:t>
                </a:r>
              </a:p>
              <a:p>
                <a:endParaRPr lang="zh-CN" altLang="en-US" dirty="0"/>
              </a:p>
            </p:txBody>
          </p:sp>
        </mc:Choice>
        <mc:Fallback xmlns="">
          <p:sp>
            <p:nvSpPr>
              <p:cNvPr id="3" name="内容占位符 2">
                <a:extLst>
                  <a:ext uri="{FF2B5EF4-FFF2-40B4-BE49-F238E27FC236}">
                    <a16:creationId xmlns:a16="http://schemas.microsoft.com/office/drawing/2014/main" id="{A5AAF1E7-7DFD-420F-85D5-4414E74DCF35}"/>
                  </a:ext>
                </a:extLst>
              </p:cNvPr>
              <p:cNvSpPr>
                <a:spLocks noGrp="1" noRot="1" noChangeAspect="1" noMove="1" noResize="1" noEditPoints="1" noAdjustHandles="1" noChangeArrowheads="1" noChangeShapeType="1" noTextEdit="1"/>
              </p:cNvSpPr>
              <p:nvPr>
                <p:ph idx="1"/>
              </p:nvPr>
            </p:nvSpPr>
            <p:spPr>
              <a:blipFill>
                <a:blip r:embed="rId2"/>
                <a:stretch>
                  <a:fillRect l="-844" t="-980" r="-844"/>
                </a:stretch>
              </a:blipFill>
            </p:spPr>
            <p:txBody>
              <a:bodyPr/>
              <a:lstStyle/>
              <a:p>
                <a:r>
                  <a:rPr lang="en-CN">
                    <a:noFill/>
                  </a:rPr>
                  <a:t> </a:t>
                </a:r>
              </a:p>
            </p:txBody>
          </p:sp>
        </mc:Fallback>
      </mc:AlternateContent>
      <p:pic>
        <p:nvPicPr>
          <p:cNvPr id="7" name="Picture 3" descr="Ratio.gif">
            <a:extLst>
              <a:ext uri="{FF2B5EF4-FFF2-40B4-BE49-F238E27FC236}">
                <a16:creationId xmlns:a16="http://schemas.microsoft.com/office/drawing/2014/main" id="{66B43652-9BBE-4C60-A5EB-3ACFE26B1920}"/>
              </a:ext>
            </a:extLst>
          </p:cNvPr>
          <p:cNvPicPr>
            <a:picLocks noChangeAspect="1"/>
          </p:cNvPicPr>
          <p:nvPr/>
        </p:nvPicPr>
        <p:blipFill>
          <a:blip r:embed="rId3"/>
          <a:stretch>
            <a:fillRect/>
          </a:stretch>
        </p:blipFill>
        <p:spPr>
          <a:xfrm>
            <a:off x="1872602" y="3041168"/>
            <a:ext cx="7691756" cy="1078549"/>
          </a:xfrm>
          <a:prstGeom prst="rect">
            <a:avLst/>
          </a:prstGeom>
          <a:ln>
            <a:noFill/>
          </a:ln>
        </p:spPr>
      </p:pic>
    </p:spTree>
    <p:extLst>
      <p:ext uri="{BB962C8B-B14F-4D97-AF65-F5344CB8AC3E}">
        <p14:creationId xmlns:p14="http://schemas.microsoft.com/office/powerpoint/2010/main" val="18351283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Highest Response Ratio Next (HRRN)</a:t>
            </a:r>
            <a:endParaRPr lang="zh-CN" altLang="en-US" dirty="0"/>
          </a:p>
        </p:txBody>
      </p:sp>
      <p:pic>
        <p:nvPicPr>
          <p:cNvPr id="5" name="Picture 4" descr="Fig09_05e.gif">
            <a:extLst>
              <a:ext uri="{FF2B5EF4-FFF2-40B4-BE49-F238E27FC236}">
                <a16:creationId xmlns:a16="http://schemas.microsoft.com/office/drawing/2014/main" id="{95470C73-3ED1-4078-938D-740BDC73F675}"/>
              </a:ext>
            </a:extLst>
          </p:cNvPr>
          <p:cNvPicPr>
            <a:picLocks noChangeAspect="1"/>
          </p:cNvPicPr>
          <p:nvPr/>
        </p:nvPicPr>
        <p:blipFill>
          <a:blip r:embed="rId2"/>
          <a:stretch>
            <a:fillRect/>
          </a:stretch>
        </p:blipFill>
        <p:spPr>
          <a:xfrm>
            <a:off x="862020" y="2418739"/>
            <a:ext cx="10649931" cy="1809131"/>
          </a:xfrm>
          <a:prstGeom prst="rect">
            <a:avLst/>
          </a:prstGeom>
        </p:spPr>
      </p:pic>
      <p:sp>
        <p:nvSpPr>
          <p:cNvPr id="6" name="文本框 5">
            <a:extLst>
              <a:ext uri="{FF2B5EF4-FFF2-40B4-BE49-F238E27FC236}">
                <a16:creationId xmlns:a16="http://schemas.microsoft.com/office/drawing/2014/main" id="{40120CB7-4EDE-4772-ABAE-93B3764C1CBC}"/>
              </a:ext>
            </a:extLst>
          </p:cNvPr>
          <p:cNvSpPr txBox="1"/>
          <p:nvPr/>
        </p:nvSpPr>
        <p:spPr>
          <a:xfrm>
            <a:off x="6952022" y="1490904"/>
            <a:ext cx="2831075" cy="461665"/>
          </a:xfrm>
          <a:prstGeom prst="rect">
            <a:avLst/>
          </a:prstGeom>
          <a:noFill/>
        </p:spPr>
        <p:txBody>
          <a:bodyPr wrap="square" rtlCol="0">
            <a:spAutoFit/>
          </a:bodyPr>
          <a:lstStyle/>
          <a:p>
            <a:r>
              <a:rPr lang="en-US" sz="2400" b="1" dirty="0">
                <a:solidFill>
                  <a:srgbClr val="FF0000"/>
                </a:solidFill>
              </a:rPr>
              <a:t>Non-preemptive</a:t>
            </a:r>
          </a:p>
        </p:txBody>
      </p:sp>
    </p:spTree>
    <p:extLst>
      <p:ext uri="{BB962C8B-B14F-4D97-AF65-F5344CB8AC3E}">
        <p14:creationId xmlns:p14="http://schemas.microsoft.com/office/powerpoint/2010/main" val="32858116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Feedback Scheduling</a:t>
            </a:r>
            <a:endParaRPr lang="zh-CN" altLang="en-US" dirty="0"/>
          </a:p>
        </p:txBody>
      </p:sp>
      <p:pic>
        <p:nvPicPr>
          <p:cNvPr id="4" name="Content Placeholder 3" descr="Fig09_10.gif">
            <a:extLst>
              <a:ext uri="{FF2B5EF4-FFF2-40B4-BE49-F238E27FC236}">
                <a16:creationId xmlns:a16="http://schemas.microsoft.com/office/drawing/2014/main" id="{0A063D91-DC6B-454A-8427-ACC04E971E96}"/>
              </a:ext>
            </a:extLst>
          </p:cNvPr>
          <p:cNvPicPr>
            <a:picLocks noGrp="1" noChangeAspect="1"/>
          </p:cNvPicPr>
          <p:nvPr>
            <p:ph idx="1"/>
          </p:nvPr>
        </p:nvPicPr>
        <p:blipFill>
          <a:blip r:embed="rId3"/>
          <a:stretch>
            <a:fillRect/>
          </a:stretch>
        </p:blipFill>
        <p:spPr bwMode="auto">
          <a:xfrm>
            <a:off x="5653117" y="861039"/>
            <a:ext cx="5873964" cy="5313619"/>
          </a:xfrm>
          <a:prstGeom prst="rect">
            <a:avLst/>
          </a:prstGeom>
          <a:noFill/>
          <a:ln w="9525">
            <a:noFill/>
            <a:miter lim="800000"/>
            <a:headEnd/>
            <a:tailEnd/>
          </a:ln>
        </p:spPr>
      </p:pic>
      <p:sp>
        <p:nvSpPr>
          <p:cNvPr id="5" name="文本框 4">
            <a:extLst>
              <a:ext uri="{FF2B5EF4-FFF2-40B4-BE49-F238E27FC236}">
                <a16:creationId xmlns:a16="http://schemas.microsoft.com/office/drawing/2014/main" id="{CDBC61B0-638C-4919-8807-B17EF6E518AD}"/>
              </a:ext>
            </a:extLst>
          </p:cNvPr>
          <p:cNvSpPr txBox="1"/>
          <p:nvPr/>
        </p:nvSpPr>
        <p:spPr>
          <a:xfrm>
            <a:off x="513080" y="1070849"/>
            <a:ext cx="5081475" cy="4893647"/>
          </a:xfrm>
          <a:prstGeom prst="rect">
            <a:avLst/>
          </a:prstGeom>
          <a:noFill/>
        </p:spPr>
        <p:txBody>
          <a:bodyPr wrap="square">
            <a:spAutoFit/>
          </a:bodyPr>
          <a:lstStyle/>
          <a:p>
            <a:pPr marL="342900" indent="-342900">
              <a:buFont typeface="Wingdings" panose="05000000000000000000" pitchFamily="2" charset="2"/>
              <a:buChar char="q"/>
            </a:pPr>
            <a:r>
              <a:rPr lang="en-US" sz="2400" b="1" dirty="0">
                <a:solidFill>
                  <a:srgbClr val="FF0000"/>
                </a:solidFill>
                <a:effectLst/>
                <a:latin typeface="Microsoft YaHei UI" panose="020B0503020204020204" pitchFamily="34" charset="-122"/>
                <a:ea typeface="Microsoft YaHei UI" panose="020B0503020204020204" pitchFamily="34" charset="-122"/>
              </a:rPr>
              <a:t>no indication </a:t>
            </a:r>
            <a:r>
              <a:rPr lang="en-US" sz="2400" b="1" dirty="0">
                <a:solidFill>
                  <a:srgbClr val="231F20"/>
                </a:solidFill>
                <a:effectLst/>
                <a:latin typeface="Microsoft YaHei UI" panose="020B0503020204020204" pitchFamily="34" charset="-122"/>
                <a:ea typeface="Microsoft YaHei UI" panose="020B0503020204020204" pitchFamily="34" charset="-122"/>
              </a:rPr>
              <a:t>of the relative length of various processes, then none of SPN, SRT, and HRRN can be used</a:t>
            </a:r>
          </a:p>
          <a:p>
            <a:pPr marL="342900" indent="-342900">
              <a:buFont typeface="Wingdings" panose="05000000000000000000" pitchFamily="2" charset="2"/>
              <a:buChar char="q"/>
            </a:pPr>
            <a:endParaRPr lang="en-US" sz="2400" b="1" dirty="0">
              <a:solidFill>
                <a:srgbClr val="231F20"/>
              </a:solidFill>
              <a:latin typeface="Microsoft YaHei UI" panose="020B0503020204020204" pitchFamily="34" charset="-122"/>
              <a:ea typeface="Microsoft YaHei UI" panose="020B0503020204020204" pitchFamily="34" charset="-122"/>
            </a:endParaRPr>
          </a:p>
          <a:p>
            <a:pPr marL="342900" indent="-342900">
              <a:buFont typeface="Wingdings" panose="05000000000000000000" pitchFamily="2" charset="2"/>
              <a:buChar char="q"/>
            </a:pPr>
            <a:r>
              <a:rPr lang="en-US" sz="2400" b="1" dirty="0">
                <a:solidFill>
                  <a:srgbClr val="231F20"/>
                </a:solidFill>
                <a:latin typeface="Microsoft YaHei UI" panose="020B0503020204020204" pitchFamily="34" charset="-122"/>
                <a:ea typeface="Microsoft YaHei UI" panose="020B0503020204020204" pitchFamily="34" charset="-122"/>
              </a:rPr>
              <a:t>FB: </a:t>
            </a:r>
            <a:r>
              <a:rPr lang="en-US" sz="2400" b="1" dirty="0">
                <a:solidFill>
                  <a:srgbClr val="231F20"/>
                </a:solidFill>
                <a:effectLst/>
                <a:latin typeface="Microsoft YaHei UI" panose="020B0503020204020204" pitchFamily="34" charset="-122"/>
                <a:ea typeface="Microsoft YaHei UI" panose="020B0503020204020204" pitchFamily="34" charset="-122"/>
              </a:rPr>
              <a:t>a process first is placed in RQ0. </a:t>
            </a:r>
            <a:r>
              <a:rPr lang="en-US" altLang="zh-CN" sz="2400" b="1" dirty="0">
                <a:solidFill>
                  <a:srgbClr val="231F20"/>
                </a:solidFill>
                <a:effectLst/>
                <a:latin typeface="Microsoft YaHei UI" panose="020B0503020204020204" pitchFamily="34" charset="-122"/>
                <a:ea typeface="Microsoft YaHei UI" panose="020B0503020204020204" pitchFamily="34" charset="-122"/>
              </a:rPr>
              <a:t>Then,</a:t>
            </a:r>
            <a:r>
              <a:rPr lang="zh-CN" altLang="en-US" sz="2400" b="1" dirty="0">
                <a:solidFill>
                  <a:srgbClr val="231F20"/>
                </a:solidFill>
                <a:effectLst/>
                <a:latin typeface="Microsoft YaHei UI" panose="020B0503020204020204" pitchFamily="34" charset="-122"/>
                <a:ea typeface="Microsoft YaHei UI" panose="020B0503020204020204" pitchFamily="34" charset="-122"/>
              </a:rPr>
              <a:t> </a:t>
            </a:r>
            <a:r>
              <a:rPr lang="en-US" sz="2400" b="1" dirty="0">
                <a:solidFill>
                  <a:srgbClr val="231F20"/>
                </a:solidFill>
                <a:effectLst/>
                <a:latin typeface="Microsoft YaHei UI" panose="020B0503020204020204" pitchFamily="34" charset="-122"/>
                <a:ea typeface="Microsoft YaHei UI" panose="020B0503020204020204" pitchFamily="34" charset="-122"/>
              </a:rPr>
              <a:t>it is placed in RQ1</a:t>
            </a:r>
            <a:r>
              <a:rPr lang="zh-CN" altLang="en-US" sz="2400" b="1" dirty="0">
                <a:solidFill>
                  <a:srgbClr val="231F20"/>
                </a:solidFill>
                <a:effectLst/>
                <a:latin typeface="Microsoft YaHei UI" panose="020B0503020204020204" pitchFamily="34" charset="-122"/>
                <a:ea typeface="Microsoft YaHei UI" panose="020B0503020204020204" pitchFamily="34" charset="-122"/>
              </a:rPr>
              <a:t> </a:t>
            </a:r>
            <a:r>
              <a:rPr lang="en-US" altLang="zh-CN" sz="2400" b="1" dirty="0">
                <a:solidFill>
                  <a:srgbClr val="231F20"/>
                </a:solidFill>
                <a:effectLst/>
                <a:latin typeface="Microsoft YaHei UI" panose="020B0503020204020204" pitchFamily="34" charset="-122"/>
                <a:ea typeface="Microsoft YaHei UI" panose="020B0503020204020204" pitchFamily="34" charset="-122"/>
              </a:rPr>
              <a:t>after</a:t>
            </a:r>
            <a:r>
              <a:rPr lang="zh-CN" altLang="en-US" sz="2400" b="1" dirty="0">
                <a:solidFill>
                  <a:srgbClr val="231F20"/>
                </a:solidFill>
                <a:effectLst/>
                <a:latin typeface="Microsoft YaHei UI" panose="020B0503020204020204" pitchFamily="34" charset="-122"/>
                <a:ea typeface="Microsoft YaHei UI" panose="020B0503020204020204" pitchFamily="34" charset="-122"/>
              </a:rPr>
              <a:t> </a:t>
            </a:r>
            <a:r>
              <a:rPr lang="en-US" altLang="zh-CN" sz="2400" b="1" dirty="0">
                <a:solidFill>
                  <a:srgbClr val="231F20"/>
                </a:solidFill>
                <a:effectLst/>
                <a:latin typeface="Microsoft YaHei UI" panose="020B0503020204020204" pitchFamily="34" charset="-122"/>
                <a:ea typeface="Microsoft YaHei UI" panose="020B0503020204020204" pitchFamily="34" charset="-122"/>
              </a:rPr>
              <a:t>once</a:t>
            </a:r>
            <a:r>
              <a:rPr lang="zh-CN" altLang="en-US" sz="2400" b="1" dirty="0">
                <a:solidFill>
                  <a:srgbClr val="231F20"/>
                </a:solidFill>
                <a:effectLst/>
                <a:latin typeface="Microsoft YaHei UI" panose="020B0503020204020204" pitchFamily="34" charset="-122"/>
                <a:ea typeface="Microsoft YaHei UI" panose="020B0503020204020204" pitchFamily="34" charset="-122"/>
              </a:rPr>
              <a:t> </a:t>
            </a:r>
            <a:r>
              <a:rPr lang="en-US" altLang="zh-CN" sz="2400" b="1" dirty="0">
                <a:solidFill>
                  <a:srgbClr val="231F20"/>
                </a:solidFill>
                <a:latin typeface="Microsoft YaHei UI" panose="020B0503020204020204" pitchFamily="34" charset="-122"/>
                <a:ea typeface="Microsoft YaHei UI" panose="020B0503020204020204" pitchFamily="34" charset="-122"/>
              </a:rPr>
              <a:t>preemption</a:t>
            </a:r>
            <a:r>
              <a:rPr lang="en-US" sz="2400" b="1" dirty="0">
                <a:solidFill>
                  <a:srgbClr val="231F20"/>
                </a:solidFill>
                <a:effectLst/>
                <a:latin typeface="Microsoft YaHei UI" panose="020B0503020204020204" pitchFamily="34" charset="-122"/>
                <a:ea typeface="Microsoft YaHei UI" panose="020B0503020204020204" pitchFamily="34" charset="-122"/>
              </a:rPr>
              <a:t>.</a:t>
            </a:r>
          </a:p>
          <a:p>
            <a:pPr marL="800100" lvl="1" indent="-342900">
              <a:buFont typeface="Wingdings" panose="05000000000000000000" pitchFamily="2" charset="2"/>
              <a:buChar char="q"/>
            </a:pPr>
            <a:r>
              <a:rPr lang="en-US" sz="2400" dirty="0">
                <a:latin typeface="Microsoft YaHei UI" panose="020B0503020204020204" pitchFamily="34" charset="-122"/>
                <a:ea typeface="Microsoft YaHei UI" panose="020B0503020204020204" pitchFamily="34" charset="-122"/>
              </a:rPr>
              <a:t>a preference for </a:t>
            </a:r>
            <a:r>
              <a:rPr lang="en-US" sz="2400" dirty="0">
                <a:solidFill>
                  <a:srgbClr val="0070C0"/>
                </a:solidFill>
                <a:latin typeface="Microsoft YaHei UI" panose="020B0503020204020204" pitchFamily="34" charset="-122"/>
                <a:ea typeface="Microsoft YaHei UI" panose="020B0503020204020204" pitchFamily="34" charset="-122"/>
              </a:rPr>
              <a:t>shorter jobs</a:t>
            </a:r>
            <a:endParaRPr lang="en-US" sz="2400" b="1" dirty="0">
              <a:solidFill>
                <a:srgbClr val="0070C0"/>
              </a:solidFill>
              <a:latin typeface="Microsoft YaHei UI" panose="020B0503020204020204" pitchFamily="34" charset="-122"/>
              <a:ea typeface="Microsoft YaHei UI" panose="020B0503020204020204" pitchFamily="34" charset="-122"/>
            </a:endParaRPr>
          </a:p>
          <a:p>
            <a:pPr marL="800100" lvl="1" indent="-342900">
              <a:buFont typeface="Wingdings" panose="05000000000000000000" pitchFamily="2" charset="2"/>
              <a:buChar char="q"/>
            </a:pPr>
            <a:r>
              <a:rPr lang="en-US" altLang="zh-CN" sz="2400" dirty="0">
                <a:solidFill>
                  <a:srgbClr val="0070C0"/>
                </a:solidFill>
                <a:latin typeface="Microsoft YaHei UI" panose="020B0503020204020204" pitchFamily="34" charset="-122"/>
                <a:ea typeface="Microsoft YaHei UI" panose="020B0503020204020204" pitchFamily="34" charset="-122"/>
              </a:rPr>
              <a:t>Different numbers</a:t>
            </a:r>
            <a:r>
              <a:rPr lang="zh-CN" altLang="en-US" sz="2400" dirty="0">
                <a:solidFill>
                  <a:srgbClr val="0070C0"/>
                </a:solidFill>
                <a:latin typeface="Microsoft YaHei UI" panose="020B0503020204020204" pitchFamily="34" charset="-122"/>
                <a:ea typeface="Microsoft YaHei UI" panose="020B0503020204020204" pitchFamily="34" charset="-122"/>
              </a:rPr>
              <a:t> </a:t>
            </a:r>
            <a:r>
              <a:rPr lang="en-US" altLang="zh-CN" sz="2400" dirty="0">
                <a:latin typeface="Microsoft YaHei UI" panose="020B0503020204020204" pitchFamily="34" charset="-122"/>
                <a:ea typeface="Microsoft YaHei UI" panose="020B0503020204020204" pitchFamily="34" charset="-122"/>
              </a:rPr>
              <a:t>of</a:t>
            </a:r>
            <a:r>
              <a:rPr lang="zh-CN" altLang="en-US" sz="2400" dirty="0">
                <a:latin typeface="Microsoft YaHei UI" panose="020B0503020204020204" pitchFamily="34" charset="-122"/>
                <a:ea typeface="Microsoft YaHei UI" panose="020B0503020204020204" pitchFamily="34" charset="-122"/>
              </a:rPr>
              <a:t> </a:t>
            </a:r>
            <a:r>
              <a:rPr lang="en-US" altLang="zh-CN" sz="2400" dirty="0">
                <a:latin typeface="Microsoft YaHei UI" panose="020B0503020204020204" pitchFamily="34" charset="-122"/>
                <a:ea typeface="Microsoft YaHei UI" panose="020B0503020204020204" pitchFamily="34" charset="-122"/>
              </a:rPr>
              <a:t>time</a:t>
            </a:r>
            <a:r>
              <a:rPr lang="zh-CN" altLang="en-US" sz="2400" dirty="0">
                <a:latin typeface="Microsoft YaHei UI" panose="020B0503020204020204" pitchFamily="34" charset="-122"/>
                <a:ea typeface="Microsoft YaHei UI" panose="020B0503020204020204" pitchFamily="34" charset="-122"/>
              </a:rPr>
              <a:t> </a:t>
            </a:r>
            <a:r>
              <a:rPr lang="en-US" altLang="zh-CN" sz="2400" dirty="0">
                <a:latin typeface="Microsoft YaHei UI" panose="020B0503020204020204" pitchFamily="34" charset="-122"/>
                <a:ea typeface="Microsoft YaHei UI" panose="020B0503020204020204" pitchFamily="34" charset="-122"/>
              </a:rPr>
              <a:t>slice</a:t>
            </a:r>
            <a:r>
              <a:rPr lang="zh-CN" altLang="en-US" sz="2400" dirty="0">
                <a:latin typeface="Microsoft YaHei UI" panose="020B0503020204020204" pitchFamily="34" charset="-122"/>
                <a:ea typeface="Microsoft YaHei UI" panose="020B0503020204020204" pitchFamily="34" charset="-122"/>
              </a:rPr>
              <a:t> </a:t>
            </a:r>
            <a:r>
              <a:rPr lang="en-US" altLang="zh-CN" sz="2400" dirty="0">
                <a:latin typeface="Microsoft YaHei UI" panose="020B0503020204020204" pitchFamily="34" charset="-122"/>
                <a:ea typeface="Microsoft YaHei UI" panose="020B0503020204020204" pitchFamily="34" charset="-122"/>
              </a:rPr>
              <a:t>can</a:t>
            </a:r>
            <a:r>
              <a:rPr lang="zh-CN" altLang="en-US" sz="2400" dirty="0">
                <a:latin typeface="Microsoft YaHei UI" panose="020B0503020204020204" pitchFamily="34" charset="-122"/>
                <a:ea typeface="Microsoft YaHei UI" panose="020B0503020204020204" pitchFamily="34" charset="-122"/>
              </a:rPr>
              <a:t> </a:t>
            </a:r>
            <a:r>
              <a:rPr lang="en-US" altLang="zh-CN" sz="2400" dirty="0">
                <a:latin typeface="Microsoft YaHei UI" panose="020B0503020204020204" pitchFamily="34" charset="-122"/>
                <a:ea typeface="Microsoft YaHei UI" panose="020B0503020204020204" pitchFamily="34" charset="-122"/>
              </a:rPr>
              <a:t>be</a:t>
            </a:r>
            <a:r>
              <a:rPr lang="zh-CN" altLang="en-US" sz="2400" dirty="0">
                <a:latin typeface="Microsoft YaHei UI" panose="020B0503020204020204" pitchFamily="34" charset="-122"/>
                <a:ea typeface="Microsoft YaHei UI" panose="020B0503020204020204" pitchFamily="34" charset="-122"/>
              </a:rPr>
              <a:t> </a:t>
            </a:r>
            <a:r>
              <a:rPr lang="en-US" altLang="zh-CN" sz="2400" dirty="0">
                <a:latin typeface="Microsoft YaHei UI" panose="020B0503020204020204" pitchFamily="34" charset="-122"/>
                <a:ea typeface="Microsoft YaHei UI" panose="020B0503020204020204" pitchFamily="34" charset="-122"/>
              </a:rPr>
              <a:t>at</a:t>
            </a:r>
            <a:r>
              <a:rPr lang="zh-CN" altLang="en-US" sz="2400" dirty="0">
                <a:latin typeface="Microsoft YaHei UI" panose="020B0503020204020204" pitchFamily="34" charset="-122"/>
                <a:ea typeface="Microsoft YaHei UI" panose="020B0503020204020204" pitchFamily="34" charset="-122"/>
              </a:rPr>
              <a:t> </a:t>
            </a:r>
            <a:r>
              <a:rPr lang="en-US" altLang="zh-CN" sz="2400" dirty="0">
                <a:latin typeface="Microsoft YaHei UI" panose="020B0503020204020204" pitchFamily="34" charset="-122"/>
                <a:ea typeface="Microsoft YaHei UI" panose="020B0503020204020204" pitchFamily="34" charset="-122"/>
              </a:rPr>
              <a:t>different</a:t>
            </a:r>
            <a:r>
              <a:rPr lang="zh-CN" altLang="en-US" sz="2400" dirty="0">
                <a:latin typeface="Microsoft YaHei UI" panose="020B0503020204020204" pitchFamily="34" charset="-122"/>
                <a:ea typeface="Microsoft YaHei UI" panose="020B0503020204020204" pitchFamily="34" charset="-122"/>
              </a:rPr>
              <a:t> </a:t>
            </a:r>
            <a:r>
              <a:rPr lang="en-US" altLang="zh-CN" sz="2400" dirty="0">
                <a:latin typeface="Microsoft YaHei UI" panose="020B0503020204020204" pitchFamily="34" charset="-122"/>
                <a:ea typeface="Microsoft YaHei UI" panose="020B0503020204020204" pitchFamily="34" charset="-122"/>
              </a:rPr>
              <a:t>queues</a:t>
            </a:r>
            <a:endParaRPr lang="en-US" sz="24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6489219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ig09_05f.gif">
            <a:extLst>
              <a:ext uri="{FF2B5EF4-FFF2-40B4-BE49-F238E27FC236}">
                <a16:creationId xmlns:a16="http://schemas.microsoft.com/office/drawing/2014/main" id="{464576D6-D510-4AE4-BF1F-AEA0FFD4F136}"/>
              </a:ext>
            </a:extLst>
          </p:cNvPr>
          <p:cNvPicPr>
            <a:picLocks noGrp="1" noChangeAspect="1"/>
          </p:cNvPicPr>
          <p:nvPr>
            <p:ph idx="1"/>
          </p:nvPr>
        </p:nvPicPr>
        <p:blipFill>
          <a:blip r:embed="rId2"/>
          <a:stretch>
            <a:fillRect/>
          </a:stretch>
        </p:blipFill>
        <p:spPr>
          <a:xfrm>
            <a:off x="825850" y="2079055"/>
            <a:ext cx="10589402" cy="3739704"/>
          </a:xfrm>
          <a:prstGeom prst="rect">
            <a:avLst/>
          </a:prstGeom>
        </p:spPr>
      </p:pic>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Feedback Performance</a:t>
            </a:r>
            <a:endParaRPr lang="zh-CN" altLang="en-US" dirty="0"/>
          </a:p>
        </p:txBody>
      </p:sp>
      <p:sp>
        <p:nvSpPr>
          <p:cNvPr id="3" name="矩形 2">
            <a:extLst>
              <a:ext uri="{FF2B5EF4-FFF2-40B4-BE49-F238E27FC236}">
                <a16:creationId xmlns:a16="http://schemas.microsoft.com/office/drawing/2014/main" id="{941EFC88-4B6C-4E30-BFE9-D8B63BBE78AD}"/>
              </a:ext>
            </a:extLst>
          </p:cNvPr>
          <p:cNvSpPr/>
          <p:nvPr/>
        </p:nvSpPr>
        <p:spPr>
          <a:xfrm>
            <a:off x="914341" y="3935713"/>
            <a:ext cx="1181101" cy="6458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文本框 8">
            <a:extLst>
              <a:ext uri="{FF2B5EF4-FFF2-40B4-BE49-F238E27FC236}">
                <a16:creationId xmlns:a16="http://schemas.microsoft.com/office/drawing/2014/main" id="{D133EC44-C19D-4715-A611-7E2D5451590C}"/>
              </a:ext>
            </a:extLst>
          </p:cNvPr>
          <p:cNvSpPr txBox="1"/>
          <p:nvPr/>
        </p:nvSpPr>
        <p:spPr>
          <a:xfrm>
            <a:off x="3643553" y="1045665"/>
            <a:ext cx="7457066" cy="830997"/>
          </a:xfrm>
          <a:prstGeom prst="rect">
            <a:avLst/>
          </a:prstGeom>
          <a:noFill/>
          <a:ln>
            <a:solidFill>
              <a:srgbClr val="FF0000"/>
            </a:solidFill>
          </a:ln>
        </p:spPr>
        <p:txBody>
          <a:bodyPr wrap="square">
            <a:spAutoFit/>
          </a:bodyPr>
          <a:lstStyle/>
          <a:p>
            <a:pPr algn="ctr"/>
            <a:r>
              <a:rPr lang="en-US" sz="2400" b="1" dirty="0">
                <a:solidFill>
                  <a:srgbClr val="231F20"/>
                </a:solidFill>
                <a:latin typeface="Microsoft YaHei UI" panose="020B0503020204020204" pitchFamily="34" charset="-122"/>
                <a:ea typeface="Microsoft YaHei UI" panose="020B0503020204020204" pitchFamily="34" charset="-122"/>
              </a:rPr>
              <a:t>Issues: T</a:t>
            </a:r>
            <a:r>
              <a:rPr lang="en-US" sz="2400" b="1" dirty="0">
                <a:solidFill>
                  <a:srgbClr val="231F20"/>
                </a:solidFill>
                <a:effectLst/>
                <a:latin typeface="Microsoft YaHei UI" panose="020B0503020204020204" pitchFamily="34" charset="-122"/>
                <a:ea typeface="Microsoft YaHei UI" panose="020B0503020204020204" pitchFamily="34" charset="-122"/>
              </a:rPr>
              <a:t>urnaround time of longer processes is too long in q=1</a:t>
            </a:r>
            <a:endParaRPr lang="en-US" sz="2400" b="1" dirty="0">
              <a:latin typeface="Microsoft YaHei UI" panose="020B0503020204020204" pitchFamily="34" charset="-122"/>
              <a:ea typeface="Microsoft YaHei UI" panose="020B0503020204020204" pitchFamily="34" charset="-122"/>
            </a:endParaRPr>
          </a:p>
        </p:txBody>
      </p:sp>
      <p:sp>
        <p:nvSpPr>
          <p:cNvPr id="10" name="矩形 9">
            <a:extLst>
              <a:ext uri="{FF2B5EF4-FFF2-40B4-BE49-F238E27FC236}">
                <a16:creationId xmlns:a16="http://schemas.microsoft.com/office/drawing/2014/main" id="{FE77B79E-D461-4879-AE56-5E43BCD490EB}"/>
              </a:ext>
            </a:extLst>
          </p:cNvPr>
          <p:cNvSpPr/>
          <p:nvPr/>
        </p:nvSpPr>
        <p:spPr>
          <a:xfrm>
            <a:off x="10491253" y="2356230"/>
            <a:ext cx="537028" cy="4789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11" name="直接箭头连接符 10">
            <a:extLst>
              <a:ext uri="{FF2B5EF4-FFF2-40B4-BE49-F238E27FC236}">
                <a16:creationId xmlns:a16="http://schemas.microsoft.com/office/drawing/2014/main" id="{795E7582-DDD9-453C-93CF-032873F4F89C}"/>
              </a:ext>
            </a:extLst>
          </p:cNvPr>
          <p:cNvCxnSpPr>
            <a:cxnSpLocks/>
          </p:cNvCxnSpPr>
          <p:nvPr/>
        </p:nvCxnSpPr>
        <p:spPr>
          <a:xfrm>
            <a:off x="10777794" y="1877114"/>
            <a:ext cx="0" cy="32657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372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par>
                                <p:cTn id="8" presetID="9"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dissolve">
                                      <p:cBhvr>
                                        <p:cTn id="10" dur="500"/>
                                        <p:tgtEl>
                                          <p:spTgt spid="11"/>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dissolve">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A Comparison of Scheduling Policies</a:t>
            </a:r>
            <a:endParaRPr lang="zh-CN" altLang="en-US" dirty="0"/>
          </a:p>
        </p:txBody>
      </p:sp>
      <p:pic>
        <p:nvPicPr>
          <p:cNvPr id="4" name="图片 3">
            <a:extLst>
              <a:ext uri="{FF2B5EF4-FFF2-40B4-BE49-F238E27FC236}">
                <a16:creationId xmlns:a16="http://schemas.microsoft.com/office/drawing/2014/main" id="{93D60F59-B7E4-4B9D-B996-51FF62381621}"/>
              </a:ext>
            </a:extLst>
          </p:cNvPr>
          <p:cNvPicPr>
            <a:picLocks noChangeAspect="1"/>
          </p:cNvPicPr>
          <p:nvPr/>
        </p:nvPicPr>
        <p:blipFill>
          <a:blip r:embed="rId2"/>
          <a:stretch>
            <a:fillRect/>
          </a:stretch>
        </p:blipFill>
        <p:spPr>
          <a:xfrm>
            <a:off x="6456201" y="1953316"/>
            <a:ext cx="359695" cy="499915"/>
          </a:xfrm>
          <a:prstGeom prst="rect">
            <a:avLst/>
          </a:prstGeom>
        </p:spPr>
      </p:pic>
      <p:pic>
        <p:nvPicPr>
          <p:cNvPr id="8" name="图片 7">
            <a:extLst>
              <a:ext uri="{FF2B5EF4-FFF2-40B4-BE49-F238E27FC236}">
                <a16:creationId xmlns:a16="http://schemas.microsoft.com/office/drawing/2014/main" id="{49BD17DA-8EBA-4ACE-ADD2-BC1CB57CA97E}"/>
              </a:ext>
            </a:extLst>
          </p:cNvPr>
          <p:cNvPicPr>
            <a:picLocks noChangeAspect="1"/>
          </p:cNvPicPr>
          <p:nvPr/>
        </p:nvPicPr>
        <p:blipFill>
          <a:blip r:embed="rId3"/>
          <a:stretch>
            <a:fillRect/>
          </a:stretch>
        </p:blipFill>
        <p:spPr>
          <a:xfrm>
            <a:off x="1941058" y="988778"/>
            <a:ext cx="8697913" cy="4880444"/>
          </a:xfrm>
          <a:prstGeom prst="rect">
            <a:avLst/>
          </a:prstGeom>
        </p:spPr>
      </p:pic>
      <p:sp>
        <p:nvSpPr>
          <p:cNvPr id="11" name="矩形 10">
            <a:extLst>
              <a:ext uri="{FF2B5EF4-FFF2-40B4-BE49-F238E27FC236}">
                <a16:creationId xmlns:a16="http://schemas.microsoft.com/office/drawing/2014/main" id="{BC49BBFC-9D5A-4DF6-A584-38F44C52D5C3}"/>
              </a:ext>
            </a:extLst>
          </p:cNvPr>
          <p:cNvSpPr/>
          <p:nvPr/>
        </p:nvSpPr>
        <p:spPr>
          <a:xfrm>
            <a:off x="1941058" y="1647371"/>
            <a:ext cx="7558542" cy="3773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a:extLst>
              <a:ext uri="{FF2B5EF4-FFF2-40B4-BE49-F238E27FC236}">
                <a16:creationId xmlns:a16="http://schemas.microsoft.com/office/drawing/2014/main" id="{D8192353-7911-4F04-BCC4-A6DAD148D90B}"/>
              </a:ext>
            </a:extLst>
          </p:cNvPr>
          <p:cNvSpPr/>
          <p:nvPr/>
        </p:nvSpPr>
        <p:spPr>
          <a:xfrm>
            <a:off x="1941058" y="2570490"/>
            <a:ext cx="7558542" cy="3773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98716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DBCEE3-4CD1-41D3-86CD-632D762A2592}"/>
              </a:ext>
            </a:extLst>
          </p:cNvPr>
          <p:cNvSpPr>
            <a:spLocks noGrp="1"/>
          </p:cNvSpPr>
          <p:nvPr>
            <p:ph type="title"/>
          </p:nvPr>
        </p:nvSpPr>
        <p:spPr/>
        <p:txBody>
          <a:bodyPr/>
          <a:lstStyle/>
          <a:p>
            <a:r>
              <a:rPr lang="en-US" altLang="zh-CN" dirty="0"/>
              <a:t>A Comparison of Scheduling Policies </a:t>
            </a:r>
            <a:r>
              <a:rPr lang="zh-CN" altLang="en-US" dirty="0"/>
              <a:t>（</a:t>
            </a:r>
            <a:r>
              <a:rPr lang="en-US" altLang="zh-CN" dirty="0"/>
              <a:t>cont.</a:t>
            </a:r>
            <a:r>
              <a:rPr lang="zh-CN" altLang="en-US" dirty="0"/>
              <a:t>）</a:t>
            </a:r>
            <a:endParaRPr lang="en-US" dirty="0"/>
          </a:p>
        </p:txBody>
      </p:sp>
      <p:sp>
        <p:nvSpPr>
          <p:cNvPr id="3" name="内容占位符 2">
            <a:extLst>
              <a:ext uri="{FF2B5EF4-FFF2-40B4-BE49-F238E27FC236}">
                <a16:creationId xmlns:a16="http://schemas.microsoft.com/office/drawing/2014/main" id="{E401D865-8E44-4291-AA7F-F329A0DBBCC2}"/>
              </a:ext>
            </a:extLst>
          </p:cNvPr>
          <p:cNvSpPr>
            <a:spLocks noGrp="1"/>
          </p:cNvSpPr>
          <p:nvPr>
            <p:ph idx="1"/>
          </p:nvPr>
        </p:nvSpPr>
        <p:spPr/>
        <p:txBody>
          <a:bodyPr/>
          <a:lstStyle/>
          <a:p>
            <a:endParaRPr lang="en-US"/>
          </a:p>
        </p:txBody>
      </p:sp>
      <p:sp>
        <p:nvSpPr>
          <p:cNvPr id="4" name="灯片编号占位符 3">
            <a:extLst>
              <a:ext uri="{FF2B5EF4-FFF2-40B4-BE49-F238E27FC236}">
                <a16:creationId xmlns:a16="http://schemas.microsoft.com/office/drawing/2014/main" id="{B69D65E3-57DF-4315-8FD3-75FD471AFBF0}"/>
              </a:ext>
            </a:extLst>
          </p:cNvPr>
          <p:cNvSpPr>
            <a:spLocks noGrp="1"/>
          </p:cNvSpPr>
          <p:nvPr>
            <p:ph type="sldNum" sz="quarter" idx="12"/>
          </p:nvPr>
        </p:nvSpPr>
        <p:spPr/>
        <p:txBody>
          <a:bodyPr/>
          <a:lstStyle/>
          <a:p>
            <a:fld id="{2093D444-7193-46AD-90E8-D84AE4B61CFF}" type="slidenum">
              <a:rPr lang="en-US" smtClean="0"/>
              <a:pPr/>
              <a:t>41</a:t>
            </a:fld>
            <a:r>
              <a:rPr lang="en-US"/>
              <a:t>/56</a:t>
            </a:r>
            <a:endParaRPr lang="en-US" dirty="0"/>
          </a:p>
        </p:txBody>
      </p:sp>
      <p:sp>
        <p:nvSpPr>
          <p:cNvPr id="5" name="日期占位符 4">
            <a:extLst>
              <a:ext uri="{FF2B5EF4-FFF2-40B4-BE49-F238E27FC236}">
                <a16:creationId xmlns:a16="http://schemas.microsoft.com/office/drawing/2014/main" id="{C5B3F845-15E4-4E47-ABF8-CE003320FC85}"/>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p:pic>
        <p:nvPicPr>
          <p:cNvPr id="7" name="图片 6">
            <a:extLst>
              <a:ext uri="{FF2B5EF4-FFF2-40B4-BE49-F238E27FC236}">
                <a16:creationId xmlns:a16="http://schemas.microsoft.com/office/drawing/2014/main" id="{9CC8AD5E-7D2E-4CBD-8CCB-A2F24F935611}"/>
              </a:ext>
            </a:extLst>
          </p:cNvPr>
          <p:cNvPicPr>
            <a:picLocks noChangeAspect="1"/>
          </p:cNvPicPr>
          <p:nvPr/>
        </p:nvPicPr>
        <p:blipFill>
          <a:blip r:embed="rId2"/>
          <a:stretch>
            <a:fillRect/>
          </a:stretch>
        </p:blipFill>
        <p:spPr>
          <a:xfrm>
            <a:off x="1931080" y="968359"/>
            <a:ext cx="7169377" cy="5218266"/>
          </a:xfrm>
          <a:prstGeom prst="rect">
            <a:avLst/>
          </a:prstGeom>
        </p:spPr>
      </p:pic>
      <p:sp>
        <p:nvSpPr>
          <p:cNvPr id="6" name="矩形: 圆角 5">
            <a:extLst>
              <a:ext uri="{FF2B5EF4-FFF2-40B4-BE49-F238E27FC236}">
                <a16:creationId xmlns:a16="http://schemas.microsoft.com/office/drawing/2014/main" id="{3029C107-B320-4D3B-9B67-1A63EAA1FCEF}"/>
              </a:ext>
            </a:extLst>
          </p:cNvPr>
          <p:cNvSpPr/>
          <p:nvPr/>
        </p:nvSpPr>
        <p:spPr>
          <a:xfrm>
            <a:off x="8171543" y="2438400"/>
            <a:ext cx="878114" cy="667657"/>
          </a:xfrm>
          <a:prstGeom prst="roundRect">
            <a:avLst/>
          </a:prstGeom>
          <a:noFill/>
          <a:ln>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63840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Fair-Share Scheduling</a:t>
            </a:r>
            <a:endParaRPr lang="zh-CN" altLang="en-US" dirty="0"/>
          </a:p>
        </p:txBody>
      </p:sp>
      <p:sp>
        <p:nvSpPr>
          <p:cNvPr id="3" name="内容占位符 2">
            <a:extLst>
              <a:ext uri="{FF2B5EF4-FFF2-40B4-BE49-F238E27FC236}">
                <a16:creationId xmlns:a16="http://schemas.microsoft.com/office/drawing/2014/main" id="{A5AAF1E7-7DFD-420F-85D5-4414E74DCF35}"/>
              </a:ext>
            </a:extLst>
          </p:cNvPr>
          <p:cNvSpPr>
            <a:spLocks noGrp="1"/>
          </p:cNvSpPr>
          <p:nvPr>
            <p:ph idx="1"/>
          </p:nvPr>
        </p:nvSpPr>
        <p:spPr/>
        <p:txBody>
          <a:bodyPr/>
          <a:lstStyle/>
          <a:p>
            <a:r>
              <a:rPr lang="en-US" altLang="zh-CN" dirty="0"/>
              <a:t>Scheduling decisions based on the </a:t>
            </a:r>
            <a:r>
              <a:rPr lang="en-US" altLang="zh-CN" dirty="0">
                <a:solidFill>
                  <a:srgbClr val="FF0000"/>
                </a:solidFill>
              </a:rPr>
              <a:t>process sets</a:t>
            </a:r>
          </a:p>
          <a:p>
            <a:pPr lvl="1"/>
            <a:r>
              <a:rPr lang="en-US" altLang="zh-CN" sz="2400" dirty="0"/>
              <a:t>user applications or jobs may be organized as multiple processes</a:t>
            </a:r>
          </a:p>
          <a:p>
            <a:pPr lvl="1"/>
            <a:endParaRPr lang="en-US" altLang="zh-CN" sz="2400" dirty="0"/>
          </a:p>
          <a:p>
            <a:r>
              <a:rPr lang="en-US" altLang="zh-CN" dirty="0"/>
              <a:t>Each user is assigned </a:t>
            </a:r>
            <a:r>
              <a:rPr lang="en-US" altLang="zh-CN" dirty="0">
                <a:solidFill>
                  <a:srgbClr val="FF0000"/>
                </a:solidFill>
              </a:rPr>
              <a:t>a share </a:t>
            </a:r>
            <a:r>
              <a:rPr lang="en-US" altLang="zh-CN" dirty="0">
                <a:solidFill>
                  <a:srgbClr val="0070C0"/>
                </a:solidFill>
              </a:rPr>
              <a:t>(</a:t>
            </a:r>
            <a:r>
              <a:rPr lang="zh-CN" altLang="en-US" dirty="0">
                <a:solidFill>
                  <a:srgbClr val="0070C0"/>
                </a:solidFill>
              </a:rPr>
              <a:t>份额</a:t>
            </a:r>
            <a:r>
              <a:rPr lang="en-US" altLang="zh-CN" dirty="0">
                <a:solidFill>
                  <a:srgbClr val="0070C0"/>
                </a:solidFill>
              </a:rPr>
              <a:t>) </a:t>
            </a:r>
            <a:r>
              <a:rPr lang="en-US" altLang="zh-CN" dirty="0"/>
              <a:t>of the processor</a:t>
            </a:r>
          </a:p>
          <a:p>
            <a:pPr lvl="1"/>
            <a:r>
              <a:rPr lang="en-US" altLang="zh-CN" sz="2400" dirty="0"/>
              <a:t>e.g. four groups, each with 25% of the processor usage</a:t>
            </a:r>
          </a:p>
          <a:p>
            <a:pPr lvl="1"/>
            <a:endParaRPr lang="en-US" altLang="zh-CN" sz="2400" dirty="0"/>
          </a:p>
          <a:p>
            <a:r>
              <a:rPr lang="en-US" altLang="zh-CN" dirty="0"/>
              <a:t>Objective is to monitor usage to give fewer resources to users who have had more than their fair share and more to those who have had less than their fair share</a:t>
            </a:r>
          </a:p>
          <a:p>
            <a:endParaRPr lang="zh-CN" altLang="en-US" dirty="0"/>
          </a:p>
        </p:txBody>
      </p:sp>
    </p:spTree>
    <p:extLst>
      <p:ext uri="{BB962C8B-B14F-4D97-AF65-F5344CB8AC3E}">
        <p14:creationId xmlns:p14="http://schemas.microsoft.com/office/powerpoint/2010/main" val="18112435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Fair-Share Scheduler Implemented in UNIX</a:t>
            </a:r>
            <a:endParaRPr lang="zh-CN" altLang="en-US" dirty="0"/>
          </a:p>
        </p:txBody>
      </p:sp>
      <p:sp>
        <p:nvSpPr>
          <p:cNvPr id="5" name="文本框 4">
            <a:extLst>
              <a:ext uri="{FF2B5EF4-FFF2-40B4-BE49-F238E27FC236}">
                <a16:creationId xmlns:a16="http://schemas.microsoft.com/office/drawing/2014/main" id="{21747834-8E6B-4944-89D1-47D64A5A9795}"/>
              </a:ext>
            </a:extLst>
          </p:cNvPr>
          <p:cNvSpPr txBox="1"/>
          <p:nvPr/>
        </p:nvSpPr>
        <p:spPr>
          <a:xfrm>
            <a:off x="513079" y="829128"/>
            <a:ext cx="11063877" cy="3416320"/>
          </a:xfrm>
          <a:prstGeom prst="rect">
            <a:avLst/>
          </a:prstGeom>
          <a:noFill/>
        </p:spPr>
        <p:txBody>
          <a:bodyPr wrap="square" rtlCol="0">
            <a:spAutoFit/>
          </a:bodyPr>
          <a:lstStyle/>
          <a:p>
            <a:pPr marL="285750" indent="-285750" algn="just">
              <a:buFont typeface="Wingdings" panose="05000000000000000000" pitchFamily="2" charset="2"/>
              <a:buChar char="q"/>
            </a:pPr>
            <a:r>
              <a:rPr lang="en-US" sz="2400" b="1" dirty="0">
                <a:solidFill>
                  <a:srgbClr val="231F20"/>
                </a:solidFill>
                <a:effectLst/>
                <a:latin typeface="Microsoft YaHei UI" panose="020B0503020204020204" pitchFamily="34" charset="-122"/>
                <a:ea typeface="Microsoft YaHei UI" panose="020B0503020204020204" pitchFamily="34" charset="-122"/>
              </a:rPr>
              <a:t>fair-share scheduler (FSS): divides the user community into a set of </a:t>
            </a:r>
            <a:r>
              <a:rPr lang="en-US" sz="2400" b="1" dirty="0">
                <a:solidFill>
                  <a:srgbClr val="FF0000"/>
                </a:solidFill>
                <a:effectLst/>
                <a:latin typeface="Microsoft YaHei UI" panose="020B0503020204020204" pitchFamily="34" charset="-122"/>
                <a:ea typeface="Microsoft YaHei UI" panose="020B0503020204020204" pitchFamily="34" charset="-122"/>
              </a:rPr>
              <a:t>fair-share groups </a:t>
            </a:r>
            <a:r>
              <a:rPr lang="en-US" sz="2400" b="1" dirty="0">
                <a:solidFill>
                  <a:srgbClr val="231F20"/>
                </a:solidFill>
                <a:effectLst/>
                <a:latin typeface="Microsoft YaHei UI" panose="020B0503020204020204" pitchFamily="34" charset="-122"/>
                <a:ea typeface="Microsoft YaHei UI" panose="020B0503020204020204" pitchFamily="34" charset="-122"/>
              </a:rPr>
              <a:t>and </a:t>
            </a:r>
            <a:r>
              <a:rPr lang="en-US" sz="2400" b="1" dirty="0">
                <a:solidFill>
                  <a:srgbClr val="FF0000"/>
                </a:solidFill>
                <a:effectLst/>
                <a:latin typeface="Microsoft YaHei UI" panose="020B0503020204020204" pitchFamily="34" charset="-122"/>
                <a:ea typeface="Microsoft YaHei UI" panose="020B0503020204020204" pitchFamily="34" charset="-122"/>
              </a:rPr>
              <a:t>allocates a fraction of the processor resource to each group.</a:t>
            </a:r>
            <a:r>
              <a:rPr lang="en-US" sz="2400" b="1" dirty="0">
                <a:solidFill>
                  <a:srgbClr val="231F20"/>
                </a:solidFill>
                <a:effectLst/>
                <a:latin typeface="Microsoft YaHei UI" panose="020B0503020204020204" pitchFamily="34" charset="-122"/>
                <a:ea typeface="Microsoft YaHei UI" panose="020B0503020204020204" pitchFamily="34" charset="-122"/>
              </a:rPr>
              <a:t> </a:t>
            </a:r>
          </a:p>
          <a:p>
            <a:pPr marL="285750" indent="-285750" algn="just">
              <a:buFont typeface="Wingdings" panose="05000000000000000000" pitchFamily="2" charset="2"/>
              <a:buChar char="q"/>
            </a:pPr>
            <a:endParaRPr lang="en-US" sz="2400" b="1" dirty="0">
              <a:solidFill>
                <a:srgbClr val="231F20"/>
              </a:solidFill>
              <a:effectLst/>
              <a:latin typeface="Microsoft YaHei UI" panose="020B0503020204020204" pitchFamily="34" charset="-122"/>
              <a:ea typeface="Microsoft YaHei UI" panose="020B0503020204020204" pitchFamily="34" charset="-122"/>
            </a:endParaRPr>
          </a:p>
          <a:p>
            <a:pPr marL="285750" indent="-285750" algn="just">
              <a:buFont typeface="Wingdings" panose="05000000000000000000" pitchFamily="2" charset="2"/>
              <a:buChar char="q"/>
            </a:pPr>
            <a:r>
              <a:rPr lang="en-US" sz="2400" b="1" dirty="0">
                <a:solidFill>
                  <a:srgbClr val="231F20"/>
                </a:solidFill>
                <a:effectLst/>
                <a:latin typeface="Microsoft YaHei UI" panose="020B0503020204020204" pitchFamily="34" charset="-122"/>
                <a:ea typeface="Microsoft YaHei UI" panose="020B0503020204020204" pitchFamily="34" charset="-122"/>
              </a:rPr>
              <a:t>Scheduling is done on the basis of </a:t>
            </a:r>
            <a:r>
              <a:rPr lang="en-US" sz="2400" b="1" dirty="0">
                <a:solidFill>
                  <a:srgbClr val="FF0000"/>
                </a:solidFill>
                <a:effectLst/>
                <a:latin typeface="Microsoft YaHei UI" panose="020B0503020204020204" pitchFamily="34" charset="-122"/>
                <a:ea typeface="Microsoft YaHei UI" panose="020B0503020204020204" pitchFamily="34" charset="-122"/>
              </a:rPr>
              <a:t>priority</a:t>
            </a:r>
            <a:r>
              <a:rPr lang="en-US" sz="2400" b="1" dirty="0">
                <a:solidFill>
                  <a:srgbClr val="231F20"/>
                </a:solidFill>
                <a:effectLst/>
                <a:latin typeface="Microsoft YaHei UI" panose="020B0503020204020204" pitchFamily="34" charset="-122"/>
                <a:ea typeface="Microsoft YaHei UI" panose="020B0503020204020204" pitchFamily="34" charset="-122"/>
              </a:rPr>
              <a:t>, the </a:t>
            </a:r>
            <a:r>
              <a:rPr lang="en-US" sz="2400" b="1" dirty="0">
                <a:solidFill>
                  <a:srgbClr val="FF0000"/>
                </a:solidFill>
                <a:effectLst/>
                <a:latin typeface="Microsoft YaHei UI" panose="020B0503020204020204" pitchFamily="34" charset="-122"/>
                <a:ea typeface="Microsoft YaHei UI" panose="020B0503020204020204" pitchFamily="34" charset="-122"/>
              </a:rPr>
              <a:t>higher</a:t>
            </a:r>
            <a:r>
              <a:rPr lang="en-US" sz="2400" b="1" dirty="0">
                <a:solidFill>
                  <a:srgbClr val="231F20"/>
                </a:solidFill>
                <a:effectLst/>
                <a:latin typeface="Microsoft YaHei UI" panose="020B0503020204020204" pitchFamily="34" charset="-122"/>
                <a:ea typeface="Microsoft YaHei UI" panose="020B0503020204020204" pitchFamily="34" charset="-122"/>
              </a:rPr>
              <a:t> the numerical value of the priority, the </a:t>
            </a:r>
            <a:r>
              <a:rPr lang="en-US" sz="2400" b="1" dirty="0">
                <a:solidFill>
                  <a:srgbClr val="FF0000"/>
                </a:solidFill>
                <a:effectLst/>
                <a:latin typeface="Microsoft YaHei UI" panose="020B0503020204020204" pitchFamily="34" charset="-122"/>
                <a:ea typeface="Microsoft YaHei UI" panose="020B0503020204020204" pitchFamily="34" charset="-122"/>
              </a:rPr>
              <a:t>lower</a:t>
            </a:r>
            <a:r>
              <a:rPr lang="en-US" sz="2400" b="1" dirty="0">
                <a:solidFill>
                  <a:srgbClr val="231F20"/>
                </a:solidFill>
                <a:effectLst/>
                <a:latin typeface="Microsoft YaHei UI" panose="020B0503020204020204" pitchFamily="34" charset="-122"/>
                <a:ea typeface="Microsoft YaHei UI" panose="020B0503020204020204" pitchFamily="34" charset="-122"/>
              </a:rPr>
              <a:t> is the priority.</a:t>
            </a:r>
            <a:endParaRPr lang="en-US" sz="2400" b="1" dirty="0">
              <a:latin typeface="Microsoft YaHei UI" panose="020B0503020204020204" pitchFamily="34" charset="-122"/>
              <a:ea typeface="Microsoft YaHei UI" panose="020B0503020204020204" pitchFamily="34" charset="-122"/>
            </a:endParaRPr>
          </a:p>
          <a:p>
            <a:pPr marL="285750" indent="-285750" algn="just">
              <a:buFont typeface="Wingdings" panose="05000000000000000000" pitchFamily="2" charset="2"/>
              <a:buChar char="q"/>
            </a:pPr>
            <a:endParaRPr lang="en-US" sz="2400" b="1" dirty="0">
              <a:solidFill>
                <a:srgbClr val="231F20"/>
              </a:solidFill>
              <a:latin typeface="Microsoft YaHei UI" panose="020B0503020204020204" pitchFamily="34" charset="-122"/>
              <a:ea typeface="Microsoft YaHei UI" panose="020B0503020204020204" pitchFamily="34" charset="-122"/>
            </a:endParaRPr>
          </a:p>
          <a:p>
            <a:pPr marL="285750" indent="-285750" algn="just">
              <a:buFont typeface="Wingdings" panose="05000000000000000000" pitchFamily="2" charset="2"/>
              <a:buChar char="q"/>
            </a:pPr>
            <a:r>
              <a:rPr lang="en-US" sz="2400" b="1" dirty="0">
                <a:solidFill>
                  <a:srgbClr val="231F20"/>
                </a:solidFill>
                <a:effectLst/>
                <a:latin typeface="Microsoft YaHei UI" panose="020B0503020204020204" pitchFamily="34" charset="-122"/>
                <a:ea typeface="Microsoft YaHei UI" panose="020B0503020204020204" pitchFamily="34" charset="-122"/>
              </a:rPr>
              <a:t>Account for the </a:t>
            </a:r>
            <a:r>
              <a:rPr lang="en-US" sz="2400" b="1" dirty="0">
                <a:solidFill>
                  <a:srgbClr val="FF0000"/>
                </a:solidFill>
                <a:effectLst/>
                <a:latin typeface="Microsoft YaHei UI" panose="020B0503020204020204" pitchFamily="34" charset="-122"/>
                <a:ea typeface="Microsoft YaHei UI" panose="020B0503020204020204" pitchFamily="34" charset="-122"/>
              </a:rPr>
              <a:t>priority of the process</a:t>
            </a:r>
            <a:r>
              <a:rPr lang="en-US" sz="2400" b="1" dirty="0">
                <a:solidFill>
                  <a:srgbClr val="231F20"/>
                </a:solidFill>
                <a:effectLst/>
                <a:latin typeface="Microsoft YaHei UI" panose="020B0503020204020204" pitchFamily="34" charset="-122"/>
                <a:ea typeface="Microsoft YaHei UI" panose="020B0503020204020204" pitchFamily="34" charset="-122"/>
              </a:rPr>
              <a:t>, its </a:t>
            </a:r>
            <a:r>
              <a:rPr lang="en-US" sz="2400" b="1" dirty="0">
                <a:solidFill>
                  <a:srgbClr val="FF0000"/>
                </a:solidFill>
                <a:effectLst/>
                <a:latin typeface="Microsoft YaHei UI" panose="020B0503020204020204" pitchFamily="34" charset="-122"/>
                <a:ea typeface="Microsoft YaHei UI" panose="020B0503020204020204" pitchFamily="34" charset="-122"/>
              </a:rPr>
              <a:t>processor usage</a:t>
            </a:r>
            <a:r>
              <a:rPr lang="en-US" sz="2400" b="1" dirty="0">
                <a:solidFill>
                  <a:srgbClr val="231F20"/>
                </a:solidFill>
                <a:effectLst/>
                <a:latin typeface="Microsoft YaHei UI" panose="020B0503020204020204" pitchFamily="34" charset="-122"/>
                <a:ea typeface="Microsoft YaHei UI" panose="020B0503020204020204" pitchFamily="34" charset="-122"/>
              </a:rPr>
              <a:t>, and </a:t>
            </a:r>
            <a:r>
              <a:rPr lang="en-US" sz="2400" b="1" dirty="0">
                <a:solidFill>
                  <a:srgbClr val="FF0000"/>
                </a:solidFill>
                <a:effectLst/>
                <a:latin typeface="Microsoft YaHei UI" panose="020B0503020204020204" pitchFamily="34" charset="-122"/>
                <a:ea typeface="Microsoft YaHei UI" panose="020B0503020204020204" pitchFamily="34" charset="-122"/>
              </a:rPr>
              <a:t>the processor usage </a:t>
            </a:r>
            <a:r>
              <a:rPr lang="en-US" sz="2400" b="1" dirty="0">
                <a:solidFill>
                  <a:srgbClr val="231F20"/>
                </a:solidFill>
                <a:effectLst/>
                <a:latin typeface="Microsoft YaHei UI" panose="020B0503020204020204" pitchFamily="34" charset="-122"/>
                <a:ea typeface="Microsoft YaHei UI" panose="020B0503020204020204" pitchFamily="34" charset="-122"/>
              </a:rPr>
              <a:t>of the group to which the process belongs, </a:t>
            </a:r>
          </a:p>
        </p:txBody>
      </p:sp>
    </p:spTree>
    <p:extLst>
      <p:ext uri="{BB962C8B-B14F-4D97-AF65-F5344CB8AC3E}">
        <p14:creationId xmlns:p14="http://schemas.microsoft.com/office/powerpoint/2010/main" val="14783526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46E20-F29E-4C27-B96C-C3F9B53A4424}"/>
              </a:ext>
            </a:extLst>
          </p:cNvPr>
          <p:cNvSpPr>
            <a:spLocks noGrp="1"/>
          </p:cNvSpPr>
          <p:nvPr>
            <p:ph type="title"/>
          </p:nvPr>
        </p:nvSpPr>
        <p:spPr/>
        <p:txBody>
          <a:bodyPr/>
          <a:lstStyle/>
          <a:p>
            <a:r>
              <a:rPr lang="en-US" dirty="0"/>
              <a:t>Fair-Share Scheduler (FSS):</a:t>
            </a:r>
          </a:p>
        </p:txBody>
      </p:sp>
      <p:sp>
        <p:nvSpPr>
          <p:cNvPr id="4" name="灯片编号占位符 3">
            <a:extLst>
              <a:ext uri="{FF2B5EF4-FFF2-40B4-BE49-F238E27FC236}">
                <a16:creationId xmlns:a16="http://schemas.microsoft.com/office/drawing/2014/main" id="{CF94014B-8A64-4AF4-B985-5CFCD8381625}"/>
              </a:ext>
            </a:extLst>
          </p:cNvPr>
          <p:cNvSpPr>
            <a:spLocks noGrp="1"/>
          </p:cNvSpPr>
          <p:nvPr>
            <p:ph type="sldNum" sz="quarter" idx="12"/>
          </p:nvPr>
        </p:nvSpPr>
        <p:spPr/>
        <p:txBody>
          <a:bodyPr/>
          <a:lstStyle/>
          <a:p>
            <a:fld id="{2093D444-7193-46AD-90E8-D84AE4B61CFF}" type="slidenum">
              <a:rPr lang="en-US" smtClean="0"/>
              <a:pPr/>
              <a:t>44</a:t>
            </a:fld>
            <a:r>
              <a:rPr lang="en-US"/>
              <a:t>/56</a:t>
            </a:r>
            <a:endParaRPr lang="en-US" dirty="0"/>
          </a:p>
        </p:txBody>
      </p:sp>
      <p:sp>
        <p:nvSpPr>
          <p:cNvPr id="5" name="日期占位符 4">
            <a:extLst>
              <a:ext uri="{FF2B5EF4-FFF2-40B4-BE49-F238E27FC236}">
                <a16:creationId xmlns:a16="http://schemas.microsoft.com/office/drawing/2014/main" id="{42BAA2E8-EF76-4333-8564-82F1F3745C61}"/>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p:pic>
        <p:nvPicPr>
          <p:cNvPr id="7" name="图片 6">
            <a:extLst>
              <a:ext uri="{FF2B5EF4-FFF2-40B4-BE49-F238E27FC236}">
                <a16:creationId xmlns:a16="http://schemas.microsoft.com/office/drawing/2014/main" id="{070E6B33-A2F4-4DA0-853A-1DB6EE85BFBD}"/>
              </a:ext>
            </a:extLst>
          </p:cNvPr>
          <p:cNvPicPr>
            <a:picLocks noChangeAspect="1"/>
          </p:cNvPicPr>
          <p:nvPr/>
        </p:nvPicPr>
        <p:blipFill>
          <a:blip r:embed="rId2"/>
          <a:stretch>
            <a:fillRect/>
          </a:stretch>
        </p:blipFill>
        <p:spPr>
          <a:xfrm>
            <a:off x="3311012" y="819065"/>
            <a:ext cx="5292213" cy="2489134"/>
          </a:xfrm>
          <a:prstGeom prst="rect">
            <a:avLst/>
          </a:prstGeom>
        </p:spPr>
      </p:pic>
      <p:pic>
        <p:nvPicPr>
          <p:cNvPr id="10" name="图片 9">
            <a:extLst>
              <a:ext uri="{FF2B5EF4-FFF2-40B4-BE49-F238E27FC236}">
                <a16:creationId xmlns:a16="http://schemas.microsoft.com/office/drawing/2014/main" id="{F6A0D4F6-7EC8-4FD1-9850-E3BC270A2A09}"/>
              </a:ext>
            </a:extLst>
          </p:cNvPr>
          <p:cNvPicPr>
            <a:picLocks noChangeAspect="1"/>
          </p:cNvPicPr>
          <p:nvPr/>
        </p:nvPicPr>
        <p:blipFill>
          <a:blip r:embed="rId3"/>
          <a:stretch>
            <a:fillRect/>
          </a:stretch>
        </p:blipFill>
        <p:spPr>
          <a:xfrm>
            <a:off x="1898366" y="3373012"/>
            <a:ext cx="8926950" cy="2767450"/>
          </a:xfrm>
          <a:prstGeom prst="rect">
            <a:avLst/>
          </a:prstGeom>
        </p:spPr>
      </p:pic>
    </p:spTree>
    <p:extLst>
      <p:ext uri="{BB962C8B-B14F-4D97-AF65-F5344CB8AC3E}">
        <p14:creationId xmlns:p14="http://schemas.microsoft.com/office/powerpoint/2010/main" val="41020327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46E20-F29E-4C27-B96C-C3F9B53A4424}"/>
              </a:ext>
            </a:extLst>
          </p:cNvPr>
          <p:cNvSpPr>
            <a:spLocks noGrp="1"/>
          </p:cNvSpPr>
          <p:nvPr>
            <p:ph type="title"/>
          </p:nvPr>
        </p:nvSpPr>
        <p:spPr/>
        <p:txBody>
          <a:bodyPr/>
          <a:lstStyle/>
          <a:p>
            <a:r>
              <a:rPr lang="en-US" dirty="0"/>
              <a:t>Fair-Share Scheduler (FSS):</a:t>
            </a:r>
          </a:p>
        </p:txBody>
      </p:sp>
      <p:sp>
        <p:nvSpPr>
          <p:cNvPr id="4" name="灯片编号占位符 3">
            <a:extLst>
              <a:ext uri="{FF2B5EF4-FFF2-40B4-BE49-F238E27FC236}">
                <a16:creationId xmlns:a16="http://schemas.microsoft.com/office/drawing/2014/main" id="{CF94014B-8A64-4AF4-B985-5CFCD8381625}"/>
              </a:ext>
            </a:extLst>
          </p:cNvPr>
          <p:cNvSpPr>
            <a:spLocks noGrp="1"/>
          </p:cNvSpPr>
          <p:nvPr>
            <p:ph type="sldNum" sz="quarter" idx="12"/>
          </p:nvPr>
        </p:nvSpPr>
        <p:spPr/>
        <p:txBody>
          <a:bodyPr/>
          <a:lstStyle/>
          <a:p>
            <a:fld id="{2093D444-7193-46AD-90E8-D84AE4B61CFF}" type="slidenum">
              <a:rPr lang="en-US" smtClean="0"/>
              <a:pPr/>
              <a:t>45</a:t>
            </a:fld>
            <a:r>
              <a:rPr lang="en-US"/>
              <a:t>/56</a:t>
            </a:r>
            <a:endParaRPr lang="en-US" dirty="0"/>
          </a:p>
        </p:txBody>
      </p:sp>
      <p:sp>
        <p:nvSpPr>
          <p:cNvPr id="5" name="日期占位符 4">
            <a:extLst>
              <a:ext uri="{FF2B5EF4-FFF2-40B4-BE49-F238E27FC236}">
                <a16:creationId xmlns:a16="http://schemas.microsoft.com/office/drawing/2014/main" id="{42BAA2E8-EF76-4333-8564-82F1F3745C61}"/>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B8B8317-CEB4-42E7-91DA-B4B856A04611}"/>
                  </a:ext>
                </a:extLst>
              </p:cNvPr>
              <p:cNvSpPr txBox="1"/>
              <p:nvPr/>
            </p:nvSpPr>
            <p:spPr>
              <a:xfrm>
                <a:off x="8093664" y="1013203"/>
                <a:ext cx="1170214" cy="369332"/>
              </a:xfrm>
              <a:prstGeom prst="rect">
                <a:avLst/>
              </a:prstGeom>
              <a:noFill/>
            </p:spPr>
            <p:txBody>
              <a:bodyPr wrap="square">
                <a:spAutoFit/>
              </a:bodyPr>
              <a:lstStyle/>
              <a:p>
                <a:pPr algn="ctr"/>
                <a14:m>
                  <m:oMath xmlns:m="http://schemas.openxmlformats.org/officeDocument/2006/math">
                    <m:sSub>
                      <m:sSubPr>
                        <m:ctrlPr>
                          <a:rPr lang="en-US" sz="1800" b="1" i="1" dirty="0" smtClean="0">
                            <a:solidFill>
                              <a:srgbClr val="231F20"/>
                            </a:solidFill>
                            <a:effectLst/>
                            <a:latin typeface="Cambria Math" panose="02040503050406030204" pitchFamily="18" charset="0"/>
                          </a:rPr>
                        </m:ctrlPr>
                      </m:sSubPr>
                      <m:e>
                        <m:r>
                          <a:rPr lang="en-US" sz="1800" b="1" i="1" dirty="0" smtClean="0">
                            <a:solidFill>
                              <a:srgbClr val="231F20"/>
                            </a:solidFill>
                            <a:effectLst/>
                            <a:latin typeface="Cambria Math" panose="02040503050406030204" pitchFamily="18" charset="0"/>
                          </a:rPr>
                          <m:t>𝑾</m:t>
                        </m:r>
                      </m:e>
                      <m:sub>
                        <m:r>
                          <a:rPr lang="en-US" sz="1800" b="1" i="1" dirty="0" smtClean="0">
                            <a:solidFill>
                              <a:srgbClr val="231F20"/>
                            </a:solidFill>
                            <a:effectLst/>
                            <a:latin typeface="Cambria Math" panose="02040503050406030204" pitchFamily="18" charset="0"/>
                          </a:rPr>
                          <m:t>𝒌</m:t>
                        </m:r>
                      </m:sub>
                    </m:sSub>
                  </m:oMath>
                </a14:m>
                <a:r>
                  <a:rPr lang="en-US" b="1" dirty="0">
                    <a:solidFill>
                      <a:srgbClr val="231F20"/>
                    </a:solidFill>
                    <a:latin typeface="TimesTenLTStd-Roman"/>
                  </a:rPr>
                  <a:t>=</a:t>
                </a:r>
                <a:r>
                  <a:rPr lang="en-US" sz="1800" b="1" dirty="0">
                    <a:solidFill>
                      <a:srgbClr val="231F20"/>
                    </a:solidFill>
                    <a:effectLst/>
                    <a:latin typeface="TimesTenLTStd-Roman"/>
                  </a:rPr>
                  <a:t>0.5</a:t>
                </a:r>
                <a:endParaRPr lang="en-US" b="1" dirty="0"/>
              </a:p>
            </p:txBody>
          </p:sp>
        </mc:Choice>
        <mc:Fallback xmlns="">
          <p:sp>
            <p:nvSpPr>
              <p:cNvPr id="12" name="文本框 11">
                <a:extLst>
                  <a:ext uri="{FF2B5EF4-FFF2-40B4-BE49-F238E27FC236}">
                    <a16:creationId xmlns:a16="http://schemas.microsoft.com/office/drawing/2014/main" id="{8B8B8317-CEB4-42E7-91DA-B4B856A04611}"/>
                  </a:ext>
                </a:extLst>
              </p:cNvPr>
              <p:cNvSpPr txBox="1">
                <a:spLocks noRot="1" noChangeAspect="1" noMove="1" noResize="1" noEditPoints="1" noAdjustHandles="1" noChangeArrowheads="1" noChangeShapeType="1" noTextEdit="1"/>
              </p:cNvSpPr>
              <p:nvPr/>
            </p:nvSpPr>
            <p:spPr>
              <a:xfrm>
                <a:off x="8093664" y="1013203"/>
                <a:ext cx="1170214" cy="369332"/>
              </a:xfrm>
              <a:prstGeom prst="rect">
                <a:avLst/>
              </a:prstGeom>
              <a:blipFill>
                <a:blip r:embed="rId2"/>
                <a:stretch>
                  <a:fillRect t="-6667" b="-23333"/>
                </a:stretch>
              </a:blipFill>
            </p:spPr>
            <p:txBody>
              <a:bodyPr/>
              <a:lstStyle/>
              <a:p>
                <a:r>
                  <a:rPr lang="en-CN">
                    <a:noFill/>
                  </a:rPr>
                  <a:t> </a:t>
                </a:r>
              </a:p>
            </p:txBody>
          </p:sp>
        </mc:Fallback>
      </mc:AlternateContent>
      <p:pic>
        <p:nvPicPr>
          <p:cNvPr id="3" name="Picture 2">
            <a:extLst>
              <a:ext uri="{FF2B5EF4-FFF2-40B4-BE49-F238E27FC236}">
                <a16:creationId xmlns:a16="http://schemas.microsoft.com/office/drawing/2014/main" id="{AD15F28A-59CD-2F46-8068-381337F733D8}"/>
              </a:ext>
            </a:extLst>
          </p:cNvPr>
          <p:cNvPicPr>
            <a:picLocks noChangeAspect="1"/>
          </p:cNvPicPr>
          <p:nvPr/>
        </p:nvPicPr>
        <p:blipFill>
          <a:blip r:embed="rId3"/>
          <a:stretch>
            <a:fillRect/>
          </a:stretch>
        </p:blipFill>
        <p:spPr>
          <a:xfrm>
            <a:off x="2278164" y="0"/>
            <a:ext cx="5570897" cy="6858000"/>
          </a:xfrm>
          <a:prstGeom prst="rect">
            <a:avLst/>
          </a:prstGeom>
        </p:spPr>
      </p:pic>
    </p:spTree>
    <p:extLst>
      <p:ext uri="{BB962C8B-B14F-4D97-AF65-F5344CB8AC3E}">
        <p14:creationId xmlns:p14="http://schemas.microsoft.com/office/powerpoint/2010/main" val="40635752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84D6A-15D6-4DA3-8373-DC7597CB826C}"/>
              </a:ext>
            </a:extLst>
          </p:cNvPr>
          <p:cNvSpPr>
            <a:spLocks noGrp="1"/>
          </p:cNvSpPr>
          <p:nvPr>
            <p:ph type="title"/>
          </p:nvPr>
        </p:nvSpPr>
        <p:spPr/>
        <p:txBody>
          <a:bodyPr/>
          <a:lstStyle/>
          <a:p>
            <a:r>
              <a:rPr lang="en-US" altLang="zh-CN" dirty="0"/>
              <a:t>Summary</a:t>
            </a:r>
            <a:endParaRPr lang="zh-CN" altLang="en-US" dirty="0"/>
          </a:p>
        </p:txBody>
      </p:sp>
      <p:sp>
        <p:nvSpPr>
          <p:cNvPr id="3" name="内容占位符 2">
            <a:extLst>
              <a:ext uri="{FF2B5EF4-FFF2-40B4-BE49-F238E27FC236}">
                <a16:creationId xmlns:a16="http://schemas.microsoft.com/office/drawing/2014/main" id="{A5AAF1E7-7DFD-420F-85D5-4414E74DCF35}"/>
              </a:ext>
            </a:extLst>
          </p:cNvPr>
          <p:cNvSpPr>
            <a:spLocks noGrp="1"/>
          </p:cNvSpPr>
          <p:nvPr>
            <p:ph idx="1"/>
          </p:nvPr>
        </p:nvSpPr>
        <p:spPr/>
        <p:txBody>
          <a:bodyPr/>
          <a:lstStyle/>
          <a:p>
            <a:r>
              <a:rPr lang="en-US" altLang="zh-CN" dirty="0"/>
              <a:t>The operating system must make </a:t>
            </a:r>
            <a:r>
              <a:rPr lang="en-US" altLang="zh-CN" dirty="0">
                <a:solidFill>
                  <a:srgbClr val="0070C0"/>
                </a:solidFill>
              </a:rPr>
              <a:t>three types </a:t>
            </a:r>
            <a:r>
              <a:rPr lang="en-US" altLang="zh-CN" dirty="0"/>
              <a:t>of scheduling decisions with respect to the execution of processes:</a:t>
            </a:r>
          </a:p>
          <a:p>
            <a:pPr lvl="1"/>
            <a:r>
              <a:rPr lang="en-US" altLang="zh-CN" dirty="0"/>
              <a:t>Long-term </a:t>
            </a:r>
          </a:p>
          <a:p>
            <a:pPr lvl="1"/>
            <a:r>
              <a:rPr lang="en-US" altLang="zh-CN" dirty="0"/>
              <a:t>Medium-term </a:t>
            </a:r>
          </a:p>
          <a:p>
            <a:pPr lvl="1"/>
            <a:r>
              <a:rPr lang="en-US" altLang="zh-CN" dirty="0"/>
              <a:t>Short-term </a:t>
            </a:r>
          </a:p>
          <a:p>
            <a:pPr lvl="1"/>
            <a:r>
              <a:rPr lang="en-US" altLang="zh-CN" dirty="0"/>
              <a:t>From a </a:t>
            </a:r>
            <a:r>
              <a:rPr lang="en-US" altLang="zh-CN" b="1" dirty="0"/>
              <a:t>user’s point </a:t>
            </a:r>
            <a:r>
              <a:rPr lang="en-US" altLang="zh-CN" dirty="0"/>
              <a:t>of view, </a:t>
            </a:r>
            <a:r>
              <a:rPr lang="en-US" altLang="zh-CN" dirty="0">
                <a:solidFill>
                  <a:srgbClr val="0070C0"/>
                </a:solidFill>
              </a:rPr>
              <a:t>response time </a:t>
            </a:r>
            <a:r>
              <a:rPr lang="en-US" altLang="zh-CN" dirty="0"/>
              <a:t>is generally the most important characteristic of a system; from </a:t>
            </a:r>
            <a:r>
              <a:rPr lang="en-US" altLang="zh-CN" b="1" dirty="0"/>
              <a:t>a system point </a:t>
            </a:r>
            <a:r>
              <a:rPr lang="en-US" altLang="zh-CN" dirty="0"/>
              <a:t>of view, </a:t>
            </a:r>
            <a:r>
              <a:rPr lang="en-US" altLang="zh-CN" dirty="0">
                <a:solidFill>
                  <a:srgbClr val="0070C0"/>
                </a:solidFill>
              </a:rPr>
              <a:t>throughput</a:t>
            </a:r>
            <a:r>
              <a:rPr lang="en-US" altLang="zh-CN" dirty="0"/>
              <a:t> or processor utilization is important</a:t>
            </a:r>
          </a:p>
          <a:p>
            <a:r>
              <a:rPr lang="en-US" altLang="zh-CN" dirty="0"/>
              <a:t>Scheduling Policies:</a:t>
            </a:r>
          </a:p>
          <a:p>
            <a:pPr lvl="1"/>
            <a:r>
              <a:rPr lang="en-US" altLang="zh-CN" dirty="0"/>
              <a:t>FCFS, Round Robin, SPN, SRT, HRRN, Feedback</a:t>
            </a:r>
            <a:r>
              <a:rPr lang="zh-CN" altLang="en-US" dirty="0"/>
              <a:t>，</a:t>
            </a:r>
            <a:r>
              <a:rPr lang="en-US" altLang="zh-CN" dirty="0"/>
              <a:t>fair-share</a:t>
            </a:r>
          </a:p>
          <a:p>
            <a:endParaRPr lang="zh-CN" altLang="en-US" dirty="0"/>
          </a:p>
        </p:txBody>
      </p:sp>
    </p:spTree>
    <p:extLst>
      <p:ext uri="{BB962C8B-B14F-4D97-AF65-F5344CB8AC3E}">
        <p14:creationId xmlns:p14="http://schemas.microsoft.com/office/powerpoint/2010/main" val="19329525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0F914-E797-4DE2-9EB3-169F55D44029}"/>
              </a:ext>
            </a:extLst>
          </p:cNvPr>
          <p:cNvSpPr>
            <a:spLocks noGrp="1"/>
          </p:cNvSpPr>
          <p:nvPr>
            <p:ph type="title"/>
          </p:nvPr>
        </p:nvSpPr>
        <p:spPr/>
        <p:txBody>
          <a:bodyPr/>
          <a:lstStyle/>
          <a:p>
            <a:r>
              <a:rPr lang="en-US" dirty="0"/>
              <a:t>Quiz</a:t>
            </a:r>
          </a:p>
        </p:txBody>
      </p:sp>
      <p:sp>
        <p:nvSpPr>
          <p:cNvPr id="4" name="灯片编号占位符 3">
            <a:extLst>
              <a:ext uri="{FF2B5EF4-FFF2-40B4-BE49-F238E27FC236}">
                <a16:creationId xmlns:a16="http://schemas.microsoft.com/office/drawing/2014/main" id="{702D7C3B-0948-459A-9352-42A603259480}"/>
              </a:ext>
            </a:extLst>
          </p:cNvPr>
          <p:cNvSpPr>
            <a:spLocks noGrp="1"/>
          </p:cNvSpPr>
          <p:nvPr>
            <p:ph type="sldNum" sz="quarter" idx="12"/>
          </p:nvPr>
        </p:nvSpPr>
        <p:spPr/>
        <p:txBody>
          <a:bodyPr/>
          <a:lstStyle/>
          <a:p>
            <a:fld id="{2093D444-7193-46AD-90E8-D84AE4B61CFF}" type="slidenum">
              <a:rPr lang="en-US" smtClean="0"/>
              <a:pPr/>
              <a:t>47</a:t>
            </a:fld>
            <a:r>
              <a:rPr lang="en-US"/>
              <a:t>/56</a:t>
            </a:r>
            <a:endParaRPr lang="en-US" dirty="0"/>
          </a:p>
        </p:txBody>
      </p:sp>
      <p:sp>
        <p:nvSpPr>
          <p:cNvPr id="5" name="日期占位符 4">
            <a:extLst>
              <a:ext uri="{FF2B5EF4-FFF2-40B4-BE49-F238E27FC236}">
                <a16:creationId xmlns:a16="http://schemas.microsoft.com/office/drawing/2014/main" id="{8B2147E7-0C31-4559-82EA-458FCB7CA966}"/>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p:pic>
        <p:nvPicPr>
          <p:cNvPr id="9" name="Picture 8">
            <a:extLst>
              <a:ext uri="{FF2B5EF4-FFF2-40B4-BE49-F238E27FC236}">
                <a16:creationId xmlns:a16="http://schemas.microsoft.com/office/drawing/2014/main" id="{F1EA3E30-E193-0146-BB44-C163A74B5710}"/>
              </a:ext>
            </a:extLst>
          </p:cNvPr>
          <p:cNvPicPr>
            <a:picLocks noChangeAspect="1"/>
          </p:cNvPicPr>
          <p:nvPr/>
        </p:nvPicPr>
        <p:blipFill>
          <a:blip r:embed="rId2"/>
          <a:stretch>
            <a:fillRect/>
          </a:stretch>
        </p:blipFill>
        <p:spPr>
          <a:xfrm>
            <a:off x="668595" y="832879"/>
            <a:ext cx="10766322" cy="5418085"/>
          </a:xfrm>
          <a:prstGeom prst="rect">
            <a:avLst/>
          </a:prstGeom>
        </p:spPr>
      </p:pic>
    </p:spTree>
    <p:extLst>
      <p:ext uri="{BB962C8B-B14F-4D97-AF65-F5344CB8AC3E}">
        <p14:creationId xmlns:p14="http://schemas.microsoft.com/office/powerpoint/2010/main" val="31214636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0F914-E797-4DE2-9EB3-169F55D44029}"/>
              </a:ext>
            </a:extLst>
          </p:cNvPr>
          <p:cNvSpPr>
            <a:spLocks noGrp="1"/>
          </p:cNvSpPr>
          <p:nvPr>
            <p:ph type="title"/>
          </p:nvPr>
        </p:nvSpPr>
        <p:spPr/>
        <p:txBody>
          <a:bodyPr/>
          <a:lstStyle/>
          <a:p>
            <a:r>
              <a:rPr lang="en-US" dirty="0"/>
              <a:t>Quiz</a:t>
            </a:r>
          </a:p>
        </p:txBody>
      </p:sp>
      <p:pic>
        <p:nvPicPr>
          <p:cNvPr id="7" name="内容占位符 6">
            <a:extLst>
              <a:ext uri="{FF2B5EF4-FFF2-40B4-BE49-F238E27FC236}">
                <a16:creationId xmlns:a16="http://schemas.microsoft.com/office/drawing/2014/main" id="{4F7C6005-01F7-4564-B71D-D3EF86376F66}"/>
              </a:ext>
            </a:extLst>
          </p:cNvPr>
          <p:cNvPicPr>
            <a:picLocks noGrp="1" noChangeAspect="1"/>
          </p:cNvPicPr>
          <p:nvPr>
            <p:ph idx="1"/>
          </p:nvPr>
        </p:nvPicPr>
        <p:blipFill>
          <a:blip r:embed="rId2"/>
          <a:stretch>
            <a:fillRect/>
          </a:stretch>
        </p:blipFill>
        <p:spPr>
          <a:xfrm>
            <a:off x="790131" y="1179871"/>
            <a:ext cx="10646632" cy="3913238"/>
          </a:xfrm>
        </p:spPr>
      </p:pic>
      <p:sp>
        <p:nvSpPr>
          <p:cNvPr id="4" name="灯片编号占位符 3">
            <a:extLst>
              <a:ext uri="{FF2B5EF4-FFF2-40B4-BE49-F238E27FC236}">
                <a16:creationId xmlns:a16="http://schemas.microsoft.com/office/drawing/2014/main" id="{702D7C3B-0948-459A-9352-42A603259480}"/>
              </a:ext>
            </a:extLst>
          </p:cNvPr>
          <p:cNvSpPr>
            <a:spLocks noGrp="1"/>
          </p:cNvSpPr>
          <p:nvPr>
            <p:ph type="sldNum" sz="quarter" idx="12"/>
          </p:nvPr>
        </p:nvSpPr>
        <p:spPr/>
        <p:txBody>
          <a:bodyPr/>
          <a:lstStyle/>
          <a:p>
            <a:fld id="{2093D444-7193-46AD-90E8-D84AE4B61CFF}" type="slidenum">
              <a:rPr lang="en-US" smtClean="0"/>
              <a:pPr/>
              <a:t>48</a:t>
            </a:fld>
            <a:r>
              <a:rPr lang="en-US"/>
              <a:t>/56</a:t>
            </a:r>
            <a:endParaRPr lang="en-US" dirty="0"/>
          </a:p>
        </p:txBody>
      </p:sp>
      <p:sp>
        <p:nvSpPr>
          <p:cNvPr id="5" name="日期占位符 4">
            <a:extLst>
              <a:ext uri="{FF2B5EF4-FFF2-40B4-BE49-F238E27FC236}">
                <a16:creationId xmlns:a16="http://schemas.microsoft.com/office/drawing/2014/main" id="{8B2147E7-0C31-4559-82EA-458FCB7CA966}"/>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p:spTree>
    <p:extLst>
      <p:ext uri="{BB962C8B-B14F-4D97-AF65-F5344CB8AC3E}">
        <p14:creationId xmlns:p14="http://schemas.microsoft.com/office/powerpoint/2010/main" val="32893705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4E554-CF40-A744-B3CE-2EDE1EAA2069}"/>
              </a:ext>
            </a:extLst>
          </p:cNvPr>
          <p:cNvSpPr>
            <a:spLocks noGrp="1"/>
          </p:cNvSpPr>
          <p:nvPr>
            <p:ph type="title"/>
          </p:nvPr>
        </p:nvSpPr>
        <p:spPr/>
        <p:txBody>
          <a:bodyPr/>
          <a:lstStyle/>
          <a:p>
            <a:r>
              <a:rPr lang="en-US" dirty="0"/>
              <a:t>Quiz</a:t>
            </a:r>
            <a:endParaRPr lang="en-CN" dirty="0"/>
          </a:p>
        </p:txBody>
      </p:sp>
      <p:sp>
        <p:nvSpPr>
          <p:cNvPr id="3" name="Content Placeholder 2">
            <a:extLst>
              <a:ext uri="{FF2B5EF4-FFF2-40B4-BE49-F238E27FC236}">
                <a16:creationId xmlns:a16="http://schemas.microsoft.com/office/drawing/2014/main" id="{6CEA9EDD-1B6C-E84E-942A-4C04C94246CF}"/>
              </a:ext>
            </a:extLst>
          </p:cNvPr>
          <p:cNvSpPr>
            <a:spLocks noGrp="1"/>
          </p:cNvSpPr>
          <p:nvPr>
            <p:ph idx="1"/>
          </p:nvPr>
        </p:nvSpPr>
        <p:spPr/>
        <p:txBody>
          <a:bodyPr/>
          <a:lstStyle/>
          <a:p>
            <a:endParaRPr lang="en-CN"/>
          </a:p>
        </p:txBody>
      </p:sp>
      <p:sp>
        <p:nvSpPr>
          <p:cNvPr id="4" name="Slide Number Placeholder 3">
            <a:extLst>
              <a:ext uri="{FF2B5EF4-FFF2-40B4-BE49-F238E27FC236}">
                <a16:creationId xmlns:a16="http://schemas.microsoft.com/office/drawing/2014/main" id="{1F5CF21F-51B0-A04F-B6D4-4A70C393FEB0}"/>
              </a:ext>
            </a:extLst>
          </p:cNvPr>
          <p:cNvSpPr>
            <a:spLocks noGrp="1"/>
          </p:cNvSpPr>
          <p:nvPr>
            <p:ph type="sldNum" sz="quarter" idx="12"/>
          </p:nvPr>
        </p:nvSpPr>
        <p:spPr/>
        <p:txBody>
          <a:bodyPr/>
          <a:lstStyle/>
          <a:p>
            <a:fld id="{2093D444-7193-46AD-90E8-D84AE4B61CFF}" type="slidenum">
              <a:rPr lang="en-US" smtClean="0"/>
              <a:pPr/>
              <a:t>49</a:t>
            </a:fld>
            <a:r>
              <a:rPr lang="en-US"/>
              <a:t>/56</a:t>
            </a:r>
            <a:endParaRPr lang="en-US" dirty="0"/>
          </a:p>
        </p:txBody>
      </p:sp>
      <p:sp>
        <p:nvSpPr>
          <p:cNvPr id="5" name="Date Placeholder 4">
            <a:extLst>
              <a:ext uri="{FF2B5EF4-FFF2-40B4-BE49-F238E27FC236}">
                <a16:creationId xmlns:a16="http://schemas.microsoft.com/office/drawing/2014/main" id="{5B93B942-2D1C-E34E-BF26-EB731E516512}"/>
              </a:ext>
            </a:extLst>
          </p:cNvPr>
          <p:cNvSpPr>
            <a:spLocks noGrp="1"/>
          </p:cNvSpPr>
          <p:nvPr>
            <p:ph type="dt" sz="half" idx="10"/>
          </p:nvPr>
        </p:nvSpPr>
        <p:spPr/>
        <p:txBody>
          <a:bodyPr/>
          <a:lstStyle/>
          <a:p>
            <a:fld id="{CAE4635A-F0E4-48AF-AAB4-A99FBE2C944F}" type="datetime1">
              <a:rPr lang="zh-CN" altLang="en-US" smtClean="0"/>
              <a:t>2026/3/24</a:t>
            </a:fld>
            <a:endParaRPr lang="zh-CN" altLang="en-US" dirty="0"/>
          </a:p>
        </p:txBody>
      </p:sp>
      <p:pic>
        <p:nvPicPr>
          <p:cNvPr id="6" name="Picture 5">
            <a:extLst>
              <a:ext uri="{FF2B5EF4-FFF2-40B4-BE49-F238E27FC236}">
                <a16:creationId xmlns:a16="http://schemas.microsoft.com/office/drawing/2014/main" id="{6612EFC5-6FBF-974A-9D4C-F3B6A91705FE}"/>
              </a:ext>
            </a:extLst>
          </p:cNvPr>
          <p:cNvPicPr>
            <a:picLocks noChangeAspect="1"/>
          </p:cNvPicPr>
          <p:nvPr/>
        </p:nvPicPr>
        <p:blipFill>
          <a:blip r:embed="rId2"/>
          <a:stretch>
            <a:fillRect/>
          </a:stretch>
        </p:blipFill>
        <p:spPr>
          <a:xfrm>
            <a:off x="707351" y="806245"/>
            <a:ext cx="10825888" cy="4135167"/>
          </a:xfrm>
          <a:prstGeom prst="rect">
            <a:avLst/>
          </a:prstGeom>
        </p:spPr>
      </p:pic>
    </p:spTree>
    <p:extLst>
      <p:ext uri="{BB962C8B-B14F-4D97-AF65-F5344CB8AC3E}">
        <p14:creationId xmlns:p14="http://schemas.microsoft.com/office/powerpoint/2010/main" val="606545346"/>
      </p:ext>
    </p:extLst>
  </p:cSld>
  <p:clrMapOvr>
    <a:masterClrMapping/>
  </p:clrMapOvr>
</p:sld>
</file>

<file path=ppt/theme/theme1.xml><?xml version="1.0" encoding="utf-8"?>
<a:theme xmlns:a="http://schemas.openxmlformats.org/drawingml/2006/main" name="1_Office 主题​​">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6180</TotalTime>
  <Words>1479</Words>
  <Application>Microsoft Macintosh PowerPoint</Application>
  <PresentationFormat>Widescreen</PresentationFormat>
  <Paragraphs>252</Paragraphs>
  <Slides>49</Slides>
  <Notes>7</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60" baseType="lpstr">
      <vt:lpstr>等线</vt:lpstr>
      <vt:lpstr>Microsoft YaHei</vt:lpstr>
      <vt:lpstr>Microsoft YaHei UI</vt:lpstr>
      <vt:lpstr>TimesLTPro-Roman</vt:lpstr>
      <vt:lpstr>TimesTenLTStd-Roman</vt:lpstr>
      <vt:lpstr>Arial</vt:lpstr>
      <vt:lpstr>Calibri</vt:lpstr>
      <vt:lpstr>Cambria Math</vt:lpstr>
      <vt:lpstr>Wingdings</vt:lpstr>
      <vt:lpstr>1_Office 主题​​</vt:lpstr>
      <vt:lpstr>公式</vt:lpstr>
      <vt:lpstr>Uniprocessor Scheduling</vt:lpstr>
      <vt:lpstr>Bridge-In: Seven State Diagram </vt:lpstr>
      <vt:lpstr>Queueing Diagram</vt:lpstr>
      <vt:lpstr>Objectives</vt:lpstr>
      <vt:lpstr>9.1 Processor Scheduling</vt:lpstr>
      <vt:lpstr>Scheduling and Process State Transitions</vt:lpstr>
      <vt:lpstr>Levels of Scheduling</vt:lpstr>
      <vt:lpstr>Long-Term Scheduling</vt:lpstr>
      <vt:lpstr>Medium-Term Scheduling</vt:lpstr>
      <vt:lpstr>9.2 Short-Term Scheduling</vt:lpstr>
      <vt:lpstr>9.2.1 Short Term Scheduling Criteria</vt:lpstr>
      <vt:lpstr>Scheduling Criteria</vt:lpstr>
      <vt:lpstr>Another dimension</vt:lpstr>
      <vt:lpstr>9.2.2 The Use of Priorities</vt:lpstr>
      <vt:lpstr>9.2.3 Alternative Scheduling Policies</vt:lpstr>
      <vt:lpstr>Selection Function</vt:lpstr>
      <vt:lpstr>Decision Mode（决策模式）</vt:lpstr>
      <vt:lpstr>Process Scheduling Example</vt:lpstr>
      <vt:lpstr>First-Come-First-Served (FCFS)</vt:lpstr>
      <vt:lpstr>First-Come-First-Served (FCFS)</vt:lpstr>
      <vt:lpstr>Issues of FCFS</vt:lpstr>
      <vt:lpstr>Round Robin</vt:lpstr>
      <vt:lpstr>Round Robin</vt:lpstr>
      <vt:lpstr>Effect of Size of Preemption Time Quantum</vt:lpstr>
      <vt:lpstr>Effect of Size of Preemption Time Quantum</vt:lpstr>
      <vt:lpstr>Virtual Round-Robin Scheduler</vt:lpstr>
      <vt:lpstr>Shortest Process Next (SPN)</vt:lpstr>
      <vt:lpstr>Shortest Process Next (SPN)</vt:lpstr>
      <vt:lpstr>Estimate running time</vt:lpstr>
      <vt:lpstr>Estimate running time</vt:lpstr>
      <vt:lpstr>Exponential Smoothing Coefficients</vt:lpstr>
      <vt:lpstr>Use Of Exponential Averaging</vt:lpstr>
      <vt:lpstr>Use Of Exponential Averaging</vt:lpstr>
      <vt:lpstr>Shortest Remaining Time (SRT)</vt:lpstr>
      <vt:lpstr>Shortest Remaining Time (SRT)</vt:lpstr>
      <vt:lpstr>Highest Response Ratio Next (HRRN)</vt:lpstr>
      <vt:lpstr>Highest Response Ratio Next (HRRN)</vt:lpstr>
      <vt:lpstr>Feedback Scheduling</vt:lpstr>
      <vt:lpstr>Feedback Performance</vt:lpstr>
      <vt:lpstr>A Comparison of Scheduling Policies</vt:lpstr>
      <vt:lpstr>A Comparison of Scheduling Policies （cont.）</vt:lpstr>
      <vt:lpstr>Fair-Share Scheduling</vt:lpstr>
      <vt:lpstr>Fair-Share Scheduler Implemented in UNIX</vt:lpstr>
      <vt:lpstr>Fair-Share Scheduler (FSS):</vt:lpstr>
      <vt:lpstr>Fair-Share Scheduler (FSS):</vt:lpstr>
      <vt:lpstr>Summary</vt:lpstr>
      <vt:lpstr>Quiz</vt:lpstr>
      <vt:lpstr>Quiz</vt:lpstr>
      <vt:lpstr>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dc:title>
  <dc:creator>飞 滕</dc:creator>
  <cp:lastModifiedBy>yang li</cp:lastModifiedBy>
  <cp:revision>657</cp:revision>
  <dcterms:created xsi:type="dcterms:W3CDTF">2020-02-20T05:29:15Z</dcterms:created>
  <dcterms:modified xsi:type="dcterms:W3CDTF">2026-03-24T04:16:21Z</dcterms:modified>
</cp:coreProperties>
</file>