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68"/>
  </p:notesMasterIdLst>
  <p:sldIdLst>
    <p:sldId id="398" r:id="rId2"/>
    <p:sldId id="381" r:id="rId3"/>
    <p:sldId id="408" r:id="rId4"/>
    <p:sldId id="373" r:id="rId5"/>
    <p:sldId id="377" r:id="rId6"/>
    <p:sldId id="399" r:id="rId7"/>
    <p:sldId id="325" r:id="rId8"/>
    <p:sldId id="401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409" r:id="rId17"/>
    <p:sldId id="402" r:id="rId18"/>
    <p:sldId id="410" r:id="rId19"/>
    <p:sldId id="334" r:id="rId20"/>
    <p:sldId id="335" r:id="rId21"/>
    <p:sldId id="336" r:id="rId22"/>
    <p:sldId id="338" r:id="rId23"/>
    <p:sldId id="339" r:id="rId24"/>
    <p:sldId id="411" r:id="rId25"/>
    <p:sldId id="341" r:id="rId26"/>
    <p:sldId id="342" r:id="rId27"/>
    <p:sldId id="343" r:id="rId28"/>
    <p:sldId id="403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404" r:id="rId39"/>
    <p:sldId id="354" r:id="rId40"/>
    <p:sldId id="355" r:id="rId41"/>
    <p:sldId id="359" r:id="rId42"/>
    <p:sldId id="405" r:id="rId43"/>
    <p:sldId id="412" r:id="rId44"/>
    <p:sldId id="413" r:id="rId45"/>
    <p:sldId id="414" r:id="rId46"/>
    <p:sldId id="357" r:id="rId47"/>
    <p:sldId id="358" r:id="rId48"/>
    <p:sldId id="415" r:id="rId49"/>
    <p:sldId id="360" r:id="rId50"/>
    <p:sldId id="361" r:id="rId51"/>
    <p:sldId id="406" r:id="rId52"/>
    <p:sldId id="362" r:id="rId53"/>
    <p:sldId id="363" r:id="rId54"/>
    <p:sldId id="364" r:id="rId55"/>
    <p:sldId id="365" r:id="rId56"/>
    <p:sldId id="366" r:id="rId57"/>
    <p:sldId id="367" r:id="rId58"/>
    <p:sldId id="368" r:id="rId59"/>
    <p:sldId id="418" r:id="rId60"/>
    <p:sldId id="369" r:id="rId61"/>
    <p:sldId id="370" r:id="rId62"/>
    <p:sldId id="371" r:id="rId63"/>
    <p:sldId id="372" r:id="rId64"/>
    <p:sldId id="396" r:id="rId65"/>
    <p:sldId id="417" r:id="rId66"/>
    <p:sldId id="416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95" autoAdjust="0"/>
    <p:restoredTop sz="94632" autoAdjust="0"/>
  </p:normalViewPr>
  <p:slideViewPr>
    <p:cSldViewPr snapToGrid="0">
      <p:cViewPr varScale="1">
        <p:scale>
          <a:sx n="72" d="100"/>
          <a:sy n="72" d="100"/>
        </p:scale>
        <p:origin x="416" y="36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2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676ED-31AD-43FB-A49E-D33E228A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422C94-50F2-4AE9-86A9-E61113E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A43B6-600F-417C-93A9-1FD37B86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518D2-B6AF-44E6-AA62-E551DAC8C681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6F7F6-9FE2-4D4C-864B-75CAFF39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D69EF-23A2-4ACE-83F0-B1DA318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997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1735-B29C-4DD1-A401-C0EC3324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10515600" cy="61676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37B7-8C78-4782-A312-6CE3597C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372F8-B13E-4C13-8035-517AFC04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/56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FC96DF-A291-4168-A068-D1202F815F00}"/>
              </a:ext>
            </a:extLst>
          </p:cNvPr>
          <p:cNvSpPr txBox="1"/>
          <p:nvPr userDrawn="1"/>
        </p:nvSpPr>
        <p:spPr>
          <a:xfrm>
            <a:off x="1879603" y="6356354"/>
            <a:ext cx="843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OS: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Multiprocessor, Multicore and Real-Time Scheduling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7DCD789-2F9C-4890-8FFB-CFE5A82A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6"/>
            <a:ext cx="2743200" cy="365125"/>
          </a:xfrm>
        </p:spPr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935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FB2E7-CD10-401E-B2A8-7149F847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A83809-0CD6-4E99-B235-4D68139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1F12C-08AA-45AB-908E-59440A6C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1E9D2-2264-459C-8B3D-B5F4E24A78EE}" type="datetime1">
              <a:rPr lang="zh-CN" altLang="en-US" smtClean="0"/>
              <a:t>2026/4/20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61642-9D96-4148-8180-D0B2B50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EB5D8-A13F-457E-826D-95AC9F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771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E999A-7582-4E5D-A9FB-8CDEF52E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3E153-1AD5-46DD-B8DE-61DF0461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248A8-0745-4392-A1F2-F6DF355FF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D8C1F-5ACD-48A3-93C6-718634C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14383-127D-45CE-985C-F5D7DFB9A214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22B1C-A4A1-4342-9DAC-218041BC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CC53A-B54E-4AEB-86B3-C8CD6AF7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08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E34E-984F-4F04-A7FF-17195BC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1511-A802-4F5E-86A2-D80D5C0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FAF3-D8C1-45A2-BA48-80B3498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1460-B631-4C46-908A-FE9A10522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5D71-25C4-4922-9405-6A048B91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751F0-F0EA-4B00-B971-5EE1B3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0796-D505-4121-85A8-A7000215742F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47BC4-C2D4-4C81-B588-5459ACF0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723A5-6ECE-4EAA-A5C6-EABD8CD3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10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52D2-8976-40DD-BA31-408AB98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58EC2-E957-4F1C-83FD-787BB2C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18E7-AF16-403D-9175-2BEDA2EA9B61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6991F-2419-4982-884B-D42FF1A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98A650-CAEE-412E-B9BF-886CCFD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61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BD33B-092C-4074-8EDA-3C4FE78A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8788" y="6356355"/>
            <a:ext cx="2743200" cy="365125"/>
          </a:xfrm>
        </p:spPr>
        <p:txBody>
          <a:bodyPr/>
          <a:lstStyle/>
          <a:p>
            <a:fld id="{E85D3D3A-77F9-424B-8401-D88E7443C7BA}" type="datetime1">
              <a:rPr lang="zh-CN" altLang="en-US" smtClean="0"/>
              <a:t>2026/4/20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D8F40-5181-4836-B8DD-3A9908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2A77F-D152-4CDD-99EA-FD8387B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82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21370-F61A-4FFA-8158-63411BEF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4B4E2-CBF2-4B8F-9FBE-CE369EF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17E24-6C8C-4AC7-8665-96EC08B1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3FA8D-1C48-4107-82A1-179513C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0EA7-74E6-4FB2-9140-FB5D8B03A084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BC6DC-C4E0-4913-82DB-024E67F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7BBE5-0CE5-41DC-8976-ECDB917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41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D30F-E495-4188-86D6-1CC70B80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D1BDB-E14E-4C2F-8A31-0C603947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6B3D-921F-4319-83AB-6599543C1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720358-A521-4F46-ABEB-E0AE1BAB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25B-0834-4655-A019-0CA277BBA62B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8CC20-8FFA-4C0C-89A1-5655241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BA9C1-FE7E-475B-A075-82D6279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16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7C9F-382B-48B3-AEE3-A127545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CEB06-E6AC-47BF-A94B-0ED4AAAD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F83F-CE58-4F03-BCC7-46A6A13F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3FE8-D20A-4EE4-8226-599A06356ED0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299B-B55F-4721-90C3-0CFE23FA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0ADCF-1B44-43D8-AB3F-8541D623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22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D9C40E-5C6D-4234-8128-E50188E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915B8-7307-4BCC-9A61-569D45C9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CA776-3C88-4450-AD71-6D2C500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E7FE-20C0-45BF-B15A-146DCD6D0F0A}" type="datetime1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02269-E005-4BE1-94C3-C26720F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685CF-5F0E-4F70-99BE-CCD46BC0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33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FFB6-8F21-4ACC-BC1E-3F66BCB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7" y="156309"/>
            <a:ext cx="10515600" cy="596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5B20-A1AA-4A92-9D7A-2F7B14A4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8915"/>
            <a:ext cx="10515600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8EA23-1C26-401F-ABA1-2D300BB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D2516-6BB2-4D80-AD17-EF4D1CEDF814}" type="datetime1">
              <a:rPr lang="zh-CN" altLang="en-US" smtClean="0"/>
              <a:pPr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A4D13-4A5F-475E-88F7-2A6ECD6D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CE78-DD67-4C8D-A584-09B016DC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D444-7193-46AD-90E8-D84AE4B61CFF}" type="slidenum">
              <a:rPr lang="en-US" smtClean="0"/>
              <a:pPr/>
              <a:t>‹#›</a:t>
            </a:fld>
            <a:r>
              <a:rPr lang="en-US"/>
              <a:t>/56</a:t>
            </a:r>
            <a:endParaRPr 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F50452-02B7-425B-AC62-B4A14A701625}"/>
              </a:ext>
            </a:extLst>
          </p:cNvPr>
          <p:cNvCxnSpPr>
            <a:cxnSpLocks/>
          </p:cNvCxnSpPr>
          <p:nvPr userDrawn="1"/>
        </p:nvCxnSpPr>
        <p:spPr>
          <a:xfrm>
            <a:off x="627017" y="767807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5A9AA1-FEE7-4EAB-B05C-92F8372A2329}"/>
              </a:ext>
            </a:extLst>
          </p:cNvPr>
          <p:cNvCxnSpPr>
            <a:cxnSpLocks/>
          </p:cNvCxnSpPr>
          <p:nvPr userDrawn="1"/>
        </p:nvCxnSpPr>
        <p:spPr>
          <a:xfrm>
            <a:off x="627017" y="6287589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98AC04-83D3-4028-869F-84D382FA74BB}"/>
              </a:ext>
            </a:extLst>
          </p:cNvPr>
          <p:cNvGrpSpPr/>
          <p:nvPr userDrawn="1"/>
        </p:nvGrpSpPr>
        <p:grpSpPr>
          <a:xfrm>
            <a:off x="9982200" y="186423"/>
            <a:ext cx="1794536" cy="472074"/>
            <a:chOff x="504825" y="327025"/>
            <a:chExt cx="2482851" cy="6364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9F7D68F-F6C5-482F-BB06-4C7202C96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>
              <a:fillRect/>
            </a:stretch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8389FF0-6461-4154-A98D-1E4418062F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>
              <a:fillRect/>
            </a:stretch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385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Wingdings" panose="05000000000000000000" pitchFamily="2" charset="2"/>
        <a:buChar char="q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iyang23@swjt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049FF0F-9A2E-4D53-AA74-EBD28C2130D5}"/>
              </a:ext>
            </a:extLst>
          </p:cNvPr>
          <p:cNvSpPr/>
          <p:nvPr/>
        </p:nvSpPr>
        <p:spPr>
          <a:xfrm>
            <a:off x="875563" y="1041403"/>
            <a:ext cx="10440884" cy="19532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6745571-2F0A-495B-9681-F40F6EF02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336" y="1041405"/>
            <a:ext cx="10565328" cy="1953295"/>
          </a:xfrm>
        </p:spPr>
        <p:txBody>
          <a:bodyPr>
            <a:normAutofit/>
          </a:bodyPr>
          <a:lstStyle/>
          <a:p>
            <a:r>
              <a:rPr lang="en-US" altLang="zh-CN" sz="6000" dirty="0">
                <a:solidFill>
                  <a:schemeClr val="accent1"/>
                </a:solidFill>
              </a:rPr>
              <a:t>Multiprocessor, Multicore and Real-Time Scheduling</a:t>
            </a:r>
            <a:endParaRPr lang="zh-CN" altLang="en-US" sz="6000" dirty="0">
              <a:solidFill>
                <a:schemeClr val="accent1"/>
              </a:solidFill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840A840C-E5AA-45FF-8158-9206D5149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434246"/>
            <a:ext cx="6858000" cy="248758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Lecturer: Li Yang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Contact: </a:t>
            </a: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hlinkClick r:id="rId2"/>
              </a:rPr>
              <a:t>liyang23@swjtu.edu.cn</a:t>
            </a:r>
            <a:endParaRPr lang="en-US" altLang="zh-CN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Office: X31506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Faculty: Computer and AI</a:t>
            </a:r>
            <a:endParaRPr lang="zh-CN" altLang="en-US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72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A3F1-537D-ED41-80A7-D2B78B1B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Levels of Scheduling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64BBA-DC92-7A41-A3EB-FEBAF1A7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2762C-68A2-8A4B-BFFE-93B71BB0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56BAE2-B14D-884B-8E6E-69245951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373" y="843713"/>
            <a:ext cx="3178056" cy="54422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A57FEF6-D745-574C-A586-C4ABB7AD3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3" y="1024027"/>
            <a:ext cx="7366896" cy="483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8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84D6A-15D6-4DA3-8373-DC7597CB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Scheduling Criteria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A0DB606-2A42-4AE7-AD4B-9331F004E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54B9084-E754-4DAC-97B7-D9E2CAE52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223" y="801353"/>
            <a:ext cx="6170687" cy="549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6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A4281-6C7C-48C3-A68F-965C1F4E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Scheduling Policies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460FD-6C07-41B1-8895-AE4C3D30E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70" y="979692"/>
            <a:ext cx="3055391" cy="51757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FCFS</a:t>
            </a:r>
            <a:r>
              <a:rPr lang="en-US" dirty="0"/>
              <a:t>: first come first served</a:t>
            </a:r>
          </a:p>
          <a:p>
            <a:r>
              <a:rPr lang="en-US" dirty="0">
                <a:solidFill>
                  <a:srgbClr val="0070C0"/>
                </a:solidFill>
              </a:rPr>
              <a:t>RR</a:t>
            </a:r>
            <a:r>
              <a:rPr lang="en-US" dirty="0"/>
              <a:t>: R</a:t>
            </a:r>
            <a:r>
              <a:rPr lang="en-US" altLang="zh-CN" dirty="0"/>
              <a:t>ound</a:t>
            </a:r>
            <a:r>
              <a:rPr lang="zh-CN" altLang="en-US" dirty="0"/>
              <a:t> </a:t>
            </a:r>
            <a:r>
              <a:rPr lang="en-US" altLang="zh-CN" dirty="0"/>
              <a:t>Robin</a:t>
            </a:r>
          </a:p>
          <a:p>
            <a:r>
              <a:rPr lang="en-US" dirty="0">
                <a:solidFill>
                  <a:srgbClr val="0070C0"/>
                </a:solidFill>
              </a:rPr>
              <a:t>SPN</a:t>
            </a:r>
            <a:r>
              <a:rPr lang="en-US" dirty="0"/>
              <a:t>: Shortest Process Next</a:t>
            </a:r>
          </a:p>
          <a:p>
            <a:r>
              <a:rPr lang="en-US" dirty="0">
                <a:solidFill>
                  <a:srgbClr val="0070C0"/>
                </a:solidFill>
              </a:rPr>
              <a:t>SRT</a:t>
            </a:r>
            <a:r>
              <a:rPr lang="en-US" dirty="0"/>
              <a:t>: Shortest Remaining Time</a:t>
            </a:r>
          </a:p>
          <a:p>
            <a:r>
              <a:rPr lang="en-US" dirty="0">
                <a:solidFill>
                  <a:srgbClr val="0070C0"/>
                </a:solidFill>
              </a:rPr>
              <a:t>HRRN</a:t>
            </a:r>
            <a:r>
              <a:rPr lang="en-US" dirty="0"/>
              <a:t>: Highest Response Ratio Next</a:t>
            </a:r>
          </a:p>
          <a:p>
            <a:r>
              <a:rPr lang="en-US" dirty="0">
                <a:solidFill>
                  <a:srgbClr val="0070C0"/>
                </a:solidFill>
              </a:rPr>
              <a:t>FB</a:t>
            </a:r>
            <a:r>
              <a:rPr lang="en-US" dirty="0"/>
              <a:t>: F</a:t>
            </a:r>
            <a:r>
              <a:rPr lang="en-US" altLang="zh-CN" dirty="0"/>
              <a:t>eedback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3A91D4-DB69-49E6-9ABB-43622207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C22B51-E751-47AA-AB22-43E6E1AB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D76A06F-3E7A-4061-AF4B-297CD6639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583" y="841104"/>
            <a:ext cx="7210756" cy="542712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EE260D2-2490-4DDE-A533-BEDB9A780313}"/>
              </a:ext>
            </a:extLst>
          </p:cNvPr>
          <p:cNvSpPr/>
          <p:nvPr/>
        </p:nvSpPr>
        <p:spPr>
          <a:xfrm>
            <a:off x="4443585" y="1327873"/>
            <a:ext cx="7300497" cy="12085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4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46E20-F29E-4C27-B96C-C3F9B53A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Fair-Share Scheduler (FSS):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94014B-8A64-4AF4-B985-5CFCD838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BAA2E8-EF76-4333-8564-82F1F374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70E6B33-A2F4-4DA0-853A-1DB6EE85B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012" y="819070"/>
            <a:ext cx="5292213" cy="24891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6A0D4F6-7EC8-4FD1-9850-E3BC270A2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370" y="3373013"/>
            <a:ext cx="8926951" cy="276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3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99E43-BACB-486A-87C5-293CBB6D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D2F1B-7FDB-4552-9712-B02110645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41104"/>
            <a:ext cx="10242755" cy="5175795"/>
          </a:xfrm>
        </p:spPr>
        <p:txBody>
          <a:bodyPr/>
          <a:lstStyle/>
          <a:p>
            <a:r>
              <a:rPr lang="en-US" dirty="0"/>
              <a:t>Multiprocessor and Multicore Scheduling</a:t>
            </a:r>
          </a:p>
          <a:p>
            <a:pPr lvl="1"/>
            <a:r>
              <a:rPr lang="en-US" dirty="0"/>
              <a:t>Granularity</a:t>
            </a:r>
          </a:p>
          <a:p>
            <a:pPr lvl="1"/>
            <a:r>
              <a:rPr lang="en-US" dirty="0"/>
              <a:t>Design Issues</a:t>
            </a:r>
          </a:p>
          <a:p>
            <a:pPr lvl="1"/>
            <a:r>
              <a:rPr lang="en-US" dirty="0"/>
              <a:t>Process Scheduling</a:t>
            </a:r>
          </a:p>
          <a:p>
            <a:pPr lvl="1"/>
            <a:r>
              <a:rPr lang="en-US" dirty="0"/>
              <a:t>Thread Scheduling</a:t>
            </a:r>
          </a:p>
          <a:p>
            <a:pPr lvl="1"/>
            <a:r>
              <a:rPr lang="en-US" dirty="0"/>
              <a:t>Multicore Thread Scheduling</a:t>
            </a:r>
          </a:p>
          <a:p>
            <a:r>
              <a:rPr lang="en-US" dirty="0"/>
              <a:t>Real-Time Scheduling</a:t>
            </a:r>
          </a:p>
          <a:p>
            <a:pPr lvl="1"/>
            <a:r>
              <a:rPr lang="en-US" dirty="0"/>
              <a:t>Background of Real-Time Process</a:t>
            </a:r>
          </a:p>
          <a:p>
            <a:pPr lvl="1"/>
            <a:r>
              <a:rPr lang="en-US" dirty="0"/>
              <a:t>Characteristics of Real-Time OS</a:t>
            </a:r>
          </a:p>
          <a:p>
            <a:pPr lvl="1"/>
            <a:r>
              <a:rPr lang="en-US" dirty="0"/>
              <a:t>Real-Time Scheduling</a:t>
            </a:r>
          </a:p>
          <a:p>
            <a:pPr lvl="1"/>
            <a:r>
              <a:rPr lang="en-US" dirty="0"/>
              <a:t>D</a:t>
            </a:r>
            <a:r>
              <a:rPr lang="en-US" altLang="zh-CN" dirty="0"/>
              <a:t>eadline Scheduling</a:t>
            </a:r>
          </a:p>
          <a:p>
            <a:pPr lvl="1"/>
            <a:r>
              <a:rPr lang="en-US" dirty="0"/>
              <a:t>Rate Monotonic Scheduling</a:t>
            </a:r>
          </a:p>
          <a:p>
            <a:pPr lvl="1"/>
            <a:r>
              <a:rPr lang="en-US" dirty="0"/>
              <a:t>Priority Inversion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0CE1AD-4B83-4598-B72B-235D5E04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6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2EB5BD-64C5-448E-B7FF-F738B606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974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1.1 Classifications of Multiprocessor Systems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Loosely coupled or distributed multiprocessor, or cluster</a:t>
            </a:r>
          </a:p>
          <a:p>
            <a:pPr lvl="1"/>
            <a:r>
              <a:rPr lang="en-US" altLang="zh-CN" sz="2400" dirty="0"/>
              <a:t>consists of a collection of relatively </a:t>
            </a:r>
            <a:r>
              <a:rPr lang="en-US" altLang="zh-CN" sz="2400" dirty="0">
                <a:solidFill>
                  <a:srgbClr val="FF0000"/>
                </a:solidFill>
              </a:rPr>
              <a:t>autonomous systems</a:t>
            </a:r>
            <a:r>
              <a:rPr lang="en-US" altLang="zh-CN" sz="2400" dirty="0"/>
              <a:t>, each processor having its </a:t>
            </a:r>
            <a:r>
              <a:rPr lang="en-US" altLang="zh-CN" sz="2400" dirty="0">
                <a:solidFill>
                  <a:srgbClr val="FF0000"/>
                </a:solidFill>
              </a:rPr>
              <a:t>own main memory and I/O channels</a:t>
            </a:r>
          </a:p>
          <a:p>
            <a:pPr lvl="1"/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dirty="0"/>
              <a:t>Functionally specialized processors</a:t>
            </a:r>
          </a:p>
          <a:p>
            <a:pPr lvl="1"/>
            <a:r>
              <a:rPr lang="en-US" altLang="zh-CN" sz="2400" dirty="0"/>
              <a:t>there is </a:t>
            </a:r>
            <a:r>
              <a:rPr lang="en-US" altLang="zh-CN" sz="2400" dirty="0">
                <a:solidFill>
                  <a:srgbClr val="FF0000"/>
                </a:solidFill>
              </a:rPr>
              <a:t>a master processor</a:t>
            </a:r>
            <a:r>
              <a:rPr lang="en-US" altLang="zh-CN" sz="2400" dirty="0"/>
              <a:t> with general-purpose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specialized processors </a:t>
            </a:r>
            <a:r>
              <a:rPr lang="en-US" altLang="zh-CN" sz="2400" dirty="0"/>
              <a:t>are controlled by the master processor and provide services to it</a:t>
            </a:r>
            <a:r>
              <a:rPr lang="zh-CN" altLang="en-US" sz="2400" dirty="0"/>
              <a:t>，</a:t>
            </a:r>
            <a:r>
              <a:rPr lang="en-US" altLang="zh-CN" sz="2400" dirty="0"/>
              <a:t>such as I/O processor</a:t>
            </a:r>
          </a:p>
          <a:p>
            <a:pPr lvl="1"/>
            <a:endParaRPr lang="en-US" altLang="zh-CN" sz="2400" dirty="0"/>
          </a:p>
          <a:p>
            <a:r>
              <a:rPr lang="en-US" altLang="zh-CN" dirty="0">
                <a:highlight>
                  <a:srgbClr val="FFFF00"/>
                </a:highlight>
              </a:rPr>
              <a:t>Tightly coupled multiprocessor</a:t>
            </a:r>
          </a:p>
          <a:p>
            <a:pPr lvl="1"/>
            <a:r>
              <a:rPr lang="en-US" altLang="zh-CN" sz="2400" dirty="0"/>
              <a:t>consists of a set of processors that share </a:t>
            </a:r>
            <a:r>
              <a:rPr lang="en-US" altLang="zh-CN" sz="2400" dirty="0">
                <a:solidFill>
                  <a:srgbClr val="FF0000"/>
                </a:solidFill>
              </a:rPr>
              <a:t>a common main memory </a:t>
            </a:r>
            <a:r>
              <a:rPr lang="en-US" altLang="zh-CN" sz="2400" dirty="0"/>
              <a:t>and are under the integrated </a:t>
            </a:r>
            <a:r>
              <a:rPr lang="en-US" altLang="zh-CN" sz="2400" dirty="0">
                <a:solidFill>
                  <a:srgbClr val="FF0000"/>
                </a:solidFill>
              </a:rPr>
              <a:t>control of an operating system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474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EEB52-76D2-4092-8AA8-847FF602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Multiprocessor Organization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ABEE1-F02F-4089-B61F-500DA6F7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8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025129-2C36-4504-B4C4-8EF0DF79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DD1C128-35FB-431B-9301-6B4079B63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781" y="792216"/>
            <a:ext cx="6897499" cy="545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2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Synchronization Granularity among Processes</a:t>
            </a:r>
            <a:endParaRPr lang="zh-CN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F3711D-43A8-4731-93AC-0D40C2E6A2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97809" y="946816"/>
            <a:ext cx="10557939" cy="520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FE626C-E4CC-4A51-8942-D72D4B7C54C9}"/>
              </a:ext>
            </a:extLst>
          </p:cNvPr>
          <p:cNvSpPr txBox="1"/>
          <p:nvPr/>
        </p:nvSpPr>
        <p:spPr>
          <a:xfrm>
            <a:off x="2017720" y="306879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hread-Level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6C5E25-AF8C-43BB-95AB-EC2B615F68CD}"/>
              </a:ext>
            </a:extLst>
          </p:cNvPr>
          <p:cNvSpPr txBox="1"/>
          <p:nvPr/>
        </p:nvSpPr>
        <p:spPr>
          <a:xfrm>
            <a:off x="1829954" y="5248796"/>
            <a:ext cx="1447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Process</a:t>
            </a:r>
            <a:r>
              <a:rPr lang="en-US" altLang="zh-CN" dirty="0">
                <a:solidFill>
                  <a:srgbClr val="FF0000"/>
                </a:solidFill>
              </a:rPr>
              <a:t>-Level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F4CF82-35DD-4B2D-A2F4-FF4ADD65647E}"/>
              </a:ext>
            </a:extLst>
          </p:cNvPr>
          <p:cNvSpPr txBox="1"/>
          <p:nvPr/>
        </p:nvSpPr>
        <p:spPr>
          <a:xfrm>
            <a:off x="1835827" y="4120379"/>
            <a:ext cx="1447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Process</a:t>
            </a:r>
            <a:r>
              <a:rPr lang="en-US" altLang="zh-CN" dirty="0">
                <a:solidFill>
                  <a:srgbClr val="FF0000"/>
                </a:solidFill>
              </a:rPr>
              <a:t>-Level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E43225-12FF-4981-9F94-BE6F31265C26}"/>
              </a:ext>
            </a:extLst>
          </p:cNvPr>
          <p:cNvSpPr txBox="1"/>
          <p:nvPr/>
        </p:nvSpPr>
        <p:spPr>
          <a:xfrm>
            <a:off x="1700674" y="2120624"/>
            <a:ext cx="1754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Instruction-Level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717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Independent Parallelism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41104"/>
            <a:ext cx="5577115" cy="5175795"/>
          </a:xfrm>
        </p:spPr>
        <p:txBody>
          <a:bodyPr>
            <a:normAutofit/>
          </a:bodyPr>
          <a:lstStyle/>
          <a:p>
            <a:r>
              <a:rPr lang="en-US" altLang="zh-CN" dirty="0"/>
              <a:t>No explicit synchronization among processes</a:t>
            </a:r>
          </a:p>
          <a:p>
            <a:pPr lvl="1"/>
            <a:r>
              <a:rPr lang="en-US" altLang="zh-CN" sz="2400" dirty="0"/>
              <a:t>each represents a separate, </a:t>
            </a:r>
            <a:r>
              <a:rPr lang="en-US" altLang="zh-CN" sz="2400" dirty="0">
                <a:solidFill>
                  <a:srgbClr val="FF0000"/>
                </a:solidFill>
              </a:rPr>
              <a:t>independent application</a:t>
            </a:r>
          </a:p>
          <a:p>
            <a:pPr lvl="1"/>
            <a:endParaRPr lang="en-US" altLang="zh-CN" sz="2400" dirty="0">
              <a:solidFill>
                <a:srgbClr val="C00000"/>
              </a:solidFill>
            </a:endParaRPr>
          </a:p>
          <a:p>
            <a:pPr lvl="1"/>
            <a:endParaRPr lang="en-US" altLang="zh-CN" sz="2400" dirty="0"/>
          </a:p>
          <a:p>
            <a:r>
              <a:rPr lang="en-US" altLang="zh-CN" dirty="0"/>
              <a:t>Typical use is in a </a:t>
            </a:r>
            <a:r>
              <a:rPr lang="en-US" altLang="zh-CN" dirty="0">
                <a:solidFill>
                  <a:srgbClr val="FF0000"/>
                </a:solidFill>
              </a:rPr>
              <a:t>time-sharing</a:t>
            </a:r>
            <a:r>
              <a:rPr lang="en-US" altLang="zh-CN" dirty="0"/>
              <a:t> system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653A91-98AF-4D2E-8529-4EE4B933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698" y="1068073"/>
            <a:ext cx="6860044" cy="457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7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Coarse and Very Coarse-Grained Parallelism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Synchronization among processes</a:t>
            </a:r>
            <a:r>
              <a:rPr lang="en-US" altLang="zh-CN" dirty="0"/>
              <a:t>, but at a very gross level</a:t>
            </a:r>
          </a:p>
          <a:p>
            <a:r>
              <a:rPr lang="en-US" altLang="zh-CN" dirty="0"/>
              <a:t>Good for concurrent processes running on a multi-programmed uniprocessor</a:t>
            </a:r>
          </a:p>
          <a:p>
            <a:pPr lvl="1"/>
            <a:r>
              <a:rPr lang="en-US" altLang="zh-CN" sz="2400" dirty="0"/>
              <a:t>can be supported on a multiprocessor with </a:t>
            </a:r>
            <a:r>
              <a:rPr lang="en-US" altLang="zh-CN" sz="2400" dirty="0">
                <a:solidFill>
                  <a:srgbClr val="FF0000"/>
                </a:solidFill>
              </a:rPr>
              <a:t>little or no change</a:t>
            </a:r>
            <a:r>
              <a:rPr lang="en-US" altLang="zh-CN" sz="2400" dirty="0"/>
              <a:t> to user software</a:t>
            </a:r>
          </a:p>
          <a:p>
            <a:pPr lvl="1"/>
            <a:r>
              <a:rPr lang="en-US" altLang="zh-CN" sz="2400" dirty="0"/>
              <a:t>very infrequent interaction</a:t>
            </a:r>
            <a:r>
              <a:rPr lang="zh-CN" altLang="en-US" sz="2400" dirty="0"/>
              <a:t> </a:t>
            </a:r>
            <a:r>
              <a:rPr lang="en-US" altLang="zh-CN" sz="2400" dirty="0"/>
              <a:t>-&gt;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distributed</a:t>
            </a:r>
            <a:r>
              <a:rPr lang="zh-CN" altLang="en-US" sz="2400" dirty="0"/>
              <a:t> </a:t>
            </a:r>
            <a:r>
              <a:rPr lang="en-US" altLang="zh-CN" sz="2400" dirty="0"/>
              <a:t>system</a:t>
            </a:r>
          </a:p>
          <a:p>
            <a:pPr lvl="1"/>
            <a:r>
              <a:rPr lang="en-US" sz="2400" dirty="0"/>
              <a:t>somewhat more frequent</a:t>
            </a:r>
            <a:r>
              <a:rPr lang="zh-CN" altLang="en-US" sz="2400" dirty="0"/>
              <a:t>  </a:t>
            </a:r>
            <a:r>
              <a:rPr lang="en-US" altLang="zh-CN" sz="2400" dirty="0"/>
              <a:t>-&gt;</a:t>
            </a:r>
            <a:r>
              <a:rPr lang="zh-CN" altLang="en-US" sz="2400" dirty="0"/>
              <a:t>  </a:t>
            </a:r>
            <a:r>
              <a:rPr lang="en-US" altLang="zh-CN" sz="2400" dirty="0"/>
              <a:t>multiprocessor organization</a:t>
            </a:r>
          </a:p>
          <a:p>
            <a:pPr lvl="1"/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6813321D-615B-43C6-8801-FC55668525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8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Medium-Grained Parallelism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Single application can be effectively implemented as a collection of </a:t>
            </a:r>
            <a:r>
              <a:rPr lang="en-US" altLang="zh-CN" dirty="0">
                <a:solidFill>
                  <a:srgbClr val="FF0000"/>
                </a:solidFill>
              </a:rPr>
              <a:t>threads</a:t>
            </a:r>
            <a:r>
              <a:rPr lang="en-US" altLang="zh-CN" dirty="0"/>
              <a:t> within a single process</a:t>
            </a:r>
          </a:p>
          <a:p>
            <a:pPr lvl="1"/>
            <a:r>
              <a:rPr lang="en-US" altLang="zh-CN" sz="2400" b="1" dirty="0">
                <a:solidFill>
                  <a:srgbClr val="0070C0"/>
                </a:solidFill>
              </a:rPr>
              <a:t>programmer</a:t>
            </a:r>
            <a:r>
              <a:rPr lang="en-US" altLang="zh-CN" sz="2400" dirty="0"/>
              <a:t> must </a:t>
            </a:r>
            <a:r>
              <a:rPr lang="en-US" altLang="zh-CN" sz="2400" dirty="0">
                <a:solidFill>
                  <a:srgbClr val="FF0000"/>
                </a:solidFill>
              </a:rPr>
              <a:t>explicitly specify </a:t>
            </a:r>
            <a:r>
              <a:rPr lang="en-US" altLang="zh-CN" sz="2400" dirty="0"/>
              <a:t>the potential parallelism of an application</a:t>
            </a:r>
          </a:p>
          <a:p>
            <a:pPr lvl="1"/>
            <a:r>
              <a:rPr lang="en-US" altLang="zh-CN" sz="2400" dirty="0"/>
              <a:t>there needs to be a high degree of </a:t>
            </a:r>
            <a:r>
              <a:rPr lang="en-US" altLang="zh-CN" sz="2400" dirty="0">
                <a:solidFill>
                  <a:srgbClr val="FF0000"/>
                </a:solidFill>
              </a:rPr>
              <a:t>coordination and interaction among the threads </a:t>
            </a:r>
            <a:r>
              <a:rPr lang="en-US" altLang="zh-CN" sz="2400" dirty="0"/>
              <a:t>of an application, leading to a medium-grain level of </a:t>
            </a:r>
            <a:r>
              <a:rPr lang="en-US" altLang="zh-CN" sz="2400" dirty="0">
                <a:solidFill>
                  <a:srgbClr val="FF0000"/>
                </a:solidFill>
              </a:rPr>
              <a:t>synchronization</a:t>
            </a:r>
          </a:p>
          <a:p>
            <a:r>
              <a:rPr lang="en-US" altLang="zh-CN" dirty="0"/>
              <a:t>Because the various threads of an application interact so frequently, </a:t>
            </a:r>
            <a:r>
              <a:rPr lang="en-US" altLang="zh-CN" dirty="0">
                <a:solidFill>
                  <a:srgbClr val="FF0000"/>
                </a:solidFill>
              </a:rPr>
              <a:t>scheduling decisions concerning one thread</a:t>
            </a:r>
            <a:r>
              <a:rPr lang="en-US" altLang="zh-CN" dirty="0"/>
              <a:t> may affect the performance of the entire application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06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Fine-Grained Parallelism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Represents a much </a:t>
            </a:r>
            <a:r>
              <a:rPr lang="en-US" altLang="zh-CN" dirty="0">
                <a:solidFill>
                  <a:srgbClr val="FF0000"/>
                </a:solidFill>
              </a:rPr>
              <a:t>more complex</a:t>
            </a:r>
            <a:r>
              <a:rPr lang="en-US" altLang="zh-CN" dirty="0"/>
              <a:t> use of parallelism than threads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processes</a:t>
            </a:r>
          </a:p>
          <a:p>
            <a:endParaRPr lang="en-US" altLang="zh-CN" dirty="0"/>
          </a:p>
          <a:p>
            <a:r>
              <a:rPr lang="en-US" altLang="zh-CN" dirty="0"/>
              <a:t>Is a </a:t>
            </a:r>
            <a:r>
              <a:rPr lang="en-US" altLang="zh-CN" dirty="0">
                <a:solidFill>
                  <a:srgbClr val="FF0000"/>
                </a:solidFill>
              </a:rPr>
              <a:t>specialized and fragmented area </a:t>
            </a:r>
            <a:r>
              <a:rPr lang="en-US" altLang="zh-CN" dirty="0"/>
              <a:t>with many different approaches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9423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Design Issues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696" y="4994786"/>
            <a:ext cx="6889956" cy="1435065"/>
          </a:xfrm>
        </p:spPr>
        <p:txBody>
          <a:bodyPr>
            <a:normAutofit/>
          </a:bodyPr>
          <a:lstStyle/>
          <a:p>
            <a:r>
              <a:rPr lang="en-US" altLang="zh-CN" dirty="0"/>
              <a:t>The approach is depend on: </a:t>
            </a:r>
          </a:p>
          <a:p>
            <a:pPr lvl="1"/>
            <a:r>
              <a:rPr lang="en-US" altLang="zh-CN" sz="2400" dirty="0"/>
              <a:t>the degree of granularity of </a:t>
            </a:r>
            <a:r>
              <a:rPr lang="en-US" altLang="zh-CN" sz="2400" b="1" dirty="0">
                <a:solidFill>
                  <a:srgbClr val="FF0000"/>
                </a:solidFill>
              </a:rPr>
              <a:t>applications</a:t>
            </a:r>
            <a:r>
              <a:rPr lang="en-US" altLang="zh-CN" sz="2400" dirty="0"/>
              <a:t> </a:t>
            </a:r>
          </a:p>
          <a:p>
            <a:pPr lvl="1"/>
            <a:r>
              <a:rPr lang="en-US" altLang="zh-CN" sz="2400" dirty="0"/>
              <a:t>the number of </a:t>
            </a:r>
            <a:r>
              <a:rPr lang="en-US" altLang="zh-CN" sz="2400" b="1" dirty="0">
                <a:solidFill>
                  <a:srgbClr val="FF0000"/>
                </a:solidFill>
              </a:rPr>
              <a:t>processors</a:t>
            </a:r>
            <a:r>
              <a:rPr lang="en-US" altLang="zh-CN" sz="2400" dirty="0"/>
              <a:t> available</a:t>
            </a:r>
          </a:p>
          <a:p>
            <a:pPr lvl="1"/>
            <a:endParaRPr lang="zh-CN" alt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3792F3-F3BD-A04E-9B91-A028BA717E6B}"/>
              </a:ext>
            </a:extLst>
          </p:cNvPr>
          <p:cNvGrpSpPr/>
          <p:nvPr/>
        </p:nvGrpSpPr>
        <p:grpSpPr>
          <a:xfrm>
            <a:off x="4053336" y="810815"/>
            <a:ext cx="3937331" cy="2046904"/>
            <a:chOff x="1107346" y="126770"/>
            <a:chExt cx="3937331" cy="20469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5B06F07-F712-B449-B955-703A91B57486}"/>
                </a:ext>
              </a:extLst>
            </p:cNvPr>
            <p:cNvSpPr/>
            <p:nvPr/>
          </p:nvSpPr>
          <p:spPr>
            <a:xfrm>
              <a:off x="1107346" y="126770"/>
              <a:ext cx="3937331" cy="2046904"/>
            </a:xfrm>
            <a:prstGeom prst="ellipse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Oval 4">
              <a:extLst>
                <a:ext uri="{FF2B5EF4-FFF2-40B4-BE49-F238E27FC236}">
                  <a16:creationId xmlns:a16="http://schemas.microsoft.com/office/drawing/2014/main" id="{59BA3540-A069-DF4B-AB98-CDD9E9EA3B91}"/>
                </a:ext>
              </a:extLst>
            </p:cNvPr>
            <p:cNvSpPr txBox="1"/>
            <p:nvPr/>
          </p:nvSpPr>
          <p:spPr>
            <a:xfrm>
              <a:off x="1683955" y="426532"/>
              <a:ext cx="2784113" cy="14473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Scheduling on a multiprocessor involves three interrelated issues: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8EBBB07-2765-A24D-A9CA-46B41B16D3EB}"/>
              </a:ext>
            </a:extLst>
          </p:cNvPr>
          <p:cNvGrpSpPr/>
          <p:nvPr/>
        </p:nvGrpSpPr>
        <p:grpSpPr>
          <a:xfrm>
            <a:off x="1241523" y="3197352"/>
            <a:ext cx="3079354" cy="1427123"/>
            <a:chOff x="5226445" y="2206846"/>
            <a:chExt cx="3079354" cy="1427123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9BF00E-1554-C743-B837-54AFD476F873}"/>
                </a:ext>
              </a:extLst>
            </p:cNvPr>
            <p:cNvSpPr/>
            <p:nvPr/>
          </p:nvSpPr>
          <p:spPr>
            <a:xfrm>
              <a:off x="5226445" y="2206846"/>
              <a:ext cx="3079354" cy="142712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Oval 6">
              <a:extLst>
                <a:ext uri="{FF2B5EF4-FFF2-40B4-BE49-F238E27FC236}">
                  <a16:creationId xmlns:a16="http://schemas.microsoft.com/office/drawing/2014/main" id="{8B61C175-136F-F542-B06F-E6FADF38F712}"/>
                </a:ext>
              </a:extLst>
            </p:cNvPr>
            <p:cNvSpPr txBox="1"/>
            <p:nvPr/>
          </p:nvSpPr>
          <p:spPr>
            <a:xfrm>
              <a:off x="5677406" y="2415843"/>
              <a:ext cx="2177432" cy="10091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assignment of processes to processors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CDF959E-F284-2E44-8A1D-D68D5C764C0E}"/>
              </a:ext>
            </a:extLst>
          </p:cNvPr>
          <p:cNvGrpSpPr/>
          <p:nvPr/>
        </p:nvGrpSpPr>
        <p:grpSpPr>
          <a:xfrm>
            <a:off x="4420827" y="3486579"/>
            <a:ext cx="3381465" cy="1577378"/>
            <a:chOff x="2438399" y="3097502"/>
            <a:chExt cx="3381465" cy="157737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DF242C-1126-1F43-89AE-B6DCF46309B4}"/>
                </a:ext>
              </a:extLst>
            </p:cNvPr>
            <p:cNvSpPr/>
            <p:nvPr/>
          </p:nvSpPr>
          <p:spPr>
            <a:xfrm>
              <a:off x="2438399" y="3097502"/>
              <a:ext cx="3381465" cy="1577378"/>
            </a:xfrm>
            <a:prstGeom prst="ellipse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Oval 8">
              <a:extLst>
                <a:ext uri="{FF2B5EF4-FFF2-40B4-BE49-F238E27FC236}">
                  <a16:creationId xmlns:a16="http://schemas.microsoft.com/office/drawing/2014/main" id="{41E49C14-1162-584C-91B5-AB58E985881C}"/>
                </a:ext>
              </a:extLst>
            </p:cNvPr>
            <p:cNvSpPr txBox="1"/>
            <p:nvPr/>
          </p:nvSpPr>
          <p:spPr>
            <a:xfrm>
              <a:off x="2933603" y="3328504"/>
              <a:ext cx="2556485" cy="11153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use of multiprogramming on individual processors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11F3E6A-5D85-304F-B9DF-9E8A649531EC}"/>
              </a:ext>
            </a:extLst>
          </p:cNvPr>
          <p:cNvGrpSpPr/>
          <p:nvPr/>
        </p:nvGrpSpPr>
        <p:grpSpPr>
          <a:xfrm>
            <a:off x="3974370" y="2646656"/>
            <a:ext cx="534320" cy="483350"/>
            <a:chOff x="1805129" y="2208418"/>
            <a:chExt cx="534320" cy="483350"/>
          </a:xfrm>
        </p:grpSpPr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4693EA64-6A25-2B41-9E86-A9F2AE631CF5}"/>
                </a:ext>
              </a:extLst>
            </p:cNvPr>
            <p:cNvSpPr/>
            <p:nvPr/>
          </p:nvSpPr>
          <p:spPr>
            <a:xfrm rot="7660457">
              <a:off x="1830614" y="2182933"/>
              <a:ext cx="483350" cy="534320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ight Arrow 10">
              <a:extLst>
                <a:ext uri="{FF2B5EF4-FFF2-40B4-BE49-F238E27FC236}">
                  <a16:creationId xmlns:a16="http://schemas.microsoft.com/office/drawing/2014/main" id="{A544C664-33B2-9840-8F10-738C8053FDD4}"/>
                </a:ext>
              </a:extLst>
            </p:cNvPr>
            <p:cNvSpPr txBox="1"/>
            <p:nvPr/>
          </p:nvSpPr>
          <p:spPr>
            <a:xfrm rot="18460457">
              <a:off x="1947428" y="2232411"/>
              <a:ext cx="338345" cy="3205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200" kern="12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81483E-2729-CD42-AA78-F3757FB51536}"/>
              </a:ext>
            </a:extLst>
          </p:cNvPr>
          <p:cNvGrpSpPr/>
          <p:nvPr/>
        </p:nvGrpSpPr>
        <p:grpSpPr>
          <a:xfrm>
            <a:off x="7969997" y="3204093"/>
            <a:ext cx="2480443" cy="1571531"/>
            <a:chOff x="0" y="2741897"/>
            <a:chExt cx="2480443" cy="157153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1ED2893-FC18-D245-8F76-0F548C0345FD}"/>
                </a:ext>
              </a:extLst>
            </p:cNvPr>
            <p:cNvSpPr/>
            <p:nvPr/>
          </p:nvSpPr>
          <p:spPr>
            <a:xfrm>
              <a:off x="0" y="2741897"/>
              <a:ext cx="2480443" cy="1571531"/>
            </a:xfrm>
            <a:prstGeom prst="ellipse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E2331E8-F417-C540-B763-5DD2626714FB}"/>
                </a:ext>
              </a:extLst>
            </p:cNvPr>
            <p:cNvSpPr txBox="1"/>
            <p:nvPr/>
          </p:nvSpPr>
          <p:spPr>
            <a:xfrm>
              <a:off x="363252" y="2972042"/>
              <a:ext cx="1833029" cy="1111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actual dispatching of a process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ECD0E9-01F3-E247-9D7B-31C4F1B50637}"/>
              </a:ext>
            </a:extLst>
          </p:cNvPr>
          <p:cNvGrpSpPr/>
          <p:nvPr/>
        </p:nvGrpSpPr>
        <p:grpSpPr>
          <a:xfrm>
            <a:off x="7489860" y="2565441"/>
            <a:ext cx="689819" cy="534320"/>
            <a:chOff x="4747071" y="1850144"/>
            <a:chExt cx="689819" cy="534320"/>
          </a:xfrm>
        </p:grpSpPr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C207BB9B-B73A-604E-A2BA-FCDD63D3B0BC}"/>
                </a:ext>
              </a:extLst>
            </p:cNvPr>
            <p:cNvSpPr/>
            <p:nvPr/>
          </p:nvSpPr>
          <p:spPr>
            <a:xfrm rot="1537653">
              <a:off x="4747071" y="1850144"/>
              <a:ext cx="689819" cy="534320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Right Arrow 4">
              <a:extLst>
                <a:ext uri="{FF2B5EF4-FFF2-40B4-BE49-F238E27FC236}">
                  <a16:creationId xmlns:a16="http://schemas.microsoft.com/office/drawing/2014/main" id="{CD7ADF71-150A-5943-B3EB-6783BA3D8C79}"/>
                </a:ext>
              </a:extLst>
            </p:cNvPr>
            <p:cNvSpPr txBox="1"/>
            <p:nvPr/>
          </p:nvSpPr>
          <p:spPr>
            <a:xfrm rot="1537653">
              <a:off x="4754956" y="1922342"/>
              <a:ext cx="529523" cy="3205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200" kern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58AD9BA-F097-5A42-B1C7-DC06A0908A90}"/>
              </a:ext>
            </a:extLst>
          </p:cNvPr>
          <p:cNvGrpSpPr/>
          <p:nvPr/>
        </p:nvGrpSpPr>
        <p:grpSpPr>
          <a:xfrm rot="1374480">
            <a:off x="5732964" y="2972813"/>
            <a:ext cx="534320" cy="542996"/>
            <a:chOff x="3373633" y="2346007"/>
            <a:chExt cx="534320" cy="542996"/>
          </a:xfrm>
        </p:grpSpPr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5ABADE5D-62EF-EB4A-B435-EB1369B4A6F4}"/>
                </a:ext>
              </a:extLst>
            </p:cNvPr>
            <p:cNvSpPr/>
            <p:nvPr/>
          </p:nvSpPr>
          <p:spPr>
            <a:xfrm rot="4136848">
              <a:off x="3369295" y="2350345"/>
              <a:ext cx="542996" cy="534320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ight Arrow 6">
              <a:extLst>
                <a:ext uri="{FF2B5EF4-FFF2-40B4-BE49-F238E27FC236}">
                  <a16:creationId xmlns:a16="http://schemas.microsoft.com/office/drawing/2014/main" id="{8AFF0D2C-CCBA-3A40-9E1A-0C0339BBF9CB}"/>
                </a:ext>
              </a:extLst>
            </p:cNvPr>
            <p:cNvSpPr txBox="1"/>
            <p:nvPr/>
          </p:nvSpPr>
          <p:spPr>
            <a:xfrm rot="4136848">
              <a:off x="3420652" y="2382411"/>
              <a:ext cx="382700" cy="3205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200" kern="120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89BD68B-A51C-7D4E-AB4F-7E0919E2D0B2}"/>
              </a:ext>
            </a:extLst>
          </p:cNvPr>
          <p:cNvSpPr txBox="1"/>
          <p:nvPr/>
        </p:nvSpPr>
        <p:spPr>
          <a:xfrm>
            <a:off x="9502669" y="23683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1569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Assignment of Processes to Processors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Assuming all processors are </a:t>
            </a:r>
            <a:r>
              <a:rPr lang="en-US" altLang="zh-CN" dirty="0">
                <a:solidFill>
                  <a:srgbClr val="FF0000"/>
                </a:solidFill>
              </a:rPr>
              <a:t>equal</a:t>
            </a:r>
            <a:r>
              <a:rPr lang="zh-CN" altLang="en-US" dirty="0"/>
              <a:t>，</a:t>
            </a:r>
            <a:r>
              <a:rPr lang="en-US" altLang="zh-CN" dirty="0"/>
              <a:t>treat processors as a </a:t>
            </a:r>
            <a:r>
              <a:rPr lang="en-US" altLang="zh-CN" dirty="0">
                <a:solidFill>
                  <a:srgbClr val="FF0000"/>
                </a:solidFill>
              </a:rPr>
              <a:t>pooled resource</a:t>
            </a:r>
            <a:r>
              <a:rPr lang="en-US" altLang="zh-CN" dirty="0"/>
              <a:t> and assign processes to processors </a:t>
            </a:r>
            <a:r>
              <a:rPr lang="en-US" altLang="zh-CN" dirty="0">
                <a:solidFill>
                  <a:srgbClr val="0070C0"/>
                </a:solidFill>
              </a:rPr>
              <a:t>on demand</a:t>
            </a:r>
          </a:p>
          <a:p>
            <a:pPr lvl="1"/>
            <a:r>
              <a:rPr lang="en-US" altLang="zh-CN" sz="2800" dirty="0"/>
              <a:t>static </a:t>
            </a:r>
          </a:p>
          <a:p>
            <a:pPr lvl="1"/>
            <a:r>
              <a:rPr lang="en-US" altLang="zh-CN" sz="2800" dirty="0"/>
              <a:t>dynamic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8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Assignment of Processes to Processors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26"/>
            <a:ext cx="10515600" cy="1868129"/>
          </a:xfrm>
        </p:spPr>
        <p:txBody>
          <a:bodyPr>
            <a:noAutofit/>
          </a:bodyPr>
          <a:lstStyle/>
          <a:p>
            <a:r>
              <a:rPr lang="en-US" altLang="zh-CN" dirty="0"/>
              <a:t>Static  Assignment</a:t>
            </a:r>
          </a:p>
          <a:p>
            <a:pPr lvl="1"/>
            <a:r>
              <a:rPr lang="en-US" altLang="zh-CN" sz="2400" dirty="0"/>
              <a:t>a process is permanently assigned to one processor from </a:t>
            </a:r>
            <a:r>
              <a:rPr lang="en-US" altLang="zh-CN" sz="2400" dirty="0">
                <a:solidFill>
                  <a:srgbClr val="0070C0"/>
                </a:solidFill>
              </a:rPr>
              <a:t>activation and its completion</a:t>
            </a:r>
            <a:r>
              <a:rPr lang="en-US" altLang="zh-CN" sz="2400" dirty="0"/>
              <a:t>. </a:t>
            </a:r>
          </a:p>
          <a:p>
            <a:pPr lvl="1"/>
            <a:r>
              <a:rPr lang="en-US" altLang="zh-CN" sz="2400" dirty="0"/>
              <a:t>Then,</a:t>
            </a:r>
            <a:r>
              <a:rPr lang="zh-CN" altLang="en-US" sz="2400" dirty="0"/>
              <a:t> </a:t>
            </a:r>
            <a:r>
              <a:rPr lang="en-US" altLang="zh-CN" sz="2400" dirty="0"/>
              <a:t>a </a:t>
            </a:r>
            <a:r>
              <a:rPr lang="en-US" altLang="zh-CN" sz="2400" dirty="0">
                <a:solidFill>
                  <a:srgbClr val="0070C0"/>
                </a:solidFill>
              </a:rPr>
              <a:t>short-term queue </a:t>
            </a:r>
            <a:r>
              <a:rPr lang="en-US" altLang="zh-CN" sz="2400" dirty="0"/>
              <a:t>is maintained for each processor</a:t>
            </a:r>
          </a:p>
          <a:p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932858-10B0-734B-A492-CAA3696D776D}"/>
              </a:ext>
            </a:extLst>
          </p:cNvPr>
          <p:cNvSpPr txBox="1"/>
          <p:nvPr/>
        </p:nvSpPr>
        <p:spPr>
          <a:xfrm>
            <a:off x="1012722" y="4047273"/>
            <a:ext cx="10137060" cy="1672253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marL="352425" lvl="1" indent="-342900" algn="just" defTabSz="685766">
              <a:spcBef>
                <a:spcPts val="375"/>
              </a:spcBef>
              <a:buFont typeface="Wingdings" pitchFamily="2" charset="2"/>
              <a:buChar char="q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Solution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: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common (global)</a:t>
            </a:r>
            <a:r>
              <a:rPr lang="zh-CN" altLang="en-US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queue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can be used</a:t>
            </a:r>
          </a:p>
          <a:p>
            <a:pPr marL="809625" lvl="2" indent="-342900" algn="just" defTabSz="685766">
              <a:spcBef>
                <a:spcPts val="375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Process may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be executed on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different processors </a:t>
            </a:r>
          </a:p>
          <a:p>
            <a:pPr marL="809625" lvl="2" indent="-342900" algn="just" defTabSz="685766">
              <a:spcBef>
                <a:spcPts val="375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Due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to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shared memory</a:t>
            </a:r>
            <a:r>
              <a:rPr lang="zh-CN" altLang="en-US" sz="24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architecture, the </a:t>
            </a:r>
            <a:r>
              <a:rPr lang="en-US" sz="24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context information</a:t>
            </a: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for all processes will be available to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all processors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36B3B-9005-5B4C-82BB-E2AE764A0E37}"/>
              </a:ext>
            </a:extLst>
          </p:cNvPr>
          <p:cNvSpPr txBox="1"/>
          <p:nvPr/>
        </p:nvSpPr>
        <p:spPr>
          <a:xfrm>
            <a:off x="1022555" y="2955045"/>
            <a:ext cx="10156723" cy="830997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lvl="1" indent="-342900">
              <a:buFont typeface="Wingdings" pitchFamily="2" charset="2"/>
              <a:buChar char="q"/>
            </a:pP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Advantage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: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less overhead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 the scheduling function</a:t>
            </a:r>
          </a:p>
          <a:p>
            <a:pPr marL="342900" lvl="1" indent="-342900">
              <a:buFont typeface="Wingdings" pitchFamily="2" charset="2"/>
              <a:buChar char="q"/>
            </a:pP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Disadvantage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unbalance load 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among different processor</a:t>
            </a:r>
          </a:p>
        </p:txBody>
      </p:sp>
    </p:spTree>
    <p:extLst>
      <p:ext uri="{BB962C8B-B14F-4D97-AF65-F5344CB8AC3E}">
        <p14:creationId xmlns:p14="http://schemas.microsoft.com/office/powerpoint/2010/main" val="195538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6E661-4078-4B99-A19F-BE257728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 of Processes to Processors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8CD78-C3B1-48E8-82B5-A21873AF5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Dynamic Load Balancing Assignment</a:t>
            </a:r>
          </a:p>
          <a:p>
            <a:endParaRPr lang="en-US" altLang="zh-CN" sz="2800" dirty="0"/>
          </a:p>
          <a:p>
            <a:pPr lvl="1"/>
            <a:r>
              <a:rPr lang="en-US" altLang="zh-CN" sz="2800" dirty="0"/>
              <a:t>a </a:t>
            </a:r>
            <a:r>
              <a:rPr lang="en-US" altLang="zh-CN" sz="2800" dirty="0">
                <a:solidFill>
                  <a:srgbClr val="0070C0"/>
                </a:solidFill>
              </a:rPr>
              <a:t>short-term queue </a:t>
            </a:r>
            <a:r>
              <a:rPr lang="en-US" altLang="zh-CN" sz="2800" dirty="0"/>
              <a:t>is maintained for each processor</a:t>
            </a:r>
          </a:p>
          <a:p>
            <a:pPr lvl="1"/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sz="2800" dirty="0"/>
              <a:t>Threads/processes are moved from a queue for </a:t>
            </a:r>
            <a:r>
              <a:rPr lang="en-US" altLang="zh-CN" sz="2800" dirty="0">
                <a:solidFill>
                  <a:srgbClr val="FF0000"/>
                </a:solidFill>
              </a:rPr>
              <a:t>one processor </a:t>
            </a:r>
            <a:r>
              <a:rPr lang="en-US" altLang="zh-CN" sz="2800" dirty="0"/>
              <a:t>to a queue for </a:t>
            </a:r>
            <a:r>
              <a:rPr lang="en-US" altLang="zh-CN" sz="2800" dirty="0">
                <a:solidFill>
                  <a:srgbClr val="FF0000"/>
                </a:solidFill>
              </a:rPr>
              <a:t>another processor </a:t>
            </a:r>
            <a:r>
              <a:rPr lang="en-US" altLang="zh-CN" sz="2800" dirty="0"/>
              <a:t>(Push migration</a:t>
            </a:r>
            <a:r>
              <a:rPr lang="zh-CN" altLang="en-US" sz="2800" dirty="0"/>
              <a:t> </a:t>
            </a:r>
            <a:r>
              <a:rPr lang="en-US" altLang="zh-CN" sz="2800" dirty="0"/>
              <a:t>or</a:t>
            </a:r>
            <a:r>
              <a:rPr lang="zh-CN" altLang="en-US" sz="2800" dirty="0"/>
              <a:t> </a:t>
            </a:r>
            <a:r>
              <a:rPr lang="en-US" altLang="zh-CN" sz="2800" dirty="0"/>
              <a:t>Pull</a:t>
            </a:r>
            <a:r>
              <a:rPr lang="zh-CN" altLang="en-US" sz="2800" dirty="0"/>
              <a:t> </a:t>
            </a:r>
            <a:r>
              <a:rPr lang="en-US" altLang="zh-CN" sz="2800" dirty="0"/>
              <a:t>migration)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3B5760-00C6-465A-A604-1B2FAD159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17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F32F4C-EC2B-4957-8417-5264CD10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910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6E661-4078-4B99-A19F-BE257728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 of Processes to Processors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8CD78-C3B1-48E8-82B5-A21873AF5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Both dynamic and static methods require some way of assigning a process to a processor </a:t>
            </a:r>
          </a:p>
          <a:p>
            <a:pPr lvl="1"/>
            <a:r>
              <a:rPr lang="en-US" altLang="zh-CN" sz="2800" dirty="0"/>
              <a:t>Master/Slave</a:t>
            </a:r>
          </a:p>
          <a:p>
            <a:pPr lvl="1"/>
            <a:r>
              <a:rPr lang="en-US" altLang="zh-CN" sz="2800" dirty="0"/>
              <a:t>Peer (</a:t>
            </a:r>
            <a:r>
              <a:rPr lang="zh-CN" altLang="en-US" sz="2800" dirty="0"/>
              <a:t>对等</a:t>
            </a:r>
            <a:r>
              <a:rPr lang="en-US" altLang="zh-CN" sz="2800" dirty="0"/>
              <a:t>)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3B5760-00C6-465A-A604-1B2FAD159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18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F32F4C-EC2B-4957-8417-5264CD10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487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Master/Slave Architecture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Key </a:t>
            </a:r>
            <a:r>
              <a:rPr lang="en-US" altLang="zh-CN" dirty="0">
                <a:solidFill>
                  <a:srgbClr val="FF0000"/>
                </a:solidFill>
              </a:rPr>
              <a:t>kernel</a:t>
            </a:r>
            <a:r>
              <a:rPr lang="en-US" altLang="zh-CN" dirty="0"/>
              <a:t> functions always run on </a:t>
            </a:r>
            <a:r>
              <a:rPr lang="en-US" altLang="zh-CN" dirty="0">
                <a:solidFill>
                  <a:srgbClr val="FF0000"/>
                </a:solidFill>
              </a:rPr>
              <a:t>a particular processor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Master</a:t>
            </a:r>
            <a:r>
              <a:rPr lang="en-US" altLang="zh-CN" dirty="0"/>
              <a:t> is responsible for scheduling jobs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Slave</a:t>
            </a:r>
            <a:r>
              <a:rPr lang="en-US" altLang="zh-CN" dirty="0"/>
              <a:t> sends service request to the master</a:t>
            </a:r>
          </a:p>
          <a:p>
            <a:r>
              <a:rPr lang="en-US" altLang="zh-CN" dirty="0"/>
              <a:t> Advantages: </a:t>
            </a:r>
          </a:p>
          <a:p>
            <a:pPr lvl="1"/>
            <a:r>
              <a:rPr lang="en-US" altLang="zh-CN" sz="2400" dirty="0"/>
              <a:t>is simple and requires </a:t>
            </a:r>
            <a:r>
              <a:rPr lang="en-US" altLang="zh-CN" sz="2400" dirty="0">
                <a:solidFill>
                  <a:srgbClr val="FF0000"/>
                </a:solidFill>
              </a:rPr>
              <a:t>little enhancement </a:t>
            </a:r>
            <a:r>
              <a:rPr lang="en-US" altLang="zh-CN" sz="2400" dirty="0"/>
              <a:t>to a uniprocessor multiprogramming operating system</a:t>
            </a:r>
          </a:p>
          <a:p>
            <a:pPr lvl="1"/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Conflict resolution </a:t>
            </a:r>
            <a:r>
              <a:rPr lang="en-US" altLang="zh-CN" sz="2400" dirty="0"/>
              <a:t>is simplified because one processor has control of all memory and I/O resources</a:t>
            </a:r>
          </a:p>
          <a:p>
            <a:r>
              <a:rPr lang="en-US" altLang="zh-CN" dirty="0"/>
              <a:t>Disadvantages: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failure of master </a:t>
            </a:r>
            <a:r>
              <a:rPr lang="en-US" altLang="zh-CN" sz="2400" dirty="0"/>
              <a:t>brings down whole system</a:t>
            </a:r>
          </a:p>
          <a:p>
            <a:pPr lvl="1"/>
            <a:r>
              <a:rPr lang="en-US" altLang="zh-CN" sz="2400" dirty="0"/>
              <a:t>master can become a performance </a:t>
            </a:r>
            <a:r>
              <a:rPr lang="en-US" altLang="zh-CN" sz="2400" dirty="0">
                <a:solidFill>
                  <a:srgbClr val="FF0000"/>
                </a:solidFill>
              </a:rPr>
              <a:t>bottleneck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55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Peer Architecture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Kernel can execute on </a:t>
            </a:r>
            <a:r>
              <a:rPr lang="en-US" altLang="zh-CN" dirty="0">
                <a:solidFill>
                  <a:srgbClr val="FF0000"/>
                </a:solidFill>
              </a:rPr>
              <a:t>any processor</a:t>
            </a:r>
          </a:p>
          <a:p>
            <a:r>
              <a:rPr lang="en-US" altLang="zh-CN" dirty="0"/>
              <a:t>Each processor does </a:t>
            </a:r>
            <a:r>
              <a:rPr lang="en-US" altLang="zh-CN" dirty="0">
                <a:solidFill>
                  <a:srgbClr val="FF0000"/>
                </a:solidFill>
              </a:rPr>
              <a:t>self-scheduling</a:t>
            </a:r>
            <a:r>
              <a:rPr lang="en-US" altLang="zh-CN" dirty="0"/>
              <a:t> from the pool of available processes</a:t>
            </a:r>
          </a:p>
          <a:p>
            <a:pPr lvl="1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6B9323C-9388-4564-B0F3-2442B6E52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629" y="2623099"/>
            <a:ext cx="7833171" cy="313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14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Process Scheduling in Multiprocessor System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41104"/>
            <a:ext cx="5577115" cy="5175795"/>
          </a:xfrm>
        </p:spPr>
        <p:txBody>
          <a:bodyPr>
            <a:normAutofit/>
          </a:bodyPr>
          <a:lstStyle/>
          <a:p>
            <a:r>
              <a:rPr lang="en-US" altLang="zh-CN" dirty="0"/>
              <a:t>Usually </a:t>
            </a:r>
            <a:r>
              <a:rPr lang="en-US" altLang="zh-CN" dirty="0">
                <a:solidFill>
                  <a:srgbClr val="FF0000"/>
                </a:solidFill>
              </a:rPr>
              <a:t>processes</a:t>
            </a:r>
            <a:r>
              <a:rPr lang="en-US" altLang="zh-CN" dirty="0"/>
              <a:t> are not dedicated to a specific </a:t>
            </a:r>
            <a:r>
              <a:rPr lang="en-US" altLang="zh-CN" dirty="0">
                <a:solidFill>
                  <a:srgbClr val="FF0000"/>
                </a:solidFill>
              </a:rPr>
              <a:t>processor</a:t>
            </a:r>
          </a:p>
          <a:p>
            <a:r>
              <a:rPr lang="en-US" altLang="zh-CN" dirty="0"/>
              <a:t>A </a:t>
            </a:r>
            <a:r>
              <a:rPr lang="en-US" altLang="zh-CN" dirty="0">
                <a:solidFill>
                  <a:srgbClr val="FF0000"/>
                </a:solidFill>
              </a:rPr>
              <a:t>single queue</a:t>
            </a:r>
            <a:r>
              <a:rPr lang="en-US" altLang="zh-CN" dirty="0"/>
              <a:t> is used for all processors</a:t>
            </a:r>
          </a:p>
          <a:p>
            <a:pPr lvl="1"/>
            <a:r>
              <a:rPr lang="en-US" altLang="zh-CN" sz="2400" dirty="0"/>
              <a:t>if some sort of priority scheme is used, there are multiple queues based on priority</a:t>
            </a:r>
          </a:p>
          <a:p>
            <a:r>
              <a:rPr lang="en-US" altLang="zh-CN" dirty="0"/>
              <a:t>System is viewed as being a </a:t>
            </a:r>
            <a:r>
              <a:rPr lang="en-US" altLang="zh-CN" dirty="0">
                <a:solidFill>
                  <a:srgbClr val="FF0000"/>
                </a:solidFill>
              </a:rPr>
              <a:t>multi-server queuing </a:t>
            </a:r>
            <a:r>
              <a:rPr lang="en-US" altLang="zh-CN" dirty="0"/>
              <a:t>architecture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DE2ED9-045B-4DFC-85A5-F0DB57EE4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319" y="1457747"/>
            <a:ext cx="5208207" cy="378841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544636F-9D82-485F-BDF0-D929DB1AC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035" y="2799573"/>
            <a:ext cx="682397" cy="703639"/>
          </a:xfrm>
          <a:prstGeom prst="rect">
            <a:avLst/>
          </a:prstGeom>
        </p:spPr>
      </p:pic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E2051F1F-2B7B-43F4-ACD8-CA66908728F3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9261379" y="2372732"/>
            <a:ext cx="1276324" cy="2809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3E48B43-704B-4CB7-835C-E29642E147FF}"/>
              </a:ext>
            </a:extLst>
          </p:cNvPr>
          <p:cNvSpPr/>
          <p:nvPr/>
        </p:nvSpPr>
        <p:spPr>
          <a:xfrm>
            <a:off x="10018941" y="3162306"/>
            <a:ext cx="65315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4D3B669-821E-4D7A-B48C-41E992D3582C}"/>
              </a:ext>
            </a:extLst>
          </p:cNvPr>
          <p:cNvCxnSpPr>
            <a:cxnSpLocks/>
          </p:cNvCxnSpPr>
          <p:nvPr/>
        </p:nvCxnSpPr>
        <p:spPr>
          <a:xfrm>
            <a:off x="10685015" y="3061007"/>
            <a:ext cx="687837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BE757F1-65F4-467F-AA19-15C3343D3B4F}"/>
              </a:ext>
            </a:extLst>
          </p:cNvPr>
          <p:cNvCxnSpPr/>
          <p:nvPr/>
        </p:nvCxnSpPr>
        <p:spPr>
          <a:xfrm>
            <a:off x="10685018" y="3265716"/>
            <a:ext cx="2796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409E965-C9C4-4BA2-9AB9-D143CA072D17}"/>
              </a:ext>
            </a:extLst>
          </p:cNvPr>
          <p:cNvSpPr txBox="1"/>
          <p:nvPr/>
        </p:nvSpPr>
        <p:spPr>
          <a:xfrm rot="5400000">
            <a:off x="10281562" y="2275890"/>
            <a:ext cx="315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29877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FBA9E66A-2322-492A-AF61-9127C038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156" y="1491813"/>
            <a:ext cx="4919779" cy="401383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658EE63-C2C3-409F-8676-C919E2AE3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7" y="1771800"/>
            <a:ext cx="5933328" cy="345385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9F2BC37-39B9-4A5A-AC0F-C294A500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of Dual-Processor System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C4E69D-1B1D-4E41-9662-62D149F2AE4B}"/>
              </a:ext>
            </a:extLst>
          </p:cNvPr>
          <p:cNvSpPr txBox="1"/>
          <p:nvPr/>
        </p:nvSpPr>
        <p:spPr>
          <a:xfrm>
            <a:off x="2742628" y="5586482"/>
            <a:ext cx="7239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X: the variability of process’s service time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19B7E0-9250-4D36-8282-5919B565278D}"/>
              </a:ext>
            </a:extLst>
          </p:cNvPr>
          <p:cNvSpPr txBox="1"/>
          <p:nvPr/>
        </p:nvSpPr>
        <p:spPr>
          <a:xfrm>
            <a:off x="513085" y="493015"/>
            <a:ext cx="9916233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82" lvl="1" algn="just" defTabSz="685766">
              <a:spcBef>
                <a:spcPts val="375"/>
              </a:spcBef>
              <a:defRPr/>
            </a:pPr>
            <a:endParaRPr lang="en-US" altLang="zh-CN" sz="20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71442" indent="-171442" algn="just" defTabSz="685766">
              <a:spcBef>
                <a:spcPts val="751"/>
              </a:spcBef>
              <a:buFont typeface="Wingdings" panose="05000000000000000000" pitchFamily="2" charset="2"/>
              <a:buChar char="q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Comparison of scheduling performance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71934E-2337-49AC-B819-FE0F5A09B2C2}"/>
              </a:ext>
            </a:extLst>
          </p:cNvPr>
          <p:cNvSpPr/>
          <p:nvPr/>
        </p:nvSpPr>
        <p:spPr>
          <a:xfrm>
            <a:off x="2103120" y="4997584"/>
            <a:ext cx="2621280" cy="25093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DE21CE-9B0D-4389-BC9E-62DC6D32327C}"/>
              </a:ext>
            </a:extLst>
          </p:cNvPr>
          <p:cNvSpPr/>
          <p:nvPr/>
        </p:nvSpPr>
        <p:spPr>
          <a:xfrm>
            <a:off x="7901403" y="5200147"/>
            <a:ext cx="2621280" cy="25093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1D4EC22-224F-4B69-B6B2-AB3E648599C3}"/>
              </a:ext>
            </a:extLst>
          </p:cNvPr>
          <p:cNvSpPr/>
          <p:nvPr/>
        </p:nvSpPr>
        <p:spPr>
          <a:xfrm>
            <a:off x="5295900" y="3406143"/>
            <a:ext cx="259080" cy="2667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5CD53F5-8E3F-409C-B7C2-7BA9A2C27D0B}"/>
              </a:ext>
            </a:extLst>
          </p:cNvPr>
          <p:cNvSpPr/>
          <p:nvPr/>
        </p:nvSpPr>
        <p:spPr>
          <a:xfrm>
            <a:off x="10622280" y="3863343"/>
            <a:ext cx="259080" cy="2667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B3A9AF3-7F29-498F-95F4-652B43943D02}"/>
              </a:ext>
            </a:extLst>
          </p:cNvPr>
          <p:cNvGrpSpPr/>
          <p:nvPr/>
        </p:nvGrpSpPr>
        <p:grpSpPr>
          <a:xfrm>
            <a:off x="1600201" y="2432828"/>
            <a:ext cx="9357776" cy="1765792"/>
            <a:chOff x="1327163" y="3040949"/>
            <a:chExt cx="9357776" cy="1765792"/>
          </a:xfrm>
          <a:noFill/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AF9FF2C0-539B-4A70-998A-72A952BC2F21}"/>
                </a:ext>
              </a:extLst>
            </p:cNvPr>
            <p:cNvSpPr/>
            <p:nvPr/>
          </p:nvSpPr>
          <p:spPr>
            <a:xfrm>
              <a:off x="1327163" y="3040949"/>
              <a:ext cx="9357776" cy="176579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7249A4B-FB83-4C9F-845B-B50D00C5815E}"/>
                </a:ext>
              </a:extLst>
            </p:cNvPr>
            <p:cNvSpPr txBox="1"/>
            <p:nvPr/>
          </p:nvSpPr>
          <p:spPr>
            <a:xfrm>
              <a:off x="1761502" y="3264490"/>
              <a:ext cx="8664357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1. Specific scheduling discipline is much 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less important </a:t>
              </a:r>
              <a:r>
                <a:rPr lang="en-US" altLang="zh-CN" sz="2400" b="1" dirty="0"/>
                <a:t>with two processors than with one.</a:t>
              </a:r>
            </a:p>
            <a:p>
              <a:pPr algn="ctr"/>
              <a:r>
                <a:rPr lang="en-US" altLang="zh-CN" sz="2400" b="1" dirty="0"/>
                <a:t>2. FCFS with a static priority scheme is 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suffice</a:t>
              </a:r>
              <a:r>
                <a:rPr lang="en-US" altLang="zh-CN" sz="2400" b="1" dirty="0"/>
                <a:t> for MPS</a:t>
              </a:r>
            </a:p>
          </p:txBody>
        </p:sp>
      </p:grpSp>
      <p:sp>
        <p:nvSpPr>
          <p:cNvPr id="24" name="椭圆 23">
            <a:extLst>
              <a:ext uri="{FF2B5EF4-FFF2-40B4-BE49-F238E27FC236}">
                <a16:creationId xmlns:a16="http://schemas.microsoft.com/office/drawing/2014/main" id="{885267F8-2948-4C69-9CF3-03FACFCC779E}"/>
              </a:ext>
            </a:extLst>
          </p:cNvPr>
          <p:cNvSpPr/>
          <p:nvPr/>
        </p:nvSpPr>
        <p:spPr>
          <a:xfrm>
            <a:off x="5295900" y="1922059"/>
            <a:ext cx="259080" cy="2667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6F2259B-05C8-42DE-B4B1-E4FC039904C2}"/>
              </a:ext>
            </a:extLst>
          </p:cNvPr>
          <p:cNvSpPr/>
          <p:nvPr/>
        </p:nvSpPr>
        <p:spPr>
          <a:xfrm>
            <a:off x="10698897" y="2055410"/>
            <a:ext cx="259080" cy="2667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4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Thread Scheduling in Multiprocessors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An application can be a set of threads that </a:t>
            </a:r>
            <a:r>
              <a:rPr lang="en-US" altLang="zh-CN" dirty="0">
                <a:solidFill>
                  <a:srgbClr val="FF0000"/>
                </a:solidFill>
              </a:rPr>
              <a:t>cooperate and execute concurrently </a:t>
            </a:r>
            <a:r>
              <a:rPr lang="en-US" altLang="zh-CN" dirty="0"/>
              <a:t>in the same address space</a:t>
            </a:r>
          </a:p>
          <a:p>
            <a:r>
              <a:rPr lang="en-US" altLang="zh-CN" dirty="0"/>
              <a:t>On a</a:t>
            </a:r>
            <a:r>
              <a:rPr lang="zh-CN" altLang="en-US" dirty="0"/>
              <a:t> </a:t>
            </a:r>
            <a:r>
              <a:rPr lang="en-US" altLang="zh-CN" dirty="0"/>
              <a:t>uniprocessor</a:t>
            </a:r>
          </a:p>
          <a:p>
            <a:pPr lvl="1"/>
            <a:r>
              <a:rPr lang="en-US" altLang="zh-CN" sz="2400" dirty="0"/>
              <a:t>Threads can be used as a program structuring aid and to overlap I/O with processing (</a:t>
            </a:r>
            <a:r>
              <a:rPr lang="en-US" altLang="zh-CN" sz="2400" dirty="0">
                <a:solidFill>
                  <a:srgbClr val="0070C0"/>
                </a:solidFill>
              </a:rPr>
              <a:t>less overhead </a:t>
            </a:r>
            <a:r>
              <a:rPr lang="en-US" altLang="zh-CN" sz="2400" dirty="0"/>
              <a:t>than process switch)</a:t>
            </a:r>
          </a:p>
          <a:p>
            <a:r>
              <a:rPr lang="en-US" altLang="zh-CN" dirty="0"/>
              <a:t>On a multiprocessor</a:t>
            </a:r>
          </a:p>
          <a:p>
            <a:pPr lvl="1"/>
            <a:r>
              <a:rPr lang="en-US" altLang="zh-CN" sz="2400" dirty="0"/>
              <a:t>enable </a:t>
            </a:r>
            <a:r>
              <a:rPr lang="en-US" altLang="zh-CN" sz="2400" dirty="0">
                <a:solidFill>
                  <a:srgbClr val="0070C0"/>
                </a:solidFill>
              </a:rPr>
              <a:t>an application </a:t>
            </a:r>
            <a:r>
              <a:rPr lang="en-US" altLang="zh-CN" sz="2400" dirty="0"/>
              <a:t>to simultaneously run on </a:t>
            </a:r>
            <a:r>
              <a:rPr lang="en-US" altLang="zh-CN" sz="2400" dirty="0">
                <a:solidFill>
                  <a:srgbClr val="0070C0"/>
                </a:solidFill>
              </a:rPr>
              <a:t>separate processors——Dramatic gains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brought by multithreads in multiprocessor systems </a:t>
            </a:r>
          </a:p>
          <a:p>
            <a:pPr lvl="1"/>
            <a:r>
              <a:rPr lang="en-US" altLang="zh-CN" sz="2400" dirty="0"/>
              <a:t>require </a:t>
            </a:r>
            <a:r>
              <a:rPr lang="en-US" altLang="zh-CN" sz="2400" dirty="0">
                <a:solidFill>
                  <a:srgbClr val="0070C0"/>
                </a:solidFill>
              </a:rPr>
              <a:t>significant interaction </a:t>
            </a:r>
            <a:r>
              <a:rPr lang="en-US" altLang="zh-CN" sz="2400" dirty="0"/>
              <a:t>among threads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Small differences </a:t>
            </a:r>
            <a:r>
              <a:rPr lang="en-US" altLang="zh-CN" sz="2400" dirty="0"/>
              <a:t>in thread management and scheduling can have an impact on applications</a:t>
            </a:r>
          </a:p>
        </p:txBody>
      </p:sp>
    </p:spTree>
    <p:extLst>
      <p:ext uri="{BB962C8B-B14F-4D97-AF65-F5344CB8AC3E}">
        <p14:creationId xmlns:p14="http://schemas.microsoft.com/office/powerpoint/2010/main" val="2620231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Approaches to Thread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26" y="831271"/>
            <a:ext cx="10744200" cy="5599026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600" dirty="0"/>
              <a:t>Four approaches for </a:t>
            </a:r>
            <a:r>
              <a:rPr lang="en-US" altLang="zh-CN" sz="2600" dirty="0">
                <a:solidFill>
                  <a:srgbClr val="FF0000"/>
                </a:solidFill>
              </a:rPr>
              <a:t>multiprocessor thread scheduling </a:t>
            </a:r>
            <a:r>
              <a:rPr lang="en-US" altLang="zh-CN" sz="2600" dirty="0"/>
              <a:t>and </a:t>
            </a:r>
            <a:r>
              <a:rPr lang="en-US" altLang="zh-CN" sz="2600" dirty="0">
                <a:solidFill>
                  <a:srgbClr val="FF0000"/>
                </a:solidFill>
              </a:rPr>
              <a:t>processor assignment </a:t>
            </a:r>
            <a:r>
              <a:rPr lang="en-US" altLang="zh-CN" sz="2600" dirty="0"/>
              <a:t>are:</a:t>
            </a:r>
          </a:p>
          <a:p>
            <a:pPr lvl="2"/>
            <a:r>
              <a:rPr lang="en-US" altLang="zh-CN" sz="2600" b="1" dirty="0">
                <a:solidFill>
                  <a:srgbClr val="0070C0"/>
                </a:solidFill>
              </a:rPr>
              <a:t>Load Sharing</a:t>
            </a:r>
          </a:p>
          <a:p>
            <a:pPr lvl="3"/>
            <a:r>
              <a:rPr lang="en-US" altLang="zh-CN" sz="2600" b="1" dirty="0"/>
              <a:t>processes</a:t>
            </a:r>
            <a:r>
              <a:rPr lang="en-US" altLang="zh-CN" sz="2600" dirty="0"/>
              <a:t> are not assigned to a particular processor</a:t>
            </a:r>
          </a:p>
          <a:p>
            <a:pPr lvl="3"/>
            <a:r>
              <a:rPr lang="en-US" altLang="zh-CN" sz="2600" dirty="0"/>
              <a:t>When idle, each processor selects a thread from the </a:t>
            </a:r>
            <a:r>
              <a:rPr lang="en-US" altLang="zh-CN" sz="2600" b="1" dirty="0"/>
              <a:t>global threads queue</a:t>
            </a:r>
          </a:p>
          <a:p>
            <a:pPr lvl="2"/>
            <a:r>
              <a:rPr lang="en-US" altLang="zh-CN" sz="2600" b="1" dirty="0">
                <a:solidFill>
                  <a:srgbClr val="0070C0"/>
                </a:solidFill>
              </a:rPr>
              <a:t>Gang Scheduling</a:t>
            </a:r>
          </a:p>
          <a:p>
            <a:pPr lvl="3"/>
            <a:r>
              <a:rPr lang="en-US" altLang="zh-CN" sz="2600" dirty="0"/>
              <a:t>a set of </a:t>
            </a:r>
            <a:r>
              <a:rPr lang="en-US" altLang="zh-CN" sz="2600" b="1" dirty="0"/>
              <a:t>related threads </a:t>
            </a:r>
            <a:r>
              <a:rPr lang="en-US" altLang="zh-CN" sz="2600" dirty="0"/>
              <a:t>scheduled to run on </a:t>
            </a:r>
            <a:r>
              <a:rPr lang="en-US" altLang="zh-CN" sz="2600" b="1" dirty="0"/>
              <a:t>a set of processors </a:t>
            </a:r>
            <a:r>
              <a:rPr lang="en-US" altLang="zh-CN" sz="2600" dirty="0"/>
              <a:t>at the same time, on a </a:t>
            </a:r>
            <a:r>
              <a:rPr lang="en-US" altLang="zh-CN" sz="2600" b="1" dirty="0"/>
              <a:t>one-to-one</a:t>
            </a:r>
            <a:r>
              <a:rPr lang="en-US" altLang="zh-CN" sz="2600" dirty="0"/>
              <a:t> basis</a:t>
            </a:r>
          </a:p>
          <a:p>
            <a:pPr lvl="2"/>
            <a:r>
              <a:rPr lang="en-US" altLang="zh-CN" sz="2600" b="1" dirty="0">
                <a:solidFill>
                  <a:srgbClr val="0070C0"/>
                </a:solidFill>
              </a:rPr>
              <a:t>Dedicated </a:t>
            </a:r>
            <a:r>
              <a:rPr lang="zh-CN" altLang="en-US" sz="2600" b="1" dirty="0">
                <a:solidFill>
                  <a:srgbClr val="0070C0"/>
                </a:solidFill>
              </a:rPr>
              <a:t>（专用）</a:t>
            </a:r>
            <a:r>
              <a:rPr lang="en-US" altLang="zh-CN" sz="2600" b="1" dirty="0">
                <a:solidFill>
                  <a:srgbClr val="0070C0"/>
                </a:solidFill>
              </a:rPr>
              <a:t> Processor Assignment</a:t>
            </a:r>
          </a:p>
          <a:p>
            <a:pPr lvl="3"/>
            <a:r>
              <a:rPr lang="en-US" altLang="zh-CN" sz="2600" b="1" dirty="0"/>
              <a:t>Each program</a:t>
            </a:r>
            <a:r>
              <a:rPr lang="en-US" altLang="zh-CN" sz="2600" dirty="0"/>
              <a:t>, for the duration of its execution, is allocated </a:t>
            </a:r>
            <a:r>
              <a:rPr lang="en-US" altLang="zh-CN" sz="2600" b="1" dirty="0"/>
              <a:t>a number of processors</a:t>
            </a:r>
            <a:r>
              <a:rPr lang="en-US" altLang="zh-CN" sz="2600" dirty="0"/>
              <a:t> equal to the number of threads in the program</a:t>
            </a:r>
          </a:p>
          <a:p>
            <a:pPr lvl="2"/>
            <a:r>
              <a:rPr lang="en-US" altLang="zh-CN" sz="2600" b="1" dirty="0">
                <a:solidFill>
                  <a:srgbClr val="0070C0"/>
                </a:solidFill>
              </a:rPr>
              <a:t>Dynamic Scheduling</a:t>
            </a:r>
          </a:p>
          <a:p>
            <a:pPr lvl="3"/>
            <a:r>
              <a:rPr lang="en-US" altLang="zh-CN" sz="2600" dirty="0"/>
              <a:t>the number of threads in a process can be altered during the course of execution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91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 Sharing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4"/>
            <a:ext cx="10515600" cy="5506357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Simplest approach </a:t>
            </a:r>
            <a:r>
              <a:rPr lang="en-US" altLang="zh-CN" dirty="0"/>
              <a:t>and carries over most directly from a uniprocessor environment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Versions of load sharing:</a:t>
            </a:r>
          </a:p>
          <a:p>
            <a:pPr lvl="1"/>
            <a:r>
              <a:rPr lang="en-US" altLang="zh-CN" sz="2400" dirty="0"/>
              <a:t>First-come-first-served (FCFS)</a:t>
            </a:r>
          </a:p>
          <a:p>
            <a:pPr lvl="1"/>
            <a:r>
              <a:rPr lang="en-US" altLang="zh-CN" sz="2400" b="1" dirty="0"/>
              <a:t>Smallest number of threads first</a:t>
            </a:r>
            <a:endParaRPr lang="en-US" altLang="zh-CN" sz="2400" dirty="0"/>
          </a:p>
          <a:p>
            <a:pPr lvl="1"/>
            <a:r>
              <a:rPr lang="en-US" altLang="zh-CN" sz="2400" b="1" dirty="0">
                <a:solidFill>
                  <a:srgbClr val="0070C0"/>
                </a:solidFill>
              </a:rPr>
              <a:t>preemptive</a:t>
            </a:r>
            <a:r>
              <a:rPr lang="en-US" altLang="zh-CN" sz="2400" dirty="0"/>
              <a:t> smallest number of threads first</a:t>
            </a:r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3EF6D57-951C-4335-82DB-5FD6C691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435" y="1667869"/>
            <a:ext cx="7469488" cy="253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4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Disadvantages of Load Sharing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 Central queue occupies a region of memory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sz="2400" b="1" dirty="0">
                <a:solidFill>
                  <a:srgbClr val="FF0000"/>
                </a:solidFill>
              </a:rPr>
              <a:t>mutual exclusion access </a:t>
            </a:r>
            <a:r>
              <a:rPr lang="en-US" altLang="zh-CN" sz="2400" dirty="0"/>
              <a:t>among a large number of processors can lead to bottlenecks</a:t>
            </a:r>
          </a:p>
          <a:p>
            <a:pPr marL="342882" lvl="1" indent="0">
              <a:buNone/>
            </a:pPr>
            <a:endParaRPr lang="en-US" altLang="zh-CN" dirty="0"/>
          </a:p>
          <a:p>
            <a:r>
              <a:rPr lang="en-US" altLang="zh-CN" dirty="0"/>
              <a:t> Preemptive threads are likely to </a:t>
            </a:r>
            <a:r>
              <a:rPr lang="en-US" altLang="zh-CN" dirty="0">
                <a:solidFill>
                  <a:srgbClr val="FF0000"/>
                </a:solidFill>
              </a:rPr>
              <a:t>resume</a:t>
            </a:r>
            <a:r>
              <a:rPr lang="en-US" altLang="zh-CN" dirty="0"/>
              <a:t> execution on the </a:t>
            </a:r>
            <a:r>
              <a:rPr lang="en-US" altLang="zh-CN" dirty="0">
                <a:solidFill>
                  <a:srgbClr val="FF0000"/>
                </a:solidFill>
              </a:rPr>
              <a:t>different</a:t>
            </a:r>
            <a:r>
              <a:rPr lang="en-US" altLang="zh-CN" dirty="0"/>
              <a:t> processors</a:t>
            </a:r>
          </a:p>
          <a:p>
            <a:pPr lvl="1"/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</a:rPr>
              <a:t>caching</a:t>
            </a:r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can become less efficient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 If all threads are treated as a common pool of threads, </a:t>
            </a:r>
            <a:r>
              <a:rPr lang="en-US" altLang="zh-CN" dirty="0">
                <a:solidFill>
                  <a:srgbClr val="FF0000"/>
                </a:solidFill>
              </a:rPr>
              <a:t>all of the threads of a program may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not</a:t>
            </a:r>
            <a:r>
              <a:rPr lang="en-US" altLang="zh-CN" dirty="0"/>
              <a:t> gain access to processors at the same time</a:t>
            </a:r>
          </a:p>
          <a:p>
            <a:pPr lvl="1"/>
            <a:r>
              <a:rPr lang="en-US" altLang="zh-CN" sz="2400" dirty="0"/>
              <a:t>the process switches involved may </a:t>
            </a:r>
            <a:r>
              <a:rPr lang="en-US" altLang="zh-CN" sz="2400" b="1" dirty="0">
                <a:solidFill>
                  <a:srgbClr val="0070C0"/>
                </a:solidFill>
              </a:rPr>
              <a:t>seriously compromise </a:t>
            </a:r>
            <a:r>
              <a:rPr lang="en-US" altLang="zh-CN" sz="2400" dirty="0"/>
              <a:t>performance. </a:t>
            </a:r>
          </a:p>
        </p:txBody>
      </p:sp>
    </p:spTree>
    <p:extLst>
      <p:ext uri="{BB962C8B-B14F-4D97-AF65-F5344CB8AC3E}">
        <p14:creationId xmlns:p14="http://schemas.microsoft.com/office/powerpoint/2010/main" val="20312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Gang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Simultaneous  scheduling of the </a:t>
            </a:r>
            <a:r>
              <a:rPr lang="en-US" altLang="zh-CN" dirty="0">
                <a:solidFill>
                  <a:srgbClr val="FF0000"/>
                </a:solidFill>
              </a:rPr>
              <a:t>threads that make up a single process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Useful for </a:t>
            </a:r>
            <a:r>
              <a:rPr lang="en-US" altLang="zh-CN" dirty="0">
                <a:solidFill>
                  <a:srgbClr val="FF0000"/>
                </a:solidFill>
              </a:rPr>
              <a:t>medium-grained</a:t>
            </a:r>
            <a:r>
              <a:rPr lang="en-US" altLang="zh-CN" dirty="0"/>
              <a:t> to </a:t>
            </a:r>
            <a:r>
              <a:rPr lang="en-US" altLang="zh-CN" dirty="0">
                <a:solidFill>
                  <a:srgbClr val="FF0000"/>
                </a:solidFill>
              </a:rPr>
              <a:t>fine-grained</a:t>
            </a:r>
            <a:r>
              <a:rPr lang="en-US" altLang="zh-CN" dirty="0"/>
              <a:t> parallel applications whose performance severely degrades when any part of the application is not running while other parts are ready to run</a:t>
            </a:r>
          </a:p>
          <a:p>
            <a:r>
              <a:rPr lang="en-US" altLang="zh-CN" dirty="0"/>
              <a:t>Beneficial for any </a:t>
            </a:r>
            <a:r>
              <a:rPr lang="en-US" altLang="zh-CN" dirty="0">
                <a:solidFill>
                  <a:srgbClr val="FF0000"/>
                </a:solidFill>
              </a:rPr>
              <a:t>parallel</a:t>
            </a:r>
            <a:r>
              <a:rPr lang="en-US" altLang="zh-CN" dirty="0"/>
              <a:t> application</a:t>
            </a:r>
          </a:p>
          <a:p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52EA50-1B07-4E79-A111-83AA57482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73" y="1615671"/>
            <a:ext cx="7955377" cy="257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74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F1F04-EE0B-4A9E-AAAD-C44ED145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US" altLang="zh-CN" dirty="0"/>
              <a:t>xample of Gang Scheduling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187FF-2D2F-4AB7-89D5-38F2F09A4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9"/>
            <a:ext cx="10515600" cy="147537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The use of gang scheduling creates </a:t>
            </a:r>
            <a:r>
              <a:rPr lang="en-US" dirty="0">
                <a:solidFill>
                  <a:srgbClr val="FF0000"/>
                </a:solidFill>
              </a:rPr>
              <a:t>a requirement for processor allocation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9BFD05-3A38-4995-B06F-E400FC9B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28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9E3AF9-AAA1-4BBE-9160-22EF5C1E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9864BC-75A2-4DDD-A38C-7286948E8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297" y="1533915"/>
            <a:ext cx="6512923" cy="422057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94C4F02-8859-45D4-ADCC-1BB32AE57558}"/>
              </a:ext>
            </a:extLst>
          </p:cNvPr>
          <p:cNvSpPr txBox="1"/>
          <p:nvPr/>
        </p:nvSpPr>
        <p:spPr>
          <a:xfrm>
            <a:off x="929640" y="1717458"/>
            <a:ext cx="4328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37" indent="-285737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 processors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 applications, 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Each application could be given </a:t>
            </a:r>
            <a:r>
              <a:rPr 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1/M 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times</a:t>
            </a:r>
            <a:endParaRPr 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627624-4EFB-4396-857F-CEEE2143A6CA}"/>
              </a:ext>
            </a:extLst>
          </p:cNvPr>
          <p:cNvSpPr txBox="1"/>
          <p:nvPr/>
        </p:nvSpPr>
        <p:spPr>
          <a:xfrm>
            <a:off x="5654040" y="58168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Example of </a:t>
            </a:r>
            <a:r>
              <a:rPr lang="en-US" altLang="zh-CN" sz="2000" dirty="0"/>
              <a:t>s</a:t>
            </a:r>
            <a:r>
              <a:rPr lang="en-US" sz="2000" dirty="0"/>
              <a:t>cheduling groups </a:t>
            </a:r>
            <a:r>
              <a:rPr lang="en-US" altLang="zh-CN" sz="2000" dirty="0"/>
              <a:t>w</a:t>
            </a:r>
            <a:r>
              <a:rPr lang="en-US" sz="2000" dirty="0"/>
              <a:t>ith four and one threads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1B8496-C478-4757-A5E6-1667A22F48A5}"/>
              </a:ext>
            </a:extLst>
          </p:cNvPr>
          <p:cNvSpPr txBox="1"/>
          <p:nvPr/>
        </p:nvSpPr>
        <p:spPr>
          <a:xfrm>
            <a:off x="5708469" y="4883583"/>
            <a:ext cx="1922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37.5% idle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BC5F4F-D424-48CD-8BFE-06256E3BA2A9}"/>
              </a:ext>
            </a:extLst>
          </p:cNvPr>
          <p:cNvSpPr txBox="1"/>
          <p:nvPr/>
        </p:nvSpPr>
        <p:spPr>
          <a:xfrm>
            <a:off x="8943157" y="4883583"/>
            <a:ext cx="1922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15% idle</a:t>
            </a:r>
          </a:p>
        </p:txBody>
      </p:sp>
    </p:spTree>
    <p:extLst>
      <p:ext uri="{BB962C8B-B14F-4D97-AF65-F5344CB8AC3E}">
        <p14:creationId xmlns:p14="http://schemas.microsoft.com/office/powerpoint/2010/main" val="1889126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Dedicated Processor Assignment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2"/>
            <a:ext cx="10665542" cy="5402381"/>
          </a:xfrm>
        </p:spPr>
        <p:txBody>
          <a:bodyPr>
            <a:normAutofit/>
          </a:bodyPr>
          <a:lstStyle/>
          <a:p>
            <a:r>
              <a:rPr lang="en-US" altLang="zh-CN" dirty="0"/>
              <a:t>When an application is scheduled, each of its </a:t>
            </a:r>
            <a:r>
              <a:rPr lang="en-US" altLang="zh-CN" dirty="0">
                <a:solidFill>
                  <a:srgbClr val="FF0000"/>
                </a:solidFill>
              </a:rPr>
              <a:t>threads is assigned to a processor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that remains </a:t>
            </a:r>
            <a:r>
              <a:rPr lang="en-US" altLang="zh-CN" dirty="0">
                <a:solidFill>
                  <a:srgbClr val="FF0000"/>
                </a:solidFill>
              </a:rPr>
              <a:t>dedicated to that thread </a:t>
            </a:r>
            <a:r>
              <a:rPr lang="en-US" altLang="zh-CN" dirty="0"/>
              <a:t>until the application runs to completion</a:t>
            </a:r>
          </a:p>
          <a:p>
            <a:r>
              <a:rPr lang="en-US" altLang="zh-CN" dirty="0"/>
              <a:t>If a thread of an application is </a:t>
            </a:r>
            <a:r>
              <a:rPr lang="en-US" altLang="zh-CN" dirty="0">
                <a:solidFill>
                  <a:srgbClr val="FF0000"/>
                </a:solidFill>
              </a:rPr>
              <a:t>blocked</a:t>
            </a:r>
            <a:r>
              <a:rPr lang="en-US" altLang="zh-CN" dirty="0"/>
              <a:t> waiting for I/O or for synchronization with another thread, then that thread’s processor remains </a:t>
            </a:r>
            <a:r>
              <a:rPr lang="en-US" altLang="zh-CN" dirty="0">
                <a:solidFill>
                  <a:srgbClr val="FF0000"/>
                </a:solidFill>
              </a:rPr>
              <a:t>idle</a:t>
            </a:r>
          </a:p>
          <a:p>
            <a:pPr lvl="1"/>
            <a:r>
              <a:rPr lang="en-US" altLang="zh-CN" sz="2400" dirty="0"/>
              <a:t>there is </a:t>
            </a:r>
            <a:r>
              <a:rPr lang="en-US" altLang="zh-CN" sz="2400" dirty="0">
                <a:solidFill>
                  <a:srgbClr val="0070C0"/>
                </a:solidFill>
              </a:rPr>
              <a:t>no multiprogramming </a:t>
            </a:r>
            <a:r>
              <a:rPr lang="en-US" altLang="zh-CN" sz="2400" dirty="0"/>
              <a:t>of processors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Defense</a:t>
            </a:r>
            <a:r>
              <a:rPr lang="en-US" altLang="zh-CN" dirty="0"/>
              <a:t> of this strategy: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sz="2400" dirty="0"/>
              <a:t>in a highly parallel system, with </a:t>
            </a:r>
            <a:r>
              <a:rPr lang="en-US" altLang="zh-CN" sz="2400" dirty="0">
                <a:solidFill>
                  <a:srgbClr val="0070C0"/>
                </a:solidFill>
              </a:rPr>
              <a:t>tens or hundreds of processors</a:t>
            </a:r>
            <a:r>
              <a:rPr lang="en-US" altLang="zh-CN" sz="2400" dirty="0"/>
              <a:t>, processor utilization is </a:t>
            </a:r>
            <a:r>
              <a:rPr lang="en-US" altLang="zh-CN" sz="2400" dirty="0">
                <a:solidFill>
                  <a:schemeClr val="accent1"/>
                </a:solidFill>
              </a:rPr>
              <a:t>no longer so important</a:t>
            </a:r>
            <a:r>
              <a:rPr lang="en-US" altLang="zh-CN" sz="2400" dirty="0"/>
              <a:t> as a metric for effectiveness or performance</a:t>
            </a:r>
          </a:p>
          <a:p>
            <a:pPr lvl="1"/>
            <a:r>
              <a:rPr lang="en-US" altLang="zh-CN" sz="2400" dirty="0">
                <a:solidFill>
                  <a:schemeClr val="accent1"/>
                </a:solidFill>
              </a:rPr>
              <a:t> the total avoidance of process switching </a:t>
            </a:r>
            <a:r>
              <a:rPr lang="en-US" altLang="zh-CN" sz="2400" dirty="0"/>
              <a:t>during the lifetime of a program should result in a substantial </a:t>
            </a:r>
            <a:r>
              <a:rPr lang="en-US" altLang="zh-CN" sz="2400" dirty="0">
                <a:solidFill>
                  <a:schemeClr val="accent1"/>
                </a:solidFill>
              </a:rPr>
              <a:t>speedup</a:t>
            </a:r>
            <a:r>
              <a:rPr lang="en-US" altLang="zh-CN" sz="2400" dirty="0"/>
              <a:t> of that program</a:t>
            </a:r>
          </a:p>
        </p:txBody>
      </p:sp>
    </p:spTree>
    <p:extLst>
      <p:ext uri="{BB962C8B-B14F-4D97-AF65-F5344CB8AC3E}">
        <p14:creationId xmlns:p14="http://schemas.microsoft.com/office/powerpoint/2010/main" val="3874316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10_04.gif">
            <a:extLst>
              <a:ext uri="{FF2B5EF4-FFF2-40B4-BE49-F238E27FC236}">
                <a16:creationId xmlns:a16="http://schemas.microsoft.com/office/drawing/2014/main" id="{C7F4B7D6-4DC6-4599-AED1-BDEBE8349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7174" y="964487"/>
            <a:ext cx="5957667" cy="4436381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205CAAE-1F68-462C-AD4E-239F9319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Speedup as a Function of Number of Threads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23EC1B-D26A-4F51-9F64-A9E86DBDF44A}"/>
              </a:ext>
            </a:extLst>
          </p:cNvPr>
          <p:cNvSpPr txBox="1"/>
          <p:nvPr/>
        </p:nvSpPr>
        <p:spPr>
          <a:xfrm>
            <a:off x="503248" y="877750"/>
            <a:ext cx="9584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Why it degrades after 8 threads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with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processors</a:t>
            </a:r>
          </a:p>
          <a:p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A0D078-696C-4196-B9BB-2D735DBE6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903" y="718799"/>
            <a:ext cx="603556" cy="920576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1C522598-4559-4980-9F74-9AD8FEC1AD55}"/>
              </a:ext>
            </a:extLst>
          </p:cNvPr>
          <p:cNvSpPr/>
          <p:nvPr/>
        </p:nvSpPr>
        <p:spPr>
          <a:xfrm>
            <a:off x="7908571" y="1476807"/>
            <a:ext cx="533400" cy="5626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78E03B-8F64-40C4-836E-49FD3949C102}"/>
              </a:ext>
            </a:extLst>
          </p:cNvPr>
          <p:cNvSpPr txBox="1"/>
          <p:nvPr/>
        </p:nvSpPr>
        <p:spPr>
          <a:xfrm>
            <a:off x="423477" y="1856323"/>
            <a:ext cx="5928161" cy="3721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37" indent="-285737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greater frequency of thread </a:t>
            </a:r>
            <a:r>
              <a:rPr 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preemption and rescheduling </a:t>
            </a:r>
            <a:r>
              <a:rPr 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results in inefficiency from many sources</a:t>
            </a:r>
          </a:p>
          <a:p>
            <a:pPr marL="800060" lvl="1" indent="-34288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waiting time for a suspended thread</a:t>
            </a:r>
          </a:p>
          <a:p>
            <a:pPr marL="800060" lvl="1" indent="-34288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Time wasted in process switching</a:t>
            </a:r>
          </a:p>
          <a:p>
            <a:pPr marL="800060" lvl="1" indent="-34288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inefficient cache behavior.</a:t>
            </a:r>
          </a:p>
        </p:txBody>
      </p:sp>
    </p:spTree>
    <p:extLst>
      <p:ext uri="{BB962C8B-B14F-4D97-AF65-F5344CB8AC3E}">
        <p14:creationId xmlns:p14="http://schemas.microsoft.com/office/powerpoint/2010/main" val="338778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Some applications </a:t>
            </a:r>
            <a:r>
              <a:rPr lang="en-US" altLang="zh-CN" dirty="0"/>
              <a:t>provide language and system tools to </a:t>
            </a:r>
            <a:r>
              <a:rPr lang="en-US" altLang="zh-CN" dirty="0">
                <a:solidFill>
                  <a:srgbClr val="FF0000"/>
                </a:solidFill>
              </a:rPr>
              <a:t>change the number of threads</a:t>
            </a:r>
            <a:r>
              <a:rPr lang="en-US" altLang="zh-CN" dirty="0"/>
              <a:t> of process dynamically</a:t>
            </a:r>
          </a:p>
          <a:p>
            <a:pPr lvl="1"/>
            <a:r>
              <a:rPr lang="en-US" altLang="zh-CN" sz="2400" dirty="0"/>
              <a:t>this would allow the operating system to adjust the load to improve utilization</a:t>
            </a:r>
          </a:p>
          <a:p>
            <a:r>
              <a:rPr lang="en-US" altLang="zh-CN" dirty="0"/>
              <a:t>Both the </a:t>
            </a:r>
            <a:r>
              <a:rPr lang="en-US" altLang="zh-CN" dirty="0">
                <a:solidFill>
                  <a:srgbClr val="FF0000"/>
                </a:solidFill>
              </a:rPr>
              <a:t>operating system and the application </a:t>
            </a:r>
            <a:r>
              <a:rPr lang="en-US" altLang="zh-CN" dirty="0"/>
              <a:t>are involved in making scheduling decisions</a:t>
            </a:r>
          </a:p>
          <a:p>
            <a:pPr lvl="1"/>
            <a:r>
              <a:rPr lang="en-US" altLang="zh-CN" sz="2400" b="1" dirty="0"/>
              <a:t>The operating system</a:t>
            </a:r>
            <a:r>
              <a:rPr lang="en-US" altLang="zh-CN" sz="2400" dirty="0"/>
              <a:t>: allocating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b="1" dirty="0">
                <a:solidFill>
                  <a:srgbClr val="0070C0"/>
                </a:solidFill>
              </a:rPr>
              <a:t>processors</a:t>
            </a:r>
            <a:r>
              <a:rPr lang="en-US" altLang="zh-CN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to the jobs</a:t>
            </a:r>
          </a:p>
          <a:p>
            <a:pPr lvl="1"/>
            <a:r>
              <a:rPr lang="en-US" altLang="zh-CN" sz="2400" b="1" dirty="0"/>
              <a:t>Individual application</a:t>
            </a:r>
            <a:r>
              <a:rPr lang="en-US" altLang="zh-CN" sz="2400" dirty="0"/>
              <a:t>: </a:t>
            </a:r>
          </a:p>
          <a:p>
            <a:pPr lvl="2"/>
            <a:r>
              <a:rPr lang="en-US" altLang="zh-CN" sz="2400" dirty="0"/>
              <a:t>Map</a:t>
            </a:r>
            <a:r>
              <a:rPr lang="zh-CN" altLang="en-US" sz="2400" dirty="0"/>
              <a:t> </a:t>
            </a:r>
            <a:r>
              <a:rPr lang="en-US" altLang="zh-CN" sz="2400" dirty="0"/>
              <a:t>tasks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threads</a:t>
            </a:r>
          </a:p>
          <a:p>
            <a:pPr lvl="2"/>
            <a:r>
              <a:rPr lang="en-US" altLang="zh-CN" sz="2400" dirty="0"/>
              <a:t>Determine which subset to run, and </a:t>
            </a:r>
            <a:r>
              <a:rPr lang="en-US" altLang="zh-CN" sz="2400" b="1" dirty="0">
                <a:solidFill>
                  <a:srgbClr val="0070C0"/>
                </a:solidFill>
              </a:rPr>
              <a:t>which thread to suspend</a:t>
            </a:r>
            <a:r>
              <a:rPr lang="en-US" altLang="zh-CN" sz="2400" dirty="0"/>
              <a:t> when a process is preempted </a:t>
            </a:r>
          </a:p>
        </p:txBody>
      </p:sp>
    </p:spTree>
    <p:extLst>
      <p:ext uri="{BB962C8B-B14F-4D97-AF65-F5344CB8AC3E}">
        <p14:creationId xmlns:p14="http://schemas.microsoft.com/office/powerpoint/2010/main" val="3444268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4448652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scheduler</a:t>
            </a:r>
            <a:r>
              <a:rPr lang="en-US" altLang="zh-CN" dirty="0"/>
              <a:t>, is perhaps the most important component in Real-Time System</a:t>
            </a:r>
          </a:p>
          <a:p>
            <a:r>
              <a:rPr lang="en-US" altLang="zh-CN" dirty="0"/>
              <a:t>Real-time computing: </a:t>
            </a:r>
            <a:r>
              <a:rPr lang="en-US" altLang="zh-CN" dirty="0">
                <a:solidFill>
                  <a:srgbClr val="FF0000"/>
                </a:solidFill>
              </a:rPr>
              <a:t>Correctness</a:t>
            </a:r>
            <a:r>
              <a:rPr lang="en-US" altLang="zh-CN" dirty="0"/>
              <a:t> of the system depends on both the </a:t>
            </a:r>
            <a:r>
              <a:rPr lang="en-US" altLang="zh-CN" dirty="0">
                <a:solidFill>
                  <a:srgbClr val="FF0000"/>
                </a:solidFill>
              </a:rPr>
              <a:t>logical result </a:t>
            </a:r>
            <a:r>
              <a:rPr lang="en-US" altLang="zh-CN" dirty="0"/>
              <a:t>of the computation and on </a:t>
            </a:r>
            <a:r>
              <a:rPr lang="en-US" altLang="zh-CN" dirty="0">
                <a:solidFill>
                  <a:srgbClr val="FF0000"/>
                </a:solidFill>
              </a:rPr>
              <a:t>the complete time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Real-time system:</a:t>
            </a:r>
          </a:p>
          <a:p>
            <a:pPr lvl="1"/>
            <a:r>
              <a:rPr lang="en-US" altLang="zh-CN" sz="2400" dirty="0"/>
              <a:t>some of the tasks are </a:t>
            </a:r>
            <a:r>
              <a:rPr lang="en-US" altLang="zh-CN" sz="2400" b="1" dirty="0">
                <a:solidFill>
                  <a:srgbClr val="0070C0"/>
                </a:solidFill>
              </a:rPr>
              <a:t>real-time tasks</a:t>
            </a:r>
            <a:r>
              <a:rPr lang="en-US" altLang="zh-CN" sz="2400" dirty="0"/>
              <a:t>, and these have a certain </a:t>
            </a:r>
            <a:r>
              <a:rPr lang="en-US" altLang="zh-CN" sz="2400" b="1" dirty="0">
                <a:solidFill>
                  <a:srgbClr val="0070C0"/>
                </a:solidFill>
              </a:rPr>
              <a:t>degree of urgency </a:t>
            </a:r>
            <a:r>
              <a:rPr lang="en-US" altLang="zh-CN" sz="2400" dirty="0"/>
              <a:t>to them. </a:t>
            </a:r>
          </a:p>
          <a:p>
            <a:pPr lvl="1"/>
            <a:r>
              <a:rPr lang="en-US" altLang="zh-CN" sz="2400" dirty="0"/>
              <a:t>Such tasks are attempting to </a:t>
            </a:r>
            <a:r>
              <a:rPr lang="en-US" altLang="zh-CN" sz="2400" b="1" dirty="0">
                <a:solidFill>
                  <a:srgbClr val="0070C0"/>
                </a:solidFill>
              </a:rPr>
              <a:t>control or react to events </a:t>
            </a:r>
            <a:r>
              <a:rPr lang="en-US" altLang="zh-CN" sz="2400" dirty="0"/>
              <a:t>that take place in the outside world.</a:t>
            </a:r>
          </a:p>
          <a:p>
            <a:pPr lvl="1"/>
            <a:r>
              <a:rPr lang="en-US" altLang="zh-CN" sz="2400" dirty="0"/>
              <a:t>Associate a </a:t>
            </a:r>
            <a:r>
              <a:rPr lang="en-US" altLang="zh-CN" sz="2400" b="1" dirty="0">
                <a:solidFill>
                  <a:srgbClr val="0070C0"/>
                </a:solidFill>
              </a:rPr>
              <a:t>deadline</a:t>
            </a:r>
            <a:r>
              <a:rPr lang="en-US" altLang="zh-CN" sz="2400" dirty="0"/>
              <a:t> with a particular task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Real-Time Systems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9820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Hard and Soft Real-Time Tasks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Hard</a:t>
            </a:r>
            <a:r>
              <a:rPr lang="en-US" altLang="zh-CN" dirty="0"/>
              <a:t> real-time task</a:t>
            </a:r>
          </a:p>
          <a:p>
            <a:pPr lvl="1"/>
            <a:r>
              <a:rPr lang="en-US" altLang="zh-CN" sz="2400" dirty="0"/>
              <a:t>one that must </a:t>
            </a:r>
            <a:r>
              <a:rPr lang="en-US" altLang="zh-CN" sz="2400" b="1" dirty="0">
                <a:solidFill>
                  <a:srgbClr val="0070C0"/>
                </a:solidFill>
              </a:rPr>
              <a:t>meet its deadline</a:t>
            </a:r>
          </a:p>
          <a:p>
            <a:pPr lvl="1"/>
            <a:r>
              <a:rPr lang="en-US" altLang="zh-CN" sz="2400" dirty="0"/>
              <a:t>otherwise it will cause </a:t>
            </a:r>
            <a:r>
              <a:rPr lang="en-US" altLang="zh-CN" sz="2400" b="1" dirty="0">
                <a:solidFill>
                  <a:srgbClr val="0070C0"/>
                </a:solidFill>
              </a:rPr>
              <a:t>unacceptable damage </a:t>
            </a:r>
            <a:r>
              <a:rPr lang="en-US" altLang="zh-CN" sz="2400" dirty="0"/>
              <a:t>or a </a:t>
            </a:r>
            <a:r>
              <a:rPr lang="en-US" altLang="zh-CN" sz="2400" b="1" dirty="0">
                <a:solidFill>
                  <a:srgbClr val="0070C0"/>
                </a:solidFill>
              </a:rPr>
              <a:t>fatal error </a:t>
            </a:r>
            <a:r>
              <a:rPr lang="en-US" altLang="zh-CN" sz="2400" dirty="0"/>
              <a:t>to the system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Soft</a:t>
            </a:r>
            <a:r>
              <a:rPr lang="en-US" altLang="zh-CN" dirty="0"/>
              <a:t> real-time task</a:t>
            </a:r>
          </a:p>
          <a:p>
            <a:pPr lvl="1"/>
            <a:r>
              <a:rPr lang="en-US" altLang="zh-CN" sz="2400" dirty="0"/>
              <a:t>Has an associated deadline that is desirable but </a:t>
            </a:r>
            <a:r>
              <a:rPr lang="en-US" altLang="zh-CN" sz="2400" b="1" dirty="0">
                <a:solidFill>
                  <a:srgbClr val="0070C0"/>
                </a:solidFill>
              </a:rPr>
              <a:t>not mandatory(</a:t>
            </a:r>
            <a:r>
              <a:rPr lang="zh-CN" altLang="en-US" sz="2400" b="1" dirty="0">
                <a:solidFill>
                  <a:srgbClr val="0070C0"/>
                </a:solidFill>
              </a:rPr>
              <a:t>不强制的</a:t>
            </a:r>
            <a:r>
              <a:rPr lang="en-US" altLang="zh-CN" sz="2400" b="1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altLang="zh-CN" sz="2400" dirty="0"/>
              <a:t>It still </a:t>
            </a:r>
            <a:r>
              <a:rPr lang="en-US" altLang="zh-CN" sz="2400" dirty="0">
                <a:solidFill>
                  <a:srgbClr val="0070C0"/>
                </a:solidFill>
              </a:rPr>
              <a:t>makes sense </a:t>
            </a:r>
            <a:r>
              <a:rPr lang="en-US" altLang="zh-CN" sz="2400" dirty="0"/>
              <a:t>to schedule and complete the task even if it has passed its deadline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4186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Another characteristic of real-time tasks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Periodic tasks</a:t>
            </a:r>
          </a:p>
          <a:p>
            <a:pPr lvl="1"/>
            <a:r>
              <a:rPr lang="en-US" altLang="zh-CN" sz="2400" dirty="0"/>
              <a:t>requirement may be stated as:</a:t>
            </a:r>
          </a:p>
          <a:p>
            <a:pPr lvl="2"/>
            <a:r>
              <a:rPr lang="en-US" altLang="zh-CN" sz="2400" dirty="0"/>
              <a:t>once per </a:t>
            </a:r>
            <a:r>
              <a:rPr lang="en-US" altLang="zh-CN" sz="2400" b="1" dirty="0">
                <a:solidFill>
                  <a:srgbClr val="0070C0"/>
                </a:solidFill>
              </a:rPr>
              <a:t>period T</a:t>
            </a:r>
          </a:p>
          <a:p>
            <a:pPr lvl="2"/>
            <a:r>
              <a:rPr lang="en-US" altLang="zh-CN" sz="2400" dirty="0"/>
              <a:t>exactly </a:t>
            </a:r>
            <a:r>
              <a:rPr lang="en-US" altLang="zh-CN" sz="2400" b="1" dirty="0">
                <a:solidFill>
                  <a:srgbClr val="0070C0"/>
                </a:solidFill>
              </a:rPr>
              <a:t>T units </a:t>
            </a:r>
            <a:r>
              <a:rPr lang="en-US" altLang="zh-CN" sz="2400" dirty="0"/>
              <a:t>apart</a:t>
            </a:r>
          </a:p>
          <a:p>
            <a:pPr lvl="2"/>
            <a:endParaRPr lang="en-US" altLang="zh-CN" sz="2400" dirty="0"/>
          </a:p>
          <a:p>
            <a:pPr lvl="2"/>
            <a:endParaRPr lang="en-US" altLang="zh-CN" sz="2400" dirty="0"/>
          </a:p>
          <a:p>
            <a:r>
              <a:rPr lang="en-US" altLang="zh-CN" dirty="0"/>
              <a:t>Aperiodic tasks</a:t>
            </a:r>
          </a:p>
          <a:p>
            <a:pPr lvl="1"/>
            <a:r>
              <a:rPr lang="en-US" altLang="zh-CN" sz="2400" dirty="0"/>
              <a:t>has a deadline by which it must </a:t>
            </a:r>
            <a:r>
              <a:rPr lang="en-US" altLang="zh-CN" sz="2400" b="1" dirty="0">
                <a:solidFill>
                  <a:srgbClr val="0070C0"/>
                </a:solidFill>
              </a:rPr>
              <a:t>finish or start</a:t>
            </a:r>
          </a:p>
          <a:p>
            <a:pPr lvl="1"/>
            <a:r>
              <a:rPr lang="en-US" altLang="zh-CN" sz="2400" dirty="0"/>
              <a:t>may have a constraint on </a:t>
            </a:r>
            <a:r>
              <a:rPr lang="en-US" altLang="zh-CN" sz="2400" b="1" dirty="0">
                <a:solidFill>
                  <a:srgbClr val="0070C0"/>
                </a:solidFill>
              </a:rPr>
              <a:t>both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start and finish time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80278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2.1</a:t>
            </a:r>
            <a:r>
              <a:rPr lang="zh-CN" altLang="en-US" dirty="0"/>
              <a:t> </a:t>
            </a:r>
            <a:r>
              <a:rPr lang="en-US" altLang="zh-CN" dirty="0"/>
              <a:t>Characteristics of Real Time Systems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Real-time operating systems have requirements in five general areas:</a:t>
            </a:r>
          </a:p>
          <a:p>
            <a:pPr lvl="1"/>
            <a:r>
              <a:rPr lang="en-US" altLang="zh-CN" sz="2400" dirty="0"/>
              <a:t>Determinism</a:t>
            </a:r>
            <a:r>
              <a:rPr lang="zh-CN" altLang="en-US" sz="2400" dirty="0"/>
              <a:t>（确定性）</a:t>
            </a:r>
            <a:endParaRPr lang="en-US" altLang="zh-CN" sz="2400" dirty="0"/>
          </a:p>
          <a:p>
            <a:pPr lvl="1"/>
            <a:r>
              <a:rPr lang="en-US" altLang="zh-CN" sz="2400" dirty="0"/>
              <a:t>Responsiveness</a:t>
            </a:r>
            <a:r>
              <a:rPr lang="zh-CN" altLang="en-US" sz="2400" dirty="0"/>
              <a:t>（响应性）</a:t>
            </a:r>
            <a:endParaRPr lang="en-US" altLang="zh-CN" sz="2400" dirty="0"/>
          </a:p>
          <a:p>
            <a:pPr lvl="1"/>
            <a:r>
              <a:rPr lang="en-US" altLang="zh-CN" sz="2400" dirty="0"/>
              <a:t>User control</a:t>
            </a:r>
          </a:p>
          <a:p>
            <a:pPr lvl="1"/>
            <a:r>
              <a:rPr lang="en-US" altLang="zh-CN" sz="2400" dirty="0"/>
              <a:t>Reliability</a:t>
            </a:r>
            <a:r>
              <a:rPr lang="zh-CN" altLang="en-US" sz="2400" dirty="0"/>
              <a:t>（可靠性）</a:t>
            </a:r>
            <a:endParaRPr lang="en-US" altLang="zh-CN" sz="2400" dirty="0"/>
          </a:p>
          <a:p>
            <a:pPr lvl="1"/>
            <a:r>
              <a:rPr lang="en-US" altLang="zh-CN" sz="2400" dirty="0"/>
              <a:t>Fail-soft operation</a:t>
            </a:r>
            <a:r>
              <a:rPr lang="zh-CN" altLang="en-US" sz="2400" dirty="0"/>
              <a:t>（故障弱化）</a:t>
            </a:r>
            <a:endParaRPr lang="en-US" altLang="zh-CN" sz="2400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67899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Determinism</a:t>
            </a:r>
            <a:r>
              <a:rPr lang="zh-CN" altLang="en-US" dirty="0"/>
              <a:t>（可确定性）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Determinism means that operations are performed at </a:t>
            </a:r>
            <a:r>
              <a:rPr lang="en-US" altLang="zh-CN" dirty="0">
                <a:solidFill>
                  <a:srgbClr val="FF0000"/>
                </a:solidFill>
              </a:rPr>
              <a:t>fixed, predetermined times</a:t>
            </a:r>
            <a:r>
              <a:rPr lang="en-US" altLang="zh-CN" dirty="0"/>
              <a:t> or within predetermined time </a:t>
            </a:r>
            <a:r>
              <a:rPr lang="en-US" altLang="zh-CN" dirty="0">
                <a:solidFill>
                  <a:srgbClr val="FF0000"/>
                </a:solidFill>
              </a:rPr>
              <a:t>intervals</a:t>
            </a:r>
          </a:p>
          <a:p>
            <a:pPr lvl="1"/>
            <a:r>
              <a:rPr lang="en-US" altLang="zh-CN" sz="2400" dirty="0"/>
              <a:t>when multiple processes are competing for resources and processor time, </a:t>
            </a:r>
            <a:r>
              <a:rPr lang="en-US" altLang="zh-CN" sz="2400" dirty="0">
                <a:solidFill>
                  <a:srgbClr val="0070C0"/>
                </a:solidFill>
              </a:rPr>
              <a:t>no system will be fully deterministic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extent</a:t>
            </a:r>
            <a:r>
              <a:rPr lang="en-US" altLang="zh-CN" dirty="0"/>
              <a:t> to which an operating system can deterministically satisfy requests depends on:</a:t>
            </a:r>
          </a:p>
          <a:p>
            <a:pPr lvl="1"/>
            <a:r>
              <a:rPr lang="en-US" altLang="zh-CN" sz="2400" dirty="0"/>
              <a:t>the speed with which it can </a:t>
            </a:r>
            <a:r>
              <a:rPr lang="en-US" altLang="zh-CN" sz="2400" b="1" dirty="0">
                <a:solidFill>
                  <a:srgbClr val="FF0000"/>
                </a:solidFill>
              </a:rPr>
              <a:t>respond to interrupts</a:t>
            </a:r>
          </a:p>
          <a:p>
            <a:pPr lvl="1"/>
            <a:r>
              <a:rPr lang="en-US" altLang="zh-CN" sz="2400" dirty="0"/>
              <a:t>whether the system has sufficient capacity to </a:t>
            </a:r>
            <a:r>
              <a:rPr lang="en-US" altLang="zh-CN" sz="2400" b="1" dirty="0">
                <a:solidFill>
                  <a:srgbClr val="0070C0"/>
                </a:solidFill>
              </a:rPr>
              <a:t>handle all requests within the required time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68458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Responsiveness</a:t>
            </a:r>
            <a:r>
              <a:rPr lang="zh-CN" altLang="en-US" dirty="0"/>
              <a:t>（可响应性）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Concerned with how long it takes an operating system to </a:t>
            </a:r>
            <a:r>
              <a:rPr lang="en-US" altLang="zh-CN" dirty="0">
                <a:solidFill>
                  <a:srgbClr val="FF0000"/>
                </a:solidFill>
              </a:rPr>
              <a:t>service the interrupt</a:t>
            </a:r>
            <a:endParaRPr lang="en-US" altLang="zh-CN" dirty="0"/>
          </a:p>
          <a:p>
            <a:r>
              <a:rPr lang="en-US" altLang="zh-CN" dirty="0"/>
              <a:t>Responsiveness includes:</a:t>
            </a:r>
          </a:p>
          <a:p>
            <a:pPr lvl="1"/>
            <a:r>
              <a:rPr lang="en-US" altLang="zh-CN" sz="2400" dirty="0"/>
              <a:t>amount of time required to </a:t>
            </a:r>
            <a:r>
              <a:rPr lang="en-US" altLang="zh-CN" sz="2400" b="1" dirty="0">
                <a:solidFill>
                  <a:schemeClr val="accent1"/>
                </a:solidFill>
              </a:rPr>
              <a:t>initially handle the interrupt </a:t>
            </a:r>
            <a:r>
              <a:rPr lang="en-US" altLang="zh-CN" sz="2400" dirty="0"/>
              <a:t>and begin execution of the </a:t>
            </a:r>
            <a:r>
              <a:rPr lang="en-US" altLang="zh-CN" sz="2400" b="1" dirty="0">
                <a:solidFill>
                  <a:schemeClr val="accent1"/>
                </a:solidFill>
              </a:rPr>
              <a:t>interrupt service routine </a:t>
            </a:r>
            <a:r>
              <a:rPr lang="en-US" altLang="zh-CN" sz="2400" dirty="0"/>
              <a:t>(ISR)</a:t>
            </a:r>
          </a:p>
          <a:p>
            <a:pPr lvl="1"/>
            <a:r>
              <a:rPr lang="en-US" altLang="zh-CN" sz="2400" dirty="0"/>
              <a:t>amount of time required to perform the ISR</a:t>
            </a:r>
          </a:p>
          <a:p>
            <a:pPr lvl="1"/>
            <a:r>
              <a:rPr lang="en-US" altLang="zh-CN" sz="2400" dirty="0"/>
              <a:t>effect of interrupt nesting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zh-CN" altLang="en-US" sz="2400" dirty="0"/>
              <a:t>嵌套</a:t>
            </a:r>
            <a:r>
              <a:rPr lang="en-US" altLang="zh-CN" sz="2400" dirty="0"/>
              <a:t>)</a:t>
            </a:r>
          </a:p>
          <a:p>
            <a:pPr lvl="1"/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Together with determinism make up </a:t>
            </a:r>
            <a:r>
              <a:rPr lang="en-US" altLang="zh-CN" dirty="0">
                <a:solidFill>
                  <a:srgbClr val="FF0000"/>
                </a:solidFill>
              </a:rPr>
              <a:t>the response time to external events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4872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46462-D7B8-4D70-B157-4594EA30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altLang="zh-CN" dirty="0"/>
              <a:t>nterrupt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0EEB66-27DF-4A27-A4C1-F3B45D1D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38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572565-C6D4-4A2A-8855-C028A344D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6" name="Picture 1" descr="Screen Shot 2012-12-17 at 8.37.21 PM.png">
            <a:extLst>
              <a:ext uri="{FF2B5EF4-FFF2-40B4-BE49-F238E27FC236}">
                <a16:creationId xmlns:a16="http://schemas.microsoft.com/office/drawing/2014/main" id="{352B02C8-5E6C-40FE-914A-BC55B21C5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557" y="1108288"/>
            <a:ext cx="6547575" cy="4802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4193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 Control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Generally much </a:t>
            </a:r>
            <a:r>
              <a:rPr lang="en-US" altLang="zh-CN" dirty="0">
                <a:solidFill>
                  <a:srgbClr val="FF0000"/>
                </a:solidFill>
              </a:rPr>
              <a:t>broader</a:t>
            </a:r>
            <a:r>
              <a:rPr lang="en-US" altLang="zh-CN" dirty="0"/>
              <a:t> in a real-time operating system than in ordinary operating systems</a:t>
            </a:r>
          </a:p>
          <a:p>
            <a:r>
              <a:rPr lang="en-US" altLang="zh-CN" dirty="0"/>
              <a:t>It is essential to allow </a:t>
            </a:r>
            <a:r>
              <a:rPr lang="en-US" altLang="zh-CN" dirty="0">
                <a:solidFill>
                  <a:srgbClr val="FF0000"/>
                </a:solidFill>
              </a:rPr>
              <a:t>the user fine-grained control </a:t>
            </a:r>
            <a:r>
              <a:rPr lang="en-US" altLang="zh-CN" dirty="0"/>
              <a:t>over task priority</a:t>
            </a:r>
          </a:p>
          <a:p>
            <a:r>
              <a:rPr lang="en-US" altLang="zh-CN" dirty="0"/>
              <a:t>User should be able to </a:t>
            </a:r>
            <a:r>
              <a:rPr lang="en-US" altLang="zh-CN" dirty="0">
                <a:solidFill>
                  <a:srgbClr val="FF0000"/>
                </a:solidFill>
              </a:rPr>
              <a:t>distinguish</a:t>
            </a:r>
            <a:r>
              <a:rPr lang="en-US" altLang="zh-CN" dirty="0"/>
              <a:t> between </a:t>
            </a:r>
            <a:r>
              <a:rPr lang="en-US" altLang="zh-CN" dirty="0">
                <a:solidFill>
                  <a:srgbClr val="FF0000"/>
                </a:solidFill>
              </a:rPr>
              <a:t>hard and soft </a:t>
            </a:r>
            <a:r>
              <a:rPr lang="en-US" altLang="zh-CN" dirty="0"/>
              <a:t>real-time tasks and to </a:t>
            </a:r>
            <a:r>
              <a:rPr lang="en-US" altLang="zh-CN" dirty="0">
                <a:solidFill>
                  <a:srgbClr val="FF0000"/>
                </a:solidFill>
              </a:rPr>
              <a:t>specify relative priorities </a:t>
            </a:r>
            <a:r>
              <a:rPr lang="en-US" altLang="zh-CN" dirty="0"/>
              <a:t>within each class</a:t>
            </a:r>
          </a:p>
          <a:p>
            <a:r>
              <a:rPr lang="en-US" altLang="zh-CN" dirty="0"/>
              <a:t>May allow user to </a:t>
            </a:r>
            <a:r>
              <a:rPr lang="en-US" altLang="zh-CN" dirty="0">
                <a:solidFill>
                  <a:srgbClr val="FF0000"/>
                </a:solidFill>
              </a:rPr>
              <a:t>specify such characteristics </a:t>
            </a:r>
            <a:r>
              <a:rPr lang="en-US" altLang="zh-CN" dirty="0"/>
              <a:t>as:</a:t>
            </a:r>
          </a:p>
          <a:p>
            <a:pPr lvl="1"/>
            <a:r>
              <a:rPr lang="en-US" altLang="zh-CN" sz="2400" b="1" dirty="0">
                <a:solidFill>
                  <a:srgbClr val="0070C0"/>
                </a:solidFill>
              </a:rPr>
              <a:t>paging</a:t>
            </a:r>
            <a:r>
              <a:rPr lang="en-US" altLang="zh-CN" sz="2400" dirty="0"/>
              <a:t> or process </a:t>
            </a:r>
            <a:r>
              <a:rPr lang="en-US" altLang="zh-CN" sz="2400" b="1" dirty="0">
                <a:solidFill>
                  <a:srgbClr val="0070C0"/>
                </a:solidFill>
              </a:rPr>
              <a:t>swapping</a:t>
            </a:r>
          </a:p>
          <a:p>
            <a:pPr lvl="1"/>
            <a:r>
              <a:rPr lang="en-US" altLang="zh-CN" sz="2400" b="1" dirty="0">
                <a:solidFill>
                  <a:srgbClr val="0070C0"/>
                </a:solidFill>
              </a:rPr>
              <a:t>what processes </a:t>
            </a:r>
            <a:r>
              <a:rPr lang="en-US" altLang="zh-CN" sz="2400" dirty="0"/>
              <a:t>must always be resident in main memory</a:t>
            </a:r>
          </a:p>
          <a:p>
            <a:pPr lvl="1"/>
            <a:r>
              <a:rPr lang="en-US" altLang="zh-CN" sz="2400" dirty="0"/>
              <a:t>what </a:t>
            </a:r>
            <a:r>
              <a:rPr lang="en-US" altLang="zh-CN" sz="2400" b="1" dirty="0">
                <a:solidFill>
                  <a:srgbClr val="0070C0"/>
                </a:solidFill>
              </a:rPr>
              <a:t>disk transfer </a:t>
            </a:r>
            <a:r>
              <a:rPr lang="en-US" altLang="zh-CN" sz="2400" dirty="0"/>
              <a:t>algorithms are to be used</a:t>
            </a:r>
          </a:p>
          <a:p>
            <a:pPr lvl="1"/>
            <a:r>
              <a:rPr lang="en-US" altLang="zh-CN" sz="2400" dirty="0"/>
              <a:t>what </a:t>
            </a:r>
            <a:r>
              <a:rPr lang="en-US" altLang="zh-CN" sz="2400" b="1" dirty="0">
                <a:solidFill>
                  <a:srgbClr val="0070C0"/>
                </a:solidFill>
              </a:rPr>
              <a:t>rights</a:t>
            </a:r>
            <a:r>
              <a:rPr lang="en-US" altLang="zh-CN" sz="2400" dirty="0"/>
              <a:t> the processes in various priority bands have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01621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Reliability</a:t>
            </a:r>
            <a:r>
              <a:rPr lang="zh-CN" altLang="en-US" dirty="0"/>
              <a:t>（可靠性）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More important </a:t>
            </a:r>
            <a:r>
              <a:rPr lang="en-US" altLang="zh-CN" dirty="0"/>
              <a:t>for real-time systems than non-real time systems</a:t>
            </a:r>
          </a:p>
          <a:p>
            <a:r>
              <a:rPr lang="en-US" altLang="zh-CN" dirty="0"/>
              <a:t>Real-time systems </a:t>
            </a:r>
            <a:r>
              <a:rPr lang="en-US" altLang="zh-CN" dirty="0">
                <a:solidFill>
                  <a:srgbClr val="FF0000"/>
                </a:solidFill>
              </a:rPr>
              <a:t>respond to and control </a:t>
            </a:r>
            <a:r>
              <a:rPr lang="en-US" altLang="zh-CN" dirty="0"/>
              <a:t>events in real time so loss or degradation of performance may have </a:t>
            </a:r>
            <a:r>
              <a:rPr lang="en-US" altLang="zh-CN" dirty="0">
                <a:solidFill>
                  <a:srgbClr val="0070C0"/>
                </a:solidFill>
              </a:rPr>
              <a:t>catastrophic consequences </a:t>
            </a:r>
            <a:r>
              <a:rPr lang="en-US" altLang="zh-CN" dirty="0"/>
              <a:t>such as:</a:t>
            </a:r>
          </a:p>
          <a:p>
            <a:pPr lvl="1"/>
            <a:r>
              <a:rPr lang="en-US" altLang="zh-CN" sz="2400" dirty="0"/>
              <a:t>financial loss</a:t>
            </a:r>
          </a:p>
          <a:p>
            <a:pPr lvl="1"/>
            <a:r>
              <a:rPr lang="en-US" altLang="zh-CN" sz="2400" dirty="0"/>
              <a:t>major equipment damage</a:t>
            </a:r>
          </a:p>
          <a:p>
            <a:pPr lvl="1"/>
            <a:r>
              <a:rPr lang="en-US" altLang="zh-CN" sz="2400" dirty="0"/>
              <a:t>loss of life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58466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Fail-Soft Operation</a:t>
            </a:r>
            <a:r>
              <a:rPr lang="zh-CN" altLang="en-US" dirty="0"/>
              <a:t>（故障弱化操作）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characteristic that refers to the ability of a system to fail in such a way as to </a:t>
            </a:r>
            <a:r>
              <a:rPr lang="en-US" altLang="zh-CN" dirty="0">
                <a:solidFill>
                  <a:srgbClr val="FF0000"/>
                </a:solidFill>
              </a:rPr>
              <a:t>preserve as much capability and data</a:t>
            </a:r>
            <a:r>
              <a:rPr lang="en-US" altLang="zh-CN" dirty="0"/>
              <a:t> as possible</a:t>
            </a:r>
          </a:p>
          <a:p>
            <a:r>
              <a:rPr lang="en-US" altLang="zh-CN" dirty="0"/>
              <a:t>Important aspect is </a:t>
            </a:r>
            <a:r>
              <a:rPr lang="en-US" altLang="zh-CN" dirty="0">
                <a:solidFill>
                  <a:srgbClr val="FF0000"/>
                </a:solidFill>
              </a:rPr>
              <a:t>stability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sz="2400" dirty="0"/>
              <a:t>a real-time system is stable if the system will </a:t>
            </a:r>
            <a:r>
              <a:rPr lang="en-US" altLang="zh-CN" sz="2400" b="1" dirty="0">
                <a:solidFill>
                  <a:srgbClr val="0070C0"/>
                </a:solidFill>
              </a:rPr>
              <a:t>meet the deadlines of its most critical, highest-priority tasks </a:t>
            </a:r>
            <a:r>
              <a:rPr lang="en-US" altLang="zh-CN" sz="2400" dirty="0"/>
              <a:t>even if some less critical task deadlines are not always met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8231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307A8-6649-4324-87E1-D8284F10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</a:t>
            </a:r>
            <a:r>
              <a:rPr lang="en-US" dirty="0"/>
              <a:t>Scheduling of Real-Time Process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A8A241-235D-46B0-ACA6-16FBA0A5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42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147068-2E7D-4E1C-92C9-ADE0D71F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CBF1524-B2AE-4BBD-96BD-BC0AA19AB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049" y="1374877"/>
            <a:ext cx="10696056" cy="3993535"/>
          </a:xfrm>
        </p:spPr>
      </p:pic>
    </p:spTree>
    <p:extLst>
      <p:ext uri="{BB962C8B-B14F-4D97-AF65-F5344CB8AC3E}">
        <p14:creationId xmlns:p14="http://schemas.microsoft.com/office/powerpoint/2010/main" val="2554745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307A8-6649-4324-87E1-D8284F10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of Real-Time Process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A8A241-235D-46B0-ACA6-16FBA0A5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43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147068-2E7D-4E1C-92C9-ADE0D71F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DC5BF2A-3E93-482A-A632-C43A308F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09" y="971751"/>
            <a:ext cx="9507816" cy="50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04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307A8-6649-4324-87E1-D8284F10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of Real-Time Process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A8A241-235D-46B0-ACA6-16FBA0A5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44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147068-2E7D-4E1C-92C9-ADE0D71F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D6E3BA1-BA79-4D84-A0F6-526C9A0B1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34" y="1210291"/>
            <a:ext cx="10414839" cy="436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87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307A8-6649-4324-87E1-D8284F10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of Real-Time Process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A8A241-235D-46B0-ACA6-16FBA0A5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45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147068-2E7D-4E1C-92C9-ADE0D71F9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E845F47-4AC0-4AB9-8D77-670C590AA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02" y="1102140"/>
            <a:ext cx="9434806" cy="439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95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Real-Time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Scheduling approaches depend on:</a:t>
            </a:r>
          </a:p>
          <a:p>
            <a:pPr lvl="1"/>
            <a:r>
              <a:rPr lang="en-US" altLang="zh-CN" sz="2400" dirty="0"/>
              <a:t>whether a system performs </a:t>
            </a:r>
            <a:r>
              <a:rPr lang="en-US" altLang="zh-CN" sz="2400" dirty="0" err="1">
                <a:solidFill>
                  <a:srgbClr val="FF0000"/>
                </a:solidFill>
              </a:rPr>
              <a:t>schedulability</a:t>
            </a:r>
            <a:r>
              <a:rPr lang="en-US" altLang="zh-CN" sz="2400" dirty="0">
                <a:solidFill>
                  <a:srgbClr val="FF0000"/>
                </a:solidFill>
              </a:rPr>
              <a:t> analysis</a:t>
            </a:r>
          </a:p>
          <a:p>
            <a:pPr lvl="1"/>
            <a:r>
              <a:rPr lang="en-US" altLang="zh-CN" sz="2400" dirty="0"/>
              <a:t>if it does, whether it is done </a:t>
            </a:r>
            <a:r>
              <a:rPr lang="en-US" altLang="zh-CN" sz="2400" dirty="0">
                <a:solidFill>
                  <a:srgbClr val="FF0000"/>
                </a:solidFill>
              </a:rPr>
              <a:t>statically or dynamically</a:t>
            </a:r>
          </a:p>
          <a:p>
            <a:pPr lvl="1"/>
            <a:r>
              <a:rPr lang="en-US" altLang="zh-CN" sz="2400" dirty="0"/>
              <a:t>whether the result of the analysis itself </a:t>
            </a:r>
            <a:r>
              <a:rPr lang="en-US" altLang="zh-CN" sz="2400" dirty="0">
                <a:solidFill>
                  <a:srgbClr val="FF0000"/>
                </a:solidFill>
              </a:rPr>
              <a:t>produces a scheduler plan </a:t>
            </a:r>
            <a:r>
              <a:rPr lang="en-US" altLang="zh-CN" sz="2400" dirty="0"/>
              <a:t>according to which tasks are dispatched at run time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1960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Classes of Real-Time Scheduling 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Static table-driven approaches (periodic)</a:t>
            </a:r>
          </a:p>
          <a:p>
            <a:pPr lvl="1"/>
            <a:r>
              <a:rPr lang="en-US" altLang="zh-CN" sz="2400" dirty="0"/>
              <a:t>performs a </a:t>
            </a:r>
            <a:r>
              <a:rPr lang="en-US" altLang="zh-CN" sz="2400" dirty="0">
                <a:solidFill>
                  <a:srgbClr val="FF0000"/>
                </a:solidFill>
              </a:rPr>
              <a:t>static analysis </a:t>
            </a:r>
            <a:r>
              <a:rPr lang="en-US" altLang="zh-CN" sz="2400" dirty="0"/>
              <a:t>of feasible schedules of dispatching</a:t>
            </a:r>
          </a:p>
          <a:p>
            <a:pPr lvl="1"/>
            <a:r>
              <a:rPr lang="en-US" altLang="zh-CN" sz="2400" dirty="0"/>
              <a:t>result is a schedule that determines </a:t>
            </a:r>
            <a:r>
              <a:rPr lang="en-US" altLang="zh-CN" sz="2400" dirty="0">
                <a:solidFill>
                  <a:srgbClr val="FF0000"/>
                </a:solidFill>
              </a:rPr>
              <a:t>when a task must begin execution</a:t>
            </a:r>
          </a:p>
          <a:p>
            <a:pPr lvl="1"/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dirty="0"/>
              <a:t>Static priority-driven preemptive approaches</a:t>
            </a:r>
          </a:p>
          <a:p>
            <a:pPr lvl="1"/>
            <a:r>
              <a:rPr lang="en-US" altLang="zh-CN" sz="2400" dirty="0"/>
              <a:t>a </a:t>
            </a:r>
            <a:r>
              <a:rPr lang="en-US" altLang="zh-CN" sz="2400" dirty="0">
                <a:solidFill>
                  <a:srgbClr val="FF0000"/>
                </a:solidFill>
              </a:rPr>
              <a:t>static analysis </a:t>
            </a:r>
            <a:r>
              <a:rPr lang="en-US" altLang="zh-CN" sz="2400" dirty="0"/>
              <a:t>is performed but </a:t>
            </a:r>
            <a:r>
              <a:rPr lang="en-US" altLang="zh-CN" sz="2400" dirty="0">
                <a:solidFill>
                  <a:srgbClr val="FF0000"/>
                </a:solidFill>
              </a:rPr>
              <a:t>no schedule </a:t>
            </a:r>
            <a:r>
              <a:rPr lang="en-US" altLang="zh-CN" sz="2400" dirty="0"/>
              <a:t>is drawn up</a:t>
            </a:r>
          </a:p>
          <a:p>
            <a:pPr lvl="1"/>
            <a:r>
              <a:rPr lang="en-US" altLang="zh-CN" sz="2400" dirty="0"/>
              <a:t>analysis is used to </a:t>
            </a:r>
            <a:r>
              <a:rPr lang="en-US" altLang="zh-CN" sz="2400" dirty="0">
                <a:solidFill>
                  <a:srgbClr val="FF0000"/>
                </a:solidFill>
              </a:rPr>
              <a:t>assign priorities to tasks </a:t>
            </a:r>
            <a:r>
              <a:rPr lang="en-US" altLang="zh-CN" sz="2400" dirty="0"/>
              <a:t>so that a traditional priority-driven preemptive scheduler can be used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0501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Classes of Real-Time Scheduling 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Dynamic planning-based approaches</a:t>
            </a:r>
          </a:p>
          <a:p>
            <a:pPr lvl="1"/>
            <a:r>
              <a:rPr lang="en-US" altLang="zh-CN" sz="2400" dirty="0"/>
              <a:t>feasibility is determined at </a:t>
            </a:r>
            <a:r>
              <a:rPr lang="en-US" altLang="zh-CN" sz="2400" dirty="0">
                <a:solidFill>
                  <a:srgbClr val="FF0000"/>
                </a:solidFill>
              </a:rPr>
              <a:t>run time rather than offline prior </a:t>
            </a:r>
            <a:r>
              <a:rPr lang="en-US" altLang="zh-CN" sz="2400" dirty="0"/>
              <a:t>to the start of execution</a:t>
            </a:r>
          </a:p>
          <a:p>
            <a:pPr lvl="1"/>
            <a:r>
              <a:rPr lang="en-US" altLang="zh-CN" sz="2400" dirty="0"/>
              <a:t>one result of the analysis is a </a:t>
            </a:r>
            <a:r>
              <a:rPr lang="en-US" altLang="zh-CN" sz="2400" dirty="0">
                <a:solidFill>
                  <a:srgbClr val="FF0000"/>
                </a:solidFill>
              </a:rPr>
              <a:t>schedule</a:t>
            </a:r>
            <a:r>
              <a:rPr lang="en-US" altLang="zh-CN" sz="2400" dirty="0"/>
              <a:t> that is used to decide </a:t>
            </a:r>
            <a:r>
              <a:rPr lang="en-US" altLang="zh-CN" sz="2400" dirty="0">
                <a:solidFill>
                  <a:srgbClr val="FF0000"/>
                </a:solidFill>
              </a:rPr>
              <a:t>when to dispatch this task</a:t>
            </a:r>
          </a:p>
          <a:p>
            <a:pPr lvl="1"/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dirty="0"/>
              <a:t>Dynamic best effort approaches</a:t>
            </a:r>
          </a:p>
          <a:p>
            <a:pPr lvl="1"/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no feasibility analysis </a:t>
            </a:r>
            <a:r>
              <a:rPr lang="en-US" altLang="zh-CN" sz="2400" dirty="0"/>
              <a:t>is performed</a:t>
            </a:r>
          </a:p>
          <a:p>
            <a:pPr lvl="1"/>
            <a:r>
              <a:rPr lang="en-US" altLang="zh-CN" sz="2400" dirty="0"/>
              <a:t> system </a:t>
            </a:r>
            <a:r>
              <a:rPr lang="en-US" altLang="zh-CN" sz="2400" dirty="0">
                <a:solidFill>
                  <a:srgbClr val="FF0000"/>
                </a:solidFill>
              </a:rPr>
              <a:t>tries to meet all deadlines </a:t>
            </a:r>
            <a:r>
              <a:rPr lang="en-US" altLang="zh-CN" sz="2400" dirty="0"/>
              <a:t>and </a:t>
            </a:r>
            <a:r>
              <a:rPr lang="en-US" altLang="zh-CN" sz="2400" dirty="0">
                <a:solidFill>
                  <a:srgbClr val="FF0000"/>
                </a:solidFill>
              </a:rPr>
              <a:t>aborts any started process whose deadline </a:t>
            </a:r>
            <a:r>
              <a:rPr lang="en-US" altLang="zh-CN" sz="2400" dirty="0"/>
              <a:t>is missed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15664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Deadline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Real-time operating systems are designed with the objective of </a:t>
            </a:r>
            <a:r>
              <a:rPr lang="en-US" altLang="zh-CN" dirty="0">
                <a:solidFill>
                  <a:srgbClr val="FF0000"/>
                </a:solidFill>
              </a:rPr>
              <a:t>starting real-time tasks as rapidly as possible</a:t>
            </a:r>
            <a:r>
              <a:rPr lang="en-US" altLang="zh-CN" dirty="0"/>
              <a:t> and</a:t>
            </a:r>
            <a:r>
              <a:rPr lang="zh-CN" altLang="en-US" dirty="0"/>
              <a:t> </a:t>
            </a:r>
            <a:r>
              <a:rPr lang="en-US" altLang="zh-CN" dirty="0"/>
              <a:t>OS emphasizes </a:t>
            </a:r>
            <a:r>
              <a:rPr lang="en-US" altLang="zh-CN" dirty="0">
                <a:solidFill>
                  <a:srgbClr val="FF0000"/>
                </a:solidFill>
              </a:rPr>
              <a:t>rapid interrupt handling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FF0000"/>
                </a:solidFill>
              </a:rPr>
              <a:t>task dispatching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Real-time applications are generally not concerned with </a:t>
            </a:r>
            <a:r>
              <a:rPr lang="en-US" altLang="zh-CN" dirty="0">
                <a:solidFill>
                  <a:srgbClr val="FF0000"/>
                </a:solidFill>
              </a:rPr>
              <a:t>sheer speed </a:t>
            </a:r>
            <a:r>
              <a:rPr lang="en-US" altLang="zh-CN" dirty="0"/>
              <a:t>but rather with </a:t>
            </a:r>
            <a:r>
              <a:rPr lang="en-US" altLang="zh-CN" dirty="0">
                <a:solidFill>
                  <a:srgbClr val="FF0000"/>
                </a:solidFill>
              </a:rPr>
              <a:t>completing tasks at the most valuable times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Priorities</a:t>
            </a:r>
            <a:r>
              <a:rPr lang="en-US" altLang="zh-CN" dirty="0"/>
              <a:t> provide a crude tool and do not capture the requirement of completion at the most valuable time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3083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Information Used for Deadline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7"/>
            <a:ext cx="10515600" cy="543500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Ready time</a:t>
            </a:r>
          </a:p>
          <a:p>
            <a:pPr lvl="1"/>
            <a:r>
              <a:rPr lang="en-US" altLang="zh-CN" dirty="0"/>
              <a:t>time task becomes ready for execution</a:t>
            </a:r>
          </a:p>
          <a:p>
            <a:r>
              <a:rPr lang="en-US" altLang="zh-CN" dirty="0"/>
              <a:t>Starting deadline</a:t>
            </a:r>
          </a:p>
          <a:p>
            <a:pPr lvl="1"/>
            <a:r>
              <a:rPr lang="en-US" altLang="zh-CN" dirty="0"/>
              <a:t>time task must begin</a:t>
            </a:r>
          </a:p>
          <a:p>
            <a:r>
              <a:rPr lang="en-US" altLang="zh-CN" dirty="0"/>
              <a:t>Completion deadline</a:t>
            </a:r>
          </a:p>
          <a:p>
            <a:pPr lvl="1"/>
            <a:r>
              <a:rPr lang="en-US" altLang="zh-CN" dirty="0"/>
              <a:t>time task must be completed</a:t>
            </a:r>
          </a:p>
          <a:p>
            <a:r>
              <a:rPr lang="en-US" altLang="zh-CN" dirty="0"/>
              <a:t>Processing time</a:t>
            </a:r>
          </a:p>
          <a:p>
            <a:pPr lvl="1"/>
            <a:r>
              <a:rPr lang="en-US" altLang="zh-CN" dirty="0"/>
              <a:t>time required to execute the task to completion</a:t>
            </a:r>
          </a:p>
          <a:p>
            <a:r>
              <a:rPr lang="en-US" altLang="zh-CN" dirty="0"/>
              <a:t>Resource requirements</a:t>
            </a:r>
          </a:p>
          <a:p>
            <a:pPr lvl="1"/>
            <a:r>
              <a:rPr lang="en-US" altLang="zh-CN" dirty="0"/>
              <a:t>resources required by the task while it is executing</a:t>
            </a:r>
          </a:p>
          <a:p>
            <a:r>
              <a:rPr lang="en-US" altLang="zh-CN" dirty="0"/>
              <a:t>Priority</a:t>
            </a:r>
          </a:p>
          <a:p>
            <a:pPr lvl="1"/>
            <a:r>
              <a:rPr lang="en-US" altLang="zh-CN" dirty="0"/>
              <a:t>measures relative importance of the task</a:t>
            </a:r>
          </a:p>
          <a:p>
            <a:r>
              <a:rPr lang="en-US" altLang="zh-CN" dirty="0"/>
              <a:t>Subtask structure</a:t>
            </a:r>
          </a:p>
          <a:p>
            <a:pPr lvl="1"/>
            <a:r>
              <a:rPr lang="en-US" altLang="zh-CN" dirty="0"/>
              <a:t>a task may be decomposed into a mandatory subtask and an optional subtask</a:t>
            </a:r>
          </a:p>
          <a:p>
            <a:pPr lvl="1"/>
            <a:r>
              <a:rPr lang="en-US" altLang="zh-CN" dirty="0"/>
              <a:t>Only the mandatory subtask possesses a hard deadline.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17642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8CDF0-7AF4-44BE-B4C3-71626805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 Design Issues of Real-Time Scheduling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77F6A-4F87-48D1-B7E9-600C09207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When deadline is considered: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Which task </a:t>
            </a:r>
            <a:r>
              <a:rPr lang="en-US" sz="2400" dirty="0"/>
              <a:t>to schedule next, and what kind</a:t>
            </a:r>
            <a:r>
              <a:rPr lang="en-US" sz="2400" dirty="0">
                <a:solidFill>
                  <a:srgbClr val="FF0000"/>
                </a:solidFill>
              </a:rPr>
              <a:t> of preemption </a:t>
            </a:r>
            <a:r>
              <a:rPr lang="en-US" sz="2400" dirty="0"/>
              <a:t>is allowed. </a:t>
            </a:r>
          </a:p>
          <a:p>
            <a:pPr lvl="1"/>
            <a:endParaRPr lang="en-US" dirty="0"/>
          </a:p>
          <a:p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For a given preemption strategy</a:t>
            </a:r>
          </a:p>
          <a:p>
            <a:pPr lvl="1"/>
            <a:r>
              <a:rPr lang="en-US" sz="2400" kern="1200" baseline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Using starting or completion deadlines to decide which task</a:t>
            </a:r>
          </a:p>
          <a:p>
            <a:pPr lvl="1"/>
            <a:endParaRPr 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other critical design issue is that of </a:t>
            </a:r>
            <a:r>
              <a:rPr 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preemption</a:t>
            </a:r>
            <a:r>
              <a:rPr lang="en-US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 </a:t>
            </a:r>
          </a:p>
          <a:p>
            <a:pPr lvl="1">
              <a:spcBef>
                <a:spcPts val="751"/>
              </a:spcBef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When </a:t>
            </a:r>
            <a:r>
              <a:rPr lang="en-US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starting deadlines </a:t>
            </a:r>
            <a:r>
              <a:rPr lang="en-US" sz="24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are specified, then a </a:t>
            </a:r>
            <a:r>
              <a:rPr lang="en-US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non</a:t>
            </a:r>
            <a:r>
              <a:rPr lang="en-US" altLang="zh-CN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en-US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preemptive</a:t>
            </a:r>
            <a:r>
              <a:rPr lang="en-US" sz="24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scheduler makes sense. (need to block itself)</a:t>
            </a:r>
          </a:p>
          <a:p>
            <a:pPr lvl="1">
              <a:spcBef>
                <a:spcPts val="751"/>
              </a:spcBef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For a system with </a:t>
            </a:r>
            <a:r>
              <a:rPr lang="en-US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completion deadlines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, a </a:t>
            </a:r>
            <a:r>
              <a:rPr lang="en-US" sz="24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preemptive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strategy is most appropriate.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8B929E-D735-40B1-B618-A6F95D18B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51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4AAD54-6735-47E1-B583-7173D9CE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065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Table 10.2 Execution Profile of Two Periodic Tasks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26203FB-B19B-451D-87A9-4B4EA3A2A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527" y="889595"/>
            <a:ext cx="8675156" cy="490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274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46C7A-C1AA-421C-A3F3-25712FDB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of Periodic Real-Time Tasks </a:t>
            </a:r>
            <a:br>
              <a:rPr lang="en-US" dirty="0"/>
            </a:br>
            <a:r>
              <a:rPr lang="en-US" dirty="0"/>
              <a:t>with Completion Deadlines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B30132-655A-422A-8A57-3E44B1372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196" y="641441"/>
            <a:ext cx="7147800" cy="557511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1B90C44-6293-42B5-8672-103C11861937}"/>
              </a:ext>
            </a:extLst>
          </p:cNvPr>
          <p:cNvSpPr/>
          <p:nvPr/>
        </p:nvSpPr>
        <p:spPr>
          <a:xfrm>
            <a:off x="6403125" y="3624553"/>
            <a:ext cx="478971" cy="409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5E3C2D-3993-403C-BDE5-BF7F2EE7C3FF}"/>
              </a:ext>
            </a:extLst>
          </p:cNvPr>
          <p:cNvSpPr/>
          <p:nvPr/>
        </p:nvSpPr>
        <p:spPr>
          <a:xfrm>
            <a:off x="5164512" y="4713519"/>
            <a:ext cx="478971" cy="409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B37E5F-2021-441D-9C75-57976C815B2A}"/>
              </a:ext>
            </a:extLst>
          </p:cNvPr>
          <p:cNvSpPr/>
          <p:nvPr/>
        </p:nvSpPr>
        <p:spPr>
          <a:xfrm>
            <a:off x="7660155" y="4713519"/>
            <a:ext cx="478971" cy="409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内容占位符 4">
            <a:extLst>
              <a:ext uri="{FF2B5EF4-FFF2-40B4-BE49-F238E27FC236}">
                <a16:creationId xmlns:a16="http://schemas.microsoft.com/office/drawing/2014/main" id="{5D2FB02C-65ED-4441-893B-8A6D348DD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/>
          <a:lstStyle/>
          <a:p>
            <a:r>
              <a:rPr lang="en-US" altLang="zh-CN" dirty="0"/>
              <a:t>Preemption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52D2F8-9F37-AC45-A237-77F50045BF79}"/>
              </a:ext>
            </a:extLst>
          </p:cNvPr>
          <p:cNvSpPr txBox="1"/>
          <p:nvPr/>
        </p:nvSpPr>
        <p:spPr>
          <a:xfrm>
            <a:off x="276330" y="2296607"/>
            <a:ext cx="3039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effectLst/>
                <a:latin typeface="Times"/>
              </a:rPr>
              <a:t>Figure 10.5 Scheduling of Periodic Real-Time Tasks with Completion Deadlines</a:t>
            </a:r>
            <a:endParaRPr lang="en-US" dirty="0"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49940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Table 10.3 Execution Profile of Five Aperiodic Tasks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8D22F31-4E0A-43B4-8A22-D75A45ECB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159B6A4-FAB5-42D0-9E55-15CDB46F6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6" y="1704111"/>
            <a:ext cx="11022783" cy="289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26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BFB4C-4D12-4282-A6BC-D3E514EF7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of Aperiodic Real-Time Tasks</a:t>
            </a:r>
            <a:br>
              <a:rPr lang="en-US" dirty="0"/>
            </a:br>
            <a:r>
              <a:rPr lang="en-US" dirty="0"/>
              <a:t> with Starting Deadlines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A5A3B44-F80B-4BBC-B62C-1AFCF0CB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altLang="zh-CN" dirty="0"/>
              <a:t>on-Preemption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24999F0-8855-421B-8415-6D2A49FD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092" y="977328"/>
            <a:ext cx="7246361" cy="50962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D3AA768-A105-4890-AFC3-5EDEE5209941}"/>
              </a:ext>
            </a:extLst>
          </p:cNvPr>
          <p:cNvSpPr/>
          <p:nvPr/>
        </p:nvSpPr>
        <p:spPr>
          <a:xfrm>
            <a:off x="4949723" y="3417530"/>
            <a:ext cx="854529" cy="310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DC55BF-8175-4291-9D94-4008496DEB12}"/>
              </a:ext>
            </a:extLst>
          </p:cNvPr>
          <p:cNvSpPr/>
          <p:nvPr/>
        </p:nvSpPr>
        <p:spPr>
          <a:xfrm>
            <a:off x="4868253" y="4184800"/>
            <a:ext cx="538843" cy="239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6E38B-D747-7C43-B78A-7F33DB6C543A}"/>
              </a:ext>
            </a:extLst>
          </p:cNvPr>
          <p:cNvSpPr txBox="1"/>
          <p:nvPr/>
        </p:nvSpPr>
        <p:spPr>
          <a:xfrm>
            <a:off x="9403583" y="2799157"/>
            <a:ext cx="27884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effectLst/>
                <a:latin typeface="Times"/>
              </a:rPr>
              <a:t>Figure 10.6 Scheduling of Aperiodic Real-Time Tasks with Starting Deadlines</a:t>
            </a:r>
            <a:endParaRPr lang="en-US" dirty="0">
              <a:effectLst/>
              <a:latin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36896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Rate Monotonic Scheduling</a:t>
            </a:r>
            <a:r>
              <a:rPr lang="zh-CN" altLang="en-US" dirty="0"/>
              <a:t> （</a:t>
            </a:r>
            <a:r>
              <a:rPr lang="en-US" altLang="zh-CN" dirty="0"/>
              <a:t>RMS</a:t>
            </a:r>
            <a:r>
              <a:rPr lang="zh-CN" altLang="en-US" dirty="0"/>
              <a:t>）</a:t>
            </a:r>
          </a:p>
        </p:txBody>
      </p:sp>
      <p:pic>
        <p:nvPicPr>
          <p:cNvPr id="4" name="Content Placeholder 3" descr="Fig10_08.gif">
            <a:extLst>
              <a:ext uri="{FF2B5EF4-FFF2-40B4-BE49-F238E27FC236}">
                <a16:creationId xmlns:a16="http://schemas.microsoft.com/office/drawing/2014/main" id="{35506263-873E-4DD5-9D68-2FA258C5F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9174" y="986848"/>
            <a:ext cx="5612073" cy="5175251"/>
          </a:xfrm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B1A52DD-2FAD-4B82-AFC2-7A332EEE968F}"/>
              </a:ext>
            </a:extLst>
          </p:cNvPr>
          <p:cNvSpPr txBox="1">
            <a:spLocks/>
          </p:cNvSpPr>
          <p:nvPr/>
        </p:nvSpPr>
        <p:spPr>
          <a:xfrm>
            <a:off x="838205" y="841104"/>
            <a:ext cx="4405745" cy="5175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just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143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8572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2001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5430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 </a:t>
            </a:r>
            <a:r>
              <a:rPr 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highest-priority</a:t>
            </a:r>
            <a:r>
              <a:rPr lang="en-US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task is the one with the </a:t>
            </a:r>
            <a:r>
              <a:rPr 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shortest period</a:t>
            </a:r>
          </a:p>
          <a:p>
            <a:r>
              <a:rPr lang="en-US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T: Task’s Period (second)</a:t>
            </a:r>
          </a:p>
          <a:p>
            <a:r>
              <a:rPr lang="en-US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Rate = 1/T (Hz)</a:t>
            </a:r>
          </a:p>
          <a:p>
            <a:pPr lvl="1"/>
            <a:r>
              <a:rPr lang="en-US" sz="2800" dirty="0">
                <a:solidFill>
                  <a:srgbClr val="231F2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T=50ms</a:t>
            </a:r>
          </a:p>
          <a:p>
            <a:pPr lvl="1"/>
            <a:r>
              <a:rPr 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ate = 1/0.05=20 Hz</a:t>
            </a:r>
          </a:p>
          <a:p>
            <a:pPr lvl="1"/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 defTabSz="457178">
              <a:spcBef>
                <a:spcPts val="0"/>
              </a:spcBef>
              <a:defRPr/>
            </a:pPr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Priority is </a:t>
            </a:r>
            <a:r>
              <a:rPr 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monotonically increasing</a:t>
            </a:r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with respect to rate</a:t>
            </a:r>
          </a:p>
          <a:p>
            <a:pPr lvl="1"/>
            <a:endParaRPr lang="en-US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44780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Periodic Task Timing Diagram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C60DDCF-A60D-44B1-9731-CA83C4D22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</a:t>
            </a:r>
            <a:r>
              <a:rPr lang="en-US" altLang="zh-CN" dirty="0"/>
              <a:t>execution time</a:t>
            </a:r>
            <a:endParaRPr lang="en-US" dirty="0"/>
          </a:p>
          <a:p>
            <a:r>
              <a:rPr lang="en-US" dirty="0"/>
              <a:t>T: period</a:t>
            </a:r>
          </a:p>
          <a:p>
            <a:r>
              <a:rPr lang="en-US" dirty="0"/>
              <a:t>U = C/T: </a:t>
            </a:r>
            <a:r>
              <a:rPr lang="en-US" altLang="zh-CN" dirty="0"/>
              <a:t>processor utilization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DE77D29-2027-4777-B487-39C5E83D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29" y="2935713"/>
            <a:ext cx="9871163" cy="216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218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Measure of Periodic Scheduling Algorithm</a:t>
            </a:r>
            <a:endParaRPr lang="zh-CN" alt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F77CE0-6D63-4554-B21B-5010983110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49866" y="841376"/>
            <a:ext cx="3264673" cy="5175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8406B21-29A7-4A18-93B7-41426C493190}"/>
              </a:ext>
            </a:extLst>
          </p:cNvPr>
          <p:cNvSpPr txBox="1">
            <a:spLocks/>
          </p:cNvSpPr>
          <p:nvPr/>
        </p:nvSpPr>
        <p:spPr>
          <a:xfrm>
            <a:off x="838206" y="841104"/>
            <a:ext cx="7017327" cy="5175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just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143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8572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Wingdings" panose="05000000000000000000" pitchFamily="2" charset="2"/>
              <a:buChar char="Ø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2001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543050" indent="-171450" algn="just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If a </a:t>
            </a:r>
            <a:r>
              <a:rPr lang="en-US" dirty="0">
                <a:solidFill>
                  <a:srgbClr val="FF0000"/>
                </a:solidFill>
              </a:rPr>
              <a:t>perfect</a:t>
            </a:r>
            <a:r>
              <a:rPr lang="en-US" dirty="0"/>
              <a:t> scheduling algorithm can successfully schedule, a bound of number of tasks 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 particular algorithm, bound may be lower: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2934B8-1707-4156-BDB5-50148D6DC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074" y="2131872"/>
            <a:ext cx="4052023" cy="9871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81C0D31-AE6A-425C-B7C8-A81197EBF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245" y="4409771"/>
            <a:ext cx="5847351" cy="115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681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AD62-AF42-1C45-8C65-D985E593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RMS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0BF8B-0FC9-104C-9AC8-1AA2D24A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59</a:t>
            </a:fld>
            <a:r>
              <a:rPr lang="en-US"/>
              <a:t>/56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E514B-379C-C74C-B07C-0475B3D5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4635A-F0E4-48AF-AAB4-A99FBE2C944F}" type="datetime1">
              <a:rPr lang="zh-CN" altLang="en-US" smtClean="0"/>
              <a:t>2026/4/20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715ABC-FA7E-C341-B204-2E691DF18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06" y="948243"/>
            <a:ext cx="10995961" cy="495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696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Priority Inversion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Occurs when circumstances within the system force </a:t>
            </a:r>
            <a:r>
              <a:rPr lang="en-US" altLang="zh-CN" dirty="0">
                <a:solidFill>
                  <a:srgbClr val="FF0000"/>
                </a:solidFill>
              </a:rPr>
              <a:t>a higher priority task to wait for a lower priority task</a:t>
            </a:r>
            <a:endParaRPr lang="en-US" altLang="zh-CN" dirty="0"/>
          </a:p>
          <a:p>
            <a:pPr lvl="1"/>
            <a:r>
              <a:rPr lang="en-US" altLang="zh-CN" sz="2400" dirty="0"/>
              <a:t>Can occur in any </a:t>
            </a:r>
            <a:r>
              <a:rPr lang="en-US" altLang="zh-CN" sz="2400" dirty="0">
                <a:solidFill>
                  <a:srgbClr val="0070C0"/>
                </a:solidFill>
              </a:rPr>
              <a:t>priority-based preemptive </a:t>
            </a:r>
            <a:r>
              <a:rPr lang="en-US" altLang="zh-CN" sz="2400" dirty="0"/>
              <a:t>scheduling scheme</a:t>
            </a:r>
          </a:p>
          <a:p>
            <a:pPr lvl="1"/>
            <a:r>
              <a:rPr lang="en-US" altLang="zh-CN" sz="2400" dirty="0"/>
              <a:t>Particularly </a:t>
            </a:r>
            <a:r>
              <a:rPr lang="en-US" altLang="zh-CN" sz="2400" dirty="0">
                <a:solidFill>
                  <a:srgbClr val="0070C0"/>
                </a:solidFill>
              </a:rPr>
              <a:t>relevant in the context </a:t>
            </a:r>
            <a:r>
              <a:rPr lang="en-US" altLang="zh-CN" sz="2400" dirty="0"/>
              <a:t>of real-time scheduling</a:t>
            </a:r>
          </a:p>
          <a:p>
            <a:pPr lvl="1"/>
            <a:endParaRPr lang="en-US" altLang="zh-CN" sz="2400" dirty="0"/>
          </a:p>
          <a:p>
            <a:r>
              <a:rPr lang="en-US" altLang="zh-CN" dirty="0"/>
              <a:t>Best-known instance involved the Mars Pathfinder mission</a:t>
            </a:r>
          </a:p>
          <a:p>
            <a:endParaRPr lang="en-US" altLang="zh-CN" dirty="0"/>
          </a:p>
          <a:p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serious</a:t>
            </a:r>
            <a:r>
              <a:rPr lang="zh-CN" altLang="en-US" dirty="0"/>
              <a:t> </a:t>
            </a:r>
            <a:r>
              <a:rPr lang="en-US" altLang="zh-CN" dirty="0"/>
              <a:t>case:</a:t>
            </a:r>
            <a:r>
              <a:rPr lang="zh-CN" altLang="en-US" dirty="0"/>
              <a:t> </a:t>
            </a:r>
            <a:r>
              <a:rPr lang="en-US" altLang="zh-CN" dirty="0"/>
              <a:t>unbounded Priority Inversion</a:t>
            </a:r>
          </a:p>
          <a:p>
            <a:pPr lvl="1"/>
            <a:r>
              <a:rPr lang="en-US" altLang="zh-CN" sz="2400" dirty="0"/>
              <a:t>the duration of a priority inversion depends not only on the time required to handle </a:t>
            </a:r>
            <a:r>
              <a:rPr lang="en-US" altLang="zh-CN" sz="2400" b="1" dirty="0">
                <a:solidFill>
                  <a:srgbClr val="FF0000"/>
                </a:solidFill>
              </a:rPr>
              <a:t>a shared resource</a:t>
            </a:r>
            <a:r>
              <a:rPr lang="en-US" altLang="zh-CN" sz="2400" dirty="0"/>
              <a:t>, but also on the </a:t>
            </a:r>
            <a:r>
              <a:rPr lang="en-US" altLang="zh-CN" sz="2400" b="1" dirty="0">
                <a:solidFill>
                  <a:srgbClr val="FF0000"/>
                </a:solidFill>
              </a:rPr>
              <a:t>unpredictable actions of other unrelated tasks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10370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E3D6174-D719-4374-8946-59D0FAE38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880" y="850465"/>
            <a:ext cx="6807282" cy="543063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Unbounded Priority Inversion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D07174-3E15-4645-8BD0-72F43FB408F6}"/>
              </a:ext>
            </a:extLst>
          </p:cNvPr>
          <p:cNvSpPr/>
          <p:nvPr/>
        </p:nvSpPr>
        <p:spPr>
          <a:xfrm>
            <a:off x="9169425" y="3113951"/>
            <a:ext cx="20601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Priority T1&gt;T2&gt;T3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986760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Priority Inheritance</a:t>
            </a:r>
            <a:r>
              <a:rPr lang="zh-CN" altLang="en-US" dirty="0"/>
              <a:t> （继承）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4DDB69-3DEE-4128-A93D-F300F3EC98F7}"/>
              </a:ext>
            </a:extLst>
          </p:cNvPr>
          <p:cNvSpPr txBox="1"/>
          <p:nvPr/>
        </p:nvSpPr>
        <p:spPr>
          <a:xfrm>
            <a:off x="602672" y="1221663"/>
            <a:ext cx="4232565" cy="279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82" indent="-342882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a lower-priority task inherits the priority of any higher-priority task pending on a </a:t>
            </a:r>
            <a:r>
              <a:rPr lang="en-US" sz="2400" b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resource they share</a:t>
            </a:r>
            <a:r>
              <a:rPr 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377B86C-C80D-4D14-96F3-BD743599D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174" y="888106"/>
            <a:ext cx="6453188" cy="518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394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6E458-4E34-4362-8AB8-C764425C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E832A-8845-41ED-96B4-A99A20D9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With a tightly coupled multiprocessor, multiple processors have access to the </a:t>
            </a:r>
            <a:r>
              <a:rPr lang="en-US" dirty="0">
                <a:solidFill>
                  <a:srgbClr val="0070C0"/>
                </a:solidFill>
              </a:rPr>
              <a:t>same main memory</a:t>
            </a:r>
          </a:p>
          <a:p>
            <a:r>
              <a:rPr lang="en-US" dirty="0"/>
              <a:t>Performance studies suggest that the differences among various scheduling algorithms are </a:t>
            </a:r>
            <a:r>
              <a:rPr lang="en-US" dirty="0">
                <a:solidFill>
                  <a:srgbClr val="0070C0"/>
                </a:solidFill>
              </a:rPr>
              <a:t>less significant </a:t>
            </a:r>
            <a:r>
              <a:rPr lang="en-US" dirty="0"/>
              <a:t>in a multiprocessor system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real-time process </a:t>
            </a:r>
            <a:r>
              <a:rPr lang="en-US" dirty="0"/>
              <a:t>is one that is executed in connection with some process or function or set of events external to the computer system and that </a:t>
            </a:r>
            <a:r>
              <a:rPr lang="en-US" dirty="0">
                <a:solidFill>
                  <a:srgbClr val="0070C0"/>
                </a:solidFill>
              </a:rPr>
              <a:t>must meet one or more deadlines </a:t>
            </a:r>
            <a:r>
              <a:rPr lang="en-US" dirty="0"/>
              <a:t>to interact effectively and correctly with the external environment</a:t>
            </a:r>
          </a:p>
          <a:p>
            <a:r>
              <a:rPr lang="en-US" dirty="0"/>
              <a:t>A real-time operating system is one that is capable of </a:t>
            </a:r>
            <a:r>
              <a:rPr lang="en-US" dirty="0">
                <a:solidFill>
                  <a:srgbClr val="0070C0"/>
                </a:solidFill>
              </a:rPr>
              <a:t>managing real-time processes</a:t>
            </a:r>
          </a:p>
          <a:p>
            <a:r>
              <a:rPr lang="en-US" dirty="0"/>
              <a:t>Key factor is the meeting of </a:t>
            </a:r>
            <a:r>
              <a:rPr lang="en-US" dirty="0">
                <a:solidFill>
                  <a:srgbClr val="0070C0"/>
                </a:solidFill>
              </a:rPr>
              <a:t>deadlines</a:t>
            </a:r>
          </a:p>
          <a:p>
            <a:r>
              <a:rPr lang="en-US" dirty="0"/>
              <a:t>Algorithms that rely heavily on </a:t>
            </a:r>
            <a:r>
              <a:rPr lang="en-US" dirty="0">
                <a:solidFill>
                  <a:srgbClr val="0070C0"/>
                </a:solidFill>
              </a:rPr>
              <a:t>preemption</a:t>
            </a:r>
            <a:r>
              <a:rPr lang="en-US" dirty="0"/>
              <a:t> and on reacting to relative deadlines are appropriate in this context</a:t>
            </a:r>
          </a:p>
        </p:txBody>
      </p:sp>
    </p:spTree>
    <p:extLst>
      <p:ext uri="{BB962C8B-B14F-4D97-AF65-F5344CB8AC3E}">
        <p14:creationId xmlns:p14="http://schemas.microsoft.com/office/powerpoint/2010/main" val="36690705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B8CFF-DB1A-4277-8428-D50A6CE3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AE492B-D532-944D-A2CA-259264B0B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097" y="1813365"/>
            <a:ext cx="6859465" cy="4415705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3C57B00-C026-9D4A-B06C-A47739D37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03" y="750667"/>
            <a:ext cx="10515600" cy="5175794"/>
          </a:xfrm>
        </p:spPr>
        <p:txBody>
          <a:bodyPr/>
          <a:lstStyle/>
          <a:p>
            <a:r>
              <a:rPr lang="en-US" dirty="0"/>
              <a:t>Consider a set of three periodic tasks with the execution profiles of Table 10.7. Develop</a:t>
            </a:r>
            <a:r>
              <a:rPr lang="zh-CN" altLang="en-US" dirty="0"/>
              <a:t> </a:t>
            </a:r>
            <a:r>
              <a:rPr lang="en-US" dirty="0"/>
              <a:t>scheduling diagrams similar to those of Figure 10.5 for this set of tasks.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196608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B8CFF-DB1A-4277-8428-D50A6CE3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31707-EF73-7C40-B688-90195FB5C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set of five aperiodic tasks with the execution profiles of Table 10.8. Develop</a:t>
            </a:r>
            <a:r>
              <a:rPr lang="zh-CN" altLang="en-US" dirty="0"/>
              <a:t> </a:t>
            </a:r>
            <a:r>
              <a:rPr lang="en-US" dirty="0"/>
              <a:t>scheduling diagrams similar to those of Figure 10.6 for this set of tasks</a:t>
            </a:r>
          </a:p>
          <a:p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1B06D0-527C-0540-A214-B53AC072D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36" y="2368619"/>
            <a:ext cx="10333730" cy="273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86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B8CFF-DB1A-4277-8428-D50A6CE3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9E1A8-A429-454C-B067-3C102CBD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system is predominated by periodic tasks and so rate monotonic scheduling (RMS)</a:t>
            </a:r>
            <a:r>
              <a:rPr lang="zh-CN" altLang="en-US" dirty="0"/>
              <a:t> </a:t>
            </a:r>
            <a:r>
              <a:rPr lang="en-US" dirty="0"/>
              <a:t>is proposed as a way to resolve multitask scheduling conflicts. Assume that in a given</a:t>
            </a:r>
            <a:r>
              <a:rPr lang="zh-CN" altLang="en-US" dirty="0"/>
              <a:t> </a:t>
            </a:r>
            <a:r>
              <a:rPr lang="en-US" dirty="0"/>
              <a:t>time span the system has five tasks with parameters as listed below:</a:t>
            </a:r>
          </a:p>
          <a:p>
            <a:pPr marL="342884" lvl="1" indent="0">
              <a:buNone/>
            </a:pPr>
            <a:r>
              <a:rPr lang="en-US" dirty="0"/>
              <a:t>• Task P1: Processing Time C1 = 20; Period T1 = 90</a:t>
            </a:r>
          </a:p>
          <a:p>
            <a:pPr marL="342884" lvl="1" indent="0">
              <a:buNone/>
            </a:pPr>
            <a:r>
              <a:rPr lang="en-US" dirty="0"/>
              <a:t>• Task P2: Processing Time C2 = 30; Period T2 = 250</a:t>
            </a:r>
          </a:p>
          <a:p>
            <a:pPr marL="342884" lvl="1" indent="0">
              <a:buNone/>
            </a:pPr>
            <a:r>
              <a:rPr lang="en-US" dirty="0"/>
              <a:t>• Task P3: Processing Time C3 = 70; Period T3 = 370</a:t>
            </a:r>
          </a:p>
          <a:p>
            <a:pPr marL="342884" lvl="1" indent="0">
              <a:buNone/>
            </a:pPr>
            <a:r>
              <a:rPr lang="en-US" dirty="0"/>
              <a:t>• Task P4: Processing Time C4 = 50; Period T4 = 330</a:t>
            </a:r>
          </a:p>
          <a:p>
            <a:pPr marL="342884" lvl="1" indent="0">
              <a:buNone/>
            </a:pPr>
            <a:r>
              <a:rPr lang="en-US" dirty="0"/>
              <a:t>• Task P5: Processing Time C5 = 125; Period T5 = 2000</a:t>
            </a:r>
          </a:p>
          <a:p>
            <a:pPr marL="0" indent="0">
              <a:buNone/>
            </a:pPr>
            <a:r>
              <a:rPr lang="en-US" dirty="0"/>
              <a:t>We have seen that Equation (10.2) provides an upper bound on the number of tasks</a:t>
            </a:r>
            <a:r>
              <a:rPr lang="zh-CN" altLang="en-US" dirty="0"/>
              <a:t> </a:t>
            </a:r>
            <a:r>
              <a:rPr lang="en-US" dirty="0"/>
              <a:t>that a perfect scheduling algorithm can successfully schedule. If RMS is used, analyze</a:t>
            </a:r>
            <a:r>
              <a:rPr lang="zh-CN" altLang="en-US" dirty="0"/>
              <a:t> </a:t>
            </a:r>
            <a:r>
              <a:rPr lang="en-US" dirty="0"/>
              <a:t>whether the tasks can be successfully scheduled as per Equation (10.2).</a:t>
            </a:r>
          </a:p>
          <a:p>
            <a:endParaRPr 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342918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3481</TotalTime>
  <Words>3039</Words>
  <Application>Microsoft Office PowerPoint</Application>
  <PresentationFormat>宽屏</PresentationFormat>
  <Paragraphs>416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4" baseType="lpstr">
      <vt:lpstr>Microsoft YaHei UI</vt:lpstr>
      <vt:lpstr>等线</vt:lpstr>
      <vt:lpstr>Microsoft YaHei</vt:lpstr>
      <vt:lpstr>Arial</vt:lpstr>
      <vt:lpstr>Calibri</vt:lpstr>
      <vt:lpstr>Times</vt:lpstr>
      <vt:lpstr>Wingdings</vt:lpstr>
      <vt:lpstr>1_Office 主题​​</vt:lpstr>
      <vt:lpstr>Multiprocessor, Multicore and Real-Time Scheduling</vt:lpstr>
      <vt:lpstr>Levels of Scheduling</vt:lpstr>
      <vt:lpstr>Scheduling Criteria</vt:lpstr>
      <vt:lpstr>Alternative Scheduling Policies</vt:lpstr>
      <vt:lpstr>Fair-Share Scheduler (FSS):</vt:lpstr>
      <vt:lpstr>Outline</vt:lpstr>
      <vt:lpstr>1.1 Classifications of Multiprocessor Systems</vt:lpstr>
      <vt:lpstr>Symmetric Multiprocessor Organization</vt:lpstr>
      <vt:lpstr>Synchronization Granularity among Processes</vt:lpstr>
      <vt:lpstr>Independent Parallelism</vt:lpstr>
      <vt:lpstr>Coarse and Very Coarse-Grained Parallelism</vt:lpstr>
      <vt:lpstr>Medium-Grained Parallelism</vt:lpstr>
      <vt:lpstr>Fine-Grained Parallelism</vt:lpstr>
      <vt:lpstr>1.2 Design Issues</vt:lpstr>
      <vt:lpstr>Assignment of Processes to Processors</vt:lpstr>
      <vt:lpstr>Assignment of Processes to Processors</vt:lpstr>
      <vt:lpstr>Assignment of Processes to Processors</vt:lpstr>
      <vt:lpstr>Assignment of Processes to Processors</vt:lpstr>
      <vt:lpstr>Master/Slave Architecture</vt:lpstr>
      <vt:lpstr>Peer Architecture</vt:lpstr>
      <vt:lpstr>1.3 Process Scheduling in Multiprocessor System</vt:lpstr>
      <vt:lpstr>Case of Dual-Processor System</vt:lpstr>
      <vt:lpstr>1.4 Thread Scheduling in Multiprocessors</vt:lpstr>
      <vt:lpstr>Approaches to Thread Scheduling</vt:lpstr>
      <vt:lpstr>Load Sharing</vt:lpstr>
      <vt:lpstr>Disadvantages of Load Sharing</vt:lpstr>
      <vt:lpstr>Gang Scheduling</vt:lpstr>
      <vt:lpstr>Example of Gang Scheduling</vt:lpstr>
      <vt:lpstr>Dedicated Processor Assignment</vt:lpstr>
      <vt:lpstr>Application Speedup as a Function of Number of Threads</vt:lpstr>
      <vt:lpstr>Dynamic Scheduling</vt:lpstr>
      <vt:lpstr>2 Real-Time Systems</vt:lpstr>
      <vt:lpstr>Hard and Soft Real-Time Tasks</vt:lpstr>
      <vt:lpstr>Another characteristic of real-time tasks</vt:lpstr>
      <vt:lpstr>2.1 Characteristics of Real Time Systems</vt:lpstr>
      <vt:lpstr>Determinism（可确定性）</vt:lpstr>
      <vt:lpstr>Responsiveness（可响应性）</vt:lpstr>
      <vt:lpstr>Interrupt</vt:lpstr>
      <vt:lpstr>User Control</vt:lpstr>
      <vt:lpstr>Reliability（可靠性）</vt:lpstr>
      <vt:lpstr>Fail-Soft Operation（故障弱化操作）</vt:lpstr>
      <vt:lpstr>2.2 Scheduling of Real-Time Process</vt:lpstr>
      <vt:lpstr>Scheduling of Real-Time Process</vt:lpstr>
      <vt:lpstr>Scheduling of Real-Time Process</vt:lpstr>
      <vt:lpstr>Scheduling of Real-Time Process</vt:lpstr>
      <vt:lpstr>Real-Time Scheduling</vt:lpstr>
      <vt:lpstr>Classes of Real-Time Scheduling Algorithms</vt:lpstr>
      <vt:lpstr>Classes of Real-Time Scheduling Algorithms</vt:lpstr>
      <vt:lpstr>Deadline Scheduling</vt:lpstr>
      <vt:lpstr>Information Used for Deadline Scheduling</vt:lpstr>
      <vt:lpstr>Critic Design Issues of Real-Time Scheduling</vt:lpstr>
      <vt:lpstr>Table 10.2 Execution Profile of Two Periodic Tasks</vt:lpstr>
      <vt:lpstr>Scheduling of Periodic Real-Time Tasks  with Completion Deadlines</vt:lpstr>
      <vt:lpstr>Table 10.3 Execution Profile of Five Aperiodic Tasks</vt:lpstr>
      <vt:lpstr>Scheduling of Aperiodic Real-Time Tasks  with Starting Deadlines</vt:lpstr>
      <vt:lpstr>Rate Monotonic Scheduling （RMS）</vt:lpstr>
      <vt:lpstr>Periodic Task Timing Diagram</vt:lpstr>
      <vt:lpstr>Measure of Periodic Scheduling Algorithm</vt:lpstr>
      <vt:lpstr>RMS</vt:lpstr>
      <vt:lpstr>Priority Inversion</vt:lpstr>
      <vt:lpstr>Unbounded Priority Inversion</vt:lpstr>
      <vt:lpstr>Priority Inheritance （继承）</vt:lpstr>
      <vt:lpstr>Summary</vt:lpstr>
      <vt:lpstr>Quiz</vt:lpstr>
      <vt:lpstr>Quiz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飞 滕</dc:creator>
  <cp:lastModifiedBy>露涵 毛</cp:lastModifiedBy>
  <cp:revision>781</cp:revision>
  <dcterms:created xsi:type="dcterms:W3CDTF">2020-02-20T05:29:15Z</dcterms:created>
  <dcterms:modified xsi:type="dcterms:W3CDTF">2026-04-20T15:21:53Z</dcterms:modified>
</cp:coreProperties>
</file>