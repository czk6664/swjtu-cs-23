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notesMasterIdLst>
    <p:notesMasterId r:id="rId47"/>
  </p:notesMasterIdLst>
  <p:sldIdLst>
    <p:sldId id="403" r:id="rId2"/>
    <p:sldId id="404" r:id="rId3"/>
    <p:sldId id="405" r:id="rId4"/>
    <p:sldId id="406" r:id="rId5"/>
    <p:sldId id="347" r:id="rId6"/>
    <p:sldId id="350" r:id="rId7"/>
    <p:sldId id="414" r:id="rId8"/>
    <p:sldId id="415" r:id="rId9"/>
    <p:sldId id="353" r:id="rId10"/>
    <p:sldId id="354" r:id="rId11"/>
    <p:sldId id="417" r:id="rId12"/>
    <p:sldId id="416" r:id="rId13"/>
    <p:sldId id="357" r:id="rId14"/>
    <p:sldId id="360" r:id="rId15"/>
    <p:sldId id="358" r:id="rId16"/>
    <p:sldId id="362" r:id="rId17"/>
    <p:sldId id="363" r:id="rId18"/>
    <p:sldId id="407" r:id="rId19"/>
    <p:sldId id="366" r:id="rId20"/>
    <p:sldId id="365" r:id="rId21"/>
    <p:sldId id="418" r:id="rId22"/>
    <p:sldId id="368" r:id="rId23"/>
    <p:sldId id="419" r:id="rId24"/>
    <p:sldId id="369" r:id="rId25"/>
    <p:sldId id="370" r:id="rId26"/>
    <p:sldId id="371" r:id="rId27"/>
    <p:sldId id="372" r:id="rId28"/>
    <p:sldId id="373" r:id="rId29"/>
    <p:sldId id="374" r:id="rId30"/>
    <p:sldId id="420" r:id="rId31"/>
    <p:sldId id="376" r:id="rId32"/>
    <p:sldId id="421" r:id="rId33"/>
    <p:sldId id="377" r:id="rId34"/>
    <p:sldId id="408" r:id="rId35"/>
    <p:sldId id="423" r:id="rId36"/>
    <p:sldId id="422" r:id="rId37"/>
    <p:sldId id="378" r:id="rId38"/>
    <p:sldId id="424" r:id="rId39"/>
    <p:sldId id="379" r:id="rId40"/>
    <p:sldId id="380" r:id="rId41"/>
    <p:sldId id="381" r:id="rId42"/>
    <p:sldId id="382" r:id="rId43"/>
    <p:sldId id="409" r:id="rId44"/>
    <p:sldId id="410" r:id="rId45"/>
    <p:sldId id="411" r:id="rId4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505E3EF-67EA-436B-97B2-0124C06EBD24}" styleName="中度样式 4 - 强调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7" autoAdjust="0"/>
    <p:restoredTop sz="80776" autoAdjust="0"/>
  </p:normalViewPr>
  <p:slideViewPr>
    <p:cSldViewPr snapToGrid="0">
      <p:cViewPr varScale="1">
        <p:scale>
          <a:sx n="126" d="100"/>
          <a:sy n="126" d="100"/>
        </p:scale>
        <p:origin x="224" y="488"/>
      </p:cViewPr>
      <p:guideLst/>
    </p:cSldViewPr>
  </p:slideViewPr>
  <p:outlineViewPr>
    <p:cViewPr>
      <p:scale>
        <a:sx n="33" d="100"/>
        <a:sy n="33" d="100"/>
      </p:scale>
      <p:origin x="0" y="-640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E35E02B-71EA-A248-A9D1-2F965A2C7B31}" type="doc">
      <dgm:prSet loTypeId="urn:microsoft.com/office/officeart/2005/8/layout/hierarchy6" loCatId="hierarchy" qsTypeId="urn:microsoft.com/office/officeart/2005/8/quickstyle/simple4" qsCatId="simple" csTypeId="urn:microsoft.com/office/officeart/2005/8/colors/accent1_2" csCatId="accent1" phldr="1"/>
      <dgm:spPr/>
    </dgm:pt>
    <dgm:pt modelId="{23084231-31CB-4743-B4A4-79D75B471C13}">
      <dgm:prSet phldrT="[Text]"/>
      <dgm:spPr/>
      <dgm:t>
        <a:bodyPr/>
        <a:lstStyle/>
        <a:p>
          <a:r>
            <a:rPr lang="en-US" dirty="0"/>
            <a:t>Two main types:</a:t>
          </a:r>
        </a:p>
      </dgm:t>
    </dgm:pt>
    <dgm:pt modelId="{401E3C16-4AAC-704D-82E4-0D66DF61552E}" type="parTrans" cxnId="{BF33AFCF-4A2A-FE43-A8ED-38A099C1D8BC}">
      <dgm:prSet/>
      <dgm:spPr/>
      <dgm:t>
        <a:bodyPr/>
        <a:lstStyle/>
        <a:p>
          <a:endParaRPr lang="en-US"/>
        </a:p>
      </dgm:t>
    </dgm:pt>
    <dgm:pt modelId="{692FF7BF-C0A4-674A-BF1F-0B151DCF5D64}" type="sibTrans" cxnId="{BF33AFCF-4A2A-FE43-A8ED-38A099C1D8BC}">
      <dgm:prSet/>
      <dgm:spPr/>
      <dgm:t>
        <a:bodyPr/>
        <a:lstStyle/>
        <a:p>
          <a:endParaRPr lang="en-US"/>
        </a:p>
      </dgm:t>
    </dgm:pt>
    <dgm:pt modelId="{1DA8F05A-5B38-7A4B-A17B-66CF5B6872DE}">
      <dgm:prSet/>
      <dgm:spPr/>
      <dgm:t>
        <a:bodyPr/>
        <a:lstStyle/>
        <a:p>
          <a:r>
            <a:rPr lang="en-US" dirty="0"/>
            <a:t>Demand Paging </a:t>
          </a:r>
        </a:p>
      </dgm:t>
    </dgm:pt>
    <dgm:pt modelId="{1D73C883-0270-7D43-A3D6-E088B19F4F0C}" type="parTrans" cxnId="{8166DABC-C6DB-E84B-B775-E9C5DA2FF9BF}">
      <dgm:prSet/>
      <dgm:spPr/>
      <dgm:t>
        <a:bodyPr/>
        <a:lstStyle/>
        <a:p>
          <a:endParaRPr lang="en-US"/>
        </a:p>
      </dgm:t>
    </dgm:pt>
    <dgm:pt modelId="{F1121A77-6FE8-5E4F-A442-5C1A505C93F3}" type="sibTrans" cxnId="{8166DABC-C6DB-E84B-B775-E9C5DA2FF9BF}">
      <dgm:prSet/>
      <dgm:spPr/>
      <dgm:t>
        <a:bodyPr/>
        <a:lstStyle/>
        <a:p>
          <a:endParaRPr lang="en-US"/>
        </a:p>
      </dgm:t>
    </dgm:pt>
    <dgm:pt modelId="{CC2EA49D-6FA8-6A47-B280-61DE471AFC17}">
      <dgm:prSet/>
      <dgm:spPr/>
      <dgm:t>
        <a:bodyPr/>
        <a:lstStyle/>
        <a:p>
          <a:r>
            <a:rPr lang="en-US" dirty="0" err="1"/>
            <a:t>Prepaging</a:t>
          </a:r>
          <a:endParaRPr lang="en-US" dirty="0"/>
        </a:p>
      </dgm:t>
    </dgm:pt>
    <dgm:pt modelId="{171EE2B2-D007-7D47-8175-5BDD56D3449B}" type="parTrans" cxnId="{B1F7B894-93BA-2548-A9A3-AB31E3BCC975}">
      <dgm:prSet/>
      <dgm:spPr/>
      <dgm:t>
        <a:bodyPr/>
        <a:lstStyle/>
        <a:p>
          <a:endParaRPr lang="en-US"/>
        </a:p>
      </dgm:t>
    </dgm:pt>
    <dgm:pt modelId="{134C7CA8-BAE9-DB47-AB35-D07CD95CDBF0}" type="sibTrans" cxnId="{B1F7B894-93BA-2548-A9A3-AB31E3BCC975}">
      <dgm:prSet/>
      <dgm:spPr/>
      <dgm:t>
        <a:bodyPr/>
        <a:lstStyle/>
        <a:p>
          <a:endParaRPr lang="en-US"/>
        </a:p>
      </dgm:t>
    </dgm:pt>
    <dgm:pt modelId="{BF8FBDCF-9F23-B04B-9764-EDEEC6AE3CC3}" type="pres">
      <dgm:prSet presAssocID="{FE35E02B-71EA-A248-A9D1-2F965A2C7B31}" presName="mainComposite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11B3C1A2-A3EF-8B49-8AF1-E5A487FD2393}" type="pres">
      <dgm:prSet presAssocID="{FE35E02B-71EA-A248-A9D1-2F965A2C7B31}" presName="hierFlow" presStyleCnt="0"/>
      <dgm:spPr/>
    </dgm:pt>
    <dgm:pt modelId="{4D67A21D-19CC-6E43-A3F1-A15C6A73DF92}" type="pres">
      <dgm:prSet presAssocID="{FE35E02B-71EA-A248-A9D1-2F965A2C7B31}" presName="hierChild1" presStyleCnt="0">
        <dgm:presLayoutVars>
          <dgm:chPref val="1"/>
          <dgm:animOne val="branch"/>
          <dgm:animLvl val="lvl"/>
        </dgm:presLayoutVars>
      </dgm:prSet>
      <dgm:spPr/>
    </dgm:pt>
    <dgm:pt modelId="{DF163FF9-EA40-8440-B861-2E1397F85C61}" type="pres">
      <dgm:prSet presAssocID="{23084231-31CB-4743-B4A4-79D75B471C13}" presName="Name14" presStyleCnt="0"/>
      <dgm:spPr/>
    </dgm:pt>
    <dgm:pt modelId="{47D2CDED-EA25-D245-9A3E-EE424E47FA09}" type="pres">
      <dgm:prSet presAssocID="{23084231-31CB-4743-B4A4-79D75B471C13}" presName="level1Shape" presStyleLbl="node0" presStyleIdx="0" presStyleCnt="1">
        <dgm:presLayoutVars>
          <dgm:chPref val="3"/>
        </dgm:presLayoutVars>
      </dgm:prSet>
      <dgm:spPr/>
    </dgm:pt>
    <dgm:pt modelId="{5EF37113-2D19-0E46-8593-FD43CE105843}" type="pres">
      <dgm:prSet presAssocID="{23084231-31CB-4743-B4A4-79D75B471C13}" presName="hierChild2" presStyleCnt="0"/>
      <dgm:spPr/>
    </dgm:pt>
    <dgm:pt modelId="{7FC00B2B-D0BE-C64D-B097-B67C2E9E9C42}" type="pres">
      <dgm:prSet presAssocID="{1D73C883-0270-7D43-A3D6-E088B19F4F0C}" presName="Name19" presStyleLbl="parChTrans1D2" presStyleIdx="0" presStyleCnt="2"/>
      <dgm:spPr/>
    </dgm:pt>
    <dgm:pt modelId="{C99ED07D-A25F-8346-81DF-D33C644F84B8}" type="pres">
      <dgm:prSet presAssocID="{1DA8F05A-5B38-7A4B-A17B-66CF5B6872DE}" presName="Name21" presStyleCnt="0"/>
      <dgm:spPr/>
    </dgm:pt>
    <dgm:pt modelId="{A27BAF8F-2698-424F-B03A-2E28D1896C52}" type="pres">
      <dgm:prSet presAssocID="{1DA8F05A-5B38-7A4B-A17B-66CF5B6872DE}" presName="level2Shape" presStyleLbl="node2" presStyleIdx="0" presStyleCnt="2"/>
      <dgm:spPr/>
    </dgm:pt>
    <dgm:pt modelId="{3F3AA4E7-618F-E244-998D-27516C7E5FED}" type="pres">
      <dgm:prSet presAssocID="{1DA8F05A-5B38-7A4B-A17B-66CF5B6872DE}" presName="hierChild3" presStyleCnt="0"/>
      <dgm:spPr/>
    </dgm:pt>
    <dgm:pt modelId="{91D0E1FC-3442-2845-AFA8-8E8BBBCA9554}" type="pres">
      <dgm:prSet presAssocID="{171EE2B2-D007-7D47-8175-5BDD56D3449B}" presName="Name19" presStyleLbl="parChTrans1D2" presStyleIdx="1" presStyleCnt="2"/>
      <dgm:spPr/>
    </dgm:pt>
    <dgm:pt modelId="{B60C33D1-E949-1643-9BC9-92DFFADB1C88}" type="pres">
      <dgm:prSet presAssocID="{CC2EA49D-6FA8-6A47-B280-61DE471AFC17}" presName="Name21" presStyleCnt="0"/>
      <dgm:spPr/>
    </dgm:pt>
    <dgm:pt modelId="{343A2062-4385-2E48-AA5A-BF53FA94A158}" type="pres">
      <dgm:prSet presAssocID="{CC2EA49D-6FA8-6A47-B280-61DE471AFC17}" presName="level2Shape" presStyleLbl="node2" presStyleIdx="1" presStyleCnt="2"/>
      <dgm:spPr/>
    </dgm:pt>
    <dgm:pt modelId="{073A1675-0456-3C40-9261-E44F86126930}" type="pres">
      <dgm:prSet presAssocID="{CC2EA49D-6FA8-6A47-B280-61DE471AFC17}" presName="hierChild3" presStyleCnt="0"/>
      <dgm:spPr/>
    </dgm:pt>
    <dgm:pt modelId="{D073093C-41EC-4048-98FC-2346A84A853D}" type="pres">
      <dgm:prSet presAssocID="{FE35E02B-71EA-A248-A9D1-2F965A2C7B31}" presName="bgShapesFlow" presStyleCnt="0"/>
      <dgm:spPr/>
    </dgm:pt>
  </dgm:ptLst>
  <dgm:cxnLst>
    <dgm:cxn modelId="{628A0B51-E72F-EC40-8F25-C24C8A9CAD9F}" type="presOf" srcId="{FE35E02B-71EA-A248-A9D1-2F965A2C7B31}" destId="{BF8FBDCF-9F23-B04B-9764-EDEEC6AE3CC3}" srcOrd="0" destOrd="0" presId="urn:microsoft.com/office/officeart/2005/8/layout/hierarchy6"/>
    <dgm:cxn modelId="{D6D12E6C-5E0E-904A-B0BB-B46CAD1AACEE}" type="presOf" srcId="{1DA8F05A-5B38-7A4B-A17B-66CF5B6872DE}" destId="{A27BAF8F-2698-424F-B03A-2E28D1896C52}" srcOrd="0" destOrd="0" presId="urn:microsoft.com/office/officeart/2005/8/layout/hierarchy6"/>
    <dgm:cxn modelId="{B1F7B894-93BA-2548-A9A3-AB31E3BCC975}" srcId="{23084231-31CB-4743-B4A4-79D75B471C13}" destId="{CC2EA49D-6FA8-6A47-B280-61DE471AFC17}" srcOrd="1" destOrd="0" parTransId="{171EE2B2-D007-7D47-8175-5BDD56D3449B}" sibTransId="{134C7CA8-BAE9-DB47-AB35-D07CD95CDBF0}"/>
    <dgm:cxn modelId="{8166DABC-C6DB-E84B-B775-E9C5DA2FF9BF}" srcId="{23084231-31CB-4743-B4A4-79D75B471C13}" destId="{1DA8F05A-5B38-7A4B-A17B-66CF5B6872DE}" srcOrd="0" destOrd="0" parTransId="{1D73C883-0270-7D43-A3D6-E088B19F4F0C}" sibTransId="{F1121A77-6FE8-5E4F-A442-5C1A505C93F3}"/>
    <dgm:cxn modelId="{0F04D6CA-6CF0-844A-97CA-99DC93E70AB6}" type="presOf" srcId="{1D73C883-0270-7D43-A3D6-E088B19F4F0C}" destId="{7FC00B2B-D0BE-C64D-B097-B67C2E9E9C42}" srcOrd="0" destOrd="0" presId="urn:microsoft.com/office/officeart/2005/8/layout/hierarchy6"/>
    <dgm:cxn modelId="{BF33AFCF-4A2A-FE43-A8ED-38A099C1D8BC}" srcId="{FE35E02B-71EA-A248-A9D1-2F965A2C7B31}" destId="{23084231-31CB-4743-B4A4-79D75B471C13}" srcOrd="0" destOrd="0" parTransId="{401E3C16-4AAC-704D-82E4-0D66DF61552E}" sibTransId="{692FF7BF-C0A4-674A-BF1F-0B151DCF5D64}"/>
    <dgm:cxn modelId="{85D2F7DB-E6F4-C245-87F3-1AC2A2230B7A}" type="presOf" srcId="{171EE2B2-D007-7D47-8175-5BDD56D3449B}" destId="{91D0E1FC-3442-2845-AFA8-8E8BBBCA9554}" srcOrd="0" destOrd="0" presId="urn:microsoft.com/office/officeart/2005/8/layout/hierarchy6"/>
    <dgm:cxn modelId="{D6FF2DE3-2AED-F943-B3CC-9704C3D89C02}" type="presOf" srcId="{23084231-31CB-4743-B4A4-79D75B471C13}" destId="{47D2CDED-EA25-D245-9A3E-EE424E47FA09}" srcOrd="0" destOrd="0" presId="urn:microsoft.com/office/officeart/2005/8/layout/hierarchy6"/>
    <dgm:cxn modelId="{F2515CEA-6117-DD49-AD3A-2DD354C3AF64}" type="presOf" srcId="{CC2EA49D-6FA8-6A47-B280-61DE471AFC17}" destId="{343A2062-4385-2E48-AA5A-BF53FA94A158}" srcOrd="0" destOrd="0" presId="urn:microsoft.com/office/officeart/2005/8/layout/hierarchy6"/>
    <dgm:cxn modelId="{0679AED4-817C-2B41-94BD-7395C6142497}" type="presParOf" srcId="{BF8FBDCF-9F23-B04B-9764-EDEEC6AE3CC3}" destId="{11B3C1A2-A3EF-8B49-8AF1-E5A487FD2393}" srcOrd="0" destOrd="0" presId="urn:microsoft.com/office/officeart/2005/8/layout/hierarchy6"/>
    <dgm:cxn modelId="{11CCD670-7989-DE4C-9B4D-A6D3CD79FF11}" type="presParOf" srcId="{11B3C1A2-A3EF-8B49-8AF1-E5A487FD2393}" destId="{4D67A21D-19CC-6E43-A3F1-A15C6A73DF92}" srcOrd="0" destOrd="0" presId="urn:microsoft.com/office/officeart/2005/8/layout/hierarchy6"/>
    <dgm:cxn modelId="{0AA34C06-C056-C040-9EB5-0F98F9DE7321}" type="presParOf" srcId="{4D67A21D-19CC-6E43-A3F1-A15C6A73DF92}" destId="{DF163FF9-EA40-8440-B861-2E1397F85C61}" srcOrd="0" destOrd="0" presId="urn:microsoft.com/office/officeart/2005/8/layout/hierarchy6"/>
    <dgm:cxn modelId="{ED24D379-8316-2F43-A7BA-8B00897BCD64}" type="presParOf" srcId="{DF163FF9-EA40-8440-B861-2E1397F85C61}" destId="{47D2CDED-EA25-D245-9A3E-EE424E47FA09}" srcOrd="0" destOrd="0" presId="urn:microsoft.com/office/officeart/2005/8/layout/hierarchy6"/>
    <dgm:cxn modelId="{DE323534-214F-8745-BDB8-50A1196A8879}" type="presParOf" srcId="{DF163FF9-EA40-8440-B861-2E1397F85C61}" destId="{5EF37113-2D19-0E46-8593-FD43CE105843}" srcOrd="1" destOrd="0" presId="urn:microsoft.com/office/officeart/2005/8/layout/hierarchy6"/>
    <dgm:cxn modelId="{E76F9F36-F70F-5A43-B5F2-6E1418D8D0FA}" type="presParOf" srcId="{5EF37113-2D19-0E46-8593-FD43CE105843}" destId="{7FC00B2B-D0BE-C64D-B097-B67C2E9E9C42}" srcOrd="0" destOrd="0" presId="urn:microsoft.com/office/officeart/2005/8/layout/hierarchy6"/>
    <dgm:cxn modelId="{53EA85A8-A93B-4845-885E-5C3AB4C42965}" type="presParOf" srcId="{5EF37113-2D19-0E46-8593-FD43CE105843}" destId="{C99ED07D-A25F-8346-81DF-D33C644F84B8}" srcOrd="1" destOrd="0" presId="urn:microsoft.com/office/officeart/2005/8/layout/hierarchy6"/>
    <dgm:cxn modelId="{EE26AA27-6D05-DA41-9DFB-8DD95E517B00}" type="presParOf" srcId="{C99ED07D-A25F-8346-81DF-D33C644F84B8}" destId="{A27BAF8F-2698-424F-B03A-2E28D1896C52}" srcOrd="0" destOrd="0" presId="urn:microsoft.com/office/officeart/2005/8/layout/hierarchy6"/>
    <dgm:cxn modelId="{1F81367A-E956-064D-97A7-E3011EC7F52A}" type="presParOf" srcId="{C99ED07D-A25F-8346-81DF-D33C644F84B8}" destId="{3F3AA4E7-618F-E244-998D-27516C7E5FED}" srcOrd="1" destOrd="0" presId="urn:microsoft.com/office/officeart/2005/8/layout/hierarchy6"/>
    <dgm:cxn modelId="{A883DE1F-FBC8-9846-9985-8D1ECF56ABF4}" type="presParOf" srcId="{5EF37113-2D19-0E46-8593-FD43CE105843}" destId="{91D0E1FC-3442-2845-AFA8-8E8BBBCA9554}" srcOrd="2" destOrd="0" presId="urn:microsoft.com/office/officeart/2005/8/layout/hierarchy6"/>
    <dgm:cxn modelId="{F932A395-2236-9D4B-BB3E-EC1278019E38}" type="presParOf" srcId="{5EF37113-2D19-0E46-8593-FD43CE105843}" destId="{B60C33D1-E949-1643-9BC9-92DFFADB1C88}" srcOrd="3" destOrd="0" presId="urn:microsoft.com/office/officeart/2005/8/layout/hierarchy6"/>
    <dgm:cxn modelId="{81B49FFA-2F11-8B47-A79E-B575F5A8BBC6}" type="presParOf" srcId="{B60C33D1-E949-1643-9BC9-92DFFADB1C88}" destId="{343A2062-4385-2E48-AA5A-BF53FA94A158}" srcOrd="0" destOrd="0" presId="urn:microsoft.com/office/officeart/2005/8/layout/hierarchy6"/>
    <dgm:cxn modelId="{E266B7DB-918D-C742-B42A-694AF0B2A2CD}" type="presParOf" srcId="{B60C33D1-E949-1643-9BC9-92DFFADB1C88}" destId="{073A1675-0456-3C40-9261-E44F86126930}" srcOrd="1" destOrd="0" presId="urn:microsoft.com/office/officeart/2005/8/layout/hierarchy6"/>
    <dgm:cxn modelId="{E4430E8E-352C-5E45-A638-7DA5271F9007}" type="presParOf" srcId="{BF8FBDCF-9F23-B04B-9764-EDEEC6AE3CC3}" destId="{D073093C-41EC-4048-98FC-2346A84A853D}" srcOrd="1" destOrd="0" presId="urn:microsoft.com/office/officeart/2005/8/layout/hierarchy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45DBCFB-C194-A74B-833C-964515412432}" type="doc">
      <dgm:prSet loTypeId="urn:microsoft.com/office/officeart/2005/8/layout/hierarchy1" loCatId="hierarchy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2068A9C-94BF-5F43-9513-AEE471E86B97}">
      <dgm:prSet phldrT="[Text]" custT="1"/>
      <dgm:spPr/>
      <dgm:t>
        <a:bodyPr/>
        <a:lstStyle/>
        <a:p>
          <a:r>
            <a:rPr lang="en-US" sz="2400" dirty="0"/>
            <a:t>A replaced page is not lost, but rather assigned to one of two lists:</a:t>
          </a:r>
        </a:p>
      </dgm:t>
    </dgm:pt>
    <dgm:pt modelId="{B97D859C-44BC-6049-91D5-CE34D36757AA}" type="parTrans" cxnId="{129B26C9-3D1B-1E4F-9218-1A6F4A033514}">
      <dgm:prSet/>
      <dgm:spPr/>
      <dgm:t>
        <a:bodyPr/>
        <a:lstStyle/>
        <a:p>
          <a:endParaRPr lang="en-US" sz="2400"/>
        </a:p>
      </dgm:t>
    </dgm:pt>
    <dgm:pt modelId="{D41AF72F-78E0-FE41-B0A0-797798B63222}" type="sibTrans" cxnId="{129B26C9-3D1B-1E4F-9218-1A6F4A033514}">
      <dgm:prSet/>
      <dgm:spPr/>
      <dgm:t>
        <a:bodyPr/>
        <a:lstStyle/>
        <a:p>
          <a:endParaRPr lang="en-US" sz="2400"/>
        </a:p>
      </dgm:t>
    </dgm:pt>
    <dgm:pt modelId="{86710346-DBC2-A14D-9175-42A625E18F03}">
      <dgm:prSet custT="1"/>
      <dgm:spPr/>
      <dgm:t>
        <a:bodyPr/>
        <a:lstStyle/>
        <a:p>
          <a:r>
            <a:rPr lang="en-US" sz="2400"/>
            <a:t>Free page list</a:t>
          </a:r>
          <a:endParaRPr lang="en-US" sz="2400" dirty="0"/>
        </a:p>
      </dgm:t>
    </dgm:pt>
    <dgm:pt modelId="{3DEA17B4-0A08-9142-A8EA-2B30A62028A9}" type="parTrans" cxnId="{15EC9AEB-196F-1E4B-800C-565697245EFF}">
      <dgm:prSet/>
      <dgm:spPr/>
      <dgm:t>
        <a:bodyPr/>
        <a:lstStyle/>
        <a:p>
          <a:endParaRPr lang="en-US" sz="2400"/>
        </a:p>
      </dgm:t>
    </dgm:pt>
    <dgm:pt modelId="{B935FCB2-AE4B-1E4A-8056-C6E1F4A72C5A}" type="sibTrans" cxnId="{15EC9AEB-196F-1E4B-800C-565697245EFF}">
      <dgm:prSet/>
      <dgm:spPr/>
      <dgm:t>
        <a:bodyPr/>
        <a:lstStyle/>
        <a:p>
          <a:endParaRPr lang="en-US" sz="2400"/>
        </a:p>
      </dgm:t>
    </dgm:pt>
    <dgm:pt modelId="{E42CD1A5-3AD0-774A-8E9D-F1E11172EFD7}">
      <dgm:prSet custT="1"/>
      <dgm:spPr/>
      <dgm:t>
        <a:bodyPr/>
        <a:lstStyle/>
        <a:p>
          <a:r>
            <a:rPr lang="en-US" sz="2400" dirty="0"/>
            <a:t>list of page frames available for reading in pages</a:t>
          </a:r>
        </a:p>
      </dgm:t>
    </dgm:pt>
    <dgm:pt modelId="{689DC02B-2816-5D40-9029-D900346D9154}" type="parTrans" cxnId="{1B6F3FE9-BEA0-0244-8712-3F7B3E480893}">
      <dgm:prSet/>
      <dgm:spPr/>
      <dgm:t>
        <a:bodyPr/>
        <a:lstStyle/>
        <a:p>
          <a:endParaRPr lang="en-US" sz="2400"/>
        </a:p>
      </dgm:t>
    </dgm:pt>
    <dgm:pt modelId="{838F0615-7F48-454B-B321-502E874BBEE0}" type="sibTrans" cxnId="{1B6F3FE9-BEA0-0244-8712-3F7B3E480893}">
      <dgm:prSet/>
      <dgm:spPr/>
      <dgm:t>
        <a:bodyPr/>
        <a:lstStyle/>
        <a:p>
          <a:endParaRPr lang="en-US" sz="2400"/>
        </a:p>
      </dgm:t>
    </dgm:pt>
    <dgm:pt modelId="{9EE0B396-88A5-C446-A9DA-C142878CF25E}">
      <dgm:prSet custT="1"/>
      <dgm:spPr/>
      <dgm:t>
        <a:bodyPr/>
        <a:lstStyle/>
        <a:p>
          <a:r>
            <a:rPr lang="en-US" sz="2400" dirty="0"/>
            <a:t>Modified page list</a:t>
          </a:r>
        </a:p>
      </dgm:t>
    </dgm:pt>
    <dgm:pt modelId="{9908A658-0666-AE44-9862-45C8F0943437}" type="parTrans" cxnId="{F2F6C6C3-BF24-3449-9791-4901337BD84A}">
      <dgm:prSet/>
      <dgm:spPr/>
      <dgm:t>
        <a:bodyPr/>
        <a:lstStyle/>
        <a:p>
          <a:endParaRPr lang="en-US" sz="2400"/>
        </a:p>
      </dgm:t>
    </dgm:pt>
    <dgm:pt modelId="{B06F97F8-7990-DE4A-B6AE-C5C028698B64}" type="sibTrans" cxnId="{F2F6C6C3-BF24-3449-9791-4901337BD84A}">
      <dgm:prSet/>
      <dgm:spPr/>
      <dgm:t>
        <a:bodyPr/>
        <a:lstStyle/>
        <a:p>
          <a:endParaRPr lang="en-US" sz="2400"/>
        </a:p>
      </dgm:t>
    </dgm:pt>
    <dgm:pt modelId="{9E2E4F1C-D092-524E-A4F4-0BF2C7F8096E}">
      <dgm:prSet custT="1"/>
      <dgm:spPr/>
      <dgm:t>
        <a:bodyPr/>
        <a:lstStyle/>
        <a:p>
          <a:r>
            <a:rPr lang="en-US" sz="2400"/>
            <a:t>pages are written out in clusters </a:t>
          </a:r>
          <a:endParaRPr lang="en-US" sz="2400" dirty="0"/>
        </a:p>
      </dgm:t>
    </dgm:pt>
    <dgm:pt modelId="{D499F05E-9039-1D4F-9DEC-59AB7497D428}" type="parTrans" cxnId="{D6A61340-3777-A94B-A56F-6FD50297EF48}">
      <dgm:prSet/>
      <dgm:spPr/>
      <dgm:t>
        <a:bodyPr/>
        <a:lstStyle/>
        <a:p>
          <a:endParaRPr lang="en-US" sz="2400"/>
        </a:p>
      </dgm:t>
    </dgm:pt>
    <dgm:pt modelId="{B9B0821A-6B85-E14B-8F61-8B456DD1E177}" type="sibTrans" cxnId="{D6A61340-3777-A94B-A56F-6FD50297EF48}">
      <dgm:prSet/>
      <dgm:spPr/>
      <dgm:t>
        <a:bodyPr/>
        <a:lstStyle/>
        <a:p>
          <a:endParaRPr lang="en-US" sz="2400"/>
        </a:p>
      </dgm:t>
    </dgm:pt>
    <dgm:pt modelId="{9C348023-2CFE-404D-84C4-617142D96F46}" type="pres">
      <dgm:prSet presAssocID="{A45DBCFB-C194-A74B-833C-964515412432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178F531F-4CEB-2E46-A30C-CA632D0374D7}" type="pres">
      <dgm:prSet presAssocID="{52068A9C-94BF-5F43-9513-AEE471E86B97}" presName="hierRoot1" presStyleCnt="0"/>
      <dgm:spPr/>
    </dgm:pt>
    <dgm:pt modelId="{E181698B-AD00-EC48-AEC0-9ED3A9DDAB4C}" type="pres">
      <dgm:prSet presAssocID="{52068A9C-94BF-5F43-9513-AEE471E86B97}" presName="composite" presStyleCnt="0"/>
      <dgm:spPr/>
    </dgm:pt>
    <dgm:pt modelId="{E9E6A144-BDA8-8445-95FE-B4DEFF1353E5}" type="pres">
      <dgm:prSet presAssocID="{52068A9C-94BF-5F43-9513-AEE471E86B97}" presName="background" presStyleLbl="node0" presStyleIdx="0" presStyleCnt="1"/>
      <dgm:spPr/>
    </dgm:pt>
    <dgm:pt modelId="{66CF74FE-7C99-B147-94AD-327B0056B130}" type="pres">
      <dgm:prSet presAssocID="{52068A9C-94BF-5F43-9513-AEE471E86B97}" presName="text" presStyleLbl="fgAcc0" presStyleIdx="0" presStyleCnt="1" custScaleX="211845">
        <dgm:presLayoutVars>
          <dgm:chPref val="3"/>
        </dgm:presLayoutVars>
      </dgm:prSet>
      <dgm:spPr/>
    </dgm:pt>
    <dgm:pt modelId="{A62D6F1B-AF0D-054C-A263-5240D99CFC02}" type="pres">
      <dgm:prSet presAssocID="{52068A9C-94BF-5F43-9513-AEE471E86B97}" presName="hierChild2" presStyleCnt="0"/>
      <dgm:spPr/>
    </dgm:pt>
    <dgm:pt modelId="{FAB3ABC9-CE51-6E46-A582-477033F7909E}" type="pres">
      <dgm:prSet presAssocID="{3DEA17B4-0A08-9142-A8EA-2B30A62028A9}" presName="Name10" presStyleLbl="parChTrans1D2" presStyleIdx="0" presStyleCnt="2"/>
      <dgm:spPr/>
    </dgm:pt>
    <dgm:pt modelId="{ADCE56BC-B51A-644D-8703-0D1BBBF001DB}" type="pres">
      <dgm:prSet presAssocID="{86710346-DBC2-A14D-9175-42A625E18F03}" presName="hierRoot2" presStyleCnt="0"/>
      <dgm:spPr/>
    </dgm:pt>
    <dgm:pt modelId="{E161B099-77F9-FD43-9A4D-697DBB1A9DB9}" type="pres">
      <dgm:prSet presAssocID="{86710346-DBC2-A14D-9175-42A625E18F03}" presName="composite2" presStyleCnt="0"/>
      <dgm:spPr/>
    </dgm:pt>
    <dgm:pt modelId="{28CE6EFF-FA06-4A40-A514-B15AF719A036}" type="pres">
      <dgm:prSet presAssocID="{86710346-DBC2-A14D-9175-42A625E18F03}" presName="background2" presStyleLbl="node2" presStyleIdx="0" presStyleCnt="2"/>
      <dgm:spPr/>
    </dgm:pt>
    <dgm:pt modelId="{36F1355C-6C7A-3F4E-9338-F578F474E3F6}" type="pres">
      <dgm:prSet presAssocID="{86710346-DBC2-A14D-9175-42A625E18F03}" presName="text2" presStyleLbl="fgAcc2" presStyleIdx="0" presStyleCnt="2" custScaleX="211845">
        <dgm:presLayoutVars>
          <dgm:chPref val="3"/>
        </dgm:presLayoutVars>
      </dgm:prSet>
      <dgm:spPr/>
    </dgm:pt>
    <dgm:pt modelId="{E902744D-6C91-704E-96B1-839C1E5C0A71}" type="pres">
      <dgm:prSet presAssocID="{86710346-DBC2-A14D-9175-42A625E18F03}" presName="hierChild3" presStyleCnt="0"/>
      <dgm:spPr/>
    </dgm:pt>
    <dgm:pt modelId="{83175078-7932-F44A-9E39-84D1EDA4A644}" type="pres">
      <dgm:prSet presAssocID="{689DC02B-2816-5D40-9029-D900346D9154}" presName="Name17" presStyleLbl="parChTrans1D3" presStyleIdx="0" presStyleCnt="2"/>
      <dgm:spPr/>
    </dgm:pt>
    <dgm:pt modelId="{61C18124-325C-E041-99FB-17EB84ABFD43}" type="pres">
      <dgm:prSet presAssocID="{E42CD1A5-3AD0-774A-8E9D-F1E11172EFD7}" presName="hierRoot3" presStyleCnt="0"/>
      <dgm:spPr/>
    </dgm:pt>
    <dgm:pt modelId="{2223441E-B806-FF44-B6FC-99CA6BC2D18C}" type="pres">
      <dgm:prSet presAssocID="{E42CD1A5-3AD0-774A-8E9D-F1E11172EFD7}" presName="composite3" presStyleCnt="0"/>
      <dgm:spPr/>
    </dgm:pt>
    <dgm:pt modelId="{61509F13-ECF5-824E-AB0E-238E43561F9B}" type="pres">
      <dgm:prSet presAssocID="{E42CD1A5-3AD0-774A-8E9D-F1E11172EFD7}" presName="background3" presStyleLbl="node3" presStyleIdx="0" presStyleCnt="2"/>
      <dgm:spPr/>
    </dgm:pt>
    <dgm:pt modelId="{03C502F8-A858-FC44-9EBA-F09ED388A4F5}" type="pres">
      <dgm:prSet presAssocID="{E42CD1A5-3AD0-774A-8E9D-F1E11172EFD7}" presName="text3" presStyleLbl="fgAcc3" presStyleIdx="0" presStyleCnt="2" custScaleX="211845">
        <dgm:presLayoutVars>
          <dgm:chPref val="3"/>
        </dgm:presLayoutVars>
      </dgm:prSet>
      <dgm:spPr/>
    </dgm:pt>
    <dgm:pt modelId="{CD615948-73BA-CE4B-8051-DFD53B3B0E6E}" type="pres">
      <dgm:prSet presAssocID="{E42CD1A5-3AD0-774A-8E9D-F1E11172EFD7}" presName="hierChild4" presStyleCnt="0"/>
      <dgm:spPr/>
    </dgm:pt>
    <dgm:pt modelId="{7B165121-B4DA-3D41-B59D-340BEFD6B021}" type="pres">
      <dgm:prSet presAssocID="{9908A658-0666-AE44-9862-45C8F0943437}" presName="Name10" presStyleLbl="parChTrans1D2" presStyleIdx="1" presStyleCnt="2"/>
      <dgm:spPr/>
    </dgm:pt>
    <dgm:pt modelId="{0F9ACB6B-394F-614A-9640-DF391012056F}" type="pres">
      <dgm:prSet presAssocID="{9EE0B396-88A5-C446-A9DA-C142878CF25E}" presName="hierRoot2" presStyleCnt="0"/>
      <dgm:spPr/>
    </dgm:pt>
    <dgm:pt modelId="{20B140E6-0299-E244-979A-2390721DBC25}" type="pres">
      <dgm:prSet presAssocID="{9EE0B396-88A5-C446-A9DA-C142878CF25E}" presName="composite2" presStyleCnt="0"/>
      <dgm:spPr/>
    </dgm:pt>
    <dgm:pt modelId="{C014E9E6-13FA-5444-9BC3-3D89E8915179}" type="pres">
      <dgm:prSet presAssocID="{9EE0B396-88A5-C446-A9DA-C142878CF25E}" presName="background2" presStyleLbl="node2" presStyleIdx="1" presStyleCnt="2"/>
      <dgm:spPr/>
    </dgm:pt>
    <dgm:pt modelId="{E7D1A8F5-82B3-3D4D-B2BB-8402CE6DF5DF}" type="pres">
      <dgm:prSet presAssocID="{9EE0B396-88A5-C446-A9DA-C142878CF25E}" presName="text2" presStyleLbl="fgAcc2" presStyleIdx="1" presStyleCnt="2" custScaleX="211845">
        <dgm:presLayoutVars>
          <dgm:chPref val="3"/>
        </dgm:presLayoutVars>
      </dgm:prSet>
      <dgm:spPr/>
    </dgm:pt>
    <dgm:pt modelId="{3336881A-8E9F-984F-9871-05E190F8CF30}" type="pres">
      <dgm:prSet presAssocID="{9EE0B396-88A5-C446-A9DA-C142878CF25E}" presName="hierChild3" presStyleCnt="0"/>
      <dgm:spPr/>
    </dgm:pt>
    <dgm:pt modelId="{959669F8-0B44-7F4A-BE1E-E4EDB174AE9B}" type="pres">
      <dgm:prSet presAssocID="{D499F05E-9039-1D4F-9DEC-59AB7497D428}" presName="Name17" presStyleLbl="parChTrans1D3" presStyleIdx="1" presStyleCnt="2"/>
      <dgm:spPr/>
    </dgm:pt>
    <dgm:pt modelId="{82472A6C-D4AA-E64C-927D-2B09476DCA2B}" type="pres">
      <dgm:prSet presAssocID="{9E2E4F1C-D092-524E-A4F4-0BF2C7F8096E}" presName="hierRoot3" presStyleCnt="0"/>
      <dgm:spPr/>
    </dgm:pt>
    <dgm:pt modelId="{51749F20-E656-C042-AD50-4A09706514B0}" type="pres">
      <dgm:prSet presAssocID="{9E2E4F1C-D092-524E-A4F4-0BF2C7F8096E}" presName="composite3" presStyleCnt="0"/>
      <dgm:spPr/>
    </dgm:pt>
    <dgm:pt modelId="{9DE444D1-71C7-6D47-8D20-D17B0958CE50}" type="pres">
      <dgm:prSet presAssocID="{9E2E4F1C-D092-524E-A4F4-0BF2C7F8096E}" presName="background3" presStyleLbl="node3" presStyleIdx="1" presStyleCnt="2"/>
      <dgm:spPr/>
    </dgm:pt>
    <dgm:pt modelId="{076EFA28-0F84-924A-99EB-2F55769FB300}" type="pres">
      <dgm:prSet presAssocID="{9E2E4F1C-D092-524E-A4F4-0BF2C7F8096E}" presName="text3" presStyleLbl="fgAcc3" presStyleIdx="1" presStyleCnt="2" custScaleX="211845">
        <dgm:presLayoutVars>
          <dgm:chPref val="3"/>
        </dgm:presLayoutVars>
      </dgm:prSet>
      <dgm:spPr/>
    </dgm:pt>
    <dgm:pt modelId="{8CE5404A-7CC4-2D4C-A1DF-21FCC9742653}" type="pres">
      <dgm:prSet presAssocID="{9E2E4F1C-D092-524E-A4F4-0BF2C7F8096E}" presName="hierChild4" presStyleCnt="0"/>
      <dgm:spPr/>
    </dgm:pt>
  </dgm:ptLst>
  <dgm:cxnLst>
    <dgm:cxn modelId="{CA914E04-1DD2-4B47-9091-5BEE5E28A57E}" type="presOf" srcId="{9908A658-0666-AE44-9862-45C8F0943437}" destId="{7B165121-B4DA-3D41-B59D-340BEFD6B021}" srcOrd="0" destOrd="0" presId="urn:microsoft.com/office/officeart/2005/8/layout/hierarchy1"/>
    <dgm:cxn modelId="{4E26E113-2FFE-944A-BA86-CC1B2091C1B4}" type="presOf" srcId="{9E2E4F1C-D092-524E-A4F4-0BF2C7F8096E}" destId="{076EFA28-0F84-924A-99EB-2F55769FB300}" srcOrd="0" destOrd="0" presId="urn:microsoft.com/office/officeart/2005/8/layout/hierarchy1"/>
    <dgm:cxn modelId="{DF203326-4169-4F49-9D09-2F6E3A576862}" type="presOf" srcId="{86710346-DBC2-A14D-9175-42A625E18F03}" destId="{36F1355C-6C7A-3F4E-9338-F578F474E3F6}" srcOrd="0" destOrd="0" presId="urn:microsoft.com/office/officeart/2005/8/layout/hierarchy1"/>
    <dgm:cxn modelId="{661B5935-5D36-1448-A281-404375D34919}" type="presOf" srcId="{E42CD1A5-3AD0-774A-8E9D-F1E11172EFD7}" destId="{03C502F8-A858-FC44-9EBA-F09ED388A4F5}" srcOrd="0" destOrd="0" presId="urn:microsoft.com/office/officeart/2005/8/layout/hierarchy1"/>
    <dgm:cxn modelId="{D6A61340-3777-A94B-A56F-6FD50297EF48}" srcId="{9EE0B396-88A5-C446-A9DA-C142878CF25E}" destId="{9E2E4F1C-D092-524E-A4F4-0BF2C7F8096E}" srcOrd="0" destOrd="0" parTransId="{D499F05E-9039-1D4F-9DEC-59AB7497D428}" sibTransId="{B9B0821A-6B85-E14B-8F61-8B456DD1E177}"/>
    <dgm:cxn modelId="{2BD0D141-3078-044C-A9FA-944EF4482C72}" type="presOf" srcId="{52068A9C-94BF-5F43-9513-AEE471E86B97}" destId="{66CF74FE-7C99-B147-94AD-327B0056B130}" srcOrd="0" destOrd="0" presId="urn:microsoft.com/office/officeart/2005/8/layout/hierarchy1"/>
    <dgm:cxn modelId="{83398243-CF57-F34E-9F66-04934C360F13}" type="presOf" srcId="{A45DBCFB-C194-A74B-833C-964515412432}" destId="{9C348023-2CFE-404D-84C4-617142D96F46}" srcOrd="0" destOrd="0" presId="urn:microsoft.com/office/officeart/2005/8/layout/hierarchy1"/>
    <dgm:cxn modelId="{1442A053-F0BC-7E47-9883-8497A634EC07}" type="presOf" srcId="{9EE0B396-88A5-C446-A9DA-C142878CF25E}" destId="{E7D1A8F5-82B3-3D4D-B2BB-8402CE6DF5DF}" srcOrd="0" destOrd="0" presId="urn:microsoft.com/office/officeart/2005/8/layout/hierarchy1"/>
    <dgm:cxn modelId="{0B925E84-7A37-AA45-9E75-CC735BBC6A02}" type="presOf" srcId="{3DEA17B4-0A08-9142-A8EA-2B30A62028A9}" destId="{FAB3ABC9-CE51-6E46-A582-477033F7909E}" srcOrd="0" destOrd="0" presId="urn:microsoft.com/office/officeart/2005/8/layout/hierarchy1"/>
    <dgm:cxn modelId="{986688B5-ECBE-0945-BEBF-FB278D4804D4}" type="presOf" srcId="{D499F05E-9039-1D4F-9DEC-59AB7497D428}" destId="{959669F8-0B44-7F4A-BE1E-E4EDB174AE9B}" srcOrd="0" destOrd="0" presId="urn:microsoft.com/office/officeart/2005/8/layout/hierarchy1"/>
    <dgm:cxn modelId="{D641C5BD-0D8D-EA49-A38A-8B2D104A6201}" type="presOf" srcId="{689DC02B-2816-5D40-9029-D900346D9154}" destId="{83175078-7932-F44A-9E39-84D1EDA4A644}" srcOrd="0" destOrd="0" presId="urn:microsoft.com/office/officeart/2005/8/layout/hierarchy1"/>
    <dgm:cxn modelId="{F2F6C6C3-BF24-3449-9791-4901337BD84A}" srcId="{52068A9C-94BF-5F43-9513-AEE471E86B97}" destId="{9EE0B396-88A5-C446-A9DA-C142878CF25E}" srcOrd="1" destOrd="0" parTransId="{9908A658-0666-AE44-9862-45C8F0943437}" sibTransId="{B06F97F8-7990-DE4A-B6AE-C5C028698B64}"/>
    <dgm:cxn modelId="{129B26C9-3D1B-1E4F-9218-1A6F4A033514}" srcId="{A45DBCFB-C194-A74B-833C-964515412432}" destId="{52068A9C-94BF-5F43-9513-AEE471E86B97}" srcOrd="0" destOrd="0" parTransId="{B97D859C-44BC-6049-91D5-CE34D36757AA}" sibTransId="{D41AF72F-78E0-FE41-B0A0-797798B63222}"/>
    <dgm:cxn modelId="{1B6F3FE9-BEA0-0244-8712-3F7B3E480893}" srcId="{86710346-DBC2-A14D-9175-42A625E18F03}" destId="{E42CD1A5-3AD0-774A-8E9D-F1E11172EFD7}" srcOrd="0" destOrd="0" parTransId="{689DC02B-2816-5D40-9029-D900346D9154}" sibTransId="{838F0615-7F48-454B-B321-502E874BBEE0}"/>
    <dgm:cxn modelId="{15EC9AEB-196F-1E4B-800C-565697245EFF}" srcId="{52068A9C-94BF-5F43-9513-AEE471E86B97}" destId="{86710346-DBC2-A14D-9175-42A625E18F03}" srcOrd="0" destOrd="0" parTransId="{3DEA17B4-0A08-9142-A8EA-2B30A62028A9}" sibTransId="{B935FCB2-AE4B-1E4A-8056-C6E1F4A72C5A}"/>
    <dgm:cxn modelId="{DC0DE4B7-821C-434A-A062-B53081E12996}" type="presParOf" srcId="{9C348023-2CFE-404D-84C4-617142D96F46}" destId="{178F531F-4CEB-2E46-A30C-CA632D0374D7}" srcOrd="0" destOrd="0" presId="urn:microsoft.com/office/officeart/2005/8/layout/hierarchy1"/>
    <dgm:cxn modelId="{B59B5469-7218-D94F-8C0D-511D59CA2AC8}" type="presParOf" srcId="{178F531F-4CEB-2E46-A30C-CA632D0374D7}" destId="{E181698B-AD00-EC48-AEC0-9ED3A9DDAB4C}" srcOrd="0" destOrd="0" presId="urn:microsoft.com/office/officeart/2005/8/layout/hierarchy1"/>
    <dgm:cxn modelId="{AB8A9873-B702-AA4E-A1B0-D6B8C1C6EAB5}" type="presParOf" srcId="{E181698B-AD00-EC48-AEC0-9ED3A9DDAB4C}" destId="{E9E6A144-BDA8-8445-95FE-B4DEFF1353E5}" srcOrd="0" destOrd="0" presId="urn:microsoft.com/office/officeart/2005/8/layout/hierarchy1"/>
    <dgm:cxn modelId="{BB23A93D-E100-8C41-8A9B-CCA9B6967DFB}" type="presParOf" srcId="{E181698B-AD00-EC48-AEC0-9ED3A9DDAB4C}" destId="{66CF74FE-7C99-B147-94AD-327B0056B130}" srcOrd="1" destOrd="0" presId="urn:microsoft.com/office/officeart/2005/8/layout/hierarchy1"/>
    <dgm:cxn modelId="{B3F95B38-0768-6544-9040-8F5FD57CAA39}" type="presParOf" srcId="{178F531F-4CEB-2E46-A30C-CA632D0374D7}" destId="{A62D6F1B-AF0D-054C-A263-5240D99CFC02}" srcOrd="1" destOrd="0" presId="urn:microsoft.com/office/officeart/2005/8/layout/hierarchy1"/>
    <dgm:cxn modelId="{7CF29D25-8ED5-C045-B57E-F4D1262F551E}" type="presParOf" srcId="{A62D6F1B-AF0D-054C-A263-5240D99CFC02}" destId="{FAB3ABC9-CE51-6E46-A582-477033F7909E}" srcOrd="0" destOrd="0" presId="urn:microsoft.com/office/officeart/2005/8/layout/hierarchy1"/>
    <dgm:cxn modelId="{33A2A22F-62BB-094F-9A9C-D8B4EB7002AF}" type="presParOf" srcId="{A62D6F1B-AF0D-054C-A263-5240D99CFC02}" destId="{ADCE56BC-B51A-644D-8703-0D1BBBF001DB}" srcOrd="1" destOrd="0" presId="urn:microsoft.com/office/officeart/2005/8/layout/hierarchy1"/>
    <dgm:cxn modelId="{7D9EB3F5-D6BE-074A-8464-B9B5FD52655C}" type="presParOf" srcId="{ADCE56BC-B51A-644D-8703-0D1BBBF001DB}" destId="{E161B099-77F9-FD43-9A4D-697DBB1A9DB9}" srcOrd="0" destOrd="0" presId="urn:microsoft.com/office/officeart/2005/8/layout/hierarchy1"/>
    <dgm:cxn modelId="{BED6681D-C250-0F45-9139-7D752834095A}" type="presParOf" srcId="{E161B099-77F9-FD43-9A4D-697DBB1A9DB9}" destId="{28CE6EFF-FA06-4A40-A514-B15AF719A036}" srcOrd="0" destOrd="0" presId="urn:microsoft.com/office/officeart/2005/8/layout/hierarchy1"/>
    <dgm:cxn modelId="{D625127F-E123-0C46-B78B-A0C8038A6E73}" type="presParOf" srcId="{E161B099-77F9-FD43-9A4D-697DBB1A9DB9}" destId="{36F1355C-6C7A-3F4E-9338-F578F474E3F6}" srcOrd="1" destOrd="0" presId="urn:microsoft.com/office/officeart/2005/8/layout/hierarchy1"/>
    <dgm:cxn modelId="{C9E2E91D-BB70-6541-9521-FE3F55A04D78}" type="presParOf" srcId="{ADCE56BC-B51A-644D-8703-0D1BBBF001DB}" destId="{E902744D-6C91-704E-96B1-839C1E5C0A71}" srcOrd="1" destOrd="0" presId="urn:microsoft.com/office/officeart/2005/8/layout/hierarchy1"/>
    <dgm:cxn modelId="{3026D4FF-5CB2-D747-8FF0-D89BC8B1EE10}" type="presParOf" srcId="{E902744D-6C91-704E-96B1-839C1E5C0A71}" destId="{83175078-7932-F44A-9E39-84D1EDA4A644}" srcOrd="0" destOrd="0" presId="urn:microsoft.com/office/officeart/2005/8/layout/hierarchy1"/>
    <dgm:cxn modelId="{E1A47D71-D336-B64D-B12F-932A88B88D12}" type="presParOf" srcId="{E902744D-6C91-704E-96B1-839C1E5C0A71}" destId="{61C18124-325C-E041-99FB-17EB84ABFD43}" srcOrd="1" destOrd="0" presId="urn:microsoft.com/office/officeart/2005/8/layout/hierarchy1"/>
    <dgm:cxn modelId="{DA937FD5-C63E-A245-BDCB-278495DAF904}" type="presParOf" srcId="{61C18124-325C-E041-99FB-17EB84ABFD43}" destId="{2223441E-B806-FF44-B6FC-99CA6BC2D18C}" srcOrd="0" destOrd="0" presId="urn:microsoft.com/office/officeart/2005/8/layout/hierarchy1"/>
    <dgm:cxn modelId="{CF393A92-706D-B345-9355-CDB803A8D06F}" type="presParOf" srcId="{2223441E-B806-FF44-B6FC-99CA6BC2D18C}" destId="{61509F13-ECF5-824E-AB0E-238E43561F9B}" srcOrd="0" destOrd="0" presId="urn:microsoft.com/office/officeart/2005/8/layout/hierarchy1"/>
    <dgm:cxn modelId="{CD49245A-654F-5344-95BB-E819476BA9C9}" type="presParOf" srcId="{2223441E-B806-FF44-B6FC-99CA6BC2D18C}" destId="{03C502F8-A858-FC44-9EBA-F09ED388A4F5}" srcOrd="1" destOrd="0" presId="urn:microsoft.com/office/officeart/2005/8/layout/hierarchy1"/>
    <dgm:cxn modelId="{3468C7DE-6A59-EA4F-A9D6-B3AB347646E1}" type="presParOf" srcId="{61C18124-325C-E041-99FB-17EB84ABFD43}" destId="{CD615948-73BA-CE4B-8051-DFD53B3B0E6E}" srcOrd="1" destOrd="0" presId="urn:microsoft.com/office/officeart/2005/8/layout/hierarchy1"/>
    <dgm:cxn modelId="{4E93B43A-14E2-E745-AADF-864773801BF5}" type="presParOf" srcId="{A62D6F1B-AF0D-054C-A263-5240D99CFC02}" destId="{7B165121-B4DA-3D41-B59D-340BEFD6B021}" srcOrd="2" destOrd="0" presId="urn:microsoft.com/office/officeart/2005/8/layout/hierarchy1"/>
    <dgm:cxn modelId="{5CB5EF8E-0605-B941-8C36-079413D70A82}" type="presParOf" srcId="{A62D6F1B-AF0D-054C-A263-5240D99CFC02}" destId="{0F9ACB6B-394F-614A-9640-DF391012056F}" srcOrd="3" destOrd="0" presId="urn:microsoft.com/office/officeart/2005/8/layout/hierarchy1"/>
    <dgm:cxn modelId="{8A9FBDA7-6F18-484C-90BC-0DC2D306CC24}" type="presParOf" srcId="{0F9ACB6B-394F-614A-9640-DF391012056F}" destId="{20B140E6-0299-E244-979A-2390721DBC25}" srcOrd="0" destOrd="0" presId="urn:microsoft.com/office/officeart/2005/8/layout/hierarchy1"/>
    <dgm:cxn modelId="{8E804764-A691-6A44-895A-500ADCFC24E3}" type="presParOf" srcId="{20B140E6-0299-E244-979A-2390721DBC25}" destId="{C014E9E6-13FA-5444-9BC3-3D89E8915179}" srcOrd="0" destOrd="0" presId="urn:microsoft.com/office/officeart/2005/8/layout/hierarchy1"/>
    <dgm:cxn modelId="{AD03AAE2-7C41-B549-BCC2-EEBAB6756075}" type="presParOf" srcId="{20B140E6-0299-E244-979A-2390721DBC25}" destId="{E7D1A8F5-82B3-3D4D-B2BB-8402CE6DF5DF}" srcOrd="1" destOrd="0" presId="urn:microsoft.com/office/officeart/2005/8/layout/hierarchy1"/>
    <dgm:cxn modelId="{01DDDEEE-81B1-D646-8B7B-9702F9352E8E}" type="presParOf" srcId="{0F9ACB6B-394F-614A-9640-DF391012056F}" destId="{3336881A-8E9F-984F-9871-05E190F8CF30}" srcOrd="1" destOrd="0" presId="urn:microsoft.com/office/officeart/2005/8/layout/hierarchy1"/>
    <dgm:cxn modelId="{E26BCC7C-D817-2442-9D21-A534F927234E}" type="presParOf" srcId="{3336881A-8E9F-984F-9871-05E190F8CF30}" destId="{959669F8-0B44-7F4A-BE1E-E4EDB174AE9B}" srcOrd="0" destOrd="0" presId="urn:microsoft.com/office/officeart/2005/8/layout/hierarchy1"/>
    <dgm:cxn modelId="{C47B739A-325F-3A45-AECE-E537988E3928}" type="presParOf" srcId="{3336881A-8E9F-984F-9871-05E190F8CF30}" destId="{82472A6C-D4AA-E64C-927D-2B09476DCA2B}" srcOrd="1" destOrd="0" presId="urn:microsoft.com/office/officeart/2005/8/layout/hierarchy1"/>
    <dgm:cxn modelId="{FED0D4AD-6F8E-544D-B3B8-88AB931B25E4}" type="presParOf" srcId="{82472A6C-D4AA-E64C-927D-2B09476DCA2B}" destId="{51749F20-E656-C042-AD50-4A09706514B0}" srcOrd="0" destOrd="0" presId="urn:microsoft.com/office/officeart/2005/8/layout/hierarchy1"/>
    <dgm:cxn modelId="{8303292A-7E88-DE48-B210-3906C6C4AB1A}" type="presParOf" srcId="{51749F20-E656-C042-AD50-4A09706514B0}" destId="{9DE444D1-71C7-6D47-8D20-D17B0958CE50}" srcOrd="0" destOrd="0" presId="urn:microsoft.com/office/officeart/2005/8/layout/hierarchy1"/>
    <dgm:cxn modelId="{F134A8C5-6318-7F49-A4B9-BF974BDFA887}" type="presParOf" srcId="{51749F20-E656-C042-AD50-4A09706514B0}" destId="{076EFA28-0F84-924A-99EB-2F55769FB300}" srcOrd="1" destOrd="0" presId="urn:microsoft.com/office/officeart/2005/8/layout/hierarchy1"/>
    <dgm:cxn modelId="{DF531D8C-8359-C345-97C4-BEB7BEAD8720}" type="presParOf" srcId="{82472A6C-D4AA-E64C-927D-2B09476DCA2B}" destId="{8CE5404A-7CC4-2D4C-A1DF-21FCC9742653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DB53820-D5A9-1349-A27B-C9BB70BFD6DD}" type="doc">
      <dgm:prSet loTypeId="urn:microsoft.com/office/officeart/2005/8/layout/hList1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7DAFA56-3069-234C-BD5F-AB86F55666EF}">
      <dgm:prSet phldrT="[Text]" custT="1"/>
      <dgm:spPr>
        <a:solidFill>
          <a:schemeClr val="accent6">
            <a:lumMod val="75000"/>
          </a:schemeClr>
        </a:solidFill>
        <a:ln>
          <a:solidFill>
            <a:schemeClr val="accent6">
              <a:lumMod val="75000"/>
            </a:schemeClr>
          </a:solidFill>
        </a:ln>
      </dgm:spPr>
      <dgm:t>
        <a:bodyPr/>
        <a:lstStyle/>
        <a:p>
          <a:r>
            <a:rPr lang="en-US" sz="2800" dirty="0"/>
            <a:t>Key elements:</a:t>
          </a:r>
        </a:p>
      </dgm:t>
    </dgm:pt>
    <dgm:pt modelId="{F65566DA-B831-544F-9E0A-A667CCC167A7}" type="parTrans" cxnId="{618286C5-FEE5-9F4D-815C-89108399BEEC}">
      <dgm:prSet/>
      <dgm:spPr/>
      <dgm:t>
        <a:bodyPr/>
        <a:lstStyle/>
        <a:p>
          <a:endParaRPr lang="en-US" sz="2000"/>
        </a:p>
      </dgm:t>
    </dgm:pt>
    <dgm:pt modelId="{7AFC4214-2D5D-9944-B27F-1E15D1583C9D}" type="sibTrans" cxnId="{618286C5-FEE5-9F4D-815C-89108399BEEC}">
      <dgm:prSet/>
      <dgm:spPr/>
      <dgm:t>
        <a:bodyPr/>
        <a:lstStyle/>
        <a:p>
          <a:endParaRPr lang="en-US" sz="2000"/>
        </a:p>
      </dgm:t>
    </dgm:pt>
    <dgm:pt modelId="{07D0407B-8F6B-C445-BF5B-38313ED283A4}">
      <dgm:prSet custT="1"/>
      <dgm:spPr>
        <a:ln>
          <a:solidFill>
            <a:schemeClr val="accent6">
              <a:lumMod val="75000"/>
            </a:schemeClr>
          </a:solidFill>
        </a:ln>
      </dgm:spPr>
      <dgm:t>
        <a:bodyPr/>
        <a:lstStyle/>
        <a:p>
          <a:r>
            <a:rPr lang="en-US" sz="2800" dirty="0"/>
            <a:t>criteria used to determine resident set size</a:t>
          </a:r>
        </a:p>
      </dgm:t>
    </dgm:pt>
    <dgm:pt modelId="{D673FA42-DC94-5348-9EED-1E341D619709}" type="parTrans" cxnId="{140C6F15-0E20-2645-815A-848153864EFA}">
      <dgm:prSet/>
      <dgm:spPr/>
      <dgm:t>
        <a:bodyPr/>
        <a:lstStyle/>
        <a:p>
          <a:endParaRPr lang="en-US" sz="2000"/>
        </a:p>
      </dgm:t>
    </dgm:pt>
    <dgm:pt modelId="{951A6AC4-7894-6343-ABB4-BDF2D3F45529}" type="sibTrans" cxnId="{140C6F15-0E20-2645-815A-848153864EFA}">
      <dgm:prSet/>
      <dgm:spPr/>
      <dgm:t>
        <a:bodyPr/>
        <a:lstStyle/>
        <a:p>
          <a:endParaRPr lang="en-US" sz="2000"/>
        </a:p>
      </dgm:t>
    </dgm:pt>
    <dgm:pt modelId="{0DE43954-B597-D64B-AEBF-3E4DA261EF5D}">
      <dgm:prSet custT="1"/>
      <dgm:spPr>
        <a:ln>
          <a:solidFill>
            <a:schemeClr val="accent6">
              <a:lumMod val="75000"/>
            </a:schemeClr>
          </a:solidFill>
        </a:ln>
      </dgm:spPr>
      <dgm:t>
        <a:bodyPr/>
        <a:lstStyle/>
        <a:p>
          <a:r>
            <a:rPr lang="en-US" sz="2800"/>
            <a:t>the timing of changes</a:t>
          </a:r>
          <a:endParaRPr lang="en-US" sz="2800" dirty="0"/>
        </a:p>
      </dgm:t>
    </dgm:pt>
    <dgm:pt modelId="{0A2D8999-7CAB-0C4B-88B8-D0E54131B084}" type="parTrans" cxnId="{967CCB4B-FA22-0E42-913E-1981D739EFBB}">
      <dgm:prSet/>
      <dgm:spPr/>
      <dgm:t>
        <a:bodyPr/>
        <a:lstStyle/>
        <a:p>
          <a:endParaRPr lang="en-US" sz="2000"/>
        </a:p>
      </dgm:t>
    </dgm:pt>
    <dgm:pt modelId="{6E23EC2A-6445-6A48-92DD-FD90C12E6250}" type="sibTrans" cxnId="{967CCB4B-FA22-0E42-913E-1981D739EFBB}">
      <dgm:prSet/>
      <dgm:spPr/>
      <dgm:t>
        <a:bodyPr/>
        <a:lstStyle/>
        <a:p>
          <a:endParaRPr lang="en-US" sz="2000"/>
        </a:p>
      </dgm:t>
    </dgm:pt>
    <dgm:pt modelId="{A74C4E7E-E8A0-1246-AC91-829E9BCB71EF}" type="pres">
      <dgm:prSet presAssocID="{0DB53820-D5A9-1349-A27B-C9BB70BFD6DD}" presName="Name0" presStyleCnt="0">
        <dgm:presLayoutVars>
          <dgm:dir/>
          <dgm:animLvl val="lvl"/>
          <dgm:resizeHandles val="exact"/>
        </dgm:presLayoutVars>
      </dgm:prSet>
      <dgm:spPr/>
    </dgm:pt>
    <dgm:pt modelId="{67E56C3A-0D78-2740-8273-067E9BCFCF7E}" type="pres">
      <dgm:prSet presAssocID="{C7DAFA56-3069-234C-BD5F-AB86F55666EF}" presName="composite" presStyleCnt="0"/>
      <dgm:spPr/>
    </dgm:pt>
    <dgm:pt modelId="{3FAF2BDB-E606-BE4B-9958-F3815124EAC3}" type="pres">
      <dgm:prSet presAssocID="{C7DAFA56-3069-234C-BD5F-AB86F55666EF}" presName="parTx" presStyleLbl="alignNode1" presStyleIdx="0" presStyleCnt="1">
        <dgm:presLayoutVars>
          <dgm:chMax val="0"/>
          <dgm:chPref val="0"/>
          <dgm:bulletEnabled val="1"/>
        </dgm:presLayoutVars>
      </dgm:prSet>
      <dgm:spPr/>
    </dgm:pt>
    <dgm:pt modelId="{25034D7D-D624-D24B-AAFC-BA38220880F1}" type="pres">
      <dgm:prSet presAssocID="{C7DAFA56-3069-234C-BD5F-AB86F55666EF}" presName="desTx" presStyleLbl="alignAccFollowNode1" presStyleIdx="0" presStyleCnt="1">
        <dgm:presLayoutVars>
          <dgm:bulletEnabled val="1"/>
        </dgm:presLayoutVars>
      </dgm:prSet>
      <dgm:spPr/>
    </dgm:pt>
  </dgm:ptLst>
  <dgm:cxnLst>
    <dgm:cxn modelId="{140C6F15-0E20-2645-815A-848153864EFA}" srcId="{C7DAFA56-3069-234C-BD5F-AB86F55666EF}" destId="{07D0407B-8F6B-C445-BF5B-38313ED283A4}" srcOrd="0" destOrd="0" parTransId="{D673FA42-DC94-5348-9EED-1E341D619709}" sibTransId="{951A6AC4-7894-6343-ABB4-BDF2D3F45529}"/>
    <dgm:cxn modelId="{967CCB4B-FA22-0E42-913E-1981D739EFBB}" srcId="{C7DAFA56-3069-234C-BD5F-AB86F55666EF}" destId="{0DE43954-B597-D64B-AEBF-3E4DA261EF5D}" srcOrd="1" destOrd="0" parTransId="{0A2D8999-7CAB-0C4B-88B8-D0E54131B084}" sibTransId="{6E23EC2A-6445-6A48-92DD-FD90C12E6250}"/>
    <dgm:cxn modelId="{5C3EEC54-0F26-1E4F-B235-D7ACE84B653A}" type="presOf" srcId="{07D0407B-8F6B-C445-BF5B-38313ED283A4}" destId="{25034D7D-D624-D24B-AAFC-BA38220880F1}" srcOrd="0" destOrd="0" presId="urn:microsoft.com/office/officeart/2005/8/layout/hList1"/>
    <dgm:cxn modelId="{6C22E27B-235D-C04C-A3FA-2C990DDDA025}" type="presOf" srcId="{C7DAFA56-3069-234C-BD5F-AB86F55666EF}" destId="{3FAF2BDB-E606-BE4B-9958-F3815124EAC3}" srcOrd="0" destOrd="0" presId="urn:microsoft.com/office/officeart/2005/8/layout/hList1"/>
    <dgm:cxn modelId="{618286C5-FEE5-9F4D-815C-89108399BEEC}" srcId="{0DB53820-D5A9-1349-A27B-C9BB70BFD6DD}" destId="{C7DAFA56-3069-234C-BD5F-AB86F55666EF}" srcOrd="0" destOrd="0" parTransId="{F65566DA-B831-544F-9E0A-A667CCC167A7}" sibTransId="{7AFC4214-2D5D-9944-B27F-1E15D1583C9D}"/>
    <dgm:cxn modelId="{F06CEEDD-F87E-2B4D-A562-E8378E619824}" type="presOf" srcId="{0DE43954-B597-D64B-AEBF-3E4DA261EF5D}" destId="{25034D7D-D624-D24B-AAFC-BA38220880F1}" srcOrd="0" destOrd="1" presId="urn:microsoft.com/office/officeart/2005/8/layout/hList1"/>
    <dgm:cxn modelId="{1BDEBADF-469B-BD4D-8B1B-BE1B5E08361E}" type="presOf" srcId="{0DB53820-D5A9-1349-A27B-C9BB70BFD6DD}" destId="{A74C4E7E-E8A0-1246-AC91-829E9BCB71EF}" srcOrd="0" destOrd="0" presId="urn:microsoft.com/office/officeart/2005/8/layout/hList1"/>
    <dgm:cxn modelId="{D22DD9B6-1414-9C4B-88D9-DA67B49F0CBA}" type="presParOf" srcId="{A74C4E7E-E8A0-1246-AC91-829E9BCB71EF}" destId="{67E56C3A-0D78-2740-8273-067E9BCFCF7E}" srcOrd="0" destOrd="0" presId="urn:microsoft.com/office/officeart/2005/8/layout/hList1"/>
    <dgm:cxn modelId="{F3FC5D35-5D9B-3C4E-B26E-200EB4D2CBFD}" type="presParOf" srcId="{67E56C3A-0D78-2740-8273-067E9BCFCF7E}" destId="{3FAF2BDB-E606-BE4B-9958-F3815124EAC3}" srcOrd="0" destOrd="0" presId="urn:microsoft.com/office/officeart/2005/8/layout/hList1"/>
    <dgm:cxn modelId="{595EC5C4-3F84-F44F-BF17-C7B0DC0F102B}" type="presParOf" srcId="{67E56C3A-0D78-2740-8273-067E9BCFCF7E}" destId="{25034D7D-D624-D24B-AAFC-BA38220880F1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7D2CDED-EA25-D245-9A3E-EE424E47FA09}">
      <dsp:nvSpPr>
        <dsp:cNvPr id="0" name=""/>
        <dsp:cNvSpPr/>
      </dsp:nvSpPr>
      <dsp:spPr>
        <a:xfrm>
          <a:off x="1249486" y="190698"/>
          <a:ext cx="1920626" cy="128041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/>
            <a:t>Two main types:</a:t>
          </a:r>
        </a:p>
      </dsp:txBody>
      <dsp:txXfrm>
        <a:off x="1286988" y="228200"/>
        <a:ext cx="1845622" cy="1205413"/>
      </dsp:txXfrm>
    </dsp:sp>
    <dsp:sp modelId="{7FC00B2B-D0BE-C64D-B097-B67C2E9E9C42}">
      <dsp:nvSpPr>
        <dsp:cNvPr id="0" name=""/>
        <dsp:cNvSpPr/>
      </dsp:nvSpPr>
      <dsp:spPr>
        <a:xfrm>
          <a:off x="961392" y="1471116"/>
          <a:ext cx="1248407" cy="512167"/>
        </a:xfrm>
        <a:custGeom>
          <a:avLst/>
          <a:gdLst/>
          <a:ahLst/>
          <a:cxnLst/>
          <a:rect l="0" t="0" r="0" b="0"/>
          <a:pathLst>
            <a:path>
              <a:moveTo>
                <a:pt x="1248407" y="0"/>
              </a:moveTo>
              <a:lnTo>
                <a:pt x="1248407" y="256083"/>
              </a:lnTo>
              <a:lnTo>
                <a:pt x="0" y="256083"/>
              </a:lnTo>
              <a:lnTo>
                <a:pt x="0" y="512167"/>
              </a:lnTo>
            </a:path>
          </a:pathLst>
        </a:custGeom>
        <a:noFill/>
        <a:ln w="63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27BAF8F-2698-424F-B03A-2E28D1896C52}">
      <dsp:nvSpPr>
        <dsp:cNvPr id="0" name=""/>
        <dsp:cNvSpPr/>
      </dsp:nvSpPr>
      <dsp:spPr>
        <a:xfrm>
          <a:off x="1079" y="1983283"/>
          <a:ext cx="1920626" cy="128041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/>
            <a:t>Demand Paging </a:t>
          </a:r>
        </a:p>
      </dsp:txBody>
      <dsp:txXfrm>
        <a:off x="38581" y="2020785"/>
        <a:ext cx="1845622" cy="1205413"/>
      </dsp:txXfrm>
    </dsp:sp>
    <dsp:sp modelId="{91D0E1FC-3442-2845-AFA8-8E8BBBCA9554}">
      <dsp:nvSpPr>
        <dsp:cNvPr id="0" name=""/>
        <dsp:cNvSpPr/>
      </dsp:nvSpPr>
      <dsp:spPr>
        <a:xfrm>
          <a:off x="2209800" y="1471116"/>
          <a:ext cx="1248407" cy="51216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56083"/>
              </a:lnTo>
              <a:lnTo>
                <a:pt x="1248407" y="256083"/>
              </a:lnTo>
              <a:lnTo>
                <a:pt x="1248407" y="512167"/>
              </a:lnTo>
            </a:path>
          </a:pathLst>
        </a:custGeom>
        <a:noFill/>
        <a:ln w="63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43A2062-4385-2E48-AA5A-BF53FA94A158}">
      <dsp:nvSpPr>
        <dsp:cNvPr id="0" name=""/>
        <dsp:cNvSpPr/>
      </dsp:nvSpPr>
      <dsp:spPr>
        <a:xfrm>
          <a:off x="2497894" y="1983283"/>
          <a:ext cx="1920626" cy="128041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 err="1"/>
            <a:t>Prepaging</a:t>
          </a:r>
          <a:endParaRPr lang="en-US" sz="3100" kern="1200" dirty="0"/>
        </a:p>
      </dsp:txBody>
      <dsp:txXfrm>
        <a:off x="2535396" y="2020785"/>
        <a:ext cx="1845622" cy="120541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9669F8-0B44-7F4A-BE1E-E4EDB174AE9B}">
      <dsp:nvSpPr>
        <dsp:cNvPr id="0" name=""/>
        <dsp:cNvSpPr/>
      </dsp:nvSpPr>
      <dsp:spPr>
        <a:xfrm>
          <a:off x="6648846" y="2584592"/>
          <a:ext cx="91440" cy="481523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481523"/>
              </a:lnTo>
            </a:path>
          </a:pathLst>
        </a:custGeom>
        <a:noFill/>
        <a:ln w="63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B165121-B4DA-3D41-B59D-340BEFD6B021}">
      <dsp:nvSpPr>
        <dsp:cNvPr id="0" name=""/>
        <dsp:cNvSpPr/>
      </dsp:nvSpPr>
      <dsp:spPr>
        <a:xfrm>
          <a:off x="4756878" y="1051719"/>
          <a:ext cx="1937687" cy="48152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28144"/>
              </a:lnTo>
              <a:lnTo>
                <a:pt x="1937687" y="328144"/>
              </a:lnTo>
              <a:lnTo>
                <a:pt x="1937687" y="481523"/>
              </a:lnTo>
            </a:path>
          </a:pathLst>
        </a:custGeom>
        <a:noFill/>
        <a:ln w="63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3175078-7932-F44A-9E39-84D1EDA4A644}">
      <dsp:nvSpPr>
        <dsp:cNvPr id="0" name=""/>
        <dsp:cNvSpPr/>
      </dsp:nvSpPr>
      <dsp:spPr>
        <a:xfrm>
          <a:off x="2773470" y="2584592"/>
          <a:ext cx="91440" cy="481523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481523"/>
              </a:lnTo>
            </a:path>
          </a:pathLst>
        </a:custGeom>
        <a:noFill/>
        <a:ln w="63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AB3ABC9-CE51-6E46-A582-477033F7909E}">
      <dsp:nvSpPr>
        <dsp:cNvPr id="0" name=""/>
        <dsp:cNvSpPr/>
      </dsp:nvSpPr>
      <dsp:spPr>
        <a:xfrm>
          <a:off x="2819190" y="1051719"/>
          <a:ext cx="1937687" cy="481523"/>
        </a:xfrm>
        <a:custGeom>
          <a:avLst/>
          <a:gdLst/>
          <a:ahLst/>
          <a:cxnLst/>
          <a:rect l="0" t="0" r="0" b="0"/>
          <a:pathLst>
            <a:path>
              <a:moveTo>
                <a:pt x="1937687" y="0"/>
              </a:moveTo>
              <a:lnTo>
                <a:pt x="1937687" y="328144"/>
              </a:lnTo>
              <a:lnTo>
                <a:pt x="0" y="328144"/>
              </a:lnTo>
              <a:lnTo>
                <a:pt x="0" y="481523"/>
              </a:lnTo>
            </a:path>
          </a:pathLst>
        </a:custGeom>
        <a:noFill/>
        <a:ln w="63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9E6A144-BDA8-8445-95FE-B4DEFF1353E5}">
      <dsp:nvSpPr>
        <dsp:cNvPr id="0" name=""/>
        <dsp:cNvSpPr/>
      </dsp:nvSpPr>
      <dsp:spPr>
        <a:xfrm>
          <a:off x="3003153" y="370"/>
          <a:ext cx="3507449" cy="105134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6CF74FE-7C99-B147-94AD-327B0056B130}">
      <dsp:nvSpPr>
        <dsp:cNvPr id="0" name=""/>
        <dsp:cNvSpPr/>
      </dsp:nvSpPr>
      <dsp:spPr>
        <a:xfrm>
          <a:off x="3187116" y="175135"/>
          <a:ext cx="3507449" cy="105134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A replaced page is not lost, but rather assigned to one of two lists:</a:t>
          </a:r>
        </a:p>
      </dsp:txBody>
      <dsp:txXfrm>
        <a:off x="3217909" y="205928"/>
        <a:ext cx="3445863" cy="989763"/>
      </dsp:txXfrm>
    </dsp:sp>
    <dsp:sp modelId="{28CE6EFF-FA06-4A40-A514-B15AF719A036}">
      <dsp:nvSpPr>
        <dsp:cNvPr id="0" name=""/>
        <dsp:cNvSpPr/>
      </dsp:nvSpPr>
      <dsp:spPr>
        <a:xfrm>
          <a:off x="1065465" y="1533242"/>
          <a:ext cx="3507449" cy="105134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6F1355C-6C7A-3F4E-9338-F578F474E3F6}">
      <dsp:nvSpPr>
        <dsp:cNvPr id="0" name=""/>
        <dsp:cNvSpPr/>
      </dsp:nvSpPr>
      <dsp:spPr>
        <a:xfrm>
          <a:off x="1249428" y="1708007"/>
          <a:ext cx="3507449" cy="105134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Free page list</a:t>
          </a:r>
          <a:endParaRPr lang="en-US" sz="2400" kern="1200" dirty="0"/>
        </a:p>
      </dsp:txBody>
      <dsp:txXfrm>
        <a:off x="1280221" y="1738800"/>
        <a:ext cx="3445863" cy="989763"/>
      </dsp:txXfrm>
    </dsp:sp>
    <dsp:sp modelId="{61509F13-ECF5-824E-AB0E-238E43561F9B}">
      <dsp:nvSpPr>
        <dsp:cNvPr id="0" name=""/>
        <dsp:cNvSpPr/>
      </dsp:nvSpPr>
      <dsp:spPr>
        <a:xfrm>
          <a:off x="1065465" y="3066115"/>
          <a:ext cx="3507449" cy="105134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3C502F8-A858-FC44-9EBA-F09ED388A4F5}">
      <dsp:nvSpPr>
        <dsp:cNvPr id="0" name=""/>
        <dsp:cNvSpPr/>
      </dsp:nvSpPr>
      <dsp:spPr>
        <a:xfrm>
          <a:off x="1249428" y="3240880"/>
          <a:ext cx="3507449" cy="105134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list of page frames available for reading in pages</a:t>
          </a:r>
        </a:p>
      </dsp:txBody>
      <dsp:txXfrm>
        <a:off x="1280221" y="3271673"/>
        <a:ext cx="3445863" cy="989763"/>
      </dsp:txXfrm>
    </dsp:sp>
    <dsp:sp modelId="{C014E9E6-13FA-5444-9BC3-3D89E8915179}">
      <dsp:nvSpPr>
        <dsp:cNvPr id="0" name=""/>
        <dsp:cNvSpPr/>
      </dsp:nvSpPr>
      <dsp:spPr>
        <a:xfrm>
          <a:off x="4940841" y="1533242"/>
          <a:ext cx="3507449" cy="105134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7D1A8F5-82B3-3D4D-B2BB-8402CE6DF5DF}">
      <dsp:nvSpPr>
        <dsp:cNvPr id="0" name=""/>
        <dsp:cNvSpPr/>
      </dsp:nvSpPr>
      <dsp:spPr>
        <a:xfrm>
          <a:off x="5124804" y="1708007"/>
          <a:ext cx="3507449" cy="105134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Modified page list</a:t>
          </a:r>
        </a:p>
      </dsp:txBody>
      <dsp:txXfrm>
        <a:off x="5155597" y="1738800"/>
        <a:ext cx="3445863" cy="989763"/>
      </dsp:txXfrm>
    </dsp:sp>
    <dsp:sp modelId="{9DE444D1-71C7-6D47-8D20-D17B0958CE50}">
      <dsp:nvSpPr>
        <dsp:cNvPr id="0" name=""/>
        <dsp:cNvSpPr/>
      </dsp:nvSpPr>
      <dsp:spPr>
        <a:xfrm>
          <a:off x="4940841" y="3066115"/>
          <a:ext cx="3507449" cy="105134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76EFA28-0F84-924A-99EB-2F55769FB300}">
      <dsp:nvSpPr>
        <dsp:cNvPr id="0" name=""/>
        <dsp:cNvSpPr/>
      </dsp:nvSpPr>
      <dsp:spPr>
        <a:xfrm>
          <a:off x="5124804" y="3240880"/>
          <a:ext cx="3507449" cy="105134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pages are written out in clusters </a:t>
          </a:r>
          <a:endParaRPr lang="en-US" sz="2400" kern="1200" dirty="0"/>
        </a:p>
      </dsp:txBody>
      <dsp:txXfrm>
        <a:off x="5155597" y="3271673"/>
        <a:ext cx="3445863" cy="98976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FAF2BDB-E606-BE4B-9958-F3815124EAC3}">
      <dsp:nvSpPr>
        <dsp:cNvPr id="0" name=""/>
        <dsp:cNvSpPr/>
      </dsp:nvSpPr>
      <dsp:spPr>
        <a:xfrm>
          <a:off x="0" y="2434"/>
          <a:ext cx="4419600" cy="777600"/>
        </a:xfrm>
        <a:prstGeom prst="rect">
          <a:avLst/>
        </a:prstGeom>
        <a:solidFill>
          <a:schemeClr val="accent6">
            <a:lumMod val="75000"/>
          </a:schemeClr>
        </a:solidFill>
        <a:ln w="6350" cap="flat" cmpd="sng" algn="ctr">
          <a:solidFill>
            <a:schemeClr val="accent6">
              <a:lumMod val="7500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9136" tIns="113792" rIns="199136" bIns="113792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Key elements:</a:t>
          </a:r>
        </a:p>
      </dsp:txBody>
      <dsp:txXfrm>
        <a:off x="0" y="2434"/>
        <a:ext cx="4419600" cy="777600"/>
      </dsp:txXfrm>
    </dsp:sp>
    <dsp:sp modelId="{25034D7D-D624-D24B-AAFC-BA38220880F1}">
      <dsp:nvSpPr>
        <dsp:cNvPr id="0" name=""/>
        <dsp:cNvSpPr/>
      </dsp:nvSpPr>
      <dsp:spPr>
        <a:xfrm>
          <a:off x="0" y="780035"/>
          <a:ext cx="4419600" cy="163052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6">
              <a:lumMod val="7500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49352" rIns="199136" bIns="224028" numCol="1" spcCol="1270" anchor="t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kern="1200" dirty="0"/>
            <a:t>criteria used to determine resident set size</a:t>
          </a: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kern="1200"/>
            <a:t>the timing of changes</a:t>
          </a:r>
          <a:endParaRPr lang="en-US" sz="2800" kern="1200" dirty="0"/>
        </a:p>
      </dsp:txBody>
      <dsp:txXfrm>
        <a:off x="0" y="780035"/>
        <a:ext cx="4419600" cy="163052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6">
  <dgm:title val=""/>
  <dgm:desc val=""/>
  <dgm:catLst>
    <dgm:cat type="hierarchy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</dgm:ptLst>
      <dgm:cxnLst>
        <dgm:cxn modelId="7" srcId="0" destId="1" srcOrd="0" destOrd="0"/>
        <dgm:cxn modelId="8" srcId="1" destId="2" srcOrd="0" destOrd="0"/>
        <dgm:cxn modelId="9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10" srcId="0" destId="4" srcOrd="1" destOrd="0"/>
        <dgm:cxn modelId="11" srcId="0" destId="5" srcOrd="2" destOrd="0"/>
        <dgm:cxn modelId="12" srcId="0" destId="6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3"/>
      </dgm:ptLst>
      <dgm:cxnLst>
        <dgm:cxn modelId="4" srcId="0" destId="1" srcOrd="0" destOrd="0"/>
        <dgm:cxn modelId="13" srcId="1" destId="11" srcOrd="0" destOrd="0"/>
        <dgm:cxn modelId="14" srcId="1" destId="12" srcOrd="1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  <dgm:pt modelId="4"/>
        <dgm:pt modelId="5"/>
        <dgm:pt modelId="6"/>
        <dgm:pt modelId="7"/>
      </dgm:ptLst>
      <dgm:cxnLst>
        <dgm:cxn modelId="8" srcId="0" destId="1" srcOrd="0" destOrd="0"/>
        <dgm:cxn modelId="9" srcId="1" destId="2" srcOrd="0" destOrd="0"/>
        <dgm:cxn modelId="10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  <dgm:cxn modelId="11" srcId="0" destId="4" srcOrd="1" destOrd="0"/>
        <dgm:cxn modelId="12" srcId="0" destId="5" srcOrd="2" destOrd="0"/>
        <dgm:cxn modelId="13" srcId="0" destId="6" srcOrd="3" destOrd="0"/>
        <dgm:cxn modelId="14" srcId="0" destId="7" srcOrd="4" destOrd="0"/>
      </dgm:cxnLst>
      <dgm:bg/>
      <dgm:whole/>
    </dgm:dataModel>
  </dgm:clrData>
  <dgm:layoutNode name="mainComposite">
    <dgm:varLst>
      <dgm:chPref val="1"/>
      <dgm:dir/>
      <dgm:animOne val="branch"/>
      <dgm:animLvl val="lvl"/>
      <dgm:resizeHandles val="exact"/>
    </dgm:varLst>
    <dgm:alg type="composite">
      <dgm:param type="vertAlign" val="mid"/>
      <dgm:param type="horzAlign" val="ctr"/>
    </dgm:alg>
    <dgm:shape xmlns:r="http://schemas.openxmlformats.org/officeDocument/2006/relationships" r:blip="">
      <dgm:adjLst/>
    </dgm:shape>
    <dgm:presOf/>
    <dgm:choose name="Name0">
      <dgm:if name="Name1" axis="ch" ptType="node" func="cnt" op="gte" val="2">
        <dgm:choose name="Name2">
          <dgm:if name="Name3" func="var" arg="dir" op="equ" val="norm">
            <dgm:constrLst>
              <dgm:constr type="l" for="ch" forName="hierFlow" refType="w" fact="0.3"/>
              <dgm:constr type="t" for="ch" forName="hierFlow"/>
              <dgm:constr type="r" for="ch" forName="hierFlow" refType="w" fact="0.98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if>
          <dgm:else name="Name4">
            <dgm:constrLst>
              <dgm:constr type="l" for="ch" forName="hierFlow" refType="w" fact="0.02"/>
              <dgm:constr type="t" for="ch" forName="hierFlow"/>
              <dgm:constr type="r" for="ch" forName="hierFlow" refType="w" fact="0.7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else>
        </dgm:choose>
      </dgm:if>
      <dgm:else name="Name5">
        <dgm:constrLst>
          <dgm:constr type="l" for="ch" forName="hierFlow"/>
          <dgm:constr type="t" for="ch" forName="hierFlow"/>
          <dgm:constr type="r" for="ch" forName="hierFlow" refType="w"/>
          <dgm:constr type="b" for="ch" forName="hierFlow" refType="h"/>
          <dgm:constr type="l" for="ch" forName="bgShapesFlow"/>
          <dgm:constr type="t" for="ch" forName="bgShapesFlow"/>
          <dgm:constr type="r" for="ch" forName="bgShapesFlow" refType="w"/>
          <dgm:constr type="b" for="ch" forName="bgShapesFlow" refType="h"/>
          <dgm:constr type="w" for="des" forName="level1Shape" refType="w"/>
          <dgm:constr type="h" for="des" forName="level1Shape" refType="w" refFor="des" refForName="level1Shape" fact="0.66667"/>
          <dgm:constr type="w" for="des" forName="level2Shape" refType="w" refFor="des" refForName="level1Shape" op="equ"/>
          <dgm:constr type="h" for="des" forName="level2Shape" refType="h" refFor="des" refForName="level1Shape" op="equ"/>
          <dgm:constr type="sp" for="des" refType="h" refFor="des" refForName="level1Shape" op="equ" fact="0.4"/>
          <dgm:constr type="sibSp" for="des" forName="hierChild1" refType="w" refFor="des" refForName="level1Shape" op="equ" fact="0.3"/>
          <dgm:constr type="sibSp" for="des" forName="hierChild2" refType="sibSp" refFor="des" refForName="hierChild1" op="equ"/>
          <dgm:constr type="sibSp" for="des" forName="hierChild3" refType="sibSp" refFor="des" refForName="hierChild1" op="equ"/>
          <dgm:constr type="userA" for="des" refType="h" refFor="des" refForName="level1Shape" op="equ"/>
          <dgm:constr type="userB" for="des" refType="sp" refFor="des" op="equ"/>
          <dgm:constr type="h" for="des" forName="firstBuf" refType="h" refFor="des" refForName="level1Shape" fact="0.1"/>
        </dgm:constrLst>
      </dgm:else>
    </dgm:choose>
    <dgm:ruleLst/>
    <dgm:layoutNode name="hierFlow">
      <dgm:alg type="lin">
        <dgm:param type="linDir" val="fromT"/>
        <dgm:param type="nodeVertAlign" val="t"/>
        <dgm:param type="vertAlign" val="t"/>
        <dgm:param type="nodeHorzAlign" val="ctr"/>
        <dgm:param type="fallback" val="2D"/>
      </dgm:alg>
      <dgm:shape xmlns:r="http://schemas.openxmlformats.org/officeDocument/2006/relationships" r:blip="">
        <dgm:adjLst/>
      </dgm:shape>
      <dgm:presOf/>
      <dgm:constrLst/>
      <dgm:ruleLst/>
      <dgm:choose name="Name6">
        <dgm:if name="Name7" axis="ch" ptType="node" func="cnt" op="gte" val="2">
          <dgm:layoutNode name="firstBuf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8"/>
      </dgm:choose>
      <dgm:layoutNode name="hierChild1">
        <dgm:varLst>
          <dgm:chPref val="1"/>
          <dgm:animOne val="branch"/>
          <dgm:animLvl val="lvl"/>
        </dgm:varLst>
        <dgm:choose name="Name9">
          <dgm:if name="Name10" func="var" arg="dir" op="equ" val="norm">
            <dgm:alg type="hierChild">
              <dgm:param type="linDir" val="fromL"/>
              <dgm:param type="vertAlign" val="t"/>
            </dgm:alg>
          </dgm:if>
          <dgm:else name="Name11">
            <dgm:alg type="hierChild">
              <dgm:param type="linDir" val="fromR"/>
              <dgm:param type="vertAlign" val="t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primFontSz" for="des" ptType="node" op="equ"/>
        </dgm:constrLst>
        <dgm:ruleLst/>
        <dgm:forEach name="Name12" axis="ch" cnt="3">
          <dgm:forEach name="Name13" axis="self" ptType="node">
            <dgm:layoutNode name="Name14">
              <dgm:alg type="hierRoot"/>
              <dgm:shape xmlns:r="http://schemas.openxmlformats.org/officeDocument/2006/relationships" r:blip="">
                <dgm:adjLst/>
              </dgm:shape>
              <dgm:presOf/>
              <dgm:constrLst/>
              <dgm:ruleLst/>
              <dgm:layoutNode name="level1Shape" styleLbl="node0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primFontSz" val="65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hierChild2">
                <dgm:choose name="Name15">
                  <dgm:if name="Name16" func="var" arg="dir" op="equ" val="norm">
                    <dgm:alg type="hierChild">
                      <dgm:param type="linDir" val="fromL"/>
                    </dgm:alg>
                  </dgm:if>
                  <dgm:else name="Name17">
                    <dgm:alg type="hierChild">
                      <dgm:param type="linDir" val="from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  <dgm:forEach name="repeat" axis="ch">
                  <dgm:forEach name="Name18" axis="self" ptType="parTrans" cnt="1">
                    <dgm:layoutNode name="Name19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tCtr"/>
                      </dgm:alg>
                      <dgm:shape xmlns:r="http://schemas.openxmlformats.org/officeDocument/2006/relationships" type="conn" r:blip="">
                        <dgm:adjLst/>
                      </dgm:shape>
                      <dgm:presOf axis="self"/>
                      <dgm:constrLst>
                        <dgm:constr type="w" val="1"/>
                        <dgm:constr type="h" val="1"/>
                        <dgm:constr type="begPad"/>
                        <dgm:constr type="endPad"/>
                      </dgm:constrLst>
                      <dgm:ruleLst/>
                    </dgm:layoutNode>
                  </dgm:forEach>
                  <dgm:forEach name="Name20" axis="self" ptType="node">
                    <dgm:layoutNode name="Name21">
                      <dgm:alg type="hierRoot"/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/>
                      <dgm:layoutNode name="level2Shape">
                        <dgm:alg type="tx"/>
                        <dgm:shape xmlns:r="http://schemas.openxmlformats.org/officeDocument/2006/relationships" type="roundRect" r:blip="">
                          <dgm:adjLst>
                            <dgm:adj idx="1" val="0.1"/>
                          </dgm:adjLst>
                        </dgm:shape>
                        <dgm:presOf axis="self"/>
                        <dgm:constrLst>
                          <dgm:constr type="primFontSz" val="65"/>
                          <dgm:constr type="tMarg" refType="primFontSz" fact="0.3"/>
                          <dgm:constr type="bMarg" refType="primFontSz" fact="0.3"/>
                          <dgm:constr type="lMarg" refType="primFontSz" fact="0.3"/>
                          <dgm:constr type="r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hierChild3">
                        <dgm:choose name="Name22">
                          <dgm:if name="Name23" func="var" arg="dir" op="equ" val="norm">
                            <dgm:alg type="hierChild">
                              <dgm:param type="linDir" val="fromL"/>
                            </dgm:alg>
                          </dgm:if>
                          <dgm:else name="Name24">
                            <dgm:alg type="hierChild">
                              <dgm:param type="linDir" val="fromR"/>
                            </dgm:alg>
                          </dgm:else>
                        </dgm:choose>
                        <dgm:shape xmlns:r="http://schemas.openxmlformats.org/officeDocument/2006/relationships" r:blip="">
                          <dgm:adjLst/>
                        </dgm:shape>
                        <dgm:presOf/>
                        <dgm:constrLst/>
                        <dgm:ruleLst/>
                        <dgm:forEach name="Name25" ref="repeat"/>
                      </dgm:layoutNode>
                    </dgm:layoutNode>
                  </dgm:forEach>
                </dgm:forEach>
              </dgm:layoutNode>
            </dgm:layoutNode>
          </dgm:forEach>
        </dgm:forEach>
      </dgm:layoutNode>
    </dgm:layoutNode>
    <dgm:layoutNode name="bgShapesFlow">
      <dgm:alg type="lin">
        <dgm:param type="linDir" val="fromT"/>
        <dgm:param type="nodeVertAlign" val="t"/>
        <dgm:param type="vertAlign" val="t"/>
        <dgm:param type="nodeHorzAlign" val="ctr"/>
      </dgm:alg>
      <dgm:shape xmlns:r="http://schemas.openxmlformats.org/officeDocument/2006/relationships" r:blip="">
        <dgm:adjLst/>
      </dgm:shape>
      <dgm:presOf/>
      <dgm:constrLst>
        <dgm:constr type="userB"/>
        <dgm:constr type="w" for="ch" forName="rectComp" refType="w"/>
        <dgm:constr type="h" for="ch" forName="rectComp" refType="h"/>
        <dgm:constr type="w" for="des" forName="bgRect" refType="w"/>
        <dgm:constr type="primFontSz" for="des" forName="bgRectTx" op="equ"/>
      </dgm:constrLst>
      <dgm:ruleLst/>
      <dgm:forEach name="Name26" axis="ch" ptType="node" st="2">
        <dgm:layoutNode name="rectComp">
          <dgm:alg type="composite">
            <dgm:param type="vertAlign" val="t"/>
            <dgm:param type="horzAlign" val="ctr"/>
          </dgm:alg>
          <dgm:shape xmlns:r="http://schemas.openxmlformats.org/officeDocument/2006/relationships" r:blip="">
            <dgm:adjLst/>
          </dgm:shape>
          <dgm:presOf/>
          <dgm:choose name="Name27">
            <dgm:if name="Name28" func="var" arg="dir" op="equ" val="norm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l" for="ch" forName="bgRectTx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if>
            <dgm:else name="Name29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r" for="ch" forName="bgRectTx" refType="w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else>
          </dgm:choose>
          <dgm:ruleLst/>
          <dgm:layoutNode name="bgRect" styleLbl="bgShp">
            <dgm:alg type="sp"/>
            <dgm:shape xmlns:r="http://schemas.openxmlformats.org/officeDocument/2006/relationships" type="roundRect" r:blip="" zOrderOff="-999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bgRectTx" styleLbl="bgShp">
            <dgm:varLst>
              <dgm:bulletEnabled val="1"/>
            </dgm:varLst>
            <dgm:alg type="tx"/>
            <dgm:presOf axis="desOrSelf" ptType="node"/>
            <dgm:shape xmlns:r="http://schemas.openxmlformats.org/officeDocument/2006/relationships" type="rect" r:blip="" zOrderOff="-999" hideGeom="1">
              <dgm:adjLst/>
            </dgm:shape>
            <dgm:constrLst>
              <dgm:constr type="primFontSz" val="65"/>
            </dgm:constrLst>
            <dgm:ruleLst>
              <dgm:rule type="primFontSz" val="5" fact="NaN" max="NaN"/>
            </dgm:ruleLst>
          </dgm:layoutNode>
        </dgm:layoutNode>
        <dgm:choose name="Name30">
          <dgm:if name="Name31" axis="self" ptType="node" func="revPos" op="gte" val="2">
            <dgm:layoutNode name="spComp">
              <dgm:alg type="composite">
                <dgm:param type="vertAlign" val="t"/>
                <dgm:param type="horzAlign" val="ctr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userA"/>
                <dgm:constr type="userB"/>
                <dgm:constr type="l" for="ch" forName="vSp"/>
                <dgm:constr type="t" for="ch" forName="vSp"/>
                <dgm:constr type="h" for="ch" forName="vSp" refType="userB"/>
                <dgm:constr type="hOff" for="ch" forName="vSp" refType="userA" fact="-0.2"/>
              </dgm:constrLst>
              <dgm:ruleLst/>
              <dgm:layoutNode name="vSp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32"/>
        </dgm:choose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AC0710-FEB9-4CE2-9CD9-B63D1A3DC4CE}" type="datetimeFigureOut">
              <a:rPr lang="zh-CN" altLang="en-US" smtClean="0"/>
              <a:t>2026/5/25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1A7FE0-CD29-4BAD-A9FD-CBED1172C0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8221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8676ED-31AD-43FB-A49E-D33E228AB4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1422C94-50F2-4AE9-86A9-E61113E142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85A43B6-600F-417C-93A9-1FD37B86D1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23FB5-DA9B-D449-BD3F-23B81C5F3DB2}" type="datetime1">
              <a:rPr lang="zh-CN" altLang="en-US" smtClean="0"/>
              <a:t>2026/5/25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D46F7F6-9FE2-4D4C-864B-75CAFF397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5ED69EF-23A2-4ACE-83F0-B1DA318EB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195D6-D476-4847-9419-038ABCB65AC4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292228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E71735-B29C-4DD1-A401-C0EC3324C0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3080" y="136523"/>
            <a:ext cx="10515600" cy="616768"/>
          </a:xfrm>
        </p:spPr>
        <p:txBody>
          <a:bodyPr>
            <a:noAutofit/>
          </a:bodyPr>
          <a:lstStyle>
            <a:lvl1pPr>
              <a:defRPr sz="2800">
                <a:solidFill>
                  <a:schemeClr val="accent1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08E37B7-8C78-4782-A312-6CE3597C91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41103"/>
            <a:ext cx="10515600" cy="5175794"/>
          </a:xfrm>
        </p:spPr>
        <p:txBody>
          <a:bodyPr>
            <a:normAutofit/>
          </a:bodyPr>
          <a:lstStyle>
            <a:lvl1pPr algn="just">
              <a:lnSpc>
                <a:spcPct val="100000"/>
              </a:lnSpc>
              <a:defRPr sz="2400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algn="just">
              <a:lnSpc>
                <a:spcPct val="100000"/>
              </a:lnSpc>
              <a:defRPr sz="2000"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algn="just">
              <a:lnSpc>
                <a:spcPct val="100000"/>
              </a:lnSpc>
              <a:defRPr sz="2000"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algn="just">
              <a:lnSpc>
                <a:spcPct val="100000"/>
              </a:lnSpc>
              <a:defRPr sz="2000"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 algn="just">
              <a:lnSpc>
                <a:spcPct val="100000"/>
              </a:lnSpc>
              <a:defRPr sz="2000"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DB372F8-B13E-4C13-8035-517AFC049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3D444-7193-46AD-90E8-D84AE4B61CFF}" type="slidenum">
              <a:rPr lang="en-US" smtClean="0"/>
              <a:pPr/>
              <a:t>‹#›</a:t>
            </a:fld>
            <a:r>
              <a:rPr lang="en-US"/>
              <a:t>/</a:t>
            </a:r>
            <a:r>
              <a:rPr lang="en-US" altLang="zh-CN"/>
              <a:t>63</a:t>
            </a:r>
            <a:endParaRPr 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CFC96DF-A291-4168-A068-D1202F815F00}"/>
              </a:ext>
            </a:extLst>
          </p:cNvPr>
          <p:cNvSpPr txBox="1"/>
          <p:nvPr userDrawn="1"/>
        </p:nvSpPr>
        <p:spPr>
          <a:xfrm>
            <a:off x="1879601" y="6356352"/>
            <a:ext cx="84327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accent1">
                    <a:lumMod val="75000"/>
                  </a:schemeClr>
                </a:solidFill>
              </a:rPr>
              <a:t>Memory Management</a:t>
            </a:r>
          </a:p>
        </p:txBody>
      </p:sp>
      <p:sp>
        <p:nvSpPr>
          <p:cNvPr id="7" name="日期占位符 3">
            <a:extLst>
              <a:ext uri="{FF2B5EF4-FFF2-40B4-BE49-F238E27FC236}">
                <a16:creationId xmlns:a16="http://schemas.microsoft.com/office/drawing/2014/main" id="{D7DCD789-2F9C-4890-8FFB-CFE5A82A6AA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</p:spPr>
        <p:txBody>
          <a:bodyPr/>
          <a:lstStyle/>
          <a:p>
            <a:fld id="{2606D1B6-B1AF-7D4D-A84B-F73F4DDF98DE}" type="datetime1">
              <a:rPr lang="zh-CN" altLang="en-US" smtClean="0"/>
              <a:t>2026/5/25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321759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2FB2E7-CD10-401E-B2A8-7149F8475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4500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4A83809-0CD6-4E99-B235-4D681390A3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F11F12C-08AA-45AB-908E-59440A6C56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ADB72-4C83-9C4A-866B-4D5142DBA58B}" type="datetime1">
              <a:rPr lang="zh-CN" altLang="en-US" smtClean="0"/>
              <a:t>2026/5/25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2461642-9D96-4148-8180-D0B2B5019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34EB5D8-A13F-457E-826D-95AC9FB55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195D6-D476-4847-9419-038ABCB65A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23097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6E999A-7582-4E5D-A9FB-8CDEF52EE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BA3E153-1AD5-46DD-B8DE-61DF0461F4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F5248A8-0745-4392-A1F2-F6DF355FFA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D9D8C1F-5ACD-48A3-93C6-718634CC37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100616-4739-7441-B90B-83F2CA2BC9BA}" type="datetime1">
              <a:rPr lang="zh-CN" altLang="en-US" smtClean="0"/>
              <a:t>2026/5/25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2E22B1C-A4A1-4342-9DAC-218041BCC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7CCC53A-B54E-4AEB-86B3-C8CD6AF7F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195D6-D476-4847-9419-038ABCB65A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5214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DDE34E-984F-4F04-A7FF-17195BCF1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5761511-A802-4F5E-86A2-D80D5C0ADB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9E9FAF3-D8C1-45A2-BA48-80B3498662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9251460-B631-4C46-908A-FE9A105226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9EF5D71-25C4-4922-9405-6A048B9112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19751F0-F0EA-4B00-B971-5EE1B3773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51E67-9620-AB48-8C22-118A8ACF42A3}" type="datetime1">
              <a:rPr lang="zh-CN" altLang="en-US" smtClean="0"/>
              <a:t>2026/5/25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9047BC4-C2D4-4C81-B588-5459ACF08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A9723A5-6ECE-4EAA-A5C6-EABD8CD3A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195D6-D476-4847-9419-038ABCB65A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46862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3852D2-8976-40DD-BA31-408AB98E4F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4858EC2-E957-4F1C-83FD-787BB2CC1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DF96E-3180-8C40-81AA-950720D6E543}" type="datetime1">
              <a:rPr lang="zh-CN" altLang="en-US" smtClean="0"/>
              <a:t>2026/5/25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806991F-2419-4982-884B-D42FF1AACC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398A650-CAEE-412E-B9BF-886CCFDE5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195D6-D476-4847-9419-038ABCB65A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38544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2DBD33B-092C-4074-8EDA-3C4FE78AD9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8788" y="6356351"/>
            <a:ext cx="2743200" cy="365125"/>
          </a:xfrm>
        </p:spPr>
        <p:txBody>
          <a:bodyPr/>
          <a:lstStyle/>
          <a:p>
            <a:fld id="{FD9F80F7-C3DF-D742-871B-8631AA2F4284}" type="datetime1">
              <a:rPr lang="zh-CN" altLang="en-US" smtClean="0"/>
              <a:t>2026/5/25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90D8F40-5181-4836-B8DD-3A9908B08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2D2A77F-D152-4CDD-99EA-FD8387BB9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195D6-D476-4847-9419-038ABCB65A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65997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621370-F61A-4FFA-8158-63411BEFA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054B4E2-CBF2-4B8F-9FBE-CE369EF6AD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417E24-6C8C-4AC7-8665-96EC08B1E1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E33FA8D-1C48-4107-82A1-179513CC6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D033B-6B8A-DF41-A2EB-ACFE77114C01}" type="datetime1">
              <a:rPr lang="zh-CN" altLang="en-US" smtClean="0"/>
              <a:t>2026/5/25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1FBC6DC-C4E0-4913-82DB-024E67FFA4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867BBE5-0CE5-41DC-8976-ECDB91764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195D6-D476-4847-9419-038ABCB65A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57236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E4D30F-E495-4188-86D6-1CC70B8052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2FD1BDB-E14E-4C2F-8A31-0C60394764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4D96B3D-921F-4319-83AB-6599543C11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A720358-A521-4F46-ABEB-E0AE1BAB15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67BDB-3D9C-3044-9065-01E1FE9EC8B3}" type="datetime1">
              <a:rPr lang="zh-CN" altLang="en-US" smtClean="0"/>
              <a:t>2026/5/25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778CC20-8FFA-4C0C-89A1-565524146C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0CBA9C1-FE7E-475B-A075-82D6279FF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195D6-D476-4847-9419-038ABCB65A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54159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917C9F-382B-48B3-AEE3-A1275451A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05CEB06-E6AC-47BF-A94B-0ED4AAAD24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1C0F83F-CE58-4F03-BCC7-46A6A13F79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23FAF-27E8-3442-8C9B-7C060914ABFE}" type="datetime1">
              <a:rPr lang="zh-CN" altLang="en-US" smtClean="0"/>
              <a:t>2026/5/25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059299B-B55F-4721-90C3-0CFE23FA0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390ADCF-1B44-43D8-AB3F-8541D6238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195D6-D476-4847-9419-038ABCB65A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38431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ED9C40E-5C6D-4234-8128-E50188E5E6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2E915B8-7307-4BCC-9A61-569D45C95F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6FCA776-3C88-4450-AD71-6D2C500AF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FC4F1-59CC-944D-839A-A20122FC4C2B}" type="datetime1">
              <a:rPr lang="zh-CN" altLang="en-US" smtClean="0"/>
              <a:t>2026/5/25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6002269-E005-4BE1-94C3-C26720F2B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B9685CF-5F0E-4F70-99BE-CCD46BC02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195D6-D476-4847-9419-038ABCB65A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4321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342FFB6-8F21-4ACC-BC1E-3F66BCBF3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017" y="156305"/>
            <a:ext cx="10515600" cy="59698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D525B20-A1AA-4A92-9D7A-2F7B14A413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928915"/>
            <a:ext cx="10515600" cy="51757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 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B28EA23-1C26-401F-ABA1-2D300BB691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4DF019-1C96-0B48-8006-AD0D34BEC94E}" type="datetime1">
              <a:rPr lang="zh-CN" altLang="en-US" smtClean="0"/>
              <a:t>2026/5/25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22A4D13-4A5F-475E-88F7-2A6ECD6DB4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9AFCE78-DD67-4C8D-A584-09B016DC5D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93D444-7193-46AD-90E8-D84AE4B61CFF}" type="slidenum">
              <a:rPr lang="en-US" smtClean="0"/>
              <a:pPr/>
              <a:t>‹#›</a:t>
            </a:fld>
            <a:r>
              <a:rPr lang="en-US" dirty="0"/>
              <a:t>/</a:t>
            </a:r>
            <a:r>
              <a:rPr lang="en-US" altLang="zh-CN" dirty="0"/>
              <a:t>63</a:t>
            </a:r>
            <a:endParaRPr lang="en-US" dirty="0"/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B0F50452-02B7-425B-AC62-B4A14A701625}"/>
              </a:ext>
            </a:extLst>
          </p:cNvPr>
          <p:cNvCxnSpPr>
            <a:cxnSpLocks/>
          </p:cNvCxnSpPr>
          <p:nvPr userDrawn="1"/>
        </p:nvCxnSpPr>
        <p:spPr>
          <a:xfrm>
            <a:off x="627017" y="767807"/>
            <a:ext cx="10984411" cy="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175A9AA1-FEE7-4EAB-B05C-92F8372A2329}"/>
              </a:ext>
            </a:extLst>
          </p:cNvPr>
          <p:cNvCxnSpPr>
            <a:cxnSpLocks/>
          </p:cNvCxnSpPr>
          <p:nvPr userDrawn="1"/>
        </p:nvCxnSpPr>
        <p:spPr>
          <a:xfrm>
            <a:off x="627017" y="6287589"/>
            <a:ext cx="10984411" cy="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9E98AC04-83D3-4028-869F-84D382FA74BB}"/>
              </a:ext>
            </a:extLst>
          </p:cNvPr>
          <p:cNvGrpSpPr/>
          <p:nvPr userDrawn="1"/>
        </p:nvGrpSpPr>
        <p:grpSpPr>
          <a:xfrm>
            <a:off x="9982200" y="186423"/>
            <a:ext cx="1794536" cy="472074"/>
            <a:chOff x="504825" y="327025"/>
            <a:chExt cx="2482851" cy="636440"/>
          </a:xfrm>
        </p:grpSpPr>
        <p:pic>
          <p:nvPicPr>
            <p:cNvPr id="16" name="图片 15">
              <a:extLst>
                <a:ext uri="{FF2B5EF4-FFF2-40B4-BE49-F238E27FC236}">
                  <a16:creationId xmlns:a16="http://schemas.microsoft.com/office/drawing/2014/main" id="{49F7D68F-F6C5-482F-BB06-4C7202C968E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3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 l="8955" t="8651" r="74262" b="8651"/>
            <a:stretch>
              <a:fillRect/>
            </a:stretch>
          </p:blipFill>
          <p:spPr>
            <a:xfrm>
              <a:off x="504825" y="327025"/>
              <a:ext cx="593725" cy="636440"/>
            </a:xfrm>
            <a:prstGeom prst="rect">
              <a:avLst/>
            </a:prstGeom>
          </p:spPr>
        </p:pic>
        <p:pic>
          <p:nvPicPr>
            <p:cNvPr id="17" name="图片 16">
              <a:extLst>
                <a:ext uri="{FF2B5EF4-FFF2-40B4-BE49-F238E27FC236}">
                  <a16:creationId xmlns:a16="http://schemas.microsoft.com/office/drawing/2014/main" id="{18389FF0-6461-4154-A98D-1E4418062FE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3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 l="36206" t="8651" r="14969" b="8651"/>
            <a:stretch>
              <a:fillRect/>
            </a:stretch>
          </p:blipFill>
          <p:spPr>
            <a:xfrm>
              <a:off x="1260475" y="327025"/>
              <a:ext cx="1727201" cy="63644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568855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</p:sldLayoutIdLst>
  <p:hf hd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accent1">
              <a:lumMod val="75000"/>
            </a:schemeClr>
          </a:solidFill>
          <a:latin typeface="Microsoft YaHei" panose="020B0503020204020204" pitchFamily="34" charset="-122"/>
          <a:ea typeface="Microsoft YaHei" panose="020B0503020204020204" pitchFamily="34" charset="-122"/>
          <a:cs typeface="Arial" panose="020B0604020202020204" pitchFamily="34" charset="0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Wingdings" panose="05000000000000000000" pitchFamily="2" charset="2"/>
        <a:buChar char="q"/>
        <a:defRPr sz="2000" b="1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Arial" panose="020B0604020202020204" pitchFamily="34" charset="0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Arial" panose="020B0604020202020204" pitchFamily="34" charset="0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" panose="05000000000000000000" pitchFamily="2" charset="2"/>
        <a:buChar char="Ø"/>
        <a:defRPr sz="20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Arial" panose="020B0604020202020204" pitchFamily="34" charset="0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Arial" panose="020B0604020202020204" pitchFamily="34" charset="0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Arial" panose="020B0604020202020204" pitchFamily="34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liyang23@swjtu.edu.c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00F020E3-DBF1-4524-ACC1-A4EAF25A4641}"/>
              </a:ext>
            </a:extLst>
          </p:cNvPr>
          <p:cNvSpPr/>
          <p:nvPr/>
        </p:nvSpPr>
        <p:spPr>
          <a:xfrm>
            <a:off x="875558" y="1041399"/>
            <a:ext cx="10440884" cy="195329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标题 1">
            <a:extLst>
              <a:ext uri="{FF2B5EF4-FFF2-40B4-BE49-F238E27FC236}">
                <a16:creationId xmlns:a16="http://schemas.microsoft.com/office/drawing/2014/main" id="{EC02B943-8764-434E-9C4F-C8ED1CA9902A}"/>
              </a:ext>
            </a:extLst>
          </p:cNvPr>
          <p:cNvSpPr txBox="1">
            <a:spLocks/>
          </p:cNvSpPr>
          <p:nvPr/>
        </p:nvSpPr>
        <p:spPr>
          <a:xfrm>
            <a:off x="1018902" y="1221699"/>
            <a:ext cx="10141131" cy="121086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b="1" kern="1200">
                <a:solidFill>
                  <a:schemeClr val="accent1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1pPr>
          </a:lstStyle>
          <a:p>
            <a:r>
              <a:rPr lang="en-US" altLang="zh-CN" sz="6000" dirty="0">
                <a:solidFill>
                  <a:schemeClr val="accent1"/>
                </a:solidFill>
              </a:rPr>
              <a:t>Virtual Memory</a:t>
            </a:r>
            <a:endParaRPr lang="zh-CN" altLang="en-US" sz="6000" dirty="0">
              <a:solidFill>
                <a:schemeClr val="accent1"/>
              </a:solidFill>
            </a:endParaRPr>
          </a:p>
        </p:txBody>
      </p:sp>
      <p:sp>
        <p:nvSpPr>
          <p:cNvPr id="13" name="副标题 2">
            <a:extLst>
              <a:ext uri="{FF2B5EF4-FFF2-40B4-BE49-F238E27FC236}">
                <a16:creationId xmlns:a16="http://schemas.microsoft.com/office/drawing/2014/main" id="{D97EA9A9-A80E-4CA5-A659-E3C2DCBB225C}"/>
              </a:ext>
            </a:extLst>
          </p:cNvPr>
          <p:cNvSpPr txBox="1">
            <a:spLocks/>
          </p:cNvSpPr>
          <p:nvPr/>
        </p:nvSpPr>
        <p:spPr>
          <a:xfrm>
            <a:off x="2701835" y="3381990"/>
            <a:ext cx="6858000" cy="24875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Wingdings" panose="05000000000000000000" pitchFamily="2" charset="2"/>
              <a:buNone/>
              <a:defRPr sz="1800" b="1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None/>
              <a:defRPr sz="135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CN" sz="2800" dirty="0">
                <a:solidFill>
                  <a:srgbClr val="0070C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Lecturer: Li Yang</a:t>
            </a:r>
          </a:p>
          <a:p>
            <a:pPr>
              <a:lnSpc>
                <a:spcPct val="120000"/>
              </a:lnSpc>
            </a:pPr>
            <a:r>
              <a:rPr lang="en-US" altLang="zh-CN" sz="2800" dirty="0">
                <a:solidFill>
                  <a:srgbClr val="0070C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Contact: </a:t>
            </a:r>
            <a:r>
              <a:rPr lang="en-US" altLang="zh-CN" sz="2800" dirty="0">
                <a:solidFill>
                  <a:srgbClr val="0070C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hlinkClick r:id="rId2"/>
              </a:rPr>
              <a:t>liyang23@swjtu.edu.cn</a:t>
            </a:r>
            <a:endParaRPr lang="en-US" altLang="zh-CN" sz="2800" dirty="0">
              <a:solidFill>
                <a:srgbClr val="0070C0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2800" dirty="0">
                <a:solidFill>
                  <a:srgbClr val="0070C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Office: X31506</a:t>
            </a:r>
          </a:p>
          <a:p>
            <a:pPr>
              <a:lnSpc>
                <a:spcPct val="120000"/>
              </a:lnSpc>
            </a:pPr>
            <a:r>
              <a:rPr lang="en-US" altLang="zh-CN" sz="2800" dirty="0">
                <a:solidFill>
                  <a:srgbClr val="0070C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Faculty: Computer and AI</a:t>
            </a:r>
            <a:endParaRPr lang="zh-CN" altLang="en-US" sz="2800" dirty="0">
              <a:solidFill>
                <a:srgbClr val="0070C0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86794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79B245-3D08-4029-B040-F3B5B4259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B2D98DE-4C45-4E55-AE2F-30EAC7ACC9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Operating System Software</a:t>
            </a:r>
          </a:p>
          <a:p>
            <a:pPr lvl="1"/>
            <a:r>
              <a:rPr lang="en-US" dirty="0"/>
              <a:t>Fetch</a:t>
            </a:r>
            <a:r>
              <a:rPr lang="zh-CN" altLang="en-US" dirty="0"/>
              <a:t> </a:t>
            </a:r>
            <a:r>
              <a:rPr lang="en-US" altLang="zh-CN" dirty="0"/>
              <a:t>(</a:t>
            </a:r>
            <a:r>
              <a:rPr lang="zh-CN" altLang="en-US" dirty="0"/>
              <a:t>读取</a:t>
            </a:r>
            <a:r>
              <a:rPr lang="en-US" altLang="zh-CN" dirty="0"/>
              <a:t>)</a:t>
            </a:r>
            <a:r>
              <a:rPr lang="en-US" dirty="0"/>
              <a:t> Policy</a:t>
            </a:r>
          </a:p>
          <a:p>
            <a:pPr lvl="1"/>
            <a:r>
              <a:rPr lang="en-US" dirty="0"/>
              <a:t>Placement</a:t>
            </a:r>
            <a:r>
              <a:rPr lang="zh-CN" altLang="en-US" dirty="0"/>
              <a:t>（放置）</a:t>
            </a:r>
            <a:r>
              <a:rPr lang="en-US" dirty="0"/>
              <a:t> Policy</a:t>
            </a:r>
          </a:p>
          <a:p>
            <a:pPr lvl="1"/>
            <a:r>
              <a:rPr lang="en-US" dirty="0"/>
              <a:t>Replacement</a:t>
            </a:r>
            <a:r>
              <a:rPr lang="zh-CN" altLang="en-US" dirty="0"/>
              <a:t>（置换）</a:t>
            </a:r>
            <a:r>
              <a:rPr lang="en-US" dirty="0"/>
              <a:t> Policy</a:t>
            </a:r>
          </a:p>
          <a:p>
            <a:pPr lvl="1"/>
            <a:r>
              <a:rPr lang="en-US" dirty="0"/>
              <a:t>Resident Set</a:t>
            </a:r>
            <a:r>
              <a:rPr lang="zh-CN" altLang="en-US" dirty="0"/>
              <a:t> （常驻集）</a:t>
            </a:r>
            <a:r>
              <a:rPr lang="en-US" dirty="0"/>
              <a:t> Management</a:t>
            </a:r>
          </a:p>
          <a:p>
            <a:pPr lvl="1"/>
            <a:r>
              <a:rPr lang="en-US" dirty="0"/>
              <a:t>Cleaning </a:t>
            </a:r>
            <a:r>
              <a:rPr lang="zh-CN" altLang="en-US" dirty="0"/>
              <a:t>（清除）</a:t>
            </a:r>
            <a:r>
              <a:rPr lang="en-US" dirty="0"/>
              <a:t>Policy</a:t>
            </a:r>
          </a:p>
          <a:p>
            <a:pPr lvl="1"/>
            <a:r>
              <a:rPr lang="zh-CN" altLang="en-US" dirty="0"/>
              <a:t> </a:t>
            </a:r>
            <a:r>
              <a:rPr lang="en-US" dirty="0"/>
              <a:t>Load Control</a:t>
            </a:r>
            <a:r>
              <a:rPr lang="zh-CN" altLang="en-US" dirty="0"/>
              <a:t> （加载控制）</a:t>
            </a:r>
            <a:endParaRPr lang="en-US" dirty="0"/>
          </a:p>
          <a:p>
            <a:endParaRPr 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1D253DE-3235-432D-B1DF-787247AF2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93D444-7193-46AD-90E8-D84AE4B61CFF}" type="slidenum">
              <a:rPr kumimoji="0" lang="en-US" sz="12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/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63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66DFD01-4408-484B-9A90-14ADD5C63A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06D1B6-B1AF-7D4D-A84B-F73F4DDF98DE}" type="datetime1">
              <a:rPr kumimoji="0" lang="zh-CN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2026/5/25</a:t>
            </a:fld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132238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459C2E3-BBBD-40F6-8532-32A3F17D30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design of the memory management portion of an OS depends on three fundamental areas of choice:</a:t>
            </a:r>
          </a:p>
          <a:p>
            <a:pPr marL="8001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b="1" dirty="0">
                <a:solidFill>
                  <a:srgbClr val="0070C0"/>
                </a:solidFill>
              </a:rPr>
              <a:t>Whether or not to use virtual memory techniques</a:t>
            </a:r>
          </a:p>
          <a:p>
            <a:pPr marL="8001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b="1" dirty="0">
                <a:solidFill>
                  <a:srgbClr val="0070C0"/>
                </a:solidFill>
              </a:rPr>
              <a:t>The use of paging or segmentation or both</a:t>
            </a:r>
          </a:p>
          <a:p>
            <a:pPr marL="8001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b="1" dirty="0"/>
              <a:t>The </a:t>
            </a:r>
            <a:r>
              <a:rPr lang="en-US" sz="2400" b="1" dirty="0">
                <a:solidFill>
                  <a:srgbClr val="FF0000"/>
                </a:solidFill>
              </a:rPr>
              <a:t>algorithms</a:t>
            </a:r>
            <a:r>
              <a:rPr lang="en-US" sz="2400" b="1" dirty="0"/>
              <a:t> employed for various aspects of memory management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5A4D4229-7EB4-4685-9D11-DB8060A67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Operating System Software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1CD200-222C-437D-B7A2-62BAFB431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3D444-7193-46AD-90E8-D84AE4B61CFF}" type="slidenum">
              <a:rPr lang="en-US" smtClean="0"/>
              <a:pPr/>
              <a:t>3</a:t>
            </a:fld>
            <a:r>
              <a:rPr lang="en-US"/>
              <a:t>/</a:t>
            </a:r>
            <a:r>
              <a:rPr lang="en-US" altLang="zh-CN"/>
              <a:t>63</a:t>
            </a:r>
            <a:endParaRPr lang="en-US" dirty="0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A27ECBE-7ED5-4914-B16E-0ACE9159B9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6D1B6-B1AF-7D4D-A84B-F73F4DDF98DE}" type="datetime1">
              <a:rPr lang="zh-CN" altLang="en-US" smtClean="0"/>
              <a:t>2026/5/25</a:t>
            </a:fld>
            <a:endParaRPr lang="zh-CN" altLang="en-US" dirty="0"/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A3757FF6-D230-4761-942B-7290EEA410E7}"/>
              </a:ext>
            </a:extLst>
          </p:cNvPr>
          <p:cNvGrpSpPr/>
          <p:nvPr/>
        </p:nvGrpSpPr>
        <p:grpSpPr>
          <a:xfrm>
            <a:off x="1951444" y="4181107"/>
            <a:ext cx="7802155" cy="1569453"/>
            <a:chOff x="4597391" y="4467039"/>
            <a:chExt cx="4254094" cy="1569453"/>
          </a:xfrm>
        </p:grpSpPr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B02E19F6-7046-4DD4-8B15-C16A79EFD0C4}"/>
                </a:ext>
              </a:extLst>
            </p:cNvPr>
            <p:cNvSpPr txBox="1"/>
            <p:nvPr/>
          </p:nvSpPr>
          <p:spPr>
            <a:xfrm>
              <a:off x="4597391" y="5099137"/>
              <a:ext cx="4254094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B</a:t>
              </a:r>
              <a:r>
                <a:rPr lang="en-US" altLang="zh-CN" sz="2400" b="1" dirty="0"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elong to </a:t>
              </a:r>
              <a:r>
                <a:rPr lang="en-US" sz="2400" b="1" dirty="0"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operating system software, </a:t>
              </a:r>
              <a:r>
                <a:rPr lang="en-US" sz="2400" b="1" dirty="0">
                  <a:solidFill>
                    <a:srgbClr val="FF0000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m</a:t>
              </a:r>
              <a:r>
                <a:rPr lang="en-US" sz="2400" b="1" dirty="0">
                  <a:solidFill>
                    <a:srgbClr val="FF0000"/>
                  </a:solidFill>
                  <a:effectLst/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inimize</a:t>
              </a:r>
              <a:r>
                <a:rPr lang="en-US" sz="2400" b="1" dirty="0">
                  <a:effectLst/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 the rate at which page faults occur</a:t>
              </a:r>
              <a:endParaRPr lang="en-US" sz="2400" b="1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0" name="矩形: 圆角 9">
              <a:extLst>
                <a:ext uri="{FF2B5EF4-FFF2-40B4-BE49-F238E27FC236}">
                  <a16:creationId xmlns:a16="http://schemas.microsoft.com/office/drawing/2014/main" id="{F208ADEE-290C-44EA-9F31-0C6568814EA3}"/>
                </a:ext>
              </a:extLst>
            </p:cNvPr>
            <p:cNvSpPr/>
            <p:nvPr/>
          </p:nvSpPr>
          <p:spPr>
            <a:xfrm>
              <a:off x="4630937" y="5055231"/>
              <a:ext cx="4220548" cy="981261"/>
            </a:xfrm>
            <a:prstGeom prst="roundRect">
              <a:avLst/>
            </a:prstGeom>
            <a:noFill/>
            <a:ln>
              <a:solidFill>
                <a:srgbClr val="FF0000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11" name="箭头: 下 10">
              <a:extLst>
                <a:ext uri="{FF2B5EF4-FFF2-40B4-BE49-F238E27FC236}">
                  <a16:creationId xmlns:a16="http://schemas.microsoft.com/office/drawing/2014/main" id="{D8F7CC1E-AD63-4011-8795-7C0D4B979C58}"/>
                </a:ext>
              </a:extLst>
            </p:cNvPr>
            <p:cNvSpPr/>
            <p:nvPr/>
          </p:nvSpPr>
          <p:spPr>
            <a:xfrm>
              <a:off x="6770820" y="4467039"/>
              <a:ext cx="377371" cy="544286"/>
            </a:xfrm>
            <a:prstGeom prst="downArrow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</p:grpSp>
      <p:sp>
        <p:nvSpPr>
          <p:cNvPr id="13" name="右大括号 12">
            <a:extLst>
              <a:ext uri="{FF2B5EF4-FFF2-40B4-BE49-F238E27FC236}">
                <a16:creationId xmlns:a16="http://schemas.microsoft.com/office/drawing/2014/main" id="{A83BAB22-6566-4E59-860A-0455B3659731}"/>
              </a:ext>
            </a:extLst>
          </p:cNvPr>
          <p:cNvSpPr/>
          <p:nvPr/>
        </p:nvSpPr>
        <p:spPr>
          <a:xfrm>
            <a:off x="9226731" y="1811383"/>
            <a:ext cx="378823" cy="860697"/>
          </a:xfrm>
          <a:prstGeom prst="rightBrac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lvl="1"/>
            <a:endParaRPr lang="en-US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6106C66-1432-41A2-9078-112127F30D0B}"/>
              </a:ext>
            </a:extLst>
          </p:cNvPr>
          <p:cNvSpPr txBox="1"/>
          <p:nvPr/>
        </p:nvSpPr>
        <p:spPr>
          <a:xfrm>
            <a:off x="9405982" y="1750925"/>
            <a:ext cx="270473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 algn="ctr"/>
            <a:r>
              <a:rPr lang="en-US" sz="2400" b="1" dirty="0">
                <a:solidFill>
                  <a:srgbClr val="C00000"/>
                </a:solidFill>
              </a:rPr>
              <a:t> </a:t>
            </a:r>
            <a:r>
              <a:rPr lang="en-US" altLang="zh-CN" sz="2400" b="1" dirty="0">
                <a:solidFill>
                  <a:srgbClr val="C00000"/>
                </a:solidFill>
              </a:rPr>
              <a:t>D</a:t>
            </a:r>
            <a:r>
              <a:rPr lang="en-US" sz="2400" b="1" dirty="0">
                <a:solidFill>
                  <a:srgbClr val="C00000"/>
                </a:solidFill>
              </a:rPr>
              <a:t>epend on the hardware platform</a:t>
            </a:r>
          </a:p>
        </p:txBody>
      </p:sp>
    </p:spTree>
    <p:extLst>
      <p:ext uri="{BB962C8B-B14F-4D97-AF65-F5344CB8AC3E}">
        <p14:creationId xmlns:p14="http://schemas.microsoft.com/office/powerpoint/2010/main" val="27242756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0C3DED-8D2B-48C5-A0DB-8A8B2EAEA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</a:t>
            </a:r>
            <a:r>
              <a:rPr lang="en-US" altLang="zh-CN" dirty="0"/>
              <a:t>verhead during Page Fault Error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41A3476-FA33-4827-B685-A5B26A1535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41103"/>
            <a:ext cx="10515600" cy="5042626"/>
          </a:xfrm>
        </p:spPr>
        <p:txBody>
          <a:bodyPr/>
          <a:lstStyle/>
          <a:p>
            <a:r>
              <a:rPr lang="en-US" dirty="0"/>
              <a:t> deciding </a:t>
            </a:r>
            <a:r>
              <a:rPr lang="en-US" dirty="0">
                <a:solidFill>
                  <a:srgbClr val="FF0000"/>
                </a:solidFill>
              </a:rPr>
              <a:t>which resident pages </a:t>
            </a:r>
            <a:r>
              <a:rPr lang="en-US" dirty="0"/>
              <a:t>to replace</a:t>
            </a:r>
          </a:p>
          <a:p>
            <a:r>
              <a:rPr lang="en-US" dirty="0"/>
              <a:t> the </a:t>
            </a:r>
            <a:r>
              <a:rPr lang="en-US" dirty="0">
                <a:solidFill>
                  <a:srgbClr val="FF0000"/>
                </a:solidFill>
              </a:rPr>
              <a:t>I/O </a:t>
            </a:r>
            <a:r>
              <a:rPr lang="en-US" altLang="zh-CN" dirty="0">
                <a:solidFill>
                  <a:srgbClr val="FF0000"/>
                </a:solidFill>
              </a:rPr>
              <a:t>operation </a:t>
            </a:r>
            <a:r>
              <a:rPr lang="en-US" dirty="0"/>
              <a:t>of exchanging pages</a:t>
            </a:r>
          </a:p>
          <a:p>
            <a:r>
              <a:rPr lang="en-US" dirty="0"/>
              <a:t> the OS must </a:t>
            </a:r>
            <a:r>
              <a:rPr lang="en-US" dirty="0">
                <a:solidFill>
                  <a:srgbClr val="FF0000"/>
                </a:solidFill>
              </a:rPr>
              <a:t>schedule another process</a:t>
            </a:r>
            <a:r>
              <a:rPr lang="en-US" dirty="0"/>
              <a:t> to run during the page I/O</a:t>
            </a:r>
          </a:p>
          <a:p>
            <a:r>
              <a:rPr lang="en-US" altLang="zh-CN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When a process is executing</a:t>
            </a:r>
            <a:r>
              <a:rPr lang="zh-CN" altLang="en-US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，</a:t>
            </a:r>
            <a:r>
              <a:rPr lang="en-US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the probability of referencing a word on </a:t>
            </a:r>
            <a:r>
              <a:rPr lang="en-US" sz="2400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 missing page </a:t>
            </a:r>
            <a:r>
              <a:rPr lang="en-US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is minimized</a:t>
            </a:r>
          </a:p>
          <a:p>
            <a:endParaRPr 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A3F5765-1E9B-4E21-B65D-5A12270E3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3D444-7193-46AD-90E8-D84AE4B61CFF}" type="slidenum">
              <a:rPr lang="en-US" smtClean="0"/>
              <a:pPr/>
              <a:t>4</a:t>
            </a:fld>
            <a:r>
              <a:rPr lang="en-US"/>
              <a:t>/</a:t>
            </a:r>
            <a:r>
              <a:rPr lang="en-US" altLang="zh-CN"/>
              <a:t>63</a:t>
            </a:r>
            <a:endParaRPr lang="en-US" dirty="0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F1BAC0E-40BE-4451-AF48-B2B41074FD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6D1B6-B1AF-7D4D-A84B-F73F4DDF98DE}" type="datetime1">
              <a:rPr lang="zh-CN" altLang="en-US" smtClean="0"/>
              <a:t>2026/5/25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229915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BF0D9CE-B1B8-4497-A717-DEED2FFCD7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87A2802C-C418-4E1E-A0F5-9EADDBEB7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Operating System Policies for Virtual Memory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4BB43E3F-BB7B-4A3B-B072-16EDC0055C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7044" y="806248"/>
            <a:ext cx="9959329" cy="5259272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19694674-09B0-4362-9E0A-B7001C93B64D}"/>
              </a:ext>
            </a:extLst>
          </p:cNvPr>
          <p:cNvSpPr txBox="1"/>
          <p:nvPr/>
        </p:nvSpPr>
        <p:spPr>
          <a:xfrm>
            <a:off x="4106091" y="955040"/>
            <a:ext cx="2565126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When</a:t>
            </a:r>
          </a:p>
          <a:p>
            <a:endParaRPr lang="en-US" sz="2400" b="1" dirty="0">
              <a:solidFill>
                <a:srgbClr val="FF0000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endParaRPr lang="en-US" sz="2400" b="1" dirty="0">
              <a:solidFill>
                <a:srgbClr val="FF0000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r>
              <a:rPr lang="en-US" sz="2400" b="1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Where</a:t>
            </a:r>
          </a:p>
          <a:p>
            <a:r>
              <a:rPr lang="en-US" altLang="zh-CN" sz="2400" b="1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(Segment</a:t>
            </a:r>
            <a:r>
              <a:rPr lang="zh-CN" altLang="en-US" sz="2400" b="1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</a:t>
            </a:r>
            <a:r>
              <a:rPr lang="en-US" altLang="zh-CN" sz="2400" b="1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only)</a:t>
            </a:r>
            <a:endParaRPr lang="en-US" sz="2400" b="1" dirty="0">
              <a:solidFill>
                <a:srgbClr val="FF0000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endParaRPr lang="en-US" sz="2400" b="1" dirty="0">
              <a:solidFill>
                <a:srgbClr val="FF0000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r>
              <a:rPr lang="en-US" altLang="zh-CN" sz="2400" b="1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W</a:t>
            </a:r>
            <a:r>
              <a:rPr lang="en-US" sz="2400" b="1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hich</a:t>
            </a:r>
          </a:p>
        </p:txBody>
      </p:sp>
    </p:spTree>
    <p:extLst>
      <p:ext uri="{BB962C8B-B14F-4D97-AF65-F5344CB8AC3E}">
        <p14:creationId xmlns:p14="http://schemas.microsoft.com/office/powerpoint/2010/main" val="24100818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51AF5C-4BC4-4356-A2B7-F023B68B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</a:t>
            </a:r>
            <a:r>
              <a:rPr lang="zh-CN" altLang="en-US" dirty="0"/>
              <a:t> </a:t>
            </a:r>
            <a:r>
              <a:rPr lang="en-US" altLang="zh-CN" dirty="0"/>
              <a:t>Fetch Policy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B9F6F8-80BA-453F-8B4E-F2DBBF328F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800" dirty="0"/>
              <a:t>Determines </a:t>
            </a:r>
            <a:r>
              <a:rPr lang="en-US" altLang="zh-CN" sz="2800" dirty="0">
                <a:solidFill>
                  <a:srgbClr val="FF0000"/>
                </a:solidFill>
              </a:rPr>
              <a:t>when</a:t>
            </a:r>
            <a:r>
              <a:rPr lang="en-US" altLang="zh-CN" sz="2800" dirty="0"/>
              <a:t> a page should be brought into memory</a:t>
            </a:r>
          </a:p>
          <a:p>
            <a:pPr lvl="1"/>
            <a:r>
              <a:rPr lang="en-US" altLang="zh-CN" sz="2400" dirty="0"/>
              <a:t>Demand</a:t>
            </a:r>
            <a:r>
              <a:rPr lang="zh-CN" altLang="en-US" sz="2400" dirty="0"/>
              <a:t> </a:t>
            </a:r>
            <a:r>
              <a:rPr lang="en-US" altLang="zh-CN" sz="2400" dirty="0"/>
              <a:t>Page</a:t>
            </a:r>
            <a:r>
              <a:rPr lang="zh-CN" altLang="en-US" sz="2400" dirty="0"/>
              <a:t> （请求分页）</a:t>
            </a:r>
            <a:endParaRPr lang="en-US" altLang="zh-CN" sz="2400" dirty="0"/>
          </a:p>
          <a:p>
            <a:pPr lvl="1"/>
            <a:r>
              <a:rPr lang="en-US" altLang="zh-CN" sz="2400" dirty="0" err="1"/>
              <a:t>Prepaging</a:t>
            </a:r>
            <a:r>
              <a:rPr lang="zh-CN" altLang="en-US" sz="2400" dirty="0"/>
              <a:t> （预先分页）</a:t>
            </a:r>
            <a:endParaRPr lang="en-US" altLang="zh-CN" sz="2400" dirty="0"/>
          </a:p>
          <a:p>
            <a:pPr lvl="1"/>
            <a:endParaRPr lang="en-US" altLang="zh-CN" dirty="0"/>
          </a:p>
          <a:p>
            <a:pPr lvl="1"/>
            <a:endParaRPr lang="en-US" altLang="zh-CN" dirty="0">
              <a:solidFill>
                <a:srgbClr val="C00000"/>
              </a:solidFill>
            </a:endParaRPr>
          </a:p>
          <a:p>
            <a:pPr lvl="1"/>
            <a:endParaRPr lang="en-US" altLang="zh-CN" dirty="0"/>
          </a:p>
          <a:p>
            <a:pPr lvl="1"/>
            <a:endParaRPr lang="zh-CN" altLang="en-US" dirty="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091E4A00-ECBC-EE4F-BB2B-F1000E258B6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03570850"/>
              </p:ext>
            </p:extLst>
          </p:nvPr>
        </p:nvGraphicFramePr>
        <p:xfrm>
          <a:off x="6004560" y="2047240"/>
          <a:ext cx="4419600" cy="3454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211744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51AF5C-4BC4-4356-A2B7-F023B68B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Fetch Policy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B9F6F8-80BA-453F-8B4E-F2DBBF328F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800" dirty="0"/>
              <a:t>Demand Paging</a:t>
            </a:r>
            <a:r>
              <a:rPr lang="zh-CN" altLang="en-US" sz="2800" dirty="0"/>
              <a:t>（请求分页）</a:t>
            </a:r>
            <a:endParaRPr lang="en-US" altLang="zh-CN" sz="2800" dirty="0"/>
          </a:p>
          <a:p>
            <a:pPr lvl="1"/>
            <a:r>
              <a:rPr lang="en-US" altLang="zh-CN" sz="2400" dirty="0"/>
              <a:t>only brings pages into main memory </a:t>
            </a:r>
            <a:r>
              <a:rPr lang="en-US" altLang="zh-CN" sz="2400" b="1" dirty="0">
                <a:solidFill>
                  <a:srgbClr val="C00000"/>
                </a:solidFill>
              </a:rPr>
              <a:t>when a reference is made </a:t>
            </a:r>
            <a:r>
              <a:rPr lang="en-US" altLang="zh-CN" sz="2400" dirty="0"/>
              <a:t>to a location on the page</a:t>
            </a:r>
          </a:p>
          <a:p>
            <a:pPr lvl="1"/>
            <a:r>
              <a:rPr lang="en-US" altLang="zh-CN" sz="2400" dirty="0"/>
              <a:t>many page faults when process is </a:t>
            </a:r>
            <a:r>
              <a:rPr lang="en-US" altLang="zh-CN" sz="2400" dirty="0">
                <a:solidFill>
                  <a:srgbClr val="C00000"/>
                </a:solidFill>
              </a:rPr>
              <a:t>first started </a:t>
            </a:r>
          </a:p>
          <a:p>
            <a:pPr lvl="1"/>
            <a:r>
              <a:rPr lang="en-US" altLang="zh-CN" sz="2400" b="1" dirty="0">
                <a:solidFill>
                  <a:srgbClr val="0070C0"/>
                </a:solidFill>
              </a:rPr>
              <a:t>Principle of locality</a:t>
            </a:r>
            <a:r>
              <a:rPr lang="zh-CN" altLang="en-US" sz="2400" b="1" dirty="0">
                <a:solidFill>
                  <a:srgbClr val="0070C0"/>
                </a:solidFill>
              </a:rPr>
              <a:t> （局部性原理）</a:t>
            </a:r>
            <a:r>
              <a:rPr lang="en-US" altLang="zh-CN" sz="2400" b="1" dirty="0">
                <a:solidFill>
                  <a:srgbClr val="0070C0"/>
                </a:solidFill>
              </a:rPr>
              <a:t> </a:t>
            </a:r>
            <a:r>
              <a:rPr lang="en-US" altLang="zh-CN" sz="2400" dirty="0"/>
              <a:t>suggests that as more and more pages are brought in, most future references will be to pages that have recently been brought in, and page faults should </a:t>
            </a:r>
            <a:r>
              <a:rPr lang="en-US" altLang="zh-CN" sz="2400" dirty="0">
                <a:solidFill>
                  <a:srgbClr val="C00000"/>
                </a:solidFill>
              </a:rPr>
              <a:t>drop to a very low level</a:t>
            </a:r>
          </a:p>
          <a:p>
            <a:pPr lvl="1"/>
            <a:endParaRPr lang="en-US" altLang="zh-CN" sz="2400" dirty="0">
              <a:solidFill>
                <a:srgbClr val="C00000"/>
              </a:solidFill>
            </a:endParaRPr>
          </a:p>
          <a:p>
            <a:pPr lvl="1"/>
            <a:endParaRPr lang="en-US" altLang="zh-CN" sz="2400" dirty="0"/>
          </a:p>
          <a:p>
            <a:pPr lvl="1"/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4143318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51AF5C-4BC4-4356-A2B7-F023B68B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Fetch Policy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B9F6F8-80BA-453F-8B4E-F2DBBF328F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800" dirty="0" err="1"/>
              <a:t>Prepaging</a:t>
            </a:r>
            <a:r>
              <a:rPr lang="zh-CN" altLang="en-US" sz="2800" dirty="0"/>
              <a:t>（预先分页）</a:t>
            </a:r>
            <a:endParaRPr lang="en-US" altLang="zh-CN" sz="2800" dirty="0"/>
          </a:p>
          <a:p>
            <a:pPr lvl="1">
              <a:tabLst>
                <a:tab pos="7105650" algn="l"/>
              </a:tabLst>
            </a:pPr>
            <a:r>
              <a:rPr lang="en-US" altLang="zh-CN" sz="2400" dirty="0"/>
              <a:t>pages other than the one demanded by a page fault are brought in</a:t>
            </a:r>
          </a:p>
          <a:p>
            <a:pPr lvl="1">
              <a:tabLst>
                <a:tab pos="7105650" algn="l"/>
              </a:tabLst>
            </a:pPr>
            <a:r>
              <a:rPr lang="en-US" altLang="zh-CN" sz="2400" dirty="0"/>
              <a:t>should not be confused with “</a:t>
            </a:r>
            <a:r>
              <a:rPr lang="en-US" altLang="zh-CN" sz="2400" dirty="0">
                <a:solidFill>
                  <a:srgbClr val="C00000"/>
                </a:solidFill>
              </a:rPr>
              <a:t>swapping</a:t>
            </a:r>
            <a:r>
              <a:rPr lang="en-US" altLang="zh-CN" sz="2400" dirty="0"/>
              <a:t>”</a:t>
            </a:r>
          </a:p>
          <a:p>
            <a:pPr lvl="1"/>
            <a:r>
              <a:rPr lang="en-US" altLang="zh-CN" sz="2400" b="1" dirty="0"/>
              <a:t>Advantages</a:t>
            </a:r>
            <a:r>
              <a:rPr lang="en-US" altLang="zh-CN" sz="2400" dirty="0"/>
              <a:t>: </a:t>
            </a:r>
          </a:p>
          <a:p>
            <a:pPr lvl="2"/>
            <a:r>
              <a:rPr lang="en-US" altLang="zh-CN" sz="2400" dirty="0"/>
              <a:t>exploits the </a:t>
            </a:r>
            <a:r>
              <a:rPr lang="en-US" altLang="zh-CN" sz="2400" dirty="0">
                <a:solidFill>
                  <a:srgbClr val="FF0000"/>
                </a:solidFill>
              </a:rPr>
              <a:t>characteristics</a:t>
            </a:r>
            <a:r>
              <a:rPr lang="en-US" altLang="zh-CN" sz="2400" dirty="0"/>
              <a:t> of most secondary memory devices.</a:t>
            </a:r>
          </a:p>
          <a:p>
            <a:pPr lvl="2"/>
            <a:r>
              <a:rPr lang="en-US" altLang="zh-CN" sz="2400" dirty="0"/>
              <a:t> if pages of a process </a:t>
            </a:r>
            <a:r>
              <a:rPr lang="en-US" altLang="zh-CN" sz="2400" dirty="0">
                <a:solidFill>
                  <a:srgbClr val="C00000"/>
                </a:solidFill>
              </a:rPr>
              <a:t>are stored contiguously </a:t>
            </a:r>
            <a:r>
              <a:rPr lang="en-US" altLang="zh-CN" sz="2400" dirty="0"/>
              <a:t>in secondary memory it is more efficient to </a:t>
            </a:r>
            <a:r>
              <a:rPr lang="en-US" altLang="zh-CN" sz="2400" dirty="0">
                <a:solidFill>
                  <a:srgbClr val="C00000"/>
                </a:solidFill>
              </a:rPr>
              <a:t>bring in a number of pages </a:t>
            </a:r>
            <a:r>
              <a:rPr lang="en-US" altLang="zh-CN" sz="2400" dirty="0"/>
              <a:t>at one time</a:t>
            </a:r>
          </a:p>
          <a:p>
            <a:pPr lvl="1"/>
            <a:r>
              <a:rPr lang="en-US" altLang="zh-CN" sz="2400" b="1" dirty="0"/>
              <a:t>Disadvantages</a:t>
            </a:r>
            <a:r>
              <a:rPr lang="en-US" altLang="zh-CN" sz="2400" dirty="0"/>
              <a:t>: ineffective if extra pages are not referenced</a:t>
            </a:r>
          </a:p>
          <a:p>
            <a:pPr lvl="1"/>
            <a:endParaRPr lang="en-US" altLang="zh-CN" sz="2400" dirty="0">
              <a:solidFill>
                <a:srgbClr val="C00000"/>
              </a:solidFill>
            </a:endParaRPr>
          </a:p>
          <a:p>
            <a:pPr lvl="1"/>
            <a:endParaRPr lang="en-US" altLang="zh-CN" sz="2400" dirty="0"/>
          </a:p>
          <a:p>
            <a:pPr lvl="1"/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2635986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51AF5C-4BC4-4356-A2B7-F023B68B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</a:t>
            </a:r>
            <a:r>
              <a:rPr lang="zh-CN" altLang="en-US" dirty="0"/>
              <a:t> </a:t>
            </a:r>
            <a:r>
              <a:rPr lang="en-US" altLang="zh-CN" dirty="0"/>
              <a:t>Placement Policy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B9F6F8-80BA-453F-8B4E-F2DBBF328F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 Determines </a:t>
            </a:r>
            <a:r>
              <a:rPr lang="en-US" altLang="zh-CN" dirty="0">
                <a:solidFill>
                  <a:srgbClr val="FF0000"/>
                </a:solidFill>
              </a:rPr>
              <a:t>where</a:t>
            </a:r>
            <a:r>
              <a:rPr lang="en-US" altLang="zh-CN" dirty="0"/>
              <a:t> in real memory a process piece is to reside</a:t>
            </a:r>
          </a:p>
          <a:p>
            <a:endParaRPr lang="en-US" altLang="zh-CN" dirty="0"/>
          </a:p>
          <a:p>
            <a:r>
              <a:rPr lang="en-US" altLang="zh-CN" dirty="0"/>
              <a:t> </a:t>
            </a:r>
            <a:r>
              <a:rPr lang="en-US" altLang="zh-CN" dirty="0">
                <a:solidFill>
                  <a:srgbClr val="C00000"/>
                </a:solidFill>
              </a:rPr>
              <a:t>Important</a:t>
            </a:r>
            <a:r>
              <a:rPr lang="en-US" altLang="zh-CN" dirty="0"/>
              <a:t> design issue in a </a:t>
            </a:r>
            <a:r>
              <a:rPr lang="en-US" altLang="zh-CN" dirty="0">
                <a:solidFill>
                  <a:srgbClr val="FF0000"/>
                </a:solidFill>
              </a:rPr>
              <a:t>segmentation</a:t>
            </a:r>
            <a:r>
              <a:rPr lang="en-US" altLang="zh-CN" dirty="0"/>
              <a:t> system,</a:t>
            </a:r>
            <a:r>
              <a:rPr lang="zh-CN" altLang="en-US" dirty="0"/>
              <a:t> </a:t>
            </a:r>
            <a:r>
              <a:rPr lang="en-US" altLang="zh-CN" dirty="0"/>
              <a:t>such as </a:t>
            </a:r>
            <a:r>
              <a:rPr lang="en-US" altLang="zh-CN" dirty="0">
                <a:solidFill>
                  <a:srgbClr val="0070C0"/>
                </a:solidFill>
              </a:rPr>
              <a:t>Best-Fit, Next-Fit, First-Fit</a:t>
            </a:r>
          </a:p>
          <a:p>
            <a:endParaRPr lang="en-US" altLang="zh-CN" dirty="0">
              <a:solidFill>
                <a:srgbClr val="0070C0"/>
              </a:solidFill>
            </a:endParaRPr>
          </a:p>
          <a:p>
            <a:r>
              <a:rPr lang="en-US" altLang="zh-CN" dirty="0"/>
              <a:t> Paging or combined paging with segmentation placing is </a:t>
            </a:r>
            <a:r>
              <a:rPr lang="en-US" altLang="zh-CN" dirty="0">
                <a:solidFill>
                  <a:srgbClr val="C00000"/>
                </a:solidFill>
              </a:rPr>
              <a:t>irrelevant</a:t>
            </a:r>
            <a:r>
              <a:rPr lang="en-US" altLang="zh-CN" dirty="0"/>
              <a:t> because </a:t>
            </a:r>
            <a:r>
              <a:rPr lang="en-US" altLang="zh-CN" dirty="0">
                <a:solidFill>
                  <a:srgbClr val="0070C0"/>
                </a:solidFill>
              </a:rPr>
              <a:t>hardware</a:t>
            </a:r>
            <a:r>
              <a:rPr lang="en-US" altLang="zh-CN" dirty="0"/>
              <a:t> performs functions with equal efficiency</a:t>
            </a:r>
          </a:p>
          <a:p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401546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51AF5C-4BC4-4356-A2B7-F023B68B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</a:t>
            </a:r>
            <a:r>
              <a:rPr lang="zh-CN" altLang="en-US" dirty="0"/>
              <a:t> </a:t>
            </a:r>
            <a:r>
              <a:rPr lang="en-US" altLang="zh-CN" dirty="0"/>
              <a:t>Replacement </a:t>
            </a:r>
            <a:r>
              <a:rPr lang="zh-CN" altLang="en-US" dirty="0"/>
              <a:t>（置换）</a:t>
            </a:r>
            <a:r>
              <a:rPr lang="en-US" altLang="zh-CN" dirty="0"/>
              <a:t>Policy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B9F6F8-80BA-453F-8B4E-F2DBBF328F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altLang="zh-CN" dirty="0"/>
              <a:t> </a:t>
            </a:r>
            <a:r>
              <a:rPr lang="en-NZ" sz="3300" dirty="0"/>
              <a:t>Deals with the </a:t>
            </a:r>
            <a:r>
              <a:rPr lang="en-NZ" sz="3300" dirty="0">
                <a:solidFill>
                  <a:srgbClr val="C00000"/>
                </a:solidFill>
              </a:rPr>
              <a:t>selection of a page </a:t>
            </a:r>
            <a:r>
              <a:rPr lang="en-NZ" sz="3300" dirty="0"/>
              <a:t>in main memory to be replaced when a new page must be brought in</a:t>
            </a:r>
          </a:p>
          <a:p>
            <a:pPr lvl="3"/>
            <a:r>
              <a:rPr lang="en-NZ" sz="2800" dirty="0"/>
              <a:t>objective is that the page that is removed be the page </a:t>
            </a:r>
            <a:r>
              <a:rPr lang="en-NZ" sz="2800" dirty="0">
                <a:solidFill>
                  <a:srgbClr val="C00000"/>
                </a:solidFill>
              </a:rPr>
              <a:t>least likely to be referenced in the near future</a:t>
            </a:r>
          </a:p>
          <a:p>
            <a:endParaRPr lang="en-US" altLang="zh-CN" dirty="0"/>
          </a:p>
          <a:p>
            <a:r>
              <a:rPr lang="en-US" altLang="zh-CN" sz="3000" dirty="0"/>
              <a:t>The </a:t>
            </a:r>
            <a:r>
              <a:rPr lang="en-US" altLang="zh-CN" sz="3000" dirty="0">
                <a:solidFill>
                  <a:srgbClr val="0070C0"/>
                </a:solidFill>
              </a:rPr>
              <a:t>more elaborate </a:t>
            </a:r>
            <a:r>
              <a:rPr lang="en-US" altLang="zh-CN" sz="3000" dirty="0"/>
              <a:t>the replacement policy, the </a:t>
            </a:r>
            <a:r>
              <a:rPr lang="en-US" altLang="zh-CN" sz="3000" dirty="0">
                <a:solidFill>
                  <a:srgbClr val="0070C0"/>
                </a:solidFill>
              </a:rPr>
              <a:t>greater</a:t>
            </a:r>
            <a:r>
              <a:rPr lang="en-US" altLang="zh-CN" sz="3000" dirty="0"/>
              <a:t> the hardware and software </a:t>
            </a:r>
            <a:r>
              <a:rPr lang="en-US" altLang="zh-CN" sz="3000" dirty="0">
                <a:solidFill>
                  <a:srgbClr val="0070C0"/>
                </a:solidFill>
              </a:rPr>
              <a:t>overhead</a:t>
            </a:r>
            <a:r>
              <a:rPr lang="en-US" altLang="zh-CN" sz="3000" dirty="0"/>
              <a:t> to implement it</a:t>
            </a:r>
          </a:p>
          <a:p>
            <a:endParaRPr lang="en-US" altLang="zh-CN" sz="3000" dirty="0"/>
          </a:p>
          <a:p>
            <a:r>
              <a:rPr lang="en-US" altLang="zh-CN" sz="3000" dirty="0"/>
              <a:t>Algorithms used for the selection of a page to replace:</a:t>
            </a:r>
          </a:p>
          <a:p>
            <a:pPr lvl="1"/>
            <a:r>
              <a:rPr lang="en-US" altLang="zh-CN" sz="2600" dirty="0"/>
              <a:t>Optimal</a:t>
            </a:r>
          </a:p>
          <a:p>
            <a:pPr lvl="1"/>
            <a:r>
              <a:rPr lang="en-US" altLang="zh-CN" sz="2600" dirty="0"/>
              <a:t>Least recently used (LRU)</a:t>
            </a:r>
          </a:p>
          <a:p>
            <a:pPr lvl="1"/>
            <a:r>
              <a:rPr lang="en-US" altLang="zh-CN" sz="2600" dirty="0"/>
              <a:t>First-in-first-out (FIFO)</a:t>
            </a:r>
          </a:p>
          <a:p>
            <a:pPr lvl="1"/>
            <a:r>
              <a:rPr lang="en-US" altLang="zh-CN" sz="2600" dirty="0"/>
              <a:t>Clock</a:t>
            </a:r>
          </a:p>
          <a:p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05349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88EF11-635E-E74F-8A05-47CC2D33CD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Frame Locking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A85BCE-D3E1-2047-B892-D80B480E2D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SzPct val="125000"/>
              <a:buFont typeface="Wingdings" charset="2"/>
              <a:buChar char="§"/>
            </a:pPr>
            <a:r>
              <a:rPr lang="en-US" dirty="0"/>
              <a:t>When a frame is locked the page currently stored in that frame may not be replaced</a:t>
            </a:r>
          </a:p>
          <a:p>
            <a:pPr marL="1092200" lvl="1" indent="-292100">
              <a:buSzPct val="125000"/>
              <a:buFont typeface="Wingdings" charset="2"/>
              <a:buChar char="§"/>
            </a:pPr>
            <a:r>
              <a:rPr lang="en-US" sz="2400" dirty="0"/>
              <a:t>kernel of the OS as well as key control structures are held in locked frames</a:t>
            </a:r>
          </a:p>
          <a:p>
            <a:pPr marL="1092200" lvl="1" indent="-292100">
              <a:buSzPct val="125000"/>
              <a:buFont typeface="Wingdings" charset="2"/>
              <a:buChar char="§"/>
            </a:pPr>
            <a:r>
              <a:rPr lang="en-US" sz="2400" dirty="0"/>
              <a:t>I/O buffers and time-critical areas may be locked into main memory frames</a:t>
            </a:r>
          </a:p>
          <a:p>
            <a:pPr marL="1092200" lvl="1" indent="-292100">
              <a:buSzPct val="125000"/>
              <a:buFont typeface="Wingdings" charset="2"/>
              <a:buChar char="§"/>
            </a:pPr>
            <a:r>
              <a:rPr lang="en-US" sz="2400" dirty="0"/>
              <a:t>locking is achieved by associating a lock bit with each frame</a:t>
            </a:r>
          </a:p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117AED-02B2-514B-9E56-5ED1E8A29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3D444-7193-46AD-90E8-D84AE4B61CFF}" type="slidenum">
              <a:rPr lang="en-US" smtClean="0"/>
              <a:pPr/>
              <a:t>11</a:t>
            </a:fld>
            <a:r>
              <a:rPr lang="en-US"/>
              <a:t>/</a:t>
            </a:r>
            <a:r>
              <a:rPr lang="en-US" altLang="zh-CN"/>
              <a:t>63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CDA32A-D381-734B-B615-AACB016413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6D1B6-B1AF-7D4D-A84B-F73F4DDF98DE}" type="datetime1">
              <a:rPr lang="zh-CN" altLang="en-US" smtClean="0"/>
              <a:t>2026/5/25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746116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51AF5C-4BC4-4356-A2B7-F023B68B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Replacement </a:t>
            </a:r>
            <a:r>
              <a:rPr lang="zh-CN" altLang="en-US" dirty="0"/>
              <a:t>（置换）</a:t>
            </a:r>
            <a:r>
              <a:rPr lang="en-US" altLang="zh-CN" dirty="0"/>
              <a:t>Policy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B9F6F8-80BA-453F-8B4E-F2DBBF328F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800" dirty="0"/>
              <a:t>Algorithms used for the selection of a page to replace:</a:t>
            </a:r>
          </a:p>
          <a:p>
            <a:pPr lvl="1"/>
            <a:r>
              <a:rPr lang="en-US" altLang="zh-CN" sz="2400" dirty="0"/>
              <a:t>Optimal</a:t>
            </a:r>
            <a:r>
              <a:rPr lang="zh-CN" altLang="en-US" sz="2400" dirty="0"/>
              <a:t>（最优，</a:t>
            </a:r>
            <a:r>
              <a:rPr lang="en-US" altLang="zh-CN" sz="2400" dirty="0"/>
              <a:t>OPT</a:t>
            </a:r>
            <a:r>
              <a:rPr lang="zh-CN" altLang="en-US" sz="2400" dirty="0"/>
              <a:t>）</a:t>
            </a:r>
            <a:endParaRPr lang="en-US" altLang="zh-CN" sz="2400" dirty="0"/>
          </a:p>
          <a:p>
            <a:pPr lvl="1"/>
            <a:r>
              <a:rPr lang="en-US" altLang="zh-CN" sz="2400" dirty="0"/>
              <a:t>Least recently used (</a:t>
            </a:r>
            <a:r>
              <a:rPr lang="zh-CN" altLang="en-US" sz="2400" dirty="0"/>
              <a:t>最近最少使用，</a:t>
            </a:r>
            <a:r>
              <a:rPr lang="en-US" altLang="zh-CN" sz="2400" dirty="0"/>
              <a:t>LRU)</a:t>
            </a:r>
          </a:p>
          <a:p>
            <a:pPr lvl="1"/>
            <a:r>
              <a:rPr lang="en-US" altLang="zh-CN" sz="2400" dirty="0"/>
              <a:t>First-in-first-out (FIFO)</a:t>
            </a:r>
          </a:p>
          <a:p>
            <a:pPr lvl="1"/>
            <a:r>
              <a:rPr lang="en-US" altLang="zh-CN" sz="2400" dirty="0"/>
              <a:t>Clock</a:t>
            </a:r>
          </a:p>
          <a:p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812181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51AF5C-4BC4-4356-A2B7-F023B68B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Optimal Policy 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B9F6F8-80BA-453F-8B4E-F2DBBF328F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Selects the page for which the time to the </a:t>
            </a:r>
            <a:r>
              <a:rPr lang="en-US" altLang="zh-CN" dirty="0">
                <a:solidFill>
                  <a:srgbClr val="0070C0"/>
                </a:solidFill>
              </a:rPr>
              <a:t>next reference is the longest</a:t>
            </a:r>
          </a:p>
          <a:p>
            <a:r>
              <a:rPr lang="en-US" altLang="zh-CN" dirty="0"/>
              <a:t>Produces three page faults after the frame allocation has been filled</a:t>
            </a:r>
          </a:p>
          <a:p>
            <a:r>
              <a:rPr lang="en-US" altLang="zh-CN" dirty="0"/>
              <a:t>This policy is impossible to implement, because it would require the OS to have </a:t>
            </a:r>
            <a:r>
              <a:rPr lang="en-US" altLang="zh-CN" dirty="0">
                <a:solidFill>
                  <a:srgbClr val="0070C0"/>
                </a:solidFill>
              </a:rPr>
              <a:t>perfect knowledge of future events</a:t>
            </a:r>
            <a:r>
              <a:rPr lang="en-US" altLang="zh-CN" dirty="0"/>
              <a:t>.</a:t>
            </a:r>
          </a:p>
          <a:p>
            <a:endParaRPr lang="en-US" altLang="zh-CN" dirty="0"/>
          </a:p>
          <a:p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A544688-ABDB-49A2-B6A7-7E98905382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614" y="3557326"/>
            <a:ext cx="10646177" cy="2091633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1B20D3ED-7081-4D12-A85B-FC5C8BB52D95}"/>
              </a:ext>
            </a:extLst>
          </p:cNvPr>
          <p:cNvSpPr txBox="1"/>
          <p:nvPr/>
        </p:nvSpPr>
        <p:spPr>
          <a:xfrm>
            <a:off x="2875279" y="5735377"/>
            <a:ext cx="73079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>
                <a:solidFill>
                  <a:srgbClr val="231F20"/>
                </a:solidFill>
                <a:effectLst/>
                <a:latin typeface="TimesLTPro-Roman"/>
              </a:rPr>
              <a:t>F = page fault occurring after the frame allocation is initially filled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83935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51AF5C-4BC4-4356-A2B7-F023B68B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Least Recently Used (LRU)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B9F6F8-80BA-453F-8B4E-F2DBBF328F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Replaces the page that has </a:t>
            </a:r>
            <a:r>
              <a:rPr lang="en-US" altLang="zh-CN" dirty="0">
                <a:solidFill>
                  <a:srgbClr val="C00000"/>
                </a:solidFill>
              </a:rPr>
              <a:t>not been referenced for the longest time</a:t>
            </a:r>
          </a:p>
          <a:p>
            <a:r>
              <a:rPr lang="en-US" altLang="zh-CN" dirty="0"/>
              <a:t>By the </a:t>
            </a:r>
            <a:r>
              <a:rPr lang="en-US" altLang="zh-CN" dirty="0">
                <a:solidFill>
                  <a:srgbClr val="0070C0"/>
                </a:solidFill>
              </a:rPr>
              <a:t>principle of locality</a:t>
            </a:r>
            <a:r>
              <a:rPr lang="en-US" altLang="zh-CN" dirty="0"/>
              <a:t>, this should be the page least likely to be referenced in the near future</a:t>
            </a:r>
          </a:p>
          <a:p>
            <a:r>
              <a:rPr lang="en-US" altLang="zh-CN" dirty="0"/>
              <a:t>Difficult to implement</a:t>
            </a:r>
          </a:p>
          <a:p>
            <a:pPr lvl="1"/>
            <a:r>
              <a:rPr lang="en-US" altLang="zh-CN" sz="2400" dirty="0"/>
              <a:t>one approach is to tag each page with </a:t>
            </a:r>
            <a:r>
              <a:rPr lang="en-US" altLang="zh-CN" sz="2400" dirty="0">
                <a:solidFill>
                  <a:srgbClr val="0070C0"/>
                </a:solidFill>
              </a:rPr>
              <a:t>the time of last reference</a:t>
            </a:r>
          </a:p>
          <a:p>
            <a:pPr lvl="1"/>
            <a:r>
              <a:rPr lang="en-US" altLang="zh-CN" sz="2400" dirty="0"/>
              <a:t>Another  is to maintain </a:t>
            </a:r>
            <a:r>
              <a:rPr lang="en-US" altLang="zh-CN" sz="2400" dirty="0">
                <a:solidFill>
                  <a:srgbClr val="0070C0"/>
                </a:solidFill>
              </a:rPr>
              <a:t>a visited stack</a:t>
            </a:r>
            <a:r>
              <a:rPr lang="en-US" altLang="zh-CN" sz="2400" dirty="0"/>
              <a:t>.</a:t>
            </a:r>
          </a:p>
          <a:p>
            <a:pPr lvl="1"/>
            <a:r>
              <a:rPr lang="en-US" altLang="zh-CN" sz="2400" dirty="0"/>
              <a:t>Both require a </a:t>
            </a:r>
            <a:r>
              <a:rPr lang="en-US" altLang="zh-CN" sz="2400" dirty="0">
                <a:solidFill>
                  <a:srgbClr val="FF0000"/>
                </a:solidFill>
              </a:rPr>
              <a:t>great deal of overhead</a:t>
            </a:r>
          </a:p>
          <a:p>
            <a:endParaRPr lang="zh-CN" altLang="en-US" dirty="0"/>
          </a:p>
        </p:txBody>
      </p:sp>
      <p:pic>
        <p:nvPicPr>
          <p:cNvPr id="7" name="图片 3">
            <a:extLst>
              <a:ext uri="{FF2B5EF4-FFF2-40B4-BE49-F238E27FC236}">
                <a16:creationId xmlns:a16="http://schemas.microsoft.com/office/drawing/2014/main" id="{26024D91-8448-8F49-97F7-433839FAA6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854" y="4185921"/>
            <a:ext cx="10834735" cy="877842"/>
          </a:xfrm>
          <a:prstGeom prst="rect">
            <a:avLst/>
          </a:prstGeom>
        </p:spPr>
      </p:pic>
      <p:pic>
        <p:nvPicPr>
          <p:cNvPr id="8" name="图片 5">
            <a:extLst>
              <a:ext uri="{FF2B5EF4-FFF2-40B4-BE49-F238E27FC236}">
                <a16:creationId xmlns:a16="http://schemas.microsoft.com/office/drawing/2014/main" id="{4B2AD79C-300B-E447-8CB7-86D5E30A93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1585" y="5019040"/>
            <a:ext cx="10172099" cy="1197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61487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51AF5C-4BC4-4356-A2B7-F023B68B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First-in-First-out (FIFO)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B9F6F8-80BA-453F-8B4E-F2DBBF328F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Page that has been </a:t>
            </a:r>
            <a:r>
              <a:rPr lang="en-US" sz="2800" dirty="0">
                <a:solidFill>
                  <a:srgbClr val="C00000"/>
                </a:solidFill>
              </a:rPr>
              <a:t>in memory the longest </a:t>
            </a:r>
            <a:r>
              <a:rPr lang="en-US" sz="2800" dirty="0"/>
              <a:t>is replaced</a:t>
            </a:r>
          </a:p>
          <a:p>
            <a:r>
              <a:rPr lang="en-US" altLang="zh-CN" sz="2800" dirty="0"/>
              <a:t>Treats page frames allocated to a process as </a:t>
            </a:r>
            <a:r>
              <a:rPr lang="en-US" altLang="zh-CN" sz="2800" dirty="0">
                <a:solidFill>
                  <a:srgbClr val="0070C0"/>
                </a:solidFill>
              </a:rPr>
              <a:t>a circular buffer</a:t>
            </a:r>
          </a:p>
          <a:p>
            <a:r>
              <a:rPr lang="en-US" altLang="zh-CN" sz="2800" dirty="0"/>
              <a:t>Pages are removed in round-robin style</a:t>
            </a:r>
          </a:p>
          <a:p>
            <a:pPr lvl="1"/>
            <a:r>
              <a:rPr lang="en-US" altLang="zh-CN" sz="2400" dirty="0"/>
              <a:t>simplest replacement policy to implement</a:t>
            </a:r>
          </a:p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63A0C2C-24B2-4798-85C6-76F693862D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87" y="3399200"/>
            <a:ext cx="11465657" cy="92896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FDD66B54-2980-407E-85E4-DAC16AD25D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381" y="4358640"/>
            <a:ext cx="10615665" cy="1292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05609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51AF5C-4BC4-4356-A2B7-F023B68B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Clock Policy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B9F6F8-80BA-453F-8B4E-F2DBBF328F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altLang="zh-CN" dirty="0"/>
              <a:t>Requires the association of an </a:t>
            </a:r>
            <a:r>
              <a:rPr lang="en-US" altLang="zh-CN" dirty="0">
                <a:solidFill>
                  <a:srgbClr val="FF0000"/>
                </a:solidFill>
              </a:rPr>
              <a:t>additional bit </a:t>
            </a:r>
            <a:r>
              <a:rPr lang="en-US" altLang="zh-CN" dirty="0"/>
              <a:t>with each frame</a:t>
            </a:r>
            <a:r>
              <a:rPr lang="zh-CN" altLang="en-US" dirty="0"/>
              <a:t>，</a:t>
            </a:r>
            <a:r>
              <a:rPr lang="en-US" altLang="zh-CN" dirty="0"/>
              <a:t>referred to as the</a:t>
            </a:r>
            <a:r>
              <a:rPr lang="en-US" altLang="zh-CN" dirty="0">
                <a:solidFill>
                  <a:srgbClr val="FF0000"/>
                </a:solidFill>
              </a:rPr>
              <a:t> use bit</a:t>
            </a:r>
          </a:p>
          <a:p>
            <a:r>
              <a:rPr lang="en-US" sz="2400" dirty="0"/>
              <a:t>The set of frames is considered to be a </a:t>
            </a:r>
            <a:r>
              <a:rPr lang="en-US" sz="2400" dirty="0">
                <a:solidFill>
                  <a:srgbClr val="C00000"/>
                </a:solidFill>
              </a:rPr>
              <a:t>circular buffer</a:t>
            </a:r>
            <a:endParaRPr lang="en-US" altLang="zh-CN" dirty="0">
              <a:solidFill>
                <a:srgbClr val="C00000"/>
              </a:solidFill>
            </a:endParaRPr>
          </a:p>
          <a:p>
            <a:r>
              <a:rPr lang="en-US" altLang="zh-CN" dirty="0"/>
              <a:t>find a frame with a use bit set to </a:t>
            </a:r>
            <a:r>
              <a:rPr lang="en-US" altLang="zh-CN" dirty="0">
                <a:solidFill>
                  <a:srgbClr val="FF0000"/>
                </a:solidFill>
              </a:rPr>
              <a:t>0 </a:t>
            </a:r>
            <a:r>
              <a:rPr lang="en-US" altLang="zh-CN" dirty="0"/>
              <a:t>to replace new page</a:t>
            </a:r>
            <a:endParaRPr lang="en-US" altLang="zh-CN" sz="2000" dirty="0">
              <a:solidFill>
                <a:srgbClr val="0070C0"/>
              </a:solidFill>
            </a:endParaRPr>
          </a:p>
          <a:p>
            <a:pPr lvl="1">
              <a:lnSpc>
                <a:spcPct val="150000"/>
              </a:lnSpc>
            </a:pPr>
            <a:r>
              <a:rPr lang="en-US" altLang="zh-CN" b="1" dirty="0"/>
              <a:t>Case1</a:t>
            </a:r>
            <a:r>
              <a:rPr lang="en-US" altLang="zh-CN" dirty="0"/>
              <a:t>: When a page is first </a:t>
            </a:r>
            <a:r>
              <a:rPr lang="en-US" altLang="zh-CN" b="1" dirty="0">
                <a:solidFill>
                  <a:srgbClr val="FF0000"/>
                </a:solidFill>
              </a:rPr>
              <a:t>loaded</a:t>
            </a:r>
            <a:r>
              <a:rPr lang="en-US" altLang="zh-CN" dirty="0"/>
              <a:t> in memory or </a:t>
            </a:r>
            <a:r>
              <a:rPr lang="en-US" altLang="zh-CN" b="1" dirty="0">
                <a:solidFill>
                  <a:srgbClr val="FF0000"/>
                </a:solidFill>
              </a:rPr>
              <a:t>referenced</a:t>
            </a:r>
            <a:r>
              <a:rPr lang="en-US" altLang="zh-CN" dirty="0"/>
              <a:t>, the use bit is set to</a:t>
            </a:r>
            <a:r>
              <a:rPr lang="en-US" altLang="zh-CN" b="1" dirty="0">
                <a:solidFill>
                  <a:srgbClr val="FF0000"/>
                </a:solidFill>
              </a:rPr>
              <a:t> 1</a:t>
            </a:r>
          </a:p>
          <a:p>
            <a:pPr lvl="1">
              <a:lnSpc>
                <a:spcPct val="150000"/>
              </a:lnSpc>
            </a:pPr>
            <a:r>
              <a:rPr lang="en-US" altLang="zh-CN" b="1" dirty="0"/>
              <a:t>Case2</a:t>
            </a:r>
            <a:r>
              <a:rPr lang="en-US" altLang="zh-CN" dirty="0"/>
              <a:t>: encounters a frame with a use bit of 1, it resets that bit to</a:t>
            </a:r>
            <a:r>
              <a:rPr lang="en-US" altLang="zh-CN" b="1" dirty="0">
                <a:solidFill>
                  <a:srgbClr val="FF0000"/>
                </a:solidFill>
              </a:rPr>
              <a:t> 0 </a:t>
            </a:r>
            <a:r>
              <a:rPr lang="en-US" altLang="zh-CN" dirty="0"/>
              <a:t>and continues on.</a:t>
            </a:r>
          </a:p>
          <a:p>
            <a:pPr lvl="1">
              <a:lnSpc>
                <a:spcPct val="150000"/>
              </a:lnSpc>
            </a:pPr>
            <a:r>
              <a:rPr lang="en-US" altLang="zh-CN" b="1" dirty="0"/>
              <a:t>Case3</a:t>
            </a:r>
            <a:r>
              <a:rPr lang="en-US" altLang="zh-CN" dirty="0"/>
              <a:t>: If all frames’ use bits are </a:t>
            </a:r>
            <a:r>
              <a:rPr lang="en-US" altLang="zh-CN" dirty="0">
                <a:solidFill>
                  <a:srgbClr val="FF0000"/>
                </a:solidFill>
              </a:rPr>
              <a:t>0</a:t>
            </a:r>
            <a:r>
              <a:rPr lang="en-US" altLang="zh-CN" dirty="0"/>
              <a:t>, the </a:t>
            </a:r>
            <a:r>
              <a:rPr lang="en-US" altLang="zh-CN" dirty="0">
                <a:solidFill>
                  <a:srgbClr val="FF0000"/>
                </a:solidFill>
              </a:rPr>
              <a:t>first</a:t>
            </a:r>
            <a:r>
              <a:rPr lang="en-US" altLang="zh-CN" dirty="0"/>
              <a:t> such frame encountered is chosen for replacement.</a:t>
            </a:r>
          </a:p>
          <a:p>
            <a:pPr lvl="1">
              <a:lnSpc>
                <a:spcPct val="150000"/>
              </a:lnSpc>
            </a:pPr>
            <a:r>
              <a:rPr lang="en-US" altLang="zh-CN" b="1" dirty="0"/>
              <a:t>Case4</a:t>
            </a:r>
            <a:r>
              <a:rPr lang="en-US" altLang="zh-CN" dirty="0"/>
              <a:t>: If all frames’ use bits are </a:t>
            </a:r>
            <a:r>
              <a:rPr lang="en-US" altLang="zh-CN" dirty="0">
                <a:solidFill>
                  <a:srgbClr val="FF0000"/>
                </a:solidFill>
              </a:rPr>
              <a:t>1</a:t>
            </a:r>
            <a:r>
              <a:rPr lang="en-US" altLang="zh-CN" dirty="0"/>
              <a:t>, setting all the use bits to </a:t>
            </a:r>
            <a:r>
              <a:rPr lang="en-US" altLang="zh-CN" dirty="0">
                <a:solidFill>
                  <a:srgbClr val="FF0000"/>
                </a:solidFill>
              </a:rPr>
              <a:t>0</a:t>
            </a:r>
            <a:r>
              <a:rPr lang="en-US" altLang="zh-CN" dirty="0"/>
              <a:t>, and stop at its </a:t>
            </a:r>
            <a:r>
              <a:rPr lang="en-US" altLang="zh-CN" dirty="0">
                <a:solidFill>
                  <a:srgbClr val="FF0000"/>
                </a:solidFill>
              </a:rPr>
              <a:t>original position</a:t>
            </a:r>
            <a:r>
              <a:rPr lang="en-US" altLang="zh-CN" dirty="0"/>
              <a:t>, replacing the page in that frame. </a:t>
            </a:r>
          </a:p>
          <a:p>
            <a:pPr lvl="1"/>
            <a:endParaRPr lang="en-US" altLang="zh-CN" sz="1800" dirty="0"/>
          </a:p>
        </p:txBody>
      </p:sp>
    </p:spTree>
    <p:extLst>
      <p:ext uri="{BB962C8B-B14F-4D97-AF65-F5344CB8AC3E}">
        <p14:creationId xmlns:p14="http://schemas.microsoft.com/office/powerpoint/2010/main" val="29515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51AF5C-4BC4-4356-A2B7-F023B68B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Clock Policy</a:t>
            </a:r>
            <a:endParaRPr lang="zh-CN" altLang="en-US" dirty="0"/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51B047D-F930-4918-BF46-0DE556281E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C083CFB3-A02C-424F-B1B8-42B1E2BF9A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8106" y="1277464"/>
            <a:ext cx="4927724" cy="4477449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FCC29EAD-A5EF-4B7E-A819-7EC6EB9D5C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1674" y="1375341"/>
            <a:ext cx="3915566" cy="4317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98383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51AF5C-4BC4-4356-A2B7-F023B68B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Clock Policy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B9F6F8-80BA-453F-8B4E-F2DBBF328F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71450" lvl="1">
              <a:spcBef>
                <a:spcPts val="750"/>
              </a:spcBef>
              <a:buFont typeface="Wingdings" panose="05000000000000000000" pitchFamily="2" charset="2"/>
              <a:buChar char="q"/>
            </a:pPr>
            <a:r>
              <a:rPr lang="en-US" altLang="zh-CN" sz="2400" b="1" dirty="0"/>
              <a:t>The set of </a:t>
            </a:r>
            <a:r>
              <a:rPr lang="en-US" altLang="zh-CN" sz="2400" b="1" dirty="0">
                <a:solidFill>
                  <a:srgbClr val="0070C0"/>
                </a:solidFill>
              </a:rPr>
              <a:t>frames</a:t>
            </a:r>
            <a:r>
              <a:rPr lang="en-US" altLang="zh-CN" sz="2400" b="1" dirty="0"/>
              <a:t> is considered to be </a:t>
            </a:r>
            <a:r>
              <a:rPr lang="en-US" altLang="zh-CN" sz="2400" b="1" dirty="0">
                <a:solidFill>
                  <a:srgbClr val="0070C0"/>
                </a:solidFill>
              </a:rPr>
              <a:t>a circular buffer, </a:t>
            </a:r>
            <a:r>
              <a:rPr lang="en-US" altLang="zh-CN" sz="2400" b="1" dirty="0"/>
              <a:t>with a </a:t>
            </a:r>
            <a:r>
              <a:rPr lang="en-US" altLang="zh-CN" sz="2400" b="1" dirty="0">
                <a:solidFill>
                  <a:srgbClr val="0070C0"/>
                </a:solidFill>
              </a:rPr>
              <a:t>pointer</a:t>
            </a:r>
            <a:r>
              <a:rPr lang="zh-CN" altLang="en-US" sz="2400" b="1" dirty="0"/>
              <a:t>，</a:t>
            </a:r>
            <a:endParaRPr lang="en-US" altLang="zh-CN" sz="2400" b="1" dirty="0"/>
          </a:p>
          <a:p>
            <a:pPr marL="171450" lvl="1">
              <a:spcBef>
                <a:spcPts val="750"/>
              </a:spcBef>
              <a:buFont typeface="Wingdings" panose="05000000000000000000" pitchFamily="2" charset="2"/>
              <a:buChar char="q"/>
            </a:pPr>
            <a:r>
              <a:rPr lang="en-US" altLang="zh-CN" sz="2400" b="1" dirty="0"/>
              <a:t>When a page is replaced, the pointer is set to </a:t>
            </a:r>
            <a:r>
              <a:rPr lang="en-US" altLang="zh-CN" sz="2400" b="1" dirty="0">
                <a:solidFill>
                  <a:srgbClr val="0070C0"/>
                </a:solidFill>
              </a:rPr>
              <a:t>indicate the next frame</a:t>
            </a:r>
            <a:r>
              <a:rPr lang="en-US" altLang="zh-CN" sz="2400" b="1" dirty="0"/>
              <a:t> in the buffer after the one just updated</a:t>
            </a:r>
          </a:p>
          <a:p>
            <a:endParaRPr lang="en-US" altLang="zh-CN" sz="2000" dirty="0"/>
          </a:p>
          <a:p>
            <a:endParaRPr lang="zh-CN" altLang="en-US" sz="200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E0FDF77-B7A7-4DEF-8011-43F72381F4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832" y="2999377"/>
            <a:ext cx="11060022" cy="896095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D5DC8A2D-E425-4B84-9F6B-F6270E50AF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906" y="3981154"/>
            <a:ext cx="10777689" cy="1129325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CA0313D4-1CB5-49E0-9CBA-4E28BB14CC1C}"/>
              </a:ext>
            </a:extLst>
          </p:cNvPr>
          <p:cNvSpPr txBox="1"/>
          <p:nvPr/>
        </p:nvSpPr>
        <p:spPr>
          <a:xfrm>
            <a:off x="5152572" y="-1721908"/>
            <a:ext cx="116332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231F20"/>
                </a:solidFill>
                <a:effectLst/>
                <a:latin typeface="TimesTenLTStd-Roman"/>
              </a:rPr>
              <a:t>Each time it encounters a frame with a use bit of 1, it resets that bit to 0 and </a:t>
            </a:r>
            <a:endParaRPr lang="en-US" dirty="0"/>
          </a:p>
          <a:p>
            <a:r>
              <a:rPr lang="en-US" sz="1800" dirty="0">
                <a:solidFill>
                  <a:srgbClr val="231F20"/>
                </a:solidFill>
                <a:effectLst/>
                <a:latin typeface="TimesTenLTStd-Roman"/>
              </a:rPr>
              <a:t>continues on. If any of the frames in the buffer have a use bit of 0 at the beginning of </a:t>
            </a:r>
            <a:endParaRPr lang="en-US" dirty="0"/>
          </a:p>
          <a:p>
            <a:r>
              <a:rPr lang="en-US" sz="1800" dirty="0">
                <a:solidFill>
                  <a:srgbClr val="231F20"/>
                </a:solidFill>
                <a:effectLst/>
                <a:latin typeface="TimesTenLTStd-Roman"/>
              </a:rPr>
              <a:t>this process, the first such frame encountered is chosen for replacement. If all of the </a:t>
            </a:r>
            <a:endParaRPr lang="en-US" dirty="0"/>
          </a:p>
          <a:p>
            <a:r>
              <a:rPr lang="en-US" sz="1800" dirty="0">
                <a:solidFill>
                  <a:srgbClr val="231F20"/>
                </a:solidFill>
                <a:effectLst/>
                <a:latin typeface="TimesTenLTStd-Roman"/>
              </a:rPr>
              <a:t>frames have a use bit of 1, then the pointer will make one complete cycle through the </a:t>
            </a:r>
            <a:endParaRPr lang="en-US" dirty="0"/>
          </a:p>
          <a:p>
            <a:r>
              <a:rPr lang="en-US" sz="1800" dirty="0">
                <a:solidFill>
                  <a:srgbClr val="231F20"/>
                </a:solidFill>
                <a:effectLst/>
                <a:latin typeface="TimesTenLTStd-Roman"/>
              </a:rPr>
              <a:t>buffer, setting all the use bits to 0, and stop at its original position, replacing the page </a:t>
            </a:r>
            <a:endParaRPr lang="en-US" dirty="0"/>
          </a:p>
          <a:p>
            <a:r>
              <a:rPr lang="en-US" sz="1800" dirty="0">
                <a:solidFill>
                  <a:srgbClr val="231F20"/>
                </a:solidFill>
                <a:effectLst/>
                <a:latin typeface="TimesTenLTStd-Roman"/>
              </a:rPr>
              <a:t>in that frame.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39225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51AF5C-4BC4-4356-A2B7-F023B68B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Combined Examples</a:t>
            </a:r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F15D0ACF-74A4-4907-A529-EC161C2D38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8000" y="806995"/>
            <a:ext cx="7239989" cy="5309325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5C7F1211-517C-41B4-B27A-A86949558FAD}"/>
              </a:ext>
            </a:extLst>
          </p:cNvPr>
          <p:cNvSpPr txBox="1"/>
          <p:nvPr/>
        </p:nvSpPr>
        <p:spPr>
          <a:xfrm>
            <a:off x="2502263" y="597629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dirty="0">
                <a:solidFill>
                  <a:srgbClr val="231F20"/>
                </a:solidFill>
                <a:effectLst/>
                <a:latin typeface="TimesTenLTStd-Bold"/>
              </a:rPr>
              <a:t>Behavior of Four Page Replacement Algorithms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2883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51AF5C-4BC4-4356-A2B7-F023B68B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Comparison of Algorithms</a:t>
            </a: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904EE97-36C3-4BDC-91EE-2F6EE6E4D7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62861" y="2694923"/>
            <a:ext cx="603556" cy="1249788"/>
          </a:xfrm>
          <a:prstGeom prst="rect">
            <a:avLst/>
          </a:prstGeom>
        </p:spPr>
      </p:pic>
      <p:sp>
        <p:nvSpPr>
          <p:cNvPr id="5" name="内容占位符 4">
            <a:extLst>
              <a:ext uri="{FF2B5EF4-FFF2-40B4-BE49-F238E27FC236}">
                <a16:creationId xmlns:a16="http://schemas.microsoft.com/office/drawing/2014/main" id="{6C4BA766-79D9-4E91-ADF5-66C3990121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851C3928-4030-4D57-A1FE-F822DC7F30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6626" y="1271306"/>
            <a:ext cx="7904449" cy="4469094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79F95CC6-7158-4D27-B033-B31394045AD2}"/>
              </a:ext>
            </a:extLst>
          </p:cNvPr>
          <p:cNvSpPr txBox="1"/>
          <p:nvPr/>
        </p:nvSpPr>
        <p:spPr>
          <a:xfrm>
            <a:off x="2416629" y="5788842"/>
            <a:ext cx="78812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dirty="0">
                <a:solidFill>
                  <a:srgbClr val="231F20"/>
                </a:solidFill>
                <a:effectLst/>
                <a:latin typeface="TimesTenLTStd-Bold"/>
              </a:rPr>
              <a:t>Comparison of Fixed-Allocation, Local Page Replacement Algorithms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81109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20B714-3F85-394A-B38E-BCE758D7D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Page</a:t>
            </a:r>
            <a:r>
              <a:rPr lang="zh-CN" altLang="en-US" dirty="0"/>
              <a:t> </a:t>
            </a:r>
            <a:r>
              <a:rPr lang="en-US" altLang="zh-CN" dirty="0"/>
              <a:t>Buffering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6D7FFE-634F-F343-AC2D-85A2EBEE2C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Improves paging performance and allows the use of a simpler page replacement policy</a:t>
            </a:r>
          </a:p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242296-8CD5-6E48-9C27-487E282D5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3D444-7193-46AD-90E8-D84AE4B61CFF}" type="slidenum">
              <a:rPr lang="en-US" smtClean="0"/>
              <a:pPr/>
              <a:t>21</a:t>
            </a:fld>
            <a:r>
              <a:rPr lang="en-US"/>
              <a:t>/</a:t>
            </a:r>
            <a:r>
              <a:rPr lang="en-US" altLang="zh-CN"/>
              <a:t>63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32806D-A6D5-3844-B84C-0FD4303C3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6D1B6-B1AF-7D4D-A84B-F73F4DDF98DE}" type="datetime1">
              <a:rPr lang="zh-CN" altLang="en-US" smtClean="0"/>
              <a:t>2026/5/25</a:t>
            </a:fld>
            <a:endParaRPr lang="zh-CN" altLang="en-US" dirty="0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E17EE8F9-B546-7849-B6EC-3DCCCE3C884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33494919"/>
              </p:ext>
            </p:extLst>
          </p:nvPr>
        </p:nvGraphicFramePr>
        <p:xfrm>
          <a:off x="1681480" y="1772920"/>
          <a:ext cx="9697720" cy="4292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856374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51AF5C-4BC4-4356-A2B7-F023B68B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</a:t>
            </a:r>
            <a:r>
              <a:rPr lang="zh-CN" altLang="en-US" dirty="0"/>
              <a:t> </a:t>
            </a:r>
            <a:r>
              <a:rPr lang="en-US" altLang="zh-CN" dirty="0"/>
              <a:t>Resident Set Management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B9F6F8-80BA-453F-8B4E-F2DBBF328F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41103"/>
            <a:ext cx="10515600" cy="2098040"/>
          </a:xfrm>
        </p:spPr>
        <p:txBody>
          <a:bodyPr>
            <a:normAutofit fontScale="92500"/>
          </a:bodyPr>
          <a:lstStyle/>
          <a:p>
            <a:r>
              <a:rPr lang="en-US" altLang="zh-CN" dirty="0">
                <a:solidFill>
                  <a:srgbClr val="0070C0"/>
                </a:solidFill>
              </a:rPr>
              <a:t>Definition</a:t>
            </a:r>
            <a:r>
              <a:rPr lang="en-US" altLang="zh-CN" dirty="0"/>
              <a:t>: </a:t>
            </a:r>
            <a:r>
              <a:rPr lang="en-US" dirty="0"/>
              <a:t>the portion of a process that is actually in main memory at any time is defined to be the resident set of the process</a:t>
            </a:r>
            <a:endParaRPr lang="en-US" altLang="zh-CN" dirty="0"/>
          </a:p>
          <a:p>
            <a:r>
              <a:rPr lang="en-US" altLang="zh-CN" dirty="0">
                <a:solidFill>
                  <a:srgbClr val="0070C0"/>
                </a:solidFill>
              </a:rPr>
              <a:t>How many </a:t>
            </a:r>
            <a:r>
              <a:rPr lang="en-US" altLang="zh-CN" dirty="0"/>
              <a:t>page frames are to be allocated to each active process</a:t>
            </a:r>
          </a:p>
          <a:p>
            <a:r>
              <a:rPr lang="en-US" altLang="zh-CN" dirty="0"/>
              <a:t>The set of pages for replacement should be limited to </a:t>
            </a:r>
            <a:r>
              <a:rPr lang="en-US" altLang="zh-CN" dirty="0">
                <a:solidFill>
                  <a:srgbClr val="0070C0"/>
                </a:solidFill>
              </a:rPr>
              <a:t>the process </a:t>
            </a:r>
            <a:r>
              <a:rPr lang="en-US" altLang="zh-CN" dirty="0"/>
              <a:t>or </a:t>
            </a:r>
            <a:r>
              <a:rPr lang="en-US" altLang="zh-CN" dirty="0">
                <a:solidFill>
                  <a:srgbClr val="0070C0"/>
                </a:solidFill>
              </a:rPr>
              <a:t>all the page</a:t>
            </a:r>
            <a:r>
              <a:rPr lang="en-US" altLang="zh-CN" dirty="0"/>
              <a:t> frames in main </a:t>
            </a:r>
            <a:r>
              <a:rPr lang="en-US" altLang="zh-CN" dirty="0" err="1"/>
              <a:t>memorys</a:t>
            </a:r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4F68D16-019C-4782-B22B-E1AD1E0F4EBB}"/>
              </a:ext>
            </a:extLst>
          </p:cNvPr>
          <p:cNvSpPr txBox="1"/>
          <p:nvPr/>
        </p:nvSpPr>
        <p:spPr>
          <a:xfrm>
            <a:off x="979714" y="3106714"/>
            <a:ext cx="6003472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4625" lvl="1" indent="-174625" algn="just">
              <a:buFont typeface="Wingdings" panose="05000000000000000000" pitchFamily="2" charset="2"/>
              <a:buChar char="§"/>
            </a:pPr>
            <a:r>
              <a:rPr lang="en-US" altLang="zh-CN" sz="2000" dirty="0">
                <a:solidFill>
                  <a:srgbClr val="0070C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The smaller the amount </a:t>
            </a:r>
            <a:r>
              <a:rPr lang="en-US" altLang="zh-CN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of memory allocated to each process, </a:t>
            </a:r>
            <a:r>
              <a:rPr lang="en-US" altLang="zh-CN" sz="2000" dirty="0">
                <a:solidFill>
                  <a:srgbClr val="0070C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the more processes</a:t>
            </a:r>
            <a:r>
              <a:rPr lang="en-US" altLang="zh-CN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can reside in memory</a:t>
            </a:r>
          </a:p>
          <a:p>
            <a:pPr marL="174625" lvl="1" indent="-174625" algn="just">
              <a:buFont typeface="Wingdings" panose="05000000000000000000" pitchFamily="2" charset="2"/>
              <a:buChar char="§"/>
            </a:pPr>
            <a:r>
              <a:rPr lang="en-US" altLang="zh-CN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The small number of pages loaded </a:t>
            </a:r>
            <a:r>
              <a:rPr lang="en-US" altLang="zh-CN" sz="2000" dirty="0">
                <a:solidFill>
                  <a:srgbClr val="0070C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increases page faults</a:t>
            </a:r>
          </a:p>
          <a:p>
            <a:pPr marL="174625" lvl="1" indent="-174625" algn="just">
              <a:buFont typeface="Wingdings" panose="05000000000000000000" pitchFamily="2" charset="2"/>
              <a:buChar char="§"/>
            </a:pPr>
            <a:r>
              <a:rPr lang="en-US" altLang="zh-CN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Beyond a certain size, further allocations of pages will </a:t>
            </a:r>
            <a:r>
              <a:rPr lang="en-US" altLang="zh-CN" sz="2000" dirty="0">
                <a:solidFill>
                  <a:srgbClr val="0070C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not effect </a:t>
            </a:r>
            <a:r>
              <a:rPr lang="en-US" altLang="zh-CN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the page fault rate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033DEA37-604B-4EA5-9DF1-BC8AE96B20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4713" y="2823736"/>
            <a:ext cx="3987573" cy="3341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75696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51AF5C-4BC4-4356-A2B7-F023B68B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</a:t>
            </a:r>
            <a:r>
              <a:rPr lang="zh-CN" altLang="en-US" dirty="0"/>
              <a:t> </a:t>
            </a:r>
            <a:r>
              <a:rPr lang="en-US" altLang="zh-CN" dirty="0"/>
              <a:t>Resident Set</a:t>
            </a:r>
            <a:r>
              <a:rPr lang="zh-CN" altLang="en-US" dirty="0"/>
              <a:t> </a:t>
            </a:r>
            <a:r>
              <a:rPr lang="en-US" altLang="zh-CN" dirty="0"/>
              <a:t>(</a:t>
            </a:r>
            <a:r>
              <a:rPr lang="zh-CN" altLang="en-US" dirty="0"/>
              <a:t>常驻集</a:t>
            </a:r>
            <a:r>
              <a:rPr lang="en-US" altLang="zh-CN" dirty="0"/>
              <a:t>) Management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B9F6F8-80BA-453F-8B4E-F2DBBF328F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41103"/>
            <a:ext cx="10515600" cy="2098040"/>
          </a:xfrm>
        </p:spPr>
        <p:txBody>
          <a:bodyPr>
            <a:normAutofit fontScale="92500"/>
          </a:bodyPr>
          <a:lstStyle/>
          <a:p>
            <a:r>
              <a:rPr lang="en-US" altLang="zh-CN" dirty="0">
                <a:solidFill>
                  <a:srgbClr val="0070C0"/>
                </a:solidFill>
              </a:rPr>
              <a:t>Definition</a:t>
            </a:r>
            <a:r>
              <a:rPr lang="en-US" altLang="zh-CN" dirty="0"/>
              <a:t>: </a:t>
            </a:r>
            <a:r>
              <a:rPr lang="en-US" dirty="0">
                <a:solidFill>
                  <a:srgbClr val="C00000"/>
                </a:solidFill>
              </a:rPr>
              <a:t>the portion of a process </a:t>
            </a:r>
            <a:r>
              <a:rPr lang="en-US" dirty="0"/>
              <a:t>that is actually in main memory at any time is defined to be the resident set of the process</a:t>
            </a:r>
            <a:endParaRPr lang="en-US" altLang="zh-CN" dirty="0"/>
          </a:p>
          <a:p>
            <a:r>
              <a:rPr lang="en-US" altLang="zh-CN" dirty="0">
                <a:solidFill>
                  <a:srgbClr val="C00000"/>
                </a:solidFill>
              </a:rPr>
              <a:t>How many </a:t>
            </a:r>
            <a:r>
              <a:rPr lang="en-US" altLang="zh-CN" dirty="0"/>
              <a:t>page frames are to be allocated to each active process</a:t>
            </a:r>
          </a:p>
          <a:p>
            <a:r>
              <a:rPr lang="en-US" altLang="zh-CN" dirty="0">
                <a:solidFill>
                  <a:srgbClr val="C00000"/>
                </a:solidFill>
              </a:rPr>
              <a:t>The set of pages </a:t>
            </a:r>
            <a:r>
              <a:rPr lang="en-US" altLang="zh-CN" dirty="0"/>
              <a:t>for replacement should be limited to </a:t>
            </a:r>
            <a:r>
              <a:rPr lang="en-US" altLang="zh-CN" dirty="0">
                <a:solidFill>
                  <a:srgbClr val="0070C0"/>
                </a:solidFill>
              </a:rPr>
              <a:t>the process </a:t>
            </a:r>
            <a:r>
              <a:rPr lang="en-US" altLang="zh-CN" dirty="0"/>
              <a:t>or </a:t>
            </a:r>
            <a:r>
              <a:rPr lang="en-US" altLang="zh-CN" dirty="0">
                <a:solidFill>
                  <a:srgbClr val="0070C0"/>
                </a:solidFill>
              </a:rPr>
              <a:t>all the page</a:t>
            </a:r>
            <a:r>
              <a:rPr lang="en-US" altLang="zh-CN" dirty="0"/>
              <a:t> frames in main </a:t>
            </a:r>
            <a:r>
              <a:rPr lang="en-US" altLang="zh-CN" dirty="0" err="1"/>
              <a:t>memorys</a:t>
            </a:r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4F68D16-019C-4782-B22B-E1AD1E0F4EBB}"/>
              </a:ext>
            </a:extLst>
          </p:cNvPr>
          <p:cNvSpPr txBox="1"/>
          <p:nvPr/>
        </p:nvSpPr>
        <p:spPr>
          <a:xfrm>
            <a:off x="847634" y="3045754"/>
            <a:ext cx="6003472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4625" lvl="1" indent="-174625" algn="just">
              <a:buFont typeface="Wingdings" panose="05000000000000000000" pitchFamily="2" charset="2"/>
              <a:buChar char="§"/>
            </a:pPr>
            <a:r>
              <a:rPr lang="en-US" altLang="zh-CN" sz="2400" dirty="0">
                <a:solidFill>
                  <a:srgbClr val="0070C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The smaller the amount </a:t>
            </a:r>
            <a:r>
              <a:rPr lang="en-US" altLang="zh-CN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of memory allocated to each process, </a:t>
            </a:r>
            <a:r>
              <a:rPr lang="en-US" altLang="zh-CN" sz="2400" dirty="0">
                <a:solidFill>
                  <a:srgbClr val="0070C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the more processes</a:t>
            </a:r>
            <a:r>
              <a:rPr lang="en-US" altLang="zh-CN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can reside in memory</a:t>
            </a:r>
          </a:p>
          <a:p>
            <a:pPr marL="174625" lvl="1" indent="-174625" algn="just">
              <a:buFont typeface="Wingdings" panose="05000000000000000000" pitchFamily="2" charset="2"/>
              <a:buChar char="§"/>
            </a:pPr>
            <a:r>
              <a:rPr lang="en-US" altLang="zh-CN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The small number of pages loaded </a:t>
            </a:r>
            <a:r>
              <a:rPr lang="en-US" altLang="zh-CN" sz="2400" dirty="0">
                <a:solidFill>
                  <a:srgbClr val="0070C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increases page faults</a:t>
            </a:r>
          </a:p>
          <a:p>
            <a:pPr marL="174625" lvl="1" indent="-174625" algn="just">
              <a:buFont typeface="Wingdings" panose="05000000000000000000" pitchFamily="2" charset="2"/>
              <a:buChar char="§"/>
            </a:pPr>
            <a:r>
              <a:rPr lang="en-US" altLang="zh-CN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Beyond a certain size, further allocations of pages will </a:t>
            </a:r>
            <a:r>
              <a:rPr lang="en-US" altLang="zh-CN" sz="2400" dirty="0">
                <a:solidFill>
                  <a:srgbClr val="0070C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not effect </a:t>
            </a:r>
            <a:r>
              <a:rPr lang="en-US" altLang="zh-CN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the page fault rate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033DEA37-604B-4EA5-9DF1-BC8AE96B20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6633" y="2783095"/>
            <a:ext cx="4154487" cy="3481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09622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51AF5C-4BC4-4356-A2B7-F023B68B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Resident Set Size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B9F6F8-80BA-453F-8B4E-F2DBBF328F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Fixed-allocation</a:t>
            </a:r>
          </a:p>
          <a:p>
            <a:pPr lvl="1"/>
            <a:r>
              <a:rPr lang="en-US" altLang="zh-CN" sz="2400" dirty="0"/>
              <a:t>gives a process a </a:t>
            </a:r>
            <a:r>
              <a:rPr lang="en-US" altLang="zh-CN" sz="2400" b="1" dirty="0">
                <a:solidFill>
                  <a:srgbClr val="C00000"/>
                </a:solidFill>
              </a:rPr>
              <a:t>fixed number of frames </a:t>
            </a:r>
            <a:r>
              <a:rPr lang="en-US" altLang="zh-CN" sz="2400" dirty="0"/>
              <a:t>in main memory within which to execute</a:t>
            </a:r>
          </a:p>
          <a:p>
            <a:pPr lvl="1"/>
            <a:r>
              <a:rPr lang="en-US" altLang="zh-CN" sz="2400" dirty="0"/>
              <a:t>when a page fault occurs, one of the pages of that process must be replaced</a:t>
            </a:r>
          </a:p>
          <a:p>
            <a:pPr lvl="1"/>
            <a:endParaRPr lang="en-US" altLang="zh-CN" dirty="0"/>
          </a:p>
          <a:p>
            <a:r>
              <a:rPr lang="en-US" altLang="zh-CN" dirty="0"/>
              <a:t>Variable-allocation</a:t>
            </a:r>
          </a:p>
          <a:p>
            <a:pPr lvl="1"/>
            <a:r>
              <a:rPr lang="en-US" altLang="zh-CN" sz="2400" dirty="0"/>
              <a:t>allows the number of page frames allocated to a process to be </a:t>
            </a:r>
            <a:r>
              <a:rPr lang="en-US" altLang="zh-CN" sz="2400" b="1" dirty="0">
                <a:solidFill>
                  <a:srgbClr val="C00000"/>
                </a:solidFill>
              </a:rPr>
              <a:t>varied over the lifetime </a:t>
            </a:r>
            <a:r>
              <a:rPr lang="en-US" altLang="zh-CN" sz="2400" dirty="0"/>
              <a:t>of the process</a:t>
            </a:r>
          </a:p>
          <a:p>
            <a:pPr lvl="1"/>
            <a:r>
              <a:rPr lang="en-US" altLang="zh-CN" sz="2400" dirty="0"/>
              <a:t>Ideally:</a:t>
            </a:r>
          </a:p>
          <a:p>
            <a:pPr lvl="2"/>
            <a:r>
              <a:rPr lang="en-US" altLang="zh-CN" sz="2400" b="1" dirty="0">
                <a:solidFill>
                  <a:srgbClr val="C00000"/>
                </a:solidFill>
              </a:rPr>
              <a:t>High</a:t>
            </a:r>
            <a:r>
              <a:rPr lang="en-US" altLang="zh-CN" sz="2400" dirty="0">
                <a:solidFill>
                  <a:srgbClr val="0070C0"/>
                </a:solidFill>
              </a:rPr>
              <a:t> </a:t>
            </a:r>
            <a:r>
              <a:rPr lang="en-US" altLang="zh-CN" sz="2400" dirty="0"/>
              <a:t>page fault, </a:t>
            </a:r>
            <a:r>
              <a:rPr lang="en-US" altLang="zh-CN" sz="2400" b="1" dirty="0">
                <a:solidFill>
                  <a:srgbClr val="C00000"/>
                </a:solidFill>
              </a:rPr>
              <a:t>increase</a:t>
            </a:r>
            <a:r>
              <a:rPr lang="en-US" altLang="zh-CN" sz="2400" dirty="0"/>
              <a:t> the allocated pages</a:t>
            </a:r>
          </a:p>
          <a:p>
            <a:pPr lvl="2"/>
            <a:r>
              <a:rPr lang="en-US" altLang="zh-CN" sz="2400" b="1" dirty="0">
                <a:solidFill>
                  <a:srgbClr val="C00000"/>
                </a:solidFill>
              </a:rPr>
              <a:t>Low</a:t>
            </a:r>
            <a:r>
              <a:rPr lang="en-US" altLang="zh-CN" sz="2400" dirty="0"/>
              <a:t> page fault, </a:t>
            </a:r>
            <a:r>
              <a:rPr lang="en-US" altLang="zh-CN" sz="2400" b="1" dirty="0">
                <a:solidFill>
                  <a:srgbClr val="C00000"/>
                </a:solidFill>
              </a:rPr>
              <a:t>decrease</a:t>
            </a:r>
            <a:r>
              <a:rPr lang="en-US" altLang="zh-CN" sz="2400" dirty="0"/>
              <a:t> the allocated pages</a:t>
            </a:r>
          </a:p>
          <a:p>
            <a:pPr lvl="1"/>
            <a:endParaRPr lang="en-US" altLang="zh-CN" dirty="0"/>
          </a:p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8906545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51AF5C-4BC4-4356-A2B7-F023B68B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Replacement Scope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B9F6F8-80BA-453F-8B4E-F2DBBF328F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800" dirty="0"/>
              <a:t>The scope of a replacement strategy can be categorized as </a:t>
            </a:r>
            <a:r>
              <a:rPr lang="en-US" altLang="zh-CN" sz="2800" dirty="0">
                <a:solidFill>
                  <a:srgbClr val="C00000"/>
                </a:solidFill>
              </a:rPr>
              <a:t>global or local</a:t>
            </a:r>
          </a:p>
          <a:p>
            <a:pPr lvl="1"/>
            <a:r>
              <a:rPr lang="en-US" altLang="zh-CN" sz="2400" dirty="0"/>
              <a:t>both types are </a:t>
            </a:r>
            <a:r>
              <a:rPr lang="en-US" altLang="zh-CN" sz="2400" b="1" dirty="0">
                <a:solidFill>
                  <a:srgbClr val="0070C0"/>
                </a:solidFill>
              </a:rPr>
              <a:t>activated by a page fault </a:t>
            </a:r>
            <a:r>
              <a:rPr lang="en-US" altLang="zh-CN" sz="2400" dirty="0"/>
              <a:t>when there are no free page frames</a:t>
            </a:r>
          </a:p>
          <a:p>
            <a:pPr lvl="1"/>
            <a:endParaRPr lang="en-US" altLang="zh-CN" sz="2400" dirty="0"/>
          </a:p>
          <a:p>
            <a:r>
              <a:rPr lang="en-US" altLang="zh-CN" sz="2800" dirty="0"/>
              <a:t>Local</a:t>
            </a:r>
          </a:p>
          <a:p>
            <a:pPr lvl="1"/>
            <a:r>
              <a:rPr lang="en-US" altLang="zh-CN" sz="2400" dirty="0"/>
              <a:t>chooses only among the </a:t>
            </a:r>
            <a:r>
              <a:rPr lang="en-US" altLang="zh-CN" sz="2400" b="1" dirty="0">
                <a:solidFill>
                  <a:srgbClr val="0070C0"/>
                </a:solidFill>
              </a:rPr>
              <a:t>resident pages of the process</a:t>
            </a:r>
            <a:r>
              <a:rPr lang="en-US" altLang="zh-CN" sz="2400" b="1" dirty="0"/>
              <a:t> </a:t>
            </a:r>
            <a:r>
              <a:rPr lang="en-US" altLang="zh-CN" sz="2400" dirty="0"/>
              <a:t>that generated the page fault</a:t>
            </a:r>
          </a:p>
          <a:p>
            <a:pPr lvl="1"/>
            <a:endParaRPr lang="en-US" altLang="zh-CN" sz="2400" dirty="0"/>
          </a:p>
          <a:p>
            <a:r>
              <a:rPr lang="en-US" altLang="zh-CN" sz="2800" dirty="0"/>
              <a:t>Global</a:t>
            </a:r>
          </a:p>
          <a:p>
            <a:pPr lvl="1"/>
            <a:r>
              <a:rPr lang="en-US" altLang="zh-CN" sz="2400" dirty="0"/>
              <a:t>considers </a:t>
            </a:r>
            <a:r>
              <a:rPr lang="en-US" altLang="zh-CN" sz="2400" b="1" dirty="0">
                <a:solidFill>
                  <a:srgbClr val="0070C0"/>
                </a:solidFill>
              </a:rPr>
              <a:t>all unlocked pages </a:t>
            </a:r>
            <a:r>
              <a:rPr lang="en-US" altLang="zh-CN" sz="2400" dirty="0"/>
              <a:t>in main memory </a:t>
            </a:r>
          </a:p>
          <a:p>
            <a:pPr lvl="1"/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8815878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51AF5C-4BC4-4356-A2B7-F023B68B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Resident Set Management Summary</a:t>
            </a:r>
            <a:endParaRPr lang="zh-CN" alt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6117158F-A120-4B29-B04C-A0F12345F8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120" y="1358922"/>
            <a:ext cx="11962880" cy="4554198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8AB3AD67-8795-4935-9049-3568108B65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9589" y="2259139"/>
            <a:ext cx="603556" cy="1249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246816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51AF5C-4BC4-4356-A2B7-F023B68B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Fixed Allocation, Local Scope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B9F6F8-80BA-453F-8B4E-F2DBBF328F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Necessary to </a:t>
            </a:r>
            <a:r>
              <a:rPr lang="en-US" altLang="zh-CN" dirty="0">
                <a:solidFill>
                  <a:srgbClr val="0070C0"/>
                </a:solidFill>
              </a:rPr>
              <a:t>decide ahead of time </a:t>
            </a:r>
            <a:r>
              <a:rPr lang="en-US" altLang="zh-CN" dirty="0"/>
              <a:t>the amount of allocation to give a process</a:t>
            </a:r>
          </a:p>
          <a:p>
            <a:r>
              <a:rPr lang="en-US" altLang="zh-CN" dirty="0"/>
              <a:t>If allocation is </a:t>
            </a:r>
            <a:r>
              <a:rPr lang="en-US" altLang="zh-CN" dirty="0">
                <a:solidFill>
                  <a:srgbClr val="C00000"/>
                </a:solidFill>
              </a:rPr>
              <a:t>too small</a:t>
            </a:r>
            <a:r>
              <a:rPr lang="en-US" altLang="zh-CN" dirty="0"/>
              <a:t>, there will be a high page fault rate</a:t>
            </a:r>
          </a:p>
          <a:p>
            <a:r>
              <a:rPr lang="en-US" altLang="zh-CN" dirty="0"/>
              <a:t>If allocation is </a:t>
            </a:r>
            <a:r>
              <a:rPr lang="en-US" altLang="zh-CN" dirty="0">
                <a:solidFill>
                  <a:srgbClr val="C00000"/>
                </a:solidFill>
              </a:rPr>
              <a:t>too large</a:t>
            </a:r>
            <a:r>
              <a:rPr lang="en-US" altLang="zh-CN" dirty="0"/>
              <a:t>, there will be too few programs in main memory</a:t>
            </a:r>
          </a:p>
          <a:p>
            <a:pPr lvl="1"/>
            <a:r>
              <a:rPr lang="en-US" altLang="zh-CN" sz="2400" dirty="0"/>
              <a:t>increased processor idle time</a:t>
            </a:r>
          </a:p>
          <a:p>
            <a:pPr lvl="1"/>
            <a:r>
              <a:rPr lang="en-US" altLang="zh-CN" sz="2400" dirty="0"/>
              <a:t>increased time spent in swapping</a:t>
            </a:r>
          </a:p>
          <a:p>
            <a:pPr lvl="1"/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1283570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51AF5C-4BC4-4356-A2B7-F023B68B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Variable Allocation, Global Scope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B9F6F8-80BA-453F-8B4E-F2DBBF328F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800" dirty="0"/>
              <a:t> </a:t>
            </a:r>
            <a:r>
              <a:rPr lang="en-US" altLang="zh-CN" sz="2800" dirty="0">
                <a:solidFill>
                  <a:srgbClr val="C00000"/>
                </a:solidFill>
              </a:rPr>
              <a:t>Easiest to implement</a:t>
            </a:r>
          </a:p>
          <a:p>
            <a:pPr lvl="1"/>
            <a:r>
              <a:rPr lang="en-US" altLang="zh-CN" sz="2400" dirty="0"/>
              <a:t>adopted in a number of operating systems</a:t>
            </a:r>
          </a:p>
          <a:p>
            <a:r>
              <a:rPr lang="en-US" altLang="zh-CN" sz="2800" dirty="0"/>
              <a:t>OS maintains a list of </a:t>
            </a:r>
            <a:r>
              <a:rPr lang="en-US" altLang="zh-CN" sz="2800" dirty="0">
                <a:solidFill>
                  <a:srgbClr val="0070C0"/>
                </a:solidFill>
              </a:rPr>
              <a:t>free frames</a:t>
            </a:r>
          </a:p>
          <a:p>
            <a:pPr lvl="1"/>
            <a:r>
              <a:rPr lang="en-US" altLang="zh-CN" sz="2400" dirty="0"/>
              <a:t>When a page fault occurs, free frame is added to resident set of process</a:t>
            </a:r>
          </a:p>
          <a:p>
            <a:r>
              <a:rPr lang="en-US" altLang="zh-CN" sz="2800" dirty="0"/>
              <a:t>If </a:t>
            </a:r>
            <a:r>
              <a:rPr lang="en-US" altLang="zh-CN" sz="2800" dirty="0">
                <a:solidFill>
                  <a:srgbClr val="0070C0"/>
                </a:solidFill>
              </a:rPr>
              <a:t>no frames </a:t>
            </a:r>
            <a:r>
              <a:rPr lang="en-US" altLang="zh-CN" sz="2800" dirty="0"/>
              <a:t>are available, the OS must choose a page currently in memory to replace</a:t>
            </a:r>
          </a:p>
          <a:p>
            <a:pPr lvl="1"/>
            <a:r>
              <a:rPr lang="en-US" altLang="zh-CN" sz="2400" b="1" dirty="0">
                <a:solidFill>
                  <a:srgbClr val="C00000"/>
                </a:solidFill>
              </a:rPr>
              <a:t>Difficulty——</a:t>
            </a:r>
            <a:r>
              <a:rPr lang="en-US" sz="2400" dirty="0"/>
              <a:t>there is no discipline to determine which process should lose a page from its resident set. </a:t>
            </a:r>
            <a:endParaRPr lang="en-US" altLang="zh-CN" sz="2400" dirty="0"/>
          </a:p>
          <a:p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38316413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51AF5C-4BC4-4356-A2B7-F023B68B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Variable Allocation, Local Scope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B9F6F8-80BA-453F-8B4E-F2DBBF328F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41103"/>
            <a:ext cx="10515600" cy="4062911"/>
          </a:xfrm>
        </p:spPr>
        <p:txBody>
          <a:bodyPr>
            <a:normAutofit/>
          </a:bodyPr>
          <a:lstStyle/>
          <a:p>
            <a:r>
              <a:rPr lang="en-US" altLang="zh-CN" dirty="0">
                <a:solidFill>
                  <a:srgbClr val="0070C0"/>
                </a:solidFill>
              </a:rPr>
              <a:t>Allocation</a:t>
            </a:r>
            <a:r>
              <a:rPr lang="en-US" altLang="zh-CN" dirty="0"/>
              <a:t>: when a new process is loaded into main memory, allocate to it a </a:t>
            </a:r>
            <a:r>
              <a:rPr lang="en-US" altLang="zh-CN" dirty="0">
                <a:solidFill>
                  <a:srgbClr val="C00000"/>
                </a:solidFill>
              </a:rPr>
              <a:t>certain number of page frames </a:t>
            </a:r>
            <a:r>
              <a:rPr lang="en-US" altLang="zh-CN" dirty="0"/>
              <a:t>as its resident set</a:t>
            </a:r>
          </a:p>
          <a:p>
            <a:r>
              <a:rPr lang="en-US" altLang="zh-CN" dirty="0">
                <a:solidFill>
                  <a:srgbClr val="0070C0"/>
                </a:solidFill>
              </a:rPr>
              <a:t>Scope</a:t>
            </a:r>
            <a:r>
              <a:rPr lang="en-US" altLang="zh-CN" dirty="0"/>
              <a:t>: when a page fault occurs, select the page to replace from among </a:t>
            </a:r>
            <a:r>
              <a:rPr lang="en-US" altLang="zh-CN" dirty="0">
                <a:solidFill>
                  <a:srgbClr val="C00000"/>
                </a:solidFill>
              </a:rPr>
              <a:t>the resident set of the process </a:t>
            </a:r>
            <a:r>
              <a:rPr lang="en-US" altLang="zh-CN" dirty="0"/>
              <a:t>that suffers the fault</a:t>
            </a:r>
          </a:p>
          <a:p>
            <a:r>
              <a:rPr lang="en-US" altLang="zh-CN" dirty="0">
                <a:solidFill>
                  <a:srgbClr val="0070C0"/>
                </a:solidFill>
              </a:rPr>
              <a:t>Variation</a:t>
            </a:r>
            <a:r>
              <a:rPr lang="en-US" altLang="zh-CN" dirty="0"/>
              <a:t>: From time to time, </a:t>
            </a:r>
            <a:r>
              <a:rPr lang="en-US" altLang="zh-CN" dirty="0">
                <a:solidFill>
                  <a:srgbClr val="C00000"/>
                </a:solidFill>
              </a:rPr>
              <a:t>Reevaluate </a:t>
            </a:r>
            <a:r>
              <a:rPr lang="en-US" altLang="zh-CN" dirty="0"/>
              <a:t>the allocation provided to the process, </a:t>
            </a:r>
            <a:r>
              <a:rPr lang="en-US" altLang="zh-CN" dirty="0">
                <a:solidFill>
                  <a:srgbClr val="0070C0"/>
                </a:solidFill>
              </a:rPr>
              <a:t>increase or decrease</a:t>
            </a:r>
            <a:r>
              <a:rPr lang="en-US" altLang="zh-CN" dirty="0"/>
              <a:t> it to improve overall performance</a:t>
            </a:r>
          </a:p>
          <a:p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2802045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51AF5C-4BC4-4356-A2B7-F023B68B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Variable Allocation, Local Scope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B9F6F8-80BA-453F-8B4E-F2DBBF328F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41103"/>
            <a:ext cx="10515600" cy="4062911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Decision to increase or decrease </a:t>
            </a:r>
            <a:r>
              <a:rPr lang="en-US" sz="2400" dirty="0"/>
              <a:t>a resident set size is based on the assessment of the likely future demands of active processes</a:t>
            </a: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ADD31C31-9C68-49F8-AB87-F2244237F519}"/>
              </a:ext>
            </a:extLst>
          </p:cNvPr>
          <p:cNvGrpSpPr/>
          <p:nvPr/>
        </p:nvGrpSpPr>
        <p:grpSpPr>
          <a:xfrm>
            <a:off x="904964" y="4754154"/>
            <a:ext cx="8716555" cy="1186544"/>
            <a:chOff x="2906484" y="4713514"/>
            <a:chExt cx="8716555" cy="1186544"/>
          </a:xfrm>
        </p:grpSpPr>
        <p:sp>
          <p:nvSpPr>
            <p:cNvPr id="4" name="箭头: 右 3">
              <a:extLst>
                <a:ext uri="{FF2B5EF4-FFF2-40B4-BE49-F238E27FC236}">
                  <a16:creationId xmlns:a16="http://schemas.microsoft.com/office/drawing/2014/main" id="{A2F53A9F-9C2F-4DE8-9214-565D6F9E0669}"/>
                </a:ext>
              </a:extLst>
            </p:cNvPr>
            <p:cNvSpPr/>
            <p:nvPr/>
          </p:nvSpPr>
          <p:spPr>
            <a:xfrm rot="16200000">
              <a:off x="7392488" y="4860471"/>
              <a:ext cx="576943" cy="283029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BDA24227-C7BE-4F29-933F-E0E6FAEC5148}"/>
                </a:ext>
              </a:extLst>
            </p:cNvPr>
            <p:cNvSpPr txBox="1"/>
            <p:nvPr/>
          </p:nvSpPr>
          <p:spPr>
            <a:xfrm>
              <a:off x="2906484" y="5418756"/>
              <a:ext cx="8675915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400" b="1" dirty="0">
                  <a:solidFill>
                    <a:srgbClr val="0070C0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One of strategies: Working Set</a:t>
              </a:r>
              <a:r>
                <a:rPr lang="zh-CN" altLang="en-US" sz="2400" b="1" dirty="0">
                  <a:solidFill>
                    <a:srgbClr val="0070C0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 </a:t>
              </a:r>
              <a:r>
                <a:rPr lang="en-US" altLang="zh-CN" sz="2400" b="1" dirty="0">
                  <a:solidFill>
                    <a:srgbClr val="0070C0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Strategy</a:t>
              </a:r>
            </a:p>
          </p:txBody>
        </p:sp>
        <p:sp>
          <p:nvSpPr>
            <p:cNvPr id="7" name="矩形: 圆角 6">
              <a:extLst>
                <a:ext uri="{FF2B5EF4-FFF2-40B4-BE49-F238E27FC236}">
                  <a16:creationId xmlns:a16="http://schemas.microsoft.com/office/drawing/2014/main" id="{3B77C4DC-7324-4063-9D2C-F6AA9265C46E}"/>
                </a:ext>
              </a:extLst>
            </p:cNvPr>
            <p:cNvSpPr/>
            <p:nvPr/>
          </p:nvSpPr>
          <p:spPr>
            <a:xfrm>
              <a:off x="3243942" y="5323114"/>
              <a:ext cx="8379097" cy="576944"/>
            </a:xfrm>
            <a:prstGeom prst="roundRect">
              <a:avLst/>
            </a:prstGeom>
            <a:noFill/>
            <a:ln>
              <a:solidFill>
                <a:srgbClr val="FF0000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</p:grpSp>
      <p:graphicFrame>
        <p:nvGraphicFramePr>
          <p:cNvPr id="12" name="Diagram 11">
            <a:extLst>
              <a:ext uri="{FF2B5EF4-FFF2-40B4-BE49-F238E27FC236}">
                <a16:creationId xmlns:a16="http://schemas.microsoft.com/office/drawing/2014/main" id="{394A0433-573C-E74F-AA9A-A0DC082F01A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40322295"/>
              </p:ext>
            </p:extLst>
          </p:nvPr>
        </p:nvGraphicFramePr>
        <p:xfrm>
          <a:off x="3464560" y="2052320"/>
          <a:ext cx="4419600" cy="241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82076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51AF5C-4BC4-4356-A2B7-F023B68B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Working Set Strategy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EB9F6F8-80BA-453F-8B4E-F2DBBF328FD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841104"/>
                <a:ext cx="10754360" cy="4970416"/>
              </a:xfrm>
            </p:spPr>
            <p:txBody>
              <a:bodyPr>
                <a:normAutofit/>
              </a:bodyPr>
              <a:lstStyle/>
              <a:p>
                <a:r>
                  <a:rPr lang="de-DE" altLang="zh-CN" dirty="0">
                    <a:solidFill>
                      <a:srgbClr val="FF0000"/>
                    </a:solidFill>
                  </a:rPr>
                  <a:t>W(t, ∆): </a:t>
                </a:r>
                <a:r>
                  <a:rPr lang="de-DE" altLang="zh-CN" dirty="0"/>
                  <a:t>set of pages of process in the </a:t>
                </a:r>
                <a:r>
                  <a:rPr lang="de-DE" altLang="zh-CN" dirty="0">
                    <a:solidFill>
                      <a:srgbClr val="0070C0"/>
                    </a:solidFill>
                  </a:rPr>
                  <a:t>last </a:t>
                </a:r>
                <a14:m>
                  <m:oMath xmlns:m="http://schemas.openxmlformats.org/officeDocument/2006/math">
                    <m:r>
                      <a:rPr lang="en-US" altLang="zh-CN" b="1" i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𝚫</m:t>
                    </m:r>
                  </m:oMath>
                </a14:m>
                <a:r>
                  <a:rPr lang="de-DE" altLang="zh-CN" dirty="0">
                    <a:solidFill>
                      <a:srgbClr val="0070C0"/>
                    </a:solidFill>
                  </a:rPr>
                  <a:t> </a:t>
                </a:r>
                <a:r>
                  <a:rPr lang="de-DE" altLang="zh-CN" dirty="0"/>
                  <a:t>virtual time units.</a:t>
                </a:r>
              </a:p>
              <a:p>
                <a:r>
                  <a:rPr lang="de-DE" altLang="zh-CN" dirty="0">
                    <a:solidFill>
                      <a:srgbClr val="FF0000"/>
                    </a:solidFill>
                  </a:rPr>
                  <a:t>∆</a:t>
                </a:r>
                <a:r>
                  <a:rPr lang="de-DE" altLang="zh-CN" dirty="0"/>
                  <a:t>: is window of </a:t>
                </a:r>
                <a:r>
                  <a:rPr lang="de-DE" altLang="zh-CN" dirty="0" err="1"/>
                  <a:t>virtual</a:t>
                </a:r>
                <a:r>
                  <a:rPr lang="de-DE" altLang="zh-CN" dirty="0"/>
                  <a:t> </a:t>
                </a:r>
                <a:r>
                  <a:rPr lang="de-DE" altLang="zh-CN" dirty="0" err="1"/>
                  <a:t>times</a:t>
                </a:r>
                <a:endParaRPr lang="de-DE" altLang="zh-CN" dirty="0"/>
              </a:p>
              <a:p>
                <a:pPr marL="685800" lvl="1" indent="-342900">
                  <a:buFont typeface="Wingdings" panose="05000000000000000000" pitchFamily="2" charset="2"/>
                  <a:buChar char="§"/>
                </a:pPr>
                <a:r>
                  <a:rPr lang="en-US" sz="2600" dirty="0"/>
                  <a:t>the larger the window size, the larger is the working set </a:t>
                </a:r>
              </a:p>
              <a:p>
                <a:pPr marL="1028700" lvl="3" indent="0">
                  <a:buNone/>
                </a:pPr>
                <a:r>
                  <a:rPr lang="zh-CN" altLang="en-US" sz="2600" dirty="0">
                    <a:solidFill>
                      <a:srgbClr val="FF0000"/>
                    </a:solidFill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                      </a:t>
                </a:r>
                <a:r>
                  <a:rPr lang="de-DE" altLang="zh-CN" sz="2600" dirty="0">
                    <a:solidFill>
                      <a:srgbClr val="FF0000"/>
                    </a:solidFill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W(t, ∆) ⊆W(t, ∆+1) </a:t>
                </a:r>
              </a:p>
              <a:p>
                <a:pPr marL="685800" lvl="1" indent="-342900">
                  <a:buFont typeface="Wingdings" panose="05000000000000000000" pitchFamily="2" charset="2"/>
                  <a:buChar char="§"/>
                </a:pPr>
                <a:r>
                  <a:rPr lang="en-US" sz="2600" dirty="0"/>
                  <a:t>If a process executes over ∆ time units and uses only a single page, then</a:t>
                </a:r>
              </a:p>
              <a:p>
                <a:pPr marL="342900" lvl="1" indent="0">
                  <a:buNone/>
                </a:pPr>
                <a:r>
                  <a:rPr lang="de-DE" altLang="zh-CN" sz="2600" dirty="0">
                    <a:solidFill>
                      <a:srgbClr val="FF0000"/>
                    </a:solidFill>
                  </a:rPr>
                  <a:t>					</a:t>
                </a:r>
                <a:r>
                  <a:rPr lang="zh-CN" altLang="en-US" sz="2600" dirty="0">
                    <a:solidFill>
                      <a:srgbClr val="FF0000"/>
                    </a:solidFill>
                  </a:rPr>
                  <a:t>   </a:t>
                </a:r>
                <a:r>
                  <a:rPr lang="de-DE" altLang="zh-CN" sz="2600" dirty="0">
                    <a:solidFill>
                      <a:srgbClr val="FF0000"/>
                    </a:solidFill>
                  </a:rPr>
                  <a:t>|W(t, ∆)|=1</a:t>
                </a:r>
                <a:r>
                  <a:rPr lang="en-US" sz="2600" dirty="0"/>
                  <a:t> </a:t>
                </a:r>
                <a:endParaRPr lang="de-DE" altLang="zh-CN" sz="2600" dirty="0"/>
              </a:p>
              <a:p>
                <a:pPr lvl="1"/>
                <a:endParaRPr lang="de-DE" altLang="zh-CN" dirty="0"/>
              </a:p>
              <a:p>
                <a:r>
                  <a:rPr lang="en-US" altLang="zh-CN" dirty="0">
                    <a:solidFill>
                      <a:srgbClr val="FF0000"/>
                    </a:solidFill>
                  </a:rPr>
                  <a:t>t=1,2,3…: </a:t>
                </a:r>
                <a:r>
                  <a:rPr lang="en-US" altLang="zh-CN" dirty="0"/>
                  <a:t>measures the </a:t>
                </a:r>
                <a:r>
                  <a:rPr lang="en-US" altLang="zh-CN" dirty="0">
                    <a:solidFill>
                      <a:srgbClr val="0070C0"/>
                    </a:solidFill>
                  </a:rPr>
                  <a:t>process’s internal virtual time</a:t>
                </a:r>
                <a:r>
                  <a:rPr lang="en-US" altLang="zh-CN" dirty="0"/>
                  <a:t>,  e.g., r(t) is the page that the t-</a:t>
                </a:r>
                <a:r>
                  <a:rPr lang="en-US" altLang="zh-CN" dirty="0" err="1"/>
                  <a:t>th</a:t>
                </a:r>
                <a:r>
                  <a:rPr lang="en-US" altLang="zh-CN" dirty="0"/>
                  <a:t> virtual address generated by a given process</a:t>
                </a:r>
                <a:endParaRPr lang="de-DE" altLang="zh-CN" dirty="0"/>
              </a:p>
              <a:p>
                <a:endParaRPr lang="de-DE" altLang="zh-CN" sz="2800" dirty="0"/>
              </a:p>
              <a:p>
                <a:endParaRPr lang="de-DE" altLang="zh-CN" sz="2800" dirty="0"/>
              </a:p>
              <a:p>
                <a:endParaRPr lang="de-DE" altLang="zh-CN" sz="2800" dirty="0"/>
              </a:p>
              <a:p>
                <a:endParaRPr lang="zh-CN" altLang="en-US" sz="2800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EB9F6F8-80BA-453F-8B4E-F2DBBF328FD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841104"/>
                <a:ext cx="10754360" cy="4970416"/>
              </a:xfrm>
              <a:blipFill>
                <a:blip r:embed="rId2"/>
                <a:stretch>
                  <a:fillRect l="-826" t="-1020" r="-1063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1077904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51AF5C-4BC4-4356-A2B7-F023B68B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Working Set Strategy</a:t>
            </a: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49A2692-3FE6-4ED2-B4BD-5EADE03CA3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9816" y="587289"/>
            <a:ext cx="7888424" cy="5760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196200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A27BEFEB-267B-4EC6-BDE3-1F8C7222E7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1084" y="2617809"/>
            <a:ext cx="4676996" cy="3264207"/>
          </a:xfrm>
          <a:prstGeom prst="rect">
            <a:avLst/>
          </a:prstGeom>
        </p:spPr>
      </p:pic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B9F6F8-80BA-453F-8B4E-F2DBBF328F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41103"/>
            <a:ext cx="10515600" cy="1825897"/>
          </a:xfrm>
        </p:spPr>
        <p:txBody>
          <a:bodyPr/>
          <a:lstStyle/>
          <a:p>
            <a:r>
              <a:rPr lang="en-US" dirty="0"/>
              <a:t>The working set size can </a:t>
            </a:r>
            <a:r>
              <a:rPr lang="en-US" dirty="0">
                <a:solidFill>
                  <a:srgbClr val="0070C0"/>
                </a:solidFill>
              </a:rPr>
              <a:t>vary over time </a:t>
            </a:r>
            <a:r>
              <a:rPr lang="en-US" dirty="0"/>
              <a:t>for a fixed value of ∆. </a:t>
            </a:r>
          </a:p>
          <a:p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F1980DE-F2FC-4325-873A-43534F4A395E}"/>
              </a:ext>
            </a:extLst>
          </p:cNvPr>
          <p:cNvSpPr txBox="1"/>
          <p:nvPr/>
        </p:nvSpPr>
        <p:spPr>
          <a:xfrm>
            <a:off x="866140" y="1967914"/>
            <a:ext cx="49149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B050"/>
                </a:solidFill>
              </a:rPr>
              <a:t>F</a:t>
            </a:r>
            <a:r>
              <a:rPr lang="en-US" sz="2400" b="1" dirty="0">
                <a:solidFill>
                  <a:srgbClr val="00B050"/>
                </a:solidFill>
                <a:effectLst/>
              </a:rPr>
              <a:t>irst begins executing, it gradually builds up to a working set 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AA51AF5C-4BC4-4356-A2B7-F023B68B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Working Set Strategy</a:t>
            </a:r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8C7AB5A-D88D-4D11-AC57-0FADE8091433}"/>
              </a:ext>
            </a:extLst>
          </p:cNvPr>
          <p:cNvSpPr txBox="1"/>
          <p:nvPr/>
        </p:nvSpPr>
        <p:spPr>
          <a:xfrm>
            <a:off x="7179254" y="5832231"/>
            <a:ext cx="38494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dirty="0">
                <a:solidFill>
                  <a:srgbClr val="231F20"/>
                </a:solidFill>
                <a:effectLst/>
                <a:latin typeface="TimesTenLTStd-Bold"/>
              </a:rPr>
              <a:t>Typical Graph of Working Set Size</a:t>
            </a:r>
            <a:endParaRPr lang="en-US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C109CC1-6116-42F8-80C2-1012D9D05326}"/>
              </a:ext>
            </a:extLst>
          </p:cNvPr>
          <p:cNvSpPr/>
          <p:nvPr/>
        </p:nvSpPr>
        <p:spPr>
          <a:xfrm>
            <a:off x="6836228" y="4520488"/>
            <a:ext cx="332140" cy="919842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8A8A88E-EB51-4B90-AA88-559D65ED999E}"/>
              </a:ext>
            </a:extLst>
          </p:cNvPr>
          <p:cNvSpPr/>
          <p:nvPr/>
        </p:nvSpPr>
        <p:spPr>
          <a:xfrm>
            <a:off x="7113814" y="4327463"/>
            <a:ext cx="778329" cy="386051"/>
          </a:xfrm>
          <a:prstGeom prst="rect">
            <a:avLst/>
          </a:prstGeom>
          <a:noFill/>
          <a:ln w="190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3C077F46-3CE1-4E78-9847-524C3BB749EB}"/>
              </a:ext>
            </a:extLst>
          </p:cNvPr>
          <p:cNvSpPr/>
          <p:nvPr/>
        </p:nvSpPr>
        <p:spPr>
          <a:xfrm>
            <a:off x="7728857" y="3385457"/>
            <a:ext cx="255814" cy="1289957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D7A2D9A-7FAD-45E6-A5F0-DA18E32D1A86}"/>
              </a:ext>
            </a:extLst>
          </p:cNvPr>
          <p:cNvSpPr txBox="1"/>
          <p:nvPr/>
        </p:nvSpPr>
        <p:spPr>
          <a:xfrm>
            <a:off x="832329" y="4479661"/>
            <a:ext cx="482781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  <a:effectLst/>
              </a:rPr>
              <a:t>As the window slides past these page references, the working set size declines</a:t>
            </a:r>
            <a:endParaRPr lang="en-US" sz="24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51676-4F04-4BC8-A114-CD32E5E38D26}"/>
              </a:ext>
            </a:extLst>
          </p:cNvPr>
          <p:cNvSpPr txBox="1"/>
          <p:nvPr/>
        </p:nvSpPr>
        <p:spPr>
          <a:xfrm>
            <a:off x="838200" y="2943876"/>
            <a:ext cx="531767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7030A0"/>
                </a:solidFill>
                <a:effectLst/>
              </a:rPr>
              <a:t>The process stabilize on a certain set of pages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EA9C3D3D-D9FF-4088-BDF3-E9C9834B7289}"/>
              </a:ext>
            </a:extLst>
          </p:cNvPr>
          <p:cNvSpPr txBox="1"/>
          <p:nvPr/>
        </p:nvSpPr>
        <p:spPr>
          <a:xfrm>
            <a:off x="791689" y="3789196"/>
            <a:ext cx="39450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70C0"/>
                </a:solidFill>
                <a:effectLst/>
              </a:rPr>
              <a:t>New pages are referenced</a:t>
            </a:r>
            <a:endParaRPr lang="en-US" sz="2400" b="1" dirty="0">
              <a:solidFill>
                <a:srgbClr val="0070C0"/>
              </a:solidFill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9D7E713-0BCD-49E5-93CF-25A4EFC7EF16}"/>
              </a:ext>
            </a:extLst>
          </p:cNvPr>
          <p:cNvSpPr/>
          <p:nvPr/>
        </p:nvSpPr>
        <p:spPr>
          <a:xfrm>
            <a:off x="8018014" y="3385065"/>
            <a:ext cx="166008" cy="905559"/>
          </a:xfrm>
          <a:prstGeom prst="rect">
            <a:avLst/>
          </a:prstGeom>
          <a:noFill/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2803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 animBg="1"/>
      <p:bldP spid="12" grpId="0" animBg="1"/>
      <p:bldP spid="13" grpId="0" animBg="1"/>
      <p:bldP spid="15" grpId="0"/>
      <p:bldP spid="17" grpId="0"/>
      <p:bldP spid="19" grpId="0"/>
      <p:bldP spid="20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624AAF-F70E-4D56-B907-A81EF41B8F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638" y="136523"/>
            <a:ext cx="10515600" cy="616768"/>
          </a:xfrm>
        </p:spPr>
        <p:txBody>
          <a:bodyPr/>
          <a:lstStyle/>
          <a:p>
            <a:r>
              <a:rPr lang="en-US" dirty="0"/>
              <a:t>Guidance for Resident Size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CCC7B4B-7601-439E-A035-BCF07DC7BB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solidFill>
                  <a:srgbClr val="0070C0"/>
                </a:solidFill>
              </a:rPr>
              <a:t>Principles of working set guided strategies </a:t>
            </a:r>
            <a:r>
              <a:rPr lang="en-US" sz="2800" dirty="0"/>
              <a:t>for resident set size</a:t>
            </a:r>
          </a:p>
          <a:p>
            <a:pPr lvl="1">
              <a:lnSpc>
                <a:spcPct val="150000"/>
              </a:lnSpc>
            </a:pPr>
            <a:r>
              <a:rPr lang="en-US" sz="2400" b="1" dirty="0">
                <a:solidFill>
                  <a:srgbClr val="C00000"/>
                </a:solidFill>
              </a:rPr>
              <a:t>Monitor</a:t>
            </a:r>
            <a:r>
              <a:rPr lang="en-US" sz="2400" dirty="0"/>
              <a:t> the working set of each process.</a:t>
            </a:r>
          </a:p>
          <a:p>
            <a:pPr lvl="1">
              <a:lnSpc>
                <a:spcPct val="150000"/>
              </a:lnSpc>
            </a:pPr>
            <a:r>
              <a:rPr lang="en-US" sz="2400" b="1" dirty="0">
                <a:solidFill>
                  <a:srgbClr val="C00000"/>
                </a:solidFill>
              </a:rPr>
              <a:t>Periodically remove </a:t>
            </a:r>
            <a:r>
              <a:rPr lang="en-US" sz="2400" dirty="0"/>
              <a:t>from the resident set of a process those pages that are not in its working set.</a:t>
            </a:r>
          </a:p>
          <a:p>
            <a:pPr lvl="1">
              <a:lnSpc>
                <a:spcPct val="150000"/>
              </a:lnSpc>
              <a:tabLst>
                <a:tab pos="6804025" algn="l"/>
              </a:tabLst>
            </a:pPr>
            <a:r>
              <a:rPr lang="en-US" sz="2400" dirty="0"/>
              <a:t>A process may execute </a:t>
            </a:r>
            <a:r>
              <a:rPr lang="en-US" sz="2400" b="1" dirty="0">
                <a:solidFill>
                  <a:srgbClr val="C00000"/>
                </a:solidFill>
              </a:rPr>
              <a:t>only if </a:t>
            </a:r>
            <a:r>
              <a:rPr lang="en-US" sz="2400" b="1" dirty="0"/>
              <a:t>its working set is in main memory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AC21200-EBDE-41EA-899D-90C427661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3D444-7193-46AD-90E8-D84AE4B61CFF}" type="slidenum">
              <a:rPr lang="en-US" smtClean="0"/>
              <a:pPr/>
              <a:t>34</a:t>
            </a:fld>
            <a:r>
              <a:rPr lang="en-US"/>
              <a:t>/</a:t>
            </a:r>
            <a:r>
              <a:rPr lang="en-US" altLang="zh-CN"/>
              <a:t>63</a:t>
            </a:r>
            <a:endParaRPr lang="en-US" dirty="0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A3E038C-FE00-4E92-BF74-79C04C4C2E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6D1B6-B1AF-7D4D-A84B-F73F4DDF98DE}" type="datetime1">
              <a:rPr lang="zh-CN" altLang="en-US" smtClean="0"/>
              <a:t>2026/5/25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9602944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624AAF-F70E-4D56-B907-A81EF41B8F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638" y="136523"/>
            <a:ext cx="10515600" cy="616768"/>
          </a:xfrm>
        </p:spPr>
        <p:txBody>
          <a:bodyPr/>
          <a:lstStyle/>
          <a:p>
            <a:r>
              <a:rPr lang="en-US" dirty="0"/>
              <a:t>Guidance for Resident Size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CCC7B4B-7601-439E-A035-BCF07DC7BB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solidFill>
                  <a:srgbClr val="0070C0"/>
                </a:solidFill>
              </a:rPr>
              <a:t>I</a:t>
            </a:r>
            <a:r>
              <a:rPr lang="en-US" altLang="zh-CN" sz="2800" dirty="0">
                <a:solidFill>
                  <a:srgbClr val="0070C0"/>
                </a:solidFill>
              </a:rPr>
              <a:t>ssues</a:t>
            </a:r>
            <a:r>
              <a:rPr lang="en-US" altLang="zh-CN" sz="2800" dirty="0"/>
              <a:t> of the strategies based on working set</a:t>
            </a:r>
          </a:p>
          <a:p>
            <a:pPr lvl="1">
              <a:lnSpc>
                <a:spcPct val="150000"/>
              </a:lnSpc>
            </a:pPr>
            <a:r>
              <a:rPr lang="en-US" sz="2400" dirty="0"/>
              <a:t>The </a:t>
            </a:r>
            <a:r>
              <a:rPr lang="en-US" sz="2400" b="1" dirty="0">
                <a:solidFill>
                  <a:srgbClr val="C00000"/>
                </a:solidFill>
              </a:rPr>
              <a:t>past</a:t>
            </a:r>
            <a:r>
              <a:rPr lang="en-US" sz="2400" dirty="0"/>
              <a:t> does not always predict the </a:t>
            </a:r>
            <a:r>
              <a:rPr lang="en-US" sz="2400" b="1" dirty="0">
                <a:solidFill>
                  <a:srgbClr val="C00000"/>
                </a:solidFill>
              </a:rPr>
              <a:t>future</a:t>
            </a:r>
            <a:r>
              <a:rPr lang="en-US" sz="2400" dirty="0"/>
              <a:t>. Both the size and the membership of the working set will </a:t>
            </a:r>
            <a:r>
              <a:rPr lang="en-US" sz="2400" dirty="0">
                <a:solidFill>
                  <a:srgbClr val="FF0000"/>
                </a:solidFill>
              </a:rPr>
              <a:t>change over time</a:t>
            </a:r>
          </a:p>
          <a:p>
            <a:pPr lvl="1">
              <a:lnSpc>
                <a:spcPct val="150000"/>
              </a:lnSpc>
            </a:pPr>
            <a:r>
              <a:rPr lang="en-US" sz="2400" dirty="0"/>
              <a:t>A true measurement of working set for each process is impractical due to the </a:t>
            </a:r>
            <a:r>
              <a:rPr lang="en-US" sz="2400" b="1" dirty="0">
                <a:solidFill>
                  <a:srgbClr val="C00000"/>
                </a:solidFill>
              </a:rPr>
              <a:t>time-stamp of each process</a:t>
            </a:r>
            <a:r>
              <a:rPr lang="en-US" sz="2400" dirty="0"/>
              <a:t>.</a:t>
            </a:r>
          </a:p>
          <a:p>
            <a:pPr lvl="1">
              <a:lnSpc>
                <a:spcPct val="150000"/>
              </a:lnSpc>
            </a:pPr>
            <a:r>
              <a:rPr lang="en-US" sz="2400" dirty="0"/>
              <a:t>The </a:t>
            </a:r>
            <a:r>
              <a:rPr lang="en-US" sz="2400" b="1" dirty="0">
                <a:solidFill>
                  <a:srgbClr val="C00000"/>
                </a:solidFill>
              </a:rPr>
              <a:t>optimal value of ∆ </a:t>
            </a:r>
            <a:r>
              <a:rPr lang="en-US" sz="2400" dirty="0"/>
              <a:t>is unknown and in any case would vary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AC21200-EBDE-41EA-899D-90C427661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3D444-7193-46AD-90E8-D84AE4B61CFF}" type="slidenum">
              <a:rPr lang="en-US" smtClean="0"/>
              <a:pPr/>
              <a:t>35</a:t>
            </a:fld>
            <a:r>
              <a:rPr lang="en-US"/>
              <a:t>/</a:t>
            </a:r>
            <a:r>
              <a:rPr lang="en-US" altLang="zh-CN"/>
              <a:t>63</a:t>
            </a:r>
            <a:endParaRPr lang="en-US" dirty="0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A3E038C-FE00-4E92-BF74-79C04C4C2E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6D1B6-B1AF-7D4D-A84B-F73F4DDF98DE}" type="datetime1">
              <a:rPr lang="zh-CN" altLang="en-US" smtClean="0"/>
              <a:t>2026/5/26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2747834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624AAF-F70E-4D56-B907-A81EF41B8F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638" y="136523"/>
            <a:ext cx="10515600" cy="616768"/>
          </a:xfrm>
        </p:spPr>
        <p:txBody>
          <a:bodyPr/>
          <a:lstStyle/>
          <a:p>
            <a:r>
              <a:rPr lang="en-US" dirty="0"/>
              <a:t>Guidance for Resident Size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AC21200-EBDE-41EA-899D-90C427661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3D444-7193-46AD-90E8-D84AE4B61CFF}" type="slidenum">
              <a:rPr lang="en-US" smtClean="0"/>
              <a:pPr/>
              <a:t>36</a:t>
            </a:fld>
            <a:r>
              <a:rPr lang="en-US"/>
              <a:t>/</a:t>
            </a:r>
            <a:r>
              <a:rPr lang="en-US" altLang="zh-CN"/>
              <a:t>63</a:t>
            </a:r>
            <a:endParaRPr lang="en-US" dirty="0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A3E038C-FE00-4E92-BF74-79C04C4C2E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6D1B6-B1AF-7D4D-A84B-F73F4DDF98DE}" type="datetime1">
              <a:rPr lang="zh-CN" altLang="en-US" smtClean="0"/>
              <a:t>2026/5/25</a:t>
            </a:fld>
            <a:endParaRPr lang="zh-CN" altLang="en-US" dirty="0"/>
          </a:p>
        </p:txBody>
      </p:sp>
      <p:sp>
        <p:nvSpPr>
          <p:cNvPr id="6" name="箭头: 下 5">
            <a:extLst>
              <a:ext uri="{FF2B5EF4-FFF2-40B4-BE49-F238E27FC236}">
                <a16:creationId xmlns:a16="http://schemas.microsoft.com/office/drawing/2014/main" id="{7914B1C2-BD0B-4703-B344-78D2B9C9446A}"/>
              </a:ext>
            </a:extLst>
          </p:cNvPr>
          <p:cNvSpPr/>
          <p:nvPr/>
        </p:nvSpPr>
        <p:spPr>
          <a:xfrm>
            <a:off x="5426529" y="5176157"/>
            <a:ext cx="638991" cy="58456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9A78278-5A3D-4197-923F-39E8E9B5B118}"/>
              </a:ext>
            </a:extLst>
          </p:cNvPr>
          <p:cNvSpPr txBox="1"/>
          <p:nvPr/>
        </p:nvSpPr>
        <p:spPr>
          <a:xfrm>
            <a:off x="2758910" y="5746745"/>
            <a:ext cx="6114110" cy="461665"/>
          </a:xfrm>
          <a:prstGeom prst="rect">
            <a:avLst/>
          </a:prstGeom>
          <a:noFill/>
          <a:ln w="19050">
            <a:solidFill>
              <a:srgbClr val="FF0000"/>
            </a:solidFill>
            <a:prstDash val="lgDash"/>
          </a:ln>
        </p:spPr>
        <p:txBody>
          <a:bodyPr wrap="none" rtlCol="0">
            <a:spAutoFit/>
          </a:bodyPr>
          <a:lstStyle/>
          <a:p>
            <a:r>
              <a:rPr lang="en-US" sz="2400" b="1" dirty="0"/>
              <a:t>Another idea: </a:t>
            </a:r>
            <a:r>
              <a:rPr lang="en-US" sz="2400" b="1" dirty="0">
                <a:solidFill>
                  <a:srgbClr val="231F20"/>
                </a:solidFill>
                <a:effectLst/>
              </a:rPr>
              <a:t>page fault rate guided strategies</a:t>
            </a:r>
            <a:endParaRPr lang="en-US" sz="2400" b="1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FFFE0C25-EB53-4B25-A900-F8ADECA78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596" y="797178"/>
            <a:ext cx="5316757" cy="4455542"/>
          </a:xfrm>
          <a:prstGeom prst="rect">
            <a:avLst/>
          </a:prstGeom>
        </p:spPr>
      </p:pic>
      <p:sp>
        <p:nvSpPr>
          <p:cNvPr id="10" name="椭圆 9">
            <a:extLst>
              <a:ext uri="{FF2B5EF4-FFF2-40B4-BE49-F238E27FC236}">
                <a16:creationId xmlns:a16="http://schemas.microsoft.com/office/drawing/2014/main" id="{A6B24021-0F09-4675-AF02-51F5B8A9F369}"/>
              </a:ext>
            </a:extLst>
          </p:cNvPr>
          <p:cNvSpPr/>
          <p:nvPr/>
        </p:nvSpPr>
        <p:spPr>
          <a:xfrm>
            <a:off x="4615543" y="3684451"/>
            <a:ext cx="348343" cy="272143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658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10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51AF5C-4BC4-4356-A2B7-F023B68B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 Page Fault Frequency (PFF)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B9F6F8-80BA-453F-8B4E-F2DBBF328F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41103"/>
            <a:ext cx="10515600" cy="3480688"/>
          </a:xfrm>
        </p:spPr>
        <p:txBody>
          <a:bodyPr/>
          <a:lstStyle/>
          <a:p>
            <a:r>
              <a:rPr lang="en-US" altLang="zh-CN" dirty="0"/>
              <a:t> </a:t>
            </a:r>
            <a:r>
              <a:rPr lang="en-US" altLang="zh-CN" dirty="0">
                <a:solidFill>
                  <a:srgbClr val="C00000"/>
                </a:solidFill>
              </a:rPr>
              <a:t>Practical strategy</a:t>
            </a:r>
            <a:r>
              <a:rPr lang="en-US" altLang="zh-CN" dirty="0"/>
              <a:t>: focus on the </a:t>
            </a:r>
            <a:r>
              <a:rPr lang="en-US" altLang="zh-CN" dirty="0">
                <a:solidFill>
                  <a:srgbClr val="0070C0"/>
                </a:solidFill>
              </a:rPr>
              <a:t>time interval </a:t>
            </a:r>
            <a:r>
              <a:rPr lang="en-US" altLang="zh-CN" dirty="0"/>
              <a:t>of page fault</a:t>
            </a:r>
          </a:p>
          <a:p>
            <a:r>
              <a:rPr lang="en-US" altLang="zh-CN" dirty="0"/>
              <a:t> Requires </a:t>
            </a:r>
            <a:r>
              <a:rPr lang="en-US" altLang="zh-CN" dirty="0">
                <a:solidFill>
                  <a:srgbClr val="C00000"/>
                </a:solidFill>
              </a:rPr>
              <a:t>a use bit </a:t>
            </a:r>
            <a:r>
              <a:rPr lang="en-US" altLang="zh-CN" dirty="0"/>
              <a:t>to be associated with each page in memory</a:t>
            </a:r>
          </a:p>
          <a:p>
            <a:pPr lvl="1"/>
            <a:r>
              <a:rPr lang="en-US" altLang="zh-CN" sz="2400" dirty="0"/>
              <a:t>Bit is set to </a:t>
            </a:r>
            <a:r>
              <a:rPr lang="en-US" altLang="zh-CN" sz="2400" dirty="0">
                <a:solidFill>
                  <a:srgbClr val="C00000"/>
                </a:solidFill>
              </a:rPr>
              <a:t>1</a:t>
            </a:r>
            <a:r>
              <a:rPr lang="en-US" altLang="zh-CN" sz="2400" dirty="0"/>
              <a:t> when that page is accessed</a:t>
            </a:r>
          </a:p>
        </p:txBody>
      </p:sp>
    </p:spTree>
    <p:extLst>
      <p:ext uri="{BB962C8B-B14F-4D97-AF65-F5344CB8AC3E}">
        <p14:creationId xmlns:p14="http://schemas.microsoft.com/office/powerpoint/2010/main" val="94916754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51AF5C-4BC4-4356-A2B7-F023B68B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 Page Fault Frequency (PFF)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B9F6F8-80BA-453F-8B4E-F2DBBF328F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41103"/>
            <a:ext cx="10515600" cy="3480688"/>
          </a:xfrm>
        </p:spPr>
        <p:txBody>
          <a:bodyPr/>
          <a:lstStyle/>
          <a:p>
            <a:r>
              <a:rPr lang="en-US" altLang="zh-CN" dirty="0"/>
              <a:t>When a page fault occurs, the OS notes the </a:t>
            </a:r>
            <a:r>
              <a:rPr lang="en-US" altLang="zh-CN" dirty="0">
                <a:solidFill>
                  <a:srgbClr val="C00000"/>
                </a:solidFill>
              </a:rPr>
              <a:t>virtual time since the last page fault  </a:t>
            </a:r>
            <a:r>
              <a:rPr lang="en-US" altLang="zh-CN" dirty="0"/>
              <a:t>for that process</a:t>
            </a:r>
          </a:p>
          <a:p>
            <a:pPr lvl="1"/>
            <a:r>
              <a:rPr lang="en-US" altLang="zh-CN" sz="2400" dirty="0"/>
              <a:t>If less than the </a:t>
            </a:r>
            <a:r>
              <a:rPr lang="en-US" altLang="zh-CN" sz="2400" dirty="0">
                <a:solidFill>
                  <a:srgbClr val="C00000"/>
                </a:solidFill>
              </a:rPr>
              <a:t>threshold F</a:t>
            </a:r>
            <a:r>
              <a:rPr lang="en-US" altLang="zh-CN" sz="2400" dirty="0"/>
              <a:t>, the page is added to the resident set </a:t>
            </a:r>
          </a:p>
          <a:p>
            <a:pPr lvl="1"/>
            <a:r>
              <a:rPr lang="en-US" altLang="zh-CN" sz="2400" dirty="0"/>
              <a:t>Otherwise, </a:t>
            </a:r>
            <a:r>
              <a:rPr lang="en-US" altLang="zh-CN" sz="2400" dirty="0">
                <a:solidFill>
                  <a:srgbClr val="0070C0"/>
                </a:solidFill>
              </a:rPr>
              <a:t>discard(</a:t>
            </a:r>
            <a:r>
              <a:rPr lang="zh-CN" altLang="en-US" sz="2400" dirty="0">
                <a:solidFill>
                  <a:srgbClr val="0070C0"/>
                </a:solidFill>
              </a:rPr>
              <a:t>扔掉</a:t>
            </a:r>
            <a:r>
              <a:rPr lang="en-US" altLang="zh-CN" sz="2400" dirty="0">
                <a:solidFill>
                  <a:srgbClr val="0070C0"/>
                </a:solidFill>
              </a:rPr>
              <a:t>)</a:t>
            </a:r>
            <a:r>
              <a:rPr lang="en-US" altLang="zh-CN" sz="2400" dirty="0"/>
              <a:t> all pages with a use bit of 0, and </a:t>
            </a:r>
            <a:r>
              <a:rPr lang="en-US" altLang="zh-CN" sz="2400" dirty="0">
                <a:solidFill>
                  <a:srgbClr val="0070C0"/>
                </a:solidFill>
              </a:rPr>
              <a:t>shrink</a:t>
            </a:r>
            <a:r>
              <a:rPr lang="en-US" altLang="zh-CN" sz="2400" dirty="0"/>
              <a:t> the resident set. </a:t>
            </a:r>
            <a:r>
              <a:rPr lang="en-US" altLang="zh-CN" sz="2400" dirty="0">
                <a:solidFill>
                  <a:srgbClr val="0070C0"/>
                </a:solidFill>
              </a:rPr>
              <a:t>Reset the use bit </a:t>
            </a:r>
            <a:r>
              <a:rPr lang="en-US" altLang="zh-CN" sz="2400" dirty="0"/>
              <a:t>on the remaining pages of the process to 0. the page is add.</a:t>
            </a:r>
          </a:p>
          <a:p>
            <a:endParaRPr lang="en-US" altLang="zh-CN" dirty="0"/>
          </a:p>
          <a:p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5C34783A-1AC1-4A3C-AB2B-B354C1AAD45F}"/>
                  </a:ext>
                </a:extLst>
              </p:cNvPr>
              <p:cNvSpPr/>
              <p:nvPr/>
            </p:nvSpPr>
            <p:spPr>
              <a:xfrm>
                <a:off x="1193800" y="4014981"/>
                <a:ext cx="2092657" cy="714232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dirty="0">
                    <a:solidFill>
                      <a:schemeClr val="tx1"/>
                    </a:solidFill>
                  </a:rPr>
                  <a:t>Page fault  occurs</a:t>
                </a:r>
              </a:p>
              <a:p>
                <a:pPr algn="ctr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lang="en-US" sz="2000" b="0" dirty="0">
                    <a:solidFill>
                      <a:schemeClr val="tx1"/>
                    </a:solidFill>
                  </a:rPr>
                  <a:t>t = </a:t>
                </a:r>
                <a:r>
                  <a:rPr lang="en-US" sz="2000" dirty="0">
                    <a:solidFill>
                      <a:schemeClr val="tx1"/>
                    </a:solidFill>
                  </a:rPr>
                  <a:t>t – t’</a:t>
                </a:r>
                <a:endParaRPr lang="en-US" sz="2000" b="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5C34783A-1AC1-4A3C-AB2B-B354C1AAD45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3800" y="4014981"/>
                <a:ext cx="2092657" cy="714232"/>
              </a:xfrm>
              <a:prstGeom prst="rect">
                <a:avLst/>
              </a:prstGeom>
              <a:blipFill>
                <a:blip r:embed="rId2"/>
                <a:stretch>
                  <a:fillRect l="-606" t="-5263" r="-606" b="-1403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流程图: 决策 6">
                <a:extLst>
                  <a:ext uri="{FF2B5EF4-FFF2-40B4-BE49-F238E27FC236}">
                    <a16:creationId xmlns:a16="http://schemas.microsoft.com/office/drawing/2014/main" id="{A43E2235-54A1-49B6-87F8-7225F622265C}"/>
                  </a:ext>
                </a:extLst>
              </p:cNvPr>
              <p:cNvSpPr/>
              <p:nvPr/>
            </p:nvSpPr>
            <p:spPr>
              <a:xfrm>
                <a:off x="4118971" y="4062748"/>
                <a:ext cx="2543032" cy="618698"/>
              </a:xfrm>
              <a:prstGeom prst="flowChartDecision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dirty="0"/>
                  <a:t>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endParaRPr lang="en-US" sz="2000" dirty="0"/>
              </a:p>
            </p:txBody>
          </p:sp>
        </mc:Choice>
        <mc:Fallback>
          <p:sp>
            <p:nvSpPr>
              <p:cNvPr id="7" name="流程图: 决策 6">
                <a:extLst>
                  <a:ext uri="{FF2B5EF4-FFF2-40B4-BE49-F238E27FC236}">
                    <a16:creationId xmlns:a16="http://schemas.microsoft.com/office/drawing/2014/main" id="{A43E2235-54A1-49B6-87F8-7225F622265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8971" y="4062748"/>
                <a:ext cx="2543032" cy="618698"/>
              </a:xfrm>
              <a:prstGeom prst="flowChartDecision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文本框 7">
            <a:extLst>
              <a:ext uri="{FF2B5EF4-FFF2-40B4-BE49-F238E27FC236}">
                <a16:creationId xmlns:a16="http://schemas.microsoft.com/office/drawing/2014/main" id="{733450A1-ECD5-41DF-A523-FA6AD58E25AC}"/>
              </a:ext>
            </a:extLst>
          </p:cNvPr>
          <p:cNvSpPr txBox="1"/>
          <p:nvPr/>
        </p:nvSpPr>
        <p:spPr>
          <a:xfrm>
            <a:off x="7225540" y="4004506"/>
            <a:ext cx="4572569" cy="70788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Page is added to the resident set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Reset the remaining pages’ use bit to 0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A451A8F-2278-4610-923E-D772754906D0}"/>
              </a:ext>
            </a:extLst>
          </p:cNvPr>
          <p:cNvSpPr txBox="1"/>
          <p:nvPr/>
        </p:nvSpPr>
        <p:spPr>
          <a:xfrm>
            <a:off x="3036247" y="5166771"/>
            <a:ext cx="4708480" cy="40011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Discard the pages with a use bit of 0</a:t>
            </a:r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AD0A5D6D-D815-4B2E-AD32-A718B8AC0F94}"/>
              </a:ext>
            </a:extLst>
          </p:cNvPr>
          <p:cNvCxnSpPr>
            <a:cxnSpLocks/>
            <a:stCxn id="5" idx="3"/>
            <a:endCxn id="7" idx="1"/>
          </p:cNvCxnSpPr>
          <p:nvPr/>
        </p:nvCxnSpPr>
        <p:spPr>
          <a:xfrm>
            <a:off x="3286457" y="4372097"/>
            <a:ext cx="832514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57B9D168-022C-4830-95E6-859A945B10FF}"/>
              </a:ext>
            </a:extLst>
          </p:cNvPr>
          <p:cNvCxnSpPr>
            <a:cxnSpLocks/>
            <a:stCxn id="7" idx="3"/>
            <a:endCxn id="8" idx="1"/>
          </p:cNvCxnSpPr>
          <p:nvPr/>
        </p:nvCxnSpPr>
        <p:spPr>
          <a:xfrm flipV="1">
            <a:off x="6662003" y="4358449"/>
            <a:ext cx="563537" cy="1364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32B9AA9F-4D0C-4148-9BD4-7CF46B1ED84C}"/>
              </a:ext>
            </a:extLst>
          </p:cNvPr>
          <p:cNvCxnSpPr>
            <a:cxnSpLocks/>
            <a:stCxn id="7" idx="2"/>
            <a:endCxn id="9" idx="0"/>
          </p:cNvCxnSpPr>
          <p:nvPr/>
        </p:nvCxnSpPr>
        <p:spPr>
          <a:xfrm>
            <a:off x="5390487" y="4681446"/>
            <a:ext cx="0" cy="48532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连接符: 肘形 17">
            <a:extLst>
              <a:ext uri="{FF2B5EF4-FFF2-40B4-BE49-F238E27FC236}">
                <a16:creationId xmlns:a16="http://schemas.microsoft.com/office/drawing/2014/main" id="{EC578D85-87D3-47B1-B77D-F89A3E46E251}"/>
              </a:ext>
            </a:extLst>
          </p:cNvPr>
          <p:cNvCxnSpPr>
            <a:cxnSpLocks/>
            <a:stCxn id="9" idx="3"/>
            <a:endCxn id="8" idx="2"/>
          </p:cNvCxnSpPr>
          <p:nvPr/>
        </p:nvCxnSpPr>
        <p:spPr>
          <a:xfrm flipV="1">
            <a:off x="7744727" y="4712392"/>
            <a:ext cx="1767098" cy="654434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3D5D2DF9-F1A4-4DFD-8FB8-96CE7538C240}"/>
              </a:ext>
            </a:extLst>
          </p:cNvPr>
          <p:cNvSpPr txBox="1"/>
          <p:nvPr/>
        </p:nvSpPr>
        <p:spPr>
          <a:xfrm>
            <a:off x="6843365" y="4028629"/>
            <a:ext cx="3097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Y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FC668F0-3E4D-4921-BB96-BD097986F0A0}"/>
              </a:ext>
            </a:extLst>
          </p:cNvPr>
          <p:cNvSpPr txBox="1"/>
          <p:nvPr/>
        </p:nvSpPr>
        <p:spPr>
          <a:xfrm>
            <a:off x="5542902" y="4699643"/>
            <a:ext cx="2865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N</a:t>
            </a:r>
          </a:p>
        </p:txBody>
      </p:sp>
    </p:spTree>
    <p:extLst>
      <p:ext uri="{BB962C8B-B14F-4D97-AF65-F5344CB8AC3E}">
        <p14:creationId xmlns:p14="http://schemas.microsoft.com/office/powerpoint/2010/main" val="2351751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20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51AF5C-4BC4-4356-A2B7-F023B68B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Page Fault Frequency (PFF)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B9F6F8-80BA-453F-8B4E-F2DBBF328F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threshold = 2</a:t>
            </a:r>
          </a:p>
          <a:p>
            <a:pPr marL="0" indent="0">
              <a:buNone/>
            </a:pPr>
            <a:endParaRPr lang="en-US" altLang="zh-CN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D1D080E2-F950-458D-8B48-66934A35DE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385170" y="2180229"/>
            <a:ext cx="7583951" cy="32292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00498462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51AF5C-4BC4-4356-A2B7-F023B68B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Page Fault Frequency (PFF)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B9F6F8-80BA-453F-8B4E-F2DBBF328F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threshold = 2</a:t>
            </a:r>
          </a:p>
          <a:p>
            <a:pPr marL="0" indent="0">
              <a:buNone/>
            </a:pPr>
            <a:endParaRPr lang="en-US" altLang="zh-CN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10D8065B-5DEF-4C6B-9A42-FFB91E9D89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14163" y="1424674"/>
            <a:ext cx="11270551" cy="4661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97738980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51AF5C-4BC4-4356-A2B7-F023B68B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Cleaning Policy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B9F6F8-80BA-453F-8B4E-F2DBBF328F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Concerned with determining </a:t>
            </a:r>
            <a:r>
              <a:rPr lang="en-US" altLang="zh-CN" dirty="0">
                <a:solidFill>
                  <a:srgbClr val="FF0000"/>
                </a:solidFill>
              </a:rPr>
              <a:t>when a modified page</a:t>
            </a:r>
            <a:r>
              <a:rPr lang="en-US" altLang="zh-CN" dirty="0"/>
              <a:t> should be written out to secondary memory</a:t>
            </a:r>
          </a:p>
          <a:p>
            <a:r>
              <a:rPr lang="en-US" altLang="zh-CN" dirty="0"/>
              <a:t>Demand Cleaning</a:t>
            </a:r>
          </a:p>
          <a:p>
            <a:pPr lvl="1"/>
            <a:r>
              <a:rPr lang="en-US" altLang="zh-CN" sz="2400" dirty="0"/>
              <a:t>a page is written out to secondary memory only when it has been </a:t>
            </a:r>
            <a:r>
              <a:rPr lang="en-US" altLang="zh-CN" sz="2400" dirty="0">
                <a:solidFill>
                  <a:srgbClr val="FF0000"/>
                </a:solidFill>
              </a:rPr>
              <a:t>selected for replacement</a:t>
            </a:r>
          </a:p>
          <a:p>
            <a:pPr lvl="1"/>
            <a:r>
              <a:rPr lang="en-US" sz="2400" dirty="0"/>
              <a:t>Issue</a:t>
            </a:r>
            <a:r>
              <a:rPr lang="zh-CN" altLang="en-US" sz="2400" dirty="0"/>
              <a:t>：</a:t>
            </a:r>
            <a:r>
              <a:rPr lang="en-US" sz="2400" dirty="0"/>
              <a:t>suffers a page fault may have to wait for </a:t>
            </a:r>
            <a:r>
              <a:rPr lang="en-US" sz="2400" dirty="0">
                <a:solidFill>
                  <a:srgbClr val="FF0000"/>
                </a:solidFill>
              </a:rPr>
              <a:t>two page transfers</a:t>
            </a:r>
            <a:r>
              <a:rPr lang="en-US" sz="2400" dirty="0"/>
              <a:t>. This may decrease processor utilization.</a:t>
            </a:r>
            <a:endParaRPr lang="en-US" altLang="zh-CN" dirty="0"/>
          </a:p>
          <a:p>
            <a:r>
              <a:rPr lang="en-US" altLang="zh-CN" dirty="0"/>
              <a:t>Precleaning</a:t>
            </a:r>
          </a:p>
          <a:p>
            <a:pPr lvl="1"/>
            <a:r>
              <a:rPr lang="en-US" sz="2400" dirty="0">
                <a:solidFill>
                  <a:srgbClr val="FF0000"/>
                </a:solidFill>
              </a:rPr>
              <a:t>writes modified pages</a:t>
            </a:r>
            <a:r>
              <a:rPr lang="en-US" sz="2400" dirty="0"/>
              <a:t> </a:t>
            </a:r>
            <a:r>
              <a:rPr lang="en-US" sz="2400" dirty="0">
                <a:solidFill>
                  <a:srgbClr val="FF0000"/>
                </a:solidFill>
              </a:rPr>
              <a:t>before </a:t>
            </a:r>
            <a:r>
              <a:rPr lang="en-US" sz="2400" dirty="0"/>
              <a:t>their page frames are needed so pages can be written out </a:t>
            </a:r>
            <a:r>
              <a:rPr lang="en-US" sz="2400" dirty="0">
                <a:solidFill>
                  <a:srgbClr val="FF0000"/>
                </a:solidFill>
              </a:rPr>
              <a:t>in batches</a:t>
            </a:r>
            <a:r>
              <a:rPr lang="en-US" sz="2400" dirty="0"/>
              <a:t>.</a:t>
            </a:r>
          </a:p>
          <a:p>
            <a:pPr lvl="1"/>
            <a:r>
              <a:rPr lang="en-US" altLang="zh-CN" sz="2400" dirty="0"/>
              <a:t>Issue: t</a:t>
            </a:r>
            <a:r>
              <a:rPr lang="en-US" sz="2400" dirty="0"/>
              <a:t>he pages may be </a:t>
            </a:r>
            <a:r>
              <a:rPr lang="en-US" sz="2400" dirty="0">
                <a:solidFill>
                  <a:srgbClr val="FF0000"/>
                </a:solidFill>
              </a:rPr>
              <a:t>modified again </a:t>
            </a:r>
            <a:r>
              <a:rPr lang="en-US" sz="2400" dirty="0"/>
              <a:t>before they are replaced.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6899991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51AF5C-4BC4-4356-A2B7-F023B68B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Load Control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B9F6F8-80BA-453F-8B4E-F2DBBF328F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Determines </a:t>
            </a:r>
            <a:r>
              <a:rPr lang="en-US" altLang="zh-CN" dirty="0">
                <a:solidFill>
                  <a:srgbClr val="FF0000"/>
                </a:solidFill>
              </a:rPr>
              <a:t>the number of processes </a:t>
            </a:r>
            <a:r>
              <a:rPr lang="en-US" altLang="zh-CN" dirty="0"/>
              <a:t>that will be resident in main memory</a:t>
            </a:r>
          </a:p>
          <a:p>
            <a:pPr lvl="1"/>
            <a:r>
              <a:rPr lang="en-US" altLang="zh-CN" sz="2400" dirty="0"/>
              <a:t>multiprogramming level</a:t>
            </a:r>
          </a:p>
          <a:p>
            <a:r>
              <a:rPr lang="en-US" altLang="zh-CN" dirty="0">
                <a:solidFill>
                  <a:srgbClr val="FF0000"/>
                </a:solidFill>
              </a:rPr>
              <a:t>Critical</a:t>
            </a:r>
            <a:r>
              <a:rPr lang="en-US" altLang="zh-CN" dirty="0"/>
              <a:t> in effective memory management </a:t>
            </a:r>
          </a:p>
          <a:p>
            <a:pPr lvl="1"/>
            <a:r>
              <a:rPr lang="en-US" altLang="zh-CN" sz="2400" dirty="0"/>
              <a:t>Too </a:t>
            </a:r>
            <a:r>
              <a:rPr lang="en-US" altLang="zh-CN" sz="2400" dirty="0">
                <a:solidFill>
                  <a:srgbClr val="FF0000"/>
                </a:solidFill>
              </a:rPr>
              <a:t>few</a:t>
            </a:r>
            <a:r>
              <a:rPr lang="en-US" altLang="zh-CN" sz="2400" dirty="0"/>
              <a:t> processes, many occasions when all processes will be blocked and much time will be spent in </a:t>
            </a:r>
            <a:r>
              <a:rPr lang="en-US" altLang="zh-CN" sz="2400" dirty="0">
                <a:solidFill>
                  <a:srgbClr val="C00000"/>
                </a:solidFill>
              </a:rPr>
              <a:t>swapping</a:t>
            </a:r>
          </a:p>
          <a:p>
            <a:pPr lvl="1"/>
            <a:r>
              <a:rPr lang="en-US" altLang="zh-CN" sz="2400" dirty="0"/>
              <a:t>Too </a:t>
            </a:r>
            <a:r>
              <a:rPr lang="en-US" altLang="zh-CN" sz="2400" dirty="0">
                <a:solidFill>
                  <a:srgbClr val="FF0000"/>
                </a:solidFill>
              </a:rPr>
              <a:t>many</a:t>
            </a:r>
            <a:r>
              <a:rPr lang="en-US" altLang="zh-CN" sz="2400" dirty="0"/>
              <a:t> processes will lead to </a:t>
            </a:r>
            <a:r>
              <a:rPr lang="en-US" altLang="zh-CN" sz="2400" dirty="0">
                <a:solidFill>
                  <a:srgbClr val="C00000"/>
                </a:solidFill>
              </a:rPr>
              <a:t>thrashing</a:t>
            </a:r>
          </a:p>
          <a:p>
            <a:r>
              <a:rPr lang="en-US" dirty="0"/>
              <a:t>A working set or PFF algorithm implicitly incorporates load control</a:t>
            </a:r>
            <a:endParaRPr lang="en-US" altLang="zh-CN" dirty="0"/>
          </a:p>
          <a:p>
            <a:r>
              <a:rPr lang="en-US" altLang="zh-CN" dirty="0"/>
              <a:t>Example: </a:t>
            </a:r>
            <a:r>
              <a:rPr lang="en-US" altLang="zh-CN" dirty="0">
                <a:solidFill>
                  <a:srgbClr val="0070C0"/>
                </a:solidFill>
              </a:rPr>
              <a:t>L=S Criterion </a:t>
            </a:r>
          </a:p>
          <a:p>
            <a:endParaRPr lang="en-US" altLang="zh-CN" dirty="0">
              <a:solidFill>
                <a:srgbClr val="C00000"/>
              </a:solidFill>
            </a:endParaRPr>
          </a:p>
          <a:p>
            <a:endParaRPr lang="en-US" altLang="zh-CN" dirty="0"/>
          </a:p>
          <a:p>
            <a:endParaRPr lang="zh-CN" altLang="en-US" dirty="0"/>
          </a:p>
        </p:txBody>
      </p:sp>
      <p:pic>
        <p:nvPicPr>
          <p:cNvPr id="5" name="Picture 3">
            <a:extLst>
              <a:ext uri="{FF2B5EF4-FFF2-40B4-BE49-F238E27FC236}">
                <a16:creationId xmlns:a16="http://schemas.microsoft.com/office/drawing/2014/main" id="{778B5270-DD19-46AF-87D2-55DBCD61DF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488593" y="5210728"/>
            <a:ext cx="6834656" cy="9055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419493159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687665-11C6-4085-9D2B-17487BA98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Multiprogramming Effects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02FA30B-E56C-4416-8C83-C9D1BF3DC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3D444-7193-46AD-90E8-D84AE4B61CFF}" type="slidenum">
              <a:rPr lang="en-US" smtClean="0"/>
              <a:pPr/>
              <a:t>43</a:t>
            </a:fld>
            <a:r>
              <a:rPr lang="en-US"/>
              <a:t>/</a:t>
            </a:r>
            <a:r>
              <a:rPr lang="en-US" altLang="zh-CN"/>
              <a:t>63</a:t>
            </a:r>
            <a:endParaRPr lang="en-US" dirty="0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0163263-9979-4B38-A233-B1FD8E1047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6D1B6-B1AF-7D4D-A84B-F73F4DDF98DE}" type="datetime1">
              <a:rPr lang="zh-CN" altLang="en-US" smtClean="0"/>
              <a:t>2026/5/25</a:t>
            </a:fld>
            <a:endParaRPr lang="zh-CN" altLang="en-US" dirty="0"/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03FECA49-76C2-447C-986F-A820339301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00583" y="841375"/>
            <a:ext cx="6590833" cy="5175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124937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20D6F6-1FA5-4322-9DEA-ADF3A1394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</a:t>
            </a:r>
            <a:r>
              <a:rPr lang="en-US" altLang="zh-CN" dirty="0"/>
              <a:t>uiz</a:t>
            </a:r>
            <a:endParaRPr 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665F93A-D6EE-460B-895D-5AD75084C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3D444-7193-46AD-90E8-D84AE4B61CFF}" type="slidenum">
              <a:rPr lang="en-US" smtClean="0"/>
              <a:pPr/>
              <a:t>44</a:t>
            </a:fld>
            <a:r>
              <a:rPr lang="en-US"/>
              <a:t>/</a:t>
            </a:r>
            <a:r>
              <a:rPr lang="en-US" altLang="zh-CN"/>
              <a:t>63</a:t>
            </a:r>
            <a:endParaRPr lang="en-US" dirty="0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D49A80B-98B9-4D31-BDB6-29482BFC50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6D1B6-B1AF-7D4D-A84B-F73F4DDF98DE}" type="datetime1">
              <a:rPr lang="zh-CN" altLang="en-US" smtClean="0"/>
              <a:t>2026/5/25</a:t>
            </a:fld>
            <a:endParaRPr lang="zh-CN" altLang="en-US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348C658D-9625-46C2-A9AE-356C130D22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4350" y="3061298"/>
            <a:ext cx="7615477" cy="3206516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5199B9F4-76E3-4D32-A228-48FCD1B0E3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4350" y="905368"/>
            <a:ext cx="7669001" cy="805166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D0755E69-1522-4267-86EF-FDF3C8D965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92744" y="1724623"/>
            <a:ext cx="6733963" cy="1248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075027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5033A4-7020-4A9E-A67C-370049921A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</a:t>
            </a:r>
            <a:r>
              <a:rPr lang="en-US" altLang="zh-CN" dirty="0"/>
              <a:t>ummary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B41073F-E706-4816-BA66-488AA46821C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Operating System Software</a:t>
                </a:r>
              </a:p>
              <a:p>
                <a:pPr lvl="1"/>
                <a:r>
                  <a:rPr lang="en-US" dirty="0">
                    <a:solidFill>
                      <a:srgbClr val="0070C0"/>
                    </a:solidFill>
                  </a:rPr>
                  <a:t>Fetch policy</a:t>
                </a:r>
                <a:r>
                  <a:rPr lang="en-US" dirty="0"/>
                  <a:t>: demand paging &amp; </a:t>
                </a:r>
                <a:r>
                  <a:rPr lang="en-US" dirty="0" err="1"/>
                  <a:t>prepaging</a:t>
                </a:r>
                <a:endParaRPr lang="en-US" dirty="0"/>
              </a:p>
              <a:p>
                <a:pPr lvl="1"/>
                <a:r>
                  <a:rPr lang="en-US" dirty="0">
                    <a:solidFill>
                      <a:srgbClr val="0070C0"/>
                    </a:solidFill>
                  </a:rPr>
                  <a:t>Placement policy</a:t>
                </a:r>
                <a:r>
                  <a:rPr lang="en-US" dirty="0"/>
                  <a:t>: only for segmentation, best-fit, next-fit, first-fit</a:t>
                </a:r>
              </a:p>
              <a:p>
                <a:pPr lvl="1"/>
                <a:r>
                  <a:rPr lang="en-US" dirty="0">
                    <a:solidFill>
                      <a:srgbClr val="0070C0"/>
                    </a:solidFill>
                  </a:rPr>
                  <a:t>Replacement policy</a:t>
                </a:r>
                <a:r>
                  <a:rPr lang="en-US" dirty="0"/>
                  <a:t>: OPT, LRU, FIFO, C</a:t>
                </a:r>
                <a:r>
                  <a:rPr lang="en-US" altLang="zh-CN" dirty="0"/>
                  <a:t>lock</a:t>
                </a:r>
              </a:p>
              <a:p>
                <a:pPr lvl="1"/>
                <a:r>
                  <a:rPr lang="en-US" dirty="0">
                    <a:solidFill>
                      <a:srgbClr val="0070C0"/>
                    </a:solidFill>
                  </a:rPr>
                  <a:t>R</a:t>
                </a:r>
                <a:r>
                  <a:rPr lang="en-US" altLang="zh-CN" dirty="0">
                    <a:solidFill>
                      <a:srgbClr val="0070C0"/>
                    </a:solidFill>
                  </a:rPr>
                  <a:t>esident Set Management</a:t>
                </a:r>
              </a:p>
              <a:p>
                <a:pPr lvl="2"/>
                <a:r>
                  <a:rPr lang="en-US" dirty="0"/>
                  <a:t>Fixed allocation, local</a:t>
                </a:r>
              </a:p>
              <a:p>
                <a:pPr lvl="2"/>
                <a:r>
                  <a:rPr lang="en-US" dirty="0"/>
                  <a:t>Varied allocation, global </a:t>
                </a:r>
              </a:p>
              <a:p>
                <a:pPr lvl="2"/>
                <a:r>
                  <a:rPr lang="en-US" dirty="0"/>
                  <a:t>Variable allocation, local</a:t>
                </a:r>
              </a:p>
              <a:p>
                <a:pPr lvl="3"/>
                <a:r>
                  <a:rPr lang="en-US" dirty="0"/>
                  <a:t>Working set (W</a:t>
                </a:r>
                <a:r>
                  <a:rPr lang="zh-CN" altLang="en-US" dirty="0"/>
                  <a:t>（</a:t>
                </a:r>
                <a:r>
                  <a:rPr lang="en-US" altLang="zh-CN" dirty="0"/>
                  <a:t>t,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b="0" i="0" smtClean="0"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lang="zh-CN" altLang="en-US" dirty="0"/>
                  <a:t>）</a:t>
                </a:r>
                <a:r>
                  <a:rPr lang="en-US" dirty="0"/>
                  <a:t>)</a:t>
                </a:r>
              </a:p>
              <a:p>
                <a:pPr lvl="3"/>
                <a:r>
                  <a:rPr lang="en-US" dirty="0"/>
                  <a:t>Page fault frequency </a:t>
                </a:r>
                <a:r>
                  <a:rPr lang="zh-CN" altLang="en-US" dirty="0"/>
                  <a:t>（</a:t>
                </a:r>
                <a:r>
                  <a:rPr lang="en-US" altLang="zh-CN" dirty="0"/>
                  <a:t>PFF</a:t>
                </a:r>
                <a:r>
                  <a:rPr lang="zh-CN" altLang="en-US" dirty="0"/>
                  <a:t>）</a:t>
                </a:r>
                <a:endParaRPr lang="en-US" dirty="0"/>
              </a:p>
              <a:p>
                <a:pPr lvl="1"/>
                <a:r>
                  <a:rPr lang="en-US" altLang="zh-CN" dirty="0">
                    <a:solidFill>
                      <a:srgbClr val="0070C0"/>
                    </a:solidFill>
                  </a:rPr>
                  <a:t>Clean policy: </a:t>
                </a:r>
                <a:r>
                  <a:rPr lang="en-US" altLang="zh-CN" dirty="0"/>
                  <a:t>demand cleaning and precleaning</a:t>
                </a:r>
              </a:p>
              <a:p>
                <a:pPr lvl="1"/>
                <a:r>
                  <a:rPr lang="en-US" dirty="0">
                    <a:solidFill>
                      <a:srgbClr val="0070C0"/>
                    </a:solidFill>
                  </a:rPr>
                  <a:t>Load control: </a:t>
                </a:r>
                <a:r>
                  <a:rPr lang="en-US" dirty="0"/>
                  <a:t>working set</a:t>
                </a:r>
                <a:r>
                  <a:rPr lang="zh-CN" altLang="en-US" dirty="0"/>
                  <a:t>、</a:t>
                </a:r>
                <a:r>
                  <a:rPr lang="en-US" altLang="zh-CN" dirty="0"/>
                  <a:t>PFF</a:t>
                </a:r>
                <a:r>
                  <a:rPr lang="zh-CN" altLang="en-US" dirty="0"/>
                  <a:t>、</a:t>
                </a:r>
                <a:r>
                  <a:rPr lang="en-US" altLang="zh-CN" dirty="0"/>
                  <a:t>L=S criterion</a:t>
                </a:r>
                <a:endParaRPr 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B41073F-E706-4816-BA66-488AA46821C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t="-9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329A172-C6F0-49EF-9108-ECD12D8F1D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3D444-7193-46AD-90E8-D84AE4B61CFF}" type="slidenum">
              <a:rPr lang="en-US" smtClean="0"/>
              <a:pPr/>
              <a:t>45</a:t>
            </a:fld>
            <a:r>
              <a:rPr lang="en-US"/>
              <a:t>/</a:t>
            </a:r>
            <a:r>
              <a:rPr lang="en-US" altLang="zh-CN"/>
              <a:t>63</a:t>
            </a:r>
            <a:endParaRPr lang="en-US" dirty="0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ACB9FFF-28BF-4C04-8725-F97BD52F7B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6D1B6-B1AF-7D4D-A84B-F73F4DDF98DE}" type="datetime1">
              <a:rPr lang="zh-CN" altLang="en-US" smtClean="0"/>
              <a:t>2026/5/25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71147678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主题​​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ambria-Calibri">
      <a:majorFont>
        <a:latin typeface="Cambria" panose="02040503050406030204"/>
        <a:ea typeface=""/>
        <a:cs typeface=""/>
        <a:font script="Jpan" typeface="ＭＳ Ｐゴシック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3161</TotalTime>
  <Words>2495</Words>
  <Application>Microsoft Macintosh PowerPoint</Application>
  <PresentationFormat>Widescreen</PresentationFormat>
  <Paragraphs>293</Paragraphs>
  <Slides>45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6" baseType="lpstr">
      <vt:lpstr>等线</vt:lpstr>
      <vt:lpstr>Microsoft YaHei</vt:lpstr>
      <vt:lpstr>Microsoft YaHei UI</vt:lpstr>
      <vt:lpstr>TimesLTPro-Roman</vt:lpstr>
      <vt:lpstr>TimesTenLTStd-Bold</vt:lpstr>
      <vt:lpstr>TimesTenLTStd-Roman</vt:lpstr>
      <vt:lpstr>Arial</vt:lpstr>
      <vt:lpstr>Calibri</vt:lpstr>
      <vt:lpstr>Cambria Math</vt:lpstr>
      <vt:lpstr>Wingdings</vt:lpstr>
      <vt:lpstr>1_Office 主题​​</vt:lpstr>
      <vt:lpstr>PowerPoint Presentation</vt:lpstr>
      <vt:lpstr>Outline</vt:lpstr>
      <vt:lpstr>Operating System Software</vt:lpstr>
      <vt:lpstr>Overhead during Page Fault Error</vt:lpstr>
      <vt:lpstr>Operating System Policies for Virtual Memory</vt:lpstr>
      <vt:lpstr>1. Fetch Policy</vt:lpstr>
      <vt:lpstr>Fetch Policy</vt:lpstr>
      <vt:lpstr>Fetch Policy</vt:lpstr>
      <vt:lpstr>2. Placement Policy</vt:lpstr>
      <vt:lpstr>3. Replacement （置换）Policy</vt:lpstr>
      <vt:lpstr>Frame Locking</vt:lpstr>
      <vt:lpstr>Replacement （置换）Policy</vt:lpstr>
      <vt:lpstr>Optimal Policy </vt:lpstr>
      <vt:lpstr>Least Recently Used (LRU)</vt:lpstr>
      <vt:lpstr>First-in-First-out (FIFO)</vt:lpstr>
      <vt:lpstr>Clock Policy</vt:lpstr>
      <vt:lpstr>Clock Policy</vt:lpstr>
      <vt:lpstr>Clock Policy</vt:lpstr>
      <vt:lpstr>Combined Examples</vt:lpstr>
      <vt:lpstr>Comparison of Algorithms</vt:lpstr>
      <vt:lpstr>Page Buffering</vt:lpstr>
      <vt:lpstr>4. Resident Set Management</vt:lpstr>
      <vt:lpstr>4. Resident Set (常驻集) Management</vt:lpstr>
      <vt:lpstr>Resident Set Size</vt:lpstr>
      <vt:lpstr>Replacement Scope</vt:lpstr>
      <vt:lpstr>Resident Set Management Summary</vt:lpstr>
      <vt:lpstr>Fixed Allocation, Local Scope</vt:lpstr>
      <vt:lpstr>Variable Allocation, Global Scope</vt:lpstr>
      <vt:lpstr>Variable Allocation, Local Scope</vt:lpstr>
      <vt:lpstr>Variable Allocation, Local Scope</vt:lpstr>
      <vt:lpstr>Working Set Strategy</vt:lpstr>
      <vt:lpstr>Working Set Strategy</vt:lpstr>
      <vt:lpstr>Working Set Strategy</vt:lpstr>
      <vt:lpstr>Guidance for Resident Size</vt:lpstr>
      <vt:lpstr>Guidance for Resident Size</vt:lpstr>
      <vt:lpstr>Guidance for Resident Size</vt:lpstr>
      <vt:lpstr> Page Fault Frequency (PFF)</vt:lpstr>
      <vt:lpstr> Page Fault Frequency (PFF)</vt:lpstr>
      <vt:lpstr>Page Fault Frequency (PFF)</vt:lpstr>
      <vt:lpstr>Page Fault Frequency (PFF)</vt:lpstr>
      <vt:lpstr>Cleaning Policy</vt:lpstr>
      <vt:lpstr>Load Control</vt:lpstr>
      <vt:lpstr>Multiprogramming Effects</vt:lpstr>
      <vt:lpstr>Quiz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Operating System</dc:title>
  <dc:creator>飞 滕</dc:creator>
  <cp:lastModifiedBy>yang li</cp:lastModifiedBy>
  <cp:revision>644</cp:revision>
  <dcterms:created xsi:type="dcterms:W3CDTF">2020-02-20T05:29:15Z</dcterms:created>
  <dcterms:modified xsi:type="dcterms:W3CDTF">2026-05-25T16:23:32Z</dcterms:modified>
</cp:coreProperties>
</file>