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3"/>
  </p:notesMasterIdLst>
  <p:sldIdLst>
    <p:sldId id="403" r:id="rId2"/>
    <p:sldId id="404" r:id="rId3"/>
    <p:sldId id="354" r:id="rId4"/>
    <p:sldId id="357" r:id="rId5"/>
    <p:sldId id="360" r:id="rId6"/>
    <p:sldId id="361" r:id="rId7"/>
    <p:sldId id="363" r:id="rId8"/>
    <p:sldId id="364" r:id="rId9"/>
    <p:sldId id="366" r:id="rId10"/>
    <p:sldId id="370" r:id="rId11"/>
    <p:sldId id="372" r:id="rId12"/>
    <p:sldId id="373" r:id="rId13"/>
    <p:sldId id="405" r:id="rId14"/>
    <p:sldId id="374" r:id="rId15"/>
    <p:sldId id="375" r:id="rId16"/>
    <p:sldId id="376" r:id="rId17"/>
    <p:sldId id="377" r:id="rId18"/>
    <p:sldId id="379" r:id="rId19"/>
    <p:sldId id="380" r:id="rId20"/>
    <p:sldId id="381" r:id="rId21"/>
    <p:sldId id="382" r:id="rId22"/>
    <p:sldId id="384" r:id="rId23"/>
    <p:sldId id="385" r:id="rId24"/>
    <p:sldId id="386" r:id="rId25"/>
    <p:sldId id="389" r:id="rId26"/>
    <p:sldId id="390" r:id="rId27"/>
    <p:sldId id="392" r:id="rId28"/>
    <p:sldId id="393" r:id="rId29"/>
    <p:sldId id="395" r:id="rId30"/>
    <p:sldId id="406" r:id="rId31"/>
    <p:sldId id="36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3806" autoAdjust="0"/>
  </p:normalViewPr>
  <p:slideViewPr>
    <p:cSldViewPr snapToGrid="0">
      <p:cViewPr varScale="1">
        <p:scale>
          <a:sx n="124" d="100"/>
          <a:sy n="124" d="100"/>
        </p:scale>
        <p:origin x="280" y="168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8676ED-31AD-43FB-A49E-D33E228A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422C94-50F2-4AE9-86A9-E61113E14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5A43B6-600F-417C-93A9-1FD37B86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23FB5-DA9B-D449-BD3F-23B81C5F3DB2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46F7F6-9FE2-4D4C-864B-75CAFF397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D69EF-23A2-4ACE-83F0-B1DA318E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560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E71735-B29C-4DD1-A401-C0EC3324C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80" y="136523"/>
            <a:ext cx="10515600" cy="616768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8E37B7-8C78-4782-A312-6CE3597C9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>
            <a:normAutofit/>
          </a:bodyPr>
          <a:lstStyle>
            <a:lvl1pPr algn="just">
              <a:lnSpc>
                <a:spcPct val="100000"/>
              </a:lnSpc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algn="just">
              <a:lnSpc>
                <a:spcPct val="100000"/>
              </a:lnSpc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B372F8-B13E-4C13-8035-517AFC049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‹#›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FC96DF-A291-4168-A068-D1202F815F00}"/>
              </a:ext>
            </a:extLst>
          </p:cNvPr>
          <p:cNvSpPr txBox="1"/>
          <p:nvPr userDrawn="1"/>
        </p:nvSpPr>
        <p:spPr>
          <a:xfrm>
            <a:off x="1879601" y="6356352"/>
            <a:ext cx="8432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Memory Management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7DCD789-2F9C-4890-8FFB-CFE5A82A6A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6480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FB2E7-CD10-401E-B2A8-7149F8475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A83809-0CD6-4E99-B235-4D681390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1F12C-08AA-45AB-908E-59440A6C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DB72-4C83-9C4A-866B-4D5142DBA58B}" type="datetime1">
              <a:rPr lang="zh-CN" altLang="en-US" smtClean="0"/>
              <a:t>2026/5/25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61642-9D96-4148-8180-D0B2B501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4EB5D8-A13F-457E-826D-95AC9FB55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3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E999A-7582-4E5D-A9FB-8CDEF52E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3E153-1AD5-46DD-B8DE-61DF0461F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248A8-0745-4392-A1F2-F6DF355FF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9D8C1F-5ACD-48A3-93C6-718634CC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00616-4739-7441-B90B-83F2CA2BC9BA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E22B1C-A4A1-4342-9DAC-218041BC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CCC53A-B54E-4AEB-86B3-C8CD6AF7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9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DE34E-984F-4F04-A7FF-17195BCF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761511-A802-4F5E-86A2-D80D5C0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E9FAF3-D8C1-45A2-BA48-80B349866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251460-B631-4C46-908A-FE9A10522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5D71-25C4-4922-9405-6A048B911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9751F0-F0EA-4B00-B971-5EE1B37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51E67-9620-AB48-8C22-118A8ACF42A3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047BC4-C2D4-4C81-B588-5459ACF0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9723A5-6ECE-4EAA-A5C6-EABD8CD3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411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852D2-8976-40DD-BA31-408AB98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858EC2-E957-4F1C-83FD-787BB2CC1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96E-3180-8C40-81AA-950720D6E543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06991F-2419-4982-884B-D42FF1AA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98A650-CAEE-412E-B9BF-886CCFDE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76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DBD33B-092C-4074-8EDA-3C4FE78A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8788" y="6356351"/>
            <a:ext cx="2743200" cy="365125"/>
          </a:xfrm>
        </p:spPr>
        <p:txBody>
          <a:bodyPr/>
          <a:lstStyle/>
          <a:p>
            <a:fld id="{FD9F80F7-C3DF-D742-871B-8631AA2F4284}" type="datetime1">
              <a:rPr lang="zh-CN" altLang="en-US" smtClean="0"/>
              <a:t>2026/5/25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D8F40-5181-4836-B8DD-3A9908B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2A77F-D152-4CDD-99EA-FD8387B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04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21370-F61A-4FFA-8158-63411BEF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54B4E2-CBF2-4B8F-9FBE-CE369EF6A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417E24-6C8C-4AC7-8665-96EC08B1E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33FA8D-1C48-4107-82A1-179513CC6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033B-6B8A-DF41-A2EB-ACFE77114C01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FBC6DC-C4E0-4913-82DB-024E67FF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67BBE5-0CE5-41DC-8976-ECDB9176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2128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D30F-E495-4188-86D6-1CC70B80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FD1BDB-E14E-4C2F-8A31-0C603947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D96B3D-921F-4319-83AB-6599543C1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720358-A521-4F46-ABEB-E0AE1BAB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7BDB-3D9C-3044-9065-01E1FE9EC8B3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8CC20-8FFA-4C0C-89A1-56552414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CBA9C1-FE7E-475B-A075-82D6279F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383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917C9F-382B-48B3-AEE3-A127545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CEB06-E6AC-47BF-A94B-0ED4AAAD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C0F83F-CE58-4F03-BCC7-46A6A13F7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23FAF-27E8-3442-8C9B-7C060914ABFE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9299B-B55F-4721-90C3-0CFE23FA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0ADCF-1B44-43D8-AB3F-8541D6238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359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D9C40E-5C6D-4234-8128-E50188E5E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E915B8-7307-4BCC-9A61-569D45C9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FCA776-3C88-4450-AD71-6D2C500A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C4F1-59CC-944D-839A-A20122FC4C2B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02269-E005-4BE1-94C3-C26720F2B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9685CF-5F0E-4F70-99BE-CCD46BC0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1195D6-D476-4847-9419-038ABCB65A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17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42FFB6-8F21-4ACC-BC1E-3F66BCB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17" y="156305"/>
            <a:ext cx="10515600" cy="59698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525B20-A1AA-4A92-9D7A-2F7B14A4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28915"/>
            <a:ext cx="10515600" cy="5175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28EA23-1C26-401F-ABA1-2D300BB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DF019-1C96-0B48-8006-AD0D34BEC94E}" type="datetime1">
              <a:rPr lang="zh-CN" altLang="en-US" smtClean="0"/>
              <a:t>2026/5/25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2A4D13-4A5F-475E-88F7-2A6ECD6DB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FCE78-DD67-4C8D-A584-09B016DC5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3D444-7193-46AD-90E8-D84AE4B61CFF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en-US" altLang="zh-CN" dirty="0"/>
              <a:t>63</a:t>
            </a:r>
            <a:endParaRPr lang="en-US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0F50452-02B7-425B-AC62-B4A14A701625}"/>
              </a:ext>
            </a:extLst>
          </p:cNvPr>
          <p:cNvCxnSpPr>
            <a:cxnSpLocks/>
          </p:cNvCxnSpPr>
          <p:nvPr userDrawn="1"/>
        </p:nvCxnSpPr>
        <p:spPr>
          <a:xfrm>
            <a:off x="627017" y="767807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5A9AA1-FEE7-4EAB-B05C-92F8372A2329}"/>
              </a:ext>
            </a:extLst>
          </p:cNvPr>
          <p:cNvCxnSpPr>
            <a:cxnSpLocks/>
          </p:cNvCxnSpPr>
          <p:nvPr userDrawn="1"/>
        </p:nvCxnSpPr>
        <p:spPr>
          <a:xfrm>
            <a:off x="627017" y="6287589"/>
            <a:ext cx="10984411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E98AC04-83D3-4028-869F-84D382FA74BB}"/>
              </a:ext>
            </a:extLst>
          </p:cNvPr>
          <p:cNvGrpSpPr/>
          <p:nvPr userDrawn="1"/>
        </p:nvGrpSpPr>
        <p:grpSpPr>
          <a:xfrm>
            <a:off x="9982200" y="186423"/>
            <a:ext cx="1794536" cy="472074"/>
            <a:chOff x="504825" y="327025"/>
            <a:chExt cx="2482851" cy="6364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49F7D68F-F6C5-482F-BB06-4C7202C968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>
              <a:fillRect/>
            </a:stretch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18389FF0-6461-4154-A98D-1E4418062F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>
              <a:fillRect/>
            </a:stretch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502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anose="05000000000000000000" pitchFamily="2" charset="2"/>
        <a:buChar char="q"/>
        <a:defRPr sz="20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iyang23@swjt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0F020E3-DBF1-4524-ACC1-A4EAF25A4641}"/>
              </a:ext>
            </a:extLst>
          </p:cNvPr>
          <p:cNvSpPr/>
          <p:nvPr/>
        </p:nvSpPr>
        <p:spPr>
          <a:xfrm>
            <a:off x="875558" y="1041399"/>
            <a:ext cx="10440884" cy="19532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EC02B943-8764-434E-9C4F-C8ED1CA9902A}"/>
              </a:ext>
            </a:extLst>
          </p:cNvPr>
          <p:cNvSpPr txBox="1">
            <a:spLocks/>
          </p:cNvSpPr>
          <p:nvPr/>
        </p:nvSpPr>
        <p:spPr>
          <a:xfrm>
            <a:off x="813336" y="1221699"/>
            <a:ext cx="10565328" cy="1210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chemeClr val="accent1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sz="6000" dirty="0">
                <a:solidFill>
                  <a:schemeClr val="accent1"/>
                </a:solidFill>
              </a:rPr>
              <a:t>Virtual Memory</a:t>
            </a:r>
            <a:endParaRPr lang="zh-CN" altLang="en-US" sz="6000" dirty="0">
              <a:solidFill>
                <a:schemeClr val="accent1"/>
              </a:solidFill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97EA9A9-A80E-4CA5-A659-E3C2DCBB225C}"/>
              </a:ext>
            </a:extLst>
          </p:cNvPr>
          <p:cNvSpPr txBox="1">
            <a:spLocks/>
          </p:cNvSpPr>
          <p:nvPr/>
        </p:nvSpPr>
        <p:spPr>
          <a:xfrm>
            <a:off x="2701835" y="3381990"/>
            <a:ext cx="6858000" cy="2487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anose="05000000000000000000" pitchFamily="2" charset="2"/>
              <a:buNone/>
              <a:defRPr sz="135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Lecturer: Li Yang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Contact: </a:t>
            </a: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hlinkClick r:id="rId2"/>
              </a:rPr>
              <a:t>liyang23@swjtu.edu.cn</a:t>
            </a:r>
            <a:endParaRPr lang="en-US" altLang="zh-CN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Office: X31506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70C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Faculty: Computer and AI</a:t>
            </a:r>
            <a:endParaRPr lang="zh-CN" altLang="en-US" sz="2800" dirty="0">
              <a:solidFill>
                <a:srgbClr val="0070C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679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9B245-3D08-4029-B040-F3B5B425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D98DE-4C45-4E55-AE2F-30EAC7ACC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and Control Structure</a:t>
            </a:r>
          </a:p>
          <a:p>
            <a:pPr lvl="1"/>
            <a:r>
              <a:rPr lang="en-US" dirty="0"/>
              <a:t>Locality and Virtual Memory</a:t>
            </a:r>
          </a:p>
          <a:p>
            <a:pPr lvl="1"/>
            <a:r>
              <a:rPr lang="en-US" dirty="0"/>
              <a:t>Paging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/>
              <a:t>Combined Paging and Segmentation</a:t>
            </a:r>
          </a:p>
          <a:p>
            <a:pPr lvl="1"/>
            <a:r>
              <a:rPr lang="en-US" dirty="0"/>
              <a:t>Protection and Sharing</a:t>
            </a:r>
          </a:p>
          <a:p>
            <a:r>
              <a:rPr lang="en-US" dirty="0"/>
              <a:t>Operating System Software</a:t>
            </a:r>
          </a:p>
          <a:p>
            <a:pPr lvl="1"/>
            <a:r>
              <a:rPr lang="en-US" dirty="0"/>
              <a:t>Fetch Policy</a:t>
            </a:r>
          </a:p>
          <a:p>
            <a:pPr lvl="1"/>
            <a:r>
              <a:rPr lang="en-US" dirty="0"/>
              <a:t>Placement Policy</a:t>
            </a:r>
          </a:p>
          <a:p>
            <a:pPr lvl="1"/>
            <a:r>
              <a:rPr lang="en-US" dirty="0"/>
              <a:t>Replacement Policy</a:t>
            </a:r>
          </a:p>
          <a:p>
            <a:pPr lvl="1"/>
            <a:r>
              <a:rPr lang="en-US" dirty="0"/>
              <a:t>Resident Set Management</a:t>
            </a:r>
          </a:p>
          <a:p>
            <a:pPr lvl="1"/>
            <a:r>
              <a:rPr lang="en-US" dirty="0"/>
              <a:t>Cleaning Policy</a:t>
            </a:r>
          </a:p>
          <a:p>
            <a:pPr lvl="1"/>
            <a:r>
              <a:rPr lang="en-US" dirty="0"/>
              <a:t>Load Control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D253DE-3235-432D-B1DF-787247AF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93D444-7193-46AD-90E8-D84AE4B61CF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6DFD01-4408-484B-9A90-14ADD5C6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06D1B6-B1AF-7D4D-A84B-F73F4DDF98DE}" type="datetime1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2026/5/25</a:t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223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Table</a:t>
            </a:r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8D606200-9A25-4D8B-AA1F-005B3CB9A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1103"/>
            <a:ext cx="10515600" cy="5175794"/>
          </a:xfrm>
        </p:spPr>
        <p:txBody>
          <a:bodyPr/>
          <a:lstStyle/>
          <a:p>
            <a:r>
              <a:rPr lang="en-US" altLang="zh-CN" dirty="0"/>
              <a:t>Maintained by </a:t>
            </a:r>
            <a:r>
              <a:rPr lang="en-US" altLang="zh-CN" dirty="0">
                <a:solidFill>
                  <a:srgbClr val="FF0000"/>
                </a:solidFill>
              </a:rPr>
              <a:t>operating system </a:t>
            </a:r>
            <a:r>
              <a:rPr lang="en-US" altLang="zh-CN" dirty="0"/>
              <a:t>for each process</a:t>
            </a:r>
          </a:p>
          <a:p>
            <a:r>
              <a:rPr lang="en-US" altLang="zh-CN" dirty="0"/>
              <a:t>Contains the </a:t>
            </a:r>
            <a:r>
              <a:rPr lang="en-US" altLang="zh-CN" dirty="0">
                <a:solidFill>
                  <a:srgbClr val="FF0000"/>
                </a:solidFill>
              </a:rPr>
              <a:t>frame location </a:t>
            </a:r>
            <a:r>
              <a:rPr lang="en-US" altLang="zh-CN" dirty="0"/>
              <a:t>for each page in the process</a:t>
            </a:r>
          </a:p>
          <a:p>
            <a:r>
              <a:rPr lang="en-US" altLang="zh-CN" sz="2400" b="1" dirty="0"/>
              <a:t>Processor </a:t>
            </a:r>
            <a:r>
              <a:rPr lang="en-US" altLang="zh-CN" sz="2400" b="1" dirty="0">
                <a:solidFill>
                  <a:srgbClr val="FF0000"/>
                </a:solidFill>
              </a:rPr>
              <a:t>translate</a:t>
            </a:r>
            <a:r>
              <a:rPr lang="en-US" altLang="zh-CN" sz="2400" b="1" dirty="0"/>
              <a:t> the logical address (page number, offset) to the physical address (</a:t>
            </a:r>
            <a:r>
              <a:rPr lang="en-US" altLang="zh-CN" dirty="0"/>
              <a:t>frame number, offset)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A37761-AAE3-4099-A3AA-5731F90C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89" y="3283857"/>
            <a:ext cx="8974904" cy="20661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C999991-0D3F-4C1C-9994-B86708C56BCE}"/>
              </a:ext>
            </a:extLst>
          </p:cNvPr>
          <p:cNvSpPr txBox="1"/>
          <p:nvPr/>
        </p:nvSpPr>
        <p:spPr>
          <a:xfrm>
            <a:off x="3599543" y="56490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Data Structures for the Example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Logical-to-Physical Address Translation - Paging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D6795B6-8F8E-4A97-B100-3C75ECB8F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63" y="1079572"/>
            <a:ext cx="8864099" cy="4776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8.1 Hardware and Control Structures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Several characteristics fundamental of paging and segmentation:</a:t>
            </a:r>
          </a:p>
          <a:p>
            <a:pPr lvl="1"/>
            <a:r>
              <a:rPr lang="en-US" altLang="zh-CN" sz="2400" dirty="0"/>
              <a:t>all memory references are logical addresses that are </a:t>
            </a:r>
            <a:r>
              <a:rPr lang="en-US" altLang="zh-CN" sz="2400" dirty="0">
                <a:solidFill>
                  <a:srgbClr val="FF0000"/>
                </a:solidFill>
              </a:rPr>
              <a:t>dynamically </a:t>
            </a:r>
            <a:r>
              <a:rPr lang="en-US" altLang="zh-CN" sz="2400" dirty="0"/>
              <a:t>translated into physical addresses </a:t>
            </a:r>
            <a:r>
              <a:rPr lang="en-US" altLang="zh-CN" sz="2400" dirty="0">
                <a:solidFill>
                  <a:srgbClr val="FF0000"/>
                </a:solidFill>
              </a:rPr>
              <a:t>at run time—— swapped in and out of main memory</a:t>
            </a:r>
          </a:p>
          <a:p>
            <a:pPr lvl="1"/>
            <a:r>
              <a:rPr lang="en-US" altLang="zh-CN" sz="2400" dirty="0"/>
              <a:t>a process may be </a:t>
            </a:r>
            <a:r>
              <a:rPr lang="en-US" altLang="zh-CN" sz="2400" dirty="0">
                <a:solidFill>
                  <a:srgbClr val="FF0000"/>
                </a:solidFill>
              </a:rPr>
              <a:t>broken up </a:t>
            </a:r>
            <a:r>
              <a:rPr lang="en-US" altLang="zh-CN" sz="2400" dirty="0"/>
              <a:t>into a number of pieces that </a:t>
            </a:r>
            <a:r>
              <a:rPr lang="en-US" altLang="zh-CN" sz="2400" dirty="0">
                <a:solidFill>
                  <a:srgbClr val="FF0000"/>
                </a:solidFill>
              </a:rPr>
              <a:t>don’t</a:t>
            </a:r>
            <a:r>
              <a:rPr lang="en-US" altLang="zh-CN" sz="2400" dirty="0"/>
              <a:t> need to be </a:t>
            </a:r>
            <a:r>
              <a:rPr lang="en-US" altLang="zh-CN" sz="2400" dirty="0">
                <a:solidFill>
                  <a:srgbClr val="FF0000"/>
                </a:solidFill>
              </a:rPr>
              <a:t>contiguously located </a:t>
            </a:r>
            <a:r>
              <a:rPr lang="en-US" altLang="zh-CN" sz="2400" dirty="0"/>
              <a:t>in main memory during execution</a:t>
            </a:r>
          </a:p>
          <a:p>
            <a:pPr lvl="1"/>
            <a:r>
              <a:rPr lang="en-US" altLang="zh-CN" sz="2400" dirty="0"/>
              <a:t>it is </a:t>
            </a:r>
            <a:r>
              <a:rPr lang="en-US" altLang="zh-CN" sz="2400" dirty="0">
                <a:solidFill>
                  <a:srgbClr val="FF0000"/>
                </a:solidFill>
              </a:rPr>
              <a:t>not necessary that all of the pages </a:t>
            </a:r>
            <a:r>
              <a:rPr lang="en-US" altLang="zh-CN" sz="2400" dirty="0"/>
              <a:t>or segments of a process be in main memory during execution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Execution of a Process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Operating system brings into main memory </a:t>
            </a:r>
            <a:r>
              <a:rPr lang="en-US" altLang="zh-CN" dirty="0">
                <a:solidFill>
                  <a:srgbClr val="FF0000"/>
                </a:solidFill>
              </a:rPr>
              <a:t>a few pieces </a:t>
            </a:r>
            <a:r>
              <a:rPr lang="en-US" altLang="zh-CN" dirty="0"/>
              <a:t>of the program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An </a:t>
            </a:r>
            <a:r>
              <a:rPr lang="en-US" altLang="zh-CN" dirty="0">
                <a:solidFill>
                  <a:srgbClr val="FF0000"/>
                </a:solidFill>
              </a:rPr>
              <a:t>interrupt</a:t>
            </a:r>
            <a:r>
              <a:rPr lang="en-US" altLang="zh-CN" dirty="0"/>
              <a:t> is generated when an </a:t>
            </a:r>
            <a:r>
              <a:rPr lang="en-US" altLang="zh-CN" dirty="0">
                <a:solidFill>
                  <a:srgbClr val="FF0000"/>
                </a:solidFill>
              </a:rPr>
              <a:t>logical</a:t>
            </a:r>
            <a:r>
              <a:rPr lang="en-US" altLang="zh-CN" dirty="0"/>
              <a:t> address is needed that is not in main memory</a:t>
            </a:r>
          </a:p>
          <a:p>
            <a:r>
              <a:rPr lang="en-US" altLang="zh-CN" dirty="0"/>
              <a:t> Operating system places the process in a </a:t>
            </a:r>
            <a:r>
              <a:rPr lang="en-US" altLang="zh-CN" dirty="0">
                <a:solidFill>
                  <a:srgbClr val="FF0000"/>
                </a:solidFill>
              </a:rPr>
              <a:t>blocking state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Piece of process that contains </a:t>
            </a:r>
            <a:r>
              <a:rPr lang="en-US" altLang="zh-CN" dirty="0">
                <a:solidFill>
                  <a:srgbClr val="FF0000"/>
                </a:solidFill>
              </a:rPr>
              <a:t>the logical address </a:t>
            </a:r>
            <a:r>
              <a:rPr lang="en-US" altLang="zh-CN" dirty="0"/>
              <a:t>is brought into main memory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Benefits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More processes may be maintained in main memory</a:t>
            </a:r>
          </a:p>
          <a:p>
            <a:pPr lvl="1"/>
            <a:r>
              <a:rPr lang="en-US" altLang="zh-CN" sz="2400" dirty="0"/>
              <a:t>Only </a:t>
            </a:r>
            <a:r>
              <a:rPr lang="en-US" altLang="zh-CN" sz="2400" dirty="0">
                <a:solidFill>
                  <a:srgbClr val="FF0000"/>
                </a:solidFill>
              </a:rPr>
              <a:t>load in pieces </a:t>
            </a:r>
            <a:r>
              <a:rPr lang="en-US" altLang="zh-CN" sz="2400" dirty="0"/>
              <a:t>of each process, there  is room for more processes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More efficient </a:t>
            </a:r>
            <a:r>
              <a:rPr lang="en-US" altLang="zh-CN" sz="2400" dirty="0"/>
              <a:t>utilization of CPU: it is </a:t>
            </a:r>
            <a:r>
              <a:rPr lang="en-US" altLang="zh-CN" sz="2400" dirty="0">
                <a:solidFill>
                  <a:srgbClr val="FF0000"/>
                </a:solidFill>
              </a:rPr>
              <a:t>more likely </a:t>
            </a:r>
            <a:r>
              <a:rPr lang="en-US" altLang="zh-CN" sz="2400" dirty="0"/>
              <a:t>that </a:t>
            </a:r>
            <a:r>
              <a:rPr lang="en-US" altLang="zh-CN" sz="2400" dirty="0">
                <a:solidFill>
                  <a:srgbClr val="FF0000"/>
                </a:solidFill>
              </a:rPr>
              <a:t>at least one </a:t>
            </a:r>
            <a:r>
              <a:rPr lang="en-US" altLang="zh-CN" sz="2400" dirty="0"/>
              <a:t>of more process will be in the Ready state </a:t>
            </a:r>
          </a:p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endParaRPr lang="en-US" altLang="zh-CN" sz="2400" b="1" dirty="0"/>
          </a:p>
          <a:p>
            <a:pPr marL="171450" lvl="1">
              <a:spcBef>
                <a:spcPts val="750"/>
              </a:spcBef>
              <a:buFont typeface="Wingdings" panose="05000000000000000000" pitchFamily="2" charset="2"/>
              <a:buChar char="q"/>
            </a:pPr>
            <a:r>
              <a:rPr lang="en-US" altLang="zh-CN" sz="2400" b="1" dirty="0"/>
              <a:t>A process may be larger than all of main memory</a:t>
            </a:r>
          </a:p>
          <a:p>
            <a:pPr lvl="1"/>
            <a:r>
              <a:rPr lang="en-US" altLang="zh-CN" sz="2400" dirty="0"/>
              <a:t>If the program being written is too large, the programmer must </a:t>
            </a:r>
            <a:r>
              <a:rPr lang="en-US" altLang="zh-CN" sz="2400" dirty="0">
                <a:solidFill>
                  <a:srgbClr val="FF0000"/>
                </a:solidFill>
              </a:rPr>
              <a:t>devise ways to structure the program into pieces </a:t>
            </a:r>
            <a:r>
              <a:rPr lang="en-US" altLang="zh-CN" sz="2400" dirty="0"/>
              <a:t>that can be loaded separately in some sort of overlay strategy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Real and Virtual Memory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Real memory</a:t>
            </a:r>
          </a:p>
          <a:p>
            <a:pPr lvl="1"/>
            <a:r>
              <a:rPr lang="en-US" altLang="zh-CN" sz="2400" dirty="0"/>
              <a:t>main memory, the actual RAM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Virtual memory</a:t>
            </a:r>
          </a:p>
          <a:p>
            <a:pPr lvl="1"/>
            <a:r>
              <a:rPr lang="en-US" altLang="zh-CN" sz="2400" dirty="0"/>
              <a:t>memory on disk</a:t>
            </a:r>
          </a:p>
          <a:p>
            <a:pPr lvl="1"/>
            <a:r>
              <a:rPr lang="en-US" altLang="zh-CN" sz="2400" dirty="0"/>
              <a:t>allows for </a:t>
            </a:r>
            <a:r>
              <a:rPr lang="en-US" altLang="zh-CN" sz="2400" dirty="0">
                <a:solidFill>
                  <a:srgbClr val="FF0000"/>
                </a:solidFill>
              </a:rPr>
              <a:t>effective multiprogramming </a:t>
            </a:r>
            <a:r>
              <a:rPr lang="en-US" altLang="zh-CN" sz="2400" dirty="0"/>
              <a:t>and relieves the user of tight constraints of main memory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Characteristics of Paging and Segmentation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3033A5-7AD6-48A5-AE65-29F95EE8F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278" y="792614"/>
            <a:ext cx="6775704" cy="545255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F3C5670-F235-4AE2-B167-038F919AE92C}"/>
              </a:ext>
            </a:extLst>
          </p:cNvPr>
          <p:cNvSpPr/>
          <p:nvPr/>
        </p:nvSpPr>
        <p:spPr>
          <a:xfrm>
            <a:off x="2202873" y="4211782"/>
            <a:ext cx="7190509" cy="2047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virtual memory paging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Main memory is divided into a number of equal size </a:t>
            </a:r>
            <a:r>
              <a:rPr lang="en-US" altLang="zh-CN" dirty="0">
                <a:solidFill>
                  <a:srgbClr val="FF0000"/>
                </a:solidFill>
              </a:rPr>
              <a:t>frames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Each process is divided into a number of equal-size </a:t>
            </a:r>
            <a:r>
              <a:rPr lang="en-US" altLang="zh-CN" dirty="0">
                <a:solidFill>
                  <a:srgbClr val="FF0000"/>
                </a:solidFill>
              </a:rPr>
              <a:t>pages</a:t>
            </a:r>
            <a:r>
              <a:rPr lang="en-US" altLang="zh-CN" dirty="0"/>
              <a:t> of the same length as frames.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Not all</a:t>
            </a:r>
            <a:r>
              <a:rPr lang="en-US" altLang="zh-CN" dirty="0"/>
              <a:t> pages need to be loaded into main memory frames for execution</a:t>
            </a:r>
          </a:p>
          <a:p>
            <a:endParaRPr lang="en-US" altLang="zh-CN" dirty="0"/>
          </a:p>
          <a:p>
            <a:r>
              <a:rPr lang="en-US" altLang="zh-CN" dirty="0"/>
              <a:t>Each process has its own </a:t>
            </a:r>
            <a:r>
              <a:rPr lang="en-US" altLang="zh-CN" dirty="0">
                <a:solidFill>
                  <a:srgbClr val="FF0000"/>
                </a:solidFill>
              </a:rPr>
              <a:t>page table</a:t>
            </a:r>
          </a:p>
          <a:p>
            <a:pPr lvl="1"/>
            <a:r>
              <a:rPr lang="en-US" altLang="zh-CN" sz="2400" dirty="0"/>
              <a:t>Each page table entry (</a:t>
            </a:r>
            <a:r>
              <a:rPr lang="zh-CN" altLang="en-US" sz="2400" dirty="0"/>
              <a:t>页表项</a:t>
            </a:r>
            <a:r>
              <a:rPr lang="en-US" altLang="zh-CN" sz="2400" dirty="0"/>
              <a:t>) contains the </a:t>
            </a:r>
            <a:r>
              <a:rPr lang="en-US" altLang="zh-CN" sz="2400" dirty="0">
                <a:solidFill>
                  <a:srgbClr val="FF0000"/>
                </a:solidFill>
              </a:rPr>
              <a:t>frame number </a:t>
            </a:r>
            <a:r>
              <a:rPr lang="en-US" altLang="zh-CN" sz="2400" dirty="0"/>
              <a:t>of the corresponding page in main memory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 Management Formats</a:t>
            </a:r>
            <a:endParaRPr lang="zh-CN" altLang="en-US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7FFD084D-9D4B-4344-9326-68285FC9F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7462" y="1029566"/>
            <a:ext cx="7077075" cy="3524250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337E91B-DCBA-46A1-A4C5-385B0981EA12}"/>
              </a:ext>
            </a:extLst>
          </p:cNvPr>
          <p:cNvSpPr txBox="1"/>
          <p:nvPr/>
        </p:nvSpPr>
        <p:spPr>
          <a:xfrm>
            <a:off x="706753" y="4830091"/>
            <a:ext cx="10899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</a:t>
            </a:r>
            <a:r>
              <a:rPr lang="en-US" sz="2400" dirty="0"/>
              <a:t> </a:t>
            </a:r>
            <a:r>
              <a:rPr lang="en-US" altLang="zh-CN" sz="2400" dirty="0"/>
              <a:t>bit</a:t>
            </a:r>
            <a:r>
              <a:rPr lang="en-US" sz="2400" dirty="0"/>
              <a:t>:  indicate whether the corresponding page is </a:t>
            </a:r>
            <a:r>
              <a:rPr lang="en-US" sz="2400" dirty="0">
                <a:solidFill>
                  <a:srgbClr val="FF0000"/>
                </a:solidFill>
              </a:rPr>
              <a:t>present</a:t>
            </a:r>
            <a:r>
              <a:rPr lang="en-US" sz="2400" dirty="0"/>
              <a:t>;</a:t>
            </a:r>
          </a:p>
          <a:p>
            <a:r>
              <a:rPr lang="en-US" sz="2400" b="1" dirty="0"/>
              <a:t>M</a:t>
            </a:r>
            <a:r>
              <a:rPr lang="en-US" sz="2400" dirty="0"/>
              <a:t> bit</a:t>
            </a:r>
            <a:r>
              <a:rPr lang="zh-CN" altLang="en-US" sz="2400" dirty="0"/>
              <a:t>：</a:t>
            </a:r>
            <a:r>
              <a:rPr lang="en-US" altLang="zh-CN" sz="2400" dirty="0"/>
              <a:t> indicate whether the contents of the corresponding page have been </a:t>
            </a:r>
            <a:r>
              <a:rPr lang="en-US" altLang="zh-CN" sz="2400" dirty="0">
                <a:solidFill>
                  <a:srgbClr val="FF0000"/>
                </a:solidFill>
              </a:rPr>
              <a:t>modified</a:t>
            </a:r>
          </a:p>
          <a:p>
            <a:r>
              <a:rPr lang="en-US" sz="2400" dirty="0"/>
              <a:t>Other control b</a:t>
            </a:r>
            <a:r>
              <a:rPr lang="en-US" altLang="zh-CN" sz="2400" dirty="0"/>
              <a:t>its: </a:t>
            </a:r>
            <a:r>
              <a:rPr lang="zh-CN" altLang="en-US" sz="2400" dirty="0"/>
              <a:t> </a:t>
            </a:r>
            <a:r>
              <a:rPr lang="en-US" altLang="zh-CN" sz="2400" dirty="0"/>
              <a:t>such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protection or sharing is managing at </a:t>
            </a:r>
            <a:r>
              <a:rPr lang="en-US" altLang="zh-CN" sz="2400" dirty="0">
                <a:solidFill>
                  <a:srgbClr val="FF0000"/>
                </a:solidFill>
              </a:rPr>
              <a:t>page level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in a Paging System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673EFA-ECFC-47EC-9A06-34755F8FD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200" y="1317134"/>
            <a:ext cx="7800976" cy="489440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089C449-ACEC-4C31-80A1-568A527C7F61}"/>
              </a:ext>
            </a:extLst>
          </p:cNvPr>
          <p:cNvSpPr txBox="1"/>
          <p:nvPr/>
        </p:nvSpPr>
        <p:spPr>
          <a:xfrm>
            <a:off x="513080" y="917024"/>
            <a:ext cx="11446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a register 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holds the </a:t>
            </a:r>
            <a:r>
              <a:rPr 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starting address 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 the page table for that process.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11A81-706B-426C-ADE0-02167250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of Page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D9D7AF-825A-44CD-969C-2E5C081480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 For example, in the VAX (Virtual Address Extension) architecture, </a:t>
                </a:r>
              </a:p>
              <a:p>
                <a:pPr lvl="1"/>
                <a:r>
                  <a:rPr lang="en-US" dirty="0"/>
                  <a:t>each process can have up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𝟑𝟏</m:t>
                        </m:r>
                      </m:sup>
                    </m:sSup>
                  </m:oMath>
                </a14:m>
                <a:r>
                  <a:rPr lang="en-US" dirty="0"/>
                  <a:t> = 2 GB of virtual memory. </a:t>
                </a:r>
              </a:p>
              <a:p>
                <a:pPr lvl="1"/>
                <a:r>
                  <a:rPr lang="en-US" altLang="zh-CN" dirty="0"/>
                  <a:t>Each page’s size is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US" dirty="0"/>
                  <a:t> = 512 byte pages </a:t>
                </a:r>
              </a:p>
              <a:p>
                <a:pPr lvl="1"/>
                <a:r>
                  <a:rPr lang="en-US" dirty="0"/>
                  <a:t>means that as many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sup>
                    </m:sSup>
                  </m:oMath>
                </a14:m>
                <a:r>
                  <a:rPr lang="en-US" dirty="0"/>
                  <a:t> page table entries are required per process.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Issue</a:t>
                </a:r>
                <a:r>
                  <a:rPr lang="en-US" dirty="0"/>
                  <a:t>: the storage of page table is high</a:t>
                </a:r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Solution</a:t>
                </a:r>
                <a:r>
                  <a:rPr lang="en-US" altLang="zh-CN" dirty="0"/>
                  <a:t>: they are generally stored in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virtual memory</a:t>
                </a:r>
                <a:r>
                  <a:rPr lang="en-US" altLang="zh-CN" dirty="0"/>
                  <a:t>, which means that page tables are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subject to paging</a:t>
                </a:r>
                <a:r>
                  <a:rPr lang="en-US" altLang="zh-CN" dirty="0"/>
                  <a:t> just as other pages are;</a:t>
                </a:r>
              </a:p>
              <a:p>
                <a:r>
                  <a:rPr lang="en-US" altLang="zh-CN" dirty="0">
                    <a:solidFill>
                      <a:srgbClr val="FF0000"/>
                    </a:solidFill>
                  </a:rPr>
                  <a:t>Results</a:t>
                </a:r>
                <a:r>
                  <a:rPr lang="en-US" altLang="zh-CN" dirty="0"/>
                  <a:t>: When a process is running, </a:t>
                </a:r>
                <a:r>
                  <a:rPr lang="en-US" altLang="zh-CN" dirty="0">
                    <a:solidFill>
                      <a:srgbClr val="0070C0"/>
                    </a:solidFill>
                  </a:rPr>
                  <a:t>at least a part of its page table must be in main memory</a:t>
                </a:r>
                <a:r>
                  <a:rPr lang="en-US" altLang="zh-CN" dirty="0"/>
                  <a:t>, including the page table entry of the currently executing page.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BD9D7AF-825A-44CD-969C-2E5C08148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942" r="-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999C83-89EF-4CF5-93A8-E5A3F498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13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CED52D-F867-40C8-ADD3-C10AFB7EC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5941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Two-Level Hierarchical Page Table</a:t>
            </a:r>
            <a:r>
              <a:rPr lang="zh-CN" altLang="en-US" dirty="0"/>
              <a:t>（二级页表）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FD14BC-2FD3-4F1F-966B-8CE5D6B36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685" y="1307541"/>
            <a:ext cx="7129433" cy="34082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5BF35571-5248-46B9-9784-BDE0FD65A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41103"/>
                <a:ext cx="3754582" cy="5175794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An example of a two-level scheme typical for use with a 32-bit </a:t>
                </a:r>
                <a:r>
                  <a:rPr lang="zh-CN" altLang="en-US" sz="2000" dirty="0"/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𝟑𝟐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𝑮𝑩</m:t>
                    </m:r>
                  </m:oMath>
                </a14:m>
                <a:r>
                  <a:rPr lang="zh-CN" altLang="en-US" sz="2000" dirty="0"/>
                  <a:t>）</a:t>
                </a:r>
                <a:r>
                  <a:rPr lang="en-US" sz="2000" dirty="0"/>
                  <a:t>address.</a:t>
                </a:r>
              </a:p>
              <a:p>
                <a:r>
                  <a:rPr lang="en-US" sz="2000" dirty="0"/>
                  <a:t>Page size</a:t>
                </a:r>
                <a:r>
                  <a:rPr lang="zh-CN" altLang="en-US" sz="2000" dirty="0"/>
                  <a:t>：</a:t>
                </a:r>
                <a:r>
                  <a:rPr lang="en-US" sz="2000" dirty="0"/>
                  <a:t>4kB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N</a:t>
                </a:r>
                <a:r>
                  <a:rPr lang="en-US" altLang="zh-CN" sz="2000" dirty="0"/>
                  <a:t>umbers of Pages: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𝟐𝟎</m:t>
                        </m:r>
                      </m:sup>
                    </m:sSup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𝟏𝐌𝐁</m:t>
                    </m:r>
                  </m:oMath>
                </a14:m>
                <a:r>
                  <a:rPr lang="en-US" altLang="zh-CN" sz="2000" dirty="0"/>
                  <a:t> </a:t>
                </a:r>
              </a:p>
              <a:p>
                <a:r>
                  <a:rPr lang="en-US" sz="2000" dirty="0"/>
                  <a:t>Size of total page tables: 4B*1MB = 4MB=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𝟐𝟐</m:t>
                        </m:r>
                      </m:sup>
                    </m:sSup>
                  </m:oMath>
                </a14:m>
                <a:endParaRPr lang="en-US" sz="2000" dirty="0"/>
              </a:p>
              <a:p>
                <a:r>
                  <a:rPr lang="en-US" sz="2000" dirty="0"/>
                  <a:t>In two-level scheme: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:r>
                  <a:rPr lang="en-US" altLang="zh-CN" sz="1600" dirty="0"/>
                  <a:t>page tables stored in virtual memory mapped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1600" dirty="0"/>
                  <a:t> root page table</a:t>
                </a:r>
              </a:p>
              <a:p>
                <a:pPr lvl="1"/>
                <a:r>
                  <a:rPr lang="en-US" sz="1600" dirty="0"/>
                  <a:t>The size of root page table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sz="1600" dirty="0"/>
                  <a:t> * 4B = 4KB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5BF35571-5248-46B9-9784-BDE0FD65A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41103"/>
                <a:ext cx="3754582" cy="5175794"/>
              </a:xfrm>
              <a:blipFill>
                <a:blip r:embed="rId4"/>
                <a:stretch>
                  <a:fillRect l="-1463" t="-707" r="-8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in a Two-Level Paging System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EE3E3F-E307-4614-8424-8B4641264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049C48-32A3-42C8-91B3-BBC403367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822178"/>
            <a:ext cx="8963025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Inverted Page Table</a:t>
            </a:r>
            <a:r>
              <a:rPr lang="zh-CN" altLang="en-US" dirty="0"/>
              <a:t>（倒排页表）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Issue</a:t>
            </a:r>
            <a:r>
              <a:rPr lang="en-US" altLang="zh-CN" dirty="0"/>
              <a:t> of above page tables: their size is </a:t>
            </a:r>
            <a:r>
              <a:rPr lang="en-US" altLang="zh-CN" dirty="0">
                <a:solidFill>
                  <a:srgbClr val="0070C0"/>
                </a:solidFill>
              </a:rPr>
              <a:t>proportional</a:t>
            </a:r>
            <a:r>
              <a:rPr lang="en-US" altLang="zh-CN" dirty="0"/>
              <a:t> to that of the virtual address space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Solution</a:t>
            </a:r>
            <a:r>
              <a:rPr lang="en-US" altLang="zh-CN" dirty="0"/>
              <a:t>: one of multi-level page tables——</a:t>
            </a:r>
            <a:r>
              <a:rPr lang="en-US" altLang="zh-CN" dirty="0">
                <a:solidFill>
                  <a:srgbClr val="0070C0"/>
                </a:solidFill>
              </a:rPr>
              <a:t>inverted page table</a:t>
            </a:r>
          </a:p>
          <a:p>
            <a:pPr lvl="1"/>
            <a:r>
              <a:rPr lang="en-US" altLang="zh-CN" sz="2400" b="1" dirty="0"/>
              <a:t>N Page number </a:t>
            </a:r>
            <a:r>
              <a:rPr lang="en-US" altLang="zh-CN" sz="2400" dirty="0"/>
              <a:t>portion of a virtual address is mapped into </a:t>
            </a:r>
            <a:r>
              <a:rPr lang="en-US" altLang="zh-CN" sz="2400" b="1" dirty="0">
                <a:solidFill>
                  <a:srgbClr val="0070C0"/>
                </a:solidFill>
              </a:rPr>
              <a:t>M hash value using a simple hashing function</a:t>
            </a:r>
          </a:p>
          <a:p>
            <a:pPr lvl="1"/>
            <a:r>
              <a:rPr lang="en-US" altLang="zh-CN" sz="2400" dirty="0"/>
              <a:t>hash value </a:t>
            </a:r>
            <a:r>
              <a:rPr lang="en-US" altLang="zh-CN" sz="2400" b="1" dirty="0">
                <a:solidFill>
                  <a:srgbClr val="0070C0"/>
                </a:solidFill>
              </a:rPr>
              <a:t>points</a:t>
            </a:r>
            <a:r>
              <a:rPr lang="en-US" altLang="zh-CN" sz="2400" dirty="0"/>
              <a:t> to inverted page table containing the page table entries</a:t>
            </a:r>
          </a:p>
          <a:p>
            <a:pPr lvl="1"/>
            <a:endParaRPr lang="en-US" altLang="zh-CN" sz="2400" dirty="0"/>
          </a:p>
          <a:p>
            <a:r>
              <a:rPr lang="en-US" altLang="zh-CN" dirty="0">
                <a:solidFill>
                  <a:srgbClr val="FF0000"/>
                </a:solidFill>
              </a:rPr>
              <a:t>Fixed proportion of real memory </a:t>
            </a:r>
            <a:r>
              <a:rPr lang="en-US" altLang="zh-CN" dirty="0"/>
              <a:t>is required for the inverted page tables 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Inverted Page Table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1103"/>
            <a:ext cx="4731327" cy="5175794"/>
          </a:xfrm>
        </p:spPr>
        <p:txBody>
          <a:bodyPr/>
          <a:lstStyle/>
          <a:p>
            <a:r>
              <a:rPr lang="en-US" altLang="zh-CN" dirty="0"/>
              <a:t>Each entry in the page table includes: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Page</a:t>
            </a:r>
            <a:r>
              <a:rPr lang="en-US" altLang="zh-CN" sz="2400" dirty="0"/>
              <a:t> number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Process</a:t>
            </a:r>
            <a:r>
              <a:rPr lang="en-US" altLang="zh-CN" sz="2400" dirty="0"/>
              <a:t> identifier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Control bits</a:t>
            </a:r>
          </a:p>
          <a:p>
            <a:pPr lvl="2"/>
            <a:r>
              <a:rPr lang="en-US" altLang="zh-CN" sz="2400" dirty="0"/>
              <a:t>flags and protection and locking information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Chain pointer</a:t>
            </a:r>
          </a:p>
          <a:p>
            <a:pPr lvl="2"/>
            <a:r>
              <a:rPr lang="en-US" altLang="zh-CN" sz="2400" dirty="0"/>
              <a:t>the index value of the next entry in the chain</a:t>
            </a:r>
          </a:p>
          <a:p>
            <a:pPr lvl="2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8C781F-FBC5-4BED-B438-58FCA43E8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880" y="991236"/>
            <a:ext cx="6032356" cy="43605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/>
              <a:t>Translation Lookaside Buffer (</a:t>
            </a:r>
            <a:r>
              <a:rPr lang="zh-CN" altLang="en-US" dirty="0"/>
              <a:t>转换检测缓存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virtual memory reference can cause</a:t>
            </a:r>
            <a:r>
              <a:rPr lang="en-US" altLang="zh-CN" dirty="0">
                <a:solidFill>
                  <a:srgbClr val="FF0000"/>
                </a:solidFill>
              </a:rPr>
              <a:t> two physical memory accesses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sz="2400" dirty="0"/>
              <a:t>one to fetch the page table entry</a:t>
            </a:r>
          </a:p>
          <a:p>
            <a:pPr lvl="1"/>
            <a:r>
              <a:rPr lang="en-US" altLang="zh-CN" sz="2400" dirty="0"/>
              <a:t>one to fetch the data</a:t>
            </a:r>
          </a:p>
          <a:p>
            <a:r>
              <a:rPr lang="en-US" altLang="zh-CN" dirty="0"/>
              <a:t>To overcome the effect of doubling the memory access time, most virtual memory schemes make use of a special </a:t>
            </a:r>
            <a:r>
              <a:rPr lang="en-US" altLang="zh-CN" dirty="0">
                <a:solidFill>
                  <a:srgbClr val="FF0000"/>
                </a:solidFill>
              </a:rPr>
              <a:t>high-speed cache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called a translation lookaside buffer </a:t>
            </a:r>
            <a:r>
              <a:rPr lang="zh-CN" altLang="en-US" dirty="0"/>
              <a:t>（</a:t>
            </a:r>
            <a:r>
              <a:rPr lang="en-US" altLang="zh-CN" dirty="0"/>
              <a:t>TLB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sz="2400" dirty="0"/>
              <a:t> contains those </a:t>
            </a:r>
            <a:r>
              <a:rPr lang="en-US" altLang="zh-CN" sz="2400" b="1" dirty="0">
                <a:solidFill>
                  <a:srgbClr val="FF0000"/>
                </a:solidFill>
              </a:rPr>
              <a:t>page table entrie</a:t>
            </a:r>
            <a:r>
              <a:rPr lang="en-US" altLang="zh-CN" sz="2400" dirty="0"/>
              <a:t>s that have been most recently used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Use of a TLB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F3DDAEC-E13F-4CCC-B56C-EAA333B6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8E15B9-0585-4040-BF67-CEFAD0579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32" y="892142"/>
            <a:ext cx="7449254" cy="50545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 of Paging and TLB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190FBC3-4797-4E6F-82A6-06A57CBA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5348B7-DE78-4B2E-BB9D-1950C533D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27" y="841104"/>
            <a:ext cx="3994709" cy="53782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080" y="143780"/>
            <a:ext cx="10515600" cy="616768"/>
          </a:xfrm>
        </p:spPr>
        <p:txBody>
          <a:bodyPr/>
          <a:lstStyle/>
          <a:p>
            <a:r>
              <a:rPr lang="en-US" altLang="zh-CN" dirty="0"/>
              <a:t>Associative Mapping</a:t>
            </a:r>
            <a:r>
              <a:rPr lang="zh-CN" altLang="en-US" dirty="0"/>
              <a:t>（关联映射）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17DDB79-CF2F-4CB0-BD15-F3873EB1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506" y="869918"/>
            <a:ext cx="7909878" cy="48757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5E86F69-3780-4FD0-A1D5-FA05BE22B138}"/>
              </a:ext>
            </a:extLst>
          </p:cNvPr>
          <p:cNvSpPr txBox="1"/>
          <p:nvPr/>
        </p:nvSpPr>
        <p:spPr>
          <a:xfrm>
            <a:off x="2668085" y="57824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231F20"/>
                </a:solidFill>
                <a:effectLst/>
                <a:latin typeface="TimesTenLTStd-Bold"/>
              </a:rPr>
              <a:t>Direct versus Associative Lookup for Page Table Entries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TLB and Cache Operation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5EA4240-64CC-4321-900D-4D1AD1167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620B3C6-C23D-44B1-9F6C-21C7F33C5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196" y="823599"/>
            <a:ext cx="6763400" cy="53563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 Size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Objects</a:t>
            </a:r>
            <a:r>
              <a:rPr lang="en-US" altLang="zh-CN" dirty="0"/>
              <a:t>: reduce internal fragmentation</a:t>
            </a:r>
          </a:p>
          <a:p>
            <a:pPr lvl="1"/>
            <a:r>
              <a:rPr lang="en-US" altLang="zh-CN" sz="2400" dirty="0"/>
              <a:t>The smaller the page size, the lesser the amount of internal fragmentation</a:t>
            </a:r>
          </a:p>
          <a:p>
            <a:pPr lvl="1"/>
            <a:endParaRPr lang="en-US" altLang="zh-CN" sz="2400" dirty="0"/>
          </a:p>
          <a:p>
            <a:r>
              <a:rPr lang="en-US" altLang="zh-CN" dirty="0"/>
              <a:t>Constraints: </a:t>
            </a:r>
            <a:r>
              <a:rPr lang="en-US" altLang="zh-CN" dirty="0">
                <a:solidFill>
                  <a:srgbClr val="FF0000"/>
                </a:solidFill>
              </a:rPr>
              <a:t>smaller</a:t>
            </a:r>
            <a:r>
              <a:rPr lang="en-US" altLang="zh-CN" dirty="0"/>
              <a:t> the page,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more pages </a:t>
            </a:r>
            <a:r>
              <a:rPr lang="en-US" altLang="zh-CN" sz="2400" dirty="0"/>
              <a:t>are required per process</a:t>
            </a:r>
          </a:p>
          <a:p>
            <a:pPr lvl="1"/>
            <a:r>
              <a:rPr lang="en-US" altLang="zh-CN" sz="2400" dirty="0"/>
              <a:t>more pages per process means </a:t>
            </a:r>
            <a:r>
              <a:rPr lang="en-US" altLang="zh-CN" sz="2400" dirty="0">
                <a:solidFill>
                  <a:srgbClr val="FF0000"/>
                </a:solidFill>
              </a:rPr>
              <a:t>larger page tables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some portion of the page tables </a:t>
            </a:r>
            <a:r>
              <a:rPr lang="en-US" altLang="zh-CN" sz="2400" dirty="0"/>
              <a:t>of active processes must be in virtual memory instead of main memory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 a double page fault </a:t>
            </a:r>
            <a:r>
              <a:rPr lang="en-US" altLang="zh-CN" sz="2400" dirty="0"/>
              <a:t>for a single reference to memory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Typical Paging Behavior of a Program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57EC8C3-95ED-48F5-A76F-09AF4F9F6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85EAFD1-03E6-4FD4-B7E9-C2DC4F69C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969" y="1061514"/>
            <a:ext cx="9158061" cy="460949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Virtual Memory Segmentation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Segmentation allows the </a:t>
            </a:r>
            <a:r>
              <a:rPr lang="en-US" altLang="zh-CN" dirty="0">
                <a:solidFill>
                  <a:srgbClr val="0070C0"/>
                </a:solidFill>
              </a:rPr>
              <a:t>programmer</a:t>
            </a:r>
            <a:r>
              <a:rPr lang="en-US" altLang="zh-CN" dirty="0"/>
              <a:t> to view memory as consisting of multiple address spaces or segments. </a:t>
            </a:r>
          </a:p>
          <a:p>
            <a:r>
              <a:rPr lang="en-US" altLang="zh-CN" dirty="0"/>
              <a:t>Segments may be of </a:t>
            </a:r>
            <a:r>
              <a:rPr lang="en-US" altLang="zh-CN" dirty="0">
                <a:solidFill>
                  <a:srgbClr val="FF0000"/>
                </a:solidFill>
              </a:rPr>
              <a:t>unequal, indeed dynamic, size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Advantages:</a:t>
            </a:r>
          </a:p>
          <a:p>
            <a:pPr lvl="1"/>
            <a:r>
              <a:rPr lang="en-US" altLang="zh-CN" sz="2400" dirty="0">
                <a:solidFill>
                  <a:srgbClr val="FF0000"/>
                </a:solidFill>
              </a:rPr>
              <a:t>simplifies</a:t>
            </a:r>
            <a:r>
              <a:rPr lang="en-US" altLang="zh-CN" sz="2400" dirty="0"/>
              <a:t> handling of growing data structures</a:t>
            </a:r>
          </a:p>
          <a:p>
            <a:pPr lvl="1"/>
            <a:r>
              <a:rPr lang="en-US" altLang="zh-CN" sz="2400" dirty="0"/>
              <a:t>allows programs to be altered and recompiled </a:t>
            </a:r>
            <a:r>
              <a:rPr lang="en-US" altLang="zh-CN" sz="2400" dirty="0">
                <a:solidFill>
                  <a:srgbClr val="FF0000"/>
                </a:solidFill>
              </a:rPr>
              <a:t>independently</a:t>
            </a:r>
          </a:p>
          <a:p>
            <a:pPr lvl="1"/>
            <a:r>
              <a:rPr lang="en-US" altLang="zh-CN" sz="2400" dirty="0"/>
              <a:t>lends itself to </a:t>
            </a:r>
            <a:r>
              <a:rPr lang="en-US" altLang="zh-CN" sz="2400" dirty="0">
                <a:solidFill>
                  <a:srgbClr val="FF0000"/>
                </a:solidFill>
              </a:rPr>
              <a:t>sharing data </a:t>
            </a:r>
            <a:r>
              <a:rPr lang="en-US" altLang="zh-CN" sz="2400" dirty="0"/>
              <a:t>among processes</a:t>
            </a:r>
          </a:p>
          <a:p>
            <a:pPr lvl="1"/>
            <a:r>
              <a:rPr lang="en-US" altLang="zh-CN" sz="2400" dirty="0"/>
              <a:t>lends itself to </a:t>
            </a:r>
            <a:r>
              <a:rPr lang="en-US" altLang="zh-CN" sz="2400" dirty="0">
                <a:solidFill>
                  <a:srgbClr val="FF0000"/>
                </a:solidFill>
              </a:rPr>
              <a:t>protection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Segment Organization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Each segment table entry contains the </a:t>
            </a:r>
            <a:r>
              <a:rPr lang="en-US" altLang="zh-CN" dirty="0">
                <a:solidFill>
                  <a:srgbClr val="FF0000"/>
                </a:solidFill>
              </a:rPr>
              <a:t>starting address </a:t>
            </a:r>
            <a:r>
              <a:rPr lang="en-US" altLang="zh-CN" dirty="0"/>
              <a:t>of the corresponding segment in main memory and the </a:t>
            </a:r>
            <a:r>
              <a:rPr lang="en-US" altLang="zh-CN" dirty="0">
                <a:solidFill>
                  <a:srgbClr val="FF0000"/>
                </a:solidFill>
              </a:rPr>
              <a:t>length of the segment</a:t>
            </a:r>
          </a:p>
          <a:p>
            <a:r>
              <a:rPr lang="en-US" altLang="zh-CN" dirty="0"/>
              <a:t>A bit (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en-US" altLang="zh-CN" dirty="0"/>
              <a:t>) is needed to determine if the segment is already in main memory</a:t>
            </a:r>
          </a:p>
          <a:p>
            <a:r>
              <a:rPr lang="en-US" altLang="zh-CN" dirty="0"/>
              <a:t>Another bit (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) is needed to determine if the segment has been modified since it was loaded in main memory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F37539-9710-47C8-92C8-56259D1DA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08" y="3828234"/>
            <a:ext cx="7629525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in a Segmentation System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20E84D7-2A18-4E7D-83F4-0D38931F1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5495FB-093F-4D55-A914-A850F8C0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837" y="947737"/>
            <a:ext cx="8696325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Combined Paging and Segmentation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 a combined paging/segmentation system a user’s address space is </a:t>
            </a:r>
            <a:r>
              <a:rPr lang="en-US" altLang="zh-CN" dirty="0">
                <a:solidFill>
                  <a:srgbClr val="FF0000"/>
                </a:solidFill>
              </a:rPr>
              <a:t>broken up into a number of segments</a:t>
            </a:r>
            <a:r>
              <a:rPr lang="en-US" altLang="zh-CN" dirty="0"/>
              <a:t>. Each segment is </a:t>
            </a:r>
            <a:r>
              <a:rPr lang="en-US" altLang="zh-CN" dirty="0">
                <a:solidFill>
                  <a:srgbClr val="FF0000"/>
                </a:solidFill>
              </a:rPr>
              <a:t>broken up into a number of fixed-sized pages </a:t>
            </a:r>
            <a:r>
              <a:rPr lang="en-US" altLang="zh-CN" dirty="0"/>
              <a:t>which are equal in length to a main memory frame</a:t>
            </a:r>
          </a:p>
          <a:p>
            <a:pPr lvl="1"/>
            <a:r>
              <a:rPr lang="en-US" altLang="zh-CN" sz="2400" dirty="0"/>
              <a:t>Segmentation is </a:t>
            </a:r>
            <a:r>
              <a:rPr lang="en-US" altLang="zh-CN" sz="2400" dirty="0">
                <a:solidFill>
                  <a:srgbClr val="FF0000"/>
                </a:solidFill>
              </a:rPr>
              <a:t>visible</a:t>
            </a:r>
            <a:r>
              <a:rPr lang="en-US" altLang="zh-CN" sz="2400" dirty="0"/>
              <a:t> to the programmer</a:t>
            </a:r>
          </a:p>
          <a:p>
            <a:pPr lvl="1"/>
            <a:r>
              <a:rPr lang="en-US" altLang="zh-CN" sz="2400" dirty="0"/>
              <a:t>Paging is </a:t>
            </a:r>
            <a:r>
              <a:rPr lang="en-US" altLang="zh-CN" sz="2400" dirty="0">
                <a:solidFill>
                  <a:srgbClr val="FF0000"/>
                </a:solidFill>
              </a:rPr>
              <a:t>transparent</a:t>
            </a:r>
            <a:r>
              <a:rPr lang="en-US" altLang="zh-CN" sz="2400" dirty="0"/>
              <a:t> to the programmer</a:t>
            </a:r>
          </a:p>
          <a:p>
            <a:pPr lvl="1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B5BF5C-C265-4248-BE90-839DA6EB8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264" y="3396343"/>
            <a:ext cx="87249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Address Translation in a Segmentation/Paging System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6D931E1-F5C7-4CD5-832D-FE36796F7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D794B2-B5C3-489B-8D89-A118A9688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954541"/>
            <a:ext cx="8524875" cy="5210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C63DA3-B3A9-4DD7-9EBA-24539399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</a:t>
            </a:r>
            <a:r>
              <a:rPr lang="en-US" altLang="zh-CN" dirty="0"/>
              <a:t>ummary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97213-18B1-431C-B687-1E7C53F99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Principles of Locality </a:t>
            </a:r>
          </a:p>
          <a:p>
            <a:r>
              <a:rPr lang="en-US" dirty="0"/>
              <a:t>Real and Virtual Memory</a:t>
            </a:r>
          </a:p>
          <a:p>
            <a:r>
              <a:rPr lang="en-US" dirty="0"/>
              <a:t>Virtual Memory Paging</a:t>
            </a:r>
          </a:p>
          <a:p>
            <a:pPr lvl="1"/>
            <a:r>
              <a:rPr lang="en-US" dirty="0"/>
              <a:t>Virtual address and page table entry</a:t>
            </a:r>
          </a:p>
          <a:p>
            <a:pPr lvl="1"/>
            <a:r>
              <a:rPr lang="en-US" dirty="0"/>
              <a:t>Address translation</a:t>
            </a:r>
          </a:p>
          <a:p>
            <a:pPr lvl="1"/>
            <a:r>
              <a:rPr lang="en-US" dirty="0"/>
              <a:t>two-level page table</a:t>
            </a:r>
          </a:p>
          <a:p>
            <a:pPr lvl="1"/>
            <a:r>
              <a:rPr lang="en-US" dirty="0"/>
              <a:t>Inverted page table</a:t>
            </a:r>
          </a:p>
          <a:p>
            <a:pPr lvl="1"/>
            <a:r>
              <a:rPr lang="en-US" dirty="0"/>
              <a:t>Translation lookaside buffer (TLB)</a:t>
            </a:r>
          </a:p>
          <a:p>
            <a:r>
              <a:rPr lang="en-US" dirty="0"/>
              <a:t>Virtual Memory Segmentation</a:t>
            </a:r>
          </a:p>
          <a:p>
            <a:r>
              <a:rPr lang="en-US" dirty="0"/>
              <a:t>Combined Paging and Segmentation</a:t>
            </a:r>
          </a:p>
          <a:p>
            <a:r>
              <a:rPr lang="en-US" dirty="0"/>
              <a:t>Protection and Sharing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BAD246-A3E1-490B-B2B5-1005D624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D444-7193-46AD-90E8-D84AE4B61CFF}" type="slidenum">
              <a:rPr lang="en-US" smtClean="0"/>
              <a:pPr/>
              <a:t>30</a:t>
            </a:fld>
            <a:r>
              <a:rPr lang="en-US"/>
              <a:t>/</a:t>
            </a:r>
            <a:r>
              <a:rPr lang="en-US" altLang="zh-CN"/>
              <a:t>63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84CE3A-6F58-4DCF-9FD0-C5202732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D1B6-B1AF-7D4D-A84B-F73F4DDF98DE}" type="datetime1">
              <a:rPr lang="zh-CN" altLang="en-US" smtClean="0"/>
              <a:t>2026/5/25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138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Principle of Locality </a:t>
            </a:r>
            <a:r>
              <a:rPr lang="zh-CN" altLang="en-US" dirty="0"/>
              <a:t>（局部性原理）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Definition of Thrashing</a:t>
            </a:r>
          </a:p>
          <a:p>
            <a:pPr lvl="1"/>
            <a:r>
              <a:rPr lang="en-US" altLang="zh-CN" dirty="0"/>
              <a:t>when the OS brings one piece in, it must throw another out. If it throws out a piece just before it is used, then it will just have to go get that piece again almost immediately</a:t>
            </a:r>
          </a:p>
          <a:p>
            <a:pPr lvl="1"/>
            <a:r>
              <a:rPr lang="en-US" altLang="zh-CN" dirty="0"/>
              <a:t>A </a:t>
            </a:r>
            <a:r>
              <a:rPr lang="en-US" altLang="zh-CN" b="1" dirty="0">
                <a:solidFill>
                  <a:srgbClr val="FF0000"/>
                </a:solidFill>
              </a:rPr>
              <a:t>state</a:t>
            </a:r>
            <a:r>
              <a:rPr lang="en-US" altLang="zh-CN" dirty="0"/>
              <a:t> in which the system spends most of its time </a:t>
            </a:r>
            <a:r>
              <a:rPr lang="en-US" altLang="zh-CN" dirty="0">
                <a:solidFill>
                  <a:srgbClr val="0070C0"/>
                </a:solidFill>
              </a:rPr>
              <a:t>swapping</a:t>
            </a:r>
            <a:r>
              <a:rPr lang="en-US" altLang="zh-CN" dirty="0"/>
              <a:t> process pieces rather than </a:t>
            </a:r>
            <a:r>
              <a:rPr lang="en-US" altLang="zh-CN" dirty="0">
                <a:solidFill>
                  <a:srgbClr val="0070C0"/>
                </a:solidFill>
              </a:rPr>
              <a:t>executing</a:t>
            </a:r>
            <a:r>
              <a:rPr lang="en-US" altLang="zh-CN" dirty="0"/>
              <a:t> instructions</a:t>
            </a:r>
          </a:p>
          <a:p>
            <a:r>
              <a:rPr lang="en-US" altLang="zh-CN" dirty="0"/>
              <a:t>In essence, the OS tries to </a:t>
            </a:r>
            <a:r>
              <a:rPr lang="en-US" altLang="zh-CN" dirty="0">
                <a:solidFill>
                  <a:srgbClr val="0070C0"/>
                </a:solidFill>
              </a:rPr>
              <a:t>guess</a:t>
            </a:r>
            <a:r>
              <a:rPr lang="en-US" altLang="zh-CN" dirty="0"/>
              <a:t>, based on recent history, </a:t>
            </a:r>
            <a:r>
              <a:rPr lang="en-US" altLang="zh-CN" dirty="0">
                <a:solidFill>
                  <a:srgbClr val="0070C0"/>
                </a:solidFill>
              </a:rPr>
              <a:t>which pieces</a:t>
            </a:r>
            <a:r>
              <a:rPr lang="en-US" altLang="zh-CN" dirty="0"/>
              <a:t> are least likely to be </a:t>
            </a:r>
            <a:r>
              <a:rPr lang="en-US" altLang="zh-CN" dirty="0">
                <a:solidFill>
                  <a:srgbClr val="0070C0"/>
                </a:solidFill>
              </a:rPr>
              <a:t>used in the near future to </a:t>
            </a:r>
            <a:r>
              <a:rPr lang="en-US" altLang="zh-CN" dirty="0">
                <a:solidFill>
                  <a:srgbClr val="FF0000"/>
                </a:solidFill>
              </a:rPr>
              <a:t>avoids thrashing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For virtual memory to be </a:t>
            </a:r>
            <a:r>
              <a:rPr lang="en-US" altLang="zh-CN" dirty="0">
                <a:solidFill>
                  <a:srgbClr val="FF0000"/>
                </a:solidFill>
              </a:rPr>
              <a:t>practical and effective</a:t>
            </a:r>
            <a:r>
              <a:rPr lang="en-US" altLang="zh-CN" dirty="0"/>
              <a:t>, two ingredients are needed:</a:t>
            </a:r>
          </a:p>
          <a:p>
            <a:pPr lvl="1"/>
            <a:r>
              <a:rPr lang="en-US" altLang="zh-CN" dirty="0"/>
              <a:t> be </a:t>
            </a:r>
            <a:r>
              <a:rPr lang="en-US" altLang="zh-CN" dirty="0">
                <a:solidFill>
                  <a:srgbClr val="0070C0"/>
                </a:solidFill>
              </a:rPr>
              <a:t>hardware support </a:t>
            </a:r>
            <a:r>
              <a:rPr lang="en-US" altLang="zh-CN" dirty="0"/>
              <a:t>for the paging and/or segmentation scheme</a:t>
            </a:r>
          </a:p>
          <a:p>
            <a:pPr lvl="1"/>
            <a:r>
              <a:rPr lang="en-US" altLang="zh-CN" dirty="0"/>
              <a:t> the OS must include </a:t>
            </a:r>
            <a:r>
              <a:rPr lang="en-US" altLang="zh-CN" dirty="0">
                <a:solidFill>
                  <a:srgbClr val="0070C0"/>
                </a:solidFill>
              </a:rPr>
              <a:t>software for managing </a:t>
            </a:r>
            <a:r>
              <a:rPr lang="en-US" altLang="zh-CN" dirty="0"/>
              <a:t>the movement of pages and/or segments between secondary memory and main memory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1022</TotalTime>
  <Words>1399</Words>
  <Application>Microsoft Macintosh PowerPoint</Application>
  <PresentationFormat>Widescreen</PresentationFormat>
  <Paragraphs>170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等线</vt:lpstr>
      <vt:lpstr>Microsoft YaHei</vt:lpstr>
      <vt:lpstr>Microsoft YaHei UI</vt:lpstr>
      <vt:lpstr>TimesTenLTStd-Bold</vt:lpstr>
      <vt:lpstr>Arial</vt:lpstr>
      <vt:lpstr>Calibri</vt:lpstr>
      <vt:lpstr>Cambria Math</vt:lpstr>
      <vt:lpstr>Wingdings</vt:lpstr>
      <vt:lpstr>1_Office 主题​​</vt:lpstr>
      <vt:lpstr>PowerPoint Presentation</vt:lpstr>
      <vt:lpstr>Outline</vt:lpstr>
      <vt:lpstr>Page Table</vt:lpstr>
      <vt:lpstr>Logical-to-Physical Address Translation - Paging</vt:lpstr>
      <vt:lpstr>8.1 Hardware and Control Structures</vt:lpstr>
      <vt:lpstr>Execution of a Process</vt:lpstr>
      <vt:lpstr>Benefits</vt:lpstr>
      <vt:lpstr>Real and Virtual Memory</vt:lpstr>
      <vt:lpstr>Characteristics of Paging and Segmentation</vt:lpstr>
      <vt:lpstr>virtual memory paging</vt:lpstr>
      <vt:lpstr>Memory Management Formats</vt:lpstr>
      <vt:lpstr>Address Translation in a Paging System</vt:lpstr>
      <vt:lpstr>Storage of Page Table</vt:lpstr>
      <vt:lpstr>Two-Level Hierarchical Page Table（二级页表）</vt:lpstr>
      <vt:lpstr>Address Translation in a Two-Level Paging System</vt:lpstr>
      <vt:lpstr>Inverted Page Table（倒排页表）</vt:lpstr>
      <vt:lpstr>Inverted Page Table</vt:lpstr>
      <vt:lpstr>Translation Lookaside Buffer (转换检测缓存)</vt:lpstr>
      <vt:lpstr>Use of a TLB</vt:lpstr>
      <vt:lpstr>Operation of Paging and TLB</vt:lpstr>
      <vt:lpstr>Associative Mapping（关联映射）</vt:lpstr>
      <vt:lpstr>TLB and Cache Operation</vt:lpstr>
      <vt:lpstr>Page Size</vt:lpstr>
      <vt:lpstr>Typical Paging Behavior of a Program</vt:lpstr>
      <vt:lpstr>Virtual Memory Segmentation</vt:lpstr>
      <vt:lpstr>Segment Organization</vt:lpstr>
      <vt:lpstr>Address Translation in a Segmentation System</vt:lpstr>
      <vt:lpstr>Combined Paging and Segmentation</vt:lpstr>
      <vt:lpstr>Address Translation in a Segmentation/Paging System</vt:lpstr>
      <vt:lpstr>Summary</vt:lpstr>
      <vt:lpstr>Principle of Locality （局部性原理）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yang li</cp:lastModifiedBy>
  <cp:revision>485</cp:revision>
  <dcterms:created xsi:type="dcterms:W3CDTF">2020-02-20T05:29:00Z</dcterms:created>
  <dcterms:modified xsi:type="dcterms:W3CDTF">2026-05-25T08:46:41Z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24793915EBB14717A47B1537681FA80A</vt:lpwstr>
  </property>
  <property fmtid="{D5CDD505-2E9C-101B-9397-08002B2CF9AE}" pid="3" name="KSOProductBuildVer">
    <vt:lpwstr>2052-11.1.0.11194</vt:lpwstr>
  </property>
</Properties>
</file>