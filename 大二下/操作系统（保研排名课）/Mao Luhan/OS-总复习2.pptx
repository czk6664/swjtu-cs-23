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64"/>
  </p:notesMasterIdLst>
  <p:sldIdLst>
    <p:sldId id="413" r:id="rId2"/>
    <p:sldId id="417" r:id="rId3"/>
    <p:sldId id="416" r:id="rId4"/>
    <p:sldId id="329" r:id="rId5"/>
    <p:sldId id="330" r:id="rId6"/>
    <p:sldId id="333" r:id="rId7"/>
    <p:sldId id="402" r:id="rId8"/>
    <p:sldId id="366" r:id="rId9"/>
    <p:sldId id="372" r:id="rId10"/>
    <p:sldId id="418" r:id="rId11"/>
    <p:sldId id="419" r:id="rId12"/>
    <p:sldId id="449" r:id="rId13"/>
    <p:sldId id="448" r:id="rId14"/>
    <p:sldId id="358" r:id="rId15"/>
    <p:sldId id="359" r:id="rId16"/>
    <p:sldId id="458" r:id="rId17"/>
    <p:sldId id="457" r:id="rId18"/>
    <p:sldId id="420" r:id="rId19"/>
    <p:sldId id="377" r:id="rId20"/>
    <p:sldId id="380" r:id="rId21"/>
    <p:sldId id="347" r:id="rId22"/>
    <p:sldId id="421" r:id="rId23"/>
    <p:sldId id="368" r:id="rId24"/>
    <p:sldId id="423" r:id="rId25"/>
    <p:sldId id="422" r:id="rId26"/>
    <p:sldId id="424" r:id="rId27"/>
    <p:sldId id="425" r:id="rId28"/>
    <p:sldId id="393" r:id="rId29"/>
    <p:sldId id="348" r:id="rId30"/>
    <p:sldId id="351" r:id="rId31"/>
    <p:sldId id="353" r:id="rId32"/>
    <p:sldId id="356" r:id="rId33"/>
    <p:sldId id="427" r:id="rId34"/>
    <p:sldId id="428" r:id="rId35"/>
    <p:sldId id="429" r:id="rId36"/>
    <p:sldId id="430" r:id="rId37"/>
    <p:sldId id="374" r:id="rId38"/>
    <p:sldId id="376" r:id="rId39"/>
    <p:sldId id="407" r:id="rId40"/>
    <p:sldId id="473" r:id="rId41"/>
    <p:sldId id="327" r:id="rId42"/>
    <p:sldId id="431" r:id="rId43"/>
    <p:sldId id="342" r:id="rId44"/>
    <p:sldId id="344" r:id="rId45"/>
    <p:sldId id="345" r:id="rId46"/>
    <p:sldId id="346" r:id="rId47"/>
    <p:sldId id="432" r:id="rId48"/>
    <p:sldId id="474" r:id="rId49"/>
    <p:sldId id="475" r:id="rId50"/>
    <p:sldId id="476" r:id="rId51"/>
    <p:sldId id="369" r:id="rId52"/>
    <p:sldId id="370" r:id="rId53"/>
    <p:sldId id="371" r:id="rId54"/>
    <p:sldId id="477" r:id="rId55"/>
    <p:sldId id="378" r:id="rId56"/>
    <p:sldId id="379" r:id="rId57"/>
    <p:sldId id="445" r:id="rId58"/>
    <p:sldId id="381" r:id="rId59"/>
    <p:sldId id="382" r:id="rId60"/>
    <p:sldId id="383" r:id="rId61"/>
    <p:sldId id="384" r:id="rId62"/>
    <p:sldId id="386" r:id="rId6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05" autoAdjust="0"/>
    <p:restoredTop sz="89658" autoAdjust="0"/>
  </p:normalViewPr>
  <p:slideViewPr>
    <p:cSldViewPr snapToGrid="0">
      <p:cViewPr varScale="1">
        <p:scale>
          <a:sx n="108" d="100"/>
          <a:sy n="108" d="100"/>
        </p:scale>
        <p:origin x="480" y="200"/>
      </p:cViewPr>
      <p:guideLst/>
    </p:cSldViewPr>
  </p:slideViewPr>
  <p:outlineViewPr>
    <p:cViewPr>
      <p:scale>
        <a:sx n="33" d="100"/>
        <a:sy n="33" d="100"/>
      </p:scale>
      <p:origin x="0" y="-640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C0710-FEB9-4CE2-9CD9-B63D1A3DC4CE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1A7FE0-CD29-4BAD-A9FD-CBED1172C0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8221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3983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62415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83170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20119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6611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31197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DC870-4AF4-CE30-DCEA-E8405F58C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ED94C38-97A1-E868-E647-6B659CD0CF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E06E931-1344-D446-CFE8-153CA3D21C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D080DC-1E56-688F-8616-1872B459F4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86300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40125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56043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83817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3347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49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8676ED-31AD-43FB-A49E-D33E228AB4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1422C94-50F2-4AE9-86A9-E61113E142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5A43B6-600F-417C-93A9-1FD37B86D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23FB5-DA9B-D449-BD3F-23B81C5F3DB2}" type="datetime1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46F7F6-9FE2-4D4C-864B-75CAFF397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ED69EF-23A2-4ACE-83F0-B1DA318EB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9978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E71735-B29C-4DD1-A401-C0EC3324C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080" y="136523"/>
            <a:ext cx="10515600" cy="616768"/>
          </a:xfrm>
        </p:spPr>
        <p:txBody>
          <a:bodyPr>
            <a:noAutofit/>
          </a:bodyPr>
          <a:lstStyle>
            <a:lvl1pPr>
              <a:defRPr sz="280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8E37B7-8C78-4782-A312-6CE3597C9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3"/>
            <a:ext cx="10515600" cy="5175794"/>
          </a:xfrm>
        </p:spPr>
        <p:txBody>
          <a:bodyPr>
            <a:normAutofit/>
          </a:bodyPr>
          <a:lstStyle>
            <a:lvl1pPr algn="just">
              <a:lnSpc>
                <a:spcPct val="100000"/>
              </a:lnSpc>
              <a:defRPr sz="2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algn="just">
              <a:lnSpc>
                <a:spcPct val="100000"/>
              </a:lnSpc>
              <a:defRPr sz="2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algn="just">
              <a:lnSpc>
                <a:spcPct val="100000"/>
              </a:lnSpc>
              <a:defRPr sz="2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algn="just">
              <a:lnSpc>
                <a:spcPct val="100000"/>
              </a:lnSpc>
              <a:defRPr sz="2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algn="just">
              <a:lnSpc>
                <a:spcPct val="100000"/>
              </a:lnSpc>
              <a:defRPr sz="2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B372F8-B13E-4C13-8035-517AFC049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‹#›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D7DCD789-2F9C-4890-8FFB-CFE5A82A6A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</p:spPr>
        <p:txBody>
          <a:bodyPr/>
          <a:lstStyle/>
          <a:p>
            <a:fld id="{2606D1B6-B1AF-7D4D-A84B-F73F4DDF98DE}" type="datetime1">
              <a:rPr lang="zh-CN" altLang="en-US" smtClean="0"/>
              <a:t>2026/6/19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7193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2FB2E7-CD10-401E-B2A8-7149F847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A83809-0CD6-4E99-B235-4D681390A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11F12C-08AA-45AB-908E-59440A6C5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ADB72-4C83-9C4A-866B-4D5142DBA58B}" type="datetime1">
              <a:rPr lang="zh-CN" altLang="en-US" smtClean="0"/>
              <a:t>2026/6/19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461642-9D96-4148-8180-D0B2B5019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4EB5D8-A13F-457E-826D-95AC9FB55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662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6E999A-7582-4E5D-A9FB-8CDEF52EE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A3E153-1AD5-46DD-B8DE-61DF0461F4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F5248A8-0745-4392-A1F2-F6DF355FFA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9D8C1F-5ACD-48A3-93C6-718634CC3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00616-4739-7441-B90B-83F2CA2BC9BA}" type="datetime1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E22B1C-A4A1-4342-9DAC-218041BCC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CCC53A-B54E-4AEB-86B3-C8CD6AF7F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9875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DDE34E-984F-4F04-A7FF-17195BCF1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761511-A802-4F5E-86A2-D80D5C0ADB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9E9FAF3-D8C1-45A2-BA48-80B349866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9251460-B631-4C46-908A-FE9A105226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9EF5D71-25C4-4922-9405-6A048B9112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19751F0-F0EA-4B00-B971-5EE1B3773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51E67-9620-AB48-8C22-118A8ACF42A3}" type="datetime1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9047BC4-C2D4-4C81-B588-5459ACF08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A9723A5-6ECE-4EAA-A5C6-EABD8CD3A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2794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3852D2-8976-40DD-BA31-408AB98E4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4858EC2-E957-4F1C-83FD-787BB2CC1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DF96E-3180-8C40-81AA-950720D6E543}" type="datetime1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806991F-2419-4982-884B-D42FF1AAC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398A650-CAEE-412E-B9BF-886CCFDE5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499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2DBD33B-092C-4074-8EDA-3C4FE78AD9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8788" y="6356351"/>
            <a:ext cx="2743200" cy="365125"/>
          </a:xfrm>
        </p:spPr>
        <p:txBody>
          <a:bodyPr/>
          <a:lstStyle/>
          <a:p>
            <a:fld id="{FD9F80F7-C3DF-D742-871B-8631AA2F4284}" type="datetime1">
              <a:rPr lang="zh-CN" altLang="en-US" smtClean="0"/>
              <a:t>2026/6/19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90D8F40-5181-4836-B8DD-3A9908B08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D2A77F-D152-4CDD-99EA-FD8387BB9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013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621370-F61A-4FFA-8158-63411BEFA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54B4E2-CBF2-4B8F-9FBE-CE369EF6A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417E24-6C8C-4AC7-8665-96EC08B1E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33FA8D-1C48-4107-82A1-179513CC6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D033B-6B8A-DF41-A2EB-ACFE77114C01}" type="datetime1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1FBC6DC-C4E0-4913-82DB-024E67FFA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67BBE5-0CE5-41DC-8976-ECDB91764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8675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E4D30F-E495-4188-86D6-1CC70B805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2FD1BDB-E14E-4C2F-8A31-0C60394764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4D96B3D-921F-4319-83AB-6599543C11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720358-A521-4F46-ABEB-E0AE1BAB1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67BDB-3D9C-3044-9065-01E1FE9EC8B3}" type="datetime1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78CC20-8FFA-4C0C-89A1-565524146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CBA9C1-FE7E-475B-A075-82D6279FF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3657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917C9F-382B-48B3-AEE3-A1275451A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05CEB06-E6AC-47BF-A94B-0ED4AAAD24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C0F83F-CE58-4F03-BCC7-46A6A13F7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23FAF-27E8-3442-8C9B-7C060914ABFE}" type="datetime1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59299B-B55F-4721-90C3-0CFE23FA0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90ADCF-1B44-43D8-AB3F-8541D6238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2739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ED9C40E-5C6D-4234-8128-E50188E5E6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2E915B8-7307-4BCC-9A61-569D45C95F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FCA776-3C88-4450-AD71-6D2C500AF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C4F1-59CC-944D-839A-A20122FC4C2B}" type="datetime1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002269-E005-4BE1-94C3-C26720F2B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9685CF-5F0E-4F70-99BE-CCD46BC02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4977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342FFB6-8F21-4ACC-BC1E-3F66BCBF3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017" y="156305"/>
            <a:ext cx="10515600" cy="5969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525B20-A1AA-4A92-9D7A-2F7B14A41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28915"/>
            <a:ext cx="10515600" cy="51757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 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28EA23-1C26-401F-ABA1-2D300BB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4DF019-1C96-0B48-8006-AD0D34BEC94E}" type="datetime1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2A4D13-4A5F-475E-88F7-2A6ECD6DB4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" altLang="zh-CN" dirty="0"/>
              <a:t>I/O Management and Disk Scheduling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AFCE78-DD67-4C8D-A584-09B016DC5D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93D444-7193-46AD-90E8-D84AE4B61CFF}" type="slidenum">
              <a:rPr lang="en-US" smtClean="0"/>
              <a:pPr/>
              <a:t>‹#›</a:t>
            </a:fld>
            <a:r>
              <a:rPr lang="en-US" dirty="0"/>
              <a:t>/</a:t>
            </a:r>
            <a:r>
              <a:rPr lang="en-US" altLang="zh-CN" dirty="0"/>
              <a:t>63</a:t>
            </a:r>
            <a:endParaRPr lang="en-US" dirty="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E98AC04-83D3-4028-869F-84D382FA74BB}"/>
              </a:ext>
            </a:extLst>
          </p:cNvPr>
          <p:cNvGrpSpPr/>
          <p:nvPr userDrawn="1"/>
        </p:nvGrpSpPr>
        <p:grpSpPr>
          <a:xfrm>
            <a:off x="9982200" y="186423"/>
            <a:ext cx="1794536" cy="472074"/>
            <a:chOff x="504825" y="327025"/>
            <a:chExt cx="2482851" cy="636440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49F7D68F-F6C5-482F-BB06-4C7202C968E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l="8955" t="8651" r="74262" b="8651"/>
            <a:stretch>
              <a:fillRect/>
            </a:stretch>
          </p:blipFill>
          <p:spPr>
            <a:xfrm>
              <a:off x="504825" y="327025"/>
              <a:ext cx="593725" cy="636440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18389FF0-6461-4154-A98D-1E4418062F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l="36206" t="8651" r="14969" b="8651"/>
            <a:stretch>
              <a:fillRect/>
            </a:stretch>
          </p:blipFill>
          <p:spPr>
            <a:xfrm>
              <a:off x="1260475" y="327025"/>
              <a:ext cx="1727201" cy="6364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04312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75000"/>
            </a:schemeClr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" panose="05000000000000000000" pitchFamily="2" charset="2"/>
        <a:buChar char="q"/>
        <a:defRPr sz="2000" b="1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gif"/><Relationship Id="rId4" Type="http://schemas.openxmlformats.org/officeDocument/2006/relationships/image" Target="../media/image8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0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GIF"/><Relationship Id="rId2" Type="http://schemas.openxmlformats.org/officeDocument/2006/relationships/image" Target="../media/image47.GI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GIF"/><Relationship Id="rId2" Type="http://schemas.openxmlformats.org/officeDocument/2006/relationships/image" Target="../media/image49.GI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GI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>
            <a:extLst>
              <a:ext uri="{FF2B5EF4-FFF2-40B4-BE49-F238E27FC236}">
                <a16:creationId xmlns:a16="http://schemas.microsoft.com/office/drawing/2014/main" id="{EC02B943-8764-434E-9C4F-C8ED1CA9902A}"/>
              </a:ext>
            </a:extLst>
          </p:cNvPr>
          <p:cNvSpPr txBox="1">
            <a:spLocks/>
          </p:cNvSpPr>
          <p:nvPr/>
        </p:nvSpPr>
        <p:spPr>
          <a:xfrm>
            <a:off x="875558" y="988422"/>
            <a:ext cx="10440884" cy="20062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1" kern="120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93612ED-623E-3144-EBB0-A3DBC1373478}"/>
              </a:ext>
            </a:extLst>
          </p:cNvPr>
          <p:cNvSpPr txBox="1"/>
          <p:nvPr/>
        </p:nvSpPr>
        <p:spPr>
          <a:xfrm>
            <a:off x="2058085" y="1556381"/>
            <a:ext cx="81455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Course Review and Summary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D0801C6-6CB3-1264-9FBF-7EAE2B37C2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0" y="3766612"/>
            <a:ext cx="6858000" cy="1152759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Xiangyi Chen</a:t>
            </a:r>
          </a:p>
          <a:p>
            <a:r>
              <a:rPr lang="en-US" altLang="zh-CN" sz="2800" dirty="0"/>
              <a:t>xiangyichen@swjtu.edu.cn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786794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20847-90A5-2646-A2C8-373B2ADBD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232B9-DB06-FB46-AA06-B58AAD842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5.</a:t>
            </a:r>
            <a:r>
              <a:rPr lang="zh-CN" altLang="en-US" dirty="0"/>
              <a:t> </a:t>
            </a:r>
            <a:r>
              <a:rPr lang="en-US" altLang="zh-CN" dirty="0"/>
              <a:t>Memory</a:t>
            </a:r>
            <a:r>
              <a:rPr lang="zh-CN" altLang="en-US" dirty="0"/>
              <a:t> </a:t>
            </a:r>
            <a:r>
              <a:rPr lang="en-US" altLang="zh-CN" dirty="0"/>
              <a:t>management</a:t>
            </a:r>
            <a:r>
              <a:rPr lang="zh-CN" altLang="en-US" dirty="0"/>
              <a:t> </a:t>
            </a:r>
            <a:endParaRPr lang="en-US" altLang="zh-CN" dirty="0"/>
          </a:p>
          <a:p>
            <a:pPr lvl="1"/>
            <a:r>
              <a:rPr lang="en-US" altLang="zh-CN" dirty="0"/>
              <a:t>5.1</a:t>
            </a:r>
            <a:r>
              <a:rPr lang="zh-CN" altLang="en-US" dirty="0"/>
              <a:t> </a:t>
            </a:r>
            <a:r>
              <a:rPr lang="en-US" altLang="zh-CN" dirty="0"/>
              <a:t>Logical</a:t>
            </a:r>
            <a:r>
              <a:rPr lang="zh-CN" altLang="en-US" dirty="0"/>
              <a:t> </a:t>
            </a:r>
            <a:r>
              <a:rPr lang="en-US" altLang="zh-CN" dirty="0"/>
              <a:t>organization</a:t>
            </a:r>
          </a:p>
          <a:p>
            <a:pPr lvl="1"/>
            <a:r>
              <a:rPr lang="en-US" altLang="zh-CN" dirty="0"/>
              <a:t>5.2</a:t>
            </a:r>
            <a:r>
              <a:rPr lang="zh-CN" altLang="en-US" dirty="0"/>
              <a:t> </a:t>
            </a:r>
            <a:r>
              <a:rPr lang="en-US" altLang="zh-CN" dirty="0"/>
              <a:t>Physical</a:t>
            </a:r>
            <a:r>
              <a:rPr lang="zh-CN" altLang="en-US" dirty="0"/>
              <a:t> </a:t>
            </a:r>
            <a:r>
              <a:rPr lang="en-US" altLang="zh-CN" dirty="0"/>
              <a:t>organization</a:t>
            </a:r>
          </a:p>
          <a:p>
            <a:pPr lvl="1"/>
            <a:r>
              <a:rPr lang="en-US" altLang="zh-CN" dirty="0"/>
              <a:t>5.3</a:t>
            </a:r>
            <a:r>
              <a:rPr lang="zh-CN" altLang="en-US" dirty="0"/>
              <a:t> </a:t>
            </a:r>
            <a:r>
              <a:rPr lang="en-US" altLang="zh-CN" dirty="0"/>
              <a:t>Memory</a:t>
            </a:r>
            <a:r>
              <a:rPr lang="zh-CN" altLang="en-US" dirty="0"/>
              <a:t> </a:t>
            </a:r>
            <a:r>
              <a:rPr lang="en-US" altLang="zh-CN" dirty="0"/>
              <a:t>Management</a:t>
            </a:r>
            <a:r>
              <a:rPr lang="zh-CN" altLang="en-US" dirty="0"/>
              <a:t> </a:t>
            </a:r>
            <a:r>
              <a:rPr lang="en-US" altLang="zh-CN" dirty="0"/>
              <a:t>Techniques</a:t>
            </a:r>
          </a:p>
          <a:p>
            <a:pPr lvl="2"/>
            <a:r>
              <a:rPr lang="en-US" altLang="zh-CN" dirty="0"/>
              <a:t>Dynamic</a:t>
            </a:r>
            <a:r>
              <a:rPr lang="zh-CN" altLang="en-US" dirty="0"/>
              <a:t> </a:t>
            </a:r>
            <a:r>
              <a:rPr lang="en-US" altLang="zh-CN" dirty="0"/>
              <a:t>partition</a:t>
            </a:r>
          </a:p>
          <a:p>
            <a:pPr lvl="2"/>
            <a:r>
              <a:rPr lang="en-US" altLang="zh-CN" dirty="0"/>
              <a:t>Fixed</a:t>
            </a:r>
            <a:r>
              <a:rPr lang="zh-CN" altLang="en-US" dirty="0"/>
              <a:t> </a:t>
            </a:r>
            <a:r>
              <a:rPr lang="en-US" altLang="zh-CN" dirty="0"/>
              <a:t>partition</a:t>
            </a:r>
          </a:p>
          <a:p>
            <a:pPr lvl="2"/>
            <a:r>
              <a:rPr lang="en-US" altLang="zh-CN" dirty="0"/>
              <a:t>Page</a:t>
            </a:r>
          </a:p>
          <a:p>
            <a:pPr lvl="2"/>
            <a:r>
              <a:rPr lang="en-US" altLang="zh-CN" dirty="0"/>
              <a:t>Segment</a:t>
            </a:r>
          </a:p>
          <a:p>
            <a:pPr lvl="1"/>
            <a:r>
              <a:rPr lang="en-US" altLang="zh-CN" dirty="0"/>
              <a:t>5.4</a:t>
            </a:r>
            <a:r>
              <a:rPr lang="zh-CN" altLang="en-US" dirty="0"/>
              <a:t> </a:t>
            </a:r>
            <a:r>
              <a:rPr lang="en-US" altLang="zh-CN" dirty="0"/>
              <a:t>Address</a:t>
            </a:r>
            <a:r>
              <a:rPr lang="zh-CN" altLang="en-US" dirty="0"/>
              <a:t> </a:t>
            </a:r>
            <a:r>
              <a:rPr lang="en-US" altLang="zh-CN" dirty="0"/>
              <a:t>translation</a:t>
            </a:r>
          </a:p>
          <a:p>
            <a:r>
              <a:rPr lang="en-US" altLang="zh-CN" dirty="0"/>
              <a:t>6.</a:t>
            </a:r>
            <a:r>
              <a:rPr lang="zh-CN" altLang="en-US" dirty="0"/>
              <a:t> </a:t>
            </a:r>
            <a:r>
              <a:rPr lang="en-US" altLang="zh-CN" dirty="0"/>
              <a:t>Virtual</a:t>
            </a:r>
            <a:r>
              <a:rPr lang="zh-CN" altLang="en-US" dirty="0"/>
              <a:t> </a:t>
            </a:r>
            <a:r>
              <a:rPr lang="en-US" altLang="zh-CN" dirty="0"/>
              <a:t>Memory</a:t>
            </a:r>
          </a:p>
          <a:p>
            <a:pPr lvl="1"/>
            <a:r>
              <a:rPr lang="en-US" altLang="zh-CN" dirty="0"/>
              <a:t>6.1Replacement</a:t>
            </a:r>
            <a:r>
              <a:rPr lang="zh-CN" altLang="en-US" dirty="0"/>
              <a:t> </a:t>
            </a:r>
            <a:r>
              <a:rPr lang="en-US" altLang="zh-CN" dirty="0"/>
              <a:t>policy</a:t>
            </a:r>
          </a:p>
          <a:p>
            <a:pPr lvl="1"/>
            <a:r>
              <a:rPr lang="en-US" altLang="zh-CN" dirty="0"/>
              <a:t>6.2Resident</a:t>
            </a:r>
            <a:r>
              <a:rPr lang="zh-CN" altLang="en-US" dirty="0"/>
              <a:t> </a:t>
            </a:r>
            <a:r>
              <a:rPr lang="en-US" altLang="zh-CN" dirty="0"/>
              <a:t>set</a:t>
            </a:r>
            <a:r>
              <a:rPr lang="zh-CN" altLang="en-US" dirty="0"/>
              <a:t> </a:t>
            </a:r>
            <a:r>
              <a:rPr lang="en-US" altLang="zh-CN" dirty="0"/>
              <a:t>management</a:t>
            </a:r>
          </a:p>
          <a:p>
            <a:endParaRPr lang="en-US" altLang="zh-CN" sz="1400" dirty="0"/>
          </a:p>
          <a:p>
            <a:endParaRPr lang="en-US" altLang="zh-CN" sz="1400" dirty="0"/>
          </a:p>
          <a:p>
            <a:endParaRPr lang="en-CN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0C61F-7DCA-564C-89EE-88733F4A1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2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881B6-7D5F-A649-A8D8-687737664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2026/6/19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75241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20847-90A5-2646-A2C8-373B2ADBD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r>
              <a:rPr lang="zh-CN" altLang="en-US" dirty="0"/>
              <a:t> </a:t>
            </a:r>
            <a:r>
              <a:rPr lang="en-US" altLang="zh-CN" dirty="0"/>
              <a:t>(cont.)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232B9-DB06-FB46-AA06-B58AAD842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7.</a:t>
            </a:r>
            <a:r>
              <a:rPr lang="zh-CN" altLang="en-US" dirty="0"/>
              <a:t> </a:t>
            </a:r>
            <a:r>
              <a:rPr lang="en-US" altLang="zh-CN" dirty="0"/>
              <a:t>I/O</a:t>
            </a:r>
            <a:r>
              <a:rPr lang="zh-CN" altLang="en-US" dirty="0"/>
              <a:t> </a:t>
            </a:r>
            <a:r>
              <a:rPr lang="en-US" altLang="zh-CN" dirty="0"/>
              <a:t>Management</a:t>
            </a:r>
          </a:p>
          <a:p>
            <a:pPr lvl="1"/>
            <a:r>
              <a:rPr lang="en-US" altLang="zh-CN" dirty="0"/>
              <a:t>Evolution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I/O</a:t>
            </a:r>
            <a:r>
              <a:rPr lang="zh-CN" altLang="en-US" dirty="0"/>
              <a:t> </a:t>
            </a:r>
            <a:r>
              <a:rPr lang="en-US" altLang="zh-CN" dirty="0"/>
              <a:t>function</a:t>
            </a:r>
          </a:p>
          <a:p>
            <a:pPr lvl="1"/>
            <a:r>
              <a:rPr lang="en-US" altLang="zh-CN" dirty="0"/>
              <a:t>I/O</a:t>
            </a:r>
            <a:r>
              <a:rPr lang="zh-CN" altLang="en-US" dirty="0"/>
              <a:t> </a:t>
            </a:r>
            <a:r>
              <a:rPr lang="en-US" altLang="zh-CN" dirty="0"/>
              <a:t>buffer</a:t>
            </a:r>
          </a:p>
          <a:p>
            <a:pPr lvl="1"/>
            <a:r>
              <a:rPr lang="en-US" altLang="zh-CN" dirty="0"/>
              <a:t>Disk</a:t>
            </a:r>
            <a:r>
              <a:rPr lang="zh-CN" altLang="en-US" dirty="0"/>
              <a:t> </a:t>
            </a:r>
            <a:r>
              <a:rPr lang="en-US" altLang="zh-CN" dirty="0"/>
              <a:t>scheduling</a:t>
            </a:r>
          </a:p>
          <a:p>
            <a:pPr lvl="1"/>
            <a:r>
              <a:rPr lang="en-US" altLang="zh-CN" dirty="0"/>
              <a:t>Disk</a:t>
            </a:r>
            <a:r>
              <a:rPr lang="zh-CN" altLang="en-US" dirty="0"/>
              <a:t> </a:t>
            </a:r>
            <a:r>
              <a:rPr lang="en-US" altLang="zh-CN" dirty="0"/>
              <a:t>cache</a:t>
            </a:r>
          </a:p>
          <a:p>
            <a:r>
              <a:rPr lang="en-US" altLang="zh-CN" dirty="0"/>
              <a:t>8.</a:t>
            </a:r>
            <a:r>
              <a:rPr lang="zh-CN" altLang="en-US" dirty="0"/>
              <a:t> </a:t>
            </a:r>
            <a:r>
              <a:rPr lang="en-US" altLang="zh-CN" dirty="0"/>
              <a:t>File</a:t>
            </a:r>
            <a:r>
              <a:rPr lang="zh-CN" altLang="en-US" dirty="0"/>
              <a:t> </a:t>
            </a:r>
            <a:r>
              <a:rPr lang="en-US" altLang="zh-CN" dirty="0"/>
              <a:t>management</a:t>
            </a:r>
          </a:p>
          <a:p>
            <a:pPr lvl="1"/>
            <a:r>
              <a:rPr lang="en-US" altLang="zh-CN" dirty="0"/>
              <a:t>File</a:t>
            </a:r>
            <a:r>
              <a:rPr lang="zh-CN" altLang="en-US" dirty="0"/>
              <a:t> </a:t>
            </a:r>
            <a:r>
              <a:rPr lang="en-US" altLang="zh-CN" dirty="0"/>
              <a:t>organization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access</a:t>
            </a:r>
          </a:p>
          <a:p>
            <a:pPr lvl="1"/>
            <a:r>
              <a:rPr lang="en-US" altLang="zh-CN" dirty="0"/>
              <a:t>File</a:t>
            </a:r>
            <a:r>
              <a:rPr lang="zh-CN" altLang="en-US" dirty="0"/>
              <a:t> </a:t>
            </a:r>
            <a:r>
              <a:rPr lang="en-US" altLang="zh-CN" dirty="0"/>
              <a:t>allocation</a:t>
            </a:r>
            <a:r>
              <a:rPr lang="zh-CN" altLang="en-US" dirty="0"/>
              <a:t> </a:t>
            </a:r>
            <a:r>
              <a:rPr lang="en-US" altLang="zh-CN" dirty="0"/>
              <a:t>methods</a:t>
            </a:r>
          </a:p>
          <a:p>
            <a:pPr lvl="1"/>
            <a:r>
              <a:rPr lang="en-US" altLang="zh-CN" dirty="0"/>
              <a:t>Free</a:t>
            </a:r>
            <a:r>
              <a:rPr lang="zh-CN" altLang="en-US" dirty="0"/>
              <a:t> </a:t>
            </a:r>
            <a:r>
              <a:rPr lang="en-US" altLang="zh-CN" dirty="0"/>
              <a:t>space</a:t>
            </a:r>
            <a:r>
              <a:rPr lang="zh-CN" altLang="en-US" dirty="0"/>
              <a:t> </a:t>
            </a:r>
            <a:r>
              <a:rPr lang="en-US" altLang="zh-CN" dirty="0"/>
              <a:t>management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0C61F-7DCA-564C-89EE-88733F4A1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3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881B6-7D5F-A649-A8D8-687737664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2026/6/19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341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Relocation</a:t>
            </a:r>
            <a:r>
              <a:rPr lang="zh-CN" altLang="en-US" dirty="0"/>
              <a:t>（重定位）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793" y="841103"/>
            <a:ext cx="6259643" cy="5175794"/>
          </a:xfrm>
        </p:spPr>
        <p:txBody>
          <a:bodyPr>
            <a:normAutofit/>
          </a:bodyPr>
          <a:lstStyle/>
          <a:p>
            <a:r>
              <a:rPr lang="en-US" altLang="zh-CN" dirty="0"/>
              <a:t>Programmers typically </a:t>
            </a:r>
            <a:r>
              <a:rPr lang="en-US" altLang="zh-CN" dirty="0">
                <a:solidFill>
                  <a:srgbClr val="FF0000"/>
                </a:solidFill>
              </a:rPr>
              <a:t>do not know in advance </a:t>
            </a:r>
            <a:r>
              <a:rPr lang="en-US" altLang="zh-CN" dirty="0"/>
              <a:t>which other programs will be resident in main memory at the time of execution of their program</a:t>
            </a:r>
          </a:p>
          <a:p>
            <a:r>
              <a:rPr lang="en-US" altLang="zh-CN" dirty="0"/>
              <a:t>Active processes need to be able to be </a:t>
            </a:r>
            <a:r>
              <a:rPr lang="en-US" altLang="zh-CN" dirty="0">
                <a:solidFill>
                  <a:srgbClr val="FF0000"/>
                </a:solidFill>
              </a:rPr>
              <a:t>swapped</a:t>
            </a:r>
            <a:r>
              <a:rPr lang="en-US" altLang="zh-CN" dirty="0"/>
              <a:t> in and out of main memory in order to maximize processor utilization</a:t>
            </a:r>
          </a:p>
          <a:p>
            <a:r>
              <a:rPr lang="en-US" altLang="zh-CN" dirty="0"/>
              <a:t>It is difficult to </a:t>
            </a:r>
            <a:r>
              <a:rPr lang="en-US" altLang="zh-CN" dirty="0">
                <a:solidFill>
                  <a:srgbClr val="FF0000"/>
                </a:solidFill>
              </a:rPr>
              <a:t>place in the same memory region </a:t>
            </a:r>
            <a:r>
              <a:rPr lang="en-US" altLang="zh-CN" dirty="0"/>
              <a:t>once the process is swapped back.</a:t>
            </a:r>
          </a:p>
          <a:p>
            <a:r>
              <a:rPr lang="en-US" altLang="zh-CN" dirty="0">
                <a:solidFill>
                  <a:srgbClr val="0070C0"/>
                </a:solidFill>
              </a:rPr>
              <a:t>Solution</a:t>
            </a:r>
            <a:r>
              <a:rPr lang="en-US" altLang="zh-CN" dirty="0"/>
              <a:t>: relocate  the process to a different area of memory</a:t>
            </a:r>
          </a:p>
          <a:p>
            <a:endParaRPr lang="zh-CN" altLang="en-US" dirty="0"/>
          </a:p>
        </p:txBody>
      </p:sp>
      <p:pic>
        <p:nvPicPr>
          <p:cNvPr id="4" name="Picture 4" descr="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2805" y="1881266"/>
            <a:ext cx="4301420" cy="2861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9A7B35-30B4-4B12-B531-6A003BFFD962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4C19DFD1-960B-4083-A7B7-B69B5DB7ABF5}" type="datetime1">
              <a:rPr lang="zh-CN" altLang="en-US" smtClean="0"/>
              <a:t>2026/6/19</a:t>
            </a:fld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24F342-BFAA-46E6-8F59-1B91889AF91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2093D444-7193-46AD-90E8-D84AE4B61CFF}" type="slidenum">
              <a:rPr lang="en-US" smtClean="0"/>
              <a:pPr/>
              <a:t>4</a:t>
            </a:fld>
            <a:r>
              <a:rPr lang="en-US"/>
              <a:t>/</a:t>
            </a:r>
            <a:r>
              <a:rPr lang="en-US" altLang="zh-CN"/>
              <a:t>31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Addressing Requirements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6795A2C-28D4-4880-84CA-611E043A8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925" y="1037559"/>
            <a:ext cx="5426041" cy="451781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9EC31DF-CF19-42F5-9D44-D793BC7A51A9}"/>
              </a:ext>
            </a:extLst>
          </p:cNvPr>
          <p:cNvSpPr txBox="1"/>
          <p:nvPr/>
        </p:nvSpPr>
        <p:spPr>
          <a:xfrm>
            <a:off x="3581400" y="5756310"/>
            <a:ext cx="6097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231F20"/>
                </a:solidFill>
                <a:effectLst/>
                <a:latin typeface="TimesTenLTStd-Bold"/>
              </a:rPr>
              <a:t>Addressing Requirements for a Process 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1F60D25-9B07-4D45-A9A5-BDE1E191BFE5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6CC2772-9745-447C-BA35-92E409493679}" type="datetime1">
              <a:rPr lang="zh-CN" altLang="en-US" smtClean="0"/>
              <a:t>2026/6/19</a:t>
            </a:fld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4426B2-FF62-400E-B8CF-C1D97473982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2093D444-7193-46AD-90E8-D84AE4B61CFF}" type="slidenum">
              <a:rPr lang="en-US" smtClean="0"/>
              <a:pPr/>
              <a:t>5</a:t>
            </a:fld>
            <a:r>
              <a:rPr lang="en-US"/>
              <a:t>/</a:t>
            </a:r>
            <a:r>
              <a:rPr lang="en-US" altLang="zh-CN"/>
              <a:t>31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 Logical Organization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472" y="841103"/>
            <a:ext cx="6253264" cy="5175794"/>
          </a:xfrm>
        </p:spPr>
        <p:txBody>
          <a:bodyPr/>
          <a:lstStyle/>
          <a:p>
            <a:r>
              <a:rPr lang="en-US" altLang="zh-CN" dirty="0"/>
              <a:t>Memory is organized as </a:t>
            </a:r>
            <a:r>
              <a:rPr lang="en-US" altLang="zh-CN" dirty="0">
                <a:solidFill>
                  <a:srgbClr val="FF0000"/>
                </a:solidFill>
              </a:rPr>
              <a:t>linear</a:t>
            </a:r>
          </a:p>
          <a:p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Programs are written in </a:t>
            </a:r>
            <a:r>
              <a:rPr lang="en-US" altLang="zh-CN" dirty="0">
                <a:solidFill>
                  <a:srgbClr val="FF0000"/>
                </a:solidFill>
              </a:rPr>
              <a:t>modules</a:t>
            </a:r>
          </a:p>
          <a:p>
            <a:pPr lvl="1"/>
            <a:r>
              <a:rPr lang="en-US" altLang="zh-CN" dirty="0"/>
              <a:t> modules can be </a:t>
            </a:r>
            <a:r>
              <a:rPr lang="en-US" altLang="zh-CN" dirty="0">
                <a:solidFill>
                  <a:srgbClr val="FF0000"/>
                </a:solidFill>
              </a:rPr>
              <a:t>written and compiled </a:t>
            </a:r>
            <a:r>
              <a:rPr lang="en-US" altLang="zh-CN" dirty="0"/>
              <a:t>independently</a:t>
            </a:r>
          </a:p>
          <a:p>
            <a:pPr lvl="1"/>
            <a:r>
              <a:rPr lang="en-US" altLang="zh-CN" dirty="0"/>
              <a:t> different degrees of </a:t>
            </a:r>
            <a:r>
              <a:rPr lang="en-US" altLang="zh-CN" dirty="0">
                <a:solidFill>
                  <a:srgbClr val="FF0000"/>
                </a:solidFill>
              </a:rPr>
              <a:t>protection</a:t>
            </a:r>
            <a:r>
              <a:rPr lang="en-US" altLang="zh-CN" dirty="0"/>
              <a:t> given to modules (read-only, execute-only)</a:t>
            </a:r>
          </a:p>
          <a:p>
            <a:pPr lvl="1"/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sharing</a:t>
            </a:r>
            <a:r>
              <a:rPr lang="en-US" altLang="zh-CN" dirty="0"/>
              <a:t> on a module level corresponds to the user’s way of viewing the problem</a:t>
            </a:r>
          </a:p>
          <a:p>
            <a:pPr lvl="1"/>
            <a:endParaRPr lang="en-US" altLang="zh-CN" dirty="0"/>
          </a:p>
          <a:p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C233BD1-6940-457E-A8B6-B434F2922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9859" y="1819073"/>
            <a:ext cx="4699289" cy="301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433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Memory Management Techniques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A58E8E7-9D13-B265-87E9-69F359376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3609" y="753291"/>
            <a:ext cx="5486882" cy="6104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532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Characteristics of Paging and Segmentation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53033A5-7AD6-48A5-AE65-29F95EE8F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5278" y="792614"/>
            <a:ext cx="6775704" cy="5452552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F3C5670-F235-4AE2-B167-038F919AE92C}"/>
              </a:ext>
            </a:extLst>
          </p:cNvPr>
          <p:cNvSpPr/>
          <p:nvPr/>
        </p:nvSpPr>
        <p:spPr>
          <a:xfrm>
            <a:off x="2202873" y="4211782"/>
            <a:ext cx="7190509" cy="20472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Memory Management Formats</a:t>
            </a:r>
            <a:endParaRPr lang="zh-CN" altLang="en-US" dirty="0"/>
          </a:p>
        </p:txBody>
      </p:sp>
      <p:pic>
        <p:nvPicPr>
          <p:cNvPr id="4" name="Content Placeholder 3" descr="Fig08_02a.gif">
            <a:extLst>
              <a:ext uri="{FF2B5EF4-FFF2-40B4-BE49-F238E27FC236}">
                <a16:creationId xmlns:a16="http://schemas.microsoft.com/office/drawing/2014/main" id="{E747DD06-28B3-4AC7-86FB-CD0C2E1FEF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847622" y="943247"/>
            <a:ext cx="3917378" cy="2165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Content Placeholder 3" descr="Fig08_02b.gif">
            <a:extLst>
              <a:ext uri="{FF2B5EF4-FFF2-40B4-BE49-F238E27FC236}">
                <a16:creationId xmlns:a16="http://schemas.microsoft.com/office/drawing/2014/main" id="{64EDF675-3665-44BA-A6C3-D8972640DB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5678772" y="975893"/>
            <a:ext cx="5665606" cy="1866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Content Placeholder 3" descr="Fig08_02c.gif">
            <a:extLst>
              <a:ext uri="{FF2B5EF4-FFF2-40B4-BE49-F238E27FC236}">
                <a16:creationId xmlns:a16="http://schemas.microsoft.com/office/drawing/2014/main" id="{2B254684-088D-41C4-8E9B-1760216B74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9331" y="3429000"/>
            <a:ext cx="6825717" cy="2579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835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Paging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841103"/>
            <a:ext cx="5896429" cy="5175794"/>
          </a:xfrm>
        </p:spPr>
        <p:txBody>
          <a:bodyPr/>
          <a:lstStyle/>
          <a:p>
            <a:r>
              <a:rPr lang="en-US" altLang="zh-CN" dirty="0"/>
              <a:t>Partition </a:t>
            </a:r>
            <a:r>
              <a:rPr lang="en-US" altLang="zh-CN" dirty="0">
                <a:solidFill>
                  <a:srgbClr val="FF0000"/>
                </a:solidFill>
              </a:rPr>
              <a:t>memory</a:t>
            </a:r>
            <a:r>
              <a:rPr lang="en-US" altLang="zh-CN" dirty="0"/>
              <a:t> into equal fixed-size chunks that are relatively </a:t>
            </a:r>
            <a:r>
              <a:rPr lang="en-US" altLang="zh-CN" dirty="0">
                <a:solidFill>
                  <a:srgbClr val="FF0000"/>
                </a:solidFill>
              </a:rPr>
              <a:t>small</a:t>
            </a:r>
          </a:p>
          <a:p>
            <a:pPr lvl="1"/>
            <a:r>
              <a:rPr lang="en-US" altLang="zh-CN" dirty="0"/>
              <a:t>Frames</a:t>
            </a:r>
          </a:p>
          <a:p>
            <a:pPr lvl="2"/>
            <a:r>
              <a:rPr lang="en-US" altLang="zh-CN" dirty="0"/>
              <a:t>available chunks of memory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Process</a:t>
            </a:r>
            <a:r>
              <a:rPr lang="en-US" altLang="zh-CN" dirty="0"/>
              <a:t> is also divided into small fixed-size chunks of the same size</a:t>
            </a:r>
          </a:p>
          <a:p>
            <a:pPr lvl="1"/>
            <a:r>
              <a:rPr lang="en-US" altLang="zh-CN" dirty="0"/>
              <a:t>Pages</a:t>
            </a:r>
          </a:p>
          <a:p>
            <a:pPr lvl="2"/>
            <a:r>
              <a:rPr lang="en-US" altLang="zh-CN" dirty="0"/>
              <a:t>chunks of a process</a:t>
            </a:r>
          </a:p>
          <a:p>
            <a:pPr lvl="2"/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E0EB858-05F7-4AEA-B34D-522770AC4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716" y="841103"/>
            <a:ext cx="4278085" cy="509346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C6685FD-00CB-49F6-99DC-F15EC811DDCB}"/>
              </a:ext>
            </a:extLst>
          </p:cNvPr>
          <p:cNvSpPr txBox="1"/>
          <p:nvPr/>
        </p:nvSpPr>
        <p:spPr>
          <a:xfrm>
            <a:off x="7307942" y="5934566"/>
            <a:ext cx="42780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231F20"/>
                </a:solidFill>
                <a:effectLst/>
                <a:latin typeface="TimesTenLTStd-Bold"/>
              </a:rPr>
              <a:t>Assignment of Process to Free Frames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77C97B-3104-4514-B2C4-0FA8F49A5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F0C3-9318-4376-B56E-0551AEC29E46}" type="datetime1">
              <a:rPr lang="zh-CN" altLang="en-US" smtClean="0"/>
              <a:t>2026/6/19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C966A03-A163-49C9-90F5-5CEAFDF1B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10</a:t>
            </a:fld>
            <a:r>
              <a:rPr lang="en-US"/>
              <a:t>/</a:t>
            </a:r>
            <a:r>
              <a:rPr lang="en-US" altLang="zh-CN"/>
              <a:t>31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Logical-to-Physical Address Translation - Paging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CFEC821-18EE-4B39-B39A-CCB63BA8B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5087" y="1141218"/>
            <a:ext cx="7736342" cy="416897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E5519E4-B8E2-4938-82AE-09DAC5D153AE}"/>
              </a:ext>
            </a:extLst>
          </p:cNvPr>
          <p:cNvSpPr txBox="1"/>
          <p:nvPr/>
        </p:nvSpPr>
        <p:spPr>
          <a:xfrm>
            <a:off x="3425258" y="55321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231F20"/>
                </a:solidFill>
                <a:effectLst/>
                <a:latin typeface="TimesTenLTStd-Bold"/>
              </a:rPr>
              <a:t>Examples of Logical-to-Physical Address Translation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5032A7F-FF49-448F-AE2B-F877A1012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4A642-27A6-4A36-82A5-B672EA838066}" type="datetime1">
              <a:rPr lang="zh-CN" altLang="en-US" smtClean="0"/>
              <a:t>2026/6/19</a:t>
            </a:fld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748280-F5D3-4A92-B089-8518582C1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11</a:t>
            </a:fld>
            <a:r>
              <a:rPr lang="en-US"/>
              <a:t>/</a:t>
            </a:r>
            <a:r>
              <a:rPr lang="en-US" altLang="zh-CN"/>
              <a:t>31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BDD12-FB1A-939E-E1BE-017509080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8A8FC0-CE80-FC81-6B1C-C9415147E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Quiz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FFB247C-43DB-7870-C12A-6B27F8A08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796860"/>
            <a:ext cx="10350863" cy="1239007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085015-625D-FE76-E5A5-895523BB31BC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7D3503B-2361-414C-98B3-D861009E17D0}" type="datetime1">
              <a:rPr lang="zh-CN" altLang="en-US" smtClean="0"/>
              <a:t>2026/6/19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2F83EC5-F35F-205F-8DC8-F529C34C51A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2093D444-7193-46AD-90E8-D84AE4B61CFF}" type="slidenum">
              <a:rPr lang="en-US" smtClean="0"/>
              <a:pPr/>
              <a:t>12</a:t>
            </a:fld>
            <a:r>
              <a:rPr lang="en-US"/>
              <a:t>/</a:t>
            </a:r>
            <a:r>
              <a:rPr lang="en-US" altLang="zh-CN"/>
              <a:t>31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830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AF4F5-7C13-4C20-3EEB-F613EAB41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7901EA-9D05-7969-4586-A9240DCB3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Quiz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47EEF9C-E78B-52D2-86CB-DFCB2EBA9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796860"/>
            <a:ext cx="10350863" cy="1239007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97A861-E3F0-981B-2BAF-481EEBD125C3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7D3503B-2361-414C-98B3-D861009E17D0}" type="datetime1">
              <a:rPr lang="zh-CN" altLang="en-US" smtClean="0"/>
              <a:t>2026/6/19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9377314-57C0-28BD-5D25-10DCA4EF8F6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2093D444-7193-46AD-90E8-D84AE4B61CFF}" type="slidenum">
              <a:rPr lang="en-US" smtClean="0"/>
              <a:pPr/>
              <a:t>13</a:t>
            </a:fld>
            <a:r>
              <a:rPr lang="en-US"/>
              <a:t>/</a:t>
            </a:r>
            <a:r>
              <a:rPr lang="en-US" altLang="zh-CN"/>
              <a:t>31</a:t>
            </a:r>
            <a:endParaRPr 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A7C10D1-E5BC-7213-E084-B82F90314D02}"/>
              </a:ext>
            </a:extLst>
          </p:cNvPr>
          <p:cNvSpPr txBox="1"/>
          <p:nvPr/>
        </p:nvSpPr>
        <p:spPr>
          <a:xfrm>
            <a:off x="2027104" y="2186743"/>
            <a:ext cx="60950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Logical Address = Page Number + Offset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1955EDB-9870-05CE-6AA3-F168BF79A2DF}"/>
                  </a:ext>
                </a:extLst>
              </p:cNvPr>
              <p:cNvSpPr txBox="1"/>
              <p:nvPr/>
            </p:nvSpPr>
            <p:spPr>
              <a:xfrm>
                <a:off x="2027104" y="2556075"/>
                <a:ext cx="7663878" cy="42503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altLang="zh-CN" dirty="0"/>
                  <a:t>Page size: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>
                          <a:latin typeface="Cambria Math" panose="02040503050406030204" pitchFamily="18" charset="0"/>
                        </a:rPr>
                        <m:t>1024</m:t>
                      </m:r>
                      <m:r>
                        <a:rPr lang="en-US" altLang="zh-CN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altLang="zh-CN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ar-AE" altLang="zh-CN" i="0"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p>
                    </m:oMath>
                  </m:oMathPara>
                </a14:m>
                <a:endParaRPr lang="ar-AE" altLang="zh-CN" dirty="0"/>
              </a:p>
              <a:p>
                <a:pPr>
                  <a:buNone/>
                </a:pPr>
                <a:r>
                  <a:rPr lang="en-US" altLang="zh-CN" dirty="0"/>
                  <a:t>So the </a:t>
                </a:r>
                <a:r>
                  <a:rPr lang="en-US" altLang="zh-CN" b="1" dirty="0"/>
                  <a:t>offset</a:t>
                </a:r>
                <a:r>
                  <a:rPr lang="en-US" altLang="zh-CN" dirty="0"/>
                  <a:t> needs </a:t>
                </a:r>
                <a:r>
                  <a:rPr lang="en-US" altLang="zh-CN" b="1" dirty="0"/>
                  <a:t>10 bits</a:t>
                </a:r>
                <a:r>
                  <a:rPr lang="en-US" altLang="zh-CN" dirty="0"/>
                  <a:t>.</a:t>
                </a:r>
              </a:p>
              <a:p>
                <a:pPr>
                  <a:buNone/>
                </a:pPr>
                <a:r>
                  <a:rPr lang="en-US" altLang="zh-CN" b="1" dirty="0"/>
                  <a:t>(a) Logical address</a:t>
                </a:r>
                <a:endParaRPr lang="en-US" altLang="zh-CN" dirty="0"/>
              </a:p>
              <a:p>
                <a:pPr>
                  <a:buNone/>
                </a:pPr>
                <a:r>
                  <a:rPr lang="en-US" altLang="zh-CN" dirty="0"/>
                  <a:t>8 pages: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altLang="zh-CN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altLang="zh-CN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ar-AE" altLang="zh-CN" i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ar-AE" altLang="zh-CN" dirty="0"/>
              </a:p>
              <a:p>
                <a:pPr>
                  <a:buNone/>
                </a:pPr>
                <a:r>
                  <a:rPr lang="en-US" altLang="zh-CN" dirty="0"/>
                  <a:t>Page number = 3 bits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CN" i="0">
                          <a:latin typeface="Cambria Math" panose="02040503050406030204" pitchFamily="18" charset="0"/>
                        </a:rPr>
                        <m:t>+10=13</m:t>
                      </m:r>
                    </m:oMath>
                  </m:oMathPara>
                </a14:m>
                <a:endParaRPr lang="en-US" altLang="zh-CN" dirty="0"/>
              </a:p>
              <a:p>
                <a:pPr>
                  <a:buNone/>
                </a:pPr>
                <a:r>
                  <a:rPr lang="en-US" altLang="zh-CN" b="1" dirty="0"/>
                  <a:t>Answer: 13 bits</a:t>
                </a:r>
                <a:endParaRPr lang="en-US" altLang="zh-CN" dirty="0"/>
              </a:p>
              <a:p>
                <a:pPr>
                  <a:buNone/>
                </a:pPr>
                <a:r>
                  <a:rPr lang="en-US" altLang="zh-CN" b="1" dirty="0"/>
                  <a:t>(b) Physical address</a:t>
                </a:r>
                <a:endParaRPr lang="en-US" altLang="zh-CN" dirty="0"/>
              </a:p>
              <a:p>
                <a:pPr>
                  <a:buNone/>
                </a:pPr>
                <a:r>
                  <a:rPr lang="en-US" altLang="zh-CN" dirty="0"/>
                  <a:t>32 frames: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>
                          <a:latin typeface="Cambria Math" panose="02040503050406030204" pitchFamily="18" charset="0"/>
                        </a:rPr>
                        <m:t>32</m:t>
                      </m:r>
                      <m:r>
                        <a:rPr lang="en-US" altLang="zh-CN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altLang="zh-CN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ar-AE" altLang="zh-CN" i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ar-AE" altLang="zh-CN" dirty="0"/>
              </a:p>
              <a:p>
                <a:pPr>
                  <a:buNone/>
                </a:pPr>
                <a:r>
                  <a:rPr lang="en-US" altLang="zh-CN" dirty="0"/>
                  <a:t>Frame number = 5 bits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CN" i="0">
                          <a:latin typeface="Cambria Math" panose="02040503050406030204" pitchFamily="18" charset="0"/>
                        </a:rPr>
                        <m:t>+10=15</m:t>
                      </m:r>
                    </m:oMath>
                  </m:oMathPara>
                </a14:m>
                <a:endParaRPr lang="en-US" altLang="zh-CN" dirty="0"/>
              </a:p>
              <a:p>
                <a:pPr>
                  <a:buNone/>
                </a:pPr>
                <a:r>
                  <a:rPr lang="en-US" altLang="zh-CN" b="1" dirty="0"/>
                  <a:t>Answer: 15 bits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1955EDB-9870-05CE-6AA3-F168BF79A2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7104" y="2556075"/>
                <a:ext cx="7663878" cy="4250394"/>
              </a:xfrm>
              <a:prstGeom prst="rect">
                <a:avLst/>
              </a:prstGeom>
              <a:blipFill>
                <a:blip r:embed="rId3"/>
                <a:stretch>
                  <a:fillRect l="-716" t="-716" b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7752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7.4 Segmentation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 program can be divided into different length of segments</a:t>
            </a:r>
          </a:p>
          <a:p>
            <a:pPr lvl="1"/>
            <a:r>
              <a:rPr lang="en-US" altLang="zh-CN" dirty="0"/>
              <a:t>may vary in length</a:t>
            </a:r>
          </a:p>
          <a:p>
            <a:pPr lvl="1"/>
            <a:r>
              <a:rPr lang="en-US" altLang="zh-CN" dirty="0"/>
              <a:t>there is a maximum length</a:t>
            </a:r>
          </a:p>
          <a:p>
            <a:pPr lvl="1"/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Addressing consists of two parts: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segment number 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an offset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Similar to dynamic partitioning, but the difference is</a:t>
            </a:r>
            <a:r>
              <a:rPr lang="zh-CN" altLang="en-US" dirty="0"/>
              <a:t>：</a:t>
            </a:r>
            <a:r>
              <a:rPr lang="en-US" altLang="zh-CN" dirty="0"/>
              <a:t> </a:t>
            </a:r>
          </a:p>
          <a:p>
            <a:pPr lvl="1"/>
            <a:r>
              <a:rPr lang="en-US" altLang="zh-CN" dirty="0"/>
              <a:t>with segmentation, a program may occupy </a:t>
            </a:r>
            <a:r>
              <a:rPr lang="en-US" altLang="zh-CN" dirty="0">
                <a:solidFill>
                  <a:srgbClr val="FF0000"/>
                </a:solidFill>
              </a:rPr>
              <a:t>more than one partition</a:t>
            </a:r>
            <a:r>
              <a:rPr lang="en-US" altLang="zh-CN" dirty="0"/>
              <a:t>, and these partitions need </a:t>
            </a:r>
            <a:r>
              <a:rPr lang="en-US" altLang="zh-CN" dirty="0">
                <a:solidFill>
                  <a:srgbClr val="FF0000"/>
                </a:solidFill>
              </a:rPr>
              <a:t>not be contiguous</a:t>
            </a:r>
            <a:r>
              <a:rPr lang="en-US" altLang="zh-CN" dirty="0"/>
              <a:t>.</a:t>
            </a:r>
          </a:p>
          <a:p>
            <a:pPr lvl="1"/>
            <a:r>
              <a:rPr lang="en-US" altLang="zh-CN" dirty="0"/>
              <a:t>Eliminates internal fragmentation, suffer from </a:t>
            </a:r>
            <a:r>
              <a:rPr lang="en-US" altLang="zh-CN" dirty="0">
                <a:solidFill>
                  <a:srgbClr val="FF0000"/>
                </a:solidFill>
              </a:rPr>
              <a:t>less external fragmentation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F42C97-42A9-42FA-B2AF-C5D8A9A29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F2C74-2625-46BE-A77D-AD5BB8F3CEDE}" type="datetime1">
              <a:rPr lang="zh-CN" altLang="en-US" smtClean="0"/>
              <a:t>2026/6/19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3DA26BA-F0FE-4C8C-B267-BF4D5196E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14</a:t>
            </a:fld>
            <a:r>
              <a:rPr lang="en-US"/>
              <a:t>/</a:t>
            </a:r>
            <a:r>
              <a:rPr lang="en-US" altLang="zh-CN"/>
              <a:t>31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altLang="zh-CN" dirty="0"/>
            </a:br>
            <a:r>
              <a:rPr lang="en-US" altLang="zh-CN" dirty="0"/>
              <a:t>Logical-to-Physical Address Translation -Segmentation</a:t>
            </a:r>
            <a:br>
              <a:rPr lang="en-US" altLang="zh-CN" dirty="0"/>
            </a:br>
            <a:endParaRPr lang="zh-CN" altLang="en-US" dirty="0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396F2583-B4AB-400D-BAAF-A53A93F093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5217" y="2184399"/>
            <a:ext cx="1788177" cy="4002767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A0820A9-B670-4193-8703-BF1AF4C61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006" y="2368321"/>
            <a:ext cx="6427203" cy="36349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6716E65E-8E6A-4376-AEAB-50467EB3CFD9}"/>
                  </a:ext>
                </a:extLst>
              </p:cNvPr>
              <p:cNvSpPr txBox="1"/>
              <p:nvPr/>
            </p:nvSpPr>
            <p:spPr>
              <a:xfrm>
                <a:off x="899886" y="811554"/>
                <a:ext cx="10515600" cy="120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q"/>
                </a:pPr>
                <a:r>
                  <a:rPr lang="en-US" sz="2400" b="1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An address of </a:t>
                </a:r>
                <a:r>
                  <a:rPr lang="en-US" sz="2400" b="1" dirty="0">
                    <a:solidFill>
                      <a:srgbClr val="FF0000"/>
                    </a:solidFill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n + m </a:t>
                </a:r>
                <a:r>
                  <a:rPr lang="en-US" sz="2400" b="1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bits, where the leftmost </a:t>
                </a:r>
                <a:r>
                  <a:rPr lang="en-US" sz="2400" b="1" dirty="0">
                    <a:solidFill>
                      <a:srgbClr val="FF0000"/>
                    </a:solidFill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n</a:t>
                </a:r>
                <a:r>
                  <a:rPr lang="en-US" sz="2400" b="1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 bits are the segment number and the rightmost </a:t>
                </a:r>
                <a:r>
                  <a:rPr lang="en-US" sz="2400" b="1" dirty="0">
                    <a:solidFill>
                      <a:srgbClr val="FF0000"/>
                    </a:solidFill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m</a:t>
                </a:r>
                <a:r>
                  <a:rPr lang="en-US" sz="2400" b="1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 bits are the offset. </a:t>
                </a:r>
              </a:p>
              <a:p>
                <a:pPr marL="342900" indent="-342900">
                  <a:buFont typeface="Wingdings" panose="05000000000000000000" pitchFamily="2" charset="2"/>
                  <a:buChar char="q"/>
                </a:pPr>
                <a:r>
                  <a:rPr lang="en-US" sz="2400" b="1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n = 4 and m = 12, the maximum segment size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dirty="0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pPr>
                      <m:e>
                        <m:r>
                          <a:rPr lang="en-US" sz="2400" b="1" i="1" dirty="0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𝟐</m:t>
                        </m:r>
                      </m:e>
                      <m:sup>
                        <m:r>
                          <a:rPr lang="en-US" sz="2400" b="1" i="1" dirty="0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𝟏𝟐</m:t>
                        </m:r>
                      </m:sup>
                    </m:sSup>
                  </m:oMath>
                </a14:m>
                <a:r>
                  <a:rPr lang="en-US" sz="2400" b="1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 = 4096.</a:t>
                </a: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6716E65E-8E6A-4376-AEAB-50467EB3C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886" y="811554"/>
                <a:ext cx="10515600" cy="1208664"/>
              </a:xfrm>
              <a:prstGeom prst="rect">
                <a:avLst/>
              </a:prstGeom>
              <a:blipFill>
                <a:blip r:embed="rId4"/>
                <a:stretch>
                  <a:fillRect l="-812" t="-4040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72A77238-DD81-484E-966F-16FE36E74BC9}"/>
              </a:ext>
            </a:extLst>
          </p:cNvPr>
          <p:cNvSpPr txBox="1"/>
          <p:nvPr/>
        </p:nvSpPr>
        <p:spPr>
          <a:xfrm>
            <a:off x="5660572" y="586178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231F20"/>
                </a:solidFill>
                <a:effectLst/>
                <a:latin typeface="TimesTenLTStd-Bold"/>
              </a:rPr>
              <a:t>Examples of Logical-to-Physical Address Translation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4366F70-F2E3-4523-A97C-F7DC1789C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59568-2114-49FC-A4D9-7AF2A04E319A}" type="datetime1">
              <a:rPr lang="zh-CN" altLang="en-US" smtClean="0"/>
              <a:t>2026/6/19</a:t>
            </a:fld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9AB62F-C480-408B-9FB2-9DA11E946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15</a:t>
            </a:fld>
            <a:r>
              <a:rPr lang="en-US"/>
              <a:t>/</a:t>
            </a:r>
            <a:r>
              <a:rPr lang="en-US" altLang="zh-CN"/>
              <a:t>31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671CD-E588-4BBA-1BD8-42F7A5DE9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40B5208-BA42-63C0-0722-7C0625201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5451" y="375586"/>
            <a:ext cx="6452786" cy="2440447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A664F889-A87C-C796-9CEC-E821A4FC5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561"/>
            <a:ext cx="10515600" cy="1275909"/>
          </a:xfrm>
        </p:spPr>
        <p:txBody>
          <a:bodyPr>
            <a:normAutofit/>
          </a:bodyPr>
          <a:lstStyle/>
          <a:p>
            <a:r>
              <a:rPr lang="en-US" altLang="zh-CN" dirty="0"/>
              <a:t>Quiz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137929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EDF2F-E730-F65E-6975-BB04B8490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174C0891-22D7-477C-B46B-71ECBEF2F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561"/>
            <a:ext cx="10515600" cy="1275909"/>
          </a:xfrm>
        </p:spPr>
        <p:txBody>
          <a:bodyPr>
            <a:normAutofit/>
          </a:bodyPr>
          <a:lstStyle/>
          <a:p>
            <a:r>
              <a:rPr lang="en-US" altLang="zh-CN" dirty="0"/>
              <a:t>Quiz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B5F9D7C-6576-32D5-11AA-46EEEAD01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5451" y="375586"/>
            <a:ext cx="6946090" cy="2627015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CA67D9FF-8195-5E73-80BB-9725CC0B0200}"/>
              </a:ext>
            </a:extLst>
          </p:cNvPr>
          <p:cNvGrpSpPr/>
          <p:nvPr/>
        </p:nvGrpSpPr>
        <p:grpSpPr>
          <a:xfrm>
            <a:off x="4632182" y="3009850"/>
            <a:ext cx="1549831" cy="845550"/>
            <a:chOff x="4632182" y="3009850"/>
            <a:chExt cx="1549831" cy="845550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8D8CA350-2D5D-F732-5606-1E503FE2B2A8}"/>
                </a:ext>
              </a:extLst>
            </p:cNvPr>
            <p:cNvSpPr/>
            <p:nvPr/>
          </p:nvSpPr>
          <p:spPr>
            <a:xfrm>
              <a:off x="4632182" y="3258234"/>
              <a:ext cx="1549831" cy="597166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6AAC2A33-649A-96EC-CDDD-766CA050D899}"/>
                </a:ext>
              </a:extLst>
            </p:cNvPr>
            <p:cNvSpPr txBox="1"/>
            <p:nvPr/>
          </p:nvSpPr>
          <p:spPr>
            <a:xfrm>
              <a:off x="4821007" y="3258234"/>
              <a:ext cx="1256601" cy="4263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altLang="zh-CN" sz="2000" b="1" kern="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f. (1, 14)</a:t>
              </a:r>
              <a:endParaRPr lang="en-US" altLang="zh-CN" sz="2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" name="箭头: 下 6">
              <a:extLst>
                <a:ext uri="{FF2B5EF4-FFF2-40B4-BE49-F238E27FC236}">
                  <a16:creationId xmlns:a16="http://schemas.microsoft.com/office/drawing/2014/main" id="{666E0D62-454A-A55A-1B39-C070F2D5C400}"/>
                </a:ext>
              </a:extLst>
            </p:cNvPr>
            <p:cNvSpPr/>
            <p:nvPr/>
          </p:nvSpPr>
          <p:spPr>
            <a:xfrm>
              <a:off x="5216487" y="3009850"/>
              <a:ext cx="258896" cy="209320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B6D8A9E7-5F2B-00B5-B67D-D7111BE952C2}"/>
              </a:ext>
            </a:extLst>
          </p:cNvPr>
          <p:cNvSpPr txBox="1"/>
          <p:nvPr/>
        </p:nvSpPr>
        <p:spPr>
          <a:xfrm>
            <a:off x="2689494" y="4735998"/>
            <a:ext cx="60950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the offset is outside the segment bounds.</a:t>
            </a:r>
          </a:p>
          <a:p>
            <a:r>
              <a:rPr lang="en-US" altLang="zh-CN" b="1" dirty="0"/>
              <a:t>Illegal Reference (Out of Bounds)</a:t>
            </a:r>
            <a:endParaRPr lang="en-US" altLang="zh-CN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857EAA9-1C25-D36B-4156-3EFC8B19FF5E}"/>
              </a:ext>
            </a:extLst>
          </p:cNvPr>
          <p:cNvSpPr txBox="1"/>
          <p:nvPr/>
        </p:nvSpPr>
        <p:spPr>
          <a:xfrm>
            <a:off x="4881850" y="4111033"/>
            <a:ext cx="60950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Offset&lt;Length ? </a:t>
            </a:r>
          </a:p>
        </p:txBody>
      </p:sp>
    </p:spTree>
    <p:extLst>
      <p:ext uri="{BB962C8B-B14F-4D97-AF65-F5344CB8AC3E}">
        <p14:creationId xmlns:p14="http://schemas.microsoft.com/office/powerpoint/2010/main" val="1413976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Two-Level Hierarchical Page Table</a:t>
            </a:r>
            <a:r>
              <a:rPr lang="zh-CN" altLang="en-US" dirty="0"/>
              <a:t>（二级页表）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7FD14BC-2FD3-4F1F-966B-8CE5D6B36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6472" y="1980847"/>
            <a:ext cx="8175770" cy="390850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Inverted Page Table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841103"/>
            <a:ext cx="4731327" cy="5175794"/>
          </a:xfrm>
        </p:spPr>
        <p:txBody>
          <a:bodyPr/>
          <a:lstStyle/>
          <a:p>
            <a:r>
              <a:rPr lang="en-US" altLang="zh-CN" dirty="0"/>
              <a:t>Each entry in the page table includes:</a:t>
            </a:r>
          </a:p>
          <a:p>
            <a:pPr lvl="1"/>
            <a:r>
              <a:rPr lang="en-US" altLang="zh-CN" dirty="0"/>
              <a:t>Page number</a:t>
            </a:r>
          </a:p>
          <a:p>
            <a:pPr lvl="1"/>
            <a:r>
              <a:rPr lang="en-US" altLang="zh-CN" dirty="0"/>
              <a:t>Process identifier</a:t>
            </a:r>
          </a:p>
          <a:p>
            <a:pPr lvl="1"/>
            <a:r>
              <a:rPr lang="en-US" altLang="zh-CN" dirty="0"/>
              <a:t>Control bits</a:t>
            </a:r>
          </a:p>
          <a:p>
            <a:pPr lvl="2"/>
            <a:r>
              <a:rPr lang="en-US" altLang="zh-CN" dirty="0"/>
              <a:t>Flags: whether allocated</a:t>
            </a:r>
          </a:p>
          <a:p>
            <a:pPr lvl="2"/>
            <a:r>
              <a:rPr lang="en-US" altLang="zh-CN" dirty="0"/>
              <a:t>Protection: access control</a:t>
            </a:r>
          </a:p>
          <a:p>
            <a:pPr lvl="1"/>
            <a:r>
              <a:rPr lang="en-US" altLang="zh-CN" dirty="0"/>
              <a:t>Chain pointer</a:t>
            </a:r>
          </a:p>
          <a:p>
            <a:pPr lvl="2"/>
            <a:r>
              <a:rPr lang="en-US" altLang="zh-CN" dirty="0"/>
              <a:t>the index value of the next entry in the chain</a:t>
            </a:r>
          </a:p>
          <a:p>
            <a:pPr lvl="2"/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B8C781F-FBC5-4BED-B438-58FCA43E8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0880" y="991236"/>
            <a:ext cx="6032356" cy="436051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Use of a TLB</a:t>
            </a:r>
            <a:endParaRPr lang="zh-CN" altLang="en-US" dirty="0"/>
          </a:p>
        </p:txBody>
      </p:sp>
      <p:pic>
        <p:nvPicPr>
          <p:cNvPr id="4" name="Content Placeholder 3" descr="Fig08_07.gif">
            <a:extLst>
              <a:ext uri="{FF2B5EF4-FFF2-40B4-BE49-F238E27FC236}">
                <a16:creationId xmlns:a16="http://schemas.microsoft.com/office/drawing/2014/main" id="{4476C783-2454-451E-8448-1BA3907735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7688" y="824011"/>
            <a:ext cx="7382618" cy="5416303"/>
          </a:xfrm>
        </p:spPr>
      </p:pic>
    </p:spTree>
    <p:extLst>
      <p:ext uri="{BB962C8B-B14F-4D97-AF65-F5344CB8AC3E}">
        <p14:creationId xmlns:p14="http://schemas.microsoft.com/office/powerpoint/2010/main" val="19773898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F0D9CE-B1B8-4497-A717-DEED2FFCD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7A2802C-C418-4E1E-A0F5-9EADDBEB7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Operating System Policies for Virtual Memory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BB43E3F-BB7B-4A3B-B072-16EDC0055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604" y="1283768"/>
            <a:ext cx="7698921" cy="406560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9694674-09B0-4362-9E0A-B7001C93B64D}"/>
              </a:ext>
            </a:extLst>
          </p:cNvPr>
          <p:cNvSpPr txBox="1"/>
          <p:nvPr/>
        </p:nvSpPr>
        <p:spPr>
          <a:xfrm>
            <a:off x="1088571" y="1676400"/>
            <a:ext cx="94814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When</a:t>
            </a:r>
          </a:p>
          <a:p>
            <a:endParaRPr lang="en-US" b="1" dirty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endParaRPr lang="en-US" b="1" dirty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en-US" b="1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Where</a:t>
            </a:r>
          </a:p>
          <a:p>
            <a:endParaRPr lang="en-US" b="1" dirty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en-US" b="1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which</a:t>
            </a:r>
          </a:p>
        </p:txBody>
      </p:sp>
      <p:sp>
        <p:nvSpPr>
          <p:cNvPr id="10" name="左大括号 9">
            <a:extLst>
              <a:ext uri="{FF2B5EF4-FFF2-40B4-BE49-F238E27FC236}">
                <a16:creationId xmlns:a16="http://schemas.microsoft.com/office/drawing/2014/main" id="{8E8A07C1-0046-4144-A60F-2790BDF45A4E}"/>
              </a:ext>
            </a:extLst>
          </p:cNvPr>
          <p:cNvSpPr/>
          <p:nvPr/>
        </p:nvSpPr>
        <p:spPr>
          <a:xfrm>
            <a:off x="2036716" y="1676400"/>
            <a:ext cx="348888" cy="1516743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A8C273-634A-4675-9C7C-DF1E88A1B7D1}"/>
              </a:ext>
            </a:extLst>
          </p:cNvPr>
          <p:cNvSpPr/>
          <p:nvPr/>
        </p:nvSpPr>
        <p:spPr>
          <a:xfrm>
            <a:off x="2577830" y="3025302"/>
            <a:ext cx="3443591" cy="1984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30BDF6D-32B6-41B7-8B21-ABF409092E3C}"/>
              </a:ext>
            </a:extLst>
          </p:cNvPr>
          <p:cNvSpPr/>
          <p:nvPr/>
        </p:nvSpPr>
        <p:spPr>
          <a:xfrm>
            <a:off x="6331177" y="1442549"/>
            <a:ext cx="3443591" cy="1984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0818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Combined Examples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15D0ACF-74A4-4907-A529-EC161C2D3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5041" y="928915"/>
            <a:ext cx="6758102" cy="495594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C7F1211-517C-41B4-B27A-A86949558FAD}"/>
              </a:ext>
            </a:extLst>
          </p:cNvPr>
          <p:cNvSpPr txBox="1"/>
          <p:nvPr/>
        </p:nvSpPr>
        <p:spPr>
          <a:xfrm>
            <a:off x="3447143" y="58848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231F20"/>
                </a:solidFill>
                <a:effectLst/>
                <a:latin typeface="TimesTenLTStd-Bold"/>
              </a:rPr>
              <a:t>Behavior of Four Page Replacement Algorithms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883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Resident Set Management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3"/>
            <a:ext cx="10515600" cy="2098040"/>
          </a:xfrm>
        </p:spPr>
        <p:txBody>
          <a:bodyPr>
            <a:normAutofit fontScale="92500"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Definition</a:t>
            </a:r>
            <a:r>
              <a:rPr lang="en-US" altLang="zh-CN" dirty="0"/>
              <a:t>: </a:t>
            </a:r>
            <a:r>
              <a:rPr lang="en-US" dirty="0"/>
              <a:t>the portion of a process that is actually in main memory at any time is defined to be the resident set of the process</a:t>
            </a:r>
            <a:endParaRPr lang="en-US" altLang="zh-CN" dirty="0"/>
          </a:p>
          <a:p>
            <a:r>
              <a:rPr lang="en-US" altLang="zh-CN" dirty="0">
                <a:solidFill>
                  <a:srgbClr val="0070C0"/>
                </a:solidFill>
              </a:rPr>
              <a:t>How many page frames </a:t>
            </a:r>
            <a:r>
              <a:rPr lang="en-US" altLang="zh-CN" dirty="0"/>
              <a:t>are to be allocated to each active process</a:t>
            </a:r>
          </a:p>
          <a:p>
            <a:r>
              <a:rPr lang="en-US" altLang="zh-CN" dirty="0">
                <a:solidFill>
                  <a:srgbClr val="0070C0"/>
                </a:solidFill>
              </a:rPr>
              <a:t>The set of pages for replacement </a:t>
            </a:r>
            <a:r>
              <a:rPr lang="en-US" altLang="zh-CN" dirty="0"/>
              <a:t>should be limited to the process or all the page frames in main memory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33DEA37-604B-4EA5-9DF1-BC8AE96B2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8670" y="2823736"/>
            <a:ext cx="3987573" cy="334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5696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Resident Set Management Summary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117158F-A120-4B29-B04C-A0F12345F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291" y="1491002"/>
            <a:ext cx="10181389" cy="387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3252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Working Set Strategy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EB9F6F8-80BA-453F-8B4E-F2DBBF328F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841104"/>
                <a:ext cx="3907971" cy="2792744"/>
              </a:xfrm>
            </p:spPr>
            <p:txBody>
              <a:bodyPr>
                <a:normAutofit/>
              </a:bodyPr>
              <a:lstStyle/>
              <a:p>
                <a:r>
                  <a:rPr lang="de-DE" altLang="zh-CN" sz="2000" dirty="0">
                    <a:solidFill>
                      <a:srgbClr val="FF0000"/>
                    </a:solidFill>
                  </a:rPr>
                  <a:t>W(t, ∆): </a:t>
                </a:r>
                <a:r>
                  <a:rPr lang="de-DE" altLang="zh-CN" sz="2000" dirty="0"/>
                  <a:t>is the </a:t>
                </a:r>
                <a:r>
                  <a:rPr lang="en-US" altLang="zh-CN" sz="2000" dirty="0"/>
                  <a:t>Working Set</a:t>
                </a:r>
                <a:r>
                  <a:rPr lang="de-DE" altLang="zh-CN" sz="2000" dirty="0"/>
                  <a:t> in the last 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latin typeface="Cambria Math" panose="02040503050406030204" pitchFamily="18" charset="0"/>
                      </a:rPr>
                      <m:t>𝚫</m:t>
                    </m:r>
                  </m:oMath>
                </a14:m>
                <a:r>
                  <a:rPr lang="de-DE" altLang="zh-CN" sz="2000" dirty="0"/>
                  <a:t> virtual time units.</a:t>
                </a:r>
              </a:p>
              <a:p>
                <a:r>
                  <a:rPr lang="de-DE" altLang="zh-CN" sz="2000" dirty="0">
                    <a:solidFill>
                      <a:srgbClr val="FF0000"/>
                    </a:solidFill>
                  </a:rPr>
                  <a:t>∆</a:t>
                </a:r>
                <a:r>
                  <a:rPr lang="de-DE" altLang="zh-CN" sz="2000" dirty="0"/>
                  <a:t>: is window of virtual times</a:t>
                </a:r>
              </a:p>
              <a:p>
                <a:r>
                  <a:rPr lang="de-DE" altLang="zh-CN" sz="2000" dirty="0"/>
                  <a:t>W(t, ∆) ⊆W(t, ∆+1)</a:t>
                </a:r>
                <a:endParaRPr lang="de-DE" altLang="zh-CN" dirty="0"/>
              </a:p>
              <a:p>
                <a:endParaRPr lang="de-DE" altLang="zh-CN" dirty="0"/>
              </a:p>
              <a:p>
                <a:endParaRPr lang="de-DE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EB9F6F8-80BA-453F-8B4E-F2DBBF328F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841104"/>
                <a:ext cx="3907971" cy="2792744"/>
              </a:xfrm>
              <a:blipFill>
                <a:blip r:embed="rId3"/>
                <a:stretch>
                  <a:fillRect l="-1404" t="-1310" r="-15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249A2692-3FE6-4ED2-B4BD-5EADE03CA3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1896" y="871769"/>
            <a:ext cx="6679747" cy="487750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5697913-ED9E-4258-B3E9-2756A67472F2}"/>
              </a:ext>
            </a:extLst>
          </p:cNvPr>
          <p:cNvSpPr txBox="1"/>
          <p:nvPr/>
        </p:nvSpPr>
        <p:spPr>
          <a:xfrm>
            <a:off x="5672909" y="5867751"/>
            <a:ext cx="53557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231F20"/>
                </a:solidFill>
                <a:effectLst/>
                <a:latin typeface="TimesTenLTStd-Bold"/>
              </a:rPr>
              <a:t>Working Set of Process as Defined by Window Size</a:t>
            </a:r>
            <a:endParaRPr 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58BEA3F-8352-4843-AEE3-899E7F4EF4FE}"/>
              </a:ext>
            </a:extLst>
          </p:cNvPr>
          <p:cNvSpPr/>
          <p:nvPr/>
        </p:nvSpPr>
        <p:spPr>
          <a:xfrm>
            <a:off x="6283098" y="2901499"/>
            <a:ext cx="5267325" cy="283028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204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624AAF-F70E-4D56-B907-A81EF41B8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638" y="136523"/>
            <a:ext cx="10515600" cy="616768"/>
          </a:xfrm>
        </p:spPr>
        <p:txBody>
          <a:bodyPr/>
          <a:lstStyle/>
          <a:p>
            <a:r>
              <a:rPr lang="en-US" dirty="0"/>
              <a:t>Guidance for Resident Size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CC7B4B-7601-439E-A035-BCF07DC7B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Principles of working set guided strategies </a:t>
            </a:r>
            <a:r>
              <a:rPr lang="en-US" dirty="0"/>
              <a:t>for resident set size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Monitor</a:t>
            </a:r>
            <a:r>
              <a:rPr lang="en-US" dirty="0"/>
              <a:t> the working set of each process.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Periodically remove </a:t>
            </a:r>
            <a:r>
              <a:rPr lang="en-US" dirty="0"/>
              <a:t>from the resident set of a process those pages that are not in its working set.</a:t>
            </a:r>
          </a:p>
          <a:p>
            <a:pPr lvl="1">
              <a:tabLst>
                <a:tab pos="6804025" algn="l"/>
              </a:tabLst>
            </a:pPr>
            <a:r>
              <a:rPr lang="en-US" dirty="0"/>
              <a:t>A process may execute </a:t>
            </a:r>
            <a:r>
              <a:rPr lang="en-US" b="1" dirty="0">
                <a:solidFill>
                  <a:srgbClr val="C00000"/>
                </a:solidFill>
              </a:rPr>
              <a:t>only if </a:t>
            </a:r>
            <a:r>
              <a:rPr lang="en-US" b="1" dirty="0"/>
              <a:t>its working set is in main memory</a:t>
            </a:r>
          </a:p>
          <a:p>
            <a:pPr lvl="1">
              <a:tabLst>
                <a:tab pos="6804025" algn="l"/>
              </a:tabLst>
            </a:pPr>
            <a:endParaRPr lang="en-US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C21200-EBDE-41EA-899D-90C427661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26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A3E038C-FE00-4E92-BF74-79C04C4C2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2026/6/19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60294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 Differences in I/O Devices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623017B-E5AE-3B4B-811C-BA2960F8C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41103"/>
            <a:ext cx="4903177" cy="5175794"/>
          </a:xfrm>
        </p:spPr>
        <p:txBody>
          <a:bodyPr/>
          <a:lstStyle/>
          <a:p>
            <a:r>
              <a:rPr lang="en" altLang="zh-CN" dirty="0"/>
              <a:t>Data rate</a:t>
            </a:r>
          </a:p>
          <a:p>
            <a:r>
              <a:rPr lang="en" altLang="zh-CN" dirty="0"/>
              <a:t>Application</a:t>
            </a:r>
          </a:p>
          <a:p>
            <a:r>
              <a:rPr lang="en" altLang="zh-CN" dirty="0"/>
              <a:t>Complexity of control</a:t>
            </a:r>
          </a:p>
          <a:p>
            <a:r>
              <a:rPr lang="en" altLang="zh-CN" dirty="0"/>
              <a:t>Unit of transfer</a:t>
            </a:r>
          </a:p>
          <a:p>
            <a:r>
              <a:rPr lang="en" altLang="zh-CN" dirty="0"/>
              <a:t>Data representation</a:t>
            </a:r>
          </a:p>
          <a:p>
            <a:r>
              <a:rPr lang="en" altLang="zh-CN" dirty="0"/>
              <a:t>Error conditions</a:t>
            </a:r>
          </a:p>
          <a:p>
            <a:endParaRPr lang="en" altLang="zh-CN" dirty="0"/>
          </a:p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38867F9-5E54-8A49-AB5D-2A0BEC875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2065" y="1101792"/>
            <a:ext cx="5737048" cy="422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5101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E5C18C-AEF1-40D3-902C-C2740599F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Organization of the I/O Function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EEB39F-5218-42AC-B0C0-BF80D1203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Programmed I/O</a:t>
            </a:r>
          </a:p>
          <a:p>
            <a:pPr lvl="1"/>
            <a:r>
              <a:rPr lang="en-US" altLang="zh-CN" dirty="0">
                <a:solidFill>
                  <a:srgbClr val="0070C0"/>
                </a:solidFill>
              </a:rPr>
              <a:t>processor</a:t>
            </a:r>
            <a:r>
              <a:rPr lang="en-US" altLang="zh-CN" dirty="0"/>
              <a:t> issues an I/O command</a:t>
            </a:r>
            <a:r>
              <a:rPr lang="zh-CN" altLang="en-US" dirty="0"/>
              <a:t>，</a:t>
            </a:r>
            <a:r>
              <a:rPr lang="en-US" altLang="zh-CN" dirty="0"/>
              <a:t>on behalf of a process</a:t>
            </a:r>
            <a:r>
              <a:rPr lang="zh-CN" altLang="en-US" dirty="0"/>
              <a:t>，</a:t>
            </a:r>
            <a:r>
              <a:rPr lang="en-US" altLang="zh-CN" dirty="0"/>
              <a:t>to an I/O module;</a:t>
            </a:r>
          </a:p>
          <a:p>
            <a:pPr lvl="1"/>
            <a:r>
              <a:rPr lang="en-US" altLang="zh-CN" dirty="0"/>
              <a:t>that process then </a:t>
            </a:r>
            <a:r>
              <a:rPr lang="en-US" altLang="zh-CN" dirty="0">
                <a:solidFill>
                  <a:srgbClr val="FF0000"/>
                </a:solidFill>
              </a:rPr>
              <a:t>busy waits </a:t>
            </a:r>
            <a:r>
              <a:rPr lang="en-US" altLang="zh-CN" dirty="0"/>
              <a:t>for the operation to be completed before proceeding</a:t>
            </a:r>
          </a:p>
          <a:p>
            <a:r>
              <a:rPr lang="en-US" altLang="zh-CN" dirty="0"/>
              <a:t>Interrupt-driven I/O</a:t>
            </a:r>
          </a:p>
          <a:p>
            <a:pPr lvl="1"/>
            <a:r>
              <a:rPr lang="en-US" altLang="zh-CN" dirty="0">
                <a:solidFill>
                  <a:srgbClr val="0070C0"/>
                </a:solidFill>
              </a:rPr>
              <a:t>processor</a:t>
            </a:r>
            <a:r>
              <a:rPr lang="en-US" altLang="zh-CN" dirty="0"/>
              <a:t> issues an I/O command on behalf of a process</a:t>
            </a:r>
          </a:p>
          <a:p>
            <a:pPr lvl="1"/>
            <a:r>
              <a:rPr lang="en-US" altLang="zh-CN" dirty="0">
                <a:solidFill>
                  <a:srgbClr val="0070C0"/>
                </a:solidFill>
              </a:rPr>
              <a:t>non-blocking VS blocking </a:t>
            </a:r>
          </a:p>
          <a:p>
            <a:r>
              <a:rPr lang="en-US" altLang="zh-CN" dirty="0"/>
              <a:t>Direct Memory Access (DMA)</a:t>
            </a:r>
          </a:p>
          <a:p>
            <a:pPr lvl="1"/>
            <a:r>
              <a:rPr lang="en-US" altLang="zh-CN" dirty="0"/>
              <a:t>a </a:t>
            </a:r>
            <a:r>
              <a:rPr lang="en-US" altLang="zh-CN" dirty="0">
                <a:solidFill>
                  <a:srgbClr val="0070C0"/>
                </a:solidFill>
              </a:rPr>
              <a:t>DMA module controls </a:t>
            </a:r>
            <a:r>
              <a:rPr lang="en-US" altLang="zh-CN" dirty="0"/>
              <a:t>the exchange of data between main memory and an I/O module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4635C18-F32E-4BC7-B44E-F95B00ECD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663" y="4586143"/>
            <a:ext cx="8143875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5463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Evolution of the I/O Function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ea"/>
              <a:buAutoNum type="circleNumDbPlain"/>
            </a:pPr>
            <a:r>
              <a:rPr lang="en-US" altLang="zh-CN" dirty="0"/>
              <a:t>Processor directly controls a peripheral device</a:t>
            </a:r>
          </a:p>
          <a:p>
            <a:pPr marL="457200" indent="-457200">
              <a:buFont typeface="+mj-ea"/>
              <a:buAutoNum type="circleNumDbPlain"/>
            </a:pPr>
            <a:r>
              <a:rPr lang="en-US" altLang="zh-CN" dirty="0"/>
              <a:t>A </a:t>
            </a:r>
            <a:r>
              <a:rPr lang="en-US" altLang="zh-CN" dirty="0">
                <a:solidFill>
                  <a:srgbClr val="0070C0"/>
                </a:solidFill>
              </a:rPr>
              <a:t>controller</a:t>
            </a:r>
            <a:r>
              <a:rPr lang="en-US" altLang="zh-CN" dirty="0"/>
              <a:t> or I/O module is added</a:t>
            </a:r>
          </a:p>
          <a:p>
            <a:pPr marL="457200" indent="-457200">
              <a:buFont typeface="+mj-ea"/>
              <a:buAutoNum type="circleNumDbPlain"/>
            </a:pPr>
            <a:r>
              <a:rPr lang="en-US" altLang="zh-CN" dirty="0"/>
              <a:t>Same configuration as step 2, but now </a:t>
            </a:r>
            <a:r>
              <a:rPr lang="en-US" altLang="zh-CN" dirty="0">
                <a:solidFill>
                  <a:srgbClr val="0070C0"/>
                </a:solidFill>
              </a:rPr>
              <a:t>interrupts</a:t>
            </a:r>
            <a:r>
              <a:rPr lang="en-US" altLang="zh-CN" dirty="0"/>
              <a:t> are employed</a:t>
            </a:r>
          </a:p>
          <a:p>
            <a:pPr marL="457200" indent="-457200">
              <a:buFont typeface="+mj-ea"/>
              <a:buAutoNum type="circleNumDbPlain"/>
            </a:pPr>
            <a:r>
              <a:rPr lang="en-US" altLang="zh-CN" dirty="0"/>
              <a:t>The </a:t>
            </a:r>
            <a:r>
              <a:rPr lang="en-US" altLang="zh-CN" dirty="0">
                <a:solidFill>
                  <a:srgbClr val="0070C0"/>
                </a:solidFill>
              </a:rPr>
              <a:t>I/O module</a:t>
            </a:r>
            <a:r>
              <a:rPr lang="en-US" altLang="zh-CN" dirty="0"/>
              <a:t> is given direct control of memory via </a:t>
            </a:r>
            <a:r>
              <a:rPr lang="en-US" altLang="zh-CN" dirty="0">
                <a:solidFill>
                  <a:srgbClr val="0070C0"/>
                </a:solidFill>
              </a:rPr>
              <a:t>DMA</a:t>
            </a:r>
            <a:r>
              <a:rPr lang="zh-CN" altLang="en-US" dirty="0">
                <a:solidFill>
                  <a:srgbClr val="0070C0"/>
                </a:solidFill>
              </a:rPr>
              <a:t>（直接存储访问器）</a:t>
            </a:r>
            <a:endParaRPr lang="en-US" altLang="zh-CN" dirty="0">
              <a:solidFill>
                <a:srgbClr val="0070C0"/>
              </a:solidFill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zh-CN" dirty="0"/>
              <a:t>The I/O module is enhanced to become a separate processor, with a specialized </a:t>
            </a:r>
            <a:r>
              <a:rPr lang="en-US" altLang="zh-CN" dirty="0">
                <a:solidFill>
                  <a:srgbClr val="0070C0"/>
                </a:solidFill>
              </a:rPr>
              <a:t>instruction set </a:t>
            </a:r>
            <a:r>
              <a:rPr lang="en-US" altLang="zh-CN" dirty="0"/>
              <a:t>tailored for I/O                   </a:t>
            </a:r>
            <a:r>
              <a:rPr lang="en-US" altLang="zh-CN" dirty="0" err="1">
                <a:solidFill>
                  <a:srgbClr val="C00000"/>
                </a:solidFill>
              </a:rPr>
              <a:t>I/O</a:t>
            </a:r>
            <a:r>
              <a:rPr lang="en-US" altLang="zh-CN" dirty="0">
                <a:solidFill>
                  <a:srgbClr val="C00000"/>
                </a:solidFill>
              </a:rPr>
              <a:t> channel </a:t>
            </a:r>
            <a:r>
              <a:rPr lang="zh-CN" altLang="en-US" dirty="0">
                <a:solidFill>
                  <a:srgbClr val="C00000"/>
                </a:solidFill>
              </a:rPr>
              <a:t>（</a:t>
            </a:r>
            <a:r>
              <a:rPr lang="en-US" altLang="zh-CN" dirty="0">
                <a:solidFill>
                  <a:srgbClr val="C00000"/>
                </a:solidFill>
              </a:rPr>
              <a:t>I/O</a:t>
            </a:r>
            <a:r>
              <a:rPr lang="zh-CN" altLang="en-US" dirty="0">
                <a:solidFill>
                  <a:srgbClr val="C00000"/>
                </a:solidFill>
              </a:rPr>
              <a:t>通道）</a:t>
            </a:r>
            <a:endParaRPr lang="en-US" altLang="zh-CN" dirty="0">
              <a:solidFill>
                <a:srgbClr val="C00000"/>
              </a:solidFill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zh-CN" dirty="0"/>
              <a:t>The I/O module has a local </a:t>
            </a:r>
            <a:r>
              <a:rPr lang="en-US" altLang="zh-CN" dirty="0">
                <a:solidFill>
                  <a:srgbClr val="0070C0"/>
                </a:solidFill>
              </a:rPr>
              <a:t>memory</a:t>
            </a:r>
            <a:r>
              <a:rPr lang="en-US" altLang="zh-CN" dirty="0"/>
              <a:t> of its own and is, in fact, a computer in its own right                                                       </a:t>
            </a:r>
            <a:r>
              <a:rPr lang="en-US" altLang="zh-CN" dirty="0">
                <a:solidFill>
                  <a:srgbClr val="C00000"/>
                </a:solidFill>
              </a:rPr>
              <a:t>I/O processor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87075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Buffering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No Buffer</a:t>
            </a:r>
          </a:p>
          <a:p>
            <a:pPr lvl="1"/>
            <a:r>
              <a:rPr lang="en-US" altLang="zh-CN" dirty="0"/>
              <a:t>Without a buffer, the OS directly accesses the device when it needs</a:t>
            </a:r>
          </a:p>
          <a:p>
            <a:pPr lvl="1"/>
            <a:r>
              <a:rPr lang="en-US" altLang="zh-CN" dirty="0"/>
              <a:t>Disadvantage: block/swap</a:t>
            </a:r>
          </a:p>
          <a:p>
            <a:pPr marL="457200" lvl="1" indent="0">
              <a:buNone/>
            </a:pP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D75BBBC-0C06-443D-A489-909660D80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699" y="2821849"/>
            <a:ext cx="7848600" cy="20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0274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Single Buffer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Operating system assigns </a:t>
            </a:r>
            <a:r>
              <a:rPr lang="en-US" altLang="zh-CN" dirty="0">
                <a:solidFill>
                  <a:schemeClr val="accent1"/>
                </a:solidFill>
              </a:rPr>
              <a:t>a buffer in main memory </a:t>
            </a:r>
            <a:r>
              <a:rPr lang="en-US" altLang="zh-CN" dirty="0"/>
              <a:t>for an I/O request.</a:t>
            </a:r>
          </a:p>
          <a:p>
            <a:r>
              <a:rPr lang="en-US" altLang="zh-CN" dirty="0"/>
              <a:t>Producer/customer</a:t>
            </a:r>
          </a:p>
          <a:p>
            <a:pPr marL="0" indent="0">
              <a:buNone/>
            </a:pPr>
            <a:endParaRPr lang="en-US" altLang="zh-CN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1E06E40-E627-4C60-8462-8DB50F63C4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07329" y="5003201"/>
          <a:ext cx="1905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952200" imgH="203040" progId="Equation.3">
                  <p:embed/>
                </p:oleObj>
              </mc:Choice>
              <mc:Fallback>
                <p:oleObj name="公式" r:id="rId2" imgW="952200" imgH="203040" progId="Equation.3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11E06E40-E627-4C60-8462-8DB50F63C4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7329" y="5003201"/>
                        <a:ext cx="19050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73333810-F631-41C9-90EA-47953982CE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6652" y="2371725"/>
            <a:ext cx="7658100" cy="211455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8F86A83-D383-648D-C0CF-EE2A2FD1C929}"/>
              </a:ext>
            </a:extLst>
          </p:cNvPr>
          <p:cNvSpPr txBox="1"/>
          <p:nvPr/>
        </p:nvSpPr>
        <p:spPr>
          <a:xfrm>
            <a:off x="3967018" y="3618407"/>
            <a:ext cx="9236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accent2"/>
                </a:solidFill>
              </a:rPr>
              <a:t>C</a:t>
            </a:r>
            <a:endParaRPr lang="zh-CN" altLang="en-US" sz="2400" dirty="0">
              <a:solidFill>
                <a:schemeClr val="accent2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0510B2F-77D9-9EF4-FD55-796F55CCBD15}"/>
              </a:ext>
            </a:extLst>
          </p:cNvPr>
          <p:cNvSpPr txBox="1"/>
          <p:nvPr/>
        </p:nvSpPr>
        <p:spPr>
          <a:xfrm>
            <a:off x="6839528" y="3655353"/>
            <a:ext cx="9236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accent2"/>
                </a:solidFill>
              </a:rPr>
              <a:t>M</a:t>
            </a:r>
            <a:endParaRPr lang="zh-CN" altLang="en-US" sz="2400" dirty="0">
              <a:solidFill>
                <a:schemeClr val="accent2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FB800FD-C21C-BA47-72B0-56260D14AE67}"/>
              </a:ext>
            </a:extLst>
          </p:cNvPr>
          <p:cNvSpPr txBox="1"/>
          <p:nvPr/>
        </p:nvSpPr>
        <p:spPr>
          <a:xfrm>
            <a:off x="8788401" y="3562989"/>
            <a:ext cx="9236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accent2"/>
                </a:solidFill>
              </a:rPr>
              <a:t>T</a:t>
            </a:r>
            <a:endParaRPr lang="zh-CN" altLang="en-US" sz="2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01546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Double Buffer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Use </a:t>
            </a:r>
            <a:r>
              <a:rPr lang="en-US" altLang="zh-CN" dirty="0">
                <a:solidFill>
                  <a:srgbClr val="C00000"/>
                </a:solidFill>
              </a:rPr>
              <a:t>two system buffers </a:t>
            </a:r>
            <a:r>
              <a:rPr lang="en-US" altLang="zh-CN" dirty="0"/>
              <a:t>instead of one</a:t>
            </a:r>
          </a:p>
          <a:p>
            <a:r>
              <a:rPr lang="en-US" altLang="zh-CN" dirty="0"/>
              <a:t>A process can transfer data to or from one buffer while the operating system empties or fills the other buffer</a:t>
            </a:r>
          </a:p>
          <a:p>
            <a:r>
              <a:rPr lang="en-US" altLang="zh-CN" dirty="0"/>
              <a:t>Also known as </a:t>
            </a:r>
            <a:r>
              <a:rPr lang="en-US" altLang="zh-CN" dirty="0">
                <a:solidFill>
                  <a:srgbClr val="C00000"/>
                </a:solidFill>
              </a:rPr>
              <a:t>buffer swapping </a:t>
            </a:r>
            <a:r>
              <a:rPr lang="zh-CN" altLang="en-US" dirty="0">
                <a:solidFill>
                  <a:srgbClr val="C00000"/>
                </a:solidFill>
              </a:rPr>
              <a:t>（缓冲交换）</a:t>
            </a:r>
            <a:endParaRPr lang="en-US" altLang="zh-CN" dirty="0">
              <a:solidFill>
                <a:srgbClr val="C00000"/>
              </a:solidFill>
            </a:endParaRPr>
          </a:p>
          <a:p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18E9390-6DEC-454A-A583-D03D1FCD5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5997" y="3429000"/>
            <a:ext cx="7781925" cy="219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5617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 Disk Scheduling ——Disk Performance Parameters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actual details of disk I/O operation depend on the:</a:t>
            </a:r>
          </a:p>
          <a:p>
            <a:pPr lvl="1"/>
            <a:r>
              <a:rPr lang="en-US" altLang="zh-CN" dirty="0"/>
              <a:t>computer system</a:t>
            </a:r>
          </a:p>
          <a:p>
            <a:pPr lvl="1"/>
            <a:r>
              <a:rPr lang="en-US" altLang="zh-CN" dirty="0"/>
              <a:t>operating system</a:t>
            </a:r>
          </a:p>
          <a:p>
            <a:pPr lvl="1"/>
            <a:r>
              <a:rPr lang="en-US" altLang="zh-CN" dirty="0"/>
              <a:t>nature of the I/O channel and disk controller hardware</a:t>
            </a:r>
          </a:p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5C099A1-7659-47C7-BDF1-2B8976CED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967" y="3141616"/>
            <a:ext cx="8096250" cy="158115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EE68E0B-EADE-49B5-B0CB-D75507A507BB}"/>
              </a:ext>
            </a:extLst>
          </p:cNvPr>
          <p:cNvSpPr txBox="1"/>
          <p:nvPr/>
        </p:nvSpPr>
        <p:spPr>
          <a:xfrm>
            <a:off x="3196047" y="51441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Timing of a Disk I/O Transfer</a:t>
            </a:r>
          </a:p>
        </p:txBody>
      </p:sp>
    </p:spTree>
    <p:extLst>
      <p:ext uri="{BB962C8B-B14F-4D97-AF65-F5344CB8AC3E}">
        <p14:creationId xmlns:p14="http://schemas.microsoft.com/office/powerpoint/2010/main" val="6610263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225D8B-FC1F-463E-92C7-07B0313F1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Disk Scheduling Policies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B005F2-197A-4094-8D1C-705E3BF71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To improve matters, we need to </a:t>
            </a:r>
            <a:r>
              <a:rPr lang="en-US" dirty="0">
                <a:solidFill>
                  <a:srgbClr val="C00000"/>
                </a:solidFill>
              </a:rPr>
              <a:t>reduce the average time spent on seeks </a:t>
            </a:r>
            <a:r>
              <a:rPr lang="en-US" dirty="0"/>
              <a:t>via disk scheduling policies.</a:t>
            </a:r>
          </a:p>
          <a:p>
            <a:r>
              <a:rPr lang="en-US" altLang="zh-CN" dirty="0">
                <a:solidFill>
                  <a:srgbClr val="0070C0"/>
                </a:solidFill>
              </a:rPr>
              <a:t>Case: 55, 58, 39, 18, 90, 160, 150, 38, 184</a:t>
            </a:r>
          </a:p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980435-2D6D-4E61-A7BC-D0E0F6AED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34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F4E3C8-BB1B-414D-AB55-A5D84FD03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2026/6/19</a:t>
            </a:fld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AC85CF3-6A43-4D54-B51E-864BDE79C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8671" y="2296939"/>
            <a:ext cx="5774687" cy="380909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6451E53-1C30-47EE-A016-77E9D9082C9E}"/>
              </a:ext>
            </a:extLst>
          </p:cNvPr>
          <p:cNvSpPr txBox="1"/>
          <p:nvPr/>
        </p:nvSpPr>
        <p:spPr>
          <a:xfrm>
            <a:off x="955768" y="2296939"/>
            <a:ext cx="406255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i="1" dirty="0">
                <a:solidFill>
                  <a:srgbClr val="007E7A"/>
                </a:solidFill>
                <a:effectLst/>
              </a:rPr>
              <a:t>First-In-First-Out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i="1" dirty="0">
                <a:effectLst/>
              </a:rPr>
              <a:t>Priority</a:t>
            </a:r>
            <a:endParaRPr lang="en-US" sz="2400" b="1" i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i="1" dirty="0">
                <a:effectLst/>
              </a:rPr>
              <a:t>Last-In-First-Out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i="1" dirty="0">
                <a:solidFill>
                  <a:srgbClr val="007E7A"/>
                </a:solidFill>
                <a:effectLst/>
              </a:rPr>
              <a:t>Shortest-Service-Time-First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i="1" dirty="0">
                <a:solidFill>
                  <a:srgbClr val="007E7A"/>
                </a:solidFill>
              </a:rPr>
              <a:t>SCAN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i="1" dirty="0">
                <a:solidFill>
                  <a:srgbClr val="007E7A"/>
                </a:solidFill>
                <a:effectLst/>
              </a:rPr>
              <a:t>C-SCAN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i="1" dirty="0"/>
              <a:t>N-STEP-SCAN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i="1" dirty="0"/>
              <a:t>FSCAN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34051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Disk Cache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Cache memory </a:t>
            </a:r>
            <a:r>
              <a:rPr lang="en-US" altLang="zh-CN" dirty="0"/>
              <a:t>is used to apply to a memory that is </a:t>
            </a:r>
            <a:r>
              <a:rPr lang="en-US" altLang="zh-CN" dirty="0">
                <a:solidFill>
                  <a:srgbClr val="0070C0"/>
                </a:solidFill>
              </a:rPr>
              <a:t>smaller and faster </a:t>
            </a:r>
            <a:r>
              <a:rPr lang="en-US" altLang="zh-CN" dirty="0"/>
              <a:t>than main memory and that is </a:t>
            </a:r>
            <a:r>
              <a:rPr lang="en-US" altLang="zh-CN" dirty="0">
                <a:solidFill>
                  <a:srgbClr val="0070C0"/>
                </a:solidFill>
              </a:rPr>
              <a:t>interposed between main memory and the processor</a:t>
            </a:r>
          </a:p>
          <a:p>
            <a:r>
              <a:rPr lang="en-US" altLang="zh-CN" dirty="0">
                <a:solidFill>
                  <a:srgbClr val="C00000"/>
                </a:solidFill>
              </a:rPr>
              <a:t>Disk cache </a:t>
            </a:r>
            <a:r>
              <a:rPr lang="en-US" altLang="zh-CN" dirty="0"/>
              <a:t>is a </a:t>
            </a:r>
            <a:r>
              <a:rPr lang="en-US" altLang="zh-CN" dirty="0">
                <a:solidFill>
                  <a:srgbClr val="0070C0"/>
                </a:solidFill>
              </a:rPr>
              <a:t>buffer</a:t>
            </a:r>
            <a:r>
              <a:rPr lang="en-US" altLang="zh-CN" dirty="0"/>
              <a:t> in main memory for disk sectors</a:t>
            </a:r>
          </a:p>
          <a:p>
            <a:pPr lvl="1"/>
            <a:r>
              <a:rPr lang="en-US" altLang="zh-CN" dirty="0"/>
              <a:t>Contains a </a:t>
            </a:r>
            <a:r>
              <a:rPr lang="en-US" altLang="zh-CN" dirty="0">
                <a:solidFill>
                  <a:srgbClr val="0070C0"/>
                </a:solidFill>
              </a:rPr>
              <a:t>copy of some of the sectors </a:t>
            </a:r>
            <a:r>
              <a:rPr lang="en-US" altLang="zh-CN" dirty="0"/>
              <a:t>on the disk</a:t>
            </a:r>
          </a:p>
          <a:p>
            <a:r>
              <a:rPr lang="en-US" altLang="zh-CN" dirty="0"/>
              <a:t> when an I/O request is made for a particular sector, a </a:t>
            </a:r>
            <a:r>
              <a:rPr lang="en-US" altLang="zh-CN" dirty="0">
                <a:solidFill>
                  <a:srgbClr val="0070C0"/>
                </a:solidFill>
              </a:rPr>
              <a:t>check</a:t>
            </a:r>
            <a:r>
              <a:rPr lang="en-US" altLang="zh-CN" dirty="0"/>
              <a:t> is made to determine if the sector is in the disk cache</a:t>
            </a:r>
          </a:p>
          <a:p>
            <a:pPr lvl="1"/>
            <a:r>
              <a:rPr lang="en-US" altLang="zh-CN" dirty="0"/>
              <a:t>if YES</a:t>
            </a:r>
          </a:p>
          <a:p>
            <a:pPr lvl="2"/>
            <a:r>
              <a:rPr lang="en-US" altLang="zh-CN" dirty="0"/>
              <a:t>the request is satisfied via the cache</a:t>
            </a:r>
          </a:p>
          <a:p>
            <a:pPr lvl="1"/>
            <a:r>
              <a:rPr lang="en-US" altLang="zh-CN" dirty="0"/>
              <a:t>if NO</a:t>
            </a:r>
          </a:p>
          <a:p>
            <a:pPr lvl="2"/>
            <a:r>
              <a:rPr lang="en-US" altLang="zh-CN" dirty="0"/>
              <a:t>the requested sector is read into the disk </a:t>
            </a:r>
            <a:r>
              <a:rPr lang="en-US" altLang="zh-CN" dirty="0">
                <a:solidFill>
                  <a:srgbClr val="C00000"/>
                </a:solidFill>
              </a:rPr>
              <a:t>cache</a:t>
            </a:r>
            <a:r>
              <a:rPr lang="en-US" altLang="zh-CN" dirty="0"/>
              <a:t> from the disk</a:t>
            </a:r>
          </a:p>
          <a:p>
            <a:pPr lvl="2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41992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930C3A-5EA8-4C7C-8504-869B134F4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Replacement strategy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8C2EA3-E41E-4A93-9987-E9105BA89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73736" indent="-173736" algn="just" rtl="0" eaLnBrk="1" latinLnBrk="0" hangingPunct="1">
              <a:spcBef>
                <a:spcPts val="750"/>
              </a:spcBef>
              <a:spcAft>
                <a:spcPts val="0"/>
              </a:spcAft>
              <a:buClrTx/>
              <a:buSzPts val="2400"/>
              <a:buFont typeface="Wingdings" panose="05000000000000000000" pitchFamily="2" charset="2"/>
              <a:buChar char="q"/>
            </a:pPr>
            <a:r>
              <a:rPr lang="en-US" sz="2800" b="1" kern="12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A second design issue has to do with the </a:t>
            </a:r>
            <a:r>
              <a:rPr lang="en-US" sz="2800" b="1" kern="1200" dirty="0">
                <a:solidFill>
                  <a:srgbClr val="C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replacement strategy</a:t>
            </a:r>
            <a:endParaRPr lang="en-US" sz="2800" dirty="0">
              <a:effectLst/>
            </a:endParaRPr>
          </a:p>
          <a:p>
            <a:pPr marL="512064" indent="-173736" algn="just" rtl="0" eaLnBrk="1" latinLnBrk="0" hangingPunct="1">
              <a:spcBef>
                <a:spcPts val="375"/>
              </a:spcBef>
              <a:spcAft>
                <a:spcPts val="0"/>
              </a:spcAft>
            </a:pPr>
            <a:r>
              <a:rPr lang="en-US" sz="2400" kern="12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least </a:t>
            </a:r>
            <a:r>
              <a:rPr lang="en-US" sz="2400" kern="1200" dirty="0">
                <a:solidFill>
                  <a:srgbClr val="0070C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recently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 used (LRU)</a:t>
            </a:r>
            <a:r>
              <a:rPr lang="zh-CN" sz="2400" kern="12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sz="2400" kern="1200" dirty="0">
                <a:solidFill>
                  <a:srgbClr val="0070C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most commonly used </a:t>
            </a:r>
            <a:r>
              <a:rPr lang="zh-CN" sz="2400" kern="12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）</a:t>
            </a:r>
            <a:endParaRPr lang="en-US" dirty="0">
              <a:effectLst/>
            </a:endParaRPr>
          </a:p>
          <a:p>
            <a:pPr marL="512064" indent="-173736" algn="just" rtl="0" eaLnBrk="1" latinLnBrk="0" hangingPunct="1">
              <a:spcBef>
                <a:spcPts val="375"/>
              </a:spcBef>
              <a:spcAft>
                <a:spcPts val="0"/>
              </a:spcAft>
            </a:pPr>
            <a:r>
              <a:rPr lang="en-US" sz="2400" kern="12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least </a:t>
            </a:r>
            <a:r>
              <a:rPr lang="en-US" sz="2400" kern="1200" dirty="0">
                <a:solidFill>
                  <a:srgbClr val="0070C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frequently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 used (LFU)</a:t>
            </a:r>
            <a:endParaRPr lang="en-US" dirty="0">
              <a:effectLst/>
            </a:endParaRPr>
          </a:p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07018A-1B68-4420-803B-7B78FB92A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36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115D7F-4566-43B8-8564-B44CCA177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2026/6/19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13459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Frequency-Based Replacement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04BCA4A-AA09-4BA7-86D1-1097C586C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8853" y="1321328"/>
            <a:ext cx="6510487" cy="4332228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C66E03FA-95F4-4DDF-8284-A3C934C9874F}"/>
              </a:ext>
            </a:extLst>
          </p:cNvPr>
          <p:cNvSpPr txBox="1"/>
          <p:nvPr/>
        </p:nvSpPr>
        <p:spPr>
          <a:xfrm>
            <a:off x="2834640" y="588738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231F20"/>
                </a:solidFill>
                <a:effectLst/>
              </a:rPr>
              <a:t>Frequency-Based Replacement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0204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267C35-F1E3-0042-AF6A-649FCDA83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RAID Levels</a:t>
            </a:r>
            <a:endParaRPr lang="zh-CN" alt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E269C0F-9B4B-4F5F-B71B-2CAC6DEF451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2076087" y="913740"/>
            <a:ext cx="8381819" cy="5301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1107790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309A7E-2EDB-4FF2-BCB3-A213BCC99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Discussion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E9DDE1-0E33-44FB-B08F-1ED6116C0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3483"/>
            <a:ext cx="10515600" cy="5175794"/>
          </a:xfrm>
        </p:spPr>
        <p:txBody>
          <a:bodyPr/>
          <a:lstStyle/>
          <a:p>
            <a:r>
              <a:rPr lang="en-US" dirty="0"/>
              <a:t>Consider a disk with an advertised </a:t>
            </a:r>
            <a:r>
              <a:rPr lang="en-US" dirty="0">
                <a:solidFill>
                  <a:srgbClr val="0070C0"/>
                </a:solidFill>
              </a:rPr>
              <a:t>average seek time </a:t>
            </a:r>
            <a:r>
              <a:rPr lang="en-US" dirty="0"/>
              <a:t>of 4 </a:t>
            </a:r>
            <a:r>
              <a:rPr lang="en-US" dirty="0" err="1"/>
              <a:t>ms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rotation speed </a:t>
            </a:r>
            <a:r>
              <a:rPr lang="en-US" dirty="0"/>
              <a:t>of 7,500 rpm, and 512-byte </a:t>
            </a:r>
            <a:r>
              <a:rPr lang="en-US" dirty="0">
                <a:solidFill>
                  <a:srgbClr val="0070C0"/>
                </a:solidFill>
              </a:rPr>
              <a:t>sectors</a:t>
            </a:r>
            <a:r>
              <a:rPr lang="en-US" dirty="0"/>
              <a:t> with 500 sectors per track. Suppose we wish to </a:t>
            </a:r>
            <a:r>
              <a:rPr lang="en-US" dirty="0">
                <a:solidFill>
                  <a:srgbClr val="0070C0"/>
                </a:solidFill>
              </a:rPr>
              <a:t>read a file </a:t>
            </a:r>
            <a:r>
              <a:rPr lang="en-US" dirty="0"/>
              <a:t>consisting of 2,500 sectors for a total of 1.28 Mbytes.</a:t>
            </a:r>
          </a:p>
          <a:p>
            <a:r>
              <a:rPr lang="en-US" dirty="0"/>
              <a:t>We would like to estimate the total time for the transfer.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0098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44FFB7-8B31-72E5-2AEB-8D7A8FC94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40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5F8579-F692-ADA0-F82A-10158E408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2026/6/19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622E5C3-964B-A4C2-231F-85A828B6386B}"/>
              </a:ext>
            </a:extLst>
          </p:cNvPr>
          <p:cNvSpPr txBox="1"/>
          <p:nvPr/>
        </p:nvSpPr>
        <p:spPr>
          <a:xfrm>
            <a:off x="685800" y="136523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 dirty="0"/>
              <a:t>Given:</a:t>
            </a: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Average seek time = </a:t>
            </a:r>
            <a:r>
              <a:rPr lang="en-US" altLang="zh-CN" b="1" dirty="0"/>
              <a:t>4 </a:t>
            </a:r>
            <a:r>
              <a:rPr lang="en-US" altLang="zh-CN" b="1" dirty="0" err="1"/>
              <a:t>ms</a:t>
            </a:r>
            <a:r>
              <a:rPr lang="en-US" altLang="zh-C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Rotation speed = </a:t>
            </a:r>
            <a:r>
              <a:rPr lang="en-US" altLang="zh-CN" b="1" dirty="0"/>
              <a:t>7500 rpm</a:t>
            </a:r>
            <a:r>
              <a:rPr lang="en-US" altLang="zh-C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Sector size = </a:t>
            </a:r>
            <a:r>
              <a:rPr lang="en-US" altLang="zh-CN" b="1" dirty="0"/>
              <a:t>512 bytes</a:t>
            </a:r>
            <a:r>
              <a:rPr lang="en-US" altLang="zh-C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Sectors per track = </a:t>
            </a:r>
            <a:r>
              <a:rPr lang="en-US" altLang="zh-CN" b="1" dirty="0"/>
              <a:t>500</a:t>
            </a:r>
            <a:r>
              <a:rPr lang="en-US" altLang="zh-C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File size = </a:t>
            </a:r>
            <a:r>
              <a:rPr lang="en-US" altLang="zh-CN" b="1" dirty="0"/>
              <a:t>2500 sectors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1DF91D3-3BE0-814C-4249-8A667C010078}"/>
                  </a:ext>
                </a:extLst>
              </p:cNvPr>
              <p:cNvSpPr txBox="1"/>
              <p:nvPr/>
            </p:nvSpPr>
            <p:spPr>
              <a:xfrm>
                <a:off x="274320" y="2071257"/>
                <a:ext cx="5280660" cy="46844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altLang="zh-CN" sz="1600" b="1" dirty="0">
                    <a:solidFill>
                      <a:schemeClr val="tx1"/>
                    </a:solidFill>
                  </a:rPr>
                  <a:t>Step 1: Calculate the rotation time per revolution</a:t>
                </a:r>
              </a:p>
              <a:p>
                <a:pPr>
                  <a:buNone/>
                </a:pPr>
                <a:r>
                  <a:rPr lang="en-US" altLang="zh-CN" sz="1600" dirty="0">
                    <a:solidFill>
                      <a:schemeClr val="tx1"/>
                    </a:solidFill>
                  </a:rPr>
                  <a:t>The disk rotates at: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7500</m:t>
                      </m:r>
                      <m:r>
                        <m:rPr>
                          <m:nor/>
                        </m:rPr>
                        <a:rPr lang="en-US" altLang="zh-CN" sz="16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6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rpm</m:t>
                      </m:r>
                      <m:r>
                        <a:rPr lang="en-US" altLang="zh-CN" sz="16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altLang="zh-CN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CN" sz="16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7500</m:t>
                          </m:r>
                        </m:num>
                        <m:den>
                          <m:r>
                            <a:rPr lang="ar-AE" altLang="zh-CN" sz="16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60</m:t>
                          </m:r>
                        </m:den>
                      </m:f>
                      <m:r>
                        <a:rPr lang="ar-AE" altLang="zh-CN" sz="16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=125</m:t>
                      </m:r>
                      <m:r>
                        <m:rPr>
                          <m:nor/>
                        </m:rPr>
                        <a:rPr lang="ar-AE" altLang="zh-CN" sz="16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6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revolutions</m:t>
                      </m:r>
                      <m:r>
                        <m:rPr>
                          <m:nor/>
                        </m:rPr>
                        <a:rPr lang="en-US" altLang="zh-CN" sz="16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6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per</m:t>
                      </m:r>
                      <m:r>
                        <m:rPr>
                          <m:nor/>
                        </m:rPr>
                        <a:rPr lang="en-US" altLang="zh-CN" sz="16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6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second</m:t>
                      </m:r>
                    </m:oMath>
                  </m:oMathPara>
                </a14:m>
                <a:endParaRPr lang="en-US" altLang="zh-CN" sz="1600" b="0" dirty="0">
                  <a:solidFill>
                    <a:schemeClr val="tx1"/>
                  </a:solidFill>
                </a:endParaRPr>
              </a:p>
              <a:p>
                <a:pPr>
                  <a:buNone/>
                </a:pPr>
                <a:r>
                  <a:rPr lang="en-US" altLang="zh-CN" sz="1600" dirty="0">
                    <a:solidFill>
                      <a:schemeClr val="tx1"/>
                    </a:solidFill>
                  </a:rPr>
                  <a:t>So the time for one full revolution is: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CN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altLang="zh-CN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125</m:t>
                          </m:r>
                        </m:den>
                      </m:f>
                      <m:r>
                        <a:rPr lang="ar-AE" altLang="zh-CN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=0.008</m:t>
                      </m:r>
                      <m:r>
                        <m:rPr>
                          <m:nor/>
                        </m:rPr>
                        <a:rPr lang="ar-AE" altLang="zh-CN" sz="16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6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altLang="zh-CN" sz="16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=8</m:t>
                      </m:r>
                      <m:r>
                        <m:rPr>
                          <m:nor/>
                        </m:rPr>
                        <a:rPr lang="en-US" altLang="zh-CN" sz="16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6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ms</m:t>
                      </m:r>
                    </m:oMath>
                  </m:oMathPara>
                </a14:m>
                <a:endParaRPr lang="en-US" altLang="zh-CN" sz="1600" b="0" dirty="0">
                  <a:solidFill>
                    <a:schemeClr val="tx1"/>
                  </a:solidFill>
                </a:endParaRPr>
              </a:p>
              <a:p>
                <a:pPr>
                  <a:buNone/>
                </a:pPr>
                <a:r>
                  <a:rPr lang="en-US" altLang="zh-CN" sz="1600" dirty="0">
                    <a:solidFill>
                      <a:schemeClr val="tx1"/>
                    </a:solidFill>
                  </a:rPr>
                  <a:t>Therefore, one full disk rotation takes: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m:rPr>
                          <m:nor/>
                        </m:rPr>
                        <a:rPr lang="en-US" altLang="zh-CN" sz="16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6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ms</m:t>
                      </m:r>
                    </m:oMath>
                  </m:oMathPara>
                </a14:m>
                <a:endParaRPr lang="en-US" altLang="zh-CN" sz="1600" b="0" dirty="0">
                  <a:solidFill>
                    <a:schemeClr val="tx1"/>
                  </a:solidFill>
                </a:endParaRPr>
              </a:p>
              <a:p>
                <a:pPr>
                  <a:buNone/>
                </a:pPr>
                <a:br>
                  <a:rPr lang="en-US" altLang="zh-CN" sz="1600" dirty="0">
                    <a:solidFill>
                      <a:schemeClr val="tx1"/>
                    </a:solidFill>
                  </a:rPr>
                </a:b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pPr>
                  <a:buNone/>
                </a:pPr>
                <a:r>
                  <a:rPr lang="en-US" altLang="zh-CN" sz="1600" b="1" dirty="0">
                    <a:solidFill>
                      <a:schemeClr val="tx1"/>
                    </a:solidFill>
                  </a:rPr>
                  <a:t>Step 2: Calculate the average rotational latency</a:t>
                </a:r>
              </a:p>
              <a:p>
                <a:pPr>
                  <a:buNone/>
                </a:pPr>
                <a:r>
                  <a:rPr lang="en-US" altLang="zh-CN" sz="1600" dirty="0">
                    <a:solidFill>
                      <a:schemeClr val="tx1"/>
                    </a:solidFill>
                  </a:rPr>
                  <a:t>On average, the disk needs to rotate half a revolution before the desired sector reaches the disk head.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1600" b="0">
                          <a:solidFill>
                            <a:schemeClr val="tx1"/>
                          </a:solidFill>
                        </a:rPr>
                        <m:t>Average</m:t>
                      </m:r>
                      <m:r>
                        <m:rPr>
                          <m:nor/>
                        </m:rPr>
                        <a:rPr lang="en-US" altLang="zh-CN" sz="1600" b="0" i="1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600" b="0" i="1">
                          <a:solidFill>
                            <a:schemeClr val="tx1"/>
                          </a:solidFill>
                        </a:rPr>
                        <m:t>rotational</m:t>
                      </m:r>
                      <m:r>
                        <m:rPr>
                          <m:nor/>
                        </m:rPr>
                        <a:rPr lang="en-US" altLang="zh-CN" sz="1600" b="0" i="1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600" b="0" i="1">
                          <a:solidFill>
                            <a:schemeClr val="tx1"/>
                          </a:solidFill>
                        </a:rPr>
                        <m:t>latency</m:t>
                      </m:r>
                      <m:r>
                        <a:rPr lang="en-US" altLang="zh-CN" sz="16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altLang="zh-CN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CN" sz="16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ar-AE" altLang="zh-CN" sz="16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ar-AE" altLang="zh-CN" sz="16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  <m:r>
                        <m:rPr>
                          <m:nor/>
                        </m:rPr>
                        <a:rPr lang="ar-AE" altLang="zh-CN" sz="16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6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ms</m:t>
                      </m:r>
                    </m:oMath>
                  </m:oMathPara>
                </a14:m>
                <a:endParaRPr lang="en-US" altLang="zh-CN" sz="1600" b="0" dirty="0">
                  <a:solidFill>
                    <a:schemeClr val="tx1"/>
                  </a:solidFill>
                </a:endParaRPr>
              </a:p>
              <a:p>
                <a:pPr>
                  <a:buNone/>
                </a:pPr>
                <a:br>
                  <a:rPr lang="en-US" altLang="zh-CN" sz="1600" dirty="0">
                    <a:solidFill>
                      <a:schemeClr val="tx1"/>
                    </a:solidFill>
                  </a:rPr>
                </a:br>
                <a:endParaRPr lang="en-US" altLang="zh-CN" sz="16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1DF91D3-3BE0-814C-4249-8A667C0100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" y="2071257"/>
                <a:ext cx="5280660" cy="4684488"/>
              </a:xfrm>
              <a:prstGeom prst="rect">
                <a:avLst/>
              </a:prstGeom>
              <a:blipFill>
                <a:blip r:embed="rId2"/>
                <a:stretch>
                  <a:fillRect l="-577" t="-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0DFCD0F-7A57-D085-13EF-1A1C4C445E38}"/>
                  </a:ext>
                </a:extLst>
              </p:cNvPr>
              <p:cNvSpPr txBox="1"/>
              <p:nvPr/>
            </p:nvSpPr>
            <p:spPr>
              <a:xfrm>
                <a:off x="6042660" y="865275"/>
                <a:ext cx="5943600" cy="47457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endParaRPr lang="en-US" altLang="zh-CN" sz="1600" dirty="0"/>
              </a:p>
              <a:p>
                <a:pPr>
                  <a:buNone/>
                </a:pPr>
                <a:r>
                  <a:rPr lang="en-US" altLang="zh-CN" sz="1600" b="1" dirty="0"/>
                  <a:t>Step 3: Calculate the data transfer time</a:t>
                </a:r>
              </a:p>
              <a:p>
                <a:pPr>
                  <a:buNone/>
                </a:pPr>
                <a:r>
                  <a:rPr lang="en-US" altLang="zh-CN" sz="1600" dirty="0"/>
                  <a:t>Each track contains </a:t>
                </a:r>
                <a:r>
                  <a:rPr lang="en-US" altLang="zh-CN" sz="1600" b="1" dirty="0"/>
                  <a:t>500 sectors</a:t>
                </a:r>
                <a:r>
                  <a:rPr lang="en-US" altLang="zh-CN" sz="1600" dirty="0"/>
                  <a:t>.</a:t>
                </a:r>
              </a:p>
              <a:p>
                <a:pPr>
                  <a:buNone/>
                </a:pPr>
                <a:r>
                  <a:rPr lang="en-US" altLang="zh-CN" sz="1600" dirty="0"/>
                  <a:t>The file contains </a:t>
                </a:r>
                <a:r>
                  <a:rPr lang="en-US" altLang="zh-CN" sz="1600" b="1" dirty="0"/>
                  <a:t>2500 sectors</a:t>
                </a:r>
                <a:r>
                  <a:rPr lang="en-US" altLang="zh-CN" sz="1600" dirty="0"/>
                  <a:t>, so it occupies: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altLang="zh-C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CN" sz="1600">
                              <a:latin typeface="Cambria Math" panose="02040503050406030204" pitchFamily="18" charset="0"/>
                            </a:rPr>
                            <m:t>2500</m:t>
                          </m:r>
                        </m:num>
                        <m:den>
                          <m:r>
                            <a:rPr lang="ar-AE" altLang="zh-CN" sz="1600" i="0"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  <m:r>
                        <a:rPr lang="ar-AE" altLang="zh-CN" sz="1600" i="0">
                          <a:latin typeface="Cambria Math" panose="02040503050406030204" pitchFamily="18" charset="0"/>
                        </a:rPr>
                        <m:t>=5</m:t>
                      </m:r>
                      <m:r>
                        <m:rPr>
                          <m:nor/>
                        </m:rPr>
                        <a:rPr lang="ar-AE" altLang="zh-CN" sz="1600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600" b="0" i="1">
                          <a:latin typeface="Cambria Math" panose="02040503050406030204" pitchFamily="18" charset="0"/>
                        </a:rPr>
                        <m:t>tracks</m:t>
                      </m:r>
                    </m:oMath>
                  </m:oMathPara>
                </a14:m>
                <a:endParaRPr lang="en-US" altLang="zh-CN" sz="1600" b="0" dirty="0"/>
              </a:p>
              <a:p>
                <a:pPr>
                  <a:buNone/>
                </a:pPr>
                <a:r>
                  <a:rPr lang="en-US" altLang="zh-CN" sz="1600" dirty="0"/>
                  <a:t>Reading one full track takes one full rotation: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>
                          <a:latin typeface="Cambria Math" panose="02040503050406030204" pitchFamily="18" charset="0"/>
                        </a:rPr>
                        <m:t>8</m:t>
                      </m:r>
                      <m:r>
                        <m:rPr>
                          <m:nor/>
                        </m:rPr>
                        <a:rPr lang="en-US" altLang="zh-CN" sz="1600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600" b="0" i="1">
                          <a:latin typeface="Cambria Math" panose="02040503050406030204" pitchFamily="18" charset="0"/>
                        </a:rPr>
                        <m:t>ms</m:t>
                      </m:r>
                    </m:oMath>
                  </m:oMathPara>
                </a14:m>
                <a:endParaRPr lang="en-US" altLang="zh-CN" sz="1600" b="0" dirty="0"/>
              </a:p>
              <a:p>
                <a:pPr>
                  <a:buNone/>
                </a:pPr>
                <a:r>
                  <a:rPr lang="en-US" altLang="zh-CN" sz="1600" dirty="0"/>
                  <a:t>Therefore, reading 5 tracks takes: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CN" sz="1600" i="0">
                          <a:latin typeface="Cambria Math" panose="02040503050406030204" pitchFamily="18" charset="0"/>
                        </a:rPr>
                        <m:t>×8=40</m:t>
                      </m:r>
                      <m:r>
                        <m:rPr>
                          <m:nor/>
                        </m:rPr>
                        <a:rPr lang="en-US" altLang="zh-CN" sz="1600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600" b="0" i="1">
                          <a:latin typeface="Cambria Math" panose="02040503050406030204" pitchFamily="18" charset="0"/>
                        </a:rPr>
                        <m:t>ms</m:t>
                      </m:r>
                    </m:oMath>
                  </m:oMathPara>
                </a14:m>
                <a:endParaRPr lang="en-US" altLang="zh-CN" sz="1600" b="0" dirty="0"/>
              </a:p>
              <a:p>
                <a:pPr>
                  <a:buNone/>
                </a:pPr>
                <a:r>
                  <a:rPr lang="en-US" altLang="zh-CN" sz="1600" dirty="0"/>
                  <a:t>So the data transfer time is: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>
                          <a:latin typeface="Cambria Math" panose="02040503050406030204" pitchFamily="18" charset="0"/>
                        </a:rPr>
                        <m:t>40</m:t>
                      </m:r>
                      <m:r>
                        <m:rPr>
                          <m:nor/>
                        </m:rPr>
                        <a:rPr lang="en-US" altLang="zh-CN" sz="1600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600" b="0" i="1">
                          <a:latin typeface="Cambria Math" panose="02040503050406030204" pitchFamily="18" charset="0"/>
                        </a:rPr>
                        <m:t>ms</m:t>
                      </m:r>
                    </m:oMath>
                  </m:oMathPara>
                </a14:m>
                <a:endParaRPr lang="en-US" altLang="zh-CN" sz="1600" b="0" dirty="0"/>
              </a:p>
              <a:p>
                <a:pPr>
                  <a:buNone/>
                </a:pPr>
                <a:br>
                  <a:rPr lang="en-US" altLang="zh-CN" sz="1600" dirty="0"/>
                </a:br>
                <a:endParaRPr lang="en-US" altLang="zh-CN" sz="1600" dirty="0"/>
              </a:p>
              <a:p>
                <a:pPr>
                  <a:buNone/>
                </a:pPr>
                <a:r>
                  <a:rPr lang="en-US" altLang="zh-CN" sz="1600" b="1" dirty="0"/>
                  <a:t>Step 4: Calculate the total transfer time</a:t>
                </a:r>
              </a:p>
              <a:p>
                <a:pPr>
                  <a:buNone/>
                </a:pPr>
                <a:r>
                  <a:rPr lang="en-US" altLang="zh-CN" sz="1600" dirty="0"/>
                  <a:t>The total time consists of: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1600" b="0"/>
                        <m:t>Total</m:t>
                      </m:r>
                      <m:r>
                        <m:rPr>
                          <m:nor/>
                        </m:rPr>
                        <a:rPr lang="en-US" altLang="zh-CN" sz="1600" b="0" i="1"/>
                        <m:t> </m:t>
                      </m:r>
                      <m:r>
                        <m:rPr>
                          <m:nor/>
                        </m:rPr>
                        <a:rPr lang="en-US" altLang="zh-CN" sz="1600" b="0" i="1"/>
                        <m:t>time</m:t>
                      </m:r>
                      <m:r>
                        <a:rPr lang="en-US" altLang="zh-CN" sz="16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CN" sz="1600" b="0" i="1">
                          <a:latin typeface="Cambria Math" panose="02040503050406030204" pitchFamily="18" charset="0"/>
                        </a:rPr>
                        <m:t>Seek</m:t>
                      </m:r>
                      <m:r>
                        <m:rPr>
                          <m:nor/>
                        </m:rPr>
                        <a:rPr lang="en-US" altLang="zh-CN" sz="1600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600" b="0" i="1">
                          <a:latin typeface="Cambria Math" panose="02040503050406030204" pitchFamily="18" charset="0"/>
                        </a:rPr>
                        <m:t>time</m:t>
                      </m:r>
                      <m:r>
                        <a:rPr lang="en-US" altLang="zh-CN" sz="1600" b="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altLang="zh-CN" sz="1600" b="0" i="1">
                          <a:latin typeface="Cambria Math" panose="02040503050406030204" pitchFamily="18" charset="0"/>
                        </a:rPr>
                        <m:t>Rotational</m:t>
                      </m:r>
                      <m:r>
                        <m:rPr>
                          <m:nor/>
                        </m:rPr>
                        <a:rPr lang="en-US" altLang="zh-CN" sz="1600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600" b="0" i="1">
                          <a:latin typeface="Cambria Math" panose="02040503050406030204" pitchFamily="18" charset="0"/>
                        </a:rPr>
                        <m:t>latency</m:t>
                      </m:r>
                      <m:r>
                        <a:rPr lang="en-US" altLang="zh-CN" sz="1600" b="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altLang="zh-CN" sz="1600" b="0" i="1">
                          <a:latin typeface="Cambria Math" panose="02040503050406030204" pitchFamily="18" charset="0"/>
                        </a:rPr>
                        <m:t>Transfer</m:t>
                      </m:r>
                      <m:r>
                        <m:rPr>
                          <m:nor/>
                        </m:rPr>
                        <a:rPr lang="en-US" altLang="zh-CN" sz="1600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600" b="0" i="1">
                          <a:latin typeface="Cambria Math" panose="02040503050406030204" pitchFamily="18" charset="0"/>
                        </a:rPr>
                        <m:t>time</m:t>
                      </m:r>
                    </m:oMath>
                  </m:oMathPara>
                </a14:m>
                <a:endParaRPr lang="en-US" altLang="zh-CN" sz="1600" b="0" dirty="0"/>
              </a:p>
              <a:p>
                <a:pPr>
                  <a:buNone/>
                </a:pPr>
                <a:r>
                  <a:rPr lang="en-US" altLang="zh-CN" sz="1600" dirty="0"/>
                  <a:t>Substitute the values: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1600" b="0"/>
                        <m:t>Total</m:t>
                      </m:r>
                      <m:r>
                        <m:rPr>
                          <m:nor/>
                        </m:rPr>
                        <a:rPr lang="en-US" altLang="zh-CN" sz="1600" b="0" i="1"/>
                        <m:t> </m:t>
                      </m:r>
                      <m:r>
                        <m:rPr>
                          <m:nor/>
                        </m:rPr>
                        <a:rPr lang="en-US" altLang="zh-CN" sz="1600" b="0" i="1"/>
                        <m:t>time</m:t>
                      </m:r>
                      <m:r>
                        <a:rPr lang="en-US" altLang="zh-CN" sz="1600" b="0" i="0">
                          <a:latin typeface="Cambria Math" panose="02040503050406030204" pitchFamily="18" charset="0"/>
                        </a:rPr>
                        <m:t>=4+4+40=48</m:t>
                      </m:r>
                      <m:r>
                        <m:rPr>
                          <m:nor/>
                        </m:rPr>
                        <a:rPr lang="en-US" altLang="zh-CN" sz="1600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600" b="0" i="1">
                          <a:latin typeface="Cambria Math" panose="02040503050406030204" pitchFamily="18" charset="0"/>
                        </a:rPr>
                        <m:t>ms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0DFCD0F-7A57-D085-13EF-1A1C4C445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2660" y="865275"/>
                <a:ext cx="5943600" cy="4745723"/>
              </a:xfrm>
              <a:prstGeom prst="rect">
                <a:avLst/>
              </a:prstGeom>
              <a:blipFill>
                <a:blip r:embed="rId3"/>
                <a:stretch>
                  <a:fillRect l="-5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09542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Scheduling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798294C0-8E7D-4AF1-9FB1-668491FBB1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0948" y="1173931"/>
            <a:ext cx="9895868" cy="3958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3707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7E5371DD-8751-437C-ADCB-F68ECD602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685" y="1025230"/>
            <a:ext cx="8657745" cy="497635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 Elements of File Management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857B9F1-FB07-44B3-B258-D5A5056E1C2A}"/>
              </a:ext>
            </a:extLst>
          </p:cNvPr>
          <p:cNvSpPr/>
          <p:nvPr/>
        </p:nvSpPr>
        <p:spPr>
          <a:xfrm>
            <a:off x="7967330" y="2020186"/>
            <a:ext cx="878958" cy="4465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C830F3-42DB-47AA-A5F2-08BA072CE242}"/>
              </a:ext>
            </a:extLst>
          </p:cNvPr>
          <p:cNvSpPr/>
          <p:nvPr/>
        </p:nvSpPr>
        <p:spPr>
          <a:xfrm>
            <a:off x="6426682" y="2119249"/>
            <a:ext cx="878958" cy="4465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209B8BD-416D-4CD5-9511-F28EFFEA4FC1}"/>
              </a:ext>
            </a:extLst>
          </p:cNvPr>
          <p:cNvSpPr/>
          <p:nvPr/>
        </p:nvSpPr>
        <p:spPr>
          <a:xfrm>
            <a:off x="4763386" y="1895966"/>
            <a:ext cx="814812" cy="4465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CC45554-1851-4F22-B7EC-020EEDF6B184}"/>
              </a:ext>
            </a:extLst>
          </p:cNvPr>
          <p:cNvSpPr/>
          <p:nvPr/>
        </p:nvSpPr>
        <p:spPr>
          <a:xfrm>
            <a:off x="5695682" y="1243286"/>
            <a:ext cx="822251" cy="36859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1246223-6BB8-42BE-9310-5FDA5C5B2401}"/>
              </a:ext>
            </a:extLst>
          </p:cNvPr>
          <p:cNvSpPr/>
          <p:nvPr/>
        </p:nvSpPr>
        <p:spPr>
          <a:xfrm>
            <a:off x="3033823" y="1743740"/>
            <a:ext cx="992372" cy="59879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80B28F4-2A77-4B4C-B003-D6C681D2E039}"/>
              </a:ext>
            </a:extLst>
          </p:cNvPr>
          <p:cNvSpPr/>
          <p:nvPr/>
        </p:nvSpPr>
        <p:spPr>
          <a:xfrm>
            <a:off x="3029928" y="4399628"/>
            <a:ext cx="992372" cy="59879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1EC3E41-B507-4416-9D63-CD3C8E8F747C}"/>
              </a:ext>
            </a:extLst>
          </p:cNvPr>
          <p:cNvSpPr/>
          <p:nvPr/>
        </p:nvSpPr>
        <p:spPr>
          <a:xfrm>
            <a:off x="3802737" y="1482442"/>
            <a:ext cx="992372" cy="5987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A1C8C5B-72E6-4F8C-B397-4AA6C2BB34AB}"/>
              </a:ext>
            </a:extLst>
          </p:cNvPr>
          <p:cNvSpPr/>
          <p:nvPr/>
        </p:nvSpPr>
        <p:spPr>
          <a:xfrm>
            <a:off x="7846827" y="3792455"/>
            <a:ext cx="992372" cy="59879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261A649-EBA7-4F47-89EC-DE806BF059FD}"/>
              </a:ext>
            </a:extLst>
          </p:cNvPr>
          <p:cNvSpPr/>
          <p:nvPr/>
        </p:nvSpPr>
        <p:spPr>
          <a:xfrm>
            <a:off x="9397058" y="2914614"/>
            <a:ext cx="992372" cy="59879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5048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File Organization and Access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File organization is the logical structuring of the </a:t>
            </a:r>
            <a:r>
              <a:rPr lang="en-US" altLang="zh-CN" dirty="0">
                <a:solidFill>
                  <a:srgbClr val="C00000"/>
                </a:solidFill>
              </a:rPr>
              <a:t>records</a:t>
            </a:r>
            <a:r>
              <a:rPr lang="en-US" altLang="zh-CN" dirty="0"/>
              <a:t> as determined by the way in which they are accessed</a:t>
            </a:r>
          </a:p>
          <a:p>
            <a:r>
              <a:rPr lang="en-US" altLang="zh-CN" dirty="0"/>
              <a:t>In choosing a file organization, several </a:t>
            </a:r>
            <a:r>
              <a:rPr lang="en-US" altLang="zh-CN" dirty="0">
                <a:solidFill>
                  <a:srgbClr val="0070C0"/>
                </a:solidFill>
              </a:rPr>
              <a:t>criteria</a:t>
            </a:r>
            <a:r>
              <a:rPr lang="en-US" altLang="zh-CN" dirty="0"/>
              <a:t> are important:</a:t>
            </a:r>
          </a:p>
          <a:p>
            <a:pPr lvl="1"/>
            <a:r>
              <a:rPr lang="en-US" altLang="zh-CN" dirty="0"/>
              <a:t>short access time</a:t>
            </a:r>
          </a:p>
          <a:p>
            <a:pPr lvl="1"/>
            <a:r>
              <a:rPr lang="en-US" altLang="zh-CN" dirty="0"/>
              <a:t>ease of update</a:t>
            </a:r>
          </a:p>
          <a:p>
            <a:pPr lvl="1"/>
            <a:r>
              <a:rPr lang="en-US" altLang="zh-CN" dirty="0"/>
              <a:t>economy of storage</a:t>
            </a:r>
          </a:p>
          <a:p>
            <a:pPr lvl="1"/>
            <a:r>
              <a:rPr lang="en-US" altLang="zh-CN" dirty="0"/>
              <a:t>simple maintenance</a:t>
            </a:r>
          </a:p>
          <a:p>
            <a:pPr lvl="1"/>
            <a:r>
              <a:rPr lang="en-US" altLang="zh-CN" dirty="0"/>
              <a:t>reliability</a:t>
            </a:r>
          </a:p>
          <a:p>
            <a:r>
              <a:rPr lang="en-US" altLang="zh-CN" dirty="0"/>
              <a:t>File </a:t>
            </a:r>
            <a:r>
              <a:rPr lang="en-US" altLang="zh-CN" dirty="0">
                <a:solidFill>
                  <a:srgbClr val="0070C0"/>
                </a:solidFill>
              </a:rPr>
              <a:t>organization types</a:t>
            </a:r>
          </a:p>
          <a:p>
            <a:pPr lvl="1"/>
            <a:r>
              <a:rPr lang="en-US" altLang="zh-CN" dirty="0"/>
              <a:t>The pile</a:t>
            </a:r>
          </a:p>
          <a:p>
            <a:pPr lvl="1"/>
            <a:r>
              <a:rPr lang="en-NZ" altLang="zh-CN" dirty="0"/>
              <a:t>The sequential file</a:t>
            </a:r>
          </a:p>
          <a:p>
            <a:pPr lvl="1"/>
            <a:r>
              <a:rPr lang="en-NZ" altLang="zh-CN" dirty="0"/>
              <a:t>The indexed sequential file</a:t>
            </a:r>
          </a:p>
          <a:p>
            <a:pPr lvl="1"/>
            <a:r>
              <a:rPr lang="en-US" altLang="zh-CN" dirty="0"/>
              <a:t>The indexed file</a:t>
            </a:r>
          </a:p>
          <a:p>
            <a:pPr lvl="1"/>
            <a:r>
              <a:rPr lang="en-US" altLang="zh-CN" dirty="0"/>
              <a:t>The direct, or hashed, file</a:t>
            </a:r>
          </a:p>
          <a:p>
            <a:pPr lvl="1"/>
            <a:endParaRPr lang="en-NZ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27502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Pile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1816" y="987458"/>
            <a:ext cx="6860908" cy="2829800"/>
          </a:xfrm>
        </p:spPr>
        <p:txBody>
          <a:bodyPr/>
          <a:lstStyle/>
          <a:p>
            <a:r>
              <a:rPr lang="en-US" altLang="zh-CN" dirty="0"/>
              <a:t>Data are collected in </a:t>
            </a:r>
            <a:r>
              <a:rPr lang="en-US" altLang="zh-CN" dirty="0">
                <a:solidFill>
                  <a:srgbClr val="C00000"/>
                </a:solidFill>
              </a:rPr>
              <a:t>the order they arrive</a:t>
            </a:r>
          </a:p>
          <a:p>
            <a:r>
              <a:rPr lang="en-US" altLang="zh-CN" dirty="0"/>
              <a:t>Purpose is simply to </a:t>
            </a:r>
            <a:r>
              <a:rPr lang="en-US" altLang="zh-CN" dirty="0">
                <a:solidFill>
                  <a:srgbClr val="C00000"/>
                </a:solidFill>
              </a:rPr>
              <a:t>accumulate the mass of data and save it</a:t>
            </a:r>
          </a:p>
          <a:p>
            <a:r>
              <a:rPr lang="en-US" altLang="zh-CN" dirty="0"/>
              <a:t>Records may have </a:t>
            </a:r>
            <a:r>
              <a:rPr lang="en-US" altLang="zh-CN" dirty="0">
                <a:solidFill>
                  <a:srgbClr val="C00000"/>
                </a:solidFill>
              </a:rPr>
              <a:t>different fields</a:t>
            </a:r>
            <a:r>
              <a:rPr lang="en-US" altLang="zh-CN" dirty="0"/>
              <a:t>, or </a:t>
            </a:r>
            <a:r>
              <a:rPr lang="en-US" altLang="zh-CN" dirty="0">
                <a:solidFill>
                  <a:srgbClr val="C00000"/>
                </a:solidFill>
              </a:rPr>
              <a:t>similar fields </a:t>
            </a:r>
            <a:r>
              <a:rPr lang="en-US" altLang="zh-CN" dirty="0"/>
              <a:t>in different orders</a:t>
            </a:r>
          </a:p>
          <a:p>
            <a:r>
              <a:rPr lang="en-US" altLang="zh-CN" dirty="0"/>
              <a:t>Record access is by </a:t>
            </a:r>
            <a:r>
              <a:rPr lang="en-US" altLang="zh-CN" dirty="0">
                <a:solidFill>
                  <a:srgbClr val="0070C0"/>
                </a:solidFill>
              </a:rPr>
              <a:t>exhaustive search</a:t>
            </a:r>
          </a:p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69858F6-95AC-4153-B7C9-2C121BD5B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4281" y="987457"/>
            <a:ext cx="3958216" cy="5117252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Sequential File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841103"/>
            <a:ext cx="6832988" cy="5175794"/>
          </a:xfrm>
        </p:spPr>
        <p:txBody>
          <a:bodyPr>
            <a:normAutofit/>
          </a:bodyPr>
          <a:lstStyle/>
          <a:p>
            <a:r>
              <a:rPr lang="en-US" altLang="zh-CN" dirty="0"/>
              <a:t> </a:t>
            </a:r>
            <a:r>
              <a:rPr lang="en-US" altLang="zh-CN" dirty="0">
                <a:solidFill>
                  <a:srgbClr val="0070C0"/>
                </a:solidFill>
              </a:rPr>
              <a:t>Most common </a:t>
            </a:r>
            <a:r>
              <a:rPr lang="en-US" altLang="zh-CN" dirty="0"/>
              <a:t>form of file structure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en-US" altLang="zh-CN" dirty="0"/>
              <a:t>Only the </a:t>
            </a:r>
            <a:r>
              <a:rPr lang="en-US" altLang="zh-CN" dirty="0">
                <a:solidFill>
                  <a:srgbClr val="0070C0"/>
                </a:solidFill>
              </a:rPr>
              <a:t>values of fields </a:t>
            </a:r>
            <a:r>
              <a:rPr lang="en-US" altLang="zh-CN" dirty="0"/>
              <a:t>need to be stored; </a:t>
            </a:r>
          </a:p>
          <a:p>
            <a:r>
              <a:rPr lang="en-US" altLang="zh-CN" dirty="0"/>
              <a:t>The </a:t>
            </a:r>
            <a:r>
              <a:rPr lang="en-US" altLang="zh-CN" dirty="0">
                <a:solidFill>
                  <a:srgbClr val="0070C0"/>
                </a:solidFill>
              </a:rPr>
              <a:t>field name and length </a:t>
            </a:r>
            <a:r>
              <a:rPr lang="en-US" altLang="zh-CN" dirty="0"/>
              <a:t>are attributes of the file structure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en-US" altLang="zh-CN" dirty="0">
                <a:solidFill>
                  <a:srgbClr val="C00000"/>
                </a:solidFill>
              </a:rPr>
              <a:t>Key field (</a:t>
            </a:r>
            <a:r>
              <a:rPr lang="zh-CN" altLang="en-US" dirty="0">
                <a:solidFill>
                  <a:srgbClr val="C00000"/>
                </a:solidFill>
              </a:rPr>
              <a:t>关键域</a:t>
            </a:r>
            <a:r>
              <a:rPr lang="en-US" altLang="zh-CN" dirty="0">
                <a:solidFill>
                  <a:srgbClr val="C00000"/>
                </a:solidFill>
              </a:rPr>
              <a:t>) </a:t>
            </a:r>
            <a:r>
              <a:rPr lang="en-US" altLang="zh-CN" dirty="0"/>
              <a:t>uniquely identifies the record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en-US" altLang="zh-CN" dirty="0"/>
              <a:t> Typically used in </a:t>
            </a:r>
            <a:r>
              <a:rPr lang="en-US" altLang="zh-CN" dirty="0">
                <a:solidFill>
                  <a:srgbClr val="0070C0"/>
                </a:solidFill>
              </a:rPr>
              <a:t>batch applications</a:t>
            </a:r>
            <a:r>
              <a:rPr lang="zh-CN" altLang="en-US" dirty="0">
                <a:solidFill>
                  <a:srgbClr val="0070C0"/>
                </a:solidFill>
              </a:rPr>
              <a:t>；</a:t>
            </a:r>
            <a:endParaRPr lang="en-US" altLang="zh-CN" dirty="0">
              <a:solidFill>
                <a:srgbClr val="0070C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3DCCC44-FCC8-4561-B1AA-6D5570E1C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2179" y="925022"/>
            <a:ext cx="3769145" cy="5007956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Indexed Sequential File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841103"/>
            <a:ext cx="6838507" cy="4180840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 The indexed sequential file </a:t>
            </a:r>
            <a:r>
              <a:rPr lang="en-US" altLang="zh-CN" dirty="0">
                <a:solidFill>
                  <a:srgbClr val="C00000"/>
                </a:solidFill>
              </a:rPr>
              <a:t>maintains the key characteristic </a:t>
            </a:r>
            <a:r>
              <a:rPr lang="en-US" altLang="zh-CN" dirty="0"/>
              <a:t>of the sequential file: Records are organized in sequence based on a key field.</a:t>
            </a:r>
          </a:p>
          <a:p>
            <a:r>
              <a:rPr lang="en-US" altLang="zh-CN" dirty="0">
                <a:solidFill>
                  <a:srgbClr val="C00000"/>
                </a:solidFill>
              </a:rPr>
              <a:t>Additional features</a:t>
            </a:r>
            <a:r>
              <a:rPr lang="en-US" altLang="zh-CN" dirty="0"/>
              <a:t>:</a:t>
            </a:r>
          </a:p>
          <a:p>
            <a:pPr lvl="1"/>
            <a:r>
              <a:rPr lang="en-US" altLang="zh-CN" dirty="0"/>
              <a:t>Adds an </a:t>
            </a:r>
            <a:r>
              <a:rPr lang="en-US" altLang="zh-CN" dirty="0">
                <a:solidFill>
                  <a:srgbClr val="0070C0"/>
                </a:solidFill>
              </a:rPr>
              <a:t>index</a:t>
            </a:r>
            <a:r>
              <a:rPr lang="en-US" altLang="zh-CN" dirty="0"/>
              <a:t> to the file to support random access</a:t>
            </a:r>
          </a:p>
          <a:p>
            <a:pPr lvl="1"/>
            <a:r>
              <a:rPr lang="en-US" altLang="zh-CN" dirty="0"/>
              <a:t>Adds an </a:t>
            </a:r>
            <a:r>
              <a:rPr lang="en-US" altLang="zh-CN" dirty="0">
                <a:solidFill>
                  <a:srgbClr val="0070C0"/>
                </a:solidFill>
              </a:rPr>
              <a:t>overflow file</a:t>
            </a:r>
            <a:r>
              <a:rPr lang="zh-CN" altLang="en-US" dirty="0">
                <a:solidFill>
                  <a:srgbClr val="0070C0"/>
                </a:solidFill>
              </a:rPr>
              <a:t>（溢出文件）</a:t>
            </a:r>
            <a:r>
              <a:rPr lang="en-US" altLang="zh-CN" dirty="0">
                <a:solidFill>
                  <a:srgbClr val="0070C0"/>
                </a:solidFill>
              </a:rPr>
              <a:t>to store the new record.</a:t>
            </a:r>
          </a:p>
          <a:p>
            <a:r>
              <a:rPr lang="en-US" altLang="zh-CN" dirty="0"/>
              <a:t>Each record in the main file contains an </a:t>
            </a:r>
            <a:r>
              <a:rPr lang="en-US" altLang="zh-CN" dirty="0">
                <a:solidFill>
                  <a:srgbClr val="C00000"/>
                </a:solidFill>
              </a:rPr>
              <a:t>additional field pointing </a:t>
            </a:r>
            <a:r>
              <a:rPr lang="en-US" altLang="zh-CN" dirty="0"/>
              <a:t>to the overflow file. 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C6540D8-DB5A-4422-9334-B808B3FE4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8561" y="1194706"/>
            <a:ext cx="3739126" cy="4468587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Indexed File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841102"/>
            <a:ext cx="6803065" cy="4442097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Index key</a:t>
            </a:r>
          </a:p>
          <a:p>
            <a:pPr lvl="1"/>
            <a:r>
              <a:rPr lang="en-US" sz="1800" dirty="0"/>
              <a:t>Employs </a:t>
            </a:r>
            <a:r>
              <a:rPr lang="en-US" sz="1800" dirty="0">
                <a:solidFill>
                  <a:srgbClr val="C00000"/>
                </a:solidFill>
              </a:rPr>
              <a:t>multiple indexes</a:t>
            </a:r>
            <a:r>
              <a:rPr lang="en-US" sz="1800" dirty="0"/>
              <a:t>, each </a:t>
            </a:r>
            <a:r>
              <a:rPr lang="en-US" sz="1800" dirty="0">
                <a:solidFill>
                  <a:srgbClr val="C00000"/>
                </a:solidFill>
              </a:rPr>
              <a:t>field</a:t>
            </a:r>
            <a:r>
              <a:rPr lang="en-US" sz="1800" dirty="0"/>
              <a:t> may be the subject of a search;</a:t>
            </a:r>
            <a:endParaRPr lang="en-US" altLang="zh-CN" sz="1800" dirty="0"/>
          </a:p>
          <a:p>
            <a:pPr lvl="1"/>
            <a:r>
              <a:rPr lang="en-US" altLang="zh-CN" sz="1800" dirty="0"/>
              <a:t>Records are accessed </a:t>
            </a:r>
            <a:r>
              <a:rPr lang="en-US" altLang="zh-CN" sz="1800" dirty="0">
                <a:solidFill>
                  <a:srgbClr val="C00000"/>
                </a:solidFill>
              </a:rPr>
              <a:t>only</a:t>
            </a:r>
            <a:r>
              <a:rPr lang="en-US" altLang="zh-CN" sz="1800" dirty="0"/>
              <a:t> through their indexes</a:t>
            </a:r>
          </a:p>
          <a:p>
            <a:r>
              <a:rPr lang="en-US" altLang="zh-CN" dirty="0">
                <a:solidFill>
                  <a:srgbClr val="0070C0"/>
                </a:solidFill>
              </a:rPr>
              <a:t>Variable-length records </a:t>
            </a:r>
            <a:r>
              <a:rPr lang="en-US" altLang="zh-CN" dirty="0"/>
              <a:t>can be employed</a:t>
            </a:r>
          </a:p>
          <a:p>
            <a:r>
              <a:rPr lang="en-US" altLang="zh-CN" dirty="0">
                <a:solidFill>
                  <a:srgbClr val="C00000"/>
                </a:solidFill>
              </a:rPr>
              <a:t>Index type </a:t>
            </a:r>
          </a:p>
          <a:p>
            <a:pPr lvl="1"/>
            <a:r>
              <a:rPr lang="en-US" altLang="zh-CN" sz="1800" dirty="0">
                <a:solidFill>
                  <a:srgbClr val="C00000"/>
                </a:solidFill>
              </a:rPr>
              <a:t>Exhaustive index </a:t>
            </a:r>
            <a:r>
              <a:rPr lang="en-US" altLang="zh-CN" sz="1800" dirty="0"/>
              <a:t>contains one entry for every record in the main file</a:t>
            </a:r>
          </a:p>
          <a:p>
            <a:pPr lvl="1"/>
            <a:r>
              <a:rPr lang="en-US" altLang="zh-CN" sz="1800" dirty="0"/>
              <a:t> </a:t>
            </a:r>
            <a:r>
              <a:rPr lang="en-US" altLang="zh-CN" sz="1800" dirty="0">
                <a:solidFill>
                  <a:srgbClr val="C00000"/>
                </a:solidFill>
              </a:rPr>
              <a:t>Partial index </a:t>
            </a:r>
            <a:r>
              <a:rPr lang="en-US" altLang="zh-CN" sz="1800" dirty="0"/>
              <a:t>contains entries to records where the field of interest exists</a:t>
            </a:r>
          </a:p>
          <a:p>
            <a:r>
              <a:rPr lang="en-US" altLang="zh-CN" dirty="0">
                <a:solidFill>
                  <a:srgbClr val="C00000"/>
                </a:solidFill>
              </a:rPr>
              <a:t>Index Structure </a:t>
            </a:r>
          </a:p>
          <a:p>
            <a:pPr lvl="1"/>
            <a:r>
              <a:rPr lang="en-US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sequential file</a:t>
            </a:r>
          </a:p>
          <a:p>
            <a:pPr lvl="1"/>
            <a:r>
              <a:rPr lang="en-US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Tree</a:t>
            </a:r>
          </a:p>
          <a:p>
            <a:pPr lvl="1"/>
            <a:r>
              <a:rPr lang="en-US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Hash table</a:t>
            </a:r>
          </a:p>
          <a:p>
            <a:pPr lvl="1"/>
            <a:r>
              <a:rPr lang="en-US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Bitmap</a:t>
            </a: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B95E608-2681-47F3-AB6F-C27D4910D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7236" y="841104"/>
            <a:ext cx="3699005" cy="5175794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Direct or Hashed File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Access directly any block with </a:t>
            </a:r>
            <a:r>
              <a:rPr lang="en-US" altLang="zh-CN" dirty="0">
                <a:solidFill>
                  <a:srgbClr val="0070C0"/>
                </a:solidFill>
              </a:rPr>
              <a:t>known address</a:t>
            </a:r>
          </a:p>
          <a:p>
            <a:r>
              <a:rPr lang="en-US" altLang="zh-CN" dirty="0"/>
              <a:t>Makes use of hashing on the </a:t>
            </a:r>
            <a:r>
              <a:rPr lang="en-US" altLang="zh-CN" dirty="0">
                <a:solidFill>
                  <a:srgbClr val="0070C0"/>
                </a:solidFill>
              </a:rPr>
              <a:t>key value</a:t>
            </a:r>
          </a:p>
          <a:p>
            <a:r>
              <a:rPr lang="en-US" altLang="zh-CN" dirty="0"/>
              <a:t>Often used where:</a:t>
            </a:r>
          </a:p>
          <a:p>
            <a:pPr lvl="1"/>
            <a:r>
              <a:rPr lang="en-US" altLang="zh-CN" dirty="0">
                <a:solidFill>
                  <a:srgbClr val="0070C0"/>
                </a:solidFill>
              </a:rPr>
              <a:t>very rapid access </a:t>
            </a:r>
            <a:r>
              <a:rPr lang="en-US" altLang="zh-CN" dirty="0"/>
              <a:t>is required</a:t>
            </a:r>
          </a:p>
          <a:p>
            <a:pPr lvl="1"/>
            <a:r>
              <a:rPr lang="en-US" altLang="zh-CN" dirty="0">
                <a:solidFill>
                  <a:srgbClr val="0070C0"/>
                </a:solidFill>
              </a:rPr>
              <a:t>fixed-length</a:t>
            </a:r>
            <a:r>
              <a:rPr lang="en-US" altLang="zh-CN" dirty="0"/>
              <a:t> records are used</a:t>
            </a:r>
          </a:p>
          <a:p>
            <a:pPr lvl="1"/>
            <a:r>
              <a:rPr lang="en-US" altLang="zh-CN" dirty="0">
                <a:solidFill>
                  <a:srgbClr val="0070C0"/>
                </a:solidFill>
              </a:rPr>
              <a:t>One record </a:t>
            </a:r>
            <a:r>
              <a:rPr lang="en-US" altLang="zh-CN" dirty="0"/>
              <a:t>is accessed at a time</a:t>
            </a:r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B-Tree Characteristics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 tree structure (no closed loops) with the following characteristics:</a:t>
            </a:r>
          </a:p>
          <a:p>
            <a:pPr lvl="1"/>
            <a:r>
              <a:rPr lang="en-US" altLang="zh-CN" sz="2400" dirty="0"/>
              <a:t>each node contains </a:t>
            </a:r>
            <a:r>
              <a:rPr lang="en-US" altLang="zh-CN" sz="2400" b="1" dirty="0">
                <a:solidFill>
                  <a:srgbClr val="C00000"/>
                </a:solidFill>
              </a:rPr>
              <a:t>at least one key </a:t>
            </a:r>
            <a:r>
              <a:rPr lang="en-US" altLang="zh-CN" sz="2400" dirty="0"/>
              <a:t>which uniquely identifies a file record, and </a:t>
            </a:r>
            <a:r>
              <a:rPr lang="en-US" altLang="zh-CN" sz="2400" b="1" dirty="0">
                <a:solidFill>
                  <a:srgbClr val="C00000"/>
                </a:solidFill>
              </a:rPr>
              <a:t>more than one pointer </a:t>
            </a:r>
            <a:r>
              <a:rPr lang="en-US" altLang="zh-CN" sz="2400" dirty="0"/>
              <a:t>to child nodes or leaves</a:t>
            </a:r>
          </a:p>
          <a:p>
            <a:pPr lvl="1"/>
            <a:r>
              <a:rPr lang="en-US" altLang="zh-CN" sz="2400" dirty="0"/>
              <a:t>each node is limited to the </a:t>
            </a:r>
            <a:r>
              <a:rPr lang="en-US" altLang="zh-CN" sz="2400" b="1" dirty="0">
                <a:solidFill>
                  <a:srgbClr val="C00000"/>
                </a:solidFill>
              </a:rPr>
              <a:t>same number of maximum keys</a:t>
            </a:r>
          </a:p>
          <a:p>
            <a:pPr lvl="1"/>
            <a:r>
              <a:rPr lang="en-US" altLang="zh-CN" sz="2400" dirty="0"/>
              <a:t>the keys in a node are stored </a:t>
            </a:r>
            <a:r>
              <a:rPr lang="en-US" altLang="zh-CN" sz="2400" dirty="0">
                <a:solidFill>
                  <a:srgbClr val="C00000"/>
                </a:solidFill>
              </a:rPr>
              <a:t>in </a:t>
            </a:r>
            <a:r>
              <a:rPr lang="en-US" altLang="zh-CN" sz="2400" b="1" dirty="0">
                <a:solidFill>
                  <a:srgbClr val="C00000"/>
                </a:solidFill>
              </a:rPr>
              <a:t>non-decreasing order</a:t>
            </a:r>
            <a:r>
              <a:rPr lang="en-US" altLang="zh-CN" sz="2400" dirty="0"/>
              <a:t>; </a:t>
            </a:r>
          </a:p>
          <a:p>
            <a:pPr lvl="1"/>
            <a:r>
              <a:rPr lang="en-US" altLang="zh-CN" sz="2400" dirty="0"/>
              <a:t>each node has </a:t>
            </a:r>
            <a:r>
              <a:rPr lang="en-US" altLang="zh-CN" sz="2400" b="1" dirty="0">
                <a:solidFill>
                  <a:srgbClr val="C00000"/>
                </a:solidFill>
              </a:rPr>
              <a:t>one more pointer than keys</a:t>
            </a:r>
            <a:endParaRPr lang="en-US" altLang="zh-CN" sz="2400" dirty="0"/>
          </a:p>
          <a:p>
            <a:pPr lvl="1"/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10EC256-54F2-40DA-BF32-11EA18C77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9796" y="4174585"/>
            <a:ext cx="7343775" cy="204787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Inserting Nodes Into a B-Tree</a:t>
            </a:r>
            <a:endParaRPr lang="zh-CN" altLang="en-US" dirty="0"/>
          </a:p>
        </p:txBody>
      </p:sp>
      <p:pic>
        <p:nvPicPr>
          <p:cNvPr id="15" name="内容占位符 14">
            <a:extLst>
              <a:ext uri="{FF2B5EF4-FFF2-40B4-BE49-F238E27FC236}">
                <a16:creationId xmlns:a16="http://schemas.microsoft.com/office/drawing/2014/main" id="{0818F1BA-9C3A-47C0-B181-4CB7EA34CE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191" y="4075323"/>
            <a:ext cx="6311887" cy="1464523"/>
          </a:xfr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34C1CE0-06E5-4083-9526-27BDD0549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285" y="1131203"/>
            <a:ext cx="6036260" cy="1507337"/>
          </a:xfrm>
          <a:prstGeom prst="rect">
            <a:avLst/>
          </a:prstGeom>
        </p:spPr>
      </p:pic>
      <p:pic>
        <p:nvPicPr>
          <p:cNvPr id="3" name="内容占位符 8">
            <a:extLst>
              <a:ext uri="{FF2B5EF4-FFF2-40B4-BE49-F238E27FC236}">
                <a16:creationId xmlns:a16="http://schemas.microsoft.com/office/drawing/2014/main" id="{52C44A45-F8D3-1A41-2437-5A38512841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1069" y="3692396"/>
            <a:ext cx="5044162" cy="184745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8CE8F28-A79E-886E-7B3F-905D8E8C83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6433" y="1382148"/>
            <a:ext cx="5418708" cy="1199817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Record Blocking</a:t>
            </a:r>
            <a:r>
              <a:rPr lang="zh-CN" altLang="en-US" dirty="0"/>
              <a:t>（记录组块）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C00000"/>
                </a:solidFill>
              </a:rPr>
              <a:t>Blocks are the unit of I/O </a:t>
            </a:r>
            <a:r>
              <a:rPr lang="en-US" altLang="zh-CN" dirty="0"/>
              <a:t>with secondary storage (</a:t>
            </a:r>
            <a:r>
              <a:rPr lang="en-US" altLang="zh-CN" dirty="0" err="1">
                <a:solidFill>
                  <a:srgbClr val="C00000"/>
                </a:solidFill>
              </a:rPr>
              <a:t>v.s</a:t>
            </a:r>
            <a:r>
              <a:rPr lang="en-US" altLang="zh-CN" dirty="0">
                <a:solidFill>
                  <a:srgbClr val="C00000"/>
                </a:solidFill>
              </a:rPr>
              <a:t>. process in memory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for I/O to be performed records must be organized as blocks</a:t>
            </a:r>
          </a:p>
          <a:p>
            <a:r>
              <a:rPr lang="en-US" altLang="zh-CN" dirty="0"/>
              <a:t>Given the size of a block, three methods of blocking can be used:</a:t>
            </a:r>
          </a:p>
          <a:p>
            <a:pPr lvl="1"/>
            <a:r>
              <a:rPr lang="en-US" altLang="zh-CN" dirty="0">
                <a:solidFill>
                  <a:srgbClr val="0070C0"/>
                </a:solidFill>
              </a:rPr>
              <a:t>Fixed-Length Blocking</a:t>
            </a:r>
            <a:r>
              <a:rPr lang="en-US" altLang="zh-CN" dirty="0"/>
              <a:t>  </a:t>
            </a:r>
          </a:p>
          <a:p>
            <a:pPr lvl="2"/>
            <a:r>
              <a:rPr lang="en-US" altLang="zh-CN" dirty="0"/>
              <a:t>fixed-length records are used, and an integral number of records are stored in a block</a:t>
            </a:r>
          </a:p>
          <a:p>
            <a:pPr lvl="2"/>
            <a:r>
              <a:rPr lang="en-US" altLang="zh-CN" dirty="0"/>
              <a:t>Internal fragmentation – unused space at the end of each block</a:t>
            </a:r>
          </a:p>
          <a:p>
            <a:pPr lvl="1"/>
            <a:r>
              <a:rPr lang="en-US" altLang="zh-CN" dirty="0">
                <a:solidFill>
                  <a:srgbClr val="0070C0"/>
                </a:solidFill>
              </a:rPr>
              <a:t>Variable-Length Spanned Blocking </a:t>
            </a:r>
            <a:r>
              <a:rPr lang="en-US" altLang="zh-CN" dirty="0"/>
              <a:t>– variable-length records are used and are packed into blocks with no unused space </a:t>
            </a:r>
          </a:p>
          <a:p>
            <a:pPr lvl="1"/>
            <a:r>
              <a:rPr lang="en-US" altLang="zh-CN" dirty="0">
                <a:solidFill>
                  <a:srgbClr val="0070C0"/>
                </a:solidFill>
              </a:rPr>
              <a:t>Variable-Length </a:t>
            </a:r>
            <a:r>
              <a:rPr lang="en-US" altLang="zh-CN" dirty="0" err="1">
                <a:solidFill>
                  <a:srgbClr val="0070C0"/>
                </a:solidFill>
              </a:rPr>
              <a:t>Unspanned</a:t>
            </a:r>
            <a:r>
              <a:rPr lang="en-US" altLang="zh-CN" dirty="0">
                <a:solidFill>
                  <a:srgbClr val="0070C0"/>
                </a:solidFill>
              </a:rPr>
              <a:t> Blocking </a:t>
            </a:r>
            <a:r>
              <a:rPr lang="en-US" altLang="zh-CN" dirty="0"/>
              <a:t>– variable-length records are used, but spanning is not employed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Fixed Blocking</a:t>
            </a:r>
            <a:endParaRPr lang="zh-CN" altLang="en-US" dirty="0"/>
          </a:p>
        </p:txBody>
      </p:sp>
      <p:pic>
        <p:nvPicPr>
          <p:cNvPr id="4" name="Content Placeholder 3" descr="Fig12_06a.gif"/>
          <p:cNvPicPr>
            <a:picLocks noGrp="1" noChangeAspect="1"/>
          </p:cNvPicPr>
          <p:nvPr>
            <p:ph idx="1"/>
          </p:nvPr>
        </p:nvPicPr>
        <p:blipFill>
          <a:blip r:embed="rId2"/>
          <a:srcRect t="-206091" b="-206091"/>
          <a:stretch>
            <a:fillRect/>
          </a:stretch>
        </p:blipFill>
        <p:spPr>
          <a:xfrm>
            <a:off x="2633267" y="-2442127"/>
            <a:ext cx="6925465" cy="10388201"/>
          </a:xfrm>
        </p:spPr>
      </p:pic>
      <p:pic>
        <p:nvPicPr>
          <p:cNvPr id="5" name="Picture 4" descr="Fig12_06d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2546" y="4480426"/>
            <a:ext cx="8086725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Variable Blocking: Spanned</a:t>
            </a:r>
            <a:endParaRPr lang="zh-CN" altLang="en-US" dirty="0"/>
          </a:p>
        </p:txBody>
      </p:sp>
      <p:pic>
        <p:nvPicPr>
          <p:cNvPr id="4" name="Content Placeholder 3" descr="Fig12_06b.gif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1712" y="1545771"/>
            <a:ext cx="7648575" cy="2428875"/>
          </a:xfrm>
        </p:spPr>
      </p:pic>
      <p:pic>
        <p:nvPicPr>
          <p:cNvPr id="5" name="Picture 4" descr="Fig12_06d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636" y="4455886"/>
            <a:ext cx="8086725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Variable Blocking: </a:t>
            </a:r>
            <a:r>
              <a:rPr lang="en-US" altLang="zh-CN" dirty="0" err="1"/>
              <a:t>Unspanned</a:t>
            </a:r>
            <a:endParaRPr lang="zh-CN" altLang="en-US" dirty="0"/>
          </a:p>
        </p:txBody>
      </p:sp>
      <p:pic>
        <p:nvPicPr>
          <p:cNvPr id="4" name="Content Placeholder 3" descr="Fig12_06c.gif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8287" y="1468438"/>
            <a:ext cx="9115425" cy="4572000"/>
          </a:xfr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Table 12.3 File Allocation Methods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5B5012B-D927-4D95-B6E0-ACF6F7F81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06732"/>
            <a:ext cx="10364386" cy="3172097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21622365-E431-4328-B55C-EFCABB0FA097}"/>
              </a:ext>
            </a:extLst>
          </p:cNvPr>
          <p:cNvSpPr/>
          <p:nvPr/>
        </p:nvSpPr>
        <p:spPr>
          <a:xfrm>
            <a:off x="4212771" y="1959429"/>
            <a:ext cx="6989815" cy="615042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Method1 : Contiguous File Allocation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02128" y="841103"/>
            <a:ext cx="4974771" cy="5175794"/>
          </a:xfrm>
        </p:spPr>
        <p:txBody>
          <a:bodyPr/>
          <a:lstStyle/>
          <a:p>
            <a:r>
              <a:rPr lang="en-US" altLang="zh-CN" dirty="0"/>
              <a:t>A single </a:t>
            </a:r>
            <a:r>
              <a:rPr lang="en-US" altLang="zh-CN" dirty="0">
                <a:solidFill>
                  <a:srgbClr val="0070C0"/>
                </a:solidFill>
              </a:rPr>
              <a:t>contiguous set of blocks</a:t>
            </a:r>
            <a:r>
              <a:rPr lang="en-US" altLang="zh-CN" dirty="0"/>
              <a:t> is allocated to a file at the time of file </a:t>
            </a:r>
            <a:r>
              <a:rPr lang="en-US" altLang="zh-CN" dirty="0">
                <a:solidFill>
                  <a:srgbClr val="0070C0"/>
                </a:solidFill>
              </a:rPr>
              <a:t>creation</a:t>
            </a:r>
          </a:p>
          <a:p>
            <a:endParaRPr lang="en-US" altLang="zh-CN" dirty="0">
              <a:solidFill>
                <a:srgbClr val="0070C0"/>
              </a:solidFill>
            </a:endParaRPr>
          </a:p>
          <a:p>
            <a:r>
              <a:rPr lang="en-US" altLang="zh-CN" dirty="0" err="1">
                <a:solidFill>
                  <a:srgbClr val="0070C0"/>
                </a:solidFill>
              </a:rPr>
              <a:t>Preallocation</a:t>
            </a:r>
            <a:r>
              <a:rPr lang="en-US" altLang="zh-CN" dirty="0"/>
              <a:t> strategy using </a:t>
            </a:r>
            <a:r>
              <a:rPr lang="en-US" altLang="zh-CN" dirty="0">
                <a:solidFill>
                  <a:srgbClr val="0070C0"/>
                </a:solidFill>
              </a:rPr>
              <a:t>variable-size</a:t>
            </a:r>
            <a:r>
              <a:rPr lang="en-US" altLang="zh-CN" dirty="0"/>
              <a:t> portions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CA01E0D-2051-45F1-8EEA-BE08BC1AE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2971" y="1251858"/>
            <a:ext cx="6292948" cy="4256994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After Compaction </a:t>
            </a:r>
            <a:r>
              <a:rPr lang="zh-CN" altLang="en-US" dirty="0"/>
              <a:t>（紧缩）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655E65E-3461-4DF4-AC09-C973943C3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914" y="977355"/>
            <a:ext cx="7473043" cy="4947431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Method 2 : Chained Allocation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841103"/>
            <a:ext cx="4893129" cy="5175794"/>
          </a:xfrm>
        </p:spPr>
        <p:txBody>
          <a:bodyPr/>
          <a:lstStyle/>
          <a:p>
            <a:r>
              <a:rPr lang="en-US" altLang="zh-CN" dirty="0"/>
              <a:t>Allocation is on an </a:t>
            </a:r>
            <a:r>
              <a:rPr lang="en-US" altLang="zh-CN" dirty="0">
                <a:solidFill>
                  <a:srgbClr val="0070C0"/>
                </a:solidFill>
              </a:rPr>
              <a:t>individual block basis </a:t>
            </a:r>
          </a:p>
          <a:p>
            <a:r>
              <a:rPr lang="en-US" altLang="zh-CN" dirty="0"/>
              <a:t>Each block contains a </a:t>
            </a:r>
            <a:r>
              <a:rPr lang="en-US" altLang="zh-CN" dirty="0">
                <a:solidFill>
                  <a:srgbClr val="0070C0"/>
                </a:solidFill>
              </a:rPr>
              <a:t>pointer</a:t>
            </a:r>
            <a:r>
              <a:rPr lang="en-US" altLang="zh-CN" dirty="0"/>
              <a:t> to the next block in the chain</a:t>
            </a:r>
          </a:p>
          <a:p>
            <a:r>
              <a:rPr lang="en-US" altLang="zh-CN" dirty="0"/>
              <a:t>The file allocation table needs just </a:t>
            </a:r>
            <a:r>
              <a:rPr lang="en-US" altLang="zh-CN" dirty="0">
                <a:solidFill>
                  <a:srgbClr val="0070C0"/>
                </a:solidFill>
              </a:rPr>
              <a:t>a single entry </a:t>
            </a:r>
            <a:r>
              <a:rPr lang="en-US" altLang="zh-CN" dirty="0"/>
              <a:t>for each file</a:t>
            </a:r>
          </a:p>
          <a:p>
            <a:r>
              <a:rPr lang="en-US" altLang="zh-CN" dirty="0">
                <a:solidFill>
                  <a:srgbClr val="C00000"/>
                </a:solidFill>
              </a:rPr>
              <a:t>No external fragmentation to worry about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42BE380-3424-4EDE-8084-FD5671C65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581" y="1143000"/>
            <a:ext cx="5878417" cy="3999819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Chained Allocation After Consolidation</a:t>
            </a:r>
            <a:r>
              <a:rPr lang="zh-CN" altLang="en-US" dirty="0"/>
              <a:t>（合并）</a:t>
            </a:r>
          </a:p>
        </p:txBody>
      </p:sp>
      <p:sp>
        <p:nvSpPr>
          <p:cNvPr id="5" name="矩形 4"/>
          <p:cNvSpPr/>
          <p:nvPr/>
        </p:nvSpPr>
        <p:spPr>
          <a:xfrm>
            <a:off x="2081840" y="5872842"/>
            <a:ext cx="81788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One consequence is that there is no accommodation of </a:t>
            </a:r>
            <a:r>
              <a:rPr lang="en-US" altLang="zh-CN" b="1" dirty="0">
                <a:solidFill>
                  <a:srgbClr val="C00000"/>
                </a:solidFill>
              </a:rPr>
              <a:t>the principle of locality</a:t>
            </a:r>
            <a:r>
              <a:rPr lang="en-US" altLang="zh-CN" b="1" dirty="0"/>
              <a:t>. </a:t>
            </a:r>
            <a:endParaRPr lang="zh-CN" altLang="en-US" b="1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A6F99C0-BC5B-4E6D-8480-1682F53BC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572" y="968829"/>
            <a:ext cx="7040666" cy="4802637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Method3 : Indexed Allocation with Block Portions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772E3DE-F71A-4A11-8BEA-41C6014CEF6F}"/>
              </a:ext>
            </a:extLst>
          </p:cNvPr>
          <p:cNvSpPr txBox="1">
            <a:spLocks/>
          </p:cNvSpPr>
          <p:nvPr/>
        </p:nvSpPr>
        <p:spPr>
          <a:xfrm>
            <a:off x="838200" y="841103"/>
            <a:ext cx="4893129" cy="51757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just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Wingdings" panose="05000000000000000000" pitchFamily="2" charset="2"/>
              <a:buChar char="q"/>
              <a:defRPr sz="2400" b="1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14350" indent="-171450" algn="just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2pPr>
            <a:lvl3pPr marL="857250" indent="-171450" algn="just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3pPr>
            <a:lvl4pPr marL="1200150" indent="-171450" algn="just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4pPr>
            <a:lvl5pPr marL="1543050" indent="-171450" algn="just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File allocation table contains a </a:t>
            </a:r>
            <a:r>
              <a:rPr lang="en-US" altLang="zh-CN" dirty="0">
                <a:solidFill>
                  <a:srgbClr val="0070C0"/>
                </a:solidFill>
              </a:rPr>
              <a:t>separate one-level index </a:t>
            </a:r>
            <a:r>
              <a:rPr lang="en-US" altLang="zh-CN" dirty="0"/>
              <a:t>for each file.</a:t>
            </a:r>
          </a:p>
          <a:p>
            <a:r>
              <a:rPr lang="en-US" altLang="zh-CN" dirty="0"/>
              <a:t>The index has </a:t>
            </a:r>
            <a:r>
              <a:rPr lang="en-US" altLang="zh-CN" dirty="0">
                <a:solidFill>
                  <a:srgbClr val="0070C0"/>
                </a:solidFill>
              </a:rPr>
              <a:t>one entry for each portion </a:t>
            </a:r>
            <a:r>
              <a:rPr lang="en-US" altLang="zh-CN" dirty="0"/>
              <a:t>allocated to the file</a:t>
            </a:r>
          </a:p>
          <a:p>
            <a:r>
              <a:rPr lang="en-US" altLang="zh-CN" dirty="0"/>
              <a:t>Indexed allocation supports both </a:t>
            </a:r>
            <a:r>
              <a:rPr lang="en-US" altLang="zh-CN" dirty="0">
                <a:solidFill>
                  <a:srgbClr val="C00000"/>
                </a:solidFill>
              </a:rPr>
              <a:t>sequential and direct access </a:t>
            </a:r>
            <a:r>
              <a:rPr lang="en-US" altLang="zh-CN" dirty="0"/>
              <a:t>to the file and thus is the most </a:t>
            </a:r>
            <a:r>
              <a:rPr lang="en-US" altLang="zh-CN" dirty="0">
                <a:solidFill>
                  <a:srgbClr val="C00000"/>
                </a:solidFill>
              </a:rPr>
              <a:t>popular form </a:t>
            </a:r>
            <a:r>
              <a:rPr lang="en-US" altLang="zh-CN" dirty="0"/>
              <a:t>of file allocation</a:t>
            </a:r>
            <a:endParaRPr lang="zh-CN" altLang="en-US" dirty="0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F6EB304F-77EE-4123-A40A-E6338C9ADF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66757" y="1509890"/>
            <a:ext cx="5738131" cy="3400928"/>
          </a:xfr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E70AB6AB-4179-453B-A9D0-6E817F1AF41B}"/>
              </a:ext>
            </a:extLst>
          </p:cNvPr>
          <p:cNvSpPr txBox="1"/>
          <p:nvPr/>
        </p:nvSpPr>
        <p:spPr>
          <a:xfrm>
            <a:off x="7260771" y="5108512"/>
            <a:ext cx="39297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Indexed Allocation with Block Portions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Method4 : Indexed Allocation with Variable Length Portions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067265" y="5777983"/>
            <a:ext cx="58943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Allocation by variable-size portions improves locality. 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207D5B9-36C4-4E07-A47B-AE66009E8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50" y="955222"/>
            <a:ext cx="7429500" cy="4762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Free Space Management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DAT (Disk available table)</a:t>
            </a:r>
          </a:p>
          <a:p>
            <a:pPr lvl="1"/>
            <a:r>
              <a:rPr lang="en-US" altLang="zh-CN" dirty="0"/>
              <a:t>Bit table</a:t>
            </a:r>
          </a:p>
          <a:p>
            <a:pPr lvl="1"/>
            <a:r>
              <a:rPr lang="en-US" altLang="zh-CN" dirty="0"/>
              <a:t>Chained Free Portions </a:t>
            </a:r>
          </a:p>
          <a:p>
            <a:pPr lvl="1"/>
            <a:r>
              <a:rPr lang="en-US" altLang="zh-CN" dirty="0"/>
              <a:t>Indexing</a:t>
            </a:r>
          </a:p>
          <a:p>
            <a:pPr lvl="1"/>
            <a:r>
              <a:rPr lang="en-US" altLang="zh-CN" dirty="0"/>
              <a:t>Free Block List 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540712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mbria-Calibri">
      <a:majorFont>
        <a:latin typeface="Cambria" panose="02040503050406030204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2695</TotalTime>
  <Words>2311</Words>
  <Application>Microsoft Macintosh PowerPoint</Application>
  <PresentationFormat>Widescreen</PresentationFormat>
  <Paragraphs>383</Paragraphs>
  <Slides>62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75" baseType="lpstr">
      <vt:lpstr>等线</vt:lpstr>
      <vt:lpstr>Microsoft YaHei</vt:lpstr>
      <vt:lpstr>Microsoft YaHei</vt:lpstr>
      <vt:lpstr>Microsoft YaHei UI</vt:lpstr>
      <vt:lpstr>TimesTenLTStd-Bold</vt:lpstr>
      <vt:lpstr>Aptos</vt:lpstr>
      <vt:lpstr>Arial</vt:lpstr>
      <vt:lpstr>Calibri</vt:lpstr>
      <vt:lpstr>Cambria Math</vt:lpstr>
      <vt:lpstr>Times New Roman</vt:lpstr>
      <vt:lpstr>Wingdings</vt:lpstr>
      <vt:lpstr>1_Office 主题​​</vt:lpstr>
      <vt:lpstr>公式</vt:lpstr>
      <vt:lpstr>PowerPoint Presentation</vt:lpstr>
      <vt:lpstr>Outline</vt:lpstr>
      <vt:lpstr>Outline (cont.)</vt:lpstr>
      <vt:lpstr>Relocation（重定位）</vt:lpstr>
      <vt:lpstr>Addressing Requirements</vt:lpstr>
      <vt:lpstr>5. Logical Organization</vt:lpstr>
      <vt:lpstr>Memory Management Techniques</vt:lpstr>
      <vt:lpstr>Characteristics of Paging and Segmentation</vt:lpstr>
      <vt:lpstr>Memory Management Formats</vt:lpstr>
      <vt:lpstr>Paging</vt:lpstr>
      <vt:lpstr>Logical-to-Physical Address Translation - Paging</vt:lpstr>
      <vt:lpstr>Quiz</vt:lpstr>
      <vt:lpstr>Quiz</vt:lpstr>
      <vt:lpstr>7.4 Segmentation</vt:lpstr>
      <vt:lpstr> Logical-to-Physical Address Translation -Segmentation </vt:lpstr>
      <vt:lpstr>Quiz</vt:lpstr>
      <vt:lpstr>Quiz</vt:lpstr>
      <vt:lpstr>Two-Level Hierarchical Page Table（二级页表）</vt:lpstr>
      <vt:lpstr>Inverted Page Table</vt:lpstr>
      <vt:lpstr>Use of a TLB</vt:lpstr>
      <vt:lpstr>6. Operating System Policies for Virtual Memory</vt:lpstr>
      <vt:lpstr>Combined Examples</vt:lpstr>
      <vt:lpstr>Resident Set Management</vt:lpstr>
      <vt:lpstr>Resident Set Management Summary</vt:lpstr>
      <vt:lpstr>Working Set Strategy</vt:lpstr>
      <vt:lpstr>Guidance for Resident Size</vt:lpstr>
      <vt:lpstr>7 Differences in I/O Devices</vt:lpstr>
      <vt:lpstr>2. Organization of the I/O Function</vt:lpstr>
      <vt:lpstr>Evolution of the I/O Function</vt:lpstr>
      <vt:lpstr>Buffering</vt:lpstr>
      <vt:lpstr>Single Buffer</vt:lpstr>
      <vt:lpstr>Double Buffer</vt:lpstr>
      <vt:lpstr>5 Disk Scheduling ——Disk Performance Parameters</vt:lpstr>
      <vt:lpstr>Disk Scheduling Policies</vt:lpstr>
      <vt:lpstr>Disk Cache</vt:lpstr>
      <vt:lpstr>Replacement strategy</vt:lpstr>
      <vt:lpstr>Frequency-Based Replacement</vt:lpstr>
      <vt:lpstr>RAID Levels</vt:lpstr>
      <vt:lpstr>Case Discussion</vt:lpstr>
      <vt:lpstr>PowerPoint Presentation</vt:lpstr>
      <vt:lpstr>Scheduling</vt:lpstr>
      <vt:lpstr>7 Elements of File Management</vt:lpstr>
      <vt:lpstr>File Organization and Access</vt:lpstr>
      <vt:lpstr>The Pile</vt:lpstr>
      <vt:lpstr>The Sequential File</vt:lpstr>
      <vt:lpstr>Indexed Sequential File</vt:lpstr>
      <vt:lpstr>Indexed File</vt:lpstr>
      <vt:lpstr>Direct or Hashed File</vt:lpstr>
      <vt:lpstr>B-Tree Characteristics</vt:lpstr>
      <vt:lpstr>Inserting Nodes Into a B-Tree</vt:lpstr>
      <vt:lpstr>Record Blocking（记录组块）</vt:lpstr>
      <vt:lpstr>Fixed Blocking</vt:lpstr>
      <vt:lpstr>Variable Blocking: Spanned</vt:lpstr>
      <vt:lpstr>Variable Blocking: Unspanned</vt:lpstr>
      <vt:lpstr>Table 12.3 File Allocation Methods</vt:lpstr>
      <vt:lpstr>Method1 : Contiguous File Allocation</vt:lpstr>
      <vt:lpstr>After Compaction （紧缩）</vt:lpstr>
      <vt:lpstr>Method 2 : Chained Allocation</vt:lpstr>
      <vt:lpstr>Chained Allocation After Consolidation（合并）</vt:lpstr>
      <vt:lpstr>Method3 : Indexed Allocation with Block Portions</vt:lpstr>
      <vt:lpstr>Method4 : Indexed Allocation with Variable Length Portions</vt:lpstr>
      <vt:lpstr>Free Space Management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System</dc:title>
  <dc:creator>XiangyiChen</dc:creator>
  <cp:lastModifiedBy>xiangyi Chen</cp:lastModifiedBy>
  <cp:revision>279</cp:revision>
  <dcterms:created xsi:type="dcterms:W3CDTF">2020-02-20T05:29:15Z</dcterms:created>
  <dcterms:modified xsi:type="dcterms:W3CDTF">2026-06-19T14:23:00Z</dcterms:modified>
</cp:coreProperties>
</file>