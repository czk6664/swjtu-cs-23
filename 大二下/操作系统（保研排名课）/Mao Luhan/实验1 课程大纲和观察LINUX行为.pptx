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1249" r:id="rId2"/>
    <p:sldId id="11089452" r:id="rId3"/>
    <p:sldId id="11089456" r:id="rId4"/>
    <p:sldId id="11089459" r:id="rId5"/>
    <p:sldId id="11089457" r:id="rId6"/>
    <p:sldId id="11089458" r:id="rId7"/>
    <p:sldId id="11089453" r:id="rId8"/>
    <p:sldId id="11089455" r:id="rId9"/>
    <p:sldId id="11089454" r:id="rId10"/>
    <p:sldId id="614" r:id="rId11"/>
    <p:sldId id="636" r:id="rId12"/>
    <p:sldId id="11089445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65D8"/>
    <a:srgbClr val="201E97"/>
    <a:srgbClr val="BCE0F9"/>
    <a:srgbClr val="1D54B1"/>
    <a:srgbClr val="006ED8"/>
    <a:srgbClr val="21459F"/>
    <a:srgbClr val="2F90D8"/>
    <a:srgbClr val="FFC100"/>
    <a:srgbClr val="402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71" autoAdjust="0"/>
    <p:restoredTop sz="96024"/>
  </p:normalViewPr>
  <p:slideViewPr>
    <p:cSldViewPr snapToGrid="0">
      <p:cViewPr varScale="1">
        <p:scale>
          <a:sx n="52" d="100"/>
          <a:sy n="52" d="100"/>
        </p:scale>
        <p:origin x="68" y="1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2484F0-7822-AB47-9657-C09B9A31A416}" type="datetimeFigureOut">
              <a:rPr lang="en-CN" smtClean="0"/>
              <a:t>04/23/2026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19F9-046B-FE49-B649-4F7C8ABBDA8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75959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6FC800D-977E-B84F-8D17-E7359F0B8C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960FE95-8E0A-CD44-B636-99A5EA03F0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9F82DD32-06A8-024F-A456-3B82C1CB33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FE534D89-206C-AB46-A388-714D6838E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B0EF5-209B-974C-BAC4-258DFE473C13}" type="datetimeFigureOut">
              <a:rPr kumimoji="1" lang="zh-CN" altLang="en-US" smtClean="0"/>
              <a:t>2026/4/23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A346-C087-3C4D-9F8A-3D4C1EB5DD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B0EF5-209B-974C-BAC4-258DFE473C13}" type="datetimeFigureOut">
              <a:rPr kumimoji="1" lang="zh-CN" altLang="en-US" smtClean="0"/>
              <a:t>2026/4/23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A346-C087-3C4D-9F8A-3D4C1EB5DD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B0EF5-209B-974C-BAC4-258DFE473C13}" type="datetimeFigureOut">
              <a:rPr kumimoji="1" lang="zh-CN" altLang="en-US" smtClean="0"/>
              <a:t>2026/4/23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A346-C087-3C4D-9F8A-3D4C1EB5DD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B0EF5-209B-974C-BAC4-258DFE473C13}" type="datetimeFigureOut">
              <a:rPr kumimoji="1" lang="zh-CN" altLang="en-US" smtClean="0"/>
              <a:t>2026/4/23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A346-C087-3C4D-9F8A-3D4C1EB5DD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B0EF5-209B-974C-BAC4-258DFE473C13}" type="datetimeFigureOut">
              <a:rPr kumimoji="1" lang="zh-CN" altLang="en-US" smtClean="0"/>
              <a:t>2026/4/23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A346-C087-3C4D-9F8A-3D4C1EB5DD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B0EF5-209B-974C-BAC4-258DFE473C13}" type="datetimeFigureOut">
              <a:rPr kumimoji="1" lang="zh-CN" altLang="en-US" smtClean="0"/>
              <a:t>2026/4/23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A346-C087-3C4D-9F8A-3D4C1EB5DD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B0EF5-209B-974C-BAC4-258DFE473C13}" type="datetimeFigureOut">
              <a:rPr kumimoji="1" lang="zh-CN" altLang="en-US" smtClean="0"/>
              <a:t>2026/4/23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A346-C087-3C4D-9F8A-3D4C1EB5DDF1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" y="-6"/>
            <a:ext cx="12191999" cy="6857107"/>
            <a:chOff x="1" y="-6"/>
            <a:chExt cx="12191999" cy="685710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screen">
              <a:alphaModFix amt="95000"/>
            </a:blip>
            <a:srcRect/>
            <a:stretch>
              <a:fillRect/>
            </a:stretch>
          </p:blipFill>
          <p:spPr>
            <a:xfrm flipV="1">
              <a:off x="1" y="-6"/>
              <a:ext cx="12191998" cy="4324355"/>
            </a:xfrm>
            <a:custGeom>
              <a:avLst/>
              <a:gdLst>
                <a:gd name="connsiteX0" fmla="*/ 0 w 12192000"/>
                <a:gd name="connsiteY0" fmla="*/ 2558508 h 2558508"/>
                <a:gd name="connsiteX1" fmla="*/ 12192000 w 12192000"/>
                <a:gd name="connsiteY1" fmla="*/ 2558508 h 2558508"/>
                <a:gd name="connsiteX2" fmla="*/ 12192000 w 12192000"/>
                <a:gd name="connsiteY2" fmla="*/ 0 h 2558508"/>
                <a:gd name="connsiteX3" fmla="*/ 0 w 12192000"/>
                <a:gd name="connsiteY3" fmla="*/ 0 h 2558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2558508">
                  <a:moveTo>
                    <a:pt x="0" y="2558508"/>
                  </a:moveTo>
                  <a:lnTo>
                    <a:pt x="12192000" y="2558508"/>
                  </a:lnTo>
                  <a:lnTo>
                    <a:pt x="12192000" y="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screen">
              <a:alphaModFix amt="20000"/>
            </a:blip>
            <a:stretch>
              <a:fillRect/>
            </a:stretch>
          </p:blipFill>
          <p:spPr>
            <a:xfrm flipV="1">
              <a:off x="1224328" y="-6"/>
              <a:ext cx="10967672" cy="321310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1" y="-6"/>
              <a:ext cx="12191207" cy="6857107"/>
            </a:xfrm>
            <a:prstGeom prst="rect">
              <a:avLst/>
            </a:prstGeom>
            <a:gradFill flip="none" rotWithShape="1">
              <a:gsLst>
                <a:gs pos="51000">
                  <a:srgbClr val="308FF0">
                    <a:lumMod val="10000"/>
                    <a:lumOff val="90000"/>
                    <a:alpha val="0"/>
                  </a:srgbClr>
                </a:gs>
                <a:gs pos="0">
                  <a:srgbClr val="308FF0">
                    <a:lumMod val="20000"/>
                    <a:lumOff val="80000"/>
                    <a:alpha val="49271"/>
                  </a:srgbClr>
                </a:gs>
                <a:gs pos="100000">
                  <a:srgbClr val="E9ECFC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OPPOSans R" pitchFamily="18" charset="-122"/>
                <a:cs typeface="+mn-cs"/>
                <a:sym typeface="+mn-lt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B0EF5-209B-974C-BAC4-258DFE473C13}" type="datetimeFigureOut">
              <a:rPr kumimoji="1" lang="zh-CN" altLang="en-US" smtClean="0"/>
              <a:t>2026/4/23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A346-C087-3C4D-9F8A-3D4C1EB5DD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B0EF5-209B-974C-BAC4-258DFE473C13}" type="datetimeFigureOut">
              <a:rPr kumimoji="1" lang="zh-CN" altLang="en-US" smtClean="0"/>
              <a:t>2026/4/23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A346-C087-3C4D-9F8A-3D4C1EB5DD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B0EF5-209B-974C-BAC4-258DFE473C13}" type="datetimeFigureOut">
              <a:rPr kumimoji="1" lang="zh-CN" altLang="en-US" smtClean="0"/>
              <a:t>2026/4/23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A346-C087-3C4D-9F8A-3D4C1EB5DD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B0EF5-209B-974C-BAC4-258DFE473C13}" type="datetimeFigureOut">
              <a:rPr kumimoji="1" lang="zh-CN" altLang="en-US" smtClean="0"/>
              <a:t>2026/4/23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A346-C087-3C4D-9F8A-3D4C1EB5DD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64023" y="297147"/>
            <a:ext cx="10515600" cy="6638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40" y="1232608"/>
            <a:ext cx="10515600" cy="4981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28B0EF5-209B-974C-BAC4-258DFE473C13}" type="datetimeFigureOut">
              <a:rPr kumimoji="1" lang="zh-CN" altLang="en-US" smtClean="0"/>
              <a:t>2026/4/23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347A346-C087-3C4D-9F8A-3D4C1EB5DDF1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26BCB6-9C4E-4634-9AFA-D29FB2BB70CB}"/>
              </a:ext>
            </a:extLst>
          </p:cNvPr>
          <p:cNvSpPr/>
          <p:nvPr userDrawn="1"/>
        </p:nvSpPr>
        <p:spPr>
          <a:xfrm flipH="1">
            <a:off x="-1" y="6602681"/>
            <a:ext cx="12191683" cy="254872"/>
          </a:xfrm>
          <a:prstGeom prst="rect">
            <a:avLst/>
          </a:prstGeom>
          <a:gradFill>
            <a:gsLst>
              <a:gs pos="100000">
                <a:srgbClr val="2F90D8">
                  <a:alpha val="98000"/>
                </a:srgbClr>
              </a:gs>
              <a:gs pos="49000">
                <a:srgbClr val="3354B5">
                  <a:alpha val="90000"/>
                </a:srgbClr>
              </a:gs>
              <a:gs pos="0">
                <a:srgbClr val="361F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 altLang="zh-CN" dirty="0">
              <a:solidFill>
                <a:srgbClr val="FF0000"/>
              </a:solidFill>
              <a:latin typeface="Calibri" panose="020F0502020204030204"/>
              <a:ea typeface="OPPOSans R" pitchFamily="18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AEB5991-FD76-4635-B3F5-4134464B33E4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/>
          <a:stretch>
            <a:fillRect/>
          </a:stretch>
        </p:blipFill>
        <p:spPr>
          <a:xfrm>
            <a:off x="11286757" y="238663"/>
            <a:ext cx="594505" cy="663864"/>
          </a:xfrm>
          <a:prstGeom prst="rect">
            <a:avLst/>
          </a:prstGeom>
        </p:spPr>
      </p:pic>
      <p:cxnSp>
        <p:nvCxnSpPr>
          <p:cNvPr id="9" name="直接连接符 34">
            <a:extLst>
              <a:ext uri="{FF2B5EF4-FFF2-40B4-BE49-F238E27FC236}">
                <a16:creationId xmlns:a16="http://schemas.microsoft.com/office/drawing/2014/main" id="{117EB323-3F56-4BF7-BD06-BC533821E240}"/>
              </a:ext>
            </a:extLst>
          </p:cNvPr>
          <p:cNvCxnSpPr/>
          <p:nvPr userDrawn="1"/>
        </p:nvCxnSpPr>
        <p:spPr>
          <a:xfrm>
            <a:off x="382784" y="1044792"/>
            <a:ext cx="11551917" cy="0"/>
          </a:xfrm>
          <a:prstGeom prst="line">
            <a:avLst/>
          </a:prstGeom>
          <a:noFill/>
          <a:ln w="19050" cap="flat" cmpd="sng" algn="ctr">
            <a:gradFill>
              <a:gsLst>
                <a:gs pos="0">
                  <a:srgbClr val="006ED8"/>
                </a:gs>
                <a:gs pos="100000">
                  <a:srgbClr val="006ED8">
                    <a:alpha val="0"/>
                  </a:srgbClr>
                </a:gs>
              </a:gsLst>
              <a:lin ang="0" scaled="0"/>
            </a:gradFill>
            <a:prstDash val="solid"/>
            <a:miter lim="800000"/>
          </a:ln>
          <a:effectLst/>
        </p:spPr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D3146D5-22DF-40B5-B20A-437C1DB147B0}"/>
              </a:ext>
            </a:extLst>
          </p:cNvPr>
          <p:cNvGrpSpPr/>
          <p:nvPr userDrawn="1"/>
        </p:nvGrpSpPr>
        <p:grpSpPr>
          <a:xfrm>
            <a:off x="387772" y="430293"/>
            <a:ext cx="476251" cy="412751"/>
            <a:chOff x="375898" y="370092"/>
            <a:chExt cx="476250" cy="412750"/>
          </a:xfrm>
        </p:grpSpPr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095FDF94-6CE8-4E6C-B108-36EDB4DA66C3}"/>
                </a:ext>
              </a:extLst>
            </p:cNvPr>
            <p:cNvSpPr/>
            <p:nvPr/>
          </p:nvSpPr>
          <p:spPr>
            <a:xfrm>
              <a:off x="375898" y="439942"/>
              <a:ext cx="330200" cy="342900"/>
            </a:xfrm>
            <a:prstGeom prst="parallelogram">
              <a:avLst/>
            </a:prstGeom>
            <a:gradFill>
              <a:gsLst>
                <a:gs pos="0">
                  <a:srgbClr val="006ED8"/>
                </a:gs>
                <a:gs pos="88000">
                  <a:srgbClr val="006ED8">
                    <a:alpha val="29000"/>
                  </a:srgbClr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77">
                <a:defRPr/>
              </a:pPr>
              <a:endParaRPr lang="zh-CN" altLang="en-US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57D87624-9A9F-4255-97FC-B52BF6CC0BEC}"/>
                </a:ext>
              </a:extLst>
            </p:cNvPr>
            <p:cNvSpPr/>
            <p:nvPr/>
          </p:nvSpPr>
          <p:spPr>
            <a:xfrm>
              <a:off x="521948" y="370092"/>
              <a:ext cx="330200" cy="342900"/>
            </a:xfrm>
            <a:prstGeom prst="parallelogram">
              <a:avLst/>
            </a:prstGeom>
            <a:gradFill>
              <a:gsLst>
                <a:gs pos="0">
                  <a:srgbClr val="006ED8"/>
                </a:gs>
                <a:gs pos="100000">
                  <a:srgbClr val="21459F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77">
                <a:defRPr/>
              </a:pPr>
              <a:endParaRPr lang="zh-CN" altLang="en-US" kern="0" dirty="0">
                <a:solidFill>
                  <a:prstClr val="white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lang="zh-CN" altLang="en-US" sz="3200" b="1" i="0" kern="1200" dirty="0">
          <a:solidFill>
            <a:srgbClr val="0064D8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liyang23@swjtu.edu.cn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668831" y="4435281"/>
            <a:ext cx="6112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>
              <a:defRPr/>
            </a:pPr>
            <a:r>
              <a:rPr lang="en-US" altLang="zh-CN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2026</a:t>
            </a:r>
            <a:r>
              <a:rPr lang="zh-CN" altLang="zh-CN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年</a:t>
            </a:r>
            <a:r>
              <a:rPr lang="en-US" altLang="zh-CN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4</a:t>
            </a:r>
            <a:r>
              <a:rPr lang="zh-CN" altLang="zh-CN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月</a:t>
            </a:r>
            <a:endParaRPr lang="zh-CN" altLang="en-US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4268" y="2265943"/>
            <a:ext cx="10803464" cy="48322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 defTabSz="914377">
              <a:defRPr/>
            </a:pPr>
            <a:r>
              <a:rPr lang="zh-CN" altLang="en-US" sz="5600" b="1" kern="100" dirty="0"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</a:t>
            </a:r>
            <a:r>
              <a:rPr lang="en-US" altLang="zh-CN" sz="5600" b="1" kern="100" dirty="0"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  </a:t>
            </a:r>
            <a:r>
              <a:rPr lang="zh-CN" altLang="en-US" sz="5600" b="1" kern="100" dirty="0"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观察</a:t>
            </a:r>
            <a:r>
              <a:rPr lang="en-US" altLang="zh-CN" sz="5600" b="1" kern="100" dirty="0"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5600" b="1" kern="100" dirty="0"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的行为</a:t>
            </a:r>
            <a:endParaRPr lang="zh-CN" altLang="zh-CN" sz="5600" b="1" kern="100" dirty="0">
              <a:gradFill>
                <a:gsLst>
                  <a:gs pos="100000">
                    <a:srgbClr val="BCE0F9"/>
                  </a:gs>
                  <a:gs pos="9000">
                    <a:schemeClr val="bg1"/>
                  </a:gs>
                </a:gsLst>
                <a:lin ang="0" scaled="0"/>
              </a:gradFill>
              <a:effectLst>
                <a:outerShdw blurRad="127000" dist="38100" dir="2700000" sx="101000" sy="101000" algn="tl" rotWithShape="0">
                  <a:prstClr val="black">
                    <a:alpha val="45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68831" y="3732569"/>
            <a:ext cx="6112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授课老师：李洋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546266" y="341140"/>
            <a:ext cx="3110303" cy="9413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C1D5F8-0C55-F949-814A-BD30E31CA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1" y="1270000"/>
            <a:ext cx="63500" cy="7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793BA4-C5B0-4440-8AF8-C6FD49C46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1" y="1270000"/>
            <a:ext cx="635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4444FC-4D48-49A7-84C0-B0C4BFE39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1  </a:t>
            </a:r>
            <a:r>
              <a:rPr lang="zh-CN" altLang="en-US" dirty="0"/>
              <a:t>观察</a:t>
            </a:r>
            <a:r>
              <a:rPr lang="en-US" altLang="zh-CN" dirty="0"/>
              <a:t>Linux</a:t>
            </a:r>
            <a:r>
              <a:rPr lang="zh-CN" altLang="en-US" dirty="0"/>
              <a:t>的行为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990C53-924F-4ABF-803B-0FF7A6173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3065D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通过本实验，了解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系统的组织</a:t>
            </a:r>
            <a:r>
              <a:rPr kumimoji="1"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结构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，观察各种系统状态信息，并熟悉这些结构与信息的读取。</a:t>
            </a:r>
            <a:endParaRPr kumimoji="1"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kumimoji="1"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kumimoji="1" lang="zh-CN" altLang="en-US" sz="2800" b="1" dirty="0">
                <a:solidFill>
                  <a:srgbClr val="3065D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实验内容：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编写程序打印出如下内容（上交的实验</a:t>
            </a:r>
            <a:r>
              <a:rPr kumimoji="1"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名为</a:t>
            </a:r>
            <a:r>
              <a:rPr kumimoji="1"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: test1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 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类型及型号、</a:t>
            </a:r>
            <a:r>
              <a:rPr kumimoji="1"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内核版本号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  系统最近一次启动以来经历的时间（</a:t>
            </a:r>
            <a:r>
              <a:rPr kumimoji="1" lang="zh-CN" altLang="en-US" b="1" dirty="0">
                <a:solidFill>
                  <a:srgbClr val="3065D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以格式</a:t>
            </a:r>
            <a:r>
              <a:rPr kumimoji="1" lang="en-US" altLang="zh-CN" b="1" dirty="0">
                <a:solidFill>
                  <a:srgbClr val="3065D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:xx</a:t>
            </a:r>
            <a:r>
              <a:rPr kumimoji="1" lang="zh-CN" altLang="en-US" b="1" dirty="0">
                <a:solidFill>
                  <a:srgbClr val="3065D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r>
              <a:rPr kumimoji="1" lang="en-US" altLang="zh-CN" b="1" dirty="0">
                <a:solidFill>
                  <a:srgbClr val="3065D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</a:t>
            </a:r>
            <a:r>
              <a:rPr kumimoji="1" lang="zh-CN" altLang="en-US" b="1" dirty="0">
                <a:solidFill>
                  <a:srgbClr val="3065D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r>
              <a:rPr kumimoji="1" lang="en-US" altLang="zh-CN" b="1" dirty="0">
                <a:solidFill>
                  <a:srgbClr val="3065D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xx</a:t>
            </a:r>
            <a:r>
              <a:rPr kumimoji="1" lang="zh-CN" altLang="en-US" b="1" dirty="0">
                <a:solidFill>
                  <a:srgbClr val="3065D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秒输出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在三个状态的时间花费（用户态、内核态、空闲状态）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  内存的使用情况（已使用、可用）、平均负载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  系统启动以来所创建的进程数、上下文转换次数</a:t>
            </a:r>
          </a:p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757793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3DB8-E498-A943-8A7C-CE952F0C8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Proc</a:t>
            </a:r>
            <a:r>
              <a:rPr kumimoji="1" lang="zh-CN" altLang="en-US" dirty="0"/>
              <a:t>虚拟文件目录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9D6A4-1305-BF46-8D67-A00DC9E33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040" y="1092530"/>
            <a:ext cx="10515600" cy="5121553"/>
          </a:xfrm>
        </p:spPr>
        <p:txBody>
          <a:bodyPr/>
          <a:lstStyle/>
          <a:p>
            <a:pPr algn="just"/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在 </a:t>
            </a:r>
            <a:r>
              <a:rPr kumimoji="1"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Linux </a:t>
            </a:r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系统中，它提供了一种访问</a:t>
            </a:r>
            <a:r>
              <a:rPr kumimoji="1" lang="zh-CN" altLang="en-US" dirty="0">
                <a:solidFill>
                  <a:srgbClr val="3065D8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内核数据结构和系统信息</a:t>
            </a:r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的机制，即</a:t>
            </a:r>
            <a:r>
              <a:rPr kumimoji="1"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/proc</a:t>
            </a:r>
            <a:r>
              <a:rPr kumimoji="1"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文件夹</a:t>
            </a:r>
            <a:endParaRPr kumimoji="1" lang="en-US" altLang="zh-CN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/>
            <a:endParaRPr kumimoji="1" lang="en-US" altLang="zh-CN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/>
            <a:r>
              <a:rPr kumimoji="1"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/proc </a:t>
            </a:r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文件夹中的文件和目录并不是真实存储在磁盘上的，而是由</a:t>
            </a:r>
            <a:r>
              <a:rPr kumimoji="1" lang="zh-CN" altLang="en-US" dirty="0">
                <a:solidFill>
                  <a:srgbClr val="3065D8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内核动态生成</a:t>
            </a:r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的，用于实时反映系统的运行状态。</a:t>
            </a:r>
            <a:endParaRPr kumimoji="1"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/>
            <a:endParaRPr kumimoji="1"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/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通过</a:t>
            </a:r>
            <a:r>
              <a:rPr kumimoji="1" lang="en-US" altLang="zh-CN" dirty="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cat</a:t>
            </a:r>
            <a:r>
              <a:rPr kumimoji="1"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指令查看文件内容</a:t>
            </a:r>
            <a:endParaRPr kumimoji="1"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718271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B45C9-CC26-3B4C-BF4B-C7E89045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/proc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1F503-FD1D-1947-9DE4-D98B3BBD0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 dirty="0"/>
          </a:p>
        </p:txBody>
      </p:sp>
      <p:pic>
        <p:nvPicPr>
          <p:cNvPr id="4" name="图片 4">
            <a:extLst>
              <a:ext uri="{FF2B5EF4-FFF2-40B4-BE49-F238E27FC236}">
                <a16:creationId xmlns:a16="http://schemas.microsoft.com/office/drawing/2014/main" id="{B5593BE8-609D-9949-8736-273F224AB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581" y="1119680"/>
            <a:ext cx="8198040" cy="5264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74539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8A459-4DDC-1841-A9A4-C5DEB21E6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/proc</a:t>
            </a:r>
            <a:r>
              <a:rPr kumimoji="1" lang="zh-CN" altLang="en-US" dirty="0"/>
              <a:t>根下文件和目录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4F7EA-40E6-304C-89BE-5D6774127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02" y="1280110"/>
            <a:ext cx="5505364" cy="4093428"/>
          </a:xfrm>
        </p:spPr>
        <p:txBody>
          <a:bodyPr>
            <a:normAutofit/>
          </a:bodyPr>
          <a:lstStyle/>
          <a:p>
            <a:r>
              <a:rPr kumimoji="1" lang="zh-CN" altLang="en-US" sz="2000" b="1" dirty="0">
                <a:solidFill>
                  <a:srgbClr val="C319B3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文件</a:t>
            </a:r>
            <a:r>
              <a:rPr kumimoji="1" lang="en-US" altLang="zh-CN" sz="2000" b="1" dirty="0">
                <a:solidFill>
                  <a:srgbClr val="C319B3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/</a:t>
            </a:r>
            <a:r>
              <a:rPr kumimoji="1" lang="zh-CN" altLang="en-US" sz="2000" b="1" dirty="0">
                <a:solidFill>
                  <a:srgbClr val="C319B3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目录名              描述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 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 err="1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apm</a:t>
            </a:r>
            <a:r>
              <a:rPr kumimoji="1" lang="en-US" altLang="zh-CN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                        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高级电源管理信息 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 err="1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cmdline</a:t>
            </a:r>
            <a:r>
              <a:rPr kumimoji="1" lang="en-US" altLang="zh-CN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                  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内核命令行 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 err="1">
                <a:solidFill>
                  <a:srgbClr val="3065D8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cpuinfo</a:t>
            </a:r>
            <a:r>
              <a:rPr kumimoji="1" lang="en-US" altLang="zh-CN" sz="2000" b="1" dirty="0">
                <a:solidFill>
                  <a:srgbClr val="3065D8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                  </a:t>
            </a:r>
            <a:r>
              <a:rPr kumimoji="1" lang="zh-CN" altLang="en-US" sz="2000" b="1" dirty="0">
                <a:solidFill>
                  <a:srgbClr val="3065D8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关于</a:t>
            </a:r>
            <a:r>
              <a:rPr kumimoji="1" lang="en-US" altLang="zh-CN" sz="2000" b="1" dirty="0" err="1">
                <a:solidFill>
                  <a:srgbClr val="3065D8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cpu</a:t>
            </a:r>
            <a:r>
              <a:rPr kumimoji="1" lang="zh-CN" altLang="en-US" sz="2000" b="1" dirty="0">
                <a:solidFill>
                  <a:srgbClr val="3065D8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信息 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devices                  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 可以用到的设备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 err="1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dma</a:t>
            </a:r>
            <a:r>
              <a:rPr kumimoji="1" lang="en-US" altLang="zh-CN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                       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 正在使用的</a:t>
            </a:r>
            <a:r>
              <a:rPr kumimoji="1" lang="en-US" altLang="zh-CN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DMA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通道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filesystems             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支持的文件系统 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interrupts              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 中断的使用 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 err="1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ioports</a:t>
            </a:r>
            <a:r>
              <a:rPr kumimoji="1" lang="en-US" altLang="zh-CN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 I/O            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端口的使用 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 err="1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kcore</a:t>
            </a:r>
            <a:r>
              <a:rPr kumimoji="1" lang="en-US" altLang="zh-CN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                      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内核核心印象 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 err="1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kmsg</a:t>
            </a:r>
            <a:r>
              <a:rPr kumimoji="1" lang="en-US" altLang="zh-CN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                       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内核消息 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 err="1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ksyms</a:t>
            </a:r>
            <a:r>
              <a:rPr kumimoji="1" lang="en-US" altLang="zh-CN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                     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内核符号表 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 err="1">
                <a:solidFill>
                  <a:srgbClr val="3065D8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loadavg</a:t>
            </a:r>
            <a:r>
              <a:rPr kumimoji="1" lang="en-US" altLang="zh-CN" sz="2000" b="1" dirty="0">
                <a:solidFill>
                  <a:srgbClr val="3065D8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                  </a:t>
            </a:r>
            <a:r>
              <a:rPr kumimoji="1" lang="zh-CN" altLang="en-US" sz="2000" b="1" dirty="0">
                <a:solidFill>
                  <a:srgbClr val="3065D8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负载均衡 </a:t>
            </a:r>
            <a:br>
              <a:rPr kumimoji="1" lang="zh-CN" altLang="en-US" sz="2000" b="1" dirty="0">
                <a:solidFill>
                  <a:srgbClr val="0070C0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locks                       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内核锁</a:t>
            </a:r>
            <a:endParaRPr kumimoji="1" lang="zh-CN" altLang="en-US" sz="2000" dirty="0">
              <a:latin typeface="Songti TC" panose="02010600040101010101" pitchFamily="2" charset="-120"/>
              <a:ea typeface="Songti TC" panose="02010600040101010101" pitchFamily="2" charset="-12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17CF0-CCD4-9A41-87CD-8887BF1F0A09}"/>
              </a:ext>
            </a:extLst>
          </p:cNvPr>
          <p:cNvSpPr txBox="1"/>
          <p:nvPr/>
        </p:nvSpPr>
        <p:spPr>
          <a:xfrm>
            <a:off x="5880266" y="1280109"/>
            <a:ext cx="572192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kumimoji="1" lang="zh-CN" altLang="en-US" sz="2000" b="1" dirty="0">
                <a:solidFill>
                  <a:srgbClr val="C319B3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 文件</a:t>
            </a:r>
            <a:r>
              <a:rPr kumimoji="1" lang="en-US" altLang="zh-CN" sz="2000" b="1" dirty="0">
                <a:solidFill>
                  <a:srgbClr val="C319B3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/</a:t>
            </a:r>
            <a:r>
              <a:rPr kumimoji="1" lang="zh-CN" altLang="en-US" sz="2000" b="1" dirty="0">
                <a:solidFill>
                  <a:srgbClr val="C319B3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目录名             描述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 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 err="1">
                <a:solidFill>
                  <a:srgbClr val="3065D8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meminfo</a:t>
            </a:r>
            <a:r>
              <a:rPr kumimoji="1" lang="en-US" altLang="zh-CN" sz="2000" b="1" dirty="0">
                <a:solidFill>
                  <a:srgbClr val="3065D8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                </a:t>
            </a:r>
            <a:r>
              <a:rPr kumimoji="1" lang="zh-CN" altLang="en-US" sz="2000" b="1" dirty="0">
                <a:solidFill>
                  <a:srgbClr val="3065D8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内存信息 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 err="1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misc</a:t>
            </a:r>
            <a:r>
              <a:rPr kumimoji="1" lang="en-US" altLang="zh-CN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                       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杂项设备信息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modules                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已加载模块列表 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mounts                  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加载的文件系统</a:t>
            </a:r>
          </a:p>
          <a:p>
            <a:pPr>
              <a:buFont typeface="Wingdings" pitchFamily="2" charset="2"/>
              <a:buNone/>
            </a:pPr>
            <a:r>
              <a:rPr kumimoji="1" lang="en-US" altLang="zh-CN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partitions               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系统识别的分区表 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 err="1">
                <a:solidFill>
                  <a:srgbClr val="3065D8"/>
                </a:solidFill>
                <a:latin typeface="Songti TC" panose="02010600040101010101" pitchFamily="2" charset="-120"/>
                <a:ea typeface="Songti TC" panose="02010600040101010101" pitchFamily="2" charset="-120"/>
              </a:rPr>
              <a:t>loadavg</a:t>
            </a:r>
            <a:r>
              <a:rPr kumimoji="1" lang="zh-CN" altLang="en-US" sz="2000" b="1" dirty="0">
                <a:solidFill>
                  <a:srgbClr val="3065D8"/>
                </a:solidFill>
                <a:latin typeface="Songti TC" panose="02010600040101010101" pitchFamily="2" charset="-120"/>
                <a:ea typeface="Songti TC" panose="02010600040101010101" pitchFamily="2" charset="-120"/>
              </a:rPr>
              <a:t>                 系统平均负载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slab                        slab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池信息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>
                <a:solidFill>
                  <a:srgbClr val="3065D8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stat                         </a:t>
            </a:r>
            <a:r>
              <a:rPr kumimoji="1" lang="zh-CN" altLang="en-US" sz="2000" b="1" dirty="0">
                <a:solidFill>
                  <a:srgbClr val="3065D8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全面统计状态表，</a:t>
            </a:r>
            <a:r>
              <a:rPr kumimoji="1" lang="en-US" altLang="zh-CN" sz="2000" b="1" dirty="0">
                <a:solidFill>
                  <a:srgbClr val="3065D8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CPU</a:t>
            </a:r>
            <a:r>
              <a:rPr kumimoji="1" lang="zh-CN" altLang="en-US" sz="2000" b="1" dirty="0">
                <a:solidFill>
                  <a:srgbClr val="3065D8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的情况等                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swaps                    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交换分区的使用情况</a:t>
            </a:r>
          </a:p>
          <a:p>
            <a:pPr>
              <a:buFont typeface="Wingdings" pitchFamily="2" charset="2"/>
              <a:buNone/>
            </a:pPr>
            <a:r>
              <a:rPr kumimoji="1" lang="en-US" altLang="zh-CN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sys                         </a:t>
            </a:r>
            <a: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内核参数 </a:t>
            </a:r>
            <a:br>
              <a:rPr kumimoji="1" lang="zh-CN" altLang="en-US" sz="2000" b="1" dirty="0"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</a:br>
            <a:r>
              <a:rPr kumimoji="1" lang="en-US" altLang="zh-CN" sz="2000" b="1" dirty="0">
                <a:solidFill>
                  <a:srgbClr val="3065D8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version                  </a:t>
            </a:r>
            <a:r>
              <a:rPr kumimoji="1" lang="zh-CN" altLang="en-US" sz="2000" b="1" dirty="0">
                <a:solidFill>
                  <a:srgbClr val="3065D8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内核版本 </a:t>
            </a:r>
          </a:p>
          <a:p>
            <a:pPr>
              <a:buFont typeface="Wingdings" pitchFamily="2" charset="2"/>
              <a:buNone/>
            </a:pPr>
            <a:r>
              <a:rPr kumimoji="1" lang="en-US" altLang="zh-CN" sz="2000" b="1" dirty="0">
                <a:solidFill>
                  <a:srgbClr val="3065D8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uptime                   </a:t>
            </a:r>
            <a:r>
              <a:rPr kumimoji="1" lang="zh-CN" altLang="en-US" sz="2000" b="1" dirty="0">
                <a:solidFill>
                  <a:srgbClr val="3065D8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系统正常运行</a:t>
            </a:r>
            <a:r>
              <a:rPr kumimoji="1" lang="zh-CN" altLang="en-US" sz="2000" b="1" dirty="0">
                <a:solidFill>
                  <a:srgbClr val="3065D8"/>
                </a:solidFill>
                <a:latin typeface="Songti TC" panose="02010600040101010101" pitchFamily="2" charset="-120"/>
                <a:ea typeface="Songti TC" panose="02010600040101010101" pitchFamily="2" charset="-120"/>
              </a:rPr>
              <a:t>和空闲</a:t>
            </a:r>
            <a:r>
              <a:rPr kumimoji="1" lang="zh-CN" altLang="en-US" sz="2000" b="1" dirty="0">
                <a:solidFill>
                  <a:srgbClr val="3065D8"/>
                </a:solidFill>
                <a:effectLst/>
                <a:latin typeface="Songti TC" panose="02010600040101010101" pitchFamily="2" charset="-120"/>
                <a:ea typeface="Songti TC" panose="02010600040101010101" pitchFamily="2" charset="-120"/>
              </a:rPr>
              <a:t>时间</a:t>
            </a:r>
            <a:r>
              <a:rPr kumimoji="1" lang="zh-CN" altLang="en-US" sz="2000" dirty="0">
                <a:solidFill>
                  <a:srgbClr val="3065D8"/>
                </a:solidFill>
                <a:latin typeface="Songti TC" panose="02010600040101010101" pitchFamily="2" charset="-120"/>
                <a:ea typeface="Songti TC" panose="02010600040101010101" pitchFamily="2" charset="-120"/>
              </a:rPr>
              <a:t> </a:t>
            </a:r>
            <a:endParaRPr lang="zh-CN" altLang="en-US" sz="2000" dirty="0">
              <a:solidFill>
                <a:srgbClr val="3065D8"/>
              </a:solidFill>
              <a:latin typeface="Songti TC" panose="02010600040101010101" pitchFamily="2" charset="-120"/>
              <a:ea typeface="Songti TC" panose="02010600040101010101" pitchFamily="2" charset="-12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B97EB1-3F01-934D-AD80-CF23AF155B1E}"/>
              </a:ext>
            </a:extLst>
          </p:cNvPr>
          <p:cNvCxnSpPr/>
          <p:nvPr/>
        </p:nvCxnSpPr>
        <p:spPr>
          <a:xfrm>
            <a:off x="5534952" y="1181437"/>
            <a:ext cx="0" cy="4207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8967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AFEAC-3BB2-6C45-B806-BC43250E1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/proc/</a:t>
            </a:r>
            <a:r>
              <a:rPr kumimoji="1" lang="en-US" altLang="zh-CN" dirty="0" err="1"/>
              <a:t>loadavg</a:t>
            </a:r>
            <a:endParaRPr kumimoji="1"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25504-437C-E140-8C4D-4DC7D9920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+mj-lt"/>
              <a:buAutoNum type="arabicPeriod"/>
            </a:pPr>
            <a:r>
              <a:rPr lang="en-US" altLang="zh-CN" b="1" i="0" dirty="0">
                <a:effectLst/>
                <a:latin typeface="inherit"/>
              </a:rPr>
              <a:t>1</a:t>
            </a:r>
            <a:r>
              <a:rPr lang="zh-CN" altLang="en-US" b="1" i="0" dirty="0">
                <a:effectLst/>
                <a:latin typeface="inherit"/>
              </a:rPr>
              <a:t>分钟平均负载（</a:t>
            </a:r>
            <a:r>
              <a:rPr lang="en-US" altLang="zh-CN" b="1" i="0" dirty="0">
                <a:effectLst/>
                <a:latin typeface="inherit"/>
              </a:rPr>
              <a:t>1-</a:t>
            </a:r>
            <a:r>
              <a:rPr lang="en-US" b="1" i="0" dirty="0">
                <a:effectLst/>
                <a:latin typeface="inherit"/>
              </a:rPr>
              <a:t>minute load average）</a:t>
            </a:r>
            <a:endParaRPr lang="en-US" b="0" i="0" dirty="0">
              <a:effectLst/>
              <a:latin typeface="inherit"/>
            </a:endParaRPr>
          </a:p>
          <a:p>
            <a:pPr algn="l" fontAlgn="base">
              <a:buFont typeface="+mj-lt"/>
              <a:buAutoNum type="arabicPeriod"/>
            </a:pPr>
            <a:r>
              <a:rPr lang="en-US" b="1" i="0" dirty="0">
                <a:effectLst/>
                <a:latin typeface="inherit"/>
              </a:rPr>
              <a:t>5</a:t>
            </a:r>
            <a:r>
              <a:rPr lang="zh-CN" altLang="en-US" b="1" i="0" dirty="0">
                <a:effectLst/>
                <a:latin typeface="inherit"/>
              </a:rPr>
              <a:t>分钟平均负载（</a:t>
            </a:r>
            <a:r>
              <a:rPr lang="en-US" altLang="zh-CN" b="1" i="0" dirty="0">
                <a:effectLst/>
                <a:latin typeface="inherit"/>
              </a:rPr>
              <a:t>5-</a:t>
            </a:r>
            <a:r>
              <a:rPr lang="en-US" b="1" i="0" dirty="0">
                <a:effectLst/>
                <a:latin typeface="inherit"/>
              </a:rPr>
              <a:t>minute load average）</a:t>
            </a:r>
            <a:endParaRPr lang="en-US" b="0" i="0" dirty="0">
              <a:effectLst/>
              <a:latin typeface="inherit"/>
            </a:endParaRPr>
          </a:p>
          <a:p>
            <a:pPr algn="l" fontAlgn="base">
              <a:buFont typeface="+mj-lt"/>
              <a:buAutoNum type="arabicPeriod"/>
            </a:pPr>
            <a:r>
              <a:rPr lang="en-US" b="1" i="0" dirty="0">
                <a:effectLst/>
                <a:latin typeface="inherit"/>
              </a:rPr>
              <a:t>15</a:t>
            </a:r>
            <a:r>
              <a:rPr lang="zh-CN" altLang="en-US" b="1" i="0" dirty="0">
                <a:effectLst/>
                <a:latin typeface="inherit"/>
              </a:rPr>
              <a:t>分钟平均负载（</a:t>
            </a:r>
            <a:r>
              <a:rPr lang="en-US" altLang="zh-CN" b="1" i="0" dirty="0">
                <a:effectLst/>
                <a:latin typeface="inherit"/>
              </a:rPr>
              <a:t>15-</a:t>
            </a:r>
            <a:r>
              <a:rPr lang="en-US" b="1" i="0" dirty="0">
                <a:effectLst/>
                <a:latin typeface="inherit"/>
              </a:rPr>
              <a:t>minute load average）</a:t>
            </a:r>
            <a:endParaRPr lang="en-US" b="0" i="0" dirty="0">
              <a:effectLst/>
              <a:latin typeface="inherit"/>
            </a:endParaRPr>
          </a:p>
          <a:p>
            <a:pPr algn="l" fontAlgn="base">
              <a:buFont typeface="+mj-lt"/>
              <a:buAutoNum type="arabicPeriod"/>
            </a:pPr>
            <a:r>
              <a:rPr lang="zh-CN" altLang="en-US" b="1" i="0" dirty="0">
                <a:effectLst/>
                <a:latin typeface="inherit"/>
              </a:rPr>
              <a:t>当前运行的进程数</a:t>
            </a:r>
            <a:r>
              <a:rPr lang="en-US" altLang="zh-CN" b="1" i="0" dirty="0">
                <a:effectLst/>
                <a:latin typeface="inherit"/>
              </a:rPr>
              <a:t>/</a:t>
            </a:r>
            <a:r>
              <a:rPr lang="zh-CN" altLang="en-US" b="1" i="0" dirty="0">
                <a:effectLst/>
                <a:latin typeface="inherit"/>
              </a:rPr>
              <a:t>总进程数</a:t>
            </a:r>
            <a:endParaRPr lang="zh-CN" altLang="en-US" b="0" i="0" dirty="0">
              <a:effectLst/>
              <a:latin typeface="inherit"/>
            </a:endParaRPr>
          </a:p>
          <a:p>
            <a:pPr algn="l" fontAlgn="base">
              <a:buFont typeface="+mj-lt"/>
              <a:buAutoNum type="arabicPeriod"/>
            </a:pPr>
            <a:r>
              <a:rPr lang="zh-CN" altLang="en-US" b="1" i="0" dirty="0">
                <a:effectLst/>
                <a:latin typeface="inherit"/>
              </a:rPr>
              <a:t>最大</a:t>
            </a:r>
            <a:r>
              <a:rPr lang="en-US" altLang="zh-CN" b="1" i="0" dirty="0" err="1">
                <a:effectLst/>
                <a:latin typeface="inherit"/>
              </a:rPr>
              <a:t>pid</a:t>
            </a:r>
            <a:r>
              <a:rPr lang="zh-CN" altLang="en-US" b="1" i="0" dirty="0">
                <a:effectLst/>
                <a:latin typeface="inherit"/>
              </a:rPr>
              <a:t>的值</a:t>
            </a:r>
            <a:endParaRPr lang="en-US" b="0" i="0" dirty="0">
              <a:effectLst/>
              <a:latin typeface="inherit"/>
            </a:endParaRPr>
          </a:p>
          <a:p>
            <a:endParaRPr kumimoji="1"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E1E347-14AB-5043-8C2F-17CF4176D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667" y="4243779"/>
            <a:ext cx="8546666" cy="79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4962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A862A-CF98-4F11-A300-D78C88C2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编程序检查系统状况 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C07E09-7F9E-45D9-8FFD-DA98F4CCC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040" y="1146630"/>
            <a:ext cx="10515600" cy="541422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3200" b="0" dirty="0"/>
              <a:t>编写一个简单的读文本文件的程序，就可以直接用于读</a:t>
            </a:r>
            <a:r>
              <a:rPr kumimoji="1" lang="en-US" altLang="zh-CN" sz="3200" b="0" dirty="0"/>
              <a:t>proc</a:t>
            </a:r>
            <a:r>
              <a:rPr kumimoji="1" lang="zh-CN" altLang="en-US" sz="3200" b="0" dirty="0"/>
              <a:t>文件系统中的文件例，程序框架如下，只需添加自己的代码，完成实验。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/>
              <a:t>#include&lt;stdio.h&gt;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/>
              <a:t>#include&lt;string.h&gt;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/>
              <a:t>#include&lt;time.h&gt;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/>
              <a:t>#include&lt;stdlib.h&gt;</a:t>
            </a:r>
          </a:p>
          <a:p>
            <a:pPr>
              <a:lnSpc>
                <a:spcPct val="120000"/>
              </a:lnSpc>
              <a:buNone/>
            </a:pPr>
            <a:r>
              <a:rPr kumimoji="1" lang="en-US" altLang="zh-CN" sz="2800" b="0" dirty="0">
                <a:solidFill>
                  <a:srgbClr val="3065D8"/>
                </a:solidFill>
              </a:rPr>
              <a:t>void  </a:t>
            </a:r>
            <a:r>
              <a:rPr kumimoji="1" lang="en-US" altLang="zh-CN" sz="2800" b="0" dirty="0" err="1">
                <a:solidFill>
                  <a:srgbClr val="3065D8"/>
                </a:solidFill>
              </a:rPr>
              <a:t>func_A</a:t>
            </a:r>
            <a:r>
              <a:rPr kumimoji="1" lang="en-US" altLang="zh-CN" sz="2800" b="0" dirty="0">
                <a:solidFill>
                  <a:srgbClr val="3065D8"/>
                </a:solidFill>
              </a:rPr>
              <a:t>(){//</a:t>
            </a:r>
            <a:r>
              <a:rPr kumimoji="1" lang="zh-CN" altLang="en-US" sz="2800" b="0" dirty="0"/>
              <a:t>观察</a:t>
            </a:r>
            <a:r>
              <a:rPr kumimoji="1" lang="en-US" altLang="zh-CN" sz="2800" b="0" dirty="0" err="1"/>
              <a:t>cpu</a:t>
            </a:r>
            <a:r>
              <a:rPr kumimoji="1" lang="zh-CN" altLang="en-US" sz="2800" b="0" dirty="0"/>
              <a:t>及内核信息 </a:t>
            </a:r>
            <a:endParaRPr kumimoji="1" lang="en-US" altLang="zh-CN" sz="2800" b="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/>
              <a:t>	FILE *</a:t>
            </a:r>
            <a:r>
              <a:rPr kumimoji="1" lang="en-US" altLang="zh-CN" sz="2800" b="0" dirty="0" err="1"/>
              <a:t>cpuinfo</a:t>
            </a:r>
            <a:r>
              <a:rPr kumimoji="1" lang="en-US" altLang="zh-CN" sz="2800" b="0" dirty="0"/>
              <a:t>, *version;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/>
              <a:t>	</a:t>
            </a:r>
            <a:r>
              <a:rPr kumimoji="1" lang="en-US" altLang="zh-CN" sz="2800" b="0" dirty="0" err="1"/>
              <a:t>cpuinfo</a:t>
            </a:r>
            <a:r>
              <a:rPr kumimoji="1" lang="en-US" altLang="zh-CN" sz="2800" b="0" dirty="0"/>
              <a:t> = </a:t>
            </a:r>
            <a:r>
              <a:rPr kumimoji="1" lang="en-US" altLang="zh-CN" sz="2800" b="0" dirty="0" err="1"/>
              <a:t>fopen</a:t>
            </a:r>
            <a:r>
              <a:rPr kumimoji="1" lang="en-US" altLang="zh-CN" sz="2800" b="0" dirty="0"/>
              <a:t>(“/proc/</a:t>
            </a:r>
            <a:r>
              <a:rPr kumimoji="1" lang="en-US" altLang="zh-CN" sz="2800" b="0" dirty="0" err="1"/>
              <a:t>cpuinfo</a:t>
            </a:r>
            <a:r>
              <a:rPr kumimoji="1" lang="en-US" altLang="zh-CN" sz="2800" b="0" dirty="0"/>
              <a:t>”, “r”);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/>
              <a:t>	version = </a:t>
            </a:r>
            <a:r>
              <a:rPr kumimoji="1" lang="en-US" altLang="zh-CN" sz="2800" b="0" dirty="0" err="1"/>
              <a:t>fopen</a:t>
            </a:r>
            <a:r>
              <a:rPr kumimoji="1" lang="en-US" altLang="zh-CN" sz="2800" b="0" dirty="0"/>
              <a:t>(“/proc/version”, “r”);}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3065D8"/>
                </a:solidFill>
              </a:rPr>
              <a:t>void  </a:t>
            </a:r>
            <a:r>
              <a:rPr kumimoji="1" lang="en-US" altLang="zh-CN" sz="2800" b="0" dirty="0" err="1">
                <a:solidFill>
                  <a:srgbClr val="3065D8"/>
                </a:solidFill>
              </a:rPr>
              <a:t>func_B</a:t>
            </a:r>
            <a:r>
              <a:rPr kumimoji="1" lang="en-US" altLang="zh-CN" sz="2800" b="0" dirty="0">
                <a:solidFill>
                  <a:srgbClr val="3065D8"/>
                </a:solidFill>
              </a:rPr>
              <a:t>(){ }      </a:t>
            </a:r>
            <a:r>
              <a:rPr kumimoji="1" lang="en-US" altLang="zh-CN" sz="2800" b="0" dirty="0"/>
              <a:t>//</a:t>
            </a:r>
            <a:r>
              <a:rPr kumimoji="1" lang="zh-CN" altLang="en-US" sz="2800" b="0" dirty="0"/>
              <a:t>系统最近一次启动以来经历的时间和所创建的进程</a:t>
            </a:r>
            <a:endParaRPr kumimoji="1" lang="en-US" altLang="zh-CN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/>
              <a:t>//</a:t>
            </a:r>
            <a:r>
              <a:rPr kumimoji="1" lang="zh-CN" altLang="en-US" sz="2800" b="0" dirty="0"/>
              <a:t>数、三个状态的时间花费 </a:t>
            </a:r>
            <a:r>
              <a:rPr kumimoji="1" lang="en-US" altLang="zh-CN" sz="2800" b="0" dirty="0"/>
              <a:t>uptime &amp; stat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3065D8"/>
                </a:solidFill>
              </a:rPr>
              <a:t>void  </a:t>
            </a:r>
            <a:r>
              <a:rPr kumimoji="1" lang="en-US" altLang="zh-CN" sz="2800" b="0" dirty="0" err="1">
                <a:solidFill>
                  <a:srgbClr val="3065D8"/>
                </a:solidFill>
              </a:rPr>
              <a:t>func_C</a:t>
            </a:r>
            <a:r>
              <a:rPr kumimoji="1" lang="en-US" altLang="zh-CN" sz="2800" b="0" dirty="0">
                <a:solidFill>
                  <a:srgbClr val="3065D8"/>
                </a:solidFill>
              </a:rPr>
              <a:t>(){ } </a:t>
            </a:r>
            <a:r>
              <a:rPr kumimoji="1" lang="en-US" altLang="zh-CN" sz="2800" b="0" dirty="0"/>
              <a:t>//</a:t>
            </a:r>
            <a:r>
              <a:rPr kumimoji="1" lang="zh-CN" altLang="en-US" sz="2800" b="0" dirty="0"/>
              <a:t>系统内存使用情况、平均负载 </a:t>
            </a:r>
            <a:r>
              <a:rPr kumimoji="1" lang="en-US" altLang="zh-CN" sz="2800" b="0" dirty="0" err="1"/>
              <a:t>meminfo&amp;loadavg</a:t>
            </a:r>
            <a:endParaRPr kumimoji="1" lang="en-US" altLang="zh-CN" sz="2800" b="0" dirty="0"/>
          </a:p>
        </p:txBody>
      </p:sp>
    </p:spTree>
    <p:extLst>
      <p:ext uri="{BB962C8B-B14F-4D97-AF65-F5344CB8AC3E}">
        <p14:creationId xmlns:p14="http://schemas.microsoft.com/office/powerpoint/2010/main" val="222085509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8D66E-5B07-4306-BCA0-4196EEB31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主函数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A914FB-3402-4E5C-A99C-CCD011453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040" y="1051560"/>
            <a:ext cx="10515600" cy="5618181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b="0" dirty="0"/>
              <a:t>void main(int </a:t>
            </a:r>
            <a:r>
              <a:rPr kumimoji="1" lang="en-US" altLang="zh-CN" sz="1800" b="0" dirty="0" err="1"/>
              <a:t>argc</a:t>
            </a:r>
            <a:r>
              <a:rPr kumimoji="1" lang="en-US" altLang="zh-CN" sz="1800" b="0" dirty="0"/>
              <a:t>, char *</a:t>
            </a:r>
            <a:r>
              <a:rPr kumimoji="1" lang="en-US" altLang="zh-CN" sz="1800" b="0" dirty="0" err="1"/>
              <a:t>argv</a:t>
            </a:r>
            <a:r>
              <a:rPr kumimoji="1" lang="en-US" altLang="zh-CN" sz="1800" b="0" dirty="0"/>
              <a:t>[])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b="0" dirty="0"/>
              <a:t>{  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b="0" dirty="0"/>
              <a:t>	char c1,c2; 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b="0" dirty="0"/>
              <a:t> 	if(</a:t>
            </a:r>
            <a:r>
              <a:rPr kumimoji="1" lang="en-US" altLang="zh-CN" sz="1800" b="0" dirty="0" err="1"/>
              <a:t>argc</a:t>
            </a:r>
            <a:r>
              <a:rPr kumimoji="1" lang="en-US" altLang="zh-CN" sz="1800" b="0" dirty="0"/>
              <a:t>==1)     //</a:t>
            </a:r>
            <a:r>
              <a:rPr kumimoji="1" lang="zh-CN" altLang="en-US" sz="1800" b="0" dirty="0"/>
              <a:t>观察</a:t>
            </a:r>
            <a:r>
              <a:rPr kumimoji="1" lang="en-US" altLang="zh-CN" sz="1800" b="0" dirty="0" err="1"/>
              <a:t>cpu</a:t>
            </a:r>
            <a:r>
              <a:rPr kumimoji="1" lang="zh-CN" altLang="en-US" sz="1800" b="0" dirty="0"/>
              <a:t>及内核信息  </a:t>
            </a:r>
            <a:endParaRPr kumimoji="1" lang="en-US" altLang="zh-CN" sz="1800" b="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zh-CN" altLang="en-US" sz="1800" b="0" dirty="0"/>
              <a:t>  </a:t>
            </a:r>
            <a:r>
              <a:rPr kumimoji="1" lang="en-US" altLang="zh-CN" sz="1800" b="0" dirty="0"/>
              <a:t>	</a:t>
            </a:r>
            <a:r>
              <a:rPr kumimoji="1" lang="en-US" altLang="zh-CN" sz="1800" b="1" dirty="0"/>
              <a:t>{        </a:t>
            </a:r>
            <a:r>
              <a:rPr kumimoji="1" lang="en-US" altLang="zh-CN" sz="1800" b="1" dirty="0" err="1">
                <a:solidFill>
                  <a:srgbClr val="3065D8"/>
                </a:solidFill>
              </a:rPr>
              <a:t>func_A</a:t>
            </a:r>
            <a:r>
              <a:rPr kumimoji="1" lang="en-US" altLang="zh-CN" sz="1800" b="1" dirty="0">
                <a:solidFill>
                  <a:srgbClr val="3065D8"/>
                </a:solidFill>
              </a:rPr>
              <a:t>()</a:t>
            </a:r>
            <a:r>
              <a:rPr kumimoji="1" lang="en-US" altLang="zh-CN" sz="1800" b="1" dirty="0"/>
              <a:t>;        </a:t>
            </a:r>
            <a:r>
              <a:rPr kumimoji="1" lang="en-US" altLang="zh-CN" sz="1800" b="0" dirty="0"/>
              <a:t>return;    } 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b="0" dirty="0"/>
              <a:t> 	if(</a:t>
            </a:r>
            <a:r>
              <a:rPr kumimoji="1" lang="en-US" altLang="zh-CN" sz="1800" b="0" dirty="0" err="1"/>
              <a:t>argc</a:t>
            </a:r>
            <a:r>
              <a:rPr kumimoji="1" lang="en-US" altLang="zh-CN" sz="1800" b="0" dirty="0"/>
              <a:t>&gt;1)    {     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b="0" dirty="0"/>
              <a:t>		</a:t>
            </a:r>
            <a:r>
              <a:rPr kumimoji="1" lang="en-US" altLang="zh-CN" sz="1800" b="0" dirty="0" err="1"/>
              <a:t>sscanf</a:t>
            </a:r>
            <a:r>
              <a:rPr kumimoji="1" lang="en-US" altLang="zh-CN" sz="1800" b="0" dirty="0"/>
              <a:t>(</a:t>
            </a:r>
            <a:r>
              <a:rPr kumimoji="1" lang="en-US" altLang="zh-CN" sz="1800" b="0" dirty="0" err="1"/>
              <a:t>argv</a:t>
            </a:r>
            <a:r>
              <a:rPr kumimoji="1" lang="en-US" altLang="zh-CN" sz="1800" b="0" dirty="0"/>
              <a:t>[1],"%c%c",&amp;c1,&amp;c2);    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b="0" dirty="0"/>
              <a:t>	  	if(c1!=‘-’) return; 	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b="0" dirty="0"/>
              <a:t>		if(c2=='s') 	//</a:t>
            </a:r>
            <a:r>
              <a:rPr kumimoji="1" lang="zh-CN" altLang="en-US" sz="1800" b="0" dirty="0"/>
              <a:t>系统最近一次启动以来经历的时间和所创建的进程</a:t>
            </a:r>
            <a:endParaRPr kumimoji="1" lang="en-US" altLang="zh-CN" sz="1800" b="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b="0" dirty="0"/>
              <a:t>		 {//</a:t>
            </a:r>
            <a:r>
              <a:rPr kumimoji="1" lang="zh-CN" altLang="en-US" sz="1800" b="0" dirty="0"/>
              <a:t>数、三个状态的时间花费 </a:t>
            </a:r>
            <a:endParaRPr kumimoji="1" lang="en-US" altLang="zh-CN" sz="1800" b="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b="0" dirty="0"/>
              <a:t>		</a:t>
            </a:r>
            <a:r>
              <a:rPr kumimoji="1" lang="en-US" altLang="zh-CN" sz="1800" b="1" dirty="0">
                <a:solidFill>
                  <a:srgbClr val="3065D8"/>
                </a:solidFill>
              </a:rPr>
              <a:t>      </a:t>
            </a:r>
            <a:r>
              <a:rPr kumimoji="1" lang="en-US" altLang="zh-CN" sz="1800" b="1" dirty="0" err="1">
                <a:solidFill>
                  <a:srgbClr val="3065D8"/>
                </a:solidFill>
              </a:rPr>
              <a:t>func_B</a:t>
            </a:r>
            <a:r>
              <a:rPr kumimoji="1" lang="en-US" altLang="zh-CN" sz="1800" b="1" dirty="0">
                <a:solidFill>
                  <a:srgbClr val="3065D8"/>
                </a:solidFill>
              </a:rPr>
              <a:t>(); return; }    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b="0" dirty="0"/>
              <a:t>		if(c2=='l') 	 //</a:t>
            </a:r>
            <a:r>
              <a:rPr kumimoji="1" lang="zh-CN" altLang="en-US" sz="1800" b="0" dirty="0"/>
              <a:t>内存的使用情况 </a:t>
            </a:r>
            <a:endParaRPr kumimoji="1" lang="en-US" altLang="zh-CN" sz="1800" b="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b="0" dirty="0"/>
              <a:t>		</a:t>
            </a:r>
            <a:r>
              <a:rPr kumimoji="1" lang="zh-CN" altLang="en-US" sz="1800" b="0" dirty="0"/>
              <a:t> </a:t>
            </a:r>
            <a:r>
              <a:rPr kumimoji="1" lang="en-US" altLang="zh-CN" sz="1800" b="0" dirty="0"/>
              <a:t>{if(</a:t>
            </a:r>
            <a:r>
              <a:rPr kumimoji="1" lang="en-US" altLang="zh-CN" sz="1800" b="0" dirty="0" err="1"/>
              <a:t>argc</a:t>
            </a:r>
            <a:r>
              <a:rPr kumimoji="1" lang="en-US" altLang="zh-CN" sz="1800" b="0" dirty="0"/>
              <a:t>&lt;4) return; 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1800" b="0" dirty="0"/>
              <a:t>         	  Internal=</a:t>
            </a:r>
            <a:r>
              <a:rPr kumimoji="1" lang="en-US" altLang="zh-CN" sz="1800" b="0" dirty="0" err="1"/>
              <a:t>atoi</a:t>
            </a:r>
            <a:r>
              <a:rPr kumimoji="1" lang="en-US" altLang="zh-CN" sz="1800" b="0" dirty="0"/>
              <a:t>(</a:t>
            </a:r>
            <a:r>
              <a:rPr kumimoji="1" lang="en-US" altLang="zh-CN" sz="1800" b="0" dirty="0" err="1"/>
              <a:t>argv</a:t>
            </a:r>
            <a:r>
              <a:rPr kumimoji="1" lang="en-US" altLang="zh-CN" sz="1800" b="0" dirty="0"/>
              <a:t>[2]);//</a:t>
            </a:r>
            <a:r>
              <a:rPr kumimoji="1" lang="zh-CN" altLang="en-US" sz="1800" b="0" dirty="0"/>
              <a:t>将</a:t>
            </a:r>
            <a:r>
              <a:rPr kumimoji="1" lang="en-US" altLang="zh-CN" sz="1800" b="0" dirty="0"/>
              <a:t>string</a:t>
            </a:r>
            <a:r>
              <a:rPr kumimoji="1" lang="zh-CN" altLang="en-US" sz="1800" b="0" dirty="0"/>
              <a:t>对象转化成</a:t>
            </a:r>
            <a:r>
              <a:rPr kumimoji="1" lang="en-US" altLang="zh-CN" sz="1800" b="0" dirty="0"/>
              <a:t>int</a:t>
            </a:r>
            <a:r>
              <a:rPr kumimoji="1" lang="zh-CN" altLang="en-US" sz="1800" b="0" dirty="0"/>
              <a:t>对象            </a:t>
            </a:r>
            <a:r>
              <a:rPr kumimoji="1" lang="en-US" altLang="zh-CN" sz="1800" b="0" dirty="0"/>
              <a:t>			       		  duration=</a:t>
            </a:r>
            <a:r>
              <a:rPr kumimoji="1" lang="en-US" altLang="zh-CN" sz="1800" b="0" dirty="0" err="1"/>
              <a:t>atoi</a:t>
            </a:r>
            <a:r>
              <a:rPr kumimoji="1" lang="en-US" altLang="zh-CN" sz="1800" b="0" dirty="0"/>
              <a:t>(</a:t>
            </a:r>
            <a:r>
              <a:rPr kumimoji="1" lang="en-US" altLang="zh-CN" sz="1800" b="0" dirty="0" err="1"/>
              <a:t>argv</a:t>
            </a:r>
            <a:r>
              <a:rPr kumimoji="1" lang="en-US" altLang="zh-CN" sz="1800" b="0" dirty="0"/>
              <a:t>[3]);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kumimoji="1" lang="en-US" altLang="zh-CN" sz="1800" dirty="0"/>
              <a:t>               </a:t>
            </a:r>
            <a:r>
              <a:rPr kumimoji="1" lang="en-US" altLang="zh-CN" sz="1800" b="1" dirty="0" err="1">
                <a:solidFill>
                  <a:srgbClr val="3065D8"/>
                </a:solidFill>
              </a:rPr>
              <a:t>func_C</a:t>
            </a:r>
            <a:r>
              <a:rPr kumimoji="1" lang="en-US" altLang="zh-CN" sz="1800" b="1" dirty="0">
                <a:solidFill>
                  <a:srgbClr val="3065D8"/>
                </a:solidFill>
              </a:rPr>
              <a:t>();  </a:t>
            </a:r>
            <a:r>
              <a:rPr kumimoji="1" lang="en-US" altLang="zh-CN" sz="1800" dirty="0"/>
              <a:t>return; </a:t>
            </a:r>
            <a:r>
              <a:rPr kumimoji="1" lang="en-US" altLang="zh-CN" sz="1800" b="0" dirty="0"/>
              <a:t>}}}</a:t>
            </a:r>
          </a:p>
        </p:txBody>
      </p:sp>
    </p:spTree>
    <p:extLst>
      <p:ext uri="{BB962C8B-B14F-4D97-AF65-F5344CB8AC3E}">
        <p14:creationId xmlns:p14="http://schemas.microsoft.com/office/powerpoint/2010/main" val="376841852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6F2EC6-E3A5-4A7D-9AA0-9646EE807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实验结果展示</a:t>
            </a:r>
            <a:endParaRPr 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427F063-DC11-4B66-9244-73DD6E76B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kumimoji="1" lang="en-US" altLang="zh-CN" sz="2800" dirty="0"/>
              <a:t>CPU</a:t>
            </a:r>
            <a:r>
              <a:rPr kumimoji="1" lang="zh-CN" altLang="en-US" sz="2800" dirty="0"/>
              <a:t>类型及型号、</a:t>
            </a:r>
            <a:r>
              <a:rPr kumimoji="1" lang="en-US" altLang="zh-CN" sz="2800" dirty="0"/>
              <a:t>Linux</a:t>
            </a:r>
            <a:r>
              <a:rPr kumimoji="1" lang="zh-CN" altLang="en-US" sz="2800" dirty="0"/>
              <a:t>内核版本号</a:t>
            </a:r>
            <a:endParaRPr kumimoji="1" lang="en-US" altLang="zh-CN" sz="2800" dirty="0"/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endParaRPr kumimoji="1" lang="en-US" altLang="zh-CN" sz="2800" dirty="0"/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endParaRPr kumimoji="1" lang="en-US" altLang="zh-CN" sz="2800" dirty="0"/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endParaRPr kumimoji="1" lang="en-US" altLang="zh-CN" sz="2800" dirty="0"/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endParaRPr kumimoji="1" lang="en-US" altLang="zh-CN" sz="28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kumimoji="1" lang="en-US" altLang="zh-CN" sz="2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kumimoji="1" lang="en-US" altLang="zh-CN" sz="2800" dirty="0"/>
              <a:t>2</a:t>
            </a:r>
            <a:r>
              <a:rPr kumimoji="1" lang="zh-CN" altLang="en-US" sz="2800" dirty="0"/>
              <a:t>、系统最近一次启动以来经历的时间、</a:t>
            </a:r>
            <a:r>
              <a:rPr kumimoji="1" lang="en-US" altLang="zh-CN" sz="2800" dirty="0"/>
              <a:t>CPU</a:t>
            </a:r>
            <a:r>
              <a:rPr kumimoji="1" lang="zh-CN" altLang="en-US" sz="2800" dirty="0"/>
              <a:t>三状态时间花费、上下文转换次数和创建进程数</a:t>
            </a:r>
            <a:endParaRPr kumimoji="1" lang="en-US" altLang="zh-CN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kumimoji="1" lang="en-US" altLang="zh-CN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kumimoji="1" lang="en-US" altLang="zh-CN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kumimoji="1" lang="en-US" altLang="zh-CN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kumimoji="1" lang="en-US" altLang="zh-CN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kumimoji="1" lang="en-US" altLang="zh-CN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dirty="0"/>
              <a:t>3</a:t>
            </a:r>
            <a:r>
              <a:rPr kumimoji="1" lang="zh-CN" altLang="en-US" sz="2800" dirty="0"/>
              <a:t>、系统内存使用情况、平均负载</a:t>
            </a:r>
            <a:endParaRPr kumimoji="1" lang="en-US" altLang="zh-CN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1" lang="en-US" altLang="zh-CN" sz="2800" dirty="0"/>
              <a:t>	</a:t>
            </a:r>
            <a:endParaRPr kumimoji="1" lang="zh-CN" altLang="en-US" sz="2800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7B5012-8A81-4535-BD8F-44AE4030D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990" y="1509712"/>
            <a:ext cx="64897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8714C52-5C4F-4080-BB59-D8F96431F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036" y="3824288"/>
            <a:ext cx="6445250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C17141DA-33D8-466A-8EBA-A0B9EE2CE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661" y="5343298"/>
            <a:ext cx="5132387" cy="1217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828745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>
            <a:extLst>
              <a:ext uri="{FF2B5EF4-FFF2-40B4-BE49-F238E27FC236}">
                <a16:creationId xmlns:a16="http://schemas.microsoft.com/office/drawing/2014/main" id="{7B3ED6AA-D1AD-E047-BD80-87B378F15E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82663" y="260350"/>
            <a:ext cx="10371137" cy="7032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实验步骤</a:t>
            </a:r>
          </a:p>
        </p:txBody>
      </p:sp>
      <p:sp>
        <p:nvSpPr>
          <p:cNvPr id="36867" name="Content Placeholder 3">
            <a:extLst>
              <a:ext uri="{FF2B5EF4-FFF2-40B4-BE49-F238E27FC236}">
                <a16:creationId xmlns:a16="http://schemas.microsoft.com/office/drawing/2014/main" id="{76CBD722-DEA1-644F-A770-9100D1D2B7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6763" y="1262063"/>
            <a:ext cx="10515600" cy="4398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实验步骤：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编写程序 </a:t>
            </a:r>
            <a:r>
              <a:rPr lang="en-US" altLang="zh-CN" dirty="0">
                <a:solidFill>
                  <a:srgbClr val="3065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test1.c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altLang="zh-CN" dirty="0" err="1">
                <a:solidFill>
                  <a:srgbClr val="3065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gcc</a:t>
            </a:r>
            <a:r>
              <a:rPr lang="zh-CN" altLang="en-US" dirty="0">
                <a:solidFill>
                  <a:srgbClr val="3065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3065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test1.c</a:t>
            </a:r>
            <a:r>
              <a:rPr lang="zh-CN" altLang="en-US" dirty="0">
                <a:solidFill>
                  <a:srgbClr val="3065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3065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en-US" altLang="zh-CN" dirty="0">
                <a:solidFill>
                  <a:srgbClr val="3065D8"/>
                </a:solidFill>
              </a:rPr>
              <a:t>o</a:t>
            </a:r>
            <a:r>
              <a:rPr lang="zh-CN" altLang="en-US" dirty="0">
                <a:solidFill>
                  <a:srgbClr val="3065D8"/>
                </a:solidFill>
              </a:rPr>
              <a:t> </a:t>
            </a:r>
            <a:r>
              <a:rPr lang="en-US" altLang="zh-CN" dirty="0">
                <a:solidFill>
                  <a:srgbClr val="3065D8"/>
                </a:solidFill>
              </a:rPr>
              <a:t>test1</a:t>
            </a:r>
            <a:r>
              <a:rPr lang="zh-CN" altLang="en-US" dirty="0"/>
              <a:t>，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编译生成一个名为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test1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的可执行文件。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当输入命令</a:t>
            </a:r>
            <a:r>
              <a:rPr lang="en-US" altLang="zh-CN" dirty="0">
                <a:solidFill>
                  <a:srgbClr val="3065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./test1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时，将会显示子进程开始运行的信息；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cover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:a16="http://schemas.microsoft.com/office/drawing/2014/main" id="{7418D568-2536-1045-93D3-E88B6E6B51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82663" y="260350"/>
            <a:ext cx="10371137" cy="7032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实验报告要求</a:t>
            </a:r>
          </a:p>
        </p:txBody>
      </p:sp>
      <p:sp>
        <p:nvSpPr>
          <p:cNvPr id="38915" name="Content Placeholder 3">
            <a:extLst>
              <a:ext uri="{FF2B5EF4-FFF2-40B4-BE49-F238E27FC236}">
                <a16:creationId xmlns:a16="http://schemas.microsoft.com/office/drawing/2014/main" id="{6B144EA4-8259-DE4D-A90C-6B7113251C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52538"/>
            <a:ext cx="10515600" cy="4913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实验报告必须包含以下几项：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设计思想及算法流程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源程序清单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运行结果及解释</a:t>
            </a:r>
          </a:p>
          <a:p>
            <a:pPr eaLnBrk="1" hangingPunct="1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cover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0" y="-6137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3000">
                <a:schemeClr val="accent5">
                  <a:lumMod val="40000"/>
                  <a:lumOff val="60000"/>
                  <a:alpha val="88186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kumimoji="1" lang="zh-CN" altLang="en-US">
              <a:solidFill>
                <a:prstClr val="white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 rotWithShape="1">
          <a:blip r:embed="rId2"/>
          <a:srcRect t="4621" b="7977"/>
          <a:stretch>
            <a:fillRect/>
          </a:stretch>
        </p:blipFill>
        <p:spPr>
          <a:xfrm>
            <a:off x="3994485" y="1"/>
            <a:ext cx="8197516" cy="5474631"/>
          </a:xfrm>
          <a:custGeom>
            <a:avLst/>
            <a:gdLst>
              <a:gd name="connsiteX0" fmla="*/ 0 w 8197516"/>
              <a:gd name="connsiteY0" fmla="*/ 0 h 5474630"/>
              <a:gd name="connsiteX1" fmla="*/ 8197516 w 8197516"/>
              <a:gd name="connsiteY1" fmla="*/ 0 h 5474630"/>
              <a:gd name="connsiteX2" fmla="*/ 8197516 w 8197516"/>
              <a:gd name="connsiteY2" fmla="*/ 2737315 h 5474630"/>
              <a:gd name="connsiteX3" fmla="*/ 5460201 w 8197516"/>
              <a:gd name="connsiteY3" fmla="*/ 5474630 h 5474630"/>
              <a:gd name="connsiteX4" fmla="*/ 0 w 8197516"/>
              <a:gd name="connsiteY4" fmla="*/ 5474630 h 5474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7516" h="5474630">
                <a:moveTo>
                  <a:pt x="0" y="0"/>
                </a:moveTo>
                <a:lnTo>
                  <a:pt x="8197516" y="0"/>
                </a:lnTo>
                <a:lnTo>
                  <a:pt x="8197516" y="2737315"/>
                </a:lnTo>
                <a:cubicBezTo>
                  <a:pt x="8197516" y="4249092"/>
                  <a:pt x="6971978" y="5474630"/>
                  <a:pt x="5460201" y="5474630"/>
                </a:cubicBezTo>
                <a:lnTo>
                  <a:pt x="0" y="5474630"/>
                </a:lnTo>
                <a:close/>
              </a:path>
            </a:pathLst>
          </a:custGeom>
        </p:spPr>
      </p:pic>
      <p:sp>
        <p:nvSpPr>
          <p:cNvPr id="11" name="矩形: 单圆角 4"/>
          <p:cNvSpPr/>
          <p:nvPr/>
        </p:nvSpPr>
        <p:spPr>
          <a:xfrm flipV="1">
            <a:off x="0" y="1"/>
            <a:ext cx="12192000" cy="5474631"/>
          </a:xfrm>
          <a:prstGeom prst="round1Rect">
            <a:avLst>
              <a:gd name="adj" fmla="val 50000"/>
            </a:avLst>
          </a:prstGeom>
          <a:gradFill>
            <a:gsLst>
              <a:gs pos="4000">
                <a:srgbClr val="2F90D8"/>
              </a:gs>
              <a:gs pos="44000">
                <a:srgbClr val="3354B5"/>
              </a:gs>
              <a:gs pos="100000">
                <a:srgbClr val="201E97">
                  <a:alpha val="63137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zh-CN" altLang="en-US">
              <a:solidFill>
                <a:srgbClr val="FF0000"/>
              </a:solidFill>
              <a:latin typeface="Calibri" panose="020F0502020204030204"/>
              <a:ea typeface="OPPOSans R" pitchFamily="18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09886" y="2814738"/>
            <a:ext cx="59405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zh-CN" altLang="en-US" sz="2800" dirty="0">
                <a:solidFill>
                  <a:schemeClr val="bg1"/>
                </a:solidFill>
              </a:rPr>
              <a:t>联系邮箱：</a:t>
            </a:r>
            <a:r>
              <a:rPr lang="en-US" altLang="zh-CN" sz="2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liyang23@swjtu.edu.cn</a:t>
            </a:r>
            <a:endParaRPr lang="en-US" altLang="zh-CN" sz="2800" dirty="0">
              <a:solidFill>
                <a:schemeClr val="bg1"/>
              </a:solidFill>
            </a:endParaRPr>
          </a:p>
          <a:p>
            <a:pPr defTabSz="914377">
              <a:defRPr/>
            </a:pPr>
            <a:r>
              <a:rPr lang="zh-CN" altLang="en-US" sz="2800" dirty="0">
                <a:solidFill>
                  <a:schemeClr val="bg1"/>
                </a:solidFill>
              </a:rPr>
              <a:t>联系地址：</a:t>
            </a:r>
            <a:r>
              <a:rPr lang="en-US" altLang="zh-CN" sz="2800" dirty="0">
                <a:solidFill>
                  <a:schemeClr val="bg1"/>
                </a:solidFill>
              </a:rPr>
              <a:t>X31506 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802939" y="694066"/>
            <a:ext cx="3110303" cy="94139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2M1ZDMzMzY5NDRlMDhlNTM3MDI1ODFiY2I1OWNiNz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561</TotalTime>
  <Words>892</Words>
  <Application>Microsoft Office PowerPoint</Application>
  <PresentationFormat>宽屏</PresentationFormat>
  <Paragraphs>89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inherit</vt:lpstr>
      <vt:lpstr>Songti TC</vt:lpstr>
      <vt:lpstr>等线</vt:lpstr>
      <vt:lpstr>宋体</vt:lpstr>
      <vt:lpstr>宋体</vt:lpstr>
      <vt:lpstr>微软雅黑</vt:lpstr>
      <vt:lpstr>Arial</vt:lpstr>
      <vt:lpstr>Calibri</vt:lpstr>
      <vt:lpstr>Wingdings</vt:lpstr>
      <vt:lpstr>Office 主题​​</vt:lpstr>
      <vt:lpstr>PowerPoint 演示文稿</vt:lpstr>
      <vt:lpstr>实验1  观察Linux的行为</vt:lpstr>
      <vt:lpstr>Proc虚拟文件目录</vt:lpstr>
      <vt:lpstr>/proc</vt:lpstr>
      <vt:lpstr>/proc根下文件和目录 </vt:lpstr>
      <vt:lpstr>/proc/loadavg</vt:lpstr>
      <vt:lpstr>编程序检查系统状况 </vt:lpstr>
      <vt:lpstr>主函数</vt:lpstr>
      <vt:lpstr>实验结果展示</vt:lpstr>
      <vt:lpstr>实验步骤</vt:lpstr>
      <vt:lpstr>实验报告要求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露涵 毛</cp:lastModifiedBy>
  <cp:revision>268</cp:revision>
  <dcterms:created xsi:type="dcterms:W3CDTF">2023-05-28T13:26:00Z</dcterms:created>
  <dcterms:modified xsi:type="dcterms:W3CDTF">2026-04-23T06:49:47Z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1A9F9A3C880549F6A7FF40DEC48833D7_12</vt:lpwstr>
  </property>
  <property fmtid="{D5CDD505-2E9C-101B-9397-08002B2CF9AE}" pid="3" name="KSOProductBuildVer">
    <vt:lpwstr>2052-12.1.0.16120</vt:lpwstr>
  </property>
</Properties>
</file>