
<file path=[Content_Types].xml><?xml version="1.0" encoding="utf-8"?>
<Types xmlns="http://schemas.openxmlformats.org/package/2006/content-types">
  <Default Extension="docx" ContentType="application/vnd.openxmlformats-officedocument.wordprocessingml.document"/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</p:sldMasterIdLst>
  <p:notesMasterIdLst>
    <p:notesMasterId r:id="rId96"/>
  </p:notesMasterIdLst>
  <p:sldIdLst>
    <p:sldId id="413" r:id="rId2"/>
    <p:sldId id="414" r:id="rId3"/>
    <p:sldId id="415" r:id="rId4"/>
    <p:sldId id="418" r:id="rId5"/>
    <p:sldId id="268" r:id="rId6"/>
    <p:sldId id="266" r:id="rId7"/>
    <p:sldId id="460" r:id="rId8"/>
    <p:sldId id="290" r:id="rId9"/>
    <p:sldId id="455" r:id="rId10"/>
    <p:sldId id="298" r:id="rId11"/>
    <p:sldId id="271" r:id="rId12"/>
    <p:sldId id="274" r:id="rId13"/>
    <p:sldId id="275" r:id="rId14"/>
    <p:sldId id="462" r:id="rId15"/>
    <p:sldId id="461" r:id="rId16"/>
    <p:sldId id="463" r:id="rId17"/>
    <p:sldId id="464" r:id="rId18"/>
    <p:sldId id="465" r:id="rId19"/>
    <p:sldId id="466" r:id="rId20"/>
    <p:sldId id="468" r:id="rId21"/>
    <p:sldId id="469" r:id="rId22"/>
    <p:sldId id="488" r:id="rId23"/>
    <p:sldId id="432" r:id="rId24"/>
    <p:sldId id="433" r:id="rId25"/>
    <p:sldId id="357" r:id="rId26"/>
    <p:sldId id="489" r:id="rId27"/>
    <p:sldId id="341" r:id="rId28"/>
    <p:sldId id="344" r:id="rId29"/>
    <p:sldId id="436" r:id="rId30"/>
    <p:sldId id="348" r:id="rId31"/>
    <p:sldId id="392" r:id="rId32"/>
    <p:sldId id="334" r:id="rId33"/>
    <p:sldId id="437" r:id="rId34"/>
    <p:sldId id="350" r:id="rId35"/>
    <p:sldId id="352" r:id="rId36"/>
    <p:sldId id="353" r:id="rId37"/>
    <p:sldId id="438" r:id="rId38"/>
    <p:sldId id="440" r:id="rId39"/>
    <p:sldId id="441" r:id="rId40"/>
    <p:sldId id="360" r:id="rId41"/>
    <p:sldId id="361" r:id="rId42"/>
    <p:sldId id="442" r:id="rId43"/>
    <p:sldId id="337" r:id="rId44"/>
    <p:sldId id="393" r:id="rId45"/>
    <p:sldId id="508" r:id="rId46"/>
    <p:sldId id="359" r:id="rId47"/>
    <p:sldId id="366" r:id="rId48"/>
    <p:sldId id="445" r:id="rId49"/>
    <p:sldId id="446" r:id="rId50"/>
    <p:sldId id="363" r:id="rId51"/>
    <p:sldId id="448" r:id="rId52"/>
    <p:sldId id="447" r:id="rId53"/>
    <p:sldId id="449" r:id="rId54"/>
    <p:sldId id="470" r:id="rId55"/>
    <p:sldId id="490" r:id="rId56"/>
    <p:sldId id="491" r:id="rId57"/>
    <p:sldId id="492" r:id="rId58"/>
    <p:sldId id="495" r:id="rId59"/>
    <p:sldId id="503" r:id="rId60"/>
    <p:sldId id="504" r:id="rId61"/>
    <p:sldId id="420" r:id="rId62"/>
    <p:sldId id="405" r:id="rId63"/>
    <p:sldId id="450" r:id="rId64"/>
    <p:sldId id="451" r:id="rId65"/>
    <p:sldId id="347" r:id="rId66"/>
    <p:sldId id="452" r:id="rId67"/>
    <p:sldId id="364" r:id="rId68"/>
    <p:sldId id="365" r:id="rId69"/>
    <p:sldId id="368" r:id="rId70"/>
    <p:sldId id="397" r:id="rId71"/>
    <p:sldId id="506" r:id="rId72"/>
    <p:sldId id="507" r:id="rId73"/>
    <p:sldId id="381" r:id="rId74"/>
    <p:sldId id="421" r:id="rId75"/>
    <p:sldId id="471" r:id="rId76"/>
    <p:sldId id="453" r:id="rId77"/>
    <p:sldId id="338" r:id="rId78"/>
    <p:sldId id="388" r:id="rId79"/>
    <p:sldId id="346" r:id="rId80"/>
    <p:sldId id="349" r:id="rId81"/>
    <p:sldId id="483" r:id="rId82"/>
    <p:sldId id="484" r:id="rId83"/>
    <p:sldId id="351" r:id="rId84"/>
    <p:sldId id="485" r:id="rId85"/>
    <p:sldId id="486" r:id="rId86"/>
    <p:sldId id="454" r:id="rId87"/>
    <p:sldId id="367" r:id="rId88"/>
    <p:sldId id="487" r:id="rId89"/>
    <p:sldId id="493" r:id="rId90"/>
    <p:sldId id="494" r:id="rId91"/>
    <p:sldId id="496" r:id="rId92"/>
    <p:sldId id="497" r:id="rId93"/>
    <p:sldId id="498" r:id="rId94"/>
    <p:sldId id="499" r:id="rId9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505E3EF-67EA-436B-97B2-0124C06EBD24}" styleName="中度样式 4 - 强调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533" autoAdjust="0"/>
    <p:restoredTop sz="96282" autoAdjust="0"/>
  </p:normalViewPr>
  <p:slideViewPr>
    <p:cSldViewPr snapToGrid="0">
      <p:cViewPr varScale="1">
        <p:scale>
          <a:sx n="122" d="100"/>
          <a:sy n="122" d="100"/>
        </p:scale>
        <p:origin x="432" y="192"/>
      </p:cViewPr>
      <p:guideLst/>
    </p:cSldViewPr>
  </p:slideViewPr>
  <p:outlineViewPr>
    <p:cViewPr>
      <p:scale>
        <a:sx n="33" d="100"/>
        <a:sy n="33" d="100"/>
      </p:scale>
      <p:origin x="0" y="-640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5">
  <dgm:title val=""/>
  <dgm:desc val=""/>
  <dgm:catLst>
    <dgm:cat type="accent3" pri="11500"/>
  </dgm:catLst>
  <dgm:styleLbl name="node0">
    <dgm:fillClrLst meth="cycle">
      <a:schemeClr val="accent3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>
        <a:alpha val="9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>
        <a:alpha val="90000"/>
      </a:schemeClr>
      <a:schemeClr val="accent3">
        <a:alpha val="5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/>
    <dgm:txEffectClrLst/>
  </dgm:styleLbl>
  <dgm:styleLbl name="lnNode1">
    <dgm:fillClrLst>
      <a:schemeClr val="accent3">
        <a:shade val="90000"/>
      </a:schemeClr>
      <a:schemeClr val="accent3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shade val="80000"/>
        <a:alpha val="50000"/>
      </a:schemeClr>
      <a:schemeClr val="accent3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  <a:alpha val="90000"/>
      </a:schemeClr>
      <a:schemeClr val="accent3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fg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bg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sibTrans1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alpha val="90000"/>
        <a:tint val="40000"/>
      </a:schemeClr>
      <a:schemeClr val="accent3">
        <a:alpha val="5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C192CED-5284-6842-A2CE-43637359B0CB}" type="doc">
      <dgm:prSet loTypeId="urn:microsoft.com/office/officeart/2005/8/layout/hList1" loCatId="list" qsTypeId="urn:microsoft.com/office/officeart/2005/8/quickstyle/simple4" qsCatId="simple" csTypeId="urn:microsoft.com/office/officeart/2005/8/colors/accent3_5" csCatId="accent3" phldr="1"/>
      <dgm:spPr/>
      <dgm:t>
        <a:bodyPr/>
        <a:lstStyle/>
        <a:p>
          <a:endParaRPr lang="en-US"/>
        </a:p>
      </dgm:t>
    </dgm:pt>
    <dgm:pt modelId="{AE3CB80F-D45F-E54C-B692-4738A2A6039C}">
      <dgm:prSet/>
      <dgm:spPr/>
      <dgm:t>
        <a:bodyPr/>
        <a:lstStyle/>
        <a:p>
          <a:r>
            <a:rPr lang="en-US" b="1" dirty="0"/>
            <a:t>Convenience</a:t>
          </a:r>
        </a:p>
      </dgm:t>
    </dgm:pt>
    <dgm:pt modelId="{DB5EC823-6039-A143-9B39-EB225C90CC38}" type="parTrans" cxnId="{47A89D49-60B4-FB40-9C5D-FFE581254201}">
      <dgm:prSet/>
      <dgm:spPr/>
      <dgm:t>
        <a:bodyPr/>
        <a:lstStyle/>
        <a:p>
          <a:endParaRPr lang="en-US"/>
        </a:p>
      </dgm:t>
    </dgm:pt>
    <dgm:pt modelId="{E262F30B-1A1E-F747-A185-5455263EE08A}" type="sibTrans" cxnId="{47A89D49-60B4-FB40-9C5D-FFE581254201}">
      <dgm:prSet/>
      <dgm:spPr/>
      <dgm:t>
        <a:bodyPr/>
        <a:lstStyle/>
        <a:p>
          <a:endParaRPr lang="en-US"/>
        </a:p>
      </dgm:t>
    </dgm:pt>
    <dgm:pt modelId="{3A3FFD4A-4BD3-2543-98AF-A41B2CAE779A}">
      <dgm:prSet/>
      <dgm:spPr/>
      <dgm:t>
        <a:bodyPr/>
        <a:lstStyle/>
        <a:p>
          <a:r>
            <a:rPr lang="en-US" dirty="0"/>
            <a:t>Efficiency</a:t>
          </a:r>
        </a:p>
      </dgm:t>
    </dgm:pt>
    <dgm:pt modelId="{75A774D8-A8A4-404D-9CFE-DAF3C9EE383B}" type="parTrans" cxnId="{73BA040D-3549-934C-A652-24BEA66255F8}">
      <dgm:prSet/>
      <dgm:spPr/>
      <dgm:t>
        <a:bodyPr/>
        <a:lstStyle/>
        <a:p>
          <a:endParaRPr lang="en-US"/>
        </a:p>
      </dgm:t>
    </dgm:pt>
    <dgm:pt modelId="{AE569C84-AD83-C840-9BA6-D0F860817D5B}" type="sibTrans" cxnId="{73BA040D-3549-934C-A652-24BEA66255F8}">
      <dgm:prSet/>
      <dgm:spPr/>
      <dgm:t>
        <a:bodyPr/>
        <a:lstStyle/>
        <a:p>
          <a:endParaRPr lang="en-US"/>
        </a:p>
      </dgm:t>
    </dgm:pt>
    <dgm:pt modelId="{F96F4B0F-02F7-4D4B-9036-26B336493CAE}">
      <dgm:prSet/>
      <dgm:spPr/>
      <dgm:t>
        <a:bodyPr/>
        <a:lstStyle/>
        <a:p>
          <a:r>
            <a:rPr lang="en-US" dirty="0"/>
            <a:t>Ability to evolve</a:t>
          </a:r>
        </a:p>
      </dgm:t>
    </dgm:pt>
    <dgm:pt modelId="{9A2A829F-7768-884C-9C37-31113093ABE1}" type="parTrans" cxnId="{8C55C725-3252-FA46-BC16-D392FA3244E1}">
      <dgm:prSet/>
      <dgm:spPr/>
      <dgm:t>
        <a:bodyPr/>
        <a:lstStyle/>
        <a:p>
          <a:endParaRPr lang="en-US"/>
        </a:p>
      </dgm:t>
    </dgm:pt>
    <dgm:pt modelId="{B8510BF0-F2AE-0444-B9D0-63BA3E5B4B8B}" type="sibTrans" cxnId="{8C55C725-3252-FA46-BC16-D392FA3244E1}">
      <dgm:prSet/>
      <dgm:spPr/>
      <dgm:t>
        <a:bodyPr/>
        <a:lstStyle/>
        <a:p>
          <a:endParaRPr lang="en-US"/>
        </a:p>
      </dgm:t>
    </dgm:pt>
    <dgm:pt modelId="{281E5B53-1732-5F47-A578-AB0E3A9B5E4C}">
      <dgm:prSet phldrT="[Text]"/>
      <dgm:spPr/>
      <dgm:t>
        <a:bodyPr/>
        <a:lstStyle/>
        <a:p>
          <a:r>
            <a:rPr lang="en-US" b="1" dirty="0"/>
            <a:t>Main objectives of an OS</a:t>
          </a:r>
        </a:p>
      </dgm:t>
    </dgm:pt>
    <dgm:pt modelId="{2FC987E5-D027-8846-8A97-F16D9257E1AC}" type="sibTrans" cxnId="{5B740C4A-9D68-0540-AC76-45932CD65954}">
      <dgm:prSet/>
      <dgm:spPr/>
      <dgm:t>
        <a:bodyPr/>
        <a:lstStyle/>
        <a:p>
          <a:endParaRPr lang="en-US"/>
        </a:p>
      </dgm:t>
    </dgm:pt>
    <dgm:pt modelId="{6DF8C72F-1C3C-3D43-905B-F9DFAE34F209}" type="parTrans" cxnId="{5B740C4A-9D68-0540-AC76-45932CD65954}">
      <dgm:prSet/>
      <dgm:spPr/>
      <dgm:t>
        <a:bodyPr/>
        <a:lstStyle/>
        <a:p>
          <a:endParaRPr lang="en-US"/>
        </a:p>
      </dgm:t>
    </dgm:pt>
    <dgm:pt modelId="{5C3B6204-B418-A242-B9D0-60EB91680625}" type="pres">
      <dgm:prSet presAssocID="{1C192CED-5284-6842-A2CE-43637359B0CB}" presName="Name0" presStyleCnt="0">
        <dgm:presLayoutVars>
          <dgm:dir/>
          <dgm:animLvl val="lvl"/>
          <dgm:resizeHandles val="exact"/>
        </dgm:presLayoutVars>
      </dgm:prSet>
      <dgm:spPr/>
    </dgm:pt>
    <dgm:pt modelId="{F2E06192-AEAE-0C49-902F-729236FB5629}" type="pres">
      <dgm:prSet presAssocID="{281E5B53-1732-5F47-A578-AB0E3A9B5E4C}" presName="composite" presStyleCnt="0"/>
      <dgm:spPr/>
    </dgm:pt>
    <dgm:pt modelId="{1AE4A990-5AA0-034B-8CCF-8670DC0A0746}" type="pres">
      <dgm:prSet presAssocID="{281E5B53-1732-5F47-A578-AB0E3A9B5E4C}" presName="parTx" presStyleLbl="alignNode1" presStyleIdx="0" presStyleCnt="1">
        <dgm:presLayoutVars>
          <dgm:chMax val="0"/>
          <dgm:chPref val="0"/>
          <dgm:bulletEnabled val="1"/>
        </dgm:presLayoutVars>
      </dgm:prSet>
      <dgm:spPr/>
    </dgm:pt>
    <dgm:pt modelId="{D90CF14F-E010-5649-9AC4-6BBF9E914CA0}" type="pres">
      <dgm:prSet presAssocID="{281E5B53-1732-5F47-A578-AB0E3A9B5E4C}" presName="desTx" presStyleLbl="alignAccFollowNode1" presStyleIdx="0" presStyleCnt="1" custLinFactNeighborX="6056" custLinFactNeighborY="52175">
        <dgm:presLayoutVars>
          <dgm:bulletEnabled val="1"/>
        </dgm:presLayoutVars>
      </dgm:prSet>
      <dgm:spPr/>
    </dgm:pt>
  </dgm:ptLst>
  <dgm:cxnLst>
    <dgm:cxn modelId="{72C97C0B-1912-DC41-AF8F-8B9E282AF6FD}" type="presOf" srcId="{281E5B53-1732-5F47-A578-AB0E3A9B5E4C}" destId="{1AE4A990-5AA0-034B-8CCF-8670DC0A0746}" srcOrd="0" destOrd="0" presId="urn:microsoft.com/office/officeart/2005/8/layout/hList1"/>
    <dgm:cxn modelId="{73BA040D-3549-934C-A652-24BEA66255F8}" srcId="{281E5B53-1732-5F47-A578-AB0E3A9B5E4C}" destId="{3A3FFD4A-4BD3-2543-98AF-A41B2CAE779A}" srcOrd="1" destOrd="0" parTransId="{75A774D8-A8A4-404D-9CFE-DAF3C9EE383B}" sibTransId="{AE569C84-AD83-C840-9BA6-D0F860817D5B}"/>
    <dgm:cxn modelId="{8C55C725-3252-FA46-BC16-D392FA3244E1}" srcId="{281E5B53-1732-5F47-A578-AB0E3A9B5E4C}" destId="{F96F4B0F-02F7-4D4B-9036-26B336493CAE}" srcOrd="2" destOrd="0" parTransId="{9A2A829F-7768-884C-9C37-31113093ABE1}" sibTransId="{B8510BF0-F2AE-0444-B9D0-63BA3E5B4B8B}"/>
    <dgm:cxn modelId="{47A89D49-60B4-FB40-9C5D-FFE581254201}" srcId="{281E5B53-1732-5F47-A578-AB0E3A9B5E4C}" destId="{AE3CB80F-D45F-E54C-B692-4738A2A6039C}" srcOrd="0" destOrd="0" parTransId="{DB5EC823-6039-A143-9B39-EB225C90CC38}" sibTransId="{E262F30B-1A1E-F747-A185-5455263EE08A}"/>
    <dgm:cxn modelId="{5B740C4A-9D68-0540-AC76-45932CD65954}" srcId="{1C192CED-5284-6842-A2CE-43637359B0CB}" destId="{281E5B53-1732-5F47-A578-AB0E3A9B5E4C}" srcOrd="0" destOrd="0" parTransId="{6DF8C72F-1C3C-3D43-905B-F9DFAE34F209}" sibTransId="{2FC987E5-D027-8846-8A97-F16D9257E1AC}"/>
    <dgm:cxn modelId="{47C3F956-F19B-C843-99EB-8353B4B3672A}" type="presOf" srcId="{F96F4B0F-02F7-4D4B-9036-26B336493CAE}" destId="{D90CF14F-E010-5649-9AC4-6BBF9E914CA0}" srcOrd="0" destOrd="2" presId="urn:microsoft.com/office/officeart/2005/8/layout/hList1"/>
    <dgm:cxn modelId="{F6A52685-68B4-9E44-B5F2-05FD0D475D15}" type="presOf" srcId="{AE3CB80F-D45F-E54C-B692-4738A2A6039C}" destId="{D90CF14F-E010-5649-9AC4-6BBF9E914CA0}" srcOrd="0" destOrd="0" presId="urn:microsoft.com/office/officeart/2005/8/layout/hList1"/>
    <dgm:cxn modelId="{3A9FA08E-64EA-0D47-AE28-8B305EB8A206}" type="presOf" srcId="{1C192CED-5284-6842-A2CE-43637359B0CB}" destId="{5C3B6204-B418-A242-B9D0-60EB91680625}" srcOrd="0" destOrd="0" presId="urn:microsoft.com/office/officeart/2005/8/layout/hList1"/>
    <dgm:cxn modelId="{689B13D3-DAC2-294E-A08B-39951FEE76A7}" type="presOf" srcId="{3A3FFD4A-4BD3-2543-98AF-A41B2CAE779A}" destId="{D90CF14F-E010-5649-9AC4-6BBF9E914CA0}" srcOrd="0" destOrd="1" presId="urn:microsoft.com/office/officeart/2005/8/layout/hList1"/>
    <dgm:cxn modelId="{A22C2972-2A62-DB4C-A870-D2834B64A72C}" type="presParOf" srcId="{5C3B6204-B418-A242-B9D0-60EB91680625}" destId="{F2E06192-AEAE-0C49-902F-729236FB5629}" srcOrd="0" destOrd="0" presId="urn:microsoft.com/office/officeart/2005/8/layout/hList1"/>
    <dgm:cxn modelId="{699662D9-C356-6E43-8F80-FB763087BF08}" type="presParOf" srcId="{F2E06192-AEAE-0C49-902F-729236FB5629}" destId="{1AE4A990-5AA0-034B-8CCF-8670DC0A0746}" srcOrd="0" destOrd="0" presId="urn:microsoft.com/office/officeart/2005/8/layout/hList1"/>
    <dgm:cxn modelId="{F259A4CD-7B63-B447-8FD9-6E7CA4ECDD16}" type="presParOf" srcId="{F2E06192-AEAE-0C49-902F-729236FB5629}" destId="{D90CF14F-E010-5649-9AC4-6BBF9E914CA0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B77E1EA-87F7-BF48-B76A-6165B2DE4E2D}" type="doc">
      <dgm:prSet loTypeId="urn:microsoft.com/office/officeart/2005/8/layout/list1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CD145F8-83B5-2E42-A9F8-E854520EAC63}">
      <dgm:prSet phldrT="[Text]" custT="1"/>
      <dgm:spPr/>
      <dgm:t>
        <a:bodyPr/>
        <a:lstStyle/>
        <a:p>
          <a:r>
            <a:rPr lang="en-NZ" sz="2200" b="1" dirty="0"/>
            <a:t>Different approaches and design elements :</a:t>
          </a:r>
          <a:endParaRPr lang="en-US" sz="2200" b="1" dirty="0"/>
        </a:p>
      </dgm:t>
    </dgm:pt>
    <dgm:pt modelId="{740764E2-5B3C-9D40-BA44-038C3CF19D35}" type="parTrans" cxnId="{0914CDE4-D52B-4C44-999A-7C4E4113B9DC}">
      <dgm:prSet/>
      <dgm:spPr/>
      <dgm:t>
        <a:bodyPr/>
        <a:lstStyle/>
        <a:p>
          <a:endParaRPr lang="en-US"/>
        </a:p>
      </dgm:t>
    </dgm:pt>
    <dgm:pt modelId="{4517C349-6294-7B48-8278-ED5FD9B8FC61}" type="sibTrans" cxnId="{0914CDE4-D52B-4C44-999A-7C4E4113B9DC}">
      <dgm:prSet/>
      <dgm:spPr/>
      <dgm:t>
        <a:bodyPr/>
        <a:lstStyle/>
        <a:p>
          <a:endParaRPr lang="en-US"/>
        </a:p>
      </dgm:t>
    </dgm:pt>
    <dgm:pt modelId="{4C876D49-8477-2C4A-BB4A-12851A6EE2FE}">
      <dgm:prSet custT="1"/>
      <dgm:spPr/>
      <dgm:t>
        <a:bodyPr/>
        <a:lstStyle/>
        <a:p>
          <a:r>
            <a:rPr lang="en-NZ" sz="2000" dirty="0">
              <a:solidFill>
                <a:srgbClr val="FF0000"/>
              </a:solidFill>
              <a:latin typeface="Microsoft YaHei" panose="020B0503020204020204" pitchFamily="34" charset="-122"/>
              <a:ea typeface="Microsoft YaHei" panose="020B0503020204020204" pitchFamily="34" charset="-122"/>
            </a:rPr>
            <a:t>Microkernel architecture</a:t>
          </a:r>
        </a:p>
      </dgm:t>
    </dgm:pt>
    <dgm:pt modelId="{4A895147-C49F-4045-B3A0-0F0E96D01822}" type="parTrans" cxnId="{3C2A5F09-1A3D-5141-9A11-539E2D43DD4F}">
      <dgm:prSet/>
      <dgm:spPr/>
      <dgm:t>
        <a:bodyPr/>
        <a:lstStyle/>
        <a:p>
          <a:endParaRPr lang="en-US"/>
        </a:p>
      </dgm:t>
    </dgm:pt>
    <dgm:pt modelId="{2AFE65BC-047D-4747-BA3A-620FE859BAB7}" type="sibTrans" cxnId="{3C2A5F09-1A3D-5141-9A11-539E2D43DD4F}">
      <dgm:prSet/>
      <dgm:spPr/>
      <dgm:t>
        <a:bodyPr/>
        <a:lstStyle/>
        <a:p>
          <a:endParaRPr lang="en-US"/>
        </a:p>
      </dgm:t>
    </dgm:pt>
    <dgm:pt modelId="{22F80CB3-9173-2548-B161-4E16CD387926}">
      <dgm:prSet custT="1"/>
      <dgm:spPr/>
      <dgm:t>
        <a:bodyPr/>
        <a:lstStyle/>
        <a:p>
          <a:r>
            <a:rPr lang="en-NZ" sz="2000" dirty="0">
              <a:latin typeface="Microsoft YaHei" panose="020B0503020204020204" pitchFamily="34" charset="-122"/>
              <a:ea typeface="Microsoft YaHei" panose="020B0503020204020204" pitchFamily="34" charset="-122"/>
            </a:rPr>
            <a:t>Multithreading</a:t>
          </a:r>
        </a:p>
      </dgm:t>
    </dgm:pt>
    <dgm:pt modelId="{CC55D367-E5DD-1C41-88C0-715C4D5F5776}" type="parTrans" cxnId="{45A8A8C0-9AF3-E542-B6EB-F3CB52F3953A}">
      <dgm:prSet/>
      <dgm:spPr/>
      <dgm:t>
        <a:bodyPr/>
        <a:lstStyle/>
        <a:p>
          <a:endParaRPr lang="en-US"/>
        </a:p>
      </dgm:t>
    </dgm:pt>
    <dgm:pt modelId="{BFCEF71D-0588-244D-ABFC-AA372BCD87E0}" type="sibTrans" cxnId="{45A8A8C0-9AF3-E542-B6EB-F3CB52F3953A}">
      <dgm:prSet/>
      <dgm:spPr/>
      <dgm:t>
        <a:bodyPr/>
        <a:lstStyle/>
        <a:p>
          <a:endParaRPr lang="en-US"/>
        </a:p>
      </dgm:t>
    </dgm:pt>
    <dgm:pt modelId="{C0ED2A2F-69EF-FD4D-8999-D9EBBBB68B3B}">
      <dgm:prSet custT="1"/>
      <dgm:spPr/>
      <dgm:t>
        <a:bodyPr/>
        <a:lstStyle/>
        <a:p>
          <a:r>
            <a:rPr lang="en-NZ" sz="2000" dirty="0">
              <a:latin typeface="Microsoft YaHei" panose="020B0503020204020204" pitchFamily="34" charset="-122"/>
              <a:ea typeface="Microsoft YaHei" panose="020B0503020204020204" pitchFamily="34" charset="-122"/>
            </a:rPr>
            <a:t>Symmetric multiprocessing</a:t>
          </a:r>
        </a:p>
      </dgm:t>
    </dgm:pt>
    <dgm:pt modelId="{6D14272C-A272-124C-B272-0B93C3FBE164}" type="parTrans" cxnId="{A15C3EEC-00F4-DA4B-96C7-D8DBDA6F1DAF}">
      <dgm:prSet/>
      <dgm:spPr/>
      <dgm:t>
        <a:bodyPr/>
        <a:lstStyle/>
        <a:p>
          <a:endParaRPr lang="en-US"/>
        </a:p>
      </dgm:t>
    </dgm:pt>
    <dgm:pt modelId="{B9488A49-8E20-634B-BB37-1BE399AA9313}" type="sibTrans" cxnId="{A15C3EEC-00F4-DA4B-96C7-D8DBDA6F1DAF}">
      <dgm:prSet/>
      <dgm:spPr/>
      <dgm:t>
        <a:bodyPr/>
        <a:lstStyle/>
        <a:p>
          <a:endParaRPr lang="en-US"/>
        </a:p>
      </dgm:t>
    </dgm:pt>
    <dgm:pt modelId="{CA2FCDA9-35D5-ED47-ADC6-F0992EA0D9FC}">
      <dgm:prSet custT="1"/>
      <dgm:spPr/>
      <dgm:t>
        <a:bodyPr/>
        <a:lstStyle/>
        <a:p>
          <a:r>
            <a:rPr lang="en-NZ" sz="2000" dirty="0">
              <a:latin typeface="Microsoft YaHei" panose="020B0503020204020204" pitchFamily="34" charset="-122"/>
              <a:ea typeface="Microsoft YaHei" panose="020B0503020204020204" pitchFamily="34" charset="-122"/>
            </a:rPr>
            <a:t>Distributed operating systems</a:t>
          </a:r>
        </a:p>
      </dgm:t>
    </dgm:pt>
    <dgm:pt modelId="{062AB766-5965-A040-AF71-E9F77315A035}" type="parTrans" cxnId="{C5424E64-20F9-FB47-9D8F-04C1243230E1}">
      <dgm:prSet/>
      <dgm:spPr/>
      <dgm:t>
        <a:bodyPr/>
        <a:lstStyle/>
        <a:p>
          <a:endParaRPr lang="en-US"/>
        </a:p>
      </dgm:t>
    </dgm:pt>
    <dgm:pt modelId="{42EE109C-99A4-BB43-8E32-627383E4AAF6}" type="sibTrans" cxnId="{C5424E64-20F9-FB47-9D8F-04C1243230E1}">
      <dgm:prSet/>
      <dgm:spPr/>
      <dgm:t>
        <a:bodyPr/>
        <a:lstStyle/>
        <a:p>
          <a:endParaRPr lang="en-US"/>
        </a:p>
      </dgm:t>
    </dgm:pt>
    <dgm:pt modelId="{47690C75-3716-A241-A311-4612C26AC664}">
      <dgm:prSet custT="1"/>
      <dgm:spPr/>
      <dgm:t>
        <a:bodyPr/>
        <a:lstStyle/>
        <a:p>
          <a:r>
            <a:rPr lang="en-NZ" sz="2000" dirty="0">
              <a:latin typeface="Microsoft YaHei" panose="020B0503020204020204" pitchFamily="34" charset="-122"/>
              <a:ea typeface="Microsoft YaHei" panose="020B0503020204020204" pitchFamily="34" charset="-122"/>
            </a:rPr>
            <a:t>Object-oriented design</a:t>
          </a:r>
        </a:p>
      </dgm:t>
    </dgm:pt>
    <dgm:pt modelId="{D23161CC-D3C3-CD47-B1A1-A1A172F98306}" type="parTrans" cxnId="{42495778-F9FB-CB46-A12C-00EA0B21E491}">
      <dgm:prSet/>
      <dgm:spPr/>
      <dgm:t>
        <a:bodyPr/>
        <a:lstStyle/>
        <a:p>
          <a:endParaRPr lang="en-US"/>
        </a:p>
      </dgm:t>
    </dgm:pt>
    <dgm:pt modelId="{C5E525BB-5371-6A4F-A564-91D787A81443}" type="sibTrans" cxnId="{42495778-F9FB-CB46-A12C-00EA0B21E491}">
      <dgm:prSet/>
      <dgm:spPr/>
      <dgm:t>
        <a:bodyPr/>
        <a:lstStyle/>
        <a:p>
          <a:endParaRPr lang="en-US"/>
        </a:p>
      </dgm:t>
    </dgm:pt>
    <dgm:pt modelId="{31962772-51CB-6A40-B816-9D224BEAEA79}" type="pres">
      <dgm:prSet presAssocID="{EB77E1EA-87F7-BF48-B76A-6165B2DE4E2D}" presName="linear" presStyleCnt="0">
        <dgm:presLayoutVars>
          <dgm:dir/>
          <dgm:animLvl val="lvl"/>
          <dgm:resizeHandles val="exact"/>
        </dgm:presLayoutVars>
      </dgm:prSet>
      <dgm:spPr/>
    </dgm:pt>
    <dgm:pt modelId="{1EFAECEF-C095-964B-B308-F82287B1DBD9}" type="pres">
      <dgm:prSet presAssocID="{DCD145F8-83B5-2E42-A9F8-E854520EAC63}" presName="parentLin" presStyleCnt="0"/>
      <dgm:spPr/>
    </dgm:pt>
    <dgm:pt modelId="{674079A8-1F41-B548-897C-6270953BC33C}" type="pres">
      <dgm:prSet presAssocID="{DCD145F8-83B5-2E42-A9F8-E854520EAC63}" presName="parentLeftMargin" presStyleLbl="node1" presStyleIdx="0" presStyleCnt="1"/>
      <dgm:spPr/>
    </dgm:pt>
    <dgm:pt modelId="{83794904-62F1-3248-BF0D-6CBE7893EADB}" type="pres">
      <dgm:prSet presAssocID="{DCD145F8-83B5-2E42-A9F8-E854520EAC63}" presName="parentText" presStyleLbl="node1" presStyleIdx="0" presStyleCnt="1" custScaleX="714460" custScaleY="49862" custLinFactNeighborX="1136" custLinFactNeighborY="-69">
        <dgm:presLayoutVars>
          <dgm:chMax val="0"/>
          <dgm:bulletEnabled val="1"/>
        </dgm:presLayoutVars>
      </dgm:prSet>
      <dgm:spPr/>
    </dgm:pt>
    <dgm:pt modelId="{406F8105-6D84-A843-A576-74A971264734}" type="pres">
      <dgm:prSet presAssocID="{DCD145F8-83B5-2E42-A9F8-E854520EAC63}" presName="negativeSpace" presStyleCnt="0"/>
      <dgm:spPr/>
    </dgm:pt>
    <dgm:pt modelId="{6DABB729-FAEA-4D42-9064-64C0C1BA4D27}" type="pres">
      <dgm:prSet presAssocID="{DCD145F8-83B5-2E42-A9F8-E854520EAC63}" presName="childText" presStyleLbl="conFgAcc1" presStyleIdx="0" presStyleCnt="1">
        <dgm:presLayoutVars>
          <dgm:bulletEnabled val="1"/>
        </dgm:presLayoutVars>
      </dgm:prSet>
      <dgm:spPr/>
    </dgm:pt>
  </dgm:ptLst>
  <dgm:cxnLst>
    <dgm:cxn modelId="{3C2A5F09-1A3D-5141-9A11-539E2D43DD4F}" srcId="{DCD145F8-83B5-2E42-A9F8-E854520EAC63}" destId="{4C876D49-8477-2C4A-BB4A-12851A6EE2FE}" srcOrd="0" destOrd="0" parTransId="{4A895147-C49F-4045-B3A0-0F0E96D01822}" sibTransId="{2AFE65BC-047D-4747-BA3A-620FE859BAB7}"/>
    <dgm:cxn modelId="{A3E4DC30-0924-B94D-8F89-40E05F3E662F}" type="presOf" srcId="{22F80CB3-9173-2548-B161-4E16CD387926}" destId="{6DABB729-FAEA-4D42-9064-64C0C1BA4D27}" srcOrd="0" destOrd="1" presId="urn:microsoft.com/office/officeart/2005/8/layout/list1"/>
    <dgm:cxn modelId="{A9DC873E-5D79-9D4C-B971-C1EE4E0DD92C}" type="presOf" srcId="{EB77E1EA-87F7-BF48-B76A-6165B2DE4E2D}" destId="{31962772-51CB-6A40-B816-9D224BEAEA79}" srcOrd="0" destOrd="0" presId="urn:microsoft.com/office/officeart/2005/8/layout/list1"/>
    <dgm:cxn modelId="{C5424E64-20F9-FB47-9D8F-04C1243230E1}" srcId="{DCD145F8-83B5-2E42-A9F8-E854520EAC63}" destId="{CA2FCDA9-35D5-ED47-ADC6-F0992EA0D9FC}" srcOrd="3" destOrd="0" parTransId="{062AB766-5965-A040-AF71-E9F77315A035}" sibTransId="{42EE109C-99A4-BB43-8E32-627383E4AAF6}"/>
    <dgm:cxn modelId="{5D15536F-5902-2F44-872B-1F5CB99E0BFC}" type="presOf" srcId="{DCD145F8-83B5-2E42-A9F8-E854520EAC63}" destId="{83794904-62F1-3248-BF0D-6CBE7893EADB}" srcOrd="1" destOrd="0" presId="urn:microsoft.com/office/officeart/2005/8/layout/list1"/>
    <dgm:cxn modelId="{42495778-F9FB-CB46-A12C-00EA0B21E491}" srcId="{DCD145F8-83B5-2E42-A9F8-E854520EAC63}" destId="{47690C75-3716-A241-A311-4612C26AC664}" srcOrd="4" destOrd="0" parTransId="{D23161CC-D3C3-CD47-B1A1-A1A172F98306}" sibTransId="{C5E525BB-5371-6A4F-A564-91D787A81443}"/>
    <dgm:cxn modelId="{D632C696-4A56-1D47-90EC-2FFCE52D97E8}" type="presOf" srcId="{47690C75-3716-A241-A311-4612C26AC664}" destId="{6DABB729-FAEA-4D42-9064-64C0C1BA4D27}" srcOrd="0" destOrd="4" presId="urn:microsoft.com/office/officeart/2005/8/layout/list1"/>
    <dgm:cxn modelId="{EDC4EE99-5D73-6D4B-9849-28513D184F65}" type="presOf" srcId="{C0ED2A2F-69EF-FD4D-8999-D9EBBBB68B3B}" destId="{6DABB729-FAEA-4D42-9064-64C0C1BA4D27}" srcOrd="0" destOrd="2" presId="urn:microsoft.com/office/officeart/2005/8/layout/list1"/>
    <dgm:cxn modelId="{12BF4DAF-E24E-3D41-B200-057F7C93E059}" type="presOf" srcId="{CA2FCDA9-35D5-ED47-ADC6-F0992EA0D9FC}" destId="{6DABB729-FAEA-4D42-9064-64C0C1BA4D27}" srcOrd="0" destOrd="3" presId="urn:microsoft.com/office/officeart/2005/8/layout/list1"/>
    <dgm:cxn modelId="{45A8A8C0-9AF3-E542-B6EB-F3CB52F3953A}" srcId="{DCD145F8-83B5-2E42-A9F8-E854520EAC63}" destId="{22F80CB3-9173-2548-B161-4E16CD387926}" srcOrd="1" destOrd="0" parTransId="{CC55D367-E5DD-1C41-88C0-715C4D5F5776}" sibTransId="{BFCEF71D-0588-244D-ABFC-AA372BCD87E0}"/>
    <dgm:cxn modelId="{0914CDE4-D52B-4C44-999A-7C4E4113B9DC}" srcId="{EB77E1EA-87F7-BF48-B76A-6165B2DE4E2D}" destId="{DCD145F8-83B5-2E42-A9F8-E854520EAC63}" srcOrd="0" destOrd="0" parTransId="{740764E2-5B3C-9D40-BA44-038C3CF19D35}" sibTransId="{4517C349-6294-7B48-8278-ED5FD9B8FC61}"/>
    <dgm:cxn modelId="{A15C3EEC-00F4-DA4B-96C7-D8DBDA6F1DAF}" srcId="{DCD145F8-83B5-2E42-A9F8-E854520EAC63}" destId="{C0ED2A2F-69EF-FD4D-8999-D9EBBBB68B3B}" srcOrd="2" destOrd="0" parTransId="{6D14272C-A272-124C-B272-0B93C3FBE164}" sibTransId="{B9488A49-8E20-634B-BB37-1BE399AA9313}"/>
    <dgm:cxn modelId="{2DC3D7FC-E2E2-D54A-91BA-6B559E516F83}" type="presOf" srcId="{4C876D49-8477-2C4A-BB4A-12851A6EE2FE}" destId="{6DABB729-FAEA-4D42-9064-64C0C1BA4D27}" srcOrd="0" destOrd="0" presId="urn:microsoft.com/office/officeart/2005/8/layout/list1"/>
    <dgm:cxn modelId="{C99F7CFF-C908-1D4C-AD14-3B490F8B1C15}" type="presOf" srcId="{DCD145F8-83B5-2E42-A9F8-E854520EAC63}" destId="{674079A8-1F41-B548-897C-6270953BC33C}" srcOrd="0" destOrd="0" presId="urn:microsoft.com/office/officeart/2005/8/layout/list1"/>
    <dgm:cxn modelId="{F3AC6D7E-F906-F84E-8835-5F8D20A37793}" type="presParOf" srcId="{31962772-51CB-6A40-B816-9D224BEAEA79}" destId="{1EFAECEF-C095-964B-B308-F82287B1DBD9}" srcOrd="0" destOrd="0" presId="urn:microsoft.com/office/officeart/2005/8/layout/list1"/>
    <dgm:cxn modelId="{BE114CB0-ADCE-534B-B725-0D77722E91BD}" type="presParOf" srcId="{1EFAECEF-C095-964B-B308-F82287B1DBD9}" destId="{674079A8-1F41-B548-897C-6270953BC33C}" srcOrd="0" destOrd="0" presId="urn:microsoft.com/office/officeart/2005/8/layout/list1"/>
    <dgm:cxn modelId="{9657D2CC-5D82-7144-B917-F31713D71133}" type="presParOf" srcId="{1EFAECEF-C095-964B-B308-F82287B1DBD9}" destId="{83794904-62F1-3248-BF0D-6CBE7893EADB}" srcOrd="1" destOrd="0" presId="urn:microsoft.com/office/officeart/2005/8/layout/list1"/>
    <dgm:cxn modelId="{BF03E4DA-796B-9A46-826F-508884222740}" type="presParOf" srcId="{31962772-51CB-6A40-B816-9D224BEAEA79}" destId="{406F8105-6D84-A843-A576-74A971264734}" srcOrd="1" destOrd="0" presId="urn:microsoft.com/office/officeart/2005/8/layout/list1"/>
    <dgm:cxn modelId="{61FD82B3-6BAA-144E-A839-5490A1B72CC7}" type="presParOf" srcId="{31962772-51CB-6A40-B816-9D224BEAEA79}" destId="{6DABB729-FAEA-4D42-9064-64C0C1BA4D27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AE4A990-5AA0-034B-8CCF-8670DC0A0746}">
      <dsp:nvSpPr>
        <dsp:cNvPr id="0" name=""/>
        <dsp:cNvSpPr/>
      </dsp:nvSpPr>
      <dsp:spPr>
        <a:xfrm>
          <a:off x="0" y="21919"/>
          <a:ext cx="6448425" cy="691200"/>
        </a:xfrm>
        <a:prstGeom prst="rect">
          <a:avLst/>
        </a:prstGeom>
        <a:gradFill rotWithShape="0">
          <a:gsLst>
            <a:gs pos="0">
              <a:schemeClr val="accent3">
                <a:alpha val="9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alpha val="9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alpha val="9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3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0688" tIns="97536" rIns="170688" bIns="97536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/>
            <a:t>Main objectives of an OS</a:t>
          </a:r>
        </a:p>
      </dsp:txBody>
      <dsp:txXfrm>
        <a:off x="0" y="21919"/>
        <a:ext cx="6448425" cy="691200"/>
      </dsp:txXfrm>
    </dsp:sp>
    <dsp:sp modelId="{D90CF14F-E010-5649-9AC4-6BBF9E914CA0}">
      <dsp:nvSpPr>
        <dsp:cNvPr id="0" name=""/>
        <dsp:cNvSpPr/>
      </dsp:nvSpPr>
      <dsp:spPr>
        <a:xfrm>
          <a:off x="0" y="735039"/>
          <a:ext cx="6448425" cy="1449360"/>
        </a:xfrm>
        <a:prstGeom prst="rect">
          <a:avLst/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70688" bIns="192024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b="1" kern="1200" dirty="0"/>
            <a:t>Convenience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/>
            <a:t>Efficiency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/>
            <a:t>Ability to evolve</a:t>
          </a:r>
        </a:p>
      </dsp:txBody>
      <dsp:txXfrm>
        <a:off x="0" y="735039"/>
        <a:ext cx="6448425" cy="144936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DABB729-FAEA-4D42-9064-64C0C1BA4D27}">
      <dsp:nvSpPr>
        <dsp:cNvPr id="0" name=""/>
        <dsp:cNvSpPr/>
      </dsp:nvSpPr>
      <dsp:spPr>
        <a:xfrm>
          <a:off x="0" y="20696"/>
          <a:ext cx="7620000" cy="3331124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91397" tIns="937260" rIns="591397" bIns="14224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NZ" sz="2000" kern="1200" dirty="0">
              <a:solidFill>
                <a:srgbClr val="FF0000"/>
              </a:solidFill>
              <a:latin typeface="Microsoft YaHei" panose="020B0503020204020204" pitchFamily="34" charset="-122"/>
              <a:ea typeface="Microsoft YaHei" panose="020B0503020204020204" pitchFamily="34" charset="-122"/>
            </a:rPr>
            <a:t>Microkernel architecture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NZ" sz="2000" kern="1200" dirty="0">
              <a:latin typeface="Microsoft YaHei" panose="020B0503020204020204" pitchFamily="34" charset="-122"/>
              <a:ea typeface="Microsoft YaHei" panose="020B0503020204020204" pitchFamily="34" charset="-122"/>
            </a:rPr>
            <a:t>Multithreading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NZ" sz="2000" kern="1200" dirty="0">
              <a:latin typeface="Microsoft YaHei" panose="020B0503020204020204" pitchFamily="34" charset="-122"/>
              <a:ea typeface="Microsoft YaHei" panose="020B0503020204020204" pitchFamily="34" charset="-122"/>
            </a:rPr>
            <a:t>Symmetric multiprocessing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NZ" sz="2000" kern="1200" dirty="0">
              <a:latin typeface="Microsoft YaHei" panose="020B0503020204020204" pitchFamily="34" charset="-122"/>
              <a:ea typeface="Microsoft YaHei" panose="020B0503020204020204" pitchFamily="34" charset="-122"/>
            </a:rPr>
            <a:t>Distributed operating systems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NZ" sz="2000" kern="1200" dirty="0">
              <a:latin typeface="Microsoft YaHei" panose="020B0503020204020204" pitchFamily="34" charset="-122"/>
              <a:ea typeface="Microsoft YaHei" panose="020B0503020204020204" pitchFamily="34" charset="-122"/>
            </a:rPr>
            <a:t>Object-oriented design</a:t>
          </a:r>
        </a:p>
      </dsp:txBody>
      <dsp:txXfrm>
        <a:off x="0" y="20696"/>
        <a:ext cx="7620000" cy="3331124"/>
      </dsp:txXfrm>
    </dsp:sp>
    <dsp:sp modelId="{83794904-62F1-3248-BF0D-6CBE7893EADB}">
      <dsp:nvSpPr>
        <dsp:cNvPr id="0" name=""/>
        <dsp:cNvSpPr/>
      </dsp:nvSpPr>
      <dsp:spPr>
        <a:xfrm>
          <a:off x="76200" y="21613"/>
          <a:ext cx="7536262" cy="662366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1612" tIns="0" rIns="201612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2200" b="1" kern="1200" dirty="0"/>
            <a:t>Different approaches and design elements :</a:t>
          </a:r>
          <a:endParaRPr lang="en-US" sz="2200" b="1" kern="1200" dirty="0"/>
        </a:p>
      </dsp:txBody>
      <dsp:txXfrm>
        <a:off x="108534" y="53947"/>
        <a:ext cx="7471594" cy="59769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AC0710-FEB9-4CE2-9CD9-B63D1A3DC4CE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1A7FE0-CD29-4BAD-A9FD-CBED1172C0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8221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1A7FE0-CD29-4BAD-A9FD-CBED1172C06E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72241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1A7FE0-CD29-4BAD-A9FD-CBED1172C06E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94657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1A7FE0-CD29-4BAD-A9FD-CBED1172C06E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98802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1A7FE0-CD29-4BAD-A9FD-CBED1172C06E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37934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1A7FE0-CD29-4BAD-A9FD-CBED1172C06E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32501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1A7FE0-CD29-4BAD-A9FD-CBED1172C06E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87813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>
                <a:effectLst/>
                <a:latin typeface="Segoe UI Web (West European)"/>
              </a:rPr>
              <a:t>按照刚才描述的交换，必须将</a:t>
            </a:r>
            <a:r>
              <a:rPr lang="zh-CN" altLang="en-US" b="1" dirty="0">
                <a:effectLst/>
                <a:latin typeface="Segoe UI Web (West European)"/>
              </a:rPr>
              <a:t>另一个状态添加到我们的进程行为模型</a:t>
            </a:r>
            <a:r>
              <a:rPr lang="zh-CN" altLang="en-US" dirty="0">
                <a:effectLst/>
                <a:latin typeface="Segoe UI Web (West European)"/>
              </a:rPr>
              <a:t>中（图 </a:t>
            </a:r>
            <a:r>
              <a:rPr lang="en-US" altLang="zh-CN" dirty="0">
                <a:effectLst/>
                <a:latin typeface="Segoe UI Web (West European)"/>
              </a:rPr>
              <a:t>3.9a</a:t>
            </a:r>
            <a:r>
              <a:rPr lang="zh-CN" altLang="en-US" dirty="0">
                <a:effectLst/>
                <a:latin typeface="Segoe UI Web (West European)"/>
              </a:rPr>
              <a:t>）：</a:t>
            </a:r>
            <a:r>
              <a:rPr lang="zh-CN" altLang="en-US" b="1" dirty="0">
                <a:effectLst/>
                <a:latin typeface="Segoe UI Web (West European)"/>
              </a:rPr>
              <a:t>挂起</a:t>
            </a:r>
            <a:r>
              <a:rPr lang="en-US" altLang="zh-CN" b="1" dirty="0">
                <a:effectLst/>
                <a:latin typeface="Segoe UI Web (West European)"/>
              </a:rPr>
              <a:t> </a:t>
            </a:r>
            <a:r>
              <a:rPr lang="zh-CN" altLang="en-US" b="1" dirty="0">
                <a:effectLst/>
                <a:latin typeface="Segoe UI Web (West European)"/>
              </a:rPr>
              <a:t>状态</a:t>
            </a:r>
            <a:r>
              <a:rPr lang="zh-CN" altLang="en-US" dirty="0">
                <a:effectLst/>
                <a:latin typeface="Segoe UI Web (West European)"/>
              </a:rPr>
              <a:t>。</a:t>
            </a:r>
            <a:endParaRPr lang="en-US" altLang="zh-CN" dirty="0">
              <a:effectLst/>
              <a:latin typeface="Segoe UI Web (West European)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>
                <a:effectLst/>
                <a:latin typeface="Segoe UI Web (West European)"/>
              </a:rPr>
              <a:t>当主内存中的所有进程都处于 </a:t>
            </a:r>
            <a:r>
              <a:rPr lang="en-US" altLang="zh-CN" dirty="0">
                <a:effectLst/>
                <a:latin typeface="Segoe UI Web (West European)"/>
              </a:rPr>
              <a:t>Blocked </a:t>
            </a:r>
            <a:r>
              <a:rPr lang="zh-CN" altLang="en-US" dirty="0">
                <a:effectLst/>
                <a:latin typeface="Segoe UI Web (West European)"/>
              </a:rPr>
              <a:t>状态时，</a:t>
            </a:r>
            <a:endParaRPr lang="en-US" altLang="zh-CN" dirty="0">
              <a:effectLst/>
              <a:latin typeface="Segoe UI Web (West European)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>
                <a:effectLst/>
                <a:latin typeface="Segoe UI Web (West European)"/>
              </a:rPr>
              <a:t>OS </a:t>
            </a:r>
            <a:r>
              <a:rPr lang="zh-CN" altLang="en-US" dirty="0">
                <a:effectLst/>
                <a:latin typeface="Segoe UI Web (West European)"/>
              </a:rPr>
              <a:t>可以通过将一个进程置于 </a:t>
            </a:r>
            <a:r>
              <a:rPr lang="en-US" altLang="zh-CN" dirty="0">
                <a:effectLst/>
                <a:latin typeface="Segoe UI Web (West European)"/>
              </a:rPr>
              <a:t>Suspend </a:t>
            </a:r>
            <a:r>
              <a:rPr lang="zh-CN" altLang="en-US" dirty="0">
                <a:effectLst/>
                <a:latin typeface="Segoe UI Web (West European)"/>
              </a:rPr>
              <a:t>状态并将其传输到磁盘来暂停该进程。然后，可以使用主内存中释放的空间来引入另一个进程。</a:t>
            </a:r>
            <a:endParaRPr lang="en-US" altLang="zh-CN" dirty="0">
              <a:effectLst/>
              <a:latin typeface="Segoe UI Web (West European)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>
              <a:effectLst/>
              <a:latin typeface="Segoe UI Web (West European)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>
                <a:effectLst/>
                <a:latin typeface="Segoe UI Web (West European)"/>
              </a:rPr>
              <a:t>当 </a:t>
            </a:r>
            <a:r>
              <a:rPr lang="en-US" altLang="zh-CN" dirty="0">
                <a:effectLst/>
                <a:latin typeface="Segoe UI Web (West European)"/>
              </a:rPr>
              <a:t>OS </a:t>
            </a:r>
            <a:r>
              <a:rPr lang="zh-CN" altLang="en-US" dirty="0">
                <a:effectLst/>
                <a:latin typeface="Segoe UI Web (West European)"/>
              </a:rPr>
              <a:t>执行了换出作时，它有</a:t>
            </a:r>
            <a:r>
              <a:rPr lang="zh-CN" altLang="en-US" b="1" dirty="0">
                <a:effectLst/>
                <a:latin typeface="Segoe UI Web (West European)"/>
              </a:rPr>
              <a:t>两个选项来选择要引入主内存</a:t>
            </a:r>
            <a:r>
              <a:rPr lang="zh-CN" altLang="en-US" dirty="0">
                <a:effectLst/>
                <a:latin typeface="Segoe UI Web (West European)"/>
              </a:rPr>
              <a:t>的进程：</a:t>
            </a:r>
            <a:endParaRPr lang="en-US" altLang="zh-CN" dirty="0">
              <a:effectLst/>
              <a:latin typeface="Segoe UI Web (West European)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>
                <a:effectLst/>
                <a:latin typeface="Segoe UI Web (West European)"/>
              </a:rPr>
              <a:t>它可以允许</a:t>
            </a:r>
            <a:r>
              <a:rPr lang="zh-CN" altLang="en-US" b="1" dirty="0">
                <a:effectLst/>
                <a:latin typeface="Segoe UI Web (West European)"/>
              </a:rPr>
              <a:t>新创建</a:t>
            </a:r>
            <a:r>
              <a:rPr lang="zh-CN" altLang="en-US" dirty="0">
                <a:effectLst/>
                <a:latin typeface="Segoe UI Web (West European)"/>
              </a:rPr>
              <a:t>的进程，也可以引入</a:t>
            </a:r>
            <a:r>
              <a:rPr lang="zh-CN" altLang="en-US" b="1" dirty="0">
                <a:effectLst/>
                <a:latin typeface="Segoe UI Web (West European)"/>
              </a:rPr>
              <a:t>以前暂停</a:t>
            </a:r>
            <a:r>
              <a:rPr lang="zh-CN" altLang="en-US" dirty="0">
                <a:effectLst/>
                <a:latin typeface="Segoe UI Web (West European)"/>
              </a:rPr>
              <a:t>的进程。</a:t>
            </a:r>
            <a:endParaRPr lang="en-US" altLang="zh-CN" dirty="0">
              <a:effectLst/>
              <a:latin typeface="Segoe UI Web (West European)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>
              <a:effectLst/>
              <a:latin typeface="Segoe UI Web (West European)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>
                <a:effectLst/>
                <a:latin typeface="Segoe UI Web (West European)"/>
              </a:rPr>
              <a:t>看起来，首选应该是引入以前暂停的进程，以便为其提供服务，而不是增加系统上的总负载。</a:t>
            </a:r>
            <a:endParaRPr lang="en-US" altLang="zh-CN" dirty="0">
              <a:effectLst/>
              <a:latin typeface="Segoe UI Web (West European)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>
                <a:effectLst/>
                <a:latin typeface="Segoe UI Web (West European)"/>
              </a:rPr>
              <a:t>但这种推理方式带来了困难。所有已暂停的进程在暂停时都处于 </a:t>
            </a:r>
            <a:r>
              <a:rPr lang="en-US" altLang="zh-CN" dirty="0">
                <a:effectLst/>
                <a:latin typeface="Segoe UI Web (West European)"/>
              </a:rPr>
              <a:t>Blocked </a:t>
            </a:r>
            <a:r>
              <a:rPr lang="zh-CN" altLang="en-US" dirty="0">
                <a:effectLst/>
                <a:latin typeface="Segoe UI Web (West European)"/>
              </a:rPr>
              <a:t>状态。显然，将阻塞的进程带回主内存没有任何好处，因为它确实是 </a:t>
            </a:r>
            <a:r>
              <a:rPr lang="zh-CN" altLang="en-US" b="1" dirty="0">
                <a:effectLst/>
                <a:latin typeface="Segoe UI Web (West European)"/>
              </a:rPr>
              <a:t>仍然没有准备好执行</a:t>
            </a:r>
            <a:r>
              <a:rPr lang="zh-CN" altLang="en-US" dirty="0">
                <a:effectLst/>
                <a:latin typeface="Segoe UI Web (West European)"/>
              </a:rPr>
              <a:t>。但是，请注意，每个处于 </a:t>
            </a:r>
            <a:r>
              <a:rPr lang="en-US" altLang="zh-CN" dirty="0">
                <a:effectLst/>
                <a:latin typeface="Segoe UI Web (West European)"/>
              </a:rPr>
              <a:t>Suspend </a:t>
            </a:r>
            <a:r>
              <a:rPr lang="zh-CN" altLang="en-US" dirty="0">
                <a:effectLst/>
                <a:latin typeface="Segoe UI Web (West European)"/>
              </a:rPr>
              <a:t>状态的进程最初都是在特定事件上被阻止的。当该事件发生时，该进程不会被阻止，并且可能可供执行。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>
              <a:effectLst/>
              <a:latin typeface="Segoe UI Web (West European)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>
              <a:effectLst/>
              <a:latin typeface="Segoe UI Web (West European)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>
              <a:effectLst/>
              <a:latin typeface="Segoe UI Web (West European)"/>
            </a:endParaRPr>
          </a:p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1A7FE0-CD29-4BAD-A9FD-CBED1172C06E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97551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1A7FE0-CD29-4BAD-A9FD-CBED1172C06E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937082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1A7FE0-CD29-4BAD-A9FD-CBED1172C06E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34018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1A7FE0-CD29-4BAD-A9FD-CBED1172C06E}" type="slidenum">
              <a:rPr lang="zh-CN" altLang="en-US" smtClean="0"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652173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1A7FE0-CD29-4BAD-A9FD-CBED1172C06E}" type="slidenum">
              <a:rPr lang="zh-CN" altLang="en-US" smtClean="0"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816984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1A7FE0-CD29-4BAD-A9FD-CBED1172C06E}" type="slidenum">
              <a:rPr lang="zh-CN" altLang="en-US" smtClean="0"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217311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1A7FE0-CD29-4BAD-A9FD-CBED1172C06E}" type="slidenum">
              <a:rPr lang="zh-CN" altLang="en-US" smtClean="0"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62353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1A7FE0-CD29-4BAD-A9FD-CBED1172C06E}" type="slidenum">
              <a:rPr lang="zh-CN" altLang="en-US" smtClean="0"/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463387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1A7FE0-CD29-4BAD-A9FD-CBED1172C06E}" type="slidenum">
              <a:rPr lang="zh-CN" altLang="en-US" smtClean="0"/>
              <a:t>40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315870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1A7FE0-CD29-4BAD-A9FD-CBED1172C06E}" type="slidenum">
              <a:rPr lang="zh-CN" altLang="en-US" smtClean="0"/>
              <a:t>41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749817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1A7FE0-CD29-4BAD-A9FD-CBED1172C06E}" type="slidenum">
              <a:rPr lang="zh-CN" altLang="en-US" smtClean="0"/>
              <a:t>46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844188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1A7FE0-CD29-4BAD-A9FD-CBED1172C06E}" type="slidenum">
              <a:rPr lang="zh-CN" altLang="en-US" smtClean="0"/>
              <a:t>61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96295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1A7FE0-CD29-4BAD-A9FD-CBED1172C06E}" type="slidenum">
              <a:rPr lang="zh-CN" altLang="en-US" smtClean="0"/>
              <a:t>62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796207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1A7FE0-CD29-4BAD-A9FD-CBED1172C06E}" type="slidenum">
              <a:rPr lang="zh-CN" altLang="en-US" smtClean="0"/>
              <a:t>64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120303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1A7FE0-CD29-4BAD-A9FD-CBED1172C06E}" type="slidenum">
              <a:rPr lang="zh-CN" altLang="en-US" smtClean="0"/>
              <a:t>70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437771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1A7FE0-CD29-4BAD-A9FD-CBED1172C06E}" type="slidenum">
              <a:rPr lang="zh-CN" altLang="en-US" smtClean="0"/>
              <a:t>74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939305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1A7FE0-CD29-4BAD-A9FD-CBED1172C06E}" type="slidenum">
              <a:rPr lang="zh-CN" altLang="en-US" smtClean="0"/>
              <a:t>76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162684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1A7FE0-CD29-4BAD-A9FD-CBED1172C06E}" type="slidenum">
              <a:rPr lang="zh-CN" altLang="en-US" smtClean="0"/>
              <a:t>80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575777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1A7FE0-CD29-4BAD-A9FD-CBED1172C06E}" type="slidenum">
              <a:rPr lang="zh-CN" altLang="en-US" smtClean="0"/>
              <a:t>81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575777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1A7FE0-CD29-4BAD-A9FD-CBED1172C06E}" type="slidenum">
              <a:rPr lang="zh-CN" altLang="en-US" smtClean="0"/>
              <a:t>86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81533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8676ED-31AD-43FB-A49E-D33E228AB4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1422C94-50F2-4AE9-86A9-E61113E142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85A43B6-600F-417C-93A9-1FD37B86D1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23FB5-DA9B-D449-BD3F-23B81C5F3DB2}" type="datetime1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D46F7F6-9FE2-4D4C-864B-75CAFF397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5ED69EF-23A2-4ACE-83F0-B1DA318EB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3D444-7193-46AD-90E8-D84AE4B61CFF}" type="slidenum">
              <a:rPr lang="en-US" altLang="zh-CN" smtClean="0"/>
              <a:pPr/>
              <a:t>‹#›</a:t>
            </a:fld>
            <a:r>
              <a:rPr lang="en-US" altLang="zh-CN" dirty="0"/>
              <a:t>/114</a:t>
            </a:r>
          </a:p>
        </p:txBody>
      </p:sp>
    </p:spTree>
    <p:extLst>
      <p:ext uri="{BB962C8B-B14F-4D97-AF65-F5344CB8AC3E}">
        <p14:creationId xmlns:p14="http://schemas.microsoft.com/office/powerpoint/2010/main" val="10099780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E71735-B29C-4DD1-A401-C0EC3324C0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3080" y="136523"/>
            <a:ext cx="10515600" cy="616768"/>
          </a:xfrm>
        </p:spPr>
        <p:txBody>
          <a:bodyPr>
            <a:noAutofit/>
          </a:bodyPr>
          <a:lstStyle>
            <a:lvl1pPr>
              <a:defRPr sz="2800">
                <a:solidFill>
                  <a:schemeClr val="accent1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08E37B7-8C78-4782-A312-6CE3597C91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41103"/>
            <a:ext cx="10515600" cy="5175794"/>
          </a:xfrm>
        </p:spPr>
        <p:txBody>
          <a:bodyPr>
            <a:normAutofit/>
          </a:bodyPr>
          <a:lstStyle>
            <a:lvl1pPr algn="just">
              <a:lnSpc>
                <a:spcPct val="100000"/>
              </a:lnSpc>
              <a:defRPr sz="2400"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algn="just">
              <a:lnSpc>
                <a:spcPct val="100000"/>
              </a:lnSpc>
              <a:defRPr sz="2000"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 algn="just">
              <a:lnSpc>
                <a:spcPct val="100000"/>
              </a:lnSpc>
              <a:defRPr sz="2000"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algn="just">
              <a:lnSpc>
                <a:spcPct val="100000"/>
              </a:lnSpc>
              <a:defRPr sz="2000"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 algn="just">
              <a:lnSpc>
                <a:spcPct val="100000"/>
              </a:lnSpc>
              <a:defRPr sz="2000"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DB372F8-B13E-4C13-8035-517AFC049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3D444-7193-46AD-90E8-D84AE4B61CFF}" type="slidenum">
              <a:rPr lang="en-US" smtClean="0"/>
              <a:pPr/>
              <a:t>‹#›</a:t>
            </a:fld>
            <a:r>
              <a:rPr lang="en-US" dirty="0"/>
              <a:t>/114</a:t>
            </a:r>
          </a:p>
        </p:txBody>
      </p:sp>
      <p:sp>
        <p:nvSpPr>
          <p:cNvPr id="7" name="日期占位符 3">
            <a:extLst>
              <a:ext uri="{FF2B5EF4-FFF2-40B4-BE49-F238E27FC236}">
                <a16:creationId xmlns:a16="http://schemas.microsoft.com/office/drawing/2014/main" id="{D7DCD789-2F9C-4890-8FFB-CFE5A82A6AA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</p:spPr>
        <p:txBody>
          <a:bodyPr/>
          <a:lstStyle/>
          <a:p>
            <a:fld id="{2606D1B6-B1AF-7D4D-A84B-F73F4DDF98DE}" type="datetime1">
              <a:rPr lang="zh-CN" altLang="en-US" smtClean="0"/>
              <a:t>2026/6/19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671931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2FB2E7-CD10-401E-B2A8-7149F8475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4500"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4A83809-0CD6-4E99-B235-4D681390A3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F11F12C-08AA-45AB-908E-59440A6C56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ADB72-4C83-9C4A-866B-4D5142DBA58B}" type="datetime1">
              <a:rPr lang="zh-CN" altLang="en-US" smtClean="0"/>
              <a:t>2026/6/19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2461642-9D96-4148-8180-D0B2B5019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34EB5D8-A13F-457E-826D-95AC9FB55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195D6-D476-4847-9419-038ABCB65AC4}" type="slidenum">
              <a:rPr lang="zh-CN" altLang="en-US" smtClean="0"/>
              <a:pPr/>
              <a:t>‹#›</a:t>
            </a:fld>
            <a:r>
              <a:rPr lang="en-US" altLang="zh-CN" dirty="0"/>
              <a:t>/114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06620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6E999A-7582-4E5D-A9FB-8CDEF52EE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BA3E153-1AD5-46DD-B8DE-61DF0461F4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F5248A8-0745-4392-A1F2-F6DF355FFA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D9D8C1F-5ACD-48A3-93C6-718634CC37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100616-4739-7441-B90B-83F2CA2BC9BA}" type="datetime1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2E22B1C-A4A1-4342-9DAC-218041BCC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7CCC53A-B54E-4AEB-86B3-C8CD6AF7F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3D444-7193-46AD-90E8-D84AE4B61CFF}" type="slidenum">
              <a:rPr lang="en-US" altLang="zh-CN" smtClean="0"/>
              <a:pPr/>
              <a:t>‹#›</a:t>
            </a:fld>
            <a:r>
              <a:rPr lang="en-US" altLang="zh-CN" dirty="0"/>
              <a:t>/114</a:t>
            </a:r>
          </a:p>
        </p:txBody>
      </p:sp>
    </p:spTree>
    <p:extLst>
      <p:ext uri="{BB962C8B-B14F-4D97-AF65-F5344CB8AC3E}">
        <p14:creationId xmlns:p14="http://schemas.microsoft.com/office/powerpoint/2010/main" val="40598750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DDE34E-984F-4F04-A7FF-17195BCF1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5761511-A802-4F5E-86A2-D80D5C0ADB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9E9FAF3-D8C1-45A2-BA48-80B3498662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9251460-B631-4C46-908A-FE9A105226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9EF5D71-25C4-4922-9405-6A048B9112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19751F0-F0EA-4B00-B971-5EE1B3773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51E67-9620-AB48-8C22-118A8ACF42A3}" type="datetime1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9047BC4-C2D4-4C81-B588-5459ACF089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A9723A5-6ECE-4EAA-A5C6-EABD8CD3A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3D444-7193-46AD-90E8-D84AE4B61CFF}" type="slidenum">
              <a:rPr lang="en-US" altLang="zh-CN" smtClean="0"/>
              <a:pPr/>
              <a:t>‹#›</a:t>
            </a:fld>
            <a:r>
              <a:rPr lang="en-US" altLang="zh-CN" dirty="0"/>
              <a:t>/114</a:t>
            </a:r>
          </a:p>
        </p:txBody>
      </p:sp>
    </p:spTree>
    <p:extLst>
      <p:ext uri="{BB962C8B-B14F-4D97-AF65-F5344CB8AC3E}">
        <p14:creationId xmlns:p14="http://schemas.microsoft.com/office/powerpoint/2010/main" val="37627942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3852D2-8976-40DD-BA31-408AB98E4F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4858EC2-E957-4F1C-83FD-787BB2CC1D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DF96E-3180-8C40-81AA-950720D6E543}" type="datetime1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806991F-2419-4982-884B-D42FF1AACC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398A650-CAEE-412E-B9BF-886CCFDE5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195D6-D476-4847-9419-038ABCB65A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24992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2DBD33B-092C-4074-8EDA-3C4FE78AD9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48788" y="6356351"/>
            <a:ext cx="2743200" cy="365125"/>
          </a:xfrm>
        </p:spPr>
        <p:txBody>
          <a:bodyPr/>
          <a:lstStyle/>
          <a:p>
            <a:fld id="{FD9F80F7-C3DF-D742-871B-8631AA2F4284}" type="datetime1">
              <a:rPr lang="zh-CN" altLang="en-US" smtClean="0"/>
              <a:t>2026/6/19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90D8F40-5181-4836-B8DD-3A9908B08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2D2A77F-D152-4CDD-99EA-FD8387BB90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195D6-D476-4847-9419-038ABCB65A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8013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621370-F61A-4FFA-8158-63411BEFA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054B4E2-CBF2-4B8F-9FBE-CE369EF6AD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417E24-6C8C-4AC7-8665-96EC08B1E1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E33FA8D-1C48-4107-82A1-179513CC6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D033B-6B8A-DF41-A2EB-ACFE77114C01}" type="datetime1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1FBC6DC-C4E0-4913-82DB-024E67FFA4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867BBE5-0CE5-41DC-8976-ECDB91764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3D444-7193-46AD-90E8-D84AE4B61CFF}" type="slidenum">
              <a:rPr lang="en-US" altLang="zh-CN" smtClean="0"/>
              <a:pPr/>
              <a:t>‹#›</a:t>
            </a:fld>
            <a:r>
              <a:rPr lang="en-US" altLang="zh-CN" dirty="0"/>
              <a:t>/114</a:t>
            </a:r>
          </a:p>
        </p:txBody>
      </p:sp>
    </p:spTree>
    <p:extLst>
      <p:ext uri="{BB962C8B-B14F-4D97-AF65-F5344CB8AC3E}">
        <p14:creationId xmlns:p14="http://schemas.microsoft.com/office/powerpoint/2010/main" val="34486753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E4D30F-E495-4188-86D6-1CC70B8052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2FD1BDB-E14E-4C2F-8A31-0C60394764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4D96B3D-921F-4319-83AB-6599543C11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A720358-A521-4F46-ABEB-E0AE1BAB15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867BDB-3D9C-3044-9065-01E1FE9EC8B3}" type="datetime1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778CC20-8FFA-4C0C-89A1-565524146C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0CBA9C1-FE7E-475B-A075-82D6279FF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3D444-7193-46AD-90E8-D84AE4B61CFF}" type="slidenum">
              <a:rPr lang="en-US" altLang="zh-CN" smtClean="0"/>
              <a:pPr/>
              <a:t>‹#›</a:t>
            </a:fld>
            <a:r>
              <a:rPr lang="en-US" altLang="zh-CN" dirty="0"/>
              <a:t>/114</a:t>
            </a:r>
          </a:p>
        </p:txBody>
      </p:sp>
    </p:spTree>
    <p:extLst>
      <p:ext uri="{BB962C8B-B14F-4D97-AF65-F5344CB8AC3E}">
        <p14:creationId xmlns:p14="http://schemas.microsoft.com/office/powerpoint/2010/main" val="40636576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917C9F-382B-48B3-AEE3-A1275451A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05CEB06-E6AC-47BF-A94B-0ED4AAAD24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1C0F83F-CE58-4F03-BCC7-46A6A13F79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23FAF-27E8-3442-8C9B-7C060914ABFE}" type="datetime1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059299B-B55F-4721-90C3-0CFE23FA0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390ADCF-1B44-43D8-AB3F-8541D6238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3D444-7193-46AD-90E8-D84AE4B61CFF}" type="slidenum">
              <a:rPr lang="en-US" altLang="zh-CN" smtClean="0"/>
              <a:pPr/>
              <a:t>‹#›</a:t>
            </a:fld>
            <a:r>
              <a:rPr lang="en-US" altLang="zh-CN" dirty="0"/>
              <a:t>/114</a:t>
            </a:r>
          </a:p>
        </p:txBody>
      </p:sp>
    </p:spTree>
    <p:extLst>
      <p:ext uri="{BB962C8B-B14F-4D97-AF65-F5344CB8AC3E}">
        <p14:creationId xmlns:p14="http://schemas.microsoft.com/office/powerpoint/2010/main" val="7227395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BED9C40E-5C6D-4234-8128-E50188E5E6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2E915B8-7307-4BCC-9A61-569D45C95F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6FCA776-3C88-4450-AD71-6D2C500AF8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FC4F1-59CC-944D-839A-A20122FC4C2B}" type="datetime1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6002269-E005-4BE1-94C3-C26720F2B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B9685CF-5F0E-4F70-99BE-CCD46BC02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3D444-7193-46AD-90E8-D84AE4B61CFF}" type="slidenum">
              <a:rPr lang="en-US" altLang="zh-CN" smtClean="0"/>
              <a:pPr/>
              <a:t>‹#›</a:t>
            </a:fld>
            <a:r>
              <a:rPr lang="en-US" altLang="zh-CN" dirty="0"/>
              <a:t>/114</a:t>
            </a:r>
          </a:p>
        </p:txBody>
      </p:sp>
    </p:spTree>
    <p:extLst>
      <p:ext uri="{BB962C8B-B14F-4D97-AF65-F5344CB8AC3E}">
        <p14:creationId xmlns:p14="http://schemas.microsoft.com/office/powerpoint/2010/main" val="28849779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342FFB6-8F21-4ACC-BC1E-3F66BCBF3C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017" y="156305"/>
            <a:ext cx="10515600" cy="59698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D525B20-A1AA-4A92-9D7A-2F7B14A413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928915"/>
            <a:ext cx="10515600" cy="51757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 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B28EA23-1C26-401F-ABA1-2D300BB691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4DF019-1C96-0B48-8006-AD0D34BEC94E}" type="datetime1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9AFCE78-DD67-4C8D-A584-09B016DC5D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93D444-7193-46AD-90E8-D84AE4B61CFF}" type="slidenum">
              <a:rPr lang="en-US" smtClean="0"/>
              <a:pPr/>
              <a:t>‹#›</a:t>
            </a:fld>
            <a:r>
              <a:rPr lang="en-US" dirty="0"/>
              <a:t>/114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9E98AC04-83D3-4028-869F-84D382FA74BB}"/>
              </a:ext>
            </a:extLst>
          </p:cNvPr>
          <p:cNvGrpSpPr/>
          <p:nvPr userDrawn="1"/>
        </p:nvGrpSpPr>
        <p:grpSpPr>
          <a:xfrm>
            <a:off x="9982200" y="186423"/>
            <a:ext cx="1794536" cy="472074"/>
            <a:chOff x="504825" y="327025"/>
            <a:chExt cx="2482851" cy="636440"/>
          </a:xfrm>
        </p:grpSpPr>
        <p:pic>
          <p:nvPicPr>
            <p:cNvPr id="16" name="图片 15">
              <a:extLst>
                <a:ext uri="{FF2B5EF4-FFF2-40B4-BE49-F238E27FC236}">
                  <a16:creationId xmlns:a16="http://schemas.microsoft.com/office/drawing/2014/main" id="{49F7D68F-F6C5-482F-BB06-4C7202C968E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3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 l="8955" t="8651" r="74262" b="8651"/>
            <a:stretch>
              <a:fillRect/>
            </a:stretch>
          </p:blipFill>
          <p:spPr>
            <a:xfrm>
              <a:off x="504825" y="327025"/>
              <a:ext cx="593725" cy="636440"/>
            </a:xfrm>
            <a:prstGeom prst="rect">
              <a:avLst/>
            </a:prstGeom>
          </p:spPr>
        </p:pic>
        <p:pic>
          <p:nvPicPr>
            <p:cNvPr id="17" name="图片 16">
              <a:extLst>
                <a:ext uri="{FF2B5EF4-FFF2-40B4-BE49-F238E27FC236}">
                  <a16:creationId xmlns:a16="http://schemas.microsoft.com/office/drawing/2014/main" id="{18389FF0-6461-4154-A98D-1E4418062FE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3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 l="36206" t="8651" r="14969" b="8651"/>
            <a:stretch>
              <a:fillRect/>
            </a:stretch>
          </p:blipFill>
          <p:spPr>
            <a:xfrm>
              <a:off x="1260475" y="327025"/>
              <a:ext cx="1727201" cy="63644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043126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</p:sldLayoutIdLst>
  <p:hf hd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accent1">
              <a:lumMod val="75000"/>
            </a:schemeClr>
          </a:solidFill>
          <a:latin typeface="Microsoft YaHei" panose="020B0503020204020204" pitchFamily="34" charset="-122"/>
          <a:ea typeface="Microsoft YaHei" panose="020B0503020204020204" pitchFamily="34" charset="-122"/>
          <a:cs typeface="Arial" panose="020B0604020202020204" pitchFamily="34" charset="0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Wingdings" panose="05000000000000000000" pitchFamily="2" charset="2"/>
        <a:buChar char="q"/>
        <a:defRPr sz="2000" b="1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Arial" panose="020B0604020202020204" pitchFamily="34" charset="0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Arial" panose="020B0604020202020204" pitchFamily="34" charset="0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" panose="05000000000000000000" pitchFamily="2" charset="2"/>
        <a:buChar char="Ø"/>
        <a:defRPr sz="20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Arial" panose="020B0604020202020204" pitchFamily="34" charset="0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Arial" panose="020B0604020202020204" pitchFamily="34" charset="0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Arial" panose="020B0604020202020204" pitchFamily="34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package" Target="../embeddings/Microsoft_Word_Document.docx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gi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">
            <a:extLst>
              <a:ext uri="{FF2B5EF4-FFF2-40B4-BE49-F238E27FC236}">
                <a16:creationId xmlns:a16="http://schemas.microsoft.com/office/drawing/2014/main" id="{EC02B943-8764-434E-9C4F-C8ED1CA9902A}"/>
              </a:ext>
            </a:extLst>
          </p:cNvPr>
          <p:cNvSpPr txBox="1">
            <a:spLocks/>
          </p:cNvSpPr>
          <p:nvPr/>
        </p:nvSpPr>
        <p:spPr>
          <a:xfrm>
            <a:off x="875558" y="988422"/>
            <a:ext cx="10440884" cy="200627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b="1" kern="1200">
                <a:solidFill>
                  <a:schemeClr val="accent1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1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6000" b="1" i="0" u="none" strike="noStrike" kern="1200" cap="none" spc="0" normalizeH="0" baseline="0" noProof="0" dirty="0">
              <a:ln>
                <a:noFill/>
              </a:ln>
              <a:solidFill>
                <a:srgbClr val="4F81BD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02D92AE-1C9F-46A7-9630-0A79162A8B42}"/>
              </a:ext>
            </a:extLst>
          </p:cNvPr>
          <p:cNvSpPr txBox="1"/>
          <p:nvPr/>
        </p:nvSpPr>
        <p:spPr>
          <a:xfrm>
            <a:off x="2058085" y="1556381"/>
            <a:ext cx="81455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6000" b="1" i="0" u="none" strike="noStrike" kern="1200" cap="none" spc="0" normalizeH="0" baseline="0" noProof="0" dirty="0">
                <a:ln>
                  <a:noFill/>
                </a:ln>
                <a:solidFill>
                  <a:srgbClr val="4F81BD"/>
                </a:solidFill>
                <a:effectLst/>
                <a:uLnTx/>
                <a:uFillTx/>
                <a:latin typeface="Microsoft YaHei UI" panose="020B0503020204020204" pitchFamily="34" charset="-122"/>
                <a:ea typeface="Microsoft YaHei UI" panose="020B0503020204020204" pitchFamily="34" charset="-122"/>
              </a:rPr>
              <a:t>Course Review and Summary</a:t>
            </a:r>
            <a:endParaRPr kumimoji="0" lang="zh-CN" altLang="en-US" sz="6000" b="1" i="0" u="none" strike="noStrike" kern="1200" cap="none" spc="0" normalizeH="0" baseline="0" noProof="0" dirty="0">
              <a:ln>
                <a:noFill/>
              </a:ln>
              <a:solidFill>
                <a:srgbClr val="4F81BD"/>
              </a:solidFill>
              <a:effectLst/>
              <a:uLnTx/>
              <a:uFillTx/>
              <a:latin typeface="Microsoft YaHei UI" panose="020B0503020204020204" pitchFamily="34" charset="-122"/>
              <a:ea typeface="Microsoft YaHei UI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" name="副标题 2">
            <a:extLst>
              <a:ext uri="{FF2B5EF4-FFF2-40B4-BE49-F238E27FC236}">
                <a16:creationId xmlns:a16="http://schemas.microsoft.com/office/drawing/2014/main" id="{D31CB18E-6DAF-1AEE-4A08-10A551C246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67000" y="3766612"/>
            <a:ext cx="6858000" cy="1152759"/>
          </a:xfrm>
        </p:spPr>
        <p:txBody>
          <a:bodyPr>
            <a:normAutofit/>
          </a:bodyPr>
          <a:lstStyle/>
          <a:p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Xiangyi Chen</a:t>
            </a:r>
          </a:p>
          <a:p>
            <a:r>
              <a:rPr lang="en-US" altLang="zh-CN" sz="2800" dirty="0"/>
              <a:t>xiangyichen@swjtu.edu.cn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7867941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19727-847A-3840-9AFF-1580D36777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Outline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0FE3D9-2105-4946-B051-C3A1532438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41102"/>
            <a:ext cx="10515600" cy="5797089"/>
          </a:xfrm>
        </p:spPr>
        <p:txBody>
          <a:bodyPr>
            <a:normAutofit/>
          </a:bodyPr>
          <a:lstStyle/>
          <a:p>
            <a:r>
              <a:rPr lang="en-US" altLang="zh-CN" dirty="0"/>
              <a:t>1.</a:t>
            </a:r>
            <a:r>
              <a:rPr lang="zh-CN" altLang="en-US" dirty="0"/>
              <a:t> </a:t>
            </a:r>
            <a:r>
              <a:rPr lang="en-US" altLang="zh-CN" dirty="0"/>
              <a:t>OS</a:t>
            </a:r>
            <a:r>
              <a:rPr lang="zh-CN" altLang="en-US" dirty="0"/>
              <a:t> </a:t>
            </a:r>
            <a:r>
              <a:rPr lang="en-US" altLang="zh-CN" dirty="0" err="1"/>
              <a:t>overiew</a:t>
            </a:r>
            <a:endParaRPr lang="en-US" altLang="zh-CN" dirty="0"/>
          </a:p>
          <a:p>
            <a:pPr lvl="1"/>
            <a:r>
              <a:rPr lang="en-US" altLang="zh-CN" dirty="0"/>
              <a:t>1.1 OS</a:t>
            </a:r>
            <a:r>
              <a:rPr lang="zh-CN" altLang="en-US" dirty="0"/>
              <a:t> </a:t>
            </a:r>
            <a:r>
              <a:rPr lang="en-US" altLang="zh-CN" dirty="0"/>
              <a:t>objects</a:t>
            </a:r>
          </a:p>
          <a:p>
            <a:pPr lvl="1"/>
            <a:r>
              <a:rPr lang="en-US" altLang="zh-CN" dirty="0"/>
              <a:t>1.2 Evolution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OS</a:t>
            </a:r>
          </a:p>
          <a:p>
            <a:pPr lvl="1"/>
            <a:r>
              <a:rPr lang="en-US" altLang="zh-CN" dirty="0"/>
              <a:t>1.3 Kernel</a:t>
            </a:r>
            <a:r>
              <a:rPr lang="zh-CN" altLang="en-US" dirty="0"/>
              <a:t> </a:t>
            </a:r>
            <a:r>
              <a:rPr lang="en-US" altLang="zh-CN" dirty="0"/>
              <a:t>Space</a:t>
            </a:r>
            <a:r>
              <a:rPr lang="zh-CN" altLang="en-US" dirty="0"/>
              <a:t> </a:t>
            </a:r>
            <a:r>
              <a:rPr lang="en-US" altLang="zh-CN" dirty="0"/>
              <a:t>vs</a:t>
            </a:r>
            <a:r>
              <a:rPr lang="zh-CN" altLang="en-US" dirty="0"/>
              <a:t> </a:t>
            </a:r>
            <a:r>
              <a:rPr lang="en-US" altLang="zh-CN" dirty="0"/>
              <a:t>User</a:t>
            </a:r>
            <a:r>
              <a:rPr lang="zh-CN" altLang="en-US" dirty="0"/>
              <a:t> </a:t>
            </a:r>
            <a:r>
              <a:rPr lang="en-US" altLang="zh-CN" dirty="0"/>
              <a:t>Space</a:t>
            </a:r>
          </a:p>
          <a:p>
            <a:pPr lvl="1"/>
            <a:r>
              <a:rPr lang="en-US" altLang="zh-CN" dirty="0"/>
              <a:t>1.4 </a:t>
            </a:r>
            <a:r>
              <a:rPr lang="en-US" dirty="0"/>
              <a:t>Features of M</a:t>
            </a:r>
            <a:r>
              <a:rPr lang="en-US" altLang="zh-CN" dirty="0"/>
              <a:t>odern Operating Systems</a:t>
            </a:r>
          </a:p>
          <a:p>
            <a:r>
              <a:rPr lang="en-US" altLang="zh-CN" dirty="0"/>
              <a:t>2.</a:t>
            </a:r>
            <a:r>
              <a:rPr lang="zh-CN" altLang="en-US" dirty="0"/>
              <a:t> </a:t>
            </a:r>
            <a:r>
              <a:rPr lang="en-US" altLang="zh-CN" dirty="0"/>
              <a:t>Process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threads</a:t>
            </a:r>
          </a:p>
          <a:p>
            <a:pPr lvl="1"/>
            <a:r>
              <a:rPr lang="en-US" altLang="zh-CN" dirty="0"/>
              <a:t>2.1</a:t>
            </a:r>
            <a:r>
              <a:rPr lang="zh-CN" altLang="en-US" dirty="0"/>
              <a:t> </a:t>
            </a:r>
            <a:r>
              <a:rPr lang="en-US" altLang="zh-CN" dirty="0"/>
              <a:t>Process</a:t>
            </a:r>
            <a:r>
              <a:rPr lang="zh-CN" altLang="en-US" dirty="0"/>
              <a:t> </a:t>
            </a:r>
            <a:r>
              <a:rPr lang="en-US" altLang="zh-CN" dirty="0"/>
              <a:t>Descriptions</a:t>
            </a:r>
          </a:p>
          <a:p>
            <a:pPr lvl="1"/>
            <a:r>
              <a:rPr lang="en-US" altLang="zh-CN" dirty="0"/>
              <a:t>2.2</a:t>
            </a:r>
            <a:r>
              <a:rPr lang="zh-CN" altLang="en-US" dirty="0"/>
              <a:t> </a:t>
            </a:r>
            <a:r>
              <a:rPr lang="en-US" altLang="zh-CN" dirty="0"/>
              <a:t>Process</a:t>
            </a:r>
            <a:r>
              <a:rPr lang="zh-CN" altLang="en-US" dirty="0"/>
              <a:t> </a:t>
            </a:r>
            <a:r>
              <a:rPr lang="en-US" altLang="zh-CN" dirty="0"/>
              <a:t>Control</a:t>
            </a:r>
            <a:r>
              <a:rPr lang="zh-CN" altLang="en-US" dirty="0"/>
              <a:t> </a:t>
            </a:r>
            <a:r>
              <a:rPr lang="en-US" altLang="zh-CN" dirty="0"/>
              <a:t>Block</a:t>
            </a:r>
          </a:p>
          <a:p>
            <a:pPr lvl="1"/>
            <a:r>
              <a:rPr lang="en-US" altLang="zh-CN" dirty="0"/>
              <a:t>2.3 Five-state</a:t>
            </a:r>
            <a:r>
              <a:rPr lang="zh-CN" altLang="en-US" dirty="0"/>
              <a:t> </a:t>
            </a:r>
            <a:r>
              <a:rPr lang="en-US" altLang="zh-CN" dirty="0"/>
              <a:t>transition and seven-state</a:t>
            </a:r>
            <a:r>
              <a:rPr lang="zh-CN" altLang="en-US" dirty="0"/>
              <a:t> </a:t>
            </a:r>
            <a:r>
              <a:rPr lang="en-US" altLang="zh-CN" dirty="0"/>
              <a:t>transition</a:t>
            </a:r>
          </a:p>
          <a:p>
            <a:pPr lvl="1"/>
            <a:r>
              <a:rPr lang="en-US" altLang="zh-CN" dirty="0"/>
              <a:t>2.4 Process</a:t>
            </a:r>
            <a:r>
              <a:rPr lang="zh-CN" altLang="en-US" dirty="0"/>
              <a:t> </a:t>
            </a:r>
            <a:r>
              <a:rPr lang="en-US" altLang="zh-CN" dirty="0"/>
              <a:t>switching</a:t>
            </a:r>
          </a:p>
          <a:p>
            <a:pPr lvl="1"/>
            <a:r>
              <a:rPr lang="en-US" altLang="zh-CN" dirty="0"/>
              <a:t>2.5 Threads</a:t>
            </a:r>
          </a:p>
          <a:p>
            <a:pPr lvl="1"/>
            <a:r>
              <a:rPr lang="en-US" altLang="zh-CN" dirty="0"/>
              <a:t>2.6 Type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Threads</a:t>
            </a:r>
          </a:p>
          <a:p>
            <a:pPr lvl="1"/>
            <a:r>
              <a:rPr lang="en-US" altLang="zh-CN" dirty="0"/>
              <a:t>2.7 Short-term</a:t>
            </a:r>
            <a:r>
              <a:rPr lang="zh-CN" altLang="en-US" dirty="0"/>
              <a:t> </a:t>
            </a:r>
            <a:r>
              <a:rPr lang="en-US" altLang="zh-CN" dirty="0"/>
              <a:t>scheduling</a:t>
            </a:r>
          </a:p>
          <a:p>
            <a:pPr lvl="1"/>
            <a:r>
              <a:rPr lang="en-US" altLang="zh-CN" dirty="0"/>
              <a:t>2.8 Approach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thread</a:t>
            </a:r>
            <a:r>
              <a:rPr lang="zh-CN" altLang="en-US" dirty="0"/>
              <a:t> </a:t>
            </a:r>
            <a:r>
              <a:rPr lang="en-US" altLang="zh-CN" dirty="0"/>
              <a:t>scheduling</a:t>
            </a:r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22C5A1-385D-9C44-B2F2-D6763F0073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3D444-7193-46AD-90E8-D84AE4B61CFF}" type="slidenum">
              <a:rPr lang="en-US" smtClean="0"/>
              <a:pPr/>
              <a:t>2</a:t>
            </a:fld>
            <a:r>
              <a:rPr lang="en-US"/>
              <a:t>/</a:t>
            </a:r>
            <a:r>
              <a:rPr lang="en-US" altLang="zh-CN"/>
              <a:t>63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2C3CA9-23DF-0643-99E1-E29F47FC08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6D1B6-B1AF-7D4D-A84B-F73F4DDF98DE}" type="datetime1">
              <a:rPr lang="zh-CN" altLang="en-US" smtClean="0"/>
              <a:t>2026/6/19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928857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020847-90A5-2646-A2C8-373B2ADBD8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Outline</a:t>
            </a:r>
            <a:r>
              <a:rPr lang="zh-CN" altLang="en-US" dirty="0"/>
              <a:t> </a:t>
            </a:r>
            <a:r>
              <a:rPr lang="en-US" altLang="zh-CN" dirty="0"/>
              <a:t>(cont.)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7232B9-DB06-FB46-AA06-B58AAD8424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3.</a:t>
            </a:r>
            <a:r>
              <a:rPr lang="zh-CN" altLang="en-US" dirty="0"/>
              <a:t> </a:t>
            </a:r>
            <a:r>
              <a:rPr lang="en-US" altLang="zh-CN" dirty="0"/>
              <a:t>Concurrency:</a:t>
            </a:r>
            <a:r>
              <a:rPr lang="zh-CN" altLang="en-US" dirty="0"/>
              <a:t> </a:t>
            </a:r>
            <a:r>
              <a:rPr lang="en-US" altLang="zh-CN" dirty="0"/>
              <a:t>mutual</a:t>
            </a:r>
            <a:r>
              <a:rPr lang="zh-CN" altLang="en-US" dirty="0"/>
              <a:t> </a:t>
            </a:r>
            <a:r>
              <a:rPr lang="en-US" altLang="zh-CN" dirty="0"/>
              <a:t>exclusion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synchronization</a:t>
            </a:r>
          </a:p>
          <a:p>
            <a:pPr lvl="1"/>
            <a:r>
              <a:rPr lang="en-US" altLang="zh-CN" dirty="0"/>
              <a:t>3.1 Mutual</a:t>
            </a:r>
            <a:r>
              <a:rPr lang="zh-CN" altLang="en-US" dirty="0"/>
              <a:t> </a:t>
            </a:r>
            <a:r>
              <a:rPr lang="en-US" altLang="zh-CN" dirty="0"/>
              <a:t>Exclusion</a:t>
            </a:r>
          </a:p>
          <a:p>
            <a:pPr lvl="1"/>
            <a:r>
              <a:rPr lang="en-US" altLang="zh-CN" dirty="0"/>
              <a:t>3.2 Semaphore</a:t>
            </a:r>
          </a:p>
          <a:p>
            <a:pPr lvl="1"/>
            <a:r>
              <a:rPr lang="en-US" altLang="zh-CN" dirty="0"/>
              <a:t>3.3 Monitor</a:t>
            </a:r>
          </a:p>
          <a:p>
            <a:pPr lvl="1"/>
            <a:r>
              <a:rPr lang="en-US" altLang="zh-CN" dirty="0"/>
              <a:t>3.4 Message</a:t>
            </a:r>
            <a:r>
              <a:rPr lang="zh-CN" altLang="en-US" dirty="0"/>
              <a:t> </a:t>
            </a:r>
            <a:r>
              <a:rPr lang="en-US" altLang="zh-CN" dirty="0"/>
              <a:t>passing</a:t>
            </a:r>
          </a:p>
          <a:p>
            <a:pPr lvl="1"/>
            <a:r>
              <a:rPr lang="en-US" altLang="zh-CN" dirty="0"/>
              <a:t>3.5 Producer/Consumer</a:t>
            </a:r>
            <a:r>
              <a:rPr lang="zh-CN" altLang="en-US" dirty="0"/>
              <a:t> </a:t>
            </a:r>
            <a:r>
              <a:rPr lang="en-US" altLang="zh-CN" dirty="0"/>
              <a:t>Problem</a:t>
            </a:r>
          </a:p>
          <a:p>
            <a:pPr lvl="1"/>
            <a:r>
              <a:rPr lang="en-US" altLang="zh-CN" dirty="0"/>
              <a:t>3.6 Reader</a:t>
            </a:r>
            <a:r>
              <a:rPr lang="zh-CN" altLang="en-US" dirty="0"/>
              <a:t> </a:t>
            </a:r>
            <a:r>
              <a:rPr lang="en-US" altLang="zh-CN" dirty="0"/>
              <a:t>Writer</a:t>
            </a:r>
            <a:r>
              <a:rPr lang="zh-CN" altLang="en-US" dirty="0"/>
              <a:t> </a:t>
            </a:r>
            <a:r>
              <a:rPr lang="en-US" altLang="zh-CN" dirty="0"/>
              <a:t>Problem</a:t>
            </a:r>
          </a:p>
          <a:p>
            <a:r>
              <a:rPr lang="en-US" altLang="zh-CN" dirty="0"/>
              <a:t>4.</a:t>
            </a:r>
            <a:r>
              <a:rPr lang="zh-CN" altLang="en-US" dirty="0"/>
              <a:t> </a:t>
            </a:r>
            <a:r>
              <a:rPr lang="en-US" altLang="zh-CN" dirty="0"/>
              <a:t>Concurrency:</a:t>
            </a:r>
            <a:r>
              <a:rPr lang="zh-CN" altLang="en-US" dirty="0"/>
              <a:t> </a:t>
            </a:r>
            <a:r>
              <a:rPr lang="en-US" altLang="zh-CN" dirty="0"/>
              <a:t>Deadlock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starvation</a:t>
            </a:r>
          </a:p>
          <a:p>
            <a:pPr lvl="1"/>
            <a:r>
              <a:rPr lang="en-US" altLang="zh-CN" dirty="0"/>
              <a:t>4.1 Conditions</a:t>
            </a:r>
            <a:r>
              <a:rPr lang="zh-CN" altLang="en-US" dirty="0"/>
              <a:t> </a:t>
            </a:r>
            <a:r>
              <a:rPr lang="en-US" altLang="zh-CN" dirty="0"/>
              <a:t>for</a:t>
            </a:r>
            <a:r>
              <a:rPr lang="zh-CN" altLang="en-US" dirty="0"/>
              <a:t> </a:t>
            </a:r>
            <a:r>
              <a:rPr lang="en-US" altLang="zh-CN" dirty="0"/>
              <a:t>Deadlock</a:t>
            </a:r>
          </a:p>
          <a:p>
            <a:pPr lvl="1"/>
            <a:r>
              <a:rPr lang="en-US" altLang="zh-CN" dirty="0"/>
              <a:t>4.2 Three</a:t>
            </a:r>
            <a:r>
              <a:rPr lang="zh-CN" altLang="en-US" dirty="0"/>
              <a:t> </a:t>
            </a:r>
            <a:r>
              <a:rPr lang="en-US" altLang="zh-CN" dirty="0"/>
              <a:t>approaches</a:t>
            </a:r>
            <a:r>
              <a:rPr lang="zh-CN" altLang="en-US" dirty="0"/>
              <a:t> </a:t>
            </a:r>
            <a:r>
              <a:rPr lang="en-US" altLang="zh-CN" dirty="0"/>
              <a:t>dealing</a:t>
            </a:r>
            <a:r>
              <a:rPr lang="zh-CN" altLang="en-US" dirty="0"/>
              <a:t> </a:t>
            </a:r>
            <a:r>
              <a:rPr lang="en-US" altLang="zh-CN" dirty="0"/>
              <a:t>with</a:t>
            </a:r>
            <a:r>
              <a:rPr lang="zh-CN" altLang="en-US" dirty="0"/>
              <a:t> </a:t>
            </a:r>
            <a:r>
              <a:rPr lang="en-US" altLang="zh-CN" dirty="0"/>
              <a:t>deadlock</a:t>
            </a:r>
          </a:p>
          <a:p>
            <a:pPr lvl="1"/>
            <a:r>
              <a:rPr lang="en-US" altLang="zh-CN" dirty="0"/>
              <a:t>4.3 Dining</a:t>
            </a:r>
            <a:r>
              <a:rPr lang="zh-CN" altLang="en-US" dirty="0"/>
              <a:t> </a:t>
            </a:r>
            <a:r>
              <a:rPr lang="en-US" altLang="zh-CN" dirty="0"/>
              <a:t>Philosophers</a:t>
            </a:r>
            <a:r>
              <a:rPr lang="zh-CN" altLang="en-US" dirty="0"/>
              <a:t> </a:t>
            </a:r>
            <a:r>
              <a:rPr lang="en-US" altLang="zh-CN" dirty="0"/>
              <a:t>Problem</a:t>
            </a:r>
          </a:p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10C61F-7DCA-564C-89EE-88733F4A1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3D444-7193-46AD-90E8-D84AE4B61CFF}" type="slidenum">
              <a:rPr lang="en-US" smtClean="0"/>
              <a:pPr/>
              <a:t>3</a:t>
            </a:fld>
            <a:r>
              <a:rPr lang="en-US"/>
              <a:t>/</a:t>
            </a:r>
            <a:r>
              <a:rPr lang="en-US" altLang="zh-CN"/>
              <a:t>63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C881B6-7D5F-A649-A8D8-6877376649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6D1B6-B1AF-7D4D-A84B-F73F4DDF98DE}" type="datetime1">
              <a:rPr lang="zh-CN" altLang="en-US" smtClean="0"/>
              <a:t>2026/6/19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878794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19727-847A-3840-9AFF-1580D36777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Outline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0FE3D9-2105-4946-B051-C3A1532438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41102"/>
            <a:ext cx="10515600" cy="5797089"/>
          </a:xfrm>
        </p:spPr>
        <p:txBody>
          <a:bodyPr>
            <a:normAutofit/>
          </a:bodyPr>
          <a:lstStyle/>
          <a:p>
            <a:r>
              <a:rPr lang="en-US" altLang="zh-CN" dirty="0"/>
              <a:t>1.</a:t>
            </a:r>
            <a:r>
              <a:rPr lang="zh-CN" altLang="en-US" dirty="0"/>
              <a:t> </a:t>
            </a:r>
            <a:r>
              <a:rPr lang="en-US" altLang="zh-CN" dirty="0"/>
              <a:t>OS</a:t>
            </a:r>
            <a:r>
              <a:rPr lang="zh-CN" altLang="en-US" dirty="0"/>
              <a:t> </a:t>
            </a:r>
            <a:r>
              <a:rPr lang="en-US" altLang="zh-CN" dirty="0" err="1"/>
              <a:t>overiew</a:t>
            </a:r>
            <a:endParaRPr lang="en-US" altLang="zh-CN" dirty="0"/>
          </a:p>
          <a:p>
            <a:pPr lvl="1"/>
            <a:r>
              <a:rPr lang="en-US" altLang="zh-CN" dirty="0"/>
              <a:t>1.1 OS</a:t>
            </a:r>
            <a:r>
              <a:rPr lang="zh-CN" altLang="en-US" dirty="0"/>
              <a:t> </a:t>
            </a:r>
            <a:r>
              <a:rPr lang="en-US" altLang="zh-CN" dirty="0"/>
              <a:t>objects</a:t>
            </a:r>
          </a:p>
          <a:p>
            <a:pPr lvl="1"/>
            <a:r>
              <a:rPr lang="en-US" altLang="zh-CN" dirty="0"/>
              <a:t>1.2 Evolution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OS</a:t>
            </a:r>
          </a:p>
          <a:p>
            <a:pPr lvl="1"/>
            <a:r>
              <a:rPr lang="en-US" altLang="zh-CN" dirty="0"/>
              <a:t>1.3 Kernel</a:t>
            </a:r>
            <a:r>
              <a:rPr lang="zh-CN" altLang="en-US" dirty="0"/>
              <a:t> </a:t>
            </a:r>
            <a:r>
              <a:rPr lang="en-US" altLang="zh-CN" dirty="0"/>
              <a:t>Space</a:t>
            </a:r>
            <a:r>
              <a:rPr lang="zh-CN" altLang="en-US" dirty="0"/>
              <a:t> </a:t>
            </a:r>
            <a:r>
              <a:rPr lang="en-US" altLang="zh-CN" dirty="0"/>
              <a:t>vs</a:t>
            </a:r>
            <a:r>
              <a:rPr lang="zh-CN" altLang="en-US" dirty="0"/>
              <a:t> </a:t>
            </a:r>
            <a:r>
              <a:rPr lang="en-US" altLang="zh-CN" dirty="0"/>
              <a:t>User</a:t>
            </a:r>
            <a:r>
              <a:rPr lang="zh-CN" altLang="en-US" dirty="0"/>
              <a:t> </a:t>
            </a:r>
            <a:r>
              <a:rPr lang="en-US" altLang="zh-CN" dirty="0"/>
              <a:t>Space</a:t>
            </a:r>
          </a:p>
          <a:p>
            <a:pPr lvl="1"/>
            <a:r>
              <a:rPr lang="en-US" altLang="zh-CN" dirty="0"/>
              <a:t>1.4 </a:t>
            </a:r>
            <a:r>
              <a:rPr lang="en-US" dirty="0"/>
              <a:t>Features of M</a:t>
            </a:r>
            <a:r>
              <a:rPr lang="en-US" altLang="zh-CN" dirty="0"/>
              <a:t>odern Operating Systems</a:t>
            </a:r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22C5A1-385D-9C44-B2F2-D6763F0073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3D444-7193-46AD-90E8-D84AE4B61CFF}" type="slidenum">
              <a:rPr lang="en-US" smtClean="0"/>
              <a:pPr/>
              <a:t>4</a:t>
            </a:fld>
            <a:r>
              <a:rPr lang="en-US"/>
              <a:t>/</a:t>
            </a:r>
            <a:r>
              <a:rPr lang="en-US" altLang="zh-CN"/>
              <a:t>63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2C3CA9-23DF-0643-99E1-E29F47FC08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6D1B6-B1AF-7D4D-A84B-F73F4DDF98DE}" type="datetime1">
              <a:rPr lang="zh-CN" altLang="en-US" smtClean="0"/>
              <a:t>2026/6/19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389580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6F8548A-B589-4DF9-B5CC-3E9FEC8267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1.1 OS Objectives 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9108248-47CF-49D0-8A8C-C8E099E3C7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41103"/>
            <a:ext cx="10515600" cy="1343957"/>
          </a:xfrm>
        </p:spPr>
        <p:txBody>
          <a:bodyPr>
            <a:normAutofit lnSpcReduction="10000"/>
          </a:bodyPr>
          <a:lstStyle/>
          <a:p>
            <a:r>
              <a:rPr lang="en-US" altLang="zh-CN" dirty="0"/>
              <a:t>A </a:t>
            </a:r>
            <a:r>
              <a:rPr lang="en-US" altLang="zh-CN" b="1" dirty="0">
                <a:solidFill>
                  <a:srgbClr val="0070C0"/>
                </a:solidFill>
              </a:rPr>
              <a:t>program</a:t>
            </a:r>
            <a:r>
              <a:rPr lang="en-US" altLang="zh-CN" dirty="0"/>
              <a:t> that controls the execution of application programs</a:t>
            </a:r>
          </a:p>
          <a:p>
            <a:r>
              <a:rPr lang="en-US" altLang="zh-CN" dirty="0"/>
              <a:t>An </a:t>
            </a:r>
            <a:r>
              <a:rPr lang="en-US" altLang="zh-CN" b="1" dirty="0">
                <a:solidFill>
                  <a:srgbClr val="C00000"/>
                </a:solidFill>
              </a:rPr>
              <a:t>interface</a:t>
            </a:r>
            <a:r>
              <a:rPr lang="en-US" altLang="zh-CN" dirty="0"/>
              <a:t> between applications and hardware</a:t>
            </a:r>
          </a:p>
          <a:p>
            <a:r>
              <a:rPr lang="en-US" altLang="zh-CN" dirty="0"/>
              <a:t>As the </a:t>
            </a:r>
            <a:r>
              <a:rPr lang="en-US" altLang="zh-CN" b="1" dirty="0">
                <a:solidFill>
                  <a:srgbClr val="C00000"/>
                </a:solidFill>
              </a:rPr>
              <a:t>resource manager</a:t>
            </a:r>
            <a:r>
              <a:rPr lang="en-US" altLang="zh-CN" dirty="0">
                <a:solidFill>
                  <a:srgbClr val="C00000"/>
                </a:solidFill>
              </a:rPr>
              <a:t> </a:t>
            </a:r>
            <a:r>
              <a:rPr lang="en-US" altLang="zh-CN" dirty="0"/>
              <a:t>the usage of resource in computer</a:t>
            </a:r>
          </a:p>
          <a:p>
            <a:endParaRPr lang="en-US" altLang="zh-CN" dirty="0"/>
          </a:p>
          <a:p>
            <a:endParaRPr lang="zh-CN" altLang="en-US" dirty="0"/>
          </a:p>
        </p:txBody>
      </p:sp>
      <p:graphicFrame>
        <p:nvGraphicFramePr>
          <p:cNvPr id="4" name="Diagram 4">
            <a:extLst>
              <a:ext uri="{FF2B5EF4-FFF2-40B4-BE49-F238E27FC236}">
                <a16:creationId xmlns:a16="http://schemas.microsoft.com/office/drawing/2014/main" id="{43DDDC5B-0468-4307-B036-C3EA5B1A4207}"/>
              </a:ext>
            </a:extLst>
          </p:cNvPr>
          <p:cNvGraphicFramePr>
            <a:graphicFrameLocks/>
          </p:cNvGraphicFramePr>
          <p:nvPr/>
        </p:nvGraphicFramePr>
        <p:xfrm>
          <a:off x="2762252" y="2660015"/>
          <a:ext cx="6448425" cy="2184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8578716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E4D384-AFC5-496A-8852-58D25865E2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Computer Hardware and Software Infrastructure</a:t>
            </a:r>
            <a:endParaRPr lang="zh-CN" altLang="en-US" dirty="0"/>
          </a:p>
        </p:txBody>
      </p:sp>
      <p:graphicFrame>
        <p:nvGraphicFramePr>
          <p:cNvPr id="4" name="Object 9">
            <a:extLst>
              <a:ext uri="{FF2B5EF4-FFF2-40B4-BE49-F238E27FC236}">
                <a16:creationId xmlns:a16="http://schemas.microsoft.com/office/drawing/2014/main" id="{DB6CED24-2D41-41ED-9C2D-073694DEEF5D}"/>
              </a:ext>
            </a:extLst>
          </p:cNvPr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81280711"/>
              </p:ext>
            </p:extLst>
          </p:nvPr>
        </p:nvGraphicFramePr>
        <p:xfrm>
          <a:off x="2090056" y="1125582"/>
          <a:ext cx="7398328" cy="47741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943381" imgH="3835259" progId="Word.Document.12">
                  <p:embed/>
                </p:oleObj>
              </mc:Choice>
              <mc:Fallback>
                <p:oleObj name="Document" r:id="rId2" imgW="5943381" imgH="3835259" progId="Word.Document.12">
                  <p:embed/>
                  <p:pic>
                    <p:nvPicPr>
                      <p:cNvPr id="4" name="Object 9">
                        <a:extLst>
                          <a:ext uri="{FF2B5EF4-FFF2-40B4-BE49-F238E27FC236}">
                            <a16:creationId xmlns:a16="http://schemas.microsoft.com/office/drawing/2014/main" id="{DB6CED24-2D41-41ED-9C2D-073694DEEF5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90056" y="1125582"/>
                        <a:ext cx="7398328" cy="477413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576719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DB40E4-34E3-6F45-93CA-F19516854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Quiz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A89148-4CCC-4A41-BA07-3FF04E2FFD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User’s applications use the system resources to complete their operations by the services of </a:t>
            </a:r>
          </a:p>
          <a:p>
            <a:endParaRPr lang="en-US" dirty="0"/>
          </a:p>
          <a:p>
            <a:pPr marL="454025" indent="0">
              <a:buNone/>
            </a:pPr>
            <a:r>
              <a:rPr lang="en-US" dirty="0"/>
              <a:t>A. clicking the mouse</a:t>
            </a:r>
          </a:p>
          <a:p>
            <a:pPr marL="454025" indent="0">
              <a:buNone/>
            </a:pPr>
            <a:r>
              <a:rPr lang="en-US" dirty="0"/>
              <a:t>B. Keyboard command</a:t>
            </a:r>
          </a:p>
          <a:p>
            <a:pPr marL="454025" indent="0">
              <a:buNone/>
            </a:pPr>
            <a:r>
              <a:rPr lang="en-US" dirty="0"/>
              <a:t>C. System call</a:t>
            </a:r>
          </a:p>
          <a:p>
            <a:pPr marL="454025" indent="0">
              <a:buNone/>
            </a:pPr>
            <a:r>
              <a:rPr lang="en-US" dirty="0"/>
              <a:t>D. Graphical user interface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altLang="zh-CN" dirty="0">
                <a:solidFill>
                  <a:srgbClr val="C00000"/>
                </a:solidFill>
              </a:rPr>
              <a:t>C. System call</a:t>
            </a:r>
          </a:p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0DC4B9-B91A-C24D-B994-6F999FD6A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3D444-7193-46AD-90E8-D84AE4B61CFF}" type="slidenum">
              <a:rPr lang="en-US" smtClean="0"/>
              <a:pPr/>
              <a:t>7</a:t>
            </a:fld>
            <a:r>
              <a:rPr lang="en-US"/>
              <a:t>/</a:t>
            </a:r>
            <a:r>
              <a:rPr lang="en-US" altLang="zh-CN"/>
              <a:t>63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467DDD-F28D-964E-9191-EDCCBF21DE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6D1B6-B1AF-7D4D-A84B-F73F4DDF98DE}" type="datetime1">
              <a:rPr lang="zh-CN" altLang="en-US" smtClean="0"/>
              <a:t>2026/6/19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309187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>
            <a:extLst>
              <a:ext uri="{FF2B5EF4-FFF2-40B4-BE49-F238E27FC236}">
                <a16:creationId xmlns:a16="http://schemas.microsoft.com/office/drawing/2014/main" id="{8EE2CC26-C559-48FA-94B6-A6688822CB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CN" dirty="0"/>
              <a:t>A View of Operating System Services</a:t>
            </a:r>
            <a:endParaRPr lang="zh-CN" altLang="en-US" dirty="0"/>
          </a:p>
        </p:txBody>
      </p:sp>
      <p:pic>
        <p:nvPicPr>
          <p:cNvPr id="7" name="Picture 4" descr="2">
            <a:extLst>
              <a:ext uri="{FF2B5EF4-FFF2-40B4-BE49-F238E27FC236}">
                <a16:creationId xmlns:a16="http://schemas.microsoft.com/office/drawing/2014/main" id="{731429DC-54E4-423B-A287-C053CA8645F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901342" y="1304925"/>
            <a:ext cx="8531555" cy="424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919668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4D4445B-691C-85EB-0A6B-07D16053F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3D444-7193-46AD-90E8-D84AE4B61CFF}" type="slidenum">
              <a:rPr lang="en-US" smtClean="0"/>
              <a:pPr/>
              <a:t>9</a:t>
            </a:fld>
            <a:r>
              <a:rPr lang="en-US"/>
              <a:t>/</a:t>
            </a:r>
            <a:r>
              <a:rPr lang="en-US" altLang="zh-CN"/>
              <a:t>63</a:t>
            </a:r>
            <a:endParaRPr lang="en-US" dirty="0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69C8278-561E-2684-DF24-0A599B3DB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6D1B6-B1AF-7D4D-A84B-F73F4DDF98DE}" type="datetime1">
              <a:rPr lang="zh-CN" altLang="en-US" smtClean="0"/>
              <a:t>2026/6/19</a:t>
            </a:fld>
            <a:endParaRPr lang="zh-CN" altLang="en-US" dirty="0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599A6F4E-A51A-D118-C68C-601AD191A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763" y="189793"/>
            <a:ext cx="10788471" cy="1035694"/>
          </a:xfrm>
        </p:spPr>
        <p:txBody>
          <a:bodyPr/>
          <a:lstStyle/>
          <a:p>
            <a:r>
              <a:rPr lang="en-US" altLang="zh-CN" dirty="0"/>
              <a:t>System Calls</a:t>
            </a:r>
            <a:endParaRPr lang="zh-CN" altLang="en-US" dirty="0"/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8E07FE69-1AED-D47D-E1F4-5961EE2257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1765" y="1225487"/>
            <a:ext cx="10788470" cy="4951476"/>
          </a:xfrm>
        </p:spPr>
        <p:txBody>
          <a:bodyPr/>
          <a:lstStyle/>
          <a:p>
            <a:r>
              <a:rPr lang="en-US" altLang="zh-CN" b="1" dirty="0"/>
              <a:t>System Calls</a:t>
            </a:r>
          </a:p>
          <a:p>
            <a:pPr lvl="1"/>
            <a:r>
              <a:rPr lang="en-US" altLang="zh-CN" dirty="0"/>
              <a:t>OS provides programming interface to services</a:t>
            </a:r>
          </a:p>
          <a:p>
            <a:pPr lvl="1"/>
            <a:r>
              <a:rPr lang="en-US" altLang="zh-CN" dirty="0"/>
              <a:t>It is how a program requests a service from an OS’s kernel</a:t>
            </a:r>
          </a:p>
          <a:p>
            <a:pPr lvl="1"/>
            <a:r>
              <a:rPr lang="en-US" altLang="zh-CN" dirty="0"/>
              <a:t>May include hardware-related services (for example, accessing a hard disk drive), creation and execution of new processes, and communication with integral kernel services such as process scheduling </a:t>
            </a:r>
          </a:p>
          <a:p>
            <a:pPr marL="457200" lvl="1" indent="0">
              <a:buNone/>
            </a:pPr>
            <a:endParaRPr lang="en-US" altLang="zh-CN" dirty="0"/>
          </a:p>
          <a:p>
            <a:r>
              <a:rPr lang="en-US" altLang="zh-CN" b="1" dirty="0"/>
              <a:t>Application Programming Interface (API)</a:t>
            </a:r>
          </a:p>
          <a:p>
            <a:pPr lvl="1"/>
            <a:r>
              <a:rPr lang="en-US" altLang="zh-CN" dirty="0"/>
              <a:t>High-level - usually used by programs</a:t>
            </a:r>
          </a:p>
          <a:p>
            <a:pPr lvl="1"/>
            <a:r>
              <a:rPr lang="en-US" altLang="zh-CN" dirty="0"/>
              <a:t>Rather than direct use of system calls</a:t>
            </a:r>
          </a:p>
          <a:p>
            <a:pPr lvl="1"/>
            <a:r>
              <a:rPr lang="en-US" altLang="zh-CN" dirty="0"/>
              <a:t>Usually less detailed then raw calls</a:t>
            </a:r>
          </a:p>
        </p:txBody>
      </p:sp>
    </p:spTree>
    <p:extLst>
      <p:ext uri="{BB962C8B-B14F-4D97-AF65-F5344CB8AC3E}">
        <p14:creationId xmlns:p14="http://schemas.microsoft.com/office/powerpoint/2010/main" val="38281371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F3B8D0F-FD82-4052-8C75-0B4A8CAD45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API – System Call – OS Relationship</a:t>
            </a:r>
            <a:endParaRPr lang="zh-CN" altLang="en-US" dirty="0"/>
          </a:p>
        </p:txBody>
      </p:sp>
      <p:pic>
        <p:nvPicPr>
          <p:cNvPr id="4" name="Picture 5" descr="2">
            <a:extLst>
              <a:ext uri="{FF2B5EF4-FFF2-40B4-BE49-F238E27FC236}">
                <a16:creationId xmlns:a16="http://schemas.microsoft.com/office/drawing/2014/main" id="{C9C85877-6A6D-4490-B5CC-F39B2D869CD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050362" y="1382233"/>
            <a:ext cx="5624285" cy="34334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480251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AB53BD-3C26-4D28-84D1-DC1A8E2DC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1.2. Evolution of Operating System 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E975F84-36B3-486E-A5BF-8C0EE5C1C8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Serial Processing</a:t>
            </a:r>
          </a:p>
          <a:p>
            <a:r>
              <a:rPr lang="en-US" altLang="zh-CN" dirty="0"/>
              <a:t>Simple Batch Systems</a:t>
            </a:r>
          </a:p>
          <a:p>
            <a:r>
              <a:rPr lang="en-US" altLang="zh-CN" dirty="0" err="1"/>
              <a:t>Multiprogrammed</a:t>
            </a:r>
            <a:r>
              <a:rPr lang="en-US" altLang="zh-CN" dirty="0"/>
              <a:t> Batch Systems</a:t>
            </a:r>
          </a:p>
          <a:p>
            <a:r>
              <a:rPr lang="en-US" altLang="zh-CN" dirty="0"/>
              <a:t>Time Sharing Systems</a:t>
            </a:r>
          </a:p>
          <a:p>
            <a:r>
              <a:rPr lang="en-US" altLang="zh-CN" dirty="0"/>
              <a:t>Modern Operating Systems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67829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Serial Processing</a:t>
            </a:r>
            <a:r>
              <a:rPr lang="zh-CN" altLang="en-US" dirty="0"/>
              <a:t>（串行）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b="1" dirty="0"/>
              <a:t>No operating system</a:t>
            </a:r>
          </a:p>
          <a:p>
            <a:r>
              <a:rPr lang="en-US" altLang="zh-CN" dirty="0"/>
              <a:t>Machines run from a console with display lights and toggle switches, input device, and printer. </a:t>
            </a:r>
          </a:p>
          <a:p>
            <a:r>
              <a:rPr lang="en-US" altLang="zh-CN" dirty="0"/>
              <a:t>Two main problems</a:t>
            </a:r>
          </a:p>
          <a:p>
            <a:pPr lvl="1"/>
            <a:r>
              <a:rPr lang="en-US" altLang="zh-CN" b="1" dirty="0"/>
              <a:t>Scheduling</a:t>
            </a:r>
            <a:r>
              <a:rPr lang="en-US" altLang="zh-CN" dirty="0"/>
              <a:t>: waste processing time.</a:t>
            </a:r>
          </a:p>
          <a:p>
            <a:pPr lvl="1"/>
            <a:r>
              <a:rPr lang="en-US" altLang="zh-CN" b="1" dirty="0"/>
              <a:t>Setup time</a:t>
            </a:r>
            <a:r>
              <a:rPr lang="en-US" altLang="zh-CN" dirty="0"/>
              <a:t>: Setup included loading the compiler, source program, saving compiled program, and loading and linking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Simple Batch Systems</a:t>
            </a:r>
            <a:r>
              <a:rPr lang="zh-CN" altLang="en-US" dirty="0"/>
              <a:t>（批处理）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Monitors</a:t>
            </a:r>
            <a:r>
              <a:rPr lang="zh-CN" altLang="en-US" dirty="0"/>
              <a:t>（监督程序）</a:t>
            </a:r>
            <a:r>
              <a:rPr lang="en-US" altLang="zh-CN" dirty="0"/>
              <a:t>:Software that controls the running programs</a:t>
            </a:r>
          </a:p>
          <a:p>
            <a:pPr lvl="1"/>
            <a:r>
              <a:rPr lang="en-US" altLang="zh-CN" b="1" dirty="0"/>
              <a:t>Resident monitor </a:t>
            </a:r>
            <a:r>
              <a:rPr lang="en-US" altLang="zh-CN" dirty="0"/>
              <a:t>is in main memory and available for execution</a:t>
            </a:r>
          </a:p>
          <a:p>
            <a:r>
              <a:rPr lang="en-US" altLang="zh-CN" dirty="0"/>
              <a:t>Monitor batches jobs together</a:t>
            </a:r>
          </a:p>
          <a:p>
            <a:r>
              <a:rPr lang="en-US" altLang="zh-CN" dirty="0"/>
              <a:t>Monitor reads in job and gives control</a:t>
            </a:r>
          </a:p>
          <a:p>
            <a:r>
              <a:rPr lang="en-US" altLang="zh-CN" dirty="0"/>
              <a:t>Job returns control to monitor</a:t>
            </a:r>
          </a:p>
          <a:p>
            <a:pPr marL="0" indent="0">
              <a:buNone/>
            </a:pPr>
            <a:endParaRPr lang="zh-CN" alt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222054" y="2261182"/>
            <a:ext cx="3445947" cy="4537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F57267-8B03-7446-9A2C-FD4CF0AAA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Quiz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DCA780-CEB6-7540-819F-0BD60D53C9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41102"/>
            <a:ext cx="10515600" cy="2948115"/>
          </a:xfrm>
        </p:spPr>
        <p:txBody>
          <a:bodyPr>
            <a:normAutofit/>
          </a:bodyPr>
          <a:lstStyle/>
          <a:p>
            <a:r>
              <a:rPr lang="en-US" dirty="0"/>
              <a:t>The main disadvantage of batch system is</a:t>
            </a:r>
            <a:r>
              <a:rPr lang="zh-CN" altLang="en-US" dirty="0"/>
              <a:t> </a:t>
            </a:r>
            <a:r>
              <a:rPr lang="en-US" altLang="zh-CN" dirty="0"/>
              <a:t>()</a:t>
            </a:r>
          </a:p>
          <a:p>
            <a:pPr lvl="1"/>
            <a:r>
              <a:rPr lang="en-US" dirty="0"/>
              <a:t>A. Low degree of automation</a:t>
            </a:r>
          </a:p>
          <a:p>
            <a:pPr lvl="1"/>
            <a:r>
              <a:rPr lang="en-US" dirty="0"/>
              <a:t>B. Can not concurrent</a:t>
            </a:r>
          </a:p>
          <a:p>
            <a:pPr lvl="1"/>
            <a:r>
              <a:rPr lang="en-US" dirty="0"/>
              <a:t>C. CPU utilization is low</a:t>
            </a:r>
          </a:p>
          <a:p>
            <a:pPr lvl="1"/>
            <a:r>
              <a:rPr lang="en-US" dirty="0"/>
              <a:t>D. Lack of interaction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C00000"/>
                </a:solidFill>
              </a:rPr>
              <a:t>D</a:t>
            </a:r>
            <a:endParaRPr lang="en-CN" dirty="0">
              <a:solidFill>
                <a:srgbClr val="C000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C233D8-342B-544F-97D9-8605BD5478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3D444-7193-46AD-90E8-D84AE4B61CFF}" type="slidenum">
              <a:rPr lang="en-US" smtClean="0"/>
              <a:pPr/>
              <a:t>14</a:t>
            </a:fld>
            <a:r>
              <a:rPr lang="en-US"/>
              <a:t>/</a:t>
            </a:r>
            <a:r>
              <a:rPr lang="en-US" altLang="zh-CN"/>
              <a:t>63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BD479E-8C02-6A4D-98AA-5CA31466B4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6D1B6-B1AF-7D4D-A84B-F73F4DDF98DE}" type="datetime1">
              <a:rPr lang="zh-CN" altLang="en-US" smtClean="0"/>
              <a:t>2026/6/19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728631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F20257-8159-B34F-9BC0-5DE000E585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Multiprogramming</a:t>
            </a:r>
            <a:r>
              <a:rPr lang="zh-CN" altLang="en-US" dirty="0"/>
              <a:t> </a:t>
            </a:r>
            <a:r>
              <a:rPr lang="en-US" altLang="zh-CN" dirty="0"/>
              <a:t>Batch</a:t>
            </a:r>
            <a:r>
              <a:rPr lang="zh-CN" altLang="en-US" dirty="0"/>
              <a:t> </a:t>
            </a:r>
            <a:r>
              <a:rPr lang="en-US" altLang="zh-CN" dirty="0"/>
              <a:t>Programming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0C7DF7-612E-0947-9B00-C0E4CB285A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41103"/>
            <a:ext cx="10515600" cy="1838302"/>
          </a:xfrm>
        </p:spPr>
        <p:txBody>
          <a:bodyPr/>
          <a:lstStyle/>
          <a:p>
            <a:r>
              <a:rPr lang="en-US" altLang="zh-CN" dirty="0"/>
              <a:t>There must be </a:t>
            </a:r>
            <a:r>
              <a:rPr lang="en-US" altLang="zh-CN" dirty="0">
                <a:solidFill>
                  <a:srgbClr val="FF0000"/>
                </a:solidFill>
              </a:rPr>
              <a:t>enough memory</a:t>
            </a:r>
            <a:r>
              <a:rPr lang="en-US" altLang="zh-CN" dirty="0"/>
              <a:t> to hold the OS (resident monitor) and one user program</a:t>
            </a:r>
          </a:p>
          <a:p>
            <a:r>
              <a:rPr lang="en-US" altLang="zh-CN" dirty="0"/>
              <a:t>When one job needs to wait for I/O, the processor can switch to the other job, which is </a:t>
            </a:r>
            <a:r>
              <a:rPr lang="en-US" altLang="zh-CN" dirty="0">
                <a:solidFill>
                  <a:srgbClr val="FF0000"/>
                </a:solidFill>
              </a:rPr>
              <a:t>likely not waiting </a:t>
            </a:r>
            <a:r>
              <a:rPr lang="en-US" altLang="zh-CN" dirty="0"/>
              <a:t>for I/O</a:t>
            </a:r>
          </a:p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E065B6-61D0-E847-AF72-A1A5F1921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3D444-7193-46AD-90E8-D84AE4B61CFF}" type="slidenum">
              <a:rPr lang="en-US" smtClean="0"/>
              <a:pPr/>
              <a:t>15</a:t>
            </a:fld>
            <a:r>
              <a:rPr lang="en-US"/>
              <a:t>/</a:t>
            </a:r>
            <a:r>
              <a:rPr lang="en-US" altLang="zh-CN"/>
              <a:t>63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F28638-5A8A-8C46-86BC-1132FC2DE0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6D1B6-B1AF-7D4D-A84B-F73F4DDF98DE}" type="datetime1">
              <a:rPr lang="zh-CN" altLang="en-US" smtClean="0"/>
              <a:t>2026/6/19</a:t>
            </a:fld>
            <a:endParaRPr lang="zh-CN" altLang="en-US" dirty="0"/>
          </a:p>
        </p:txBody>
      </p:sp>
      <p:pic>
        <p:nvPicPr>
          <p:cNvPr id="12" name="图片 8">
            <a:extLst>
              <a:ext uri="{FF2B5EF4-FFF2-40B4-BE49-F238E27FC236}">
                <a16:creationId xmlns:a16="http://schemas.microsoft.com/office/drawing/2014/main" id="{7BC478CC-9D25-C74B-9FE0-4C63A91938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9946" y="2575307"/>
            <a:ext cx="5972107" cy="3709862"/>
          </a:xfrm>
          <a:prstGeom prst="rect">
            <a:avLst/>
          </a:prstGeom>
        </p:spPr>
      </p:pic>
      <p:sp>
        <p:nvSpPr>
          <p:cNvPr id="13" name="文本框 9">
            <a:extLst>
              <a:ext uri="{FF2B5EF4-FFF2-40B4-BE49-F238E27FC236}">
                <a16:creationId xmlns:a16="http://schemas.microsoft.com/office/drawing/2014/main" id="{6A34FC32-A7BE-8E42-ABC4-08990E75F128}"/>
              </a:ext>
            </a:extLst>
          </p:cNvPr>
          <p:cNvSpPr txBox="1"/>
          <p:nvPr/>
        </p:nvSpPr>
        <p:spPr>
          <a:xfrm>
            <a:off x="1720368" y="2781859"/>
            <a:ext cx="11898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P</a:t>
            </a:r>
            <a:r>
              <a:rPr lang="en-US" altLang="zh-CN" b="1" dirty="0"/>
              <a:t>rogram A</a:t>
            </a:r>
            <a:endParaRPr lang="en-US" b="1" dirty="0"/>
          </a:p>
        </p:txBody>
      </p:sp>
      <p:sp>
        <p:nvSpPr>
          <p:cNvPr id="14" name="文本框 10">
            <a:extLst>
              <a:ext uri="{FF2B5EF4-FFF2-40B4-BE49-F238E27FC236}">
                <a16:creationId xmlns:a16="http://schemas.microsoft.com/office/drawing/2014/main" id="{53A350DD-1C8F-364C-8366-A1312DED291C}"/>
              </a:ext>
            </a:extLst>
          </p:cNvPr>
          <p:cNvSpPr txBox="1"/>
          <p:nvPr/>
        </p:nvSpPr>
        <p:spPr>
          <a:xfrm>
            <a:off x="1729986" y="3633805"/>
            <a:ext cx="11802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P</a:t>
            </a:r>
            <a:r>
              <a:rPr lang="en-US" altLang="zh-CN" b="1" dirty="0"/>
              <a:t>rogram B</a:t>
            </a:r>
            <a:endParaRPr lang="en-US" b="1" dirty="0"/>
          </a:p>
        </p:txBody>
      </p:sp>
      <p:sp>
        <p:nvSpPr>
          <p:cNvPr id="15" name="文本框 11">
            <a:extLst>
              <a:ext uri="{FF2B5EF4-FFF2-40B4-BE49-F238E27FC236}">
                <a16:creationId xmlns:a16="http://schemas.microsoft.com/office/drawing/2014/main" id="{95A0B8B2-A134-E74F-BED4-55D36CD5FEA4}"/>
              </a:ext>
            </a:extLst>
          </p:cNvPr>
          <p:cNvSpPr txBox="1"/>
          <p:nvPr/>
        </p:nvSpPr>
        <p:spPr>
          <a:xfrm>
            <a:off x="1729986" y="4437194"/>
            <a:ext cx="11722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P</a:t>
            </a:r>
            <a:r>
              <a:rPr lang="en-US" altLang="zh-CN" b="1" dirty="0"/>
              <a:t>rogram C</a:t>
            </a:r>
            <a:endParaRPr lang="en-US" b="1" dirty="0"/>
          </a:p>
        </p:txBody>
      </p:sp>
      <p:sp>
        <p:nvSpPr>
          <p:cNvPr id="16" name="文本框 12">
            <a:extLst>
              <a:ext uri="{FF2B5EF4-FFF2-40B4-BE49-F238E27FC236}">
                <a16:creationId xmlns:a16="http://schemas.microsoft.com/office/drawing/2014/main" id="{505AA7E6-70F4-BD45-B2D2-925147A1FB4D}"/>
              </a:ext>
            </a:extLst>
          </p:cNvPr>
          <p:cNvSpPr txBox="1"/>
          <p:nvPr/>
        </p:nvSpPr>
        <p:spPr>
          <a:xfrm>
            <a:off x="1739604" y="5289140"/>
            <a:ext cx="1159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</a:t>
            </a:r>
            <a:r>
              <a:rPr lang="en-US" altLang="zh-CN" b="1" dirty="0"/>
              <a:t>ombined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7880354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CE7F56-8467-544A-888D-20056703B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Time-Sharing Systems </a:t>
            </a:r>
            <a:r>
              <a:rPr lang="zh-CN" altLang="en-US" dirty="0"/>
              <a:t>（分时）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F0FC8A-F16D-4442-8326-A3EB180CD6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41103"/>
            <a:ext cx="10515600" cy="1136553"/>
          </a:xfrm>
        </p:spPr>
        <p:txBody>
          <a:bodyPr/>
          <a:lstStyle/>
          <a:p>
            <a:r>
              <a:rPr lang="en-US" altLang="zh-CN" dirty="0"/>
              <a:t>Using multiprogramming to handle multiple </a:t>
            </a:r>
            <a:r>
              <a:rPr lang="en-US" altLang="zh-CN" dirty="0">
                <a:solidFill>
                  <a:srgbClr val="FF0000"/>
                </a:solidFill>
              </a:rPr>
              <a:t>interactive jobs</a:t>
            </a:r>
          </a:p>
          <a:p>
            <a:r>
              <a:rPr lang="en-US" altLang="zh-CN" dirty="0"/>
              <a:t>Processor’s time is </a:t>
            </a:r>
            <a:r>
              <a:rPr lang="en-US" altLang="zh-CN" b="1" dirty="0">
                <a:solidFill>
                  <a:srgbClr val="FF0000"/>
                </a:solidFill>
              </a:rPr>
              <a:t>shared</a:t>
            </a:r>
            <a:r>
              <a:rPr lang="en-US" altLang="zh-CN" dirty="0">
                <a:solidFill>
                  <a:srgbClr val="FF0000"/>
                </a:solidFill>
              </a:rPr>
              <a:t> among multiple users</a:t>
            </a:r>
          </a:p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FE2FEB-85DF-0040-9CD2-A7C4860FD3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3D444-7193-46AD-90E8-D84AE4B61CFF}" type="slidenum">
              <a:rPr lang="en-US" smtClean="0"/>
              <a:pPr/>
              <a:t>16</a:t>
            </a:fld>
            <a:r>
              <a:rPr lang="en-US"/>
              <a:t>/</a:t>
            </a:r>
            <a:r>
              <a:rPr lang="en-US" altLang="zh-CN"/>
              <a:t>63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9AA06A-8632-EF4B-A0A5-DE697CE8CD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6D1B6-B1AF-7D4D-A84B-F73F4DDF98DE}" type="datetime1">
              <a:rPr lang="zh-CN" altLang="en-US" smtClean="0"/>
              <a:t>2026/6/19</a:t>
            </a:fld>
            <a:endParaRPr lang="zh-CN" altLang="en-US" dirty="0"/>
          </a:p>
        </p:txBody>
      </p:sp>
      <p:graphicFrame>
        <p:nvGraphicFramePr>
          <p:cNvPr id="8" name="表格 15">
            <a:extLst>
              <a:ext uri="{FF2B5EF4-FFF2-40B4-BE49-F238E27FC236}">
                <a16:creationId xmlns:a16="http://schemas.microsoft.com/office/drawing/2014/main" id="{E1AF4055-B0B1-9944-B56D-2F50AD0472CA}"/>
              </a:ext>
            </a:extLst>
          </p:cNvPr>
          <p:cNvGraphicFramePr>
            <a:graphicFrameLocks noGrp="1"/>
          </p:cNvGraphicFramePr>
          <p:nvPr/>
        </p:nvGraphicFramePr>
        <p:xfrm>
          <a:off x="1453175" y="2360220"/>
          <a:ext cx="8635409" cy="23892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3223">
                  <a:extLst>
                    <a:ext uri="{9D8B030D-6E8A-4147-A177-3AD203B41FA5}">
                      <a16:colId xmlns:a16="http://schemas.microsoft.com/office/drawing/2014/main" val="1778511366"/>
                    </a:ext>
                  </a:extLst>
                </a:gridCol>
                <a:gridCol w="4180490">
                  <a:extLst>
                    <a:ext uri="{9D8B030D-6E8A-4147-A177-3AD203B41FA5}">
                      <a16:colId xmlns:a16="http://schemas.microsoft.com/office/drawing/2014/main" val="569618448"/>
                    </a:ext>
                  </a:extLst>
                </a:gridCol>
                <a:gridCol w="2411696">
                  <a:extLst>
                    <a:ext uri="{9D8B030D-6E8A-4147-A177-3AD203B41FA5}">
                      <a16:colId xmlns:a16="http://schemas.microsoft.com/office/drawing/2014/main" val="1244339724"/>
                    </a:ext>
                  </a:extLst>
                </a:gridCol>
              </a:tblGrid>
              <a:tr h="682323">
                <a:tc>
                  <a:txBody>
                    <a:bodyPr/>
                    <a:lstStyle/>
                    <a:p>
                      <a:endParaRPr lang="en-US" sz="20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kern="1200" dirty="0">
                          <a:solidFill>
                            <a:schemeClr val="tx1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Batch Multiprogramming</a:t>
                      </a:r>
                      <a:endParaRPr lang="en-US" sz="20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4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kern="1200" dirty="0">
                          <a:solidFill>
                            <a:schemeClr val="tx1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Time Sharing</a:t>
                      </a:r>
                      <a:endParaRPr lang="en-US" sz="20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4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8241098"/>
                  </a:ext>
                </a:extLst>
              </a:tr>
              <a:tr h="683133"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chemeClr val="tx1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Principal </a:t>
                      </a:r>
                    </a:p>
                    <a:p>
                      <a:r>
                        <a:rPr lang="en-US" sz="2000" b="1" dirty="0">
                          <a:solidFill>
                            <a:schemeClr val="tx1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objective</a:t>
                      </a:r>
                      <a:endParaRPr lang="en-US" sz="2000" b="1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kern="1200" dirty="0">
                          <a:solidFill>
                            <a:schemeClr val="tx1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Maximize processor use </a:t>
                      </a:r>
                      <a:endParaRPr lang="en-US" sz="20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4E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kern="1200" dirty="0">
                          <a:solidFill>
                            <a:schemeClr val="tx1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Minimize response time </a:t>
                      </a:r>
                      <a:endParaRPr lang="en-US" sz="20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4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6171069"/>
                  </a:ext>
                </a:extLst>
              </a:tr>
              <a:tr h="978985"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chemeClr val="tx1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Source of directives to OS</a:t>
                      </a:r>
                      <a:endParaRPr lang="en-US" sz="2000" b="1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000" kern="1200" dirty="0">
                          <a:solidFill>
                            <a:schemeClr val="tx1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Job control language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000" kern="1200" dirty="0">
                          <a:solidFill>
                            <a:schemeClr val="tx1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Commands provided with the job</a:t>
                      </a:r>
                      <a:endParaRPr lang="en-US" sz="20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4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kern="1200" dirty="0">
                          <a:solidFill>
                            <a:schemeClr val="tx1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Commands entered at the terminal</a:t>
                      </a:r>
                      <a:endParaRPr lang="en-US" sz="20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4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69471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310041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F3B8D0F-FD82-4052-8C75-0B4A8CAD45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1.3</a:t>
            </a:r>
            <a:r>
              <a:rPr lang="zh-CN" altLang="en-US" dirty="0"/>
              <a:t> </a:t>
            </a:r>
            <a:r>
              <a:rPr lang="en-US" altLang="zh-CN" dirty="0"/>
              <a:t>Kernel Space vs. User Space </a:t>
            </a:r>
            <a:endParaRPr lang="zh-CN" altLang="en-US" dirty="0"/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8AB80B69-7829-4711-BD44-18FE2A7A5E0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091121" y="847681"/>
            <a:ext cx="6009758" cy="5162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395551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B5F02-290B-154C-AE39-653FC97C0D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1.4</a:t>
            </a:r>
            <a:r>
              <a:rPr lang="zh-CN" altLang="en-US" dirty="0"/>
              <a:t> </a:t>
            </a:r>
            <a:r>
              <a:rPr lang="en-US" altLang="zh-CN" dirty="0"/>
              <a:t>Features of Modern Operating Systems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FD0356-81EF-2B47-AB79-283D4BA86C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NZ" dirty="0"/>
              <a:t>Demands on operating systems require new ways of organizing the OS</a:t>
            </a:r>
          </a:p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06E31E-A885-6F4F-B094-5AFA33131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3D444-7193-46AD-90E8-D84AE4B61CFF}" type="slidenum">
              <a:rPr lang="en-US" smtClean="0"/>
              <a:pPr/>
              <a:t>18</a:t>
            </a:fld>
            <a:r>
              <a:rPr lang="en-US"/>
              <a:t>/</a:t>
            </a:r>
            <a:r>
              <a:rPr lang="en-US" altLang="zh-CN"/>
              <a:t>63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A3B172-1562-C347-BA83-667A96AFD7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6D1B6-B1AF-7D4D-A84B-F73F4DDF98DE}" type="datetime1">
              <a:rPr lang="zh-CN" altLang="en-US" smtClean="0"/>
              <a:t>2026/6/19</a:t>
            </a:fld>
            <a:endParaRPr lang="zh-CN" altLang="en-US" dirty="0"/>
          </a:p>
        </p:txBody>
      </p:sp>
      <p:graphicFrame>
        <p:nvGraphicFramePr>
          <p:cNvPr id="6" name="Diagram 3">
            <a:extLst>
              <a:ext uri="{FF2B5EF4-FFF2-40B4-BE49-F238E27FC236}">
                <a16:creationId xmlns:a16="http://schemas.microsoft.com/office/drawing/2014/main" id="{8F29AA67-D7C6-7A4D-8721-75DE77ABA946}"/>
              </a:ext>
            </a:extLst>
          </p:cNvPr>
          <p:cNvGraphicFramePr/>
          <p:nvPr/>
        </p:nvGraphicFramePr>
        <p:xfrm>
          <a:off x="2362200" y="2285623"/>
          <a:ext cx="7620000" cy="33725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303771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F3B8D0F-FD82-4052-8C75-0B4A8CAD45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Traditional UNIX System Structure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8859E54-875C-470C-B489-0DECB56ECE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/>
              <a:t>Beyond simple but not fully layered</a:t>
            </a:r>
          </a:p>
          <a:p>
            <a:endParaRPr lang="zh-CN" altLang="en-US" dirty="0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65100EA3-4F9A-4479-9055-8E07B09CAA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8354" y="1407503"/>
            <a:ext cx="7434732" cy="4517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429489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F3B8D0F-FD82-4052-8C75-0B4A8CAD45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Microkernel System Structure 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8859E54-875C-470C-B489-0DECB56ECE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/>
              <a:t>Communication takes place between user modules using </a:t>
            </a:r>
            <a:r>
              <a:rPr lang="en-US" altLang="zh-CN" dirty="0">
                <a:solidFill>
                  <a:srgbClr val="0070C0"/>
                </a:solidFill>
              </a:rPr>
              <a:t>message passing</a:t>
            </a:r>
          </a:p>
          <a:p>
            <a:pPr marL="0" indent="0">
              <a:buNone/>
            </a:pPr>
            <a:endParaRPr lang="zh-CN" altLang="en-US" dirty="0"/>
          </a:p>
        </p:txBody>
      </p:sp>
      <p:pic>
        <p:nvPicPr>
          <p:cNvPr id="4" name="Picture 2" descr="2_14.pdf">
            <a:extLst>
              <a:ext uri="{FF2B5EF4-FFF2-40B4-BE49-F238E27FC236}">
                <a16:creationId xmlns:a16="http://schemas.microsoft.com/office/drawing/2014/main" id="{C8065569-2117-46BD-836F-9EC42B4AB6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9309" y="1754431"/>
            <a:ext cx="8012112" cy="3876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C92A208C-EF06-45E9-2DAE-3D6C299AB6AB}"/>
              </a:ext>
            </a:extLst>
          </p:cNvPr>
          <p:cNvSpPr txBox="1"/>
          <p:nvPr/>
        </p:nvSpPr>
        <p:spPr>
          <a:xfrm>
            <a:off x="9902442" y="1666619"/>
            <a:ext cx="19325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C00000"/>
                </a:solidFill>
              </a:rPr>
              <a:t>message passing</a:t>
            </a:r>
            <a:endParaRPr lang="zh-CN" alt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74132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19727-847A-3840-9AFF-1580D36777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Outline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0FE3D9-2105-4946-B051-C3A1532438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41102"/>
            <a:ext cx="10515600" cy="5797089"/>
          </a:xfrm>
        </p:spPr>
        <p:txBody>
          <a:bodyPr>
            <a:normAutofit/>
          </a:bodyPr>
          <a:lstStyle/>
          <a:p>
            <a:r>
              <a:rPr lang="en-US" altLang="zh-CN" dirty="0"/>
              <a:t>2.</a:t>
            </a:r>
            <a:r>
              <a:rPr lang="zh-CN" altLang="en-US" dirty="0"/>
              <a:t> </a:t>
            </a:r>
            <a:r>
              <a:rPr lang="en-US" altLang="zh-CN" dirty="0"/>
              <a:t>Process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threads</a:t>
            </a:r>
          </a:p>
          <a:p>
            <a:pPr lvl="1"/>
            <a:r>
              <a:rPr lang="en-US" altLang="zh-CN" dirty="0"/>
              <a:t>2.1</a:t>
            </a:r>
            <a:r>
              <a:rPr lang="zh-CN" altLang="en-US" dirty="0"/>
              <a:t> </a:t>
            </a:r>
            <a:r>
              <a:rPr lang="en-US" altLang="zh-CN" dirty="0"/>
              <a:t>Process</a:t>
            </a:r>
            <a:r>
              <a:rPr lang="zh-CN" altLang="en-US" dirty="0"/>
              <a:t> </a:t>
            </a:r>
            <a:r>
              <a:rPr lang="en-US" altLang="zh-CN" dirty="0"/>
              <a:t>descriptions</a:t>
            </a:r>
          </a:p>
          <a:p>
            <a:pPr lvl="1"/>
            <a:r>
              <a:rPr lang="en-US" altLang="zh-CN" dirty="0"/>
              <a:t>2.2</a:t>
            </a:r>
            <a:r>
              <a:rPr lang="zh-CN" altLang="en-US" dirty="0"/>
              <a:t> </a:t>
            </a:r>
            <a:r>
              <a:rPr lang="en-US" altLang="zh-CN" dirty="0"/>
              <a:t>Process</a:t>
            </a:r>
            <a:r>
              <a:rPr lang="zh-CN" altLang="en-US" dirty="0"/>
              <a:t> </a:t>
            </a:r>
            <a:r>
              <a:rPr lang="en-US" altLang="zh-CN" dirty="0"/>
              <a:t>Control</a:t>
            </a:r>
            <a:r>
              <a:rPr lang="zh-CN" altLang="en-US" dirty="0"/>
              <a:t> </a:t>
            </a:r>
            <a:r>
              <a:rPr lang="en-US" altLang="zh-CN" dirty="0"/>
              <a:t>Block</a:t>
            </a:r>
          </a:p>
          <a:p>
            <a:pPr lvl="1"/>
            <a:r>
              <a:rPr lang="en-US" altLang="zh-CN" dirty="0"/>
              <a:t>2.3</a:t>
            </a:r>
            <a:r>
              <a:rPr lang="zh-CN" altLang="en-US" dirty="0"/>
              <a:t> </a:t>
            </a:r>
            <a:r>
              <a:rPr lang="en-US" altLang="zh-CN" dirty="0"/>
              <a:t>Five-state</a:t>
            </a:r>
            <a:r>
              <a:rPr lang="zh-CN" altLang="en-US" dirty="0"/>
              <a:t> </a:t>
            </a:r>
            <a:r>
              <a:rPr lang="en-US" altLang="zh-CN" dirty="0"/>
              <a:t>transition</a:t>
            </a:r>
          </a:p>
          <a:p>
            <a:pPr lvl="1"/>
            <a:r>
              <a:rPr lang="en-US" altLang="zh-CN" dirty="0"/>
              <a:t>2.4</a:t>
            </a:r>
            <a:r>
              <a:rPr lang="zh-CN" altLang="en-US" dirty="0"/>
              <a:t> </a:t>
            </a:r>
            <a:r>
              <a:rPr lang="en-US" altLang="zh-CN" dirty="0"/>
              <a:t>Process</a:t>
            </a:r>
            <a:r>
              <a:rPr lang="zh-CN" altLang="en-US" dirty="0"/>
              <a:t> </a:t>
            </a:r>
            <a:r>
              <a:rPr lang="en-US" altLang="zh-CN" dirty="0"/>
              <a:t>switching</a:t>
            </a:r>
          </a:p>
          <a:p>
            <a:pPr lvl="1"/>
            <a:r>
              <a:rPr lang="en-US" altLang="zh-CN" dirty="0"/>
              <a:t>2.5</a:t>
            </a:r>
            <a:r>
              <a:rPr lang="zh-CN" altLang="en-US" dirty="0"/>
              <a:t> </a:t>
            </a:r>
            <a:r>
              <a:rPr lang="en-US" altLang="zh-CN" dirty="0"/>
              <a:t>Threads</a:t>
            </a:r>
          </a:p>
          <a:p>
            <a:pPr lvl="1"/>
            <a:r>
              <a:rPr lang="en-US" altLang="zh-CN" dirty="0"/>
              <a:t>2.6</a:t>
            </a:r>
            <a:r>
              <a:rPr lang="zh-CN" altLang="en-US" dirty="0"/>
              <a:t> </a:t>
            </a:r>
            <a:r>
              <a:rPr lang="en-US" altLang="zh-CN" dirty="0"/>
              <a:t>Type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Threads</a:t>
            </a:r>
          </a:p>
          <a:p>
            <a:pPr lvl="1"/>
            <a:r>
              <a:rPr lang="en-US" altLang="zh-CN" dirty="0"/>
              <a:t>2.7</a:t>
            </a:r>
            <a:r>
              <a:rPr lang="zh-CN" altLang="en-US" dirty="0"/>
              <a:t> </a:t>
            </a:r>
            <a:r>
              <a:rPr lang="en-US" altLang="zh-CN" dirty="0"/>
              <a:t>Short-term</a:t>
            </a:r>
            <a:r>
              <a:rPr lang="zh-CN" altLang="en-US" dirty="0"/>
              <a:t> </a:t>
            </a:r>
            <a:r>
              <a:rPr lang="en-US" altLang="zh-CN" dirty="0"/>
              <a:t>scheduling</a:t>
            </a:r>
          </a:p>
          <a:p>
            <a:pPr lvl="1"/>
            <a:r>
              <a:rPr lang="en-US" altLang="zh-CN" dirty="0"/>
              <a:t>2.8</a:t>
            </a:r>
            <a:r>
              <a:rPr lang="zh-CN" altLang="en-US" dirty="0"/>
              <a:t> </a:t>
            </a:r>
            <a:r>
              <a:rPr lang="en-US" altLang="zh-CN" dirty="0"/>
              <a:t>Approach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thread</a:t>
            </a:r>
            <a:r>
              <a:rPr lang="zh-CN" altLang="en-US" dirty="0"/>
              <a:t> </a:t>
            </a:r>
            <a:r>
              <a:rPr lang="en-US" altLang="zh-CN" dirty="0"/>
              <a:t>scheduling</a:t>
            </a:r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22C5A1-385D-9C44-B2F2-D6763F0073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3D444-7193-46AD-90E8-D84AE4B61CFF}" type="slidenum">
              <a:rPr lang="en-US" smtClean="0"/>
              <a:pPr/>
              <a:t>21</a:t>
            </a:fld>
            <a:r>
              <a:rPr lang="en-US"/>
              <a:t>/</a:t>
            </a:r>
            <a:r>
              <a:rPr lang="en-US" altLang="zh-CN"/>
              <a:t>63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2C3CA9-23DF-0643-99E1-E29F47FC08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6D1B6-B1AF-7D4D-A84B-F73F4DDF98DE}" type="datetime1">
              <a:rPr lang="zh-CN" altLang="en-US" smtClean="0"/>
              <a:t>2026/6/19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098945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2.1 Process Definitions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800" dirty="0"/>
              <a:t>Definitions</a:t>
            </a:r>
          </a:p>
          <a:p>
            <a:pPr lvl="1"/>
            <a:r>
              <a:rPr lang="en-US" altLang="zh-CN" sz="2400" dirty="0"/>
              <a:t>A </a:t>
            </a:r>
            <a:r>
              <a:rPr lang="en-US" altLang="zh-CN" sz="2400" b="1" dirty="0">
                <a:solidFill>
                  <a:srgbClr val="FF0000"/>
                </a:solidFill>
              </a:rPr>
              <a:t>program</a:t>
            </a:r>
            <a:r>
              <a:rPr lang="en-US" altLang="zh-CN" sz="2400" dirty="0"/>
              <a:t> in execution. </a:t>
            </a:r>
          </a:p>
          <a:p>
            <a:pPr lvl="1"/>
            <a:r>
              <a:rPr lang="en-US" altLang="zh-CN" sz="2400" dirty="0"/>
              <a:t>An </a:t>
            </a:r>
            <a:r>
              <a:rPr lang="en-US" altLang="zh-CN" sz="2400" b="1" dirty="0">
                <a:solidFill>
                  <a:srgbClr val="FF0000"/>
                </a:solidFill>
              </a:rPr>
              <a:t>instance</a:t>
            </a:r>
            <a:r>
              <a:rPr lang="en-US" altLang="zh-CN" sz="2400" dirty="0"/>
              <a:t> of a program running on a computer. </a:t>
            </a:r>
          </a:p>
          <a:p>
            <a:pPr lvl="1"/>
            <a:r>
              <a:rPr lang="en-US" altLang="zh-CN" sz="2400" dirty="0"/>
              <a:t>The </a:t>
            </a:r>
            <a:r>
              <a:rPr lang="en-US" altLang="zh-CN" sz="2400" b="1" dirty="0">
                <a:solidFill>
                  <a:srgbClr val="FF0000"/>
                </a:solidFill>
              </a:rPr>
              <a:t>entity</a:t>
            </a:r>
            <a:r>
              <a:rPr lang="en-US" altLang="zh-CN" sz="2400" dirty="0"/>
              <a:t> that can be assigned to and executed on a processor. </a:t>
            </a:r>
          </a:p>
          <a:p>
            <a:pPr lvl="1"/>
            <a:r>
              <a:rPr lang="en-US" altLang="zh-CN" sz="2400" b="1" dirty="0"/>
              <a:t> </a:t>
            </a:r>
            <a:r>
              <a:rPr lang="en-US" altLang="zh-CN" sz="2400" b="1" dirty="0">
                <a:solidFill>
                  <a:srgbClr val="FF0000"/>
                </a:solidFill>
              </a:rPr>
              <a:t>A unit of activity </a:t>
            </a:r>
            <a:r>
              <a:rPr lang="en-US" altLang="zh-CN" sz="2400" dirty="0"/>
              <a:t>characterized by a single sequential thread of execution, a current state, and an associated set of system resources.</a:t>
            </a:r>
          </a:p>
          <a:p>
            <a:endParaRPr lang="en-US" altLang="zh-CN" sz="2800" dirty="0">
              <a:solidFill>
                <a:srgbClr val="C00000"/>
              </a:solidFill>
            </a:endParaRPr>
          </a:p>
          <a:p>
            <a:pPr lvl="1"/>
            <a:endParaRPr lang="en-US" altLang="zh-CN" sz="2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919EF0-63FA-6742-B7A3-8C75A76CEA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solidFill>
                  <a:schemeClr val="accent1">
                    <a:lumMod val="75000"/>
                  </a:schemeClr>
                </a:solidFill>
              </a:rPr>
              <a:t>OS Control </a:t>
            </a:r>
            <a:r>
              <a:rPr lang="en-US" altLang="zh-CN" dirty="0"/>
              <a:t>Structures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B07339-569C-3947-9547-D1B06BE5BB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5623"/>
            <a:ext cx="4439194" cy="3675018"/>
          </a:xfrm>
        </p:spPr>
        <p:txBody>
          <a:bodyPr/>
          <a:lstStyle/>
          <a:p>
            <a:pPr marL="342900" lvl="1" indent="-342900">
              <a:buFont typeface="Wingdings" panose="05000000000000000000" pitchFamily="2" charset="2"/>
              <a:buChar char="q"/>
            </a:pPr>
            <a:r>
              <a:rPr lang="en-US" sz="2800" b="1" dirty="0"/>
              <a:t>Process table</a:t>
            </a:r>
          </a:p>
          <a:p>
            <a:pPr lvl="1"/>
            <a:r>
              <a:rPr lang="en-US" dirty="0"/>
              <a:t>Must be </a:t>
            </a:r>
            <a:r>
              <a:rPr lang="en-US" dirty="0">
                <a:solidFill>
                  <a:srgbClr val="FF0000"/>
                </a:solidFill>
              </a:rPr>
              <a:t>maintained</a:t>
            </a:r>
            <a:r>
              <a:rPr lang="en-US" dirty="0"/>
              <a:t> to manage processes</a:t>
            </a:r>
          </a:p>
          <a:p>
            <a:pPr lvl="1"/>
            <a:r>
              <a:rPr lang="en-US" dirty="0"/>
              <a:t>There must be some </a:t>
            </a:r>
            <a:r>
              <a:rPr lang="en-US" dirty="0">
                <a:solidFill>
                  <a:srgbClr val="FF0000"/>
                </a:solidFill>
              </a:rPr>
              <a:t>reference</a:t>
            </a:r>
            <a:r>
              <a:rPr lang="en-US" dirty="0"/>
              <a:t> to memory,    I/O, and files, directly or indirectly</a:t>
            </a:r>
          </a:p>
          <a:p>
            <a:pPr lvl="1"/>
            <a:r>
              <a:rPr lang="en-US" dirty="0"/>
              <a:t>The tables themselves must be </a:t>
            </a:r>
            <a:r>
              <a:rPr lang="en-US" dirty="0">
                <a:solidFill>
                  <a:srgbClr val="FF0000"/>
                </a:solidFill>
              </a:rPr>
              <a:t>accessible by the OS </a:t>
            </a:r>
            <a:r>
              <a:rPr lang="en-US" dirty="0"/>
              <a:t>and therefore are subject to memory management</a:t>
            </a:r>
          </a:p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CAED3B-8B69-5E4E-902D-F93B86CE6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3D444-7193-46AD-90E8-D84AE4B61CFF}" type="slidenum">
              <a:rPr lang="en-US" smtClean="0"/>
              <a:pPr/>
              <a:t>23</a:t>
            </a:fld>
            <a:r>
              <a:rPr lang="en-US"/>
              <a:t>/</a:t>
            </a:r>
            <a:r>
              <a:rPr lang="en-US" altLang="zh-CN"/>
              <a:t>63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21EE11-8412-2949-A114-EF0F16CC23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6D1B6-B1AF-7D4D-A84B-F73F4DDF98DE}" type="datetime1">
              <a:rPr lang="zh-CN" altLang="en-US" smtClean="0"/>
              <a:t>2026/6/19</a:t>
            </a:fld>
            <a:endParaRPr lang="zh-CN" altLang="en-US" dirty="0"/>
          </a:p>
        </p:txBody>
      </p:sp>
      <p:pic>
        <p:nvPicPr>
          <p:cNvPr id="6" name="图片 7">
            <a:extLst>
              <a:ext uri="{FF2B5EF4-FFF2-40B4-BE49-F238E27FC236}">
                <a16:creationId xmlns:a16="http://schemas.microsoft.com/office/drawing/2014/main" id="{1A9702D9-91C8-B342-BF70-AEBB028CD8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1433" y="819833"/>
            <a:ext cx="6127769" cy="5218333"/>
          </a:xfrm>
          <a:prstGeom prst="rect">
            <a:avLst/>
          </a:prstGeom>
        </p:spPr>
      </p:pic>
      <p:sp>
        <p:nvSpPr>
          <p:cNvPr id="7" name="矩形 10">
            <a:extLst>
              <a:ext uri="{FF2B5EF4-FFF2-40B4-BE49-F238E27FC236}">
                <a16:creationId xmlns:a16="http://schemas.microsoft.com/office/drawing/2014/main" id="{BD7C1F89-F625-C343-96EF-9AD33A2A3517}"/>
              </a:ext>
            </a:extLst>
          </p:cNvPr>
          <p:cNvSpPr/>
          <p:nvPr/>
        </p:nvSpPr>
        <p:spPr>
          <a:xfrm>
            <a:off x="8106770" y="3429000"/>
            <a:ext cx="3616657" cy="258789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840344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Process Image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What is the physical manifestation (</a:t>
            </a:r>
            <a:r>
              <a:rPr lang="zh-CN" altLang="en-US" dirty="0"/>
              <a:t>物理表示</a:t>
            </a:r>
            <a:r>
              <a:rPr lang="en-US" altLang="zh-CN" dirty="0"/>
              <a:t>) of a process?</a:t>
            </a:r>
          </a:p>
          <a:p>
            <a:pPr lvl="1"/>
            <a:r>
              <a:rPr lang="en-US" altLang="zh-CN" dirty="0"/>
              <a:t>A process must include </a:t>
            </a:r>
            <a:r>
              <a:rPr lang="en-US" altLang="zh-CN" dirty="0">
                <a:solidFill>
                  <a:srgbClr val="FF0000"/>
                </a:solidFill>
              </a:rPr>
              <a:t>a program or set of programs </a:t>
            </a:r>
            <a:r>
              <a:rPr lang="en-US" altLang="zh-CN" dirty="0"/>
              <a:t>to be executed</a:t>
            </a:r>
          </a:p>
          <a:p>
            <a:pPr lvl="1"/>
            <a:r>
              <a:rPr lang="en-US" altLang="zh-CN" dirty="0"/>
              <a:t>A process will consist of at least sufficient memory to hold the </a:t>
            </a:r>
            <a:r>
              <a:rPr lang="en-US" altLang="zh-CN" dirty="0">
                <a:solidFill>
                  <a:srgbClr val="FF0000"/>
                </a:solidFill>
              </a:rPr>
              <a:t>programs and data </a:t>
            </a:r>
            <a:r>
              <a:rPr lang="en-US" altLang="zh-CN" dirty="0"/>
              <a:t>of that process</a:t>
            </a:r>
          </a:p>
          <a:p>
            <a:pPr lvl="1"/>
            <a:r>
              <a:rPr lang="en-US" altLang="zh-CN" dirty="0"/>
              <a:t>The execution of a program typically involves a </a:t>
            </a:r>
            <a:r>
              <a:rPr lang="en-US" altLang="zh-CN" dirty="0">
                <a:solidFill>
                  <a:srgbClr val="FF0000"/>
                </a:solidFill>
              </a:rPr>
              <a:t>stack</a:t>
            </a:r>
            <a:r>
              <a:rPr lang="en-US" altLang="zh-CN" dirty="0"/>
              <a:t> that is used to keep track of procedure calls and parameter passing between procedures </a:t>
            </a:r>
          </a:p>
          <a:p>
            <a:pPr lvl="1"/>
            <a:r>
              <a:rPr lang="en-US" altLang="zh-CN" dirty="0"/>
              <a:t>Each process has associated with it </a:t>
            </a:r>
            <a:r>
              <a:rPr lang="en-US" altLang="zh-CN" dirty="0">
                <a:solidFill>
                  <a:srgbClr val="FF0000"/>
                </a:solidFill>
              </a:rPr>
              <a:t>a number of attributes</a:t>
            </a:r>
            <a:r>
              <a:rPr lang="en-US" altLang="zh-CN" dirty="0"/>
              <a:t> that are used by the OS for process control</a:t>
            </a:r>
          </a:p>
          <a:p>
            <a:pPr marL="171450" lvl="1">
              <a:spcBef>
                <a:spcPts val="750"/>
              </a:spcBef>
              <a:buFont typeface="Wingdings" panose="05000000000000000000" pitchFamily="2" charset="2"/>
              <a:buChar char="q"/>
            </a:pPr>
            <a:r>
              <a:rPr lang="en-US" altLang="zh-CN" sz="2400" b="1" dirty="0"/>
              <a:t>The collection of program, data, stack, and attributes is referred to as the </a:t>
            </a:r>
            <a:r>
              <a:rPr lang="en-US" altLang="zh-CN" sz="2400" b="1" dirty="0">
                <a:solidFill>
                  <a:srgbClr val="FF0000"/>
                </a:solidFill>
              </a:rPr>
              <a:t>process image</a:t>
            </a:r>
          </a:p>
          <a:p>
            <a:pPr marL="171450" lvl="1">
              <a:spcBef>
                <a:spcPts val="750"/>
              </a:spcBef>
              <a:buFont typeface="Wingdings" panose="05000000000000000000" pitchFamily="2" charset="2"/>
              <a:buChar char="q"/>
            </a:pPr>
            <a:r>
              <a:rPr lang="en-US" altLang="zh-CN" sz="2400" b="1" dirty="0"/>
              <a:t>Process </a:t>
            </a:r>
            <a:r>
              <a:rPr lang="en-US" altLang="zh-CN" sz="2400" b="1" dirty="0">
                <a:solidFill>
                  <a:srgbClr val="FF0000"/>
                </a:solidFill>
              </a:rPr>
              <a:t>image location </a:t>
            </a:r>
            <a:r>
              <a:rPr lang="en-US" altLang="zh-CN" sz="2400" b="1" dirty="0"/>
              <a:t>will depend on the memory management scheme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Typical Elements of a Process Image</a:t>
            </a:r>
            <a:endParaRPr lang="zh-CN" altLang="en-US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659D04C0-C488-4E24-B43A-1CFF3F5204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2350" y="933154"/>
            <a:ext cx="8825685" cy="523251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Process Control Block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841103"/>
            <a:ext cx="7732594" cy="5175794"/>
          </a:xfrm>
        </p:spPr>
        <p:txBody>
          <a:bodyPr/>
          <a:lstStyle/>
          <a:p>
            <a:r>
              <a:rPr lang="en-US" altLang="zh-CN" dirty="0"/>
              <a:t> Contains the process </a:t>
            </a:r>
            <a:r>
              <a:rPr lang="en-US" altLang="zh-CN" dirty="0">
                <a:solidFill>
                  <a:srgbClr val="FF0000"/>
                </a:solidFill>
              </a:rPr>
              <a:t>elements</a:t>
            </a:r>
          </a:p>
          <a:p>
            <a:r>
              <a:rPr lang="en-US" altLang="zh-CN" dirty="0">
                <a:solidFill>
                  <a:srgbClr val="FF0000"/>
                </a:solidFill>
              </a:rPr>
              <a:t>Created and managed </a:t>
            </a:r>
            <a:r>
              <a:rPr lang="en-US" altLang="zh-CN" dirty="0"/>
              <a:t>by the operating system</a:t>
            </a:r>
          </a:p>
          <a:p>
            <a:r>
              <a:rPr lang="en-US" altLang="zh-CN" dirty="0"/>
              <a:t>Functions: </a:t>
            </a:r>
          </a:p>
          <a:p>
            <a:pPr lvl="1"/>
            <a:r>
              <a:rPr lang="en-US" altLang="zh-CN" sz="2400" dirty="0"/>
              <a:t>It is possible to </a:t>
            </a:r>
            <a:r>
              <a:rPr lang="en-US" altLang="zh-CN" sz="2400" dirty="0">
                <a:solidFill>
                  <a:srgbClr val="FF0000"/>
                </a:solidFill>
              </a:rPr>
              <a:t>interrupt</a:t>
            </a:r>
            <a:r>
              <a:rPr lang="en-US" altLang="zh-CN" sz="2400" dirty="0"/>
              <a:t> a running process and later </a:t>
            </a:r>
            <a:r>
              <a:rPr lang="en-US" altLang="zh-CN" sz="2400" dirty="0">
                <a:solidFill>
                  <a:srgbClr val="FF0000"/>
                </a:solidFill>
              </a:rPr>
              <a:t>resume</a:t>
            </a:r>
            <a:r>
              <a:rPr lang="en-US" altLang="zh-CN" sz="2400" dirty="0"/>
              <a:t> execution as if the interruption had not occurred</a:t>
            </a:r>
          </a:p>
          <a:p>
            <a:pPr lvl="1"/>
            <a:r>
              <a:rPr lang="en-US" altLang="zh-CN" sz="2400" dirty="0">
                <a:solidFill>
                  <a:srgbClr val="FF0000"/>
                </a:solidFill>
              </a:rPr>
              <a:t>Key tool </a:t>
            </a:r>
            <a:r>
              <a:rPr lang="en-US" altLang="zh-CN" sz="2400" dirty="0"/>
              <a:t>that allows support for multiple processes</a:t>
            </a:r>
          </a:p>
          <a:p>
            <a:endParaRPr lang="zh-CN" altLang="en-US" b="0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C518AF0-5795-4689-B535-CBE83DDAAD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83114" y="841103"/>
            <a:ext cx="2470686" cy="5368628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071C65D8-9024-4F7F-AEE8-D085AEAC0302}"/>
              </a:ext>
            </a:extLst>
          </p:cNvPr>
          <p:cNvSpPr/>
          <p:nvPr/>
        </p:nvSpPr>
        <p:spPr>
          <a:xfrm>
            <a:off x="8883114" y="1244600"/>
            <a:ext cx="2470686" cy="4572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EE7D8F-5A45-4AD7-8E6F-B071B352D2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2.3Five-State Process Model</a:t>
            </a:r>
            <a:endParaRPr lang="zh-CN" altLang="en-US" dirty="0"/>
          </a:p>
        </p:txBody>
      </p:sp>
      <p:pic>
        <p:nvPicPr>
          <p:cNvPr id="6" name="图片 6">
            <a:extLst>
              <a:ext uri="{FF2B5EF4-FFF2-40B4-BE49-F238E27FC236}">
                <a16:creationId xmlns:a16="http://schemas.microsoft.com/office/drawing/2014/main" id="{9F88A7AC-0E0B-3343-B76E-AEB7E6B2E0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4716" y="1753152"/>
            <a:ext cx="8592820" cy="3351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469818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EE7D8F-5A45-4AD7-8E6F-B071B352D2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Using Two Queues</a:t>
            </a:r>
            <a:endParaRPr lang="zh-CN" altLang="en-US" dirty="0"/>
          </a:p>
        </p:txBody>
      </p:sp>
      <p:pic>
        <p:nvPicPr>
          <p:cNvPr id="6" name="图片 6">
            <a:extLst>
              <a:ext uri="{FF2B5EF4-FFF2-40B4-BE49-F238E27FC236}">
                <a16:creationId xmlns:a16="http://schemas.microsoft.com/office/drawing/2014/main" id="{2B292816-2F7B-0A42-9D42-0FC8F56DAE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840" y="1502659"/>
            <a:ext cx="9926320" cy="3852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794689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One Suspend State</a:t>
            </a:r>
            <a:endParaRPr lang="zh-CN" altLang="en-US" dirty="0"/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3F829D39-54B8-4FBD-9116-BD055E4108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41103"/>
            <a:ext cx="8378371" cy="3490128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C3EFA1AA-35BC-4B89-BB49-08F79CA5E8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5784" y="1246632"/>
            <a:ext cx="9972660" cy="3490128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E2E96588-FF1D-420C-B840-AF1B237C4695}"/>
              </a:ext>
            </a:extLst>
          </p:cNvPr>
          <p:cNvSpPr/>
          <p:nvPr/>
        </p:nvSpPr>
        <p:spPr>
          <a:xfrm>
            <a:off x="838200" y="3701143"/>
            <a:ext cx="2500086" cy="112342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Two Suspend States</a:t>
            </a:r>
            <a:r>
              <a:rPr lang="zh-CN" altLang="en-US" dirty="0"/>
              <a:t>两种挂起状态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FB762B2F-2573-4A12-8937-6DC09B4208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8581" y="1368571"/>
            <a:ext cx="7607771" cy="4409421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E00495A0-D7FA-452C-BF6B-2EEEC7D6D7CE}"/>
              </a:ext>
            </a:extLst>
          </p:cNvPr>
          <p:cNvSpPr/>
          <p:nvPr/>
        </p:nvSpPr>
        <p:spPr>
          <a:xfrm>
            <a:off x="952500" y="2768600"/>
            <a:ext cx="1765300" cy="299669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FFC144-2B6A-4DF1-B2C6-DA7C9BD056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2.4</a:t>
            </a:r>
            <a:r>
              <a:rPr lang="zh-CN" altLang="en-US" dirty="0"/>
              <a:t> </a:t>
            </a:r>
            <a:r>
              <a:rPr lang="en-US" altLang="zh-CN" dirty="0"/>
              <a:t>Process Switching</a:t>
            </a:r>
            <a:endParaRPr lang="zh-CN" altLang="en-US" dirty="0"/>
          </a:p>
        </p:txBody>
      </p:sp>
      <p:pic>
        <p:nvPicPr>
          <p:cNvPr id="4" name="Picture 9">
            <a:extLst>
              <a:ext uri="{FF2B5EF4-FFF2-40B4-BE49-F238E27FC236}">
                <a16:creationId xmlns:a16="http://schemas.microsoft.com/office/drawing/2014/main" id="{47BE31BA-688F-4759-843D-B64A15C21F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9831" y="893655"/>
            <a:ext cx="8690456" cy="51878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文本框 9">
            <a:extLst>
              <a:ext uri="{FF2B5EF4-FFF2-40B4-BE49-F238E27FC236}">
                <a16:creationId xmlns:a16="http://schemas.microsoft.com/office/drawing/2014/main" id="{D7A91CFB-52E0-BA4B-BA24-2CA050ED2455}"/>
              </a:ext>
            </a:extLst>
          </p:cNvPr>
          <p:cNvSpPr txBox="1"/>
          <p:nvPr/>
        </p:nvSpPr>
        <p:spPr>
          <a:xfrm>
            <a:off x="5086065" y="761204"/>
            <a:ext cx="20198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altLang="zh-CN" b="1" dirty="0">
                <a:solidFill>
                  <a:srgbClr val="FF0000"/>
                </a:solidFill>
              </a:rPr>
              <a:t>ernel mode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7" name="文本框 10">
            <a:extLst>
              <a:ext uri="{FF2B5EF4-FFF2-40B4-BE49-F238E27FC236}">
                <a16:creationId xmlns:a16="http://schemas.microsoft.com/office/drawing/2014/main" id="{1DB11962-7330-7046-9569-0342C567EF3B}"/>
              </a:ext>
            </a:extLst>
          </p:cNvPr>
          <p:cNvSpPr txBox="1"/>
          <p:nvPr/>
        </p:nvSpPr>
        <p:spPr>
          <a:xfrm>
            <a:off x="2754572" y="713450"/>
            <a:ext cx="20198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User</a:t>
            </a:r>
            <a:r>
              <a:rPr lang="en-US" altLang="zh-CN" b="1" dirty="0">
                <a:solidFill>
                  <a:srgbClr val="FF0000"/>
                </a:solidFill>
              </a:rPr>
              <a:t> mode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8" name="文本框 11">
            <a:extLst>
              <a:ext uri="{FF2B5EF4-FFF2-40B4-BE49-F238E27FC236}">
                <a16:creationId xmlns:a16="http://schemas.microsoft.com/office/drawing/2014/main" id="{F9D2CDAF-1865-9642-AECC-3AE0F9C5CB13}"/>
              </a:ext>
            </a:extLst>
          </p:cNvPr>
          <p:cNvSpPr txBox="1"/>
          <p:nvPr/>
        </p:nvSpPr>
        <p:spPr>
          <a:xfrm>
            <a:off x="7233313" y="705537"/>
            <a:ext cx="20198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User</a:t>
            </a:r>
            <a:r>
              <a:rPr lang="en-US" altLang="zh-CN" b="1" dirty="0">
                <a:solidFill>
                  <a:srgbClr val="FF0000"/>
                </a:solidFill>
              </a:rPr>
              <a:t> mode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02322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D62C9C-28E4-45E0-8DB4-E9CC327E36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2.5</a:t>
            </a:r>
            <a:r>
              <a:rPr lang="zh-CN" altLang="en-US" dirty="0"/>
              <a:t> </a:t>
            </a:r>
            <a:r>
              <a:rPr lang="en-US" altLang="zh-CN" dirty="0"/>
              <a:t>Processes and Threads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20E03A-E015-43EC-9DC0-EBD19FBBD4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The </a:t>
            </a:r>
            <a:r>
              <a:rPr lang="en-US" altLang="zh-CN" dirty="0">
                <a:solidFill>
                  <a:srgbClr val="FF0000"/>
                </a:solidFill>
              </a:rPr>
              <a:t>unit of dispatching </a:t>
            </a:r>
            <a:r>
              <a:rPr lang="en-US" altLang="zh-CN" dirty="0"/>
              <a:t>is referred to as a thread or lightweight process</a:t>
            </a:r>
          </a:p>
          <a:p>
            <a:r>
              <a:rPr lang="en-US" altLang="zh-CN" dirty="0"/>
              <a:t>The unit of </a:t>
            </a:r>
            <a:r>
              <a:rPr lang="en-US" altLang="zh-CN" dirty="0">
                <a:solidFill>
                  <a:srgbClr val="FF0000"/>
                </a:solidFill>
              </a:rPr>
              <a:t>resource ownership </a:t>
            </a:r>
            <a:r>
              <a:rPr lang="en-US" altLang="zh-CN" dirty="0"/>
              <a:t>is referred to as a process or task</a:t>
            </a:r>
          </a:p>
          <a:p>
            <a:r>
              <a:rPr lang="en-US" altLang="zh-CN" dirty="0">
                <a:solidFill>
                  <a:srgbClr val="FF0000"/>
                </a:solidFill>
              </a:rPr>
              <a:t>Multithreading</a:t>
            </a:r>
            <a:r>
              <a:rPr lang="en-US" altLang="zh-CN" dirty="0"/>
              <a:t>:</a:t>
            </a:r>
            <a:r>
              <a:rPr lang="zh-CN" altLang="en-US" dirty="0"/>
              <a:t> </a:t>
            </a:r>
            <a:r>
              <a:rPr lang="en-US" altLang="zh-CN" dirty="0"/>
              <a:t>the ability of an OS to support multiple, concurrent paths of execution (</a:t>
            </a:r>
            <a:r>
              <a:rPr lang="zh-CN" altLang="en-US" dirty="0"/>
              <a:t>多个并发执行路径</a:t>
            </a:r>
            <a:r>
              <a:rPr lang="en-US" altLang="zh-CN" dirty="0"/>
              <a:t>) within a single process</a:t>
            </a:r>
          </a:p>
          <a:p>
            <a:endParaRPr lang="zh-CN" altLang="en-US" dirty="0"/>
          </a:p>
        </p:txBody>
      </p:sp>
      <p:pic>
        <p:nvPicPr>
          <p:cNvPr id="4" name="Picture 1" descr="4_01.pdf">
            <a:extLst>
              <a:ext uri="{FF2B5EF4-FFF2-40B4-BE49-F238E27FC236}">
                <a16:creationId xmlns:a16="http://schemas.microsoft.com/office/drawing/2014/main" id="{12FF0557-F5AE-4332-8F80-7E29251B81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7638" y="3307397"/>
            <a:ext cx="4696723" cy="2709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513962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D62C9C-28E4-45E0-8DB4-E9CC327E36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2.6 Types of Threads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20E03A-E015-43EC-9DC0-EBD19FBBD4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User Level Thread (ULT)</a:t>
            </a:r>
          </a:p>
          <a:p>
            <a:r>
              <a:rPr lang="en-US" altLang="zh-CN" dirty="0"/>
              <a:t>Kernel level Thread (KLT)</a:t>
            </a:r>
          </a:p>
          <a:p>
            <a:r>
              <a:rPr lang="en-US" altLang="zh-CN" dirty="0"/>
              <a:t>Combined Approaches 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6228597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D62C9C-28E4-45E0-8DB4-E9CC327E36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User-Level Threads (ULTs)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20E03A-E015-43EC-9DC0-EBD19FBBD4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All </a:t>
            </a:r>
            <a:r>
              <a:rPr lang="en-US" altLang="zh-CN" dirty="0">
                <a:solidFill>
                  <a:srgbClr val="FF0000"/>
                </a:solidFill>
              </a:rPr>
              <a:t>thread management </a:t>
            </a:r>
            <a:r>
              <a:rPr lang="en-US" altLang="zh-CN" dirty="0"/>
              <a:t>is done by the application</a:t>
            </a:r>
          </a:p>
          <a:p>
            <a:r>
              <a:rPr lang="en-US" altLang="zh-CN" dirty="0"/>
              <a:t>The kernel is </a:t>
            </a:r>
            <a:r>
              <a:rPr lang="en-US" altLang="zh-CN" dirty="0">
                <a:solidFill>
                  <a:srgbClr val="FF0000"/>
                </a:solidFill>
              </a:rPr>
              <a:t>not aware </a:t>
            </a:r>
            <a:r>
              <a:rPr lang="en-US" altLang="zh-CN" dirty="0"/>
              <a:t>of the existence of threads</a:t>
            </a:r>
          </a:p>
          <a:p>
            <a:r>
              <a:rPr lang="en-US" altLang="zh-CN" dirty="0">
                <a:solidFill>
                  <a:srgbClr val="FF0000"/>
                </a:solidFill>
              </a:rPr>
              <a:t>Thread library </a:t>
            </a:r>
            <a:r>
              <a:rPr lang="en-US" altLang="zh-CN" dirty="0"/>
              <a:t>provides programmer with API for creating and managing threads</a:t>
            </a:r>
          </a:p>
          <a:p>
            <a:pPr lvl="1"/>
            <a:r>
              <a:rPr lang="en-US" altLang="zh-CN" dirty="0">
                <a:solidFill>
                  <a:srgbClr val="0070C0"/>
                </a:solidFill>
              </a:rPr>
              <a:t>POSIX </a:t>
            </a:r>
            <a:r>
              <a:rPr lang="en-US" altLang="zh-CN" dirty="0" err="1">
                <a:solidFill>
                  <a:srgbClr val="0070C0"/>
                </a:solidFill>
              </a:rPr>
              <a:t>Pthreads</a:t>
            </a:r>
            <a:endParaRPr lang="en-US" altLang="zh-CN" dirty="0">
              <a:solidFill>
                <a:srgbClr val="0070C0"/>
              </a:solidFill>
            </a:endParaRPr>
          </a:p>
          <a:p>
            <a:pPr lvl="1"/>
            <a:r>
              <a:rPr lang="en-US" altLang="zh-CN" dirty="0"/>
              <a:t>Win32 threads</a:t>
            </a:r>
          </a:p>
          <a:p>
            <a:pPr lvl="1"/>
            <a:r>
              <a:rPr lang="en-US" altLang="zh-CN" dirty="0"/>
              <a:t>Java threads</a:t>
            </a:r>
          </a:p>
          <a:p>
            <a:endParaRPr lang="en-US" altLang="zh-CN" dirty="0"/>
          </a:p>
          <a:p>
            <a:endParaRPr lang="zh-CN" altLang="en-US" dirty="0"/>
          </a:p>
        </p:txBody>
      </p:sp>
      <p:pic>
        <p:nvPicPr>
          <p:cNvPr id="5" name="图片 5">
            <a:extLst>
              <a:ext uri="{FF2B5EF4-FFF2-40B4-BE49-F238E27FC236}">
                <a16:creationId xmlns:a16="http://schemas.microsoft.com/office/drawing/2014/main" id="{F0591DBA-B7E9-0247-A324-780D226CCB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1444" y="2540045"/>
            <a:ext cx="3128962" cy="3057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056718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D62C9C-28E4-45E0-8DB4-E9CC327E36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Advantages of ULTs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20E03A-E015-43EC-9DC0-EBD19FBBD4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Thread switching does </a:t>
            </a:r>
            <a:r>
              <a:rPr lang="en-US" altLang="zh-CN" dirty="0">
                <a:solidFill>
                  <a:srgbClr val="FF0000"/>
                </a:solidFill>
              </a:rPr>
              <a:t>not require kernel mode </a:t>
            </a:r>
            <a:r>
              <a:rPr lang="en-US" altLang="zh-CN" dirty="0"/>
              <a:t>privileges</a:t>
            </a:r>
          </a:p>
          <a:p>
            <a:pPr lvl="1"/>
            <a:r>
              <a:rPr lang="en-US" altLang="zh-CN" dirty="0"/>
              <a:t>all of the thread management data structures are within the </a:t>
            </a:r>
            <a:r>
              <a:rPr lang="en-US" altLang="zh-CN" dirty="0">
                <a:solidFill>
                  <a:srgbClr val="0070C0"/>
                </a:solidFill>
              </a:rPr>
              <a:t>user address space </a:t>
            </a:r>
            <a:r>
              <a:rPr lang="en-US" altLang="zh-CN" dirty="0"/>
              <a:t>of a single process. </a:t>
            </a:r>
          </a:p>
          <a:p>
            <a:pPr lvl="1"/>
            <a:r>
              <a:rPr lang="en-US" altLang="zh-CN" dirty="0"/>
              <a:t>saves the overhead of two </a:t>
            </a:r>
            <a:r>
              <a:rPr lang="en-US" altLang="zh-CN" dirty="0">
                <a:solidFill>
                  <a:srgbClr val="0070C0"/>
                </a:solidFill>
              </a:rPr>
              <a:t>mode switches </a:t>
            </a:r>
            <a:r>
              <a:rPr lang="en-US" altLang="zh-CN" dirty="0"/>
              <a:t>(user to kernel; kernel back to user).</a:t>
            </a:r>
          </a:p>
          <a:p>
            <a:pPr lvl="1"/>
            <a:endParaRPr lang="en-US" altLang="zh-CN" dirty="0"/>
          </a:p>
          <a:p>
            <a:r>
              <a:rPr lang="en-US" altLang="zh-CN" dirty="0"/>
              <a:t>Scheduling can be </a:t>
            </a:r>
            <a:r>
              <a:rPr lang="en-US" altLang="zh-CN" dirty="0">
                <a:solidFill>
                  <a:srgbClr val="FF0000"/>
                </a:solidFill>
              </a:rPr>
              <a:t>application specific</a:t>
            </a:r>
          </a:p>
          <a:p>
            <a:pPr lvl="1"/>
            <a:r>
              <a:rPr lang="en-US" altLang="zh-CN" dirty="0"/>
              <a:t>The scheduling algorithm can be </a:t>
            </a:r>
            <a:r>
              <a:rPr lang="en-US" altLang="zh-CN" dirty="0">
                <a:solidFill>
                  <a:srgbClr val="0070C0"/>
                </a:solidFill>
              </a:rPr>
              <a:t>tailored to the application </a:t>
            </a:r>
            <a:r>
              <a:rPr lang="en-US" altLang="zh-CN" dirty="0"/>
              <a:t>without disturbing the underlying OS scheduler.</a:t>
            </a:r>
          </a:p>
          <a:p>
            <a:pPr lvl="1"/>
            <a:endParaRPr lang="en-US" altLang="zh-CN" dirty="0"/>
          </a:p>
          <a:p>
            <a:r>
              <a:rPr lang="en-US" altLang="zh-CN" dirty="0"/>
              <a:t>ULTs can run on </a:t>
            </a:r>
            <a:r>
              <a:rPr lang="en-US" altLang="zh-CN" dirty="0">
                <a:solidFill>
                  <a:srgbClr val="FF0000"/>
                </a:solidFill>
              </a:rPr>
              <a:t>any OS</a:t>
            </a:r>
          </a:p>
          <a:p>
            <a:pPr lvl="1"/>
            <a:r>
              <a:rPr lang="en-US" altLang="zh-CN" dirty="0">
                <a:solidFill>
                  <a:srgbClr val="0070C0"/>
                </a:solidFill>
              </a:rPr>
              <a:t>No changes </a:t>
            </a:r>
            <a:r>
              <a:rPr lang="en-US" altLang="zh-CN" dirty="0"/>
              <a:t>are required to the underlying kernel to support ULTs. The threads library is a set of </a:t>
            </a:r>
            <a:r>
              <a:rPr lang="en-US" altLang="zh-CN" dirty="0">
                <a:solidFill>
                  <a:srgbClr val="0070C0"/>
                </a:solidFill>
              </a:rPr>
              <a:t>application-level functions shared by all applications.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348861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D62C9C-28E4-45E0-8DB4-E9CC327E36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Disadvantages of ULTs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20E03A-E015-43EC-9DC0-EBD19FBBD4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841103"/>
            <a:ext cx="10639697" cy="5175794"/>
          </a:xfrm>
        </p:spPr>
        <p:txBody>
          <a:bodyPr/>
          <a:lstStyle/>
          <a:p>
            <a:r>
              <a:rPr lang="en-US" altLang="zh-CN" dirty="0"/>
              <a:t>when a ULT executes a system call, not only is that thread blocked, but </a:t>
            </a:r>
            <a:r>
              <a:rPr lang="en-US" altLang="zh-CN" dirty="0">
                <a:solidFill>
                  <a:srgbClr val="FF0000"/>
                </a:solidFill>
              </a:rPr>
              <a:t>all of the threads </a:t>
            </a:r>
            <a:r>
              <a:rPr lang="en-US" altLang="zh-CN" dirty="0"/>
              <a:t>within the process are </a:t>
            </a:r>
            <a:r>
              <a:rPr lang="en-US" altLang="zh-CN" dirty="0">
                <a:solidFill>
                  <a:srgbClr val="FF0000"/>
                </a:solidFill>
              </a:rPr>
              <a:t>blocked (Case 1)</a:t>
            </a:r>
          </a:p>
          <a:p>
            <a:endParaRPr lang="en-US" altLang="zh-CN" dirty="0"/>
          </a:p>
          <a:p>
            <a:r>
              <a:rPr lang="en-US" altLang="zh-CN" dirty="0"/>
              <a:t>In a pure ULT strategy, a multithreaded application </a:t>
            </a:r>
            <a:r>
              <a:rPr lang="en-US" altLang="zh-CN" dirty="0">
                <a:solidFill>
                  <a:srgbClr val="FF0000"/>
                </a:solidFill>
              </a:rPr>
              <a:t>cannot take advantage of multiprocessing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6678482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D62C9C-28E4-45E0-8DB4-E9CC327E36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Kernel-Level Threads (KLTs)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20E03A-E015-43EC-9DC0-EBD19FBBD4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41103"/>
            <a:ext cx="7318829" cy="5175794"/>
          </a:xfrm>
        </p:spPr>
        <p:txBody>
          <a:bodyPr>
            <a:normAutofit/>
          </a:bodyPr>
          <a:lstStyle/>
          <a:p>
            <a:r>
              <a:rPr lang="en-US" altLang="zh-CN" dirty="0"/>
              <a:t>Thread management is done by the kernel</a:t>
            </a:r>
          </a:p>
          <a:p>
            <a:pPr lvl="1"/>
            <a:r>
              <a:rPr lang="en-US" altLang="zh-CN" dirty="0">
                <a:solidFill>
                  <a:srgbClr val="FF0000"/>
                </a:solidFill>
              </a:rPr>
              <a:t>no thread management </a:t>
            </a:r>
            <a:r>
              <a:rPr lang="en-US" altLang="zh-CN" dirty="0"/>
              <a:t>is done by the application</a:t>
            </a:r>
          </a:p>
          <a:p>
            <a:pPr lvl="1"/>
            <a:r>
              <a:rPr lang="en-US" altLang="zh-CN" dirty="0"/>
              <a:t>The </a:t>
            </a:r>
            <a:r>
              <a:rPr lang="en-US" altLang="zh-CN" dirty="0">
                <a:solidFill>
                  <a:srgbClr val="FF0000"/>
                </a:solidFill>
              </a:rPr>
              <a:t>kernel maintains context information </a:t>
            </a:r>
            <a:r>
              <a:rPr lang="en-US" altLang="zh-CN" dirty="0"/>
              <a:t>for the process as a whole and for individual threads within the process. </a:t>
            </a:r>
          </a:p>
          <a:p>
            <a:pPr lvl="1"/>
            <a:r>
              <a:rPr lang="en-US" altLang="zh-CN" dirty="0"/>
              <a:t>Scheduling by the kernel is done on a</a:t>
            </a:r>
            <a:r>
              <a:rPr lang="en-US" altLang="zh-CN" dirty="0">
                <a:solidFill>
                  <a:srgbClr val="FF0000"/>
                </a:solidFill>
              </a:rPr>
              <a:t> thread basis</a:t>
            </a:r>
            <a:r>
              <a:rPr lang="en-US" altLang="zh-CN" dirty="0"/>
              <a:t>.</a:t>
            </a:r>
          </a:p>
          <a:p>
            <a:pPr lvl="1"/>
            <a:endParaRPr lang="en-US" altLang="zh-CN" dirty="0"/>
          </a:p>
          <a:p>
            <a:r>
              <a:rPr lang="en-US" altLang="zh-CN" dirty="0"/>
              <a:t>Examples – virtually all general purpose OS</a:t>
            </a:r>
          </a:p>
          <a:p>
            <a:pPr lvl="1"/>
            <a:r>
              <a:rPr lang="en-US" altLang="zh-CN" dirty="0"/>
              <a:t>Windows </a:t>
            </a:r>
          </a:p>
          <a:p>
            <a:pPr lvl="1"/>
            <a:r>
              <a:rPr lang="en-US" altLang="zh-CN" dirty="0"/>
              <a:t>Solaris</a:t>
            </a:r>
          </a:p>
          <a:p>
            <a:pPr lvl="1"/>
            <a:r>
              <a:rPr lang="en-US" altLang="zh-CN" dirty="0"/>
              <a:t>Linux</a:t>
            </a:r>
          </a:p>
          <a:p>
            <a:pPr lvl="1"/>
            <a:r>
              <a:rPr lang="en-US" altLang="zh-CN" dirty="0"/>
              <a:t>Tru64 UNIX</a:t>
            </a:r>
          </a:p>
          <a:p>
            <a:pPr lvl="1"/>
            <a:r>
              <a:rPr lang="en-US" altLang="zh-CN" dirty="0"/>
              <a:t>Mac OS X</a:t>
            </a:r>
          </a:p>
          <a:p>
            <a:endParaRPr lang="en-US" altLang="zh-CN" dirty="0"/>
          </a:p>
          <a:p>
            <a:pPr marL="457200" lvl="1" indent="0">
              <a:buNone/>
            </a:pPr>
            <a:endParaRPr lang="en-US" altLang="zh-CN" dirty="0"/>
          </a:p>
          <a:p>
            <a:pPr lvl="1"/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D1979528-052C-4D77-B780-0BBD962BE8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6022" y="943428"/>
            <a:ext cx="3384686" cy="4520123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7323867B-AD36-4E62-9D56-36390A631B22}"/>
              </a:ext>
            </a:extLst>
          </p:cNvPr>
          <p:cNvSpPr txBox="1"/>
          <p:nvPr/>
        </p:nvSpPr>
        <p:spPr>
          <a:xfrm>
            <a:off x="9412515" y="2169885"/>
            <a:ext cx="11030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API</a:t>
            </a:r>
          </a:p>
        </p:txBody>
      </p:sp>
    </p:spTree>
    <p:extLst>
      <p:ext uri="{BB962C8B-B14F-4D97-AF65-F5344CB8AC3E}">
        <p14:creationId xmlns:p14="http://schemas.microsoft.com/office/powerpoint/2010/main" val="139799242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D62C9C-28E4-45E0-8DB4-E9CC327E36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Advantages and Disadvantages of KLTs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20E03A-E015-43EC-9DC0-EBD19FBBD4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41103"/>
            <a:ext cx="10515600" cy="2947126"/>
          </a:xfrm>
        </p:spPr>
        <p:txBody>
          <a:bodyPr>
            <a:normAutofit/>
          </a:bodyPr>
          <a:lstStyle/>
          <a:p>
            <a:r>
              <a:rPr lang="en-US" altLang="zh-CN" dirty="0"/>
              <a:t>Adv.</a:t>
            </a:r>
          </a:p>
          <a:p>
            <a:pPr lvl="1"/>
            <a:r>
              <a:rPr lang="en-US" altLang="zh-CN" dirty="0"/>
              <a:t>The kernel can simultaneously schedule </a:t>
            </a:r>
            <a:r>
              <a:rPr lang="en-US" altLang="zh-CN" dirty="0">
                <a:solidFill>
                  <a:srgbClr val="FF0000"/>
                </a:solidFill>
              </a:rPr>
              <a:t>multiple threads </a:t>
            </a:r>
            <a:r>
              <a:rPr lang="en-US" altLang="zh-CN" dirty="0"/>
              <a:t>from the same process on </a:t>
            </a:r>
            <a:r>
              <a:rPr lang="en-US" altLang="zh-CN" dirty="0">
                <a:solidFill>
                  <a:srgbClr val="FF0000"/>
                </a:solidFill>
              </a:rPr>
              <a:t>multiple processors </a:t>
            </a:r>
          </a:p>
          <a:p>
            <a:pPr lvl="1"/>
            <a:r>
              <a:rPr lang="en-US" altLang="zh-CN" dirty="0"/>
              <a:t>If one thread in a process is blocked, the kernel can schedule another thread of the same process</a:t>
            </a:r>
          </a:p>
          <a:p>
            <a:pPr lvl="1"/>
            <a:r>
              <a:rPr lang="en-US" altLang="zh-CN" dirty="0"/>
              <a:t> Kernel routines (</a:t>
            </a:r>
            <a:r>
              <a:rPr lang="zh-CN" altLang="en-US" dirty="0"/>
              <a:t>内核例程</a:t>
            </a:r>
            <a:r>
              <a:rPr lang="en-US" altLang="zh-CN" dirty="0"/>
              <a:t>) can be multithreaded</a:t>
            </a:r>
          </a:p>
          <a:p>
            <a:endParaRPr lang="zh-CN" altLang="en-US" dirty="0"/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43C5C5FD-7BA6-6441-A787-27C6B6905262}"/>
              </a:ext>
            </a:extLst>
          </p:cNvPr>
          <p:cNvSpPr txBox="1">
            <a:spLocks/>
          </p:cNvSpPr>
          <p:nvPr/>
        </p:nvSpPr>
        <p:spPr>
          <a:xfrm>
            <a:off x="838200" y="3788229"/>
            <a:ext cx="10515600" cy="1984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just" defTabSz="685800" rtl="0" eaLnBrk="1" latinLnBrk="0" hangingPunct="1">
              <a:lnSpc>
                <a:spcPct val="100000"/>
              </a:lnSpc>
              <a:spcBef>
                <a:spcPts val="750"/>
              </a:spcBef>
              <a:buFont typeface="Wingdings" panose="05000000000000000000" pitchFamily="2" charset="2"/>
              <a:buChar char="q"/>
              <a:defRPr sz="2400" b="1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514350" indent="-171450" algn="just" defTabSz="685800" rtl="0" eaLnBrk="1" latinLnBrk="0" hangingPunct="1">
              <a:lnSpc>
                <a:spcPct val="10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2pPr>
            <a:lvl3pPr marL="857250" indent="-171450" algn="just" defTabSz="685800" rtl="0" eaLnBrk="1" latinLnBrk="0" hangingPunct="1">
              <a:lnSpc>
                <a:spcPct val="100000"/>
              </a:lnSpc>
              <a:spcBef>
                <a:spcPts val="375"/>
              </a:spcBef>
              <a:buFont typeface="Wingdings" panose="05000000000000000000" pitchFamily="2" charset="2"/>
              <a:buChar char="Ø"/>
              <a:defRPr sz="20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3pPr>
            <a:lvl4pPr marL="1200150" indent="-171450" algn="just" defTabSz="685800" rtl="0" eaLnBrk="1" latinLnBrk="0" hangingPunct="1">
              <a:lnSpc>
                <a:spcPct val="10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4pPr>
            <a:lvl5pPr marL="1543050" indent="-171450" algn="just" defTabSz="685800" rtl="0" eaLnBrk="1" latinLnBrk="0" hangingPunct="1">
              <a:lnSpc>
                <a:spcPct val="10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 err="1"/>
              <a:t>Disadv</a:t>
            </a:r>
            <a:r>
              <a:rPr lang="en-US" altLang="zh-CN" dirty="0"/>
              <a:t>.</a:t>
            </a:r>
          </a:p>
          <a:p>
            <a:pPr lvl="1"/>
            <a:r>
              <a:rPr lang="en-US" altLang="zh-CN" dirty="0"/>
              <a:t>The transfer of control from one thread to another within the same process requires a </a:t>
            </a:r>
            <a:r>
              <a:rPr lang="en-US" altLang="zh-CN" dirty="0">
                <a:solidFill>
                  <a:srgbClr val="FF0000"/>
                </a:solidFill>
              </a:rPr>
              <a:t>mode switch</a:t>
            </a:r>
            <a:r>
              <a:rPr lang="en-US" altLang="zh-CN" dirty="0"/>
              <a:t> to the kernel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701012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D62C9C-28E4-45E0-8DB4-E9CC327E36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Combined Approaches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20E03A-E015-43EC-9DC0-EBD19FBBD4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29903"/>
            <a:ext cx="7041776" cy="4986994"/>
          </a:xfrm>
        </p:spPr>
        <p:txBody>
          <a:bodyPr/>
          <a:lstStyle/>
          <a:p>
            <a:r>
              <a:rPr lang="en-US" altLang="zh-CN" dirty="0"/>
              <a:t>Thread </a:t>
            </a:r>
            <a:r>
              <a:rPr lang="en-US" altLang="zh-CN" dirty="0">
                <a:solidFill>
                  <a:srgbClr val="FF0000"/>
                </a:solidFill>
              </a:rPr>
              <a:t>creation</a:t>
            </a:r>
            <a:r>
              <a:rPr lang="en-US" altLang="zh-CN" dirty="0"/>
              <a:t> is done in the </a:t>
            </a:r>
            <a:r>
              <a:rPr lang="en-US" altLang="zh-CN" dirty="0">
                <a:solidFill>
                  <a:srgbClr val="FF0000"/>
                </a:solidFill>
              </a:rPr>
              <a:t>user space</a:t>
            </a:r>
          </a:p>
          <a:p>
            <a:r>
              <a:rPr lang="en-US" altLang="zh-CN" dirty="0"/>
              <a:t>Bulk of </a:t>
            </a:r>
            <a:r>
              <a:rPr lang="en-US" altLang="zh-CN" dirty="0">
                <a:solidFill>
                  <a:srgbClr val="FF0000"/>
                </a:solidFill>
              </a:rPr>
              <a:t>scheduling and synchronization </a:t>
            </a:r>
            <a:r>
              <a:rPr lang="en-US" altLang="zh-CN" dirty="0"/>
              <a:t>of threads is by the within an application</a:t>
            </a:r>
          </a:p>
          <a:p>
            <a:r>
              <a:rPr lang="en-US" altLang="zh-CN" dirty="0"/>
              <a:t>The </a:t>
            </a:r>
            <a:r>
              <a:rPr lang="en-US" altLang="zh-CN" dirty="0">
                <a:solidFill>
                  <a:srgbClr val="FF0000"/>
                </a:solidFill>
              </a:rPr>
              <a:t>multiple ULTs</a:t>
            </a:r>
            <a:r>
              <a:rPr lang="en-US" altLang="zh-CN" dirty="0"/>
              <a:t> from a single application are mapped onto some (smaller or equal) </a:t>
            </a:r>
            <a:r>
              <a:rPr lang="en-US" altLang="zh-CN" dirty="0">
                <a:solidFill>
                  <a:srgbClr val="FF0000"/>
                </a:solidFill>
              </a:rPr>
              <a:t>number of KLTs</a:t>
            </a:r>
            <a:r>
              <a:rPr lang="en-US" altLang="zh-CN" dirty="0"/>
              <a:t>. </a:t>
            </a:r>
          </a:p>
          <a:p>
            <a:r>
              <a:rPr lang="en-US" altLang="zh-CN" dirty="0"/>
              <a:t>The programmer may </a:t>
            </a:r>
            <a:r>
              <a:rPr lang="en-US" altLang="zh-CN" dirty="0">
                <a:solidFill>
                  <a:srgbClr val="FF0000"/>
                </a:solidFill>
              </a:rPr>
              <a:t>adjust the number of KLTs </a:t>
            </a:r>
            <a:r>
              <a:rPr lang="en-US" altLang="zh-CN" dirty="0"/>
              <a:t>for a particular application and processor to achieve the best overall results.</a:t>
            </a:r>
          </a:p>
          <a:p>
            <a:endParaRPr lang="zh-CN" altLang="en-US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DAC2D2BC-E229-40FF-BBB2-0E35DB2D55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745" y="1170372"/>
            <a:ext cx="3282576" cy="4261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778449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D62C9C-28E4-45E0-8DB4-E9CC327E36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2.7 Multicore / Multithread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20E03A-E015-43EC-9DC0-EBD19FBBD4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41103"/>
            <a:ext cx="10515600" cy="1686944"/>
          </a:xfrm>
        </p:spPr>
        <p:txBody>
          <a:bodyPr>
            <a:normAutofit/>
          </a:bodyPr>
          <a:lstStyle/>
          <a:p>
            <a:pPr marL="228600" lvl="1" indent="-228600">
              <a:buFont typeface="Wingdings" panose="05000000000000000000" pitchFamily="2" charset="2"/>
              <a:buChar char="q"/>
            </a:pPr>
            <a:r>
              <a:rPr lang="en-US" altLang="zh-CN" sz="2400" b="1" dirty="0"/>
              <a:t>The potential performance benefits of a multicore organization depend on the ability to effectively exploit the parallel resources available to the application.</a:t>
            </a:r>
          </a:p>
          <a:p>
            <a:pPr marL="228600" lvl="1" indent="-228600">
              <a:buFont typeface="Wingdings" panose="05000000000000000000" pitchFamily="2" charset="2"/>
              <a:buChar char="q"/>
            </a:pPr>
            <a:r>
              <a:rPr lang="en-US" altLang="zh-CN" sz="2400" b="1" dirty="0"/>
              <a:t>A single application running on a multicore system</a:t>
            </a:r>
          </a:p>
          <a:p>
            <a:pPr marL="228600" lvl="1" indent="-228600">
              <a:buFont typeface="Wingdings" panose="05000000000000000000" pitchFamily="2" charset="2"/>
              <a:buChar char="q"/>
            </a:pPr>
            <a:endParaRPr lang="en-US" altLang="zh-CN" sz="2400" b="1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3659FD3-E70D-4B24-9AF7-BB7429CB30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8257" y="3281087"/>
            <a:ext cx="9548132" cy="1268386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BFD1F197-5E85-45FA-BD6A-E64C3EDD5A62}"/>
              </a:ext>
            </a:extLst>
          </p:cNvPr>
          <p:cNvSpPr txBox="1"/>
          <p:nvPr/>
        </p:nvSpPr>
        <p:spPr>
          <a:xfrm>
            <a:off x="1322855" y="4755024"/>
            <a:ext cx="1031893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i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Microsoft YaHei UI" panose="020B0503020204020204" pitchFamily="34" charset="-122"/>
                <a:cs typeface="Times New Roman" panose="02020603050405020304" pitchFamily="18" charset="0"/>
              </a:rPr>
              <a:t>1-</a:t>
            </a:r>
            <a:r>
              <a:rPr lang="en-US" altLang="zh-CN" sz="2000" b="1" i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Microsoft YaHei UI" panose="020B0503020204020204" pitchFamily="34" charset="-122"/>
                <a:cs typeface="Times New Roman" panose="02020603050405020304" pitchFamily="18" charset="0"/>
              </a:rPr>
              <a:t>f</a:t>
            </a:r>
            <a:r>
              <a:rPr lang="zh-CN" altLang="en-US" sz="2000" dirty="0">
                <a:solidFill>
                  <a:srgbClr val="231F20"/>
                </a:solidFill>
                <a:effectLst/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：</a:t>
            </a:r>
            <a:r>
              <a:rPr lang="en-US" altLang="zh-CN" sz="2000" dirty="0">
                <a:solidFill>
                  <a:srgbClr val="231F20"/>
                </a:solidFill>
                <a:effectLst/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 fraction of </a:t>
            </a:r>
            <a:r>
              <a:rPr lang="en-US" sz="2000" dirty="0">
                <a:solidFill>
                  <a:srgbClr val="231F20"/>
                </a:solidFill>
                <a:effectLst/>
                <a:latin typeface="Microsoft YaHei UI" panose="020B0503020204020204" pitchFamily="34" charset="-122"/>
                <a:ea typeface="Microsoft YaHei UI" panose="020B0503020204020204" pitchFamily="34" charset="-122"/>
              </a:rPr>
              <a:t>the </a:t>
            </a:r>
            <a:r>
              <a:rPr lang="en-US" sz="2000" dirty="0">
                <a:solidFill>
                  <a:srgbClr val="FF0000"/>
                </a:solidFill>
                <a:effectLst/>
                <a:latin typeface="Microsoft YaHei UI" panose="020B0503020204020204" pitchFamily="34" charset="-122"/>
                <a:ea typeface="Microsoft YaHei UI" panose="020B0503020204020204" pitchFamily="34" charset="-122"/>
              </a:rPr>
              <a:t>serial</a:t>
            </a:r>
            <a:r>
              <a:rPr lang="en-US" sz="2000" dirty="0">
                <a:solidFill>
                  <a:srgbClr val="231F20"/>
                </a:solidFill>
                <a:effectLst/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execution time</a:t>
            </a:r>
          </a:p>
          <a:p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ea typeface="Microsoft YaHei UI" panose="020B0503020204020204" pitchFamily="34" charset="-122"/>
                <a:cs typeface="Times New Roman" panose="02020603050405020304" pitchFamily="18" charset="0"/>
              </a:rPr>
              <a:t>f </a:t>
            </a:r>
            <a:r>
              <a:rPr lang="en-US" sz="2000" dirty="0">
                <a:solidFill>
                  <a:srgbClr val="231F2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: </a:t>
            </a:r>
            <a:r>
              <a:rPr lang="en-US" sz="2000" dirty="0">
                <a:solidFill>
                  <a:srgbClr val="231F20"/>
                </a:solidFill>
                <a:effectLst/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 </a:t>
            </a:r>
            <a:r>
              <a:rPr lang="en-US" sz="2000" dirty="0">
                <a:effectLst/>
                <a:latin typeface="Microsoft YaHei UI" panose="020B0503020204020204" pitchFamily="34" charset="-122"/>
                <a:ea typeface="Microsoft YaHei UI" panose="020B0503020204020204" pitchFamily="34" charset="-122"/>
              </a:rPr>
              <a:t>fraction</a:t>
            </a:r>
            <a:r>
              <a:rPr lang="en-US" sz="2000" dirty="0">
                <a:solidFill>
                  <a:srgbClr val="FF0000"/>
                </a:solidFill>
                <a:effectLst/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</a:t>
            </a:r>
            <a:r>
              <a:rPr lang="en-US" altLang="zh-CN" sz="2000" dirty="0">
                <a:solidFill>
                  <a:srgbClr val="231F20"/>
                </a:solidFill>
                <a:effectLst/>
                <a:latin typeface="Microsoft YaHei UI" panose="020B0503020204020204" pitchFamily="34" charset="-122"/>
                <a:ea typeface="Microsoft YaHei UI" panose="020B0503020204020204" pitchFamily="34" charset="-122"/>
              </a:rPr>
              <a:t>of </a:t>
            </a:r>
            <a:r>
              <a:rPr lang="en-US" sz="2000" dirty="0">
                <a:solidFill>
                  <a:srgbClr val="231F20"/>
                </a:solidFill>
                <a:effectLst/>
                <a:latin typeface="Microsoft YaHei UI" panose="020B0503020204020204" pitchFamily="34" charset="-122"/>
                <a:ea typeface="Microsoft YaHei UI" panose="020B0503020204020204" pitchFamily="34" charset="-122"/>
              </a:rPr>
              <a:t>the </a:t>
            </a:r>
            <a:r>
              <a:rPr lang="en-US" sz="2000" dirty="0">
                <a:solidFill>
                  <a:srgbClr val="FF0000"/>
                </a:solidFill>
                <a:effectLst/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parallelizable</a:t>
            </a:r>
            <a:r>
              <a:rPr lang="en-US" sz="2000" dirty="0">
                <a:solidFill>
                  <a:srgbClr val="231F20"/>
                </a:solidFill>
                <a:effectLst/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execution time with no scheduling overhead</a:t>
            </a:r>
            <a:endParaRPr lang="en-US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20B74AE-D823-431C-B2FD-C31DB0BCBD5A}"/>
              </a:ext>
            </a:extLst>
          </p:cNvPr>
          <p:cNvSpPr txBox="1"/>
          <p:nvPr/>
        </p:nvSpPr>
        <p:spPr>
          <a:xfrm>
            <a:off x="1134036" y="2704512"/>
            <a:ext cx="409687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Amdahl’s Law (</a:t>
            </a:r>
            <a:r>
              <a:rPr lang="zh-CN" altLang="en-US" sz="2000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阿姆达尔定律</a:t>
            </a:r>
            <a:r>
              <a:rPr lang="en-US" altLang="zh-CN" sz="2000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)</a:t>
            </a:r>
            <a:endParaRPr lang="en-US" sz="2000" dirty="0">
              <a:solidFill>
                <a:srgbClr val="FF0000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9482335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D62C9C-28E4-45E0-8DB4-E9CC327E36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Performance Effect of Multiple Cores</a:t>
            </a:r>
            <a:endParaRPr lang="zh-CN" altLang="en-US" dirty="0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26A5A090-F433-486B-A389-3F7BB9F94B65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 bwMode="auto">
          <a:xfrm>
            <a:off x="833922" y="1447800"/>
            <a:ext cx="4826000" cy="396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6">
            <a:extLst>
              <a:ext uri="{FF2B5EF4-FFF2-40B4-BE49-F238E27FC236}">
                <a16:creationId xmlns:a16="http://schemas.microsoft.com/office/drawing/2014/main" id="{2C061225-7D49-4988-9554-793CC45F7E02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290861" y="1447800"/>
            <a:ext cx="5525299" cy="4215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67251F8-C84C-4B54-856D-5DB9693488B8}"/>
              </a:ext>
            </a:extLst>
          </p:cNvPr>
          <p:cNvSpPr/>
          <p:nvPr/>
        </p:nvSpPr>
        <p:spPr>
          <a:xfrm>
            <a:off x="2531661" y="5509370"/>
            <a:ext cx="22098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/>
              <a:t>Figure 4.7 (a)</a:t>
            </a: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CABD4B0F-5F7C-480F-ACDF-4F5412751E35}"/>
              </a:ext>
            </a:extLst>
          </p:cNvPr>
          <p:cNvSpPr/>
          <p:nvPr/>
        </p:nvSpPr>
        <p:spPr>
          <a:xfrm>
            <a:off x="8391810" y="5709425"/>
            <a:ext cx="23622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/>
              <a:t>Figure 4.7 (b) </a:t>
            </a:r>
          </a:p>
        </p:txBody>
      </p:sp>
    </p:spTree>
    <p:extLst>
      <p:ext uri="{BB962C8B-B14F-4D97-AF65-F5344CB8AC3E}">
        <p14:creationId xmlns:p14="http://schemas.microsoft.com/office/powerpoint/2010/main" val="240275861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284D6A-15D6-4DA3-8373-DC7597CB82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Nesting of Scheduling Functions</a:t>
            </a:r>
            <a:endParaRPr lang="zh-CN" altLang="en-US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46E59A87-1600-4F71-BD52-97D25E2FF1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621" y="841103"/>
            <a:ext cx="3154280" cy="5427161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F1FDD7B1-3815-4205-81CC-F36779305B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6688" y="1222064"/>
            <a:ext cx="6807145" cy="4173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006751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284D6A-15D6-4DA3-8373-DC7597CB82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2.8</a:t>
            </a:r>
            <a:r>
              <a:rPr lang="zh-CN" altLang="en-US" dirty="0"/>
              <a:t> </a:t>
            </a:r>
            <a:r>
              <a:rPr lang="en-US" altLang="zh-CN" dirty="0"/>
              <a:t>Short Term Scheduling Criteria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5AAF1E7-7DFD-420F-85D5-4414E74DCF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User-oriented</a:t>
            </a:r>
            <a:endParaRPr lang="en-US" altLang="zh-CN" dirty="0"/>
          </a:p>
          <a:p>
            <a:pPr lvl="1"/>
            <a:r>
              <a:rPr lang="en-US" altLang="zh-CN" dirty="0"/>
              <a:t>relate to the behavior of the system as perceived </a:t>
            </a:r>
            <a:r>
              <a:rPr lang="zh-CN" altLang="en-US" dirty="0"/>
              <a:t>（感知）</a:t>
            </a:r>
            <a:r>
              <a:rPr lang="en-US" altLang="zh-CN" dirty="0"/>
              <a:t>by the individual user or process (such as </a:t>
            </a:r>
            <a:r>
              <a:rPr lang="en-US" altLang="zh-CN" dirty="0">
                <a:solidFill>
                  <a:srgbClr val="FF0000"/>
                </a:solidFill>
              </a:rPr>
              <a:t>response time </a:t>
            </a:r>
            <a:r>
              <a:rPr lang="en-US" altLang="zh-CN" dirty="0"/>
              <a:t>in an interactive system)</a:t>
            </a:r>
          </a:p>
          <a:p>
            <a:pPr lvl="1"/>
            <a:r>
              <a:rPr lang="en-US" altLang="zh-CN" dirty="0">
                <a:solidFill>
                  <a:srgbClr val="FF0000"/>
                </a:solidFill>
              </a:rPr>
              <a:t>important</a:t>
            </a:r>
            <a:r>
              <a:rPr lang="en-US" altLang="zh-CN" dirty="0"/>
              <a:t> on virtually all systems</a:t>
            </a:r>
          </a:p>
          <a:p>
            <a:r>
              <a:rPr lang="en-US" altLang="zh-CN" dirty="0">
                <a:solidFill>
                  <a:srgbClr val="FF0000"/>
                </a:solidFill>
              </a:rPr>
              <a:t>System-oriented</a:t>
            </a:r>
          </a:p>
          <a:p>
            <a:pPr lvl="1"/>
            <a:r>
              <a:rPr lang="en-US" altLang="zh-CN" dirty="0"/>
              <a:t>focus in on effective and efficient utilization of the processor (rate at which processes are completed)</a:t>
            </a:r>
          </a:p>
          <a:p>
            <a:pPr lvl="1"/>
            <a:r>
              <a:rPr lang="en-US" altLang="zh-CN" dirty="0"/>
              <a:t>generally of </a:t>
            </a:r>
            <a:r>
              <a:rPr lang="en-US" altLang="zh-CN" dirty="0">
                <a:solidFill>
                  <a:srgbClr val="FF0000"/>
                </a:solidFill>
              </a:rPr>
              <a:t>minor importance </a:t>
            </a:r>
            <a:r>
              <a:rPr lang="en-US" altLang="zh-CN" dirty="0"/>
              <a:t>on single-user systems</a:t>
            </a:r>
          </a:p>
          <a:p>
            <a:r>
              <a:rPr lang="en-US" altLang="zh-CN" dirty="0">
                <a:solidFill>
                  <a:srgbClr val="0070C0"/>
                </a:solidFill>
              </a:rPr>
              <a:t>Performance-related</a:t>
            </a:r>
            <a:r>
              <a:rPr lang="en-US" altLang="zh-CN" dirty="0"/>
              <a:t> (examples: response time, throughput)</a:t>
            </a:r>
          </a:p>
          <a:p>
            <a:pPr lvl="1"/>
            <a:r>
              <a:rPr lang="en-US" altLang="zh-CN" dirty="0"/>
              <a:t>quantitative</a:t>
            </a:r>
          </a:p>
          <a:p>
            <a:pPr lvl="1"/>
            <a:r>
              <a:rPr lang="en-US" altLang="zh-CN" dirty="0"/>
              <a:t>easily measured</a:t>
            </a:r>
          </a:p>
          <a:p>
            <a:r>
              <a:rPr lang="en-US" altLang="zh-CN" dirty="0">
                <a:solidFill>
                  <a:srgbClr val="0070C0"/>
                </a:solidFill>
              </a:rPr>
              <a:t>Non-performance related </a:t>
            </a:r>
            <a:r>
              <a:rPr lang="en-US" altLang="zh-CN" dirty="0"/>
              <a:t>(examples: predictability,</a:t>
            </a:r>
            <a:r>
              <a:rPr lang="zh-CN" altLang="en-US" dirty="0"/>
              <a:t> </a:t>
            </a:r>
            <a:r>
              <a:rPr lang="en-US" b="1" i="0" dirty="0">
                <a:solidFill>
                  <a:srgbClr val="000000"/>
                </a:solidFill>
                <a:effectLst/>
                <a:latin typeface="Inter"/>
              </a:rPr>
              <a:t>Fairness</a:t>
            </a:r>
            <a:r>
              <a:rPr lang="en-US" altLang="zh-CN" dirty="0"/>
              <a:t>)</a:t>
            </a:r>
          </a:p>
          <a:p>
            <a:pPr lvl="1"/>
            <a:r>
              <a:rPr lang="en-US" altLang="zh-CN" dirty="0"/>
              <a:t>Qualitative (</a:t>
            </a:r>
            <a:r>
              <a:rPr lang="zh-CN" altLang="en-US" dirty="0"/>
              <a:t>定性的</a:t>
            </a:r>
            <a:r>
              <a:rPr lang="en-US" altLang="zh-CN" dirty="0"/>
              <a:t>)</a:t>
            </a:r>
          </a:p>
          <a:p>
            <a:pPr lvl="1"/>
            <a:r>
              <a:rPr lang="en-US" altLang="zh-CN" dirty="0"/>
              <a:t>hard to measure</a:t>
            </a:r>
          </a:p>
          <a:p>
            <a:pPr lvl="1"/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35746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284D6A-15D6-4DA3-8373-DC7597CB82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Alternative Scheduling Policies</a:t>
            </a:r>
            <a:endParaRPr lang="zh-CN" altLang="en-US" dirty="0"/>
          </a:p>
        </p:txBody>
      </p:sp>
      <p:pic>
        <p:nvPicPr>
          <p:cNvPr id="6" name="图片 10">
            <a:extLst>
              <a:ext uri="{FF2B5EF4-FFF2-40B4-BE49-F238E27FC236}">
                <a16:creationId xmlns:a16="http://schemas.microsoft.com/office/drawing/2014/main" id="{D5D24556-8DF4-DA44-AECB-B2C08DFAFE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0622" y="802603"/>
            <a:ext cx="7210756" cy="5427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408808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295BB6-C404-E334-0023-515B420C82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F9BFA0-1BC2-EE34-C90F-49AC6C2ACC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02ABF21-11C2-ABF6-4176-EF10A1A53D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41103"/>
            <a:ext cx="11049000" cy="5175794"/>
          </a:xfrm>
        </p:spPr>
        <p:txBody>
          <a:bodyPr>
            <a:normAutofit/>
          </a:bodyPr>
          <a:lstStyle/>
          <a:p>
            <a:r>
              <a:rPr lang="en-US" altLang="zh-CN" sz="2000" dirty="0"/>
              <a:t>Consider the following set of processes are to be executed in a uniprocessor system. </a:t>
            </a:r>
          </a:p>
          <a:p>
            <a:pPr marL="0" indent="0">
              <a:buNone/>
            </a:pPr>
            <a:r>
              <a:rPr lang="en-US" altLang="zh-CN" sz="2000" dirty="0"/>
              <a:t>Assume the </a:t>
            </a:r>
            <a:r>
              <a:rPr lang="en-US" altLang="zh-CN" sz="2000" dirty="0">
                <a:solidFill>
                  <a:srgbClr val="C00000"/>
                </a:solidFill>
              </a:rPr>
              <a:t>overhead of context switching is one time unit</a:t>
            </a:r>
            <a:r>
              <a:rPr lang="en-US" altLang="zh-CN" sz="2000" dirty="0"/>
              <a:t>. For each of the following scheduling methods (Note: Assume that once the next process is selected, a newly arriving process during the 1-unit context switch will not change that selection): </a:t>
            </a:r>
            <a:endParaRPr lang="zh-CN" altLang="zh-CN" sz="2000" dirty="0"/>
          </a:p>
          <a:p>
            <a:pPr marL="0" indent="0">
              <a:buNone/>
            </a:pPr>
            <a:r>
              <a:rPr lang="en-US" altLang="zh-CN" sz="2000" dirty="0"/>
              <a:t>(1) First Come First Serviced - FCFS; (2) Shortest Process Next - SPN; (3) Shortest Remaining Time next – SRT; (4) Round Robin - </a:t>
            </a:r>
            <a:r>
              <a:rPr lang="en-US" altLang="zh-CN" sz="2000" dirty="0">
                <a:solidFill>
                  <a:srgbClr val="C00000"/>
                </a:solidFill>
              </a:rPr>
              <a:t>RR with q=3</a:t>
            </a:r>
            <a:r>
              <a:rPr lang="en-US" altLang="zh-CN" sz="2000" dirty="0"/>
              <a:t>; answer the following questions:</a:t>
            </a:r>
            <a:endParaRPr lang="zh-CN" altLang="zh-CN" sz="2000" dirty="0"/>
          </a:p>
          <a:p>
            <a:pPr lvl="0" fontAlgn="auto">
              <a:buFont typeface="Arial" panose="020B0604020202020204" pitchFamily="34" charset="0"/>
              <a:buChar char="•"/>
            </a:pPr>
            <a:r>
              <a:rPr lang="en-US" altLang="zh-CN" sz="2000" dirty="0"/>
              <a:t>Draw a timing chart to illustrate the execution sequence, </a:t>
            </a:r>
            <a:endParaRPr lang="zh-CN" altLang="zh-CN" sz="2000" dirty="0"/>
          </a:p>
          <a:p>
            <a:pPr lvl="0" fontAlgn="auto">
              <a:buFont typeface="Arial" panose="020B0604020202020204" pitchFamily="34" charset="0"/>
              <a:buChar char="•"/>
            </a:pPr>
            <a:r>
              <a:rPr lang="en-US" altLang="zh-CN" sz="2000" dirty="0"/>
              <a:t>Calculate the average turnaround time.</a:t>
            </a:r>
            <a:endParaRPr lang="zh-CN" altLang="zh-CN" sz="2000" dirty="0"/>
          </a:p>
          <a:p>
            <a:pPr marL="0" indent="0">
              <a:buNone/>
            </a:pPr>
            <a:endParaRPr lang="zh-CN" altLang="zh-CN" sz="2000" dirty="0"/>
          </a:p>
          <a:p>
            <a:endParaRPr lang="zh-CN" altLang="en-US" sz="20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6E809AE-B1D6-0FAF-CEF5-53C4028B5B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3D444-7193-46AD-90E8-D84AE4B61CFF}" type="slidenum">
              <a:rPr lang="en-US" smtClean="0"/>
              <a:pPr/>
              <a:t>45</a:t>
            </a:fld>
            <a:r>
              <a:rPr lang="en-US"/>
              <a:t>/114</a:t>
            </a:r>
            <a:endParaRPr lang="en-US" dirty="0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F143186-D124-6DD2-2398-B220B9E379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6D1B6-B1AF-7D4D-A84B-F73F4DDF98DE}" type="datetime1">
              <a:rPr lang="zh-CN" altLang="en-US" smtClean="0"/>
              <a:t>2026/6/19</a:t>
            </a:fld>
            <a:endParaRPr lang="zh-CN" altLang="en-US" dirty="0"/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489ECBAF-D011-6C0F-8022-B27A7C7853A1}"/>
              </a:ext>
            </a:extLst>
          </p:cNvPr>
          <p:cNvGraphicFramePr>
            <a:graphicFrameLocks noGrp="1"/>
          </p:cNvGraphicFramePr>
          <p:nvPr/>
        </p:nvGraphicFramePr>
        <p:xfrm>
          <a:off x="6769908" y="4500586"/>
          <a:ext cx="4979640" cy="217060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680660">
                  <a:extLst>
                    <a:ext uri="{9D8B030D-6E8A-4147-A177-3AD203B41FA5}">
                      <a16:colId xmlns:a16="http://schemas.microsoft.com/office/drawing/2014/main" val="1734377311"/>
                    </a:ext>
                  </a:extLst>
                </a:gridCol>
                <a:gridCol w="1531877">
                  <a:extLst>
                    <a:ext uri="{9D8B030D-6E8A-4147-A177-3AD203B41FA5}">
                      <a16:colId xmlns:a16="http://schemas.microsoft.com/office/drawing/2014/main" val="691860432"/>
                    </a:ext>
                  </a:extLst>
                </a:gridCol>
                <a:gridCol w="1767103">
                  <a:extLst>
                    <a:ext uri="{9D8B030D-6E8A-4147-A177-3AD203B41FA5}">
                      <a16:colId xmlns:a16="http://schemas.microsoft.com/office/drawing/2014/main" val="3657108404"/>
                    </a:ext>
                  </a:extLst>
                </a:gridCol>
              </a:tblGrid>
              <a:tr h="361767"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buNone/>
                      </a:pPr>
                      <a:r>
                        <a:rPr lang="en-US" sz="1800" kern="100">
                          <a:effectLst/>
                        </a:rPr>
                        <a:t>Process Name</a:t>
                      </a:r>
                      <a:endParaRPr lang="zh-CN" sz="1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buNone/>
                      </a:pPr>
                      <a:r>
                        <a:rPr lang="en-US" sz="1800" kern="100">
                          <a:effectLst/>
                        </a:rPr>
                        <a:t>Arrival Time</a:t>
                      </a:r>
                      <a:endParaRPr lang="zh-CN" sz="1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buNone/>
                      </a:pPr>
                      <a:r>
                        <a:rPr lang="en-US" sz="1800" kern="100">
                          <a:effectLst/>
                        </a:rPr>
                        <a:t>Service Time</a:t>
                      </a:r>
                      <a:endParaRPr lang="zh-CN" sz="1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31360158"/>
                  </a:ext>
                </a:extLst>
              </a:tr>
              <a:tr h="361767"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buNone/>
                      </a:pPr>
                      <a:r>
                        <a:rPr lang="en-US" sz="1800" kern="100">
                          <a:effectLst/>
                        </a:rPr>
                        <a:t>A</a:t>
                      </a:r>
                      <a:endParaRPr lang="zh-CN" sz="1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buNone/>
                      </a:pPr>
                      <a:r>
                        <a:rPr lang="en-US" sz="1800" kern="100">
                          <a:effectLst/>
                        </a:rPr>
                        <a:t>0</a:t>
                      </a:r>
                      <a:endParaRPr lang="zh-CN" sz="1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buNone/>
                      </a:pPr>
                      <a:r>
                        <a:rPr lang="en-US" sz="1800" kern="100">
                          <a:effectLst/>
                        </a:rPr>
                        <a:t>4</a:t>
                      </a:r>
                      <a:endParaRPr lang="zh-CN" sz="1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61044314"/>
                  </a:ext>
                </a:extLst>
              </a:tr>
              <a:tr h="361767"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buNone/>
                      </a:pPr>
                      <a:r>
                        <a:rPr lang="en-US" sz="1800" kern="100" dirty="0">
                          <a:effectLst/>
                        </a:rPr>
                        <a:t>B</a:t>
                      </a:r>
                      <a:endParaRPr lang="zh-CN" sz="18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buNone/>
                      </a:pPr>
                      <a:r>
                        <a:rPr lang="en-US" sz="1800" kern="100" dirty="0">
                          <a:effectLst/>
                        </a:rPr>
                        <a:t>1</a:t>
                      </a:r>
                      <a:endParaRPr lang="zh-CN" sz="18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buNone/>
                      </a:pPr>
                      <a:r>
                        <a:rPr lang="en-US" sz="1800" kern="100">
                          <a:effectLst/>
                        </a:rPr>
                        <a:t>8</a:t>
                      </a:r>
                      <a:endParaRPr lang="zh-CN" sz="1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29906224"/>
                  </a:ext>
                </a:extLst>
              </a:tr>
              <a:tr h="361767"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buNone/>
                      </a:pPr>
                      <a:r>
                        <a:rPr lang="en-US" sz="1800" kern="100" dirty="0">
                          <a:effectLst/>
                        </a:rPr>
                        <a:t>C</a:t>
                      </a:r>
                      <a:endParaRPr lang="zh-CN" sz="18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buNone/>
                      </a:pPr>
                      <a:r>
                        <a:rPr lang="en-US" sz="1800" kern="100" dirty="0">
                          <a:effectLst/>
                        </a:rPr>
                        <a:t>3</a:t>
                      </a:r>
                      <a:endParaRPr lang="zh-CN" sz="18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buNone/>
                      </a:pPr>
                      <a:r>
                        <a:rPr lang="en-US" sz="1800" kern="100" dirty="0">
                          <a:effectLst/>
                        </a:rPr>
                        <a:t>2</a:t>
                      </a:r>
                      <a:endParaRPr lang="zh-CN" sz="18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64093824"/>
                  </a:ext>
                </a:extLst>
              </a:tr>
              <a:tr h="361767"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buNone/>
                      </a:pPr>
                      <a:r>
                        <a:rPr lang="en-US" sz="1800" kern="100">
                          <a:effectLst/>
                        </a:rPr>
                        <a:t>D</a:t>
                      </a:r>
                      <a:endParaRPr lang="zh-CN" sz="1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buNone/>
                      </a:pPr>
                      <a:r>
                        <a:rPr lang="en-US" sz="1800" kern="100" dirty="0">
                          <a:effectLst/>
                        </a:rPr>
                        <a:t>10</a:t>
                      </a:r>
                      <a:endParaRPr lang="zh-CN" sz="18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buNone/>
                      </a:pPr>
                      <a:r>
                        <a:rPr lang="en-US" sz="1800" kern="100">
                          <a:effectLst/>
                        </a:rPr>
                        <a:t>3</a:t>
                      </a:r>
                      <a:endParaRPr lang="zh-CN" sz="1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15954675"/>
                  </a:ext>
                </a:extLst>
              </a:tr>
              <a:tr h="361767"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buNone/>
                      </a:pPr>
                      <a:r>
                        <a:rPr lang="en-US" sz="1800" kern="100">
                          <a:effectLst/>
                        </a:rPr>
                        <a:t>E</a:t>
                      </a:r>
                      <a:endParaRPr lang="zh-CN" sz="1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buNone/>
                      </a:pPr>
                      <a:r>
                        <a:rPr lang="en-US" sz="1800" kern="100" dirty="0">
                          <a:effectLst/>
                        </a:rPr>
                        <a:t>14</a:t>
                      </a:r>
                      <a:endParaRPr lang="zh-CN" sz="18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buNone/>
                      </a:pPr>
                      <a:r>
                        <a:rPr lang="en-US" sz="1800" kern="100" dirty="0">
                          <a:effectLst/>
                        </a:rPr>
                        <a:t>5</a:t>
                      </a:r>
                      <a:endParaRPr lang="zh-CN" sz="18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786651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5813509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284D6A-15D6-4DA3-8373-DC7597CB82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Feedback Scheduling</a:t>
            </a:r>
            <a:endParaRPr lang="zh-CN" altLang="en-US" dirty="0"/>
          </a:p>
        </p:txBody>
      </p:sp>
      <p:pic>
        <p:nvPicPr>
          <p:cNvPr id="4" name="Content Placeholder 3" descr="Fig09_10.gif">
            <a:extLst>
              <a:ext uri="{FF2B5EF4-FFF2-40B4-BE49-F238E27FC236}">
                <a16:creationId xmlns:a16="http://schemas.microsoft.com/office/drawing/2014/main" id="{0A063D91-DC6B-454A-8427-ACC04E971E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 bwMode="auto">
          <a:xfrm>
            <a:off x="5957917" y="841375"/>
            <a:ext cx="5721003" cy="517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CDBC61B0-638C-4919-8807-B17EF6E518AD}"/>
              </a:ext>
            </a:extLst>
          </p:cNvPr>
          <p:cNvSpPr txBox="1"/>
          <p:nvPr/>
        </p:nvSpPr>
        <p:spPr>
          <a:xfrm>
            <a:off x="513080" y="1224854"/>
            <a:ext cx="5516519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b="1" dirty="0">
                <a:solidFill>
                  <a:srgbClr val="231F20"/>
                </a:solidFill>
                <a:effectLst/>
                <a:latin typeface="Microsoft YaHei UI" panose="020B0503020204020204" pitchFamily="34" charset="-122"/>
                <a:ea typeface="Microsoft YaHei UI" panose="020B0503020204020204" pitchFamily="34" charset="-122"/>
              </a:rPr>
              <a:t>If we have </a:t>
            </a:r>
            <a:r>
              <a:rPr lang="en-US" sz="2000" b="1" dirty="0">
                <a:solidFill>
                  <a:srgbClr val="FF0000"/>
                </a:solidFill>
                <a:effectLst/>
                <a:latin typeface="Microsoft YaHei UI" panose="020B0503020204020204" pitchFamily="34" charset="-122"/>
                <a:ea typeface="Microsoft YaHei UI" panose="020B0503020204020204" pitchFamily="34" charset="-122"/>
              </a:rPr>
              <a:t>no indication </a:t>
            </a:r>
            <a:r>
              <a:rPr lang="en-US" sz="2000" b="1" dirty="0">
                <a:solidFill>
                  <a:srgbClr val="231F20"/>
                </a:solidFill>
                <a:effectLst/>
                <a:latin typeface="Microsoft YaHei UI" panose="020B0503020204020204" pitchFamily="34" charset="-122"/>
                <a:ea typeface="Microsoft YaHei UI" panose="020B0503020204020204" pitchFamily="34" charset="-122"/>
              </a:rPr>
              <a:t>of the relative length of various processes, then none of SPN, SRT, and HRRN can be used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US" sz="2000" b="1" dirty="0">
              <a:solidFill>
                <a:srgbClr val="231F20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b="1" dirty="0">
                <a:solidFill>
                  <a:srgbClr val="231F2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FB: </a:t>
            </a:r>
            <a:r>
              <a:rPr lang="en-US" sz="2000" b="1" dirty="0">
                <a:solidFill>
                  <a:srgbClr val="231F20"/>
                </a:solidFill>
                <a:effectLst/>
                <a:latin typeface="Microsoft YaHei UI" panose="020B0503020204020204" pitchFamily="34" charset="-122"/>
                <a:ea typeface="Microsoft YaHei UI" panose="020B0503020204020204" pitchFamily="34" charset="-122"/>
              </a:rPr>
              <a:t>When a process first enters the system, it is placed in RQ0. After its first preemption, when it returns to the Ready state, it is placed in RQ1.</a:t>
            </a:r>
          </a:p>
          <a:p>
            <a:pPr marL="800100" lvl="1" indent="-342900">
              <a:buFont typeface="Wingdings" panose="05000000000000000000" pitchFamily="2" charset="2"/>
              <a:buChar char="q"/>
            </a:pPr>
            <a:r>
              <a:rPr 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 </a:t>
            </a:r>
            <a:r>
              <a:rPr lang="en-US" sz="2000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preference for shorter jobs</a:t>
            </a:r>
          </a:p>
          <a:p>
            <a:pPr marL="800100" lvl="1" indent="-342900"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rgbClr val="231F20"/>
                </a:solidFill>
                <a:effectLst/>
                <a:latin typeface="Microsoft YaHei UI" panose="020B0503020204020204" pitchFamily="34" charset="-122"/>
                <a:ea typeface="Microsoft YaHei UI" panose="020B0503020204020204" pitchFamily="34" charset="-122"/>
              </a:rPr>
              <a:t>focus on the time spent in execution so far</a:t>
            </a:r>
            <a:endParaRPr lang="en-US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r>
              <a:rPr lang="en-US" sz="2000" dirty="0">
                <a:solidFill>
                  <a:srgbClr val="231F20"/>
                </a:solidFill>
                <a:effectLst/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</a:t>
            </a:r>
            <a:endParaRPr lang="en-US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endParaRPr lang="en-US" sz="2000" b="1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4450365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284D6A-15D6-4DA3-8373-DC7597CB82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Comparison of Scheduling Policies</a:t>
            </a:r>
            <a:endParaRPr lang="zh-CN" alt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B7B1FDD-328D-4684-B5A3-A18DD39E765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1825959" y="791791"/>
            <a:ext cx="4501750" cy="54595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15007CF-E3D3-AF48-A994-A27B6AE94060}"/>
              </a:ext>
            </a:extLst>
          </p:cNvPr>
          <p:cNvSpPr txBox="1"/>
          <p:nvPr/>
        </p:nvSpPr>
        <p:spPr>
          <a:xfrm>
            <a:off x="7084193" y="3244334"/>
            <a:ext cx="3869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T_r</a:t>
            </a:r>
            <a:r>
              <a:rPr lang="en-US" altLang="zh-CN" dirty="0"/>
              <a:t>/T_s</a:t>
            </a:r>
            <a:r>
              <a:rPr lang="zh-CN" altLang="en-US" dirty="0"/>
              <a:t> ：</a:t>
            </a:r>
            <a:r>
              <a:rPr lang="en-US" altLang="zh-CN" dirty="0"/>
              <a:t>Normalized</a:t>
            </a:r>
            <a:r>
              <a:rPr lang="zh-CN" altLang="en-US" dirty="0"/>
              <a:t> </a:t>
            </a:r>
            <a:r>
              <a:rPr lang="en-US" altLang="zh-CN" dirty="0"/>
              <a:t>turnaround</a:t>
            </a:r>
            <a:r>
              <a:rPr lang="zh-CN" altLang="en-US" dirty="0"/>
              <a:t> </a:t>
            </a:r>
            <a:r>
              <a:rPr lang="en-US" altLang="zh-CN" dirty="0"/>
              <a:t>time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254226448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A6E458-4E34-4362-8AB8-C764425C73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Approaches to Thread Scheduling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CAE832A-8845-41ED-96B4-A99A20D9F6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 dirty="0"/>
              <a:t>Four approaches for </a:t>
            </a:r>
            <a:r>
              <a:rPr lang="en-US" altLang="zh-CN" dirty="0">
                <a:solidFill>
                  <a:srgbClr val="FF0000"/>
                </a:solidFill>
              </a:rPr>
              <a:t>multiprocessor thread scheduling </a:t>
            </a:r>
            <a:r>
              <a:rPr lang="en-US" altLang="zh-CN" dirty="0"/>
              <a:t>and </a:t>
            </a:r>
            <a:r>
              <a:rPr lang="en-US" altLang="zh-CN" dirty="0">
                <a:solidFill>
                  <a:srgbClr val="FF0000"/>
                </a:solidFill>
              </a:rPr>
              <a:t>processor assignment </a:t>
            </a:r>
            <a:r>
              <a:rPr lang="en-US" altLang="zh-CN" dirty="0"/>
              <a:t>are:</a:t>
            </a:r>
          </a:p>
          <a:p>
            <a:pPr lvl="1"/>
            <a:r>
              <a:rPr lang="en-US" altLang="zh-CN" b="1" dirty="0"/>
              <a:t>Static </a:t>
            </a:r>
            <a:r>
              <a:rPr lang="en-US" altLang="zh-CN" b="1" dirty="0">
                <a:solidFill>
                  <a:srgbClr val="0070C0"/>
                </a:solidFill>
              </a:rPr>
              <a:t>Scheduling</a:t>
            </a:r>
          </a:p>
          <a:p>
            <a:pPr lvl="2"/>
            <a:r>
              <a:rPr lang="en-US" altLang="zh-CN" dirty="0">
                <a:solidFill>
                  <a:srgbClr val="FF0000"/>
                </a:solidFill>
              </a:rPr>
              <a:t>Load Sharing</a:t>
            </a:r>
            <a:endParaRPr lang="en-US" altLang="zh-CN" b="1" dirty="0">
              <a:solidFill>
                <a:srgbClr val="FF0000"/>
              </a:solidFill>
            </a:endParaRPr>
          </a:p>
          <a:p>
            <a:pPr lvl="3"/>
            <a:r>
              <a:rPr lang="en-US" altLang="zh-CN" b="1" dirty="0">
                <a:solidFill>
                  <a:srgbClr val="0070C0"/>
                </a:solidFill>
              </a:rPr>
              <a:t>processes</a:t>
            </a:r>
            <a:r>
              <a:rPr lang="en-US" altLang="zh-CN" dirty="0"/>
              <a:t> are not assigned to a particular processor</a:t>
            </a:r>
          </a:p>
          <a:p>
            <a:pPr lvl="3"/>
            <a:r>
              <a:rPr lang="en-US" altLang="zh-CN" dirty="0"/>
              <a:t>When idle, each processor selects a thread from the </a:t>
            </a:r>
            <a:r>
              <a:rPr lang="en-US" altLang="zh-CN" b="1" dirty="0">
                <a:solidFill>
                  <a:srgbClr val="0070C0"/>
                </a:solidFill>
              </a:rPr>
              <a:t>global threads queue</a:t>
            </a:r>
          </a:p>
          <a:p>
            <a:pPr lvl="2"/>
            <a:r>
              <a:rPr lang="en-US" altLang="zh-CN" dirty="0">
                <a:solidFill>
                  <a:srgbClr val="FF0000"/>
                </a:solidFill>
              </a:rPr>
              <a:t>Gang Scheduling</a:t>
            </a:r>
          </a:p>
          <a:p>
            <a:pPr lvl="3"/>
            <a:r>
              <a:rPr lang="en-US" altLang="zh-CN" dirty="0"/>
              <a:t>a set of </a:t>
            </a:r>
            <a:r>
              <a:rPr lang="en-US" altLang="zh-CN" b="1" dirty="0">
                <a:solidFill>
                  <a:srgbClr val="0070C0"/>
                </a:solidFill>
              </a:rPr>
              <a:t>related threads </a:t>
            </a:r>
            <a:r>
              <a:rPr lang="en-US" altLang="zh-CN" dirty="0"/>
              <a:t>scheduled to run on </a:t>
            </a:r>
            <a:r>
              <a:rPr lang="en-US" altLang="zh-CN" b="1" dirty="0">
                <a:solidFill>
                  <a:srgbClr val="0070C0"/>
                </a:solidFill>
              </a:rPr>
              <a:t>a set of processors </a:t>
            </a:r>
            <a:r>
              <a:rPr lang="en-US" altLang="zh-CN" dirty="0"/>
              <a:t>at the same time, on a </a:t>
            </a:r>
            <a:r>
              <a:rPr lang="en-US" altLang="zh-CN" b="1" dirty="0">
                <a:solidFill>
                  <a:srgbClr val="0070C0"/>
                </a:solidFill>
              </a:rPr>
              <a:t>one-to-one</a:t>
            </a:r>
            <a:r>
              <a:rPr lang="en-US" altLang="zh-CN" dirty="0"/>
              <a:t> basis</a:t>
            </a:r>
          </a:p>
          <a:p>
            <a:pPr lvl="2"/>
            <a:r>
              <a:rPr lang="en-US" altLang="zh-CN" dirty="0">
                <a:solidFill>
                  <a:srgbClr val="FF0000"/>
                </a:solidFill>
              </a:rPr>
              <a:t>Dedicated </a:t>
            </a:r>
            <a:r>
              <a:rPr lang="zh-CN" altLang="en-US" dirty="0">
                <a:solidFill>
                  <a:srgbClr val="FF0000"/>
                </a:solidFill>
              </a:rPr>
              <a:t>（专用）</a:t>
            </a:r>
            <a:r>
              <a:rPr lang="en-US" altLang="zh-CN" dirty="0">
                <a:solidFill>
                  <a:srgbClr val="FF0000"/>
                </a:solidFill>
              </a:rPr>
              <a:t> Processor Assignment</a:t>
            </a:r>
          </a:p>
          <a:p>
            <a:pPr lvl="3"/>
            <a:r>
              <a:rPr lang="en-US" altLang="zh-CN" b="1" dirty="0">
                <a:solidFill>
                  <a:srgbClr val="0070C0"/>
                </a:solidFill>
              </a:rPr>
              <a:t>Each program</a:t>
            </a:r>
            <a:r>
              <a:rPr lang="en-US" altLang="zh-CN" dirty="0"/>
              <a:t>, for the duration of its execution, is allocated </a:t>
            </a:r>
            <a:r>
              <a:rPr lang="en-US" altLang="zh-CN" b="1" dirty="0">
                <a:solidFill>
                  <a:srgbClr val="0070C0"/>
                </a:solidFill>
              </a:rPr>
              <a:t>a number of processors</a:t>
            </a:r>
            <a:r>
              <a:rPr lang="en-US" altLang="zh-CN" dirty="0"/>
              <a:t> equal to the number of threads in the program</a:t>
            </a:r>
          </a:p>
          <a:p>
            <a:pPr lvl="3"/>
            <a:endParaRPr lang="en-US" altLang="zh-CN" dirty="0"/>
          </a:p>
          <a:p>
            <a:pPr lvl="1"/>
            <a:r>
              <a:rPr lang="en-US" altLang="zh-CN" b="1" dirty="0"/>
              <a:t>Dynamic Scheduling</a:t>
            </a:r>
          </a:p>
          <a:p>
            <a:pPr lvl="2"/>
            <a:r>
              <a:rPr lang="en-US" altLang="zh-CN" dirty="0"/>
              <a:t>the number of </a:t>
            </a:r>
            <a:r>
              <a:rPr lang="en-US" altLang="zh-CN" b="1" dirty="0">
                <a:solidFill>
                  <a:srgbClr val="0070C0"/>
                </a:solidFill>
              </a:rPr>
              <a:t>threads in a process can be altered</a:t>
            </a:r>
            <a:r>
              <a:rPr lang="en-US" altLang="zh-CN" dirty="0">
                <a:solidFill>
                  <a:srgbClr val="FF0000"/>
                </a:solidFill>
              </a:rPr>
              <a:t> </a:t>
            </a:r>
            <a:r>
              <a:rPr lang="en-US" altLang="zh-CN" dirty="0"/>
              <a:t>during the course of execution</a:t>
            </a:r>
          </a:p>
          <a:p>
            <a:pPr lvl="2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4043445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CE3062-7FD4-E04E-B97B-33ACA83044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2.9</a:t>
            </a:r>
            <a:r>
              <a:rPr lang="zh-CN" altLang="en-US" dirty="0"/>
              <a:t> </a:t>
            </a:r>
            <a:r>
              <a:rPr lang="en-US" altLang="zh-CN" dirty="0"/>
              <a:t>Real-time</a:t>
            </a:r>
            <a:r>
              <a:rPr lang="zh-CN" altLang="en-US" dirty="0"/>
              <a:t> </a:t>
            </a:r>
            <a:r>
              <a:rPr lang="en-US" altLang="zh-CN" dirty="0"/>
              <a:t>scheduling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DBEE4E-83FC-0745-94A3-A56FC856DE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2203" y="4195403"/>
            <a:ext cx="9239451" cy="1097858"/>
          </a:xfrm>
        </p:spPr>
        <p:txBody>
          <a:bodyPr>
            <a:normAutofit/>
          </a:bodyPr>
          <a:lstStyle/>
          <a:p>
            <a:r>
              <a:rPr lang="en-US" sz="2000" dirty="0"/>
              <a:t>Scheduling of </a:t>
            </a:r>
            <a:r>
              <a:rPr lang="en-US" sz="2000" dirty="0">
                <a:solidFill>
                  <a:srgbClr val="FF0000"/>
                </a:solidFill>
              </a:rPr>
              <a:t>Periodic</a:t>
            </a:r>
            <a:r>
              <a:rPr lang="en-US" sz="2000" dirty="0"/>
              <a:t> Real-Time Tasks with </a:t>
            </a:r>
            <a:r>
              <a:rPr lang="en-US" sz="2000" dirty="0">
                <a:solidFill>
                  <a:srgbClr val="FF0000"/>
                </a:solidFill>
              </a:rPr>
              <a:t>Completion Deadlines</a:t>
            </a:r>
          </a:p>
          <a:p>
            <a:r>
              <a:rPr lang="en-US" sz="2000" dirty="0"/>
              <a:t>Scheduling of </a:t>
            </a:r>
            <a:r>
              <a:rPr lang="en-US" sz="2000" dirty="0">
                <a:solidFill>
                  <a:srgbClr val="FF0000"/>
                </a:solidFill>
              </a:rPr>
              <a:t>Aperiodic</a:t>
            </a:r>
            <a:r>
              <a:rPr lang="en-US" sz="2000" dirty="0"/>
              <a:t> Real-Time Tasks</a:t>
            </a:r>
            <a:r>
              <a:rPr lang="zh-CN" altLang="en-US" sz="2000" dirty="0"/>
              <a:t> </a:t>
            </a:r>
            <a:r>
              <a:rPr lang="en-US" sz="2000" dirty="0"/>
              <a:t>with </a:t>
            </a:r>
            <a:r>
              <a:rPr lang="en-US" sz="2000" dirty="0">
                <a:solidFill>
                  <a:srgbClr val="FF0000"/>
                </a:solidFill>
              </a:rPr>
              <a:t>Starting Deadlines</a:t>
            </a:r>
            <a:endParaRPr lang="en-US" altLang="zh-CN" sz="2000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53791D-C957-8E4E-891A-FBD7A164A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3D444-7193-46AD-90E8-D84AE4B61CFF}" type="slidenum">
              <a:rPr lang="en-US" smtClean="0"/>
              <a:pPr/>
              <a:t>49</a:t>
            </a:fld>
            <a:r>
              <a:rPr lang="en-US"/>
              <a:t>/</a:t>
            </a:r>
            <a:r>
              <a:rPr lang="en-US" altLang="zh-CN"/>
              <a:t>63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0436F0-7A13-684E-8D11-49A69A8933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6D1B6-B1AF-7D4D-A84B-F73F4DDF98DE}" type="datetime1">
              <a:rPr lang="zh-CN" altLang="en-US" smtClean="0"/>
              <a:t>2026/6/19</a:t>
            </a:fld>
            <a:endParaRPr lang="zh-CN" alt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790E8F9-5AB6-434D-9330-DEEE336BFB53}"/>
              </a:ext>
            </a:extLst>
          </p:cNvPr>
          <p:cNvSpPr txBox="1">
            <a:spLocks/>
          </p:cNvSpPr>
          <p:nvPr/>
        </p:nvSpPr>
        <p:spPr>
          <a:xfrm>
            <a:off x="838200" y="970591"/>
            <a:ext cx="9239452" cy="285968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171450" indent="-171450" algn="just" defTabSz="685800" rtl="0" eaLnBrk="1" latinLnBrk="0" hangingPunct="1">
              <a:lnSpc>
                <a:spcPct val="100000"/>
              </a:lnSpc>
              <a:spcBef>
                <a:spcPts val="750"/>
              </a:spcBef>
              <a:buFont typeface="Wingdings" panose="05000000000000000000" pitchFamily="2" charset="2"/>
              <a:buChar char="q"/>
              <a:defRPr sz="2400" b="1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514350" indent="-171450" algn="just" defTabSz="685800" rtl="0" eaLnBrk="1" latinLnBrk="0" hangingPunct="1">
              <a:lnSpc>
                <a:spcPct val="10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2pPr>
            <a:lvl3pPr marL="857250" indent="-171450" algn="just" defTabSz="685800" rtl="0" eaLnBrk="1" latinLnBrk="0" hangingPunct="1">
              <a:lnSpc>
                <a:spcPct val="100000"/>
              </a:lnSpc>
              <a:spcBef>
                <a:spcPts val="375"/>
              </a:spcBef>
              <a:buFont typeface="Wingdings" panose="05000000000000000000" pitchFamily="2" charset="2"/>
              <a:buChar char="Ø"/>
              <a:defRPr sz="20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3pPr>
            <a:lvl4pPr marL="1200150" indent="-171450" algn="just" defTabSz="685800" rtl="0" eaLnBrk="1" latinLnBrk="0" hangingPunct="1">
              <a:lnSpc>
                <a:spcPct val="10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4pPr>
            <a:lvl5pPr marL="1543050" indent="-171450" algn="just" defTabSz="685800" rtl="0" eaLnBrk="1" latinLnBrk="0" hangingPunct="1">
              <a:lnSpc>
                <a:spcPct val="10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Deadline</a:t>
            </a:r>
            <a:r>
              <a:rPr lang="zh-CN" altLang="en-US" dirty="0"/>
              <a:t> </a:t>
            </a:r>
            <a:r>
              <a:rPr lang="en-US" altLang="zh-CN" dirty="0"/>
              <a:t>scheduling</a:t>
            </a:r>
          </a:p>
          <a:p>
            <a:pPr lvl="1"/>
            <a:r>
              <a:rPr lang="en-US" altLang="zh-CN" dirty="0"/>
              <a:t>Ready time</a:t>
            </a:r>
          </a:p>
          <a:p>
            <a:pPr lvl="2"/>
            <a:r>
              <a:rPr lang="en-US" altLang="zh-CN" dirty="0"/>
              <a:t>time task becomes ready for execution</a:t>
            </a:r>
          </a:p>
          <a:p>
            <a:pPr lvl="1"/>
            <a:r>
              <a:rPr lang="en-US" altLang="zh-CN" dirty="0"/>
              <a:t>Starting deadline</a:t>
            </a:r>
          </a:p>
          <a:p>
            <a:pPr lvl="2"/>
            <a:r>
              <a:rPr lang="en-US" altLang="zh-CN" dirty="0"/>
              <a:t>time task must begin</a:t>
            </a:r>
          </a:p>
          <a:p>
            <a:pPr lvl="1"/>
            <a:r>
              <a:rPr lang="en-US" altLang="zh-CN" dirty="0"/>
              <a:t>Completion deadline</a:t>
            </a:r>
          </a:p>
          <a:p>
            <a:pPr lvl="2"/>
            <a:r>
              <a:rPr lang="en-US" altLang="zh-CN" dirty="0"/>
              <a:t>time task must be completed</a:t>
            </a:r>
          </a:p>
          <a:p>
            <a:pPr lvl="1"/>
            <a:r>
              <a:rPr lang="en-US" altLang="zh-CN" dirty="0"/>
              <a:t>Processing time</a:t>
            </a:r>
          </a:p>
          <a:p>
            <a:pPr lvl="2"/>
            <a:r>
              <a:rPr lang="en-US" altLang="zh-CN" dirty="0"/>
              <a:t>time required to execute the task to completion</a:t>
            </a:r>
          </a:p>
          <a:p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1302639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E246C7A-C1AA-421C-A3F3-25712FDB06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Scheduling of Periodic Real-Time Tasks </a:t>
            </a:r>
            <a:br>
              <a:rPr lang="en-US" dirty="0"/>
            </a:br>
            <a:r>
              <a:rPr lang="en-US" dirty="0"/>
              <a:t>with Completion Deadlines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69B30132-655A-422A-8A57-3E44B13725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2613" y="841103"/>
            <a:ext cx="6799552" cy="5303492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21B90C44-6293-42B5-8672-103C11861937}"/>
              </a:ext>
            </a:extLst>
          </p:cNvPr>
          <p:cNvSpPr/>
          <p:nvPr/>
        </p:nvSpPr>
        <p:spPr>
          <a:xfrm>
            <a:off x="6334299" y="3624547"/>
            <a:ext cx="478971" cy="40930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45E3C2D-3993-403C-BDE5-BF7F2EE7C3FF}"/>
              </a:ext>
            </a:extLst>
          </p:cNvPr>
          <p:cNvSpPr/>
          <p:nvPr/>
        </p:nvSpPr>
        <p:spPr>
          <a:xfrm>
            <a:off x="5164510" y="4713514"/>
            <a:ext cx="478971" cy="40930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BB37E5F-2021-441D-9C75-57976C815B2A}"/>
              </a:ext>
            </a:extLst>
          </p:cNvPr>
          <p:cNvSpPr/>
          <p:nvPr/>
        </p:nvSpPr>
        <p:spPr>
          <a:xfrm>
            <a:off x="7473341" y="4713514"/>
            <a:ext cx="478971" cy="40930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899FD36-C076-7AA8-7F77-8E0C292F244E}"/>
              </a:ext>
            </a:extLst>
          </p:cNvPr>
          <p:cNvSpPr/>
          <p:nvPr/>
        </p:nvSpPr>
        <p:spPr>
          <a:xfrm>
            <a:off x="6172200" y="5337862"/>
            <a:ext cx="213852" cy="40930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940402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ABFB4C-4D12-4282-A6BC-D3E514EF74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Scheduling of Aperiodic Real-Time Tasks</a:t>
            </a:r>
            <a:br>
              <a:rPr lang="en-US" dirty="0"/>
            </a:br>
            <a:r>
              <a:rPr lang="en-US" dirty="0"/>
              <a:t> with Starting Deadlines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4A5A3B44-F80B-4BBC-B62C-1AFCF0CBB1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</a:t>
            </a:r>
            <a:r>
              <a:rPr lang="en-US" altLang="zh-CN" dirty="0"/>
              <a:t>on-Preemption</a:t>
            </a:r>
            <a:endParaRPr 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324999F0-8855-421B-8415-6D2A49FDDE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4700" y="957658"/>
            <a:ext cx="7246361" cy="5096252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6D3AA768-A105-4890-AFC3-5EDEE5209941}"/>
              </a:ext>
            </a:extLst>
          </p:cNvPr>
          <p:cNvSpPr/>
          <p:nvPr/>
        </p:nvSpPr>
        <p:spPr>
          <a:xfrm>
            <a:off x="6984995" y="3378201"/>
            <a:ext cx="854529" cy="31024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FDC55BF-8175-4291-9D94-4008496DEB12}"/>
              </a:ext>
            </a:extLst>
          </p:cNvPr>
          <p:cNvSpPr/>
          <p:nvPr/>
        </p:nvSpPr>
        <p:spPr>
          <a:xfrm>
            <a:off x="7031184" y="4194630"/>
            <a:ext cx="362026" cy="23948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2D326DD-A6D0-4346-9C91-AAC2B3D6A3B3}"/>
              </a:ext>
            </a:extLst>
          </p:cNvPr>
          <p:cNvSpPr/>
          <p:nvPr/>
        </p:nvSpPr>
        <p:spPr>
          <a:xfrm>
            <a:off x="4069603" y="3948878"/>
            <a:ext cx="1091215" cy="7547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00035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A6E458-4E34-4362-8AB8-C764425C73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Measure of Periodic Scheduling Algorithm</a:t>
            </a:r>
            <a:endParaRPr lang="zh-CN" alt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EF77CE0-6D63-4554-B21B-50109831106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8349864" y="841375"/>
            <a:ext cx="3264673" cy="517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内容占位符 4">
            <a:extLst>
              <a:ext uri="{FF2B5EF4-FFF2-40B4-BE49-F238E27FC236}">
                <a16:creationId xmlns:a16="http://schemas.microsoft.com/office/drawing/2014/main" id="{C8406B21-29A7-4A18-93B7-41426C493190}"/>
              </a:ext>
            </a:extLst>
          </p:cNvPr>
          <p:cNvSpPr txBox="1">
            <a:spLocks/>
          </p:cNvSpPr>
          <p:nvPr/>
        </p:nvSpPr>
        <p:spPr>
          <a:xfrm>
            <a:off x="838200" y="841103"/>
            <a:ext cx="7017327" cy="51757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just" defTabSz="685800" rtl="0" eaLnBrk="1" latinLnBrk="0" hangingPunct="1">
              <a:lnSpc>
                <a:spcPct val="100000"/>
              </a:lnSpc>
              <a:spcBef>
                <a:spcPts val="750"/>
              </a:spcBef>
              <a:buFont typeface="Wingdings" panose="05000000000000000000" pitchFamily="2" charset="2"/>
              <a:buChar char="q"/>
              <a:defRPr sz="2400" b="1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514350" indent="-171450" algn="just" defTabSz="685800" rtl="0" eaLnBrk="1" latinLnBrk="0" hangingPunct="1">
              <a:lnSpc>
                <a:spcPct val="10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2pPr>
            <a:lvl3pPr marL="857250" indent="-171450" algn="just" defTabSz="685800" rtl="0" eaLnBrk="1" latinLnBrk="0" hangingPunct="1">
              <a:lnSpc>
                <a:spcPct val="100000"/>
              </a:lnSpc>
              <a:spcBef>
                <a:spcPts val="375"/>
              </a:spcBef>
              <a:buFont typeface="Wingdings" panose="05000000000000000000" pitchFamily="2" charset="2"/>
              <a:buChar char="Ø"/>
              <a:defRPr sz="20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3pPr>
            <a:lvl4pPr marL="1200150" indent="-171450" algn="just" defTabSz="685800" rtl="0" eaLnBrk="1" latinLnBrk="0" hangingPunct="1">
              <a:lnSpc>
                <a:spcPct val="10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4pPr>
            <a:lvl5pPr marL="1543050" indent="-171450" algn="just" defTabSz="685800" rtl="0" eaLnBrk="1" latinLnBrk="0" hangingPunct="1">
              <a:lnSpc>
                <a:spcPct val="10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 If a </a:t>
            </a:r>
            <a:r>
              <a:rPr lang="en-US" dirty="0">
                <a:solidFill>
                  <a:srgbClr val="FF0000"/>
                </a:solidFill>
              </a:rPr>
              <a:t>perfect</a:t>
            </a:r>
            <a:r>
              <a:rPr lang="en-US" dirty="0"/>
              <a:t> scheduling algorithm can successfully schedule, a bound of number of tasks is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Any particular algorithm, bound may be lower: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AF2934B8-1707-4156-BDB5-50148D6DCA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1070" y="2131870"/>
            <a:ext cx="4052022" cy="987133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A81C0D31-AE6A-425C-B7C8-A81197EBF7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45239" y="4409770"/>
            <a:ext cx="5847351" cy="1157160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971E0AD5-D0E1-49ED-8F28-472DCE177E42}"/>
              </a:ext>
            </a:extLst>
          </p:cNvPr>
          <p:cNvSpPr/>
          <p:nvPr/>
        </p:nvSpPr>
        <p:spPr>
          <a:xfrm>
            <a:off x="8188036" y="5486400"/>
            <a:ext cx="3657600" cy="61676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0B821E4-94EF-7647-A937-F77D4295BF8B}"/>
              </a:ext>
            </a:extLst>
          </p:cNvPr>
          <p:cNvSpPr/>
          <p:nvPr/>
        </p:nvSpPr>
        <p:spPr>
          <a:xfrm>
            <a:off x="5755907" y="4658627"/>
            <a:ext cx="1742173" cy="60639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0F7AD77-D063-A247-A655-CC5D9B66D1DA}"/>
              </a:ext>
            </a:extLst>
          </p:cNvPr>
          <p:cNvSpPr txBox="1"/>
          <p:nvPr/>
        </p:nvSpPr>
        <p:spPr>
          <a:xfrm>
            <a:off x="1145406" y="3119003"/>
            <a:ext cx="34159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C</a:t>
            </a:r>
            <a:r>
              <a:rPr lang="zh-CN" altLang="en-US" dirty="0"/>
              <a:t>：</a:t>
            </a:r>
            <a:r>
              <a:rPr lang="en-US" altLang="zh-CN" dirty="0"/>
              <a:t>execution</a:t>
            </a:r>
            <a:r>
              <a:rPr lang="zh-CN" altLang="en-US" dirty="0"/>
              <a:t> </a:t>
            </a:r>
            <a:r>
              <a:rPr lang="en-US" altLang="zh-CN" dirty="0"/>
              <a:t>time,</a:t>
            </a:r>
            <a:r>
              <a:rPr lang="zh-CN" altLang="en-US" dirty="0"/>
              <a:t> </a:t>
            </a:r>
            <a:r>
              <a:rPr lang="en-US" altLang="zh-CN" dirty="0"/>
              <a:t>T:</a:t>
            </a:r>
            <a:r>
              <a:rPr lang="zh-CN" altLang="en-US" dirty="0"/>
              <a:t> </a:t>
            </a:r>
            <a:r>
              <a:rPr lang="en-US" altLang="zh-CN" dirty="0"/>
              <a:t>Cycle</a:t>
            </a:r>
            <a:r>
              <a:rPr lang="zh-CN" altLang="en-US" dirty="0"/>
              <a:t> </a:t>
            </a:r>
            <a:r>
              <a:rPr lang="en-US" altLang="zh-CN" dirty="0"/>
              <a:t>period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31588663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0CB34E-339D-7F42-A121-02E0E0DB3E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3080" y="136523"/>
            <a:ext cx="5582920" cy="616768"/>
          </a:xfrm>
        </p:spPr>
        <p:txBody>
          <a:bodyPr/>
          <a:lstStyle/>
          <a:p>
            <a:r>
              <a:rPr lang="en-US" altLang="zh-CN" dirty="0"/>
              <a:t>Quiz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1F7E0D-06DA-ED48-9AF3-1DB274749F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As we all know, the most central concept in any operating system is the process. We can deal with the problem about (</a:t>
            </a:r>
            <a:r>
              <a:rPr lang="zh-CN" altLang="en-US" dirty="0"/>
              <a:t>   </a:t>
            </a:r>
            <a:r>
              <a:rPr lang="en-US" dirty="0"/>
              <a:t>) easier after importing the concept of process. </a:t>
            </a:r>
          </a:p>
          <a:p>
            <a:pPr marL="342900" lvl="1" indent="0">
              <a:buNone/>
            </a:pPr>
            <a:r>
              <a:rPr lang="en-US" dirty="0"/>
              <a:t>A. exclusive resources</a:t>
            </a:r>
          </a:p>
          <a:p>
            <a:pPr marL="342900" lvl="1" indent="0">
              <a:buNone/>
            </a:pPr>
            <a:r>
              <a:rPr lang="en-US" dirty="0"/>
              <a:t>B. shared resources</a:t>
            </a:r>
          </a:p>
          <a:p>
            <a:pPr marL="342900" lvl="1" indent="0">
              <a:buNone/>
            </a:pPr>
            <a:r>
              <a:rPr lang="en-US" dirty="0"/>
              <a:t>C. executing in order</a:t>
            </a:r>
          </a:p>
          <a:p>
            <a:pPr marL="342900" lvl="1" indent="0">
              <a:buNone/>
            </a:pPr>
            <a:r>
              <a:rPr lang="en-US" dirty="0"/>
              <a:t>D. easy to execute</a:t>
            </a:r>
          </a:p>
          <a:p>
            <a:r>
              <a:rPr lang="en-US" altLang="zh-CN" dirty="0"/>
              <a:t>T</a:t>
            </a:r>
            <a:r>
              <a:rPr lang="en-US" dirty="0"/>
              <a:t>he concept of a process in an operating system embodies two primary characteristics, one of which is (</a:t>
            </a:r>
            <a:r>
              <a:rPr lang="zh-CN" altLang="en-US" dirty="0"/>
              <a:t>    </a:t>
            </a:r>
            <a:r>
              <a:rPr lang="en-US" dirty="0"/>
              <a:t>)</a:t>
            </a:r>
          </a:p>
          <a:p>
            <a:pPr marL="342900" lvl="1" indent="0">
              <a:buNone/>
            </a:pPr>
            <a:r>
              <a:rPr lang="en-US" dirty="0"/>
              <a:t>A. Resource ownership</a:t>
            </a:r>
          </a:p>
          <a:p>
            <a:pPr marL="342900" lvl="1" indent="0">
              <a:buNone/>
            </a:pPr>
            <a:r>
              <a:rPr lang="en-US" dirty="0"/>
              <a:t>B. Multithreading</a:t>
            </a:r>
          </a:p>
          <a:p>
            <a:pPr marL="342900" lvl="1" indent="0">
              <a:buNone/>
            </a:pPr>
            <a:r>
              <a:rPr lang="en-US" dirty="0"/>
              <a:t>C. Symmetric multiprocessing</a:t>
            </a:r>
          </a:p>
          <a:p>
            <a:pPr marL="342900" lvl="1" indent="0">
              <a:buNone/>
            </a:pPr>
            <a:r>
              <a:rPr lang="en-US" dirty="0"/>
              <a:t>D. None of the above</a:t>
            </a:r>
          </a:p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D888A6-6402-D048-AA2D-15D42268ED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3D444-7193-46AD-90E8-D84AE4B61CFF}" type="slidenum">
              <a:rPr lang="en-US" smtClean="0"/>
              <a:pPr/>
              <a:t>53</a:t>
            </a:fld>
            <a:r>
              <a:rPr lang="en-US"/>
              <a:t>/</a:t>
            </a:r>
            <a:r>
              <a:rPr lang="en-US" altLang="zh-CN"/>
              <a:t>63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C85CBD-FE0F-E14B-A29A-8B72C07BFC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6D1B6-B1AF-7D4D-A84B-F73F4DDF98DE}" type="datetime1">
              <a:rPr lang="zh-CN" altLang="en-US" smtClean="0"/>
              <a:t>2026/6/19</a:t>
            </a:fld>
            <a:endParaRPr lang="zh-CN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CE4588A-5DAF-B84C-96A6-033317F4401C}"/>
              </a:ext>
            </a:extLst>
          </p:cNvPr>
          <p:cNvSpPr txBox="1"/>
          <p:nvPr/>
        </p:nvSpPr>
        <p:spPr>
          <a:xfrm>
            <a:off x="9715901" y="1225434"/>
            <a:ext cx="53259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</a:rPr>
              <a:t>B</a:t>
            </a:r>
            <a:r>
              <a:rPr lang="en-US" sz="2400" b="1" dirty="0"/>
              <a:t> </a:t>
            </a:r>
            <a:endParaRPr lang="en-CN" sz="24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940752C-2175-0048-98FD-199D0A019A16}"/>
              </a:ext>
            </a:extLst>
          </p:cNvPr>
          <p:cNvSpPr txBox="1"/>
          <p:nvPr/>
        </p:nvSpPr>
        <p:spPr>
          <a:xfrm>
            <a:off x="7288730" y="3841901"/>
            <a:ext cx="53259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</a:rPr>
              <a:t>A</a:t>
            </a:r>
            <a:r>
              <a:rPr lang="en-US" sz="2400" b="1" dirty="0"/>
              <a:t> </a:t>
            </a:r>
            <a:endParaRPr lang="en-CN" sz="2400" b="1" dirty="0"/>
          </a:p>
        </p:txBody>
      </p:sp>
    </p:spTree>
    <p:extLst>
      <p:ext uri="{BB962C8B-B14F-4D97-AF65-F5344CB8AC3E}">
        <p14:creationId xmlns:p14="http://schemas.microsoft.com/office/powerpoint/2010/main" val="20946183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AABE419-F681-C3A2-6F83-CDD6D24A0A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True or False. Determine whether the following statements are true or false:</a:t>
            </a:r>
          </a:p>
          <a:p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A process is the basic unit of resource allocation.</a:t>
            </a:r>
            <a:r>
              <a:rPr lang="en-US" altLang="zh-CN" dirty="0">
                <a:solidFill>
                  <a:srgbClr val="FF0000"/>
                </a:solidFill>
              </a:rPr>
              <a:t> </a:t>
            </a:r>
          </a:p>
          <a:p>
            <a:pPr marL="0" indent="0">
              <a:buNone/>
            </a:pPr>
            <a:r>
              <a:rPr lang="en-US" altLang="zh-CN" dirty="0">
                <a:solidFill>
                  <a:srgbClr val="FF0000"/>
                </a:solidFill>
              </a:rPr>
              <a:t>(T)</a:t>
            </a: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A thread is the basic unit of CPU scheduling.</a:t>
            </a:r>
            <a:r>
              <a:rPr lang="en-US" altLang="zh-CN" dirty="0">
                <a:solidFill>
                  <a:srgbClr val="FF0000"/>
                </a:solidFill>
              </a:rPr>
              <a:t> </a:t>
            </a:r>
          </a:p>
          <a:p>
            <a:pPr marL="0" indent="0">
              <a:buNone/>
            </a:pPr>
            <a:r>
              <a:rPr lang="en-US" altLang="zh-CN" dirty="0">
                <a:solidFill>
                  <a:srgbClr val="FF0000"/>
                </a:solidFill>
              </a:rPr>
              <a:t>(T)</a:t>
            </a:r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DC1411B-DC7D-7B84-080E-571DEBA83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3D444-7193-46AD-90E8-D84AE4B61CFF}" type="slidenum">
              <a:rPr lang="en-US" smtClean="0"/>
              <a:pPr/>
              <a:t>54</a:t>
            </a:fld>
            <a:r>
              <a:rPr lang="en-US"/>
              <a:t>/</a:t>
            </a:r>
            <a:r>
              <a:rPr lang="en-US" altLang="zh-CN"/>
              <a:t>63</a:t>
            </a:r>
            <a:endParaRPr lang="en-US" dirty="0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702B55D-B754-B15F-A15E-C6CBF54D66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6D1B6-B1AF-7D4D-A84B-F73F4DDF98DE}" type="datetime1">
              <a:rPr lang="zh-CN" altLang="en-US" smtClean="0"/>
              <a:t>2026/6/19</a:t>
            </a:fld>
            <a:endParaRPr lang="zh-CN" alt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F10C2D0-60D9-F406-01B2-EF808469A6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763" y="136525"/>
            <a:ext cx="10515600" cy="617538"/>
          </a:xfrm>
        </p:spPr>
        <p:txBody>
          <a:bodyPr/>
          <a:lstStyle/>
          <a:p>
            <a:r>
              <a:rPr lang="en-US" altLang="zh-CN" dirty="0"/>
              <a:t>Quiz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7140403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C53326-2932-DF75-7ED8-4439A4B85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Choice Questions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E25F18E-0F94-62B8-85A3-C557F05FFF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/>
              <a:t>(1) The fundamental difference between a process and a thread is ( ).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dirty="0"/>
              <a:t>A. A process has an independent address space, and a thread shares the address space within the process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dirty="0"/>
              <a:t>B. A thread is the basic unit of system scheduling, while a process is not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dirty="0"/>
              <a:t>C. A process must contain at least one thread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dirty="0"/>
              <a:t>D. Threads can communicate across processes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dirty="0">
                <a:solidFill>
                  <a:srgbClr val="FF0000"/>
                </a:solidFill>
              </a:rPr>
              <a:t>A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9693DD0-A201-4855-14DB-EF5B78B2ED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3D444-7193-46AD-90E8-D84AE4B61CFF}" type="slidenum">
              <a:rPr lang="en-US" smtClean="0"/>
              <a:pPr/>
              <a:t>55</a:t>
            </a:fld>
            <a:r>
              <a:rPr lang="en-US"/>
              <a:t>/114</a:t>
            </a:r>
            <a:endParaRPr lang="en-US" dirty="0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2B2C946-7E81-D053-814F-683EFE86BA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6D1B6-B1AF-7D4D-A84B-F73F4DDF98DE}" type="datetime1">
              <a:rPr lang="zh-CN" altLang="en-US" smtClean="0"/>
              <a:t>2026/6/19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37473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51AD3E-B076-0C7F-4A6D-25E9D5EC03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Choice Questions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FA8B4B8-209F-8172-9300-64138D8078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/>
              <a:t>(2) A/an (    ) is a system program that acts as an interface between the application programs and the computer hardware.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dirty="0"/>
              <a:t>A. operating system 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dirty="0"/>
              <a:t>B. system call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dirty="0"/>
              <a:t>C. library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dirty="0"/>
              <a:t>D. compiler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dirty="0">
                <a:solidFill>
                  <a:srgbClr val="FF0000"/>
                </a:solidFill>
              </a:rPr>
              <a:t>A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6D263FC-F759-1EC9-CAC6-BC5E1AA19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3D444-7193-46AD-90E8-D84AE4B61CFF}" type="slidenum">
              <a:rPr lang="en-US" smtClean="0"/>
              <a:pPr/>
              <a:t>56</a:t>
            </a:fld>
            <a:r>
              <a:rPr lang="en-US"/>
              <a:t>/114</a:t>
            </a:r>
            <a:endParaRPr lang="en-US" dirty="0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30E15F7-9D7D-921E-E4F4-09D05B1392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6D1B6-B1AF-7D4D-A84B-F73F4DDF98DE}" type="datetime1">
              <a:rPr lang="zh-CN" altLang="en-US" smtClean="0"/>
              <a:t>2026/6/19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515642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BDD2EB-C35F-6D7F-F959-3A3DA5F044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Choice Questions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8AB3436-D664-1CDC-512C-554346C82F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/>
              <a:t>(3) Which of the following is NOT included in a Process Control Block (PCB)?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dirty="0"/>
              <a:t>A. Process identification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dirty="0"/>
              <a:t>B. Processor state information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dirty="0"/>
              <a:t>C. Process control information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dirty="0"/>
              <a:t>D. User stack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dirty="0">
                <a:solidFill>
                  <a:srgbClr val="FF0000"/>
                </a:solidFill>
              </a:rPr>
              <a:t>D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15B2B70-763E-CB63-FD98-B37ADBC649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3D444-7193-46AD-90E8-D84AE4B61CFF}" type="slidenum">
              <a:rPr lang="en-US" smtClean="0"/>
              <a:pPr/>
              <a:t>57</a:t>
            </a:fld>
            <a:r>
              <a:rPr lang="en-US"/>
              <a:t>/114</a:t>
            </a:r>
            <a:endParaRPr lang="en-US" dirty="0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37E2ACA-5659-322B-279A-4D44072BEC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6D1B6-B1AF-7D4D-A84B-F73F4DDF98DE}" type="datetime1">
              <a:rPr lang="zh-CN" altLang="en-US" smtClean="0"/>
              <a:t>2026/6/19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081651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87926D-CD17-184E-BC1E-601F30407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True / False Questions 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F2C1A5F-5CAC-9866-AF00-939CDB8211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/>
              <a:t>Multiprogramming technology allows multiple programs to run simultaneously, but one CPU can only execute one program at a time. (    )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dirty="0">
                <a:solidFill>
                  <a:srgbClr val="FF0000"/>
                </a:solidFill>
              </a:rPr>
              <a:t>T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A048769-E3EE-0227-DDBD-57E1E41B0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3D444-7193-46AD-90E8-D84AE4B61CFF}" type="slidenum">
              <a:rPr lang="en-US" smtClean="0"/>
              <a:pPr/>
              <a:t>58</a:t>
            </a:fld>
            <a:r>
              <a:rPr lang="en-US"/>
              <a:t>/114</a:t>
            </a:r>
            <a:endParaRPr lang="en-US" dirty="0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F5B2F9E-D961-EF0D-B293-33688E9026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6D1B6-B1AF-7D4D-A84B-F73F4DDF98DE}" type="datetime1">
              <a:rPr lang="zh-CN" altLang="en-US" smtClean="0"/>
              <a:t>2026/6/19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783703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C20778-16E9-AA9F-D4C1-DBD9545DF8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FFB9CF3-FC4B-2478-6401-8356F57443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/>
              <a:t>In operating systems, process state models are used to describe the lifecycle of a process and the transitions between different states.</a:t>
            </a:r>
            <a:endParaRPr lang="zh-CN" altLang="zh-CN" dirty="0"/>
          </a:p>
          <a:p>
            <a:pPr marL="0" lvl="0" indent="0">
              <a:buNone/>
            </a:pPr>
            <a:r>
              <a:rPr lang="en-US" altLang="zh-CN" dirty="0"/>
              <a:t>(1) Draw the five-state process model. Your diagram must clearly show and label all states and all possible transitions between them. </a:t>
            </a:r>
            <a:endParaRPr lang="zh-CN" altLang="zh-CN" dirty="0"/>
          </a:p>
          <a:p>
            <a:pPr marL="0" lvl="0" indent="0">
              <a:buNone/>
            </a:pPr>
            <a:r>
              <a:rPr lang="en-US" altLang="zh-CN" dirty="0"/>
              <a:t>(2) Draw the seven-state process model with suspend states included. Your diagram must clearly show and label all states and all possible transitions between them.</a:t>
            </a:r>
            <a:endParaRPr lang="zh-CN" altLang="zh-CN" dirty="0"/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ABD371D-0C00-77F5-F5DE-DDC080EAA5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3D444-7193-46AD-90E8-D84AE4B61CFF}" type="slidenum">
              <a:rPr lang="en-US" smtClean="0"/>
              <a:pPr/>
              <a:t>59</a:t>
            </a:fld>
            <a:r>
              <a:rPr lang="en-US"/>
              <a:t>/114</a:t>
            </a:r>
            <a:endParaRPr lang="en-US" dirty="0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2CDF9E7-9603-8BE8-067A-E1D7C72FD1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6D1B6-B1AF-7D4D-A84B-F73F4DDF98DE}" type="datetime1">
              <a:rPr lang="zh-CN" altLang="en-US" smtClean="0"/>
              <a:t>2026/6/19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8797737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CBE052-F250-E032-42AF-BC17CFC882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4FA4541-7091-07E5-8DF7-ABAF8B7E6C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D7C3E8E-508F-97B6-0D0F-D06F618281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3D444-7193-46AD-90E8-D84AE4B61CFF}" type="slidenum">
              <a:rPr lang="en-US" smtClean="0"/>
              <a:pPr/>
              <a:t>60</a:t>
            </a:fld>
            <a:r>
              <a:rPr lang="en-US"/>
              <a:t>/114</a:t>
            </a:r>
            <a:endParaRPr lang="en-US" dirty="0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2D0FCC8-CB9C-5005-0424-8C148316E0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6D1B6-B1AF-7D4D-A84B-F73F4DDF98DE}" type="datetime1">
              <a:rPr lang="zh-CN" altLang="en-US" smtClean="0"/>
              <a:t>2026/6/19</a:t>
            </a:fld>
            <a:endParaRPr lang="zh-CN" altLang="en-US" dirty="0"/>
          </a:p>
        </p:txBody>
      </p:sp>
      <p:pic>
        <p:nvPicPr>
          <p:cNvPr id="6" name="图片 6">
            <a:extLst>
              <a:ext uri="{FF2B5EF4-FFF2-40B4-BE49-F238E27FC236}">
                <a16:creationId xmlns:a16="http://schemas.microsoft.com/office/drawing/2014/main" id="{AB3EEDB2-7FBE-CE25-3A5D-B9C43741B1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2134" y="339658"/>
            <a:ext cx="5563053" cy="2169912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37B8AA57-9D71-DE7D-0721-97EF5A0A47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8273" y="3411337"/>
            <a:ext cx="5881482" cy="3408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461499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020847-90A5-2646-A2C8-373B2ADBD8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Outline</a:t>
            </a:r>
            <a:r>
              <a:rPr lang="zh-CN" altLang="en-US" dirty="0"/>
              <a:t> 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7232B9-DB06-FB46-AA06-B58AAD8424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3.</a:t>
            </a:r>
            <a:r>
              <a:rPr lang="zh-CN" altLang="en-US" dirty="0"/>
              <a:t> </a:t>
            </a:r>
            <a:r>
              <a:rPr lang="en-US" altLang="zh-CN" dirty="0"/>
              <a:t>Concurrency:</a:t>
            </a:r>
            <a:r>
              <a:rPr lang="zh-CN" altLang="en-US" dirty="0"/>
              <a:t> </a:t>
            </a:r>
            <a:r>
              <a:rPr lang="en-US" altLang="zh-CN" dirty="0"/>
              <a:t>mutual</a:t>
            </a:r>
            <a:r>
              <a:rPr lang="zh-CN" altLang="en-US" dirty="0"/>
              <a:t> </a:t>
            </a:r>
            <a:r>
              <a:rPr lang="en-US" altLang="zh-CN" dirty="0"/>
              <a:t>exclusion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synchronization</a:t>
            </a:r>
          </a:p>
          <a:p>
            <a:pPr lvl="1"/>
            <a:r>
              <a:rPr lang="en-US" altLang="zh-CN" dirty="0"/>
              <a:t>3.1Mutual</a:t>
            </a:r>
            <a:r>
              <a:rPr lang="zh-CN" altLang="en-US" dirty="0"/>
              <a:t> </a:t>
            </a:r>
            <a:r>
              <a:rPr lang="en-US" altLang="zh-CN" dirty="0"/>
              <a:t>Exclusion</a:t>
            </a:r>
          </a:p>
          <a:p>
            <a:pPr lvl="1"/>
            <a:r>
              <a:rPr lang="en-US" altLang="zh-CN" dirty="0"/>
              <a:t>3.2Semaphore</a:t>
            </a:r>
          </a:p>
          <a:p>
            <a:pPr lvl="1"/>
            <a:r>
              <a:rPr lang="en-US" altLang="zh-CN" dirty="0"/>
              <a:t>3.3Monitor</a:t>
            </a:r>
          </a:p>
          <a:p>
            <a:pPr lvl="1"/>
            <a:r>
              <a:rPr lang="en-US" altLang="zh-CN" dirty="0"/>
              <a:t>3.4Message</a:t>
            </a:r>
            <a:r>
              <a:rPr lang="zh-CN" altLang="en-US" dirty="0"/>
              <a:t> </a:t>
            </a:r>
            <a:r>
              <a:rPr lang="en-US" altLang="zh-CN" dirty="0"/>
              <a:t>passing</a:t>
            </a:r>
          </a:p>
          <a:p>
            <a:pPr lvl="1"/>
            <a:r>
              <a:rPr lang="en-US" altLang="zh-CN" dirty="0"/>
              <a:t>3.5Producer/Consumer</a:t>
            </a:r>
            <a:r>
              <a:rPr lang="zh-CN" altLang="en-US" dirty="0"/>
              <a:t> </a:t>
            </a:r>
            <a:r>
              <a:rPr lang="en-US" altLang="zh-CN" dirty="0"/>
              <a:t>Problem</a:t>
            </a:r>
          </a:p>
          <a:p>
            <a:pPr lvl="1"/>
            <a:r>
              <a:rPr lang="en-US" altLang="zh-CN" dirty="0"/>
              <a:t>3.6Reader</a:t>
            </a:r>
            <a:r>
              <a:rPr lang="zh-CN" altLang="en-US" dirty="0"/>
              <a:t> </a:t>
            </a:r>
            <a:r>
              <a:rPr lang="en-US" altLang="zh-CN" dirty="0"/>
              <a:t>Writer</a:t>
            </a:r>
            <a:r>
              <a:rPr lang="zh-CN" altLang="en-US" dirty="0"/>
              <a:t> </a:t>
            </a:r>
            <a:r>
              <a:rPr lang="en-US" altLang="zh-CN" dirty="0"/>
              <a:t>Problem</a:t>
            </a:r>
          </a:p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10C61F-7DCA-564C-89EE-88733F4A1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3D444-7193-46AD-90E8-D84AE4B61CFF}" type="slidenum">
              <a:rPr lang="en-US" smtClean="0"/>
              <a:pPr/>
              <a:t>61</a:t>
            </a:fld>
            <a:r>
              <a:rPr lang="en-US"/>
              <a:t>/</a:t>
            </a:r>
            <a:r>
              <a:rPr lang="en-US" altLang="zh-CN"/>
              <a:t>63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C881B6-7D5F-A649-A8D8-6877376649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6D1B6-B1AF-7D4D-A84B-F73F4DDF98DE}" type="datetime1">
              <a:rPr lang="zh-CN" altLang="en-US" smtClean="0"/>
              <a:t>2026/6/19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5038176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6FFDBB-6426-4DD6-B7F4-E74F6E4EDC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</a:t>
            </a:r>
            <a:r>
              <a:rPr lang="en-US" altLang="zh-CN" dirty="0"/>
              <a:t>ey Terms Related to Concurrency</a:t>
            </a:r>
            <a:endParaRPr 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58D3B25F-B669-4115-A807-8ABA233295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" y="882154"/>
            <a:ext cx="9477108" cy="5093692"/>
          </a:xfrm>
          <a:prstGeom prst="rect">
            <a:avLst/>
          </a:prstGeom>
        </p:spPr>
      </p:pic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4E3235F-C980-0C4B-9666-9139ED5E7D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AD591B-3767-044E-A802-957F196445FB}" type="datetime1">
              <a:rPr lang="zh-CN" altLang="en-US" smtClean="0"/>
              <a:t>2026/6/19</a:t>
            </a:fld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86BB966-28EA-FB49-A8AA-026254D7B0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3D444-7193-46AD-90E8-D84AE4B61CFF}" type="slidenum">
              <a:rPr lang="en-US" smtClean="0"/>
              <a:pPr/>
              <a:t>62</a:t>
            </a:fld>
            <a:r>
              <a:rPr lang="en-US"/>
              <a:t>/</a:t>
            </a:r>
            <a:r>
              <a:rPr lang="en-US" altLang="zh-CN"/>
              <a:t>63</a:t>
            </a:r>
            <a:endParaRPr 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324A4F8-1E35-47D8-0B65-AD7E0AC5CD91}"/>
              </a:ext>
            </a:extLst>
          </p:cNvPr>
          <p:cNvSpPr/>
          <p:nvPr/>
        </p:nvSpPr>
        <p:spPr>
          <a:xfrm>
            <a:off x="1150620" y="2202180"/>
            <a:ext cx="1653540" cy="36512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FB40FFD-F368-0B53-986A-70F8B79CA62F}"/>
              </a:ext>
            </a:extLst>
          </p:cNvPr>
          <p:cNvSpPr/>
          <p:nvPr/>
        </p:nvSpPr>
        <p:spPr>
          <a:xfrm>
            <a:off x="1104900" y="2849880"/>
            <a:ext cx="1653540" cy="36512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29C32E7-7AC1-7293-C837-80B917428352}"/>
              </a:ext>
            </a:extLst>
          </p:cNvPr>
          <p:cNvSpPr/>
          <p:nvPr/>
        </p:nvSpPr>
        <p:spPr>
          <a:xfrm>
            <a:off x="1219200" y="3955416"/>
            <a:ext cx="1653540" cy="36512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309794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51AF5C-4BC4-4356-A2B7-F023B68B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Illustration of Mutual Exclusion</a:t>
            </a:r>
            <a:endParaRPr lang="zh-CN" altLang="en-US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C0CA3807-0C89-4D5B-BC4C-99DD0AFE3C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080" y="1710721"/>
            <a:ext cx="11258299" cy="3005445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BCCE5F14-B2B7-4C4C-A75C-9E0DBC0F09F2}"/>
              </a:ext>
            </a:extLst>
          </p:cNvPr>
          <p:cNvSpPr/>
          <p:nvPr/>
        </p:nvSpPr>
        <p:spPr>
          <a:xfrm>
            <a:off x="1005145" y="2970215"/>
            <a:ext cx="2981317" cy="753691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11B6AFE-9F94-A14F-8449-8B808D54A6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F31DA-A005-6D4D-80C4-E495476E6DBB}" type="datetime1">
              <a:rPr lang="zh-CN" altLang="en-US" smtClean="0"/>
              <a:t>2026/6/19</a:t>
            </a:fld>
            <a:endParaRPr lang="zh-CN" altLang="en-US" dirty="0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C369E8D-9B17-FC48-9816-DFC368336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3D444-7193-46AD-90E8-D84AE4B61CFF}" type="slidenum">
              <a:rPr lang="en-US" smtClean="0"/>
              <a:pPr/>
              <a:t>63</a:t>
            </a:fld>
            <a:r>
              <a:rPr lang="en-US"/>
              <a:t>/</a:t>
            </a:r>
            <a:r>
              <a:rPr lang="en-US" altLang="zh-CN"/>
              <a:t>63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595271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51AF5C-4BC4-4356-A2B7-F023B68B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Mutual Exclusion Tools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B9F6F8-80BA-453F-8B4E-F2DBBF328F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Software Solution with </a:t>
            </a:r>
            <a:r>
              <a:rPr lang="en-US" altLang="zh-CN" dirty="0">
                <a:solidFill>
                  <a:srgbClr val="FF0000"/>
                </a:solidFill>
              </a:rPr>
              <a:t>busy waiting </a:t>
            </a:r>
            <a:r>
              <a:rPr lang="en-US" altLang="zh-CN" dirty="0"/>
              <a:t>technique:</a:t>
            </a:r>
          </a:p>
          <a:p>
            <a:pPr lvl="1"/>
            <a:r>
              <a:rPr lang="en-US" altLang="zh-CN" dirty="0"/>
              <a:t>Dekker algorithm</a:t>
            </a:r>
          </a:p>
          <a:p>
            <a:pPr lvl="1"/>
            <a:r>
              <a:rPr lang="en-US" altLang="zh-CN" dirty="0"/>
              <a:t>Peterson algorithm</a:t>
            </a:r>
          </a:p>
          <a:p>
            <a:pPr lvl="1"/>
            <a:endParaRPr lang="en-US" altLang="zh-CN" dirty="0"/>
          </a:p>
          <a:p>
            <a:r>
              <a:rPr lang="en-US" altLang="zh-CN" dirty="0"/>
              <a:t>Hardware support</a:t>
            </a:r>
          </a:p>
          <a:p>
            <a:pPr lvl="1"/>
            <a:r>
              <a:rPr lang="fr-FR" altLang="zh-CN" dirty="0"/>
              <a:t> Interrupt (uniprocesor)</a:t>
            </a:r>
          </a:p>
          <a:p>
            <a:pPr lvl="1"/>
            <a:r>
              <a:rPr lang="fr-FR" altLang="zh-CN" dirty="0"/>
              <a:t> Machine instruction (MPS)</a:t>
            </a:r>
          </a:p>
          <a:p>
            <a:pPr lvl="1"/>
            <a:endParaRPr lang="fr-FR" altLang="zh-CN" dirty="0"/>
          </a:p>
          <a:p>
            <a:r>
              <a:rPr lang="en-US" altLang="zh-CN" dirty="0"/>
              <a:t>Supported by </a:t>
            </a:r>
            <a:r>
              <a:rPr lang="en-US" altLang="zh-CN" dirty="0">
                <a:solidFill>
                  <a:srgbClr val="FF0000"/>
                </a:solidFill>
              </a:rPr>
              <a:t>OS or enforced by Language </a:t>
            </a:r>
            <a:r>
              <a:rPr lang="en-US" altLang="zh-CN" dirty="0"/>
              <a:t>compilers without busy waiting</a:t>
            </a:r>
          </a:p>
          <a:p>
            <a:pPr lvl="1"/>
            <a:r>
              <a:rPr lang="en-US" altLang="zh-CN" dirty="0"/>
              <a:t> </a:t>
            </a:r>
            <a:r>
              <a:rPr lang="en-US" altLang="zh-CN" dirty="0">
                <a:solidFill>
                  <a:srgbClr val="FF0000"/>
                </a:solidFill>
              </a:rPr>
              <a:t>Semaphore</a:t>
            </a:r>
          </a:p>
          <a:p>
            <a:pPr lvl="1"/>
            <a:r>
              <a:rPr lang="en-US" altLang="zh-CN" dirty="0"/>
              <a:t> Monitor</a:t>
            </a:r>
          </a:p>
          <a:p>
            <a:pPr lvl="1"/>
            <a:r>
              <a:rPr lang="en-US" altLang="zh-CN" dirty="0"/>
              <a:t> message</a:t>
            </a:r>
          </a:p>
          <a:p>
            <a:pPr lvl="1"/>
            <a:endParaRPr lang="zh-CN" altLang="en-US" dirty="0"/>
          </a:p>
        </p:txBody>
      </p:sp>
      <p:sp>
        <p:nvSpPr>
          <p:cNvPr id="6" name="日期占位符 5">
            <a:extLst>
              <a:ext uri="{FF2B5EF4-FFF2-40B4-BE49-F238E27FC236}">
                <a16:creationId xmlns:a16="http://schemas.microsoft.com/office/drawing/2014/main" id="{DC095306-348F-AD4A-9793-36D1007911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CD4B7-7700-F34E-BADC-7D81CFAB9BBA}" type="datetime1">
              <a:rPr lang="zh-CN" altLang="en-US" smtClean="0"/>
              <a:t>2026/6/19</a:t>
            </a:fld>
            <a:endParaRPr lang="zh-CN" altLang="en-US" dirty="0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646F2CD-02B3-094A-AAC5-FE09F17E4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3D444-7193-46AD-90E8-D84AE4B61CFF}" type="slidenum">
              <a:rPr lang="en-US" smtClean="0"/>
              <a:pPr/>
              <a:t>64</a:t>
            </a:fld>
            <a:r>
              <a:rPr lang="en-US"/>
              <a:t>/</a:t>
            </a:r>
            <a:r>
              <a:rPr lang="en-US" altLang="zh-CN"/>
              <a:t>63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9273169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51AF5C-4BC4-4356-A2B7-F023B68B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3.2 Semaphore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B9F6F8-80BA-453F-8B4E-F2DBBF328F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A variable that has </a:t>
            </a:r>
            <a:r>
              <a:rPr lang="en-US" altLang="zh-CN" dirty="0">
                <a:solidFill>
                  <a:srgbClr val="0070C0"/>
                </a:solidFill>
              </a:rPr>
              <a:t>an integer value </a:t>
            </a:r>
            <a:r>
              <a:rPr lang="en-US" altLang="zh-CN" dirty="0"/>
              <a:t>upon which only </a:t>
            </a:r>
            <a:r>
              <a:rPr lang="en-US" altLang="zh-CN" dirty="0">
                <a:solidFill>
                  <a:srgbClr val="0070C0"/>
                </a:solidFill>
              </a:rPr>
              <a:t>three operations </a:t>
            </a:r>
            <a:r>
              <a:rPr lang="en-US" altLang="zh-CN" dirty="0"/>
              <a:t>are defined: </a:t>
            </a:r>
          </a:p>
          <a:p>
            <a:pPr lvl="1"/>
            <a:r>
              <a:rPr lang="en-US" altLang="zh-CN" dirty="0"/>
              <a:t>May be </a:t>
            </a:r>
            <a:r>
              <a:rPr lang="en-US" altLang="zh-CN" dirty="0">
                <a:solidFill>
                  <a:srgbClr val="FF0000"/>
                </a:solidFill>
              </a:rPr>
              <a:t>initialized</a:t>
            </a:r>
            <a:r>
              <a:rPr lang="en-US" altLang="zh-CN" dirty="0"/>
              <a:t> to a nonnegative integer value</a:t>
            </a:r>
          </a:p>
          <a:p>
            <a:pPr lvl="1"/>
            <a:r>
              <a:rPr lang="en-US" altLang="zh-CN" dirty="0"/>
              <a:t>The </a:t>
            </a:r>
            <a:r>
              <a:rPr lang="en-US" altLang="zh-CN" dirty="0" err="1">
                <a:solidFill>
                  <a:srgbClr val="FF0000"/>
                </a:solidFill>
              </a:rPr>
              <a:t>semWait</a:t>
            </a:r>
            <a:r>
              <a:rPr lang="en-US" altLang="zh-CN" dirty="0"/>
              <a:t> operation decrements the value</a:t>
            </a:r>
          </a:p>
          <a:p>
            <a:pPr lvl="1"/>
            <a:r>
              <a:rPr lang="en-US" altLang="zh-CN" dirty="0"/>
              <a:t>The </a:t>
            </a:r>
            <a:r>
              <a:rPr lang="en-US" altLang="zh-CN" dirty="0" err="1">
                <a:solidFill>
                  <a:srgbClr val="FF0000"/>
                </a:solidFill>
              </a:rPr>
              <a:t>semSignal</a:t>
            </a:r>
            <a:r>
              <a:rPr lang="en-US" altLang="zh-CN" dirty="0"/>
              <a:t> operation increments the value</a:t>
            </a:r>
          </a:p>
          <a:p>
            <a:pPr marL="342900" lvl="1" indent="0">
              <a:buNone/>
            </a:pPr>
            <a:endParaRPr lang="en-US" altLang="zh-CN" dirty="0"/>
          </a:p>
          <a:p>
            <a:pPr lvl="1"/>
            <a:endParaRPr lang="en-US" altLang="zh-CN" dirty="0"/>
          </a:p>
          <a:p>
            <a:r>
              <a:rPr lang="en-US" altLang="zh-CN" dirty="0"/>
              <a:t>Limitation</a:t>
            </a:r>
          </a:p>
          <a:p>
            <a:pPr lvl="1"/>
            <a:r>
              <a:rPr lang="en-US" altLang="zh-CN" dirty="0"/>
              <a:t>There is no way to know before a process decrements a semaphore whether it will </a:t>
            </a:r>
            <a:r>
              <a:rPr lang="en-US" altLang="zh-CN" dirty="0">
                <a:solidFill>
                  <a:srgbClr val="FF0000"/>
                </a:solidFill>
              </a:rPr>
              <a:t>block or not</a:t>
            </a:r>
          </a:p>
          <a:p>
            <a:pPr lvl="1"/>
            <a:r>
              <a:rPr lang="en-US" altLang="zh-CN" dirty="0"/>
              <a:t>There is no way to know </a:t>
            </a:r>
            <a:r>
              <a:rPr lang="en-US" altLang="zh-CN" dirty="0">
                <a:solidFill>
                  <a:srgbClr val="FF0000"/>
                </a:solidFill>
              </a:rPr>
              <a:t>which process will continue </a:t>
            </a:r>
            <a:r>
              <a:rPr lang="en-US" altLang="zh-CN" dirty="0"/>
              <a:t>immediately on a uniprocessor system when two processes are running concurrently</a:t>
            </a:r>
          </a:p>
          <a:p>
            <a:pPr lvl="1"/>
            <a:r>
              <a:rPr lang="en-US" altLang="zh-CN" dirty="0"/>
              <a:t>You don’t know </a:t>
            </a:r>
            <a:r>
              <a:rPr lang="en-US" altLang="zh-CN" dirty="0">
                <a:solidFill>
                  <a:srgbClr val="FF0000"/>
                </a:solidFill>
              </a:rPr>
              <a:t>whether another process is waiting </a:t>
            </a:r>
            <a:r>
              <a:rPr lang="en-US" altLang="zh-CN" dirty="0"/>
              <a:t>so the number of unblocked processes may be zero or one</a:t>
            </a:r>
          </a:p>
          <a:p>
            <a:pPr lvl="1"/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10081855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C066E-4811-D040-A14A-C68F05D00C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Examples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DD2288-CC46-8149-929F-9457D869D3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The peak number of cars arriving at a shopping mall is </a:t>
            </a:r>
            <a:r>
              <a:rPr lang="en-US" sz="2000" dirty="0">
                <a:solidFill>
                  <a:srgbClr val="FF0000"/>
                </a:solidFill>
              </a:rPr>
              <a:t>150 per day</a:t>
            </a:r>
            <a:r>
              <a:rPr lang="en-US" sz="2000" dirty="0"/>
              <a:t>, but its parking lot can accommodate up to </a:t>
            </a:r>
            <a:r>
              <a:rPr lang="en-US" sz="2000" dirty="0">
                <a:solidFill>
                  <a:srgbClr val="FF0000"/>
                </a:solidFill>
              </a:rPr>
              <a:t>100 cars at any time</a:t>
            </a:r>
            <a:r>
              <a:rPr lang="en-US" sz="2000" dirty="0"/>
              <a:t>. When the number of parked cars is less than 100, other cars can </a:t>
            </a:r>
            <a:r>
              <a:rPr lang="en-US" sz="2000" dirty="0">
                <a:solidFill>
                  <a:srgbClr val="FF0000"/>
                </a:solidFill>
              </a:rPr>
              <a:t>enter immediately</a:t>
            </a:r>
            <a:r>
              <a:rPr lang="en-US" sz="2000" dirty="0"/>
              <a:t>, otherwise let the car </a:t>
            </a:r>
            <a:r>
              <a:rPr lang="en-US" sz="2000" dirty="0">
                <a:solidFill>
                  <a:srgbClr val="FF0000"/>
                </a:solidFill>
              </a:rPr>
              <a:t>queue</a:t>
            </a:r>
            <a:r>
              <a:rPr lang="en-US" sz="2000" dirty="0"/>
              <a:t>. If the car is regarded as a process, then the car arriving at the mall is a concurrent problem. Give a program fragment (</a:t>
            </a:r>
            <a:r>
              <a:rPr lang="zh-CN" altLang="en-US" sz="2000" dirty="0"/>
              <a:t>写一段程序</a:t>
            </a:r>
            <a:r>
              <a:rPr lang="en-US" altLang="zh-CN" sz="2000" dirty="0"/>
              <a:t>) </a:t>
            </a:r>
            <a:r>
              <a:rPr lang="en-US" sz="2000" dirty="0"/>
              <a:t>to </a:t>
            </a:r>
            <a:r>
              <a:rPr lang="en-US" sz="2000" dirty="0">
                <a:solidFill>
                  <a:srgbClr val="FF0000"/>
                </a:solidFill>
              </a:rPr>
              <a:t>describe the executions of the cars </a:t>
            </a:r>
            <a:r>
              <a:rPr lang="en-US" sz="2000" dirty="0"/>
              <a:t>correctly concurrently with semaphore mechanism.</a:t>
            </a:r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endParaRPr lang="en-US" sz="2000" dirty="0"/>
          </a:p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FFBD5B-BB9A-0347-A6A9-5BFE05462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3D444-7193-46AD-90E8-D84AE4B61CFF}" type="slidenum">
              <a:rPr lang="en-US" smtClean="0"/>
              <a:pPr/>
              <a:t>66</a:t>
            </a:fld>
            <a:r>
              <a:rPr lang="en-US" dirty="0"/>
              <a:t>/</a:t>
            </a:r>
            <a:r>
              <a:rPr lang="en-US" altLang="zh-CN" dirty="0"/>
              <a:t>63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277365-5FD3-F14C-99A9-0FD3A35B88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6D1B6-B1AF-7D4D-A84B-F73F4DDF98DE}" type="datetime1">
              <a:rPr lang="zh-CN" altLang="en-US" smtClean="0"/>
              <a:t>2026/6/19</a:t>
            </a:fld>
            <a:endParaRPr lang="zh-CN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3D04117-E6B6-0841-A037-592BA84A1580}"/>
              </a:ext>
            </a:extLst>
          </p:cNvPr>
          <p:cNvSpPr txBox="1"/>
          <p:nvPr/>
        </p:nvSpPr>
        <p:spPr>
          <a:xfrm>
            <a:off x="3162701" y="3411604"/>
            <a:ext cx="6097604" cy="258532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/>
              <a:t>Semaphore</a:t>
            </a:r>
            <a:r>
              <a:rPr lang="zh-CN" altLang="en-US" dirty="0"/>
              <a:t> </a:t>
            </a:r>
            <a:r>
              <a:rPr lang="en-US" altLang="zh-CN" dirty="0" err="1"/>
              <a:t>park_lot</a:t>
            </a:r>
            <a:r>
              <a:rPr lang="zh-CN" altLang="en-US" dirty="0"/>
              <a:t> </a:t>
            </a:r>
            <a:r>
              <a:rPr lang="en-US" altLang="zh-CN" dirty="0"/>
              <a:t>=</a:t>
            </a:r>
            <a:r>
              <a:rPr lang="zh-CN" altLang="en-US" dirty="0"/>
              <a:t> </a:t>
            </a:r>
            <a:r>
              <a:rPr lang="en-US" altLang="zh-CN" dirty="0"/>
              <a:t>100</a:t>
            </a:r>
            <a:endParaRPr lang="en-US" altLang="zh-CN" sz="1800" dirty="0"/>
          </a:p>
          <a:p>
            <a:r>
              <a:rPr lang="en-US" altLang="zh-CN" sz="1800" dirty="0"/>
              <a:t>Void</a:t>
            </a:r>
            <a:r>
              <a:rPr lang="zh-CN" altLang="en-US" sz="1800" dirty="0"/>
              <a:t> </a:t>
            </a:r>
            <a:r>
              <a:rPr lang="en-US" altLang="zh-CN" dirty="0"/>
              <a:t>car</a:t>
            </a:r>
            <a:r>
              <a:rPr lang="en-US" altLang="zh-CN" sz="1800" dirty="0"/>
              <a:t>(){</a:t>
            </a:r>
          </a:p>
          <a:p>
            <a:r>
              <a:rPr lang="en-US" altLang="zh-CN" dirty="0"/>
              <a:t>While</a:t>
            </a:r>
            <a:r>
              <a:rPr lang="zh-CN" altLang="en-US" dirty="0"/>
              <a:t> </a:t>
            </a:r>
            <a:r>
              <a:rPr lang="en-US" altLang="zh-CN" dirty="0"/>
              <a:t>(true){</a:t>
            </a:r>
            <a:endParaRPr lang="en-US" altLang="zh-CN" sz="1800" dirty="0"/>
          </a:p>
          <a:p>
            <a:pPr lvl="1"/>
            <a:r>
              <a:rPr lang="en-US" altLang="zh-CN" dirty="0" err="1"/>
              <a:t>semWait</a:t>
            </a:r>
            <a:r>
              <a:rPr lang="en-US" altLang="zh-CN" dirty="0"/>
              <a:t>(</a:t>
            </a:r>
            <a:r>
              <a:rPr lang="en-US" altLang="zh-CN" dirty="0" err="1"/>
              <a:t>park_lot</a:t>
            </a:r>
            <a:r>
              <a:rPr lang="en-US" altLang="zh-CN" dirty="0"/>
              <a:t>)</a:t>
            </a:r>
            <a:r>
              <a:rPr lang="zh-CN" altLang="en-US" dirty="0"/>
              <a:t>；</a:t>
            </a:r>
            <a:endParaRPr lang="en-US" altLang="zh-CN" dirty="0"/>
          </a:p>
          <a:p>
            <a:pPr lvl="1"/>
            <a:r>
              <a:rPr lang="en-US" altLang="zh-CN" dirty="0" err="1">
                <a:solidFill>
                  <a:srgbClr val="FF0000"/>
                </a:solidFill>
              </a:rPr>
              <a:t>enter_lot</a:t>
            </a:r>
            <a:r>
              <a:rPr lang="en-US" altLang="zh-CN" dirty="0">
                <a:solidFill>
                  <a:srgbClr val="FF0000"/>
                </a:solidFill>
              </a:rPr>
              <a:t>()</a:t>
            </a:r>
            <a:r>
              <a:rPr lang="zh-CN" altLang="en-US" dirty="0">
                <a:solidFill>
                  <a:srgbClr val="FF0000"/>
                </a:solidFill>
              </a:rPr>
              <a:t>；</a:t>
            </a:r>
            <a:endParaRPr lang="en-US" altLang="zh-CN" dirty="0">
              <a:solidFill>
                <a:srgbClr val="FF0000"/>
              </a:solidFill>
            </a:endParaRPr>
          </a:p>
          <a:p>
            <a:pPr lvl="1"/>
            <a:r>
              <a:rPr lang="en-US" altLang="zh-CN" dirty="0"/>
              <a:t>Parking()</a:t>
            </a:r>
            <a:r>
              <a:rPr lang="zh-CN" altLang="en-US" dirty="0"/>
              <a:t>；</a:t>
            </a:r>
            <a:endParaRPr lang="en-US" altLang="zh-CN" dirty="0"/>
          </a:p>
          <a:p>
            <a:pPr lvl="1"/>
            <a:r>
              <a:rPr lang="en-US" altLang="zh-CN" dirty="0" err="1">
                <a:solidFill>
                  <a:srgbClr val="FF0000"/>
                </a:solidFill>
              </a:rPr>
              <a:t>Out_lot</a:t>
            </a:r>
            <a:r>
              <a:rPr lang="en-US" altLang="zh-CN" dirty="0">
                <a:solidFill>
                  <a:srgbClr val="FF0000"/>
                </a:solidFill>
              </a:rPr>
              <a:t>()</a:t>
            </a:r>
            <a:r>
              <a:rPr lang="zh-CN" altLang="en-US" dirty="0">
                <a:solidFill>
                  <a:srgbClr val="FF0000"/>
                </a:solidFill>
              </a:rPr>
              <a:t>；</a:t>
            </a:r>
            <a:endParaRPr lang="en-US" altLang="zh-CN" dirty="0">
              <a:solidFill>
                <a:srgbClr val="FF0000"/>
              </a:solidFill>
            </a:endParaRPr>
          </a:p>
          <a:p>
            <a:pPr lvl="1"/>
            <a:r>
              <a:rPr lang="en-US" altLang="zh-CN" dirty="0" err="1"/>
              <a:t>semSignal</a:t>
            </a:r>
            <a:r>
              <a:rPr lang="en-US" altLang="zh-CN" dirty="0"/>
              <a:t>(</a:t>
            </a:r>
            <a:r>
              <a:rPr lang="en-US" altLang="zh-CN" dirty="0" err="1"/>
              <a:t>park_lot</a:t>
            </a:r>
            <a:r>
              <a:rPr lang="en-US" altLang="zh-CN" dirty="0"/>
              <a:t>)</a:t>
            </a:r>
            <a:r>
              <a:rPr lang="zh-CN" altLang="en-US" dirty="0"/>
              <a:t>；</a:t>
            </a:r>
            <a:endParaRPr lang="en-US" altLang="zh-CN" dirty="0"/>
          </a:p>
          <a:p>
            <a:r>
              <a:rPr lang="en-US" altLang="zh-CN" sz="18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248168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51AF5C-4BC4-4356-A2B7-F023B68B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tx2">
                    <a:lumMod val="50000"/>
                  </a:schemeClr>
                </a:solidFill>
              </a:rPr>
              <a:t>3.3</a:t>
            </a:r>
            <a:r>
              <a:rPr lang="zh-CN" altLang="en-US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n-US" altLang="zh-CN" dirty="0">
                <a:solidFill>
                  <a:schemeClr val="tx2">
                    <a:lumMod val="50000"/>
                  </a:schemeClr>
                </a:solidFill>
              </a:rPr>
              <a:t>Monitor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B9F6F8-80BA-453F-8B4E-F2DBBF328F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1229" y="841103"/>
            <a:ext cx="6012542" cy="3323573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altLang="zh-CN" dirty="0">
                <a:solidFill>
                  <a:srgbClr val="0070C0"/>
                </a:solidFill>
              </a:rPr>
              <a:t>Local data variables</a:t>
            </a:r>
            <a:r>
              <a:rPr lang="en-US" altLang="zh-CN" dirty="0"/>
              <a:t>: are accessible only by the </a:t>
            </a:r>
            <a:r>
              <a:rPr lang="en-US" altLang="zh-CN" dirty="0">
                <a:solidFill>
                  <a:srgbClr val="FF0000"/>
                </a:solidFill>
              </a:rPr>
              <a:t>monitor’s procedures</a:t>
            </a:r>
            <a:r>
              <a:rPr lang="en-US" altLang="zh-CN" dirty="0"/>
              <a:t> and not by any external procedure.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altLang="zh-CN" dirty="0">
                <a:solidFill>
                  <a:srgbClr val="0070C0"/>
                </a:solidFill>
              </a:rPr>
              <a:t>Procedures</a:t>
            </a:r>
            <a:r>
              <a:rPr lang="en-US" altLang="zh-CN" dirty="0"/>
              <a:t>:</a:t>
            </a:r>
            <a:r>
              <a:rPr lang="en-US" altLang="zh-CN" dirty="0">
                <a:solidFill>
                  <a:srgbClr val="FF0000"/>
                </a:solidFill>
              </a:rPr>
              <a:t> </a:t>
            </a:r>
            <a:r>
              <a:rPr lang="en-US" altLang="zh-CN" dirty="0"/>
              <a:t>Process </a:t>
            </a:r>
            <a:r>
              <a:rPr lang="en-US" altLang="zh-CN" dirty="0">
                <a:solidFill>
                  <a:srgbClr val="FF0000"/>
                </a:solidFill>
              </a:rPr>
              <a:t>enters</a:t>
            </a:r>
            <a:r>
              <a:rPr lang="en-US" altLang="zh-CN" dirty="0"/>
              <a:t> monitor by </a:t>
            </a:r>
            <a:r>
              <a:rPr lang="en-US" altLang="zh-CN" dirty="0">
                <a:solidFill>
                  <a:srgbClr val="FF0000"/>
                </a:solidFill>
              </a:rPr>
              <a:t>calling</a:t>
            </a:r>
            <a:r>
              <a:rPr lang="en-US" altLang="zh-CN" dirty="0"/>
              <a:t> one of monitor’s procedures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endParaRPr lang="en-US" altLang="zh-CN" dirty="0">
              <a:solidFill>
                <a:srgbClr val="FF0000"/>
              </a:solidFill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EEB3864-E299-4700-9180-8BD89A6C4472}"/>
              </a:ext>
            </a:extLst>
          </p:cNvPr>
          <p:cNvGrpSpPr/>
          <p:nvPr/>
        </p:nvGrpSpPr>
        <p:grpSpPr>
          <a:xfrm>
            <a:off x="7904906" y="841103"/>
            <a:ext cx="3463898" cy="5252888"/>
            <a:chOff x="7954389" y="841103"/>
            <a:chExt cx="3463898" cy="5252888"/>
          </a:xfrm>
        </p:grpSpPr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4EE29B78-0996-40D7-AEF3-B51A9710DC3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954389" y="841103"/>
              <a:ext cx="3463898" cy="5252888"/>
            </a:xfrm>
            <a:prstGeom prst="rect">
              <a:avLst/>
            </a:prstGeom>
          </p:spPr>
        </p:pic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B09AE348-34CF-455D-8ED1-FA232F4E3180}"/>
                </a:ext>
              </a:extLst>
            </p:cNvPr>
            <p:cNvSpPr/>
            <p:nvPr/>
          </p:nvSpPr>
          <p:spPr>
            <a:xfrm>
              <a:off x="9593943" y="950685"/>
              <a:ext cx="1694543" cy="841828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90CBE316-9ED5-4674-9AF0-9CFBA124841C}"/>
                </a:ext>
              </a:extLst>
            </p:cNvPr>
            <p:cNvSpPr/>
            <p:nvPr/>
          </p:nvSpPr>
          <p:spPr>
            <a:xfrm>
              <a:off x="9528630" y="3144966"/>
              <a:ext cx="1553028" cy="1964064"/>
            </a:xfrm>
            <a:prstGeom prst="rect">
              <a:avLst/>
            </a:prstGeom>
            <a:no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CD9AD562-8786-4957-BCB1-65B80FA01216}"/>
                </a:ext>
              </a:extLst>
            </p:cNvPr>
            <p:cNvSpPr/>
            <p:nvPr/>
          </p:nvSpPr>
          <p:spPr>
            <a:xfrm>
              <a:off x="9521373" y="2160005"/>
              <a:ext cx="1694543" cy="496109"/>
            </a:xfrm>
            <a:prstGeom prst="rect">
              <a:avLst/>
            </a:prstGeom>
            <a:noFill/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" name="文本框 12">
            <a:extLst>
              <a:ext uri="{FF2B5EF4-FFF2-40B4-BE49-F238E27FC236}">
                <a16:creationId xmlns:a16="http://schemas.microsoft.com/office/drawing/2014/main" id="{94B49CA3-F02C-4D0F-B5C6-8DA06D08D907}"/>
              </a:ext>
            </a:extLst>
          </p:cNvPr>
          <p:cNvSpPr txBox="1"/>
          <p:nvPr/>
        </p:nvSpPr>
        <p:spPr>
          <a:xfrm>
            <a:off x="8437747" y="5909325"/>
            <a:ext cx="25508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dirty="0">
                <a:solidFill>
                  <a:srgbClr val="231F20"/>
                </a:solidFill>
                <a:effectLst/>
                <a:latin typeface="TimesTenLTStd-Bold"/>
              </a:rPr>
              <a:t>Structure of a Monitor</a:t>
            </a:r>
            <a:endParaRPr lang="en-US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12BF2B7-533F-4E46-977B-3F6E161DC545}"/>
              </a:ext>
            </a:extLst>
          </p:cNvPr>
          <p:cNvSpPr txBox="1"/>
          <p:nvPr/>
        </p:nvSpPr>
        <p:spPr>
          <a:xfrm>
            <a:off x="1159825" y="3467547"/>
            <a:ext cx="6012543" cy="1569660"/>
          </a:xfrm>
          <a:prstGeom prst="rect">
            <a:avLst/>
          </a:prstGeom>
          <a:noFill/>
          <a:ln w="28575">
            <a:solidFill>
              <a:schemeClr val="accent3">
                <a:lumMod val="75000"/>
              </a:schemeClr>
            </a:solidFill>
            <a:prstDash val="dash"/>
          </a:ln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altLang="zh-CN" sz="2400" b="1" dirty="0">
                <a:solidFill>
                  <a:srgbClr val="0070C0"/>
                </a:solidFill>
                <a:highlight>
                  <a:srgbClr val="FFFF00"/>
                </a:highlight>
                <a:latin typeface="Microsoft YaHei UI" panose="020B0503020204020204" pitchFamily="34" charset="-122"/>
                <a:ea typeface="Microsoft YaHei UI" panose="020B0503020204020204" pitchFamily="34" charset="-122"/>
              </a:rPr>
              <a:t>Mutual exclusion </a:t>
            </a:r>
            <a:r>
              <a:rPr lang="zh-CN" altLang="en-US" sz="2400" b="1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：</a:t>
            </a:r>
            <a:r>
              <a:rPr lang="en-US" altLang="zh-CN" sz="2400" b="1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Only one process may be executing </a:t>
            </a:r>
            <a:r>
              <a:rPr lang="en-US" altLang="zh-CN" sz="2400" b="1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in the monitor and </a:t>
            </a:r>
            <a:r>
              <a:rPr lang="en-US" altLang="zh-CN" sz="2400" b="1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have access to </a:t>
            </a:r>
            <a:r>
              <a:rPr lang="en-US" altLang="zh-CN" sz="2400" b="1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the local data variables at a time. Others are </a:t>
            </a:r>
            <a:r>
              <a:rPr lang="en-US" altLang="zh-CN" sz="2400" b="1" dirty="0">
                <a:solidFill>
                  <a:srgbClr val="0070C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blocked</a:t>
            </a:r>
            <a:r>
              <a:rPr lang="en-US" altLang="zh-CN" sz="2400" b="1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.</a:t>
            </a:r>
            <a:endParaRPr lang="zh-CN" altLang="en-US" sz="2400" b="1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6" name="日期占位符 5">
            <a:extLst>
              <a:ext uri="{FF2B5EF4-FFF2-40B4-BE49-F238E27FC236}">
                <a16:creationId xmlns:a16="http://schemas.microsoft.com/office/drawing/2014/main" id="{6480B71A-2DD0-414E-932F-30C362F458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1C3B1-C654-1B47-AE65-40DEEF07B7E8}" type="datetime1">
              <a:rPr lang="zh-CN" altLang="en-US" smtClean="0"/>
              <a:t>2026/6/19</a:t>
            </a:fld>
            <a:endParaRPr lang="zh-CN" altLang="en-US" dirty="0"/>
          </a:p>
        </p:txBody>
      </p:sp>
      <p:sp>
        <p:nvSpPr>
          <p:cNvPr id="12" name="灯片编号占位符 11">
            <a:extLst>
              <a:ext uri="{FF2B5EF4-FFF2-40B4-BE49-F238E27FC236}">
                <a16:creationId xmlns:a16="http://schemas.microsoft.com/office/drawing/2014/main" id="{157931B7-67D2-9E48-B545-B10D8C0A0D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3D444-7193-46AD-90E8-D84AE4B61CFF}" type="slidenum">
              <a:rPr lang="en-US" smtClean="0"/>
              <a:pPr/>
              <a:t>67</a:t>
            </a:fld>
            <a:r>
              <a:rPr lang="en-US"/>
              <a:t>/</a:t>
            </a:r>
            <a:r>
              <a:rPr lang="en-US" altLang="zh-CN"/>
              <a:t>63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751927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51AF5C-4BC4-4356-A2B7-F023B68B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Synchronization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B9F6F8-80BA-453F-8B4E-F2DBBF328F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41103"/>
            <a:ext cx="6485313" cy="5175794"/>
          </a:xfrm>
        </p:spPr>
        <p:txBody>
          <a:bodyPr>
            <a:normAutofit/>
          </a:bodyPr>
          <a:lstStyle/>
          <a:p>
            <a:r>
              <a:rPr lang="en-US" altLang="zh-CN" dirty="0">
                <a:solidFill>
                  <a:srgbClr val="0070C0"/>
                </a:solidFill>
              </a:rPr>
              <a:t>Condition variables</a:t>
            </a:r>
            <a:r>
              <a:rPr lang="zh-CN" altLang="en-US" dirty="0">
                <a:solidFill>
                  <a:srgbClr val="0070C0"/>
                </a:solidFill>
              </a:rPr>
              <a:t>： </a:t>
            </a:r>
            <a:r>
              <a:rPr lang="en-US" altLang="zh-CN" dirty="0"/>
              <a:t>contained within the monitor and accessible only within the monitor</a:t>
            </a:r>
          </a:p>
          <a:p>
            <a:r>
              <a:rPr lang="en-US" altLang="zh-CN" dirty="0"/>
              <a:t>a special data type in monitor</a:t>
            </a:r>
            <a:r>
              <a:rPr lang="zh-CN" altLang="en-US" dirty="0"/>
              <a:t>，</a:t>
            </a:r>
            <a:r>
              <a:rPr lang="en-US" altLang="zh-CN" dirty="0"/>
              <a:t>are operated on by </a:t>
            </a:r>
            <a:r>
              <a:rPr lang="en-US" altLang="zh-CN" dirty="0">
                <a:solidFill>
                  <a:srgbClr val="0070C0"/>
                </a:solidFill>
              </a:rPr>
              <a:t>two functions:</a:t>
            </a:r>
            <a:endParaRPr lang="en-US" altLang="zh-CN" dirty="0"/>
          </a:p>
          <a:p>
            <a:pPr lvl="1"/>
            <a:r>
              <a:rPr lang="en-US" altLang="zh-CN" dirty="0" err="1">
                <a:solidFill>
                  <a:srgbClr val="FF0000"/>
                </a:solidFill>
              </a:rPr>
              <a:t>cwait</a:t>
            </a:r>
            <a:r>
              <a:rPr lang="en-US" altLang="zh-CN" dirty="0">
                <a:solidFill>
                  <a:srgbClr val="FF0000"/>
                </a:solidFill>
              </a:rPr>
              <a:t>(c)</a:t>
            </a:r>
            <a:r>
              <a:rPr lang="en-US" altLang="zh-CN" dirty="0"/>
              <a:t>: </a:t>
            </a:r>
            <a:r>
              <a:rPr lang="en-US" altLang="zh-CN" dirty="0">
                <a:solidFill>
                  <a:srgbClr val="0070C0"/>
                </a:solidFill>
              </a:rPr>
              <a:t>block</a:t>
            </a:r>
            <a:r>
              <a:rPr lang="en-US" altLang="zh-CN" dirty="0"/>
              <a:t> the executing process on </a:t>
            </a:r>
            <a:r>
              <a:rPr lang="en-US" altLang="zh-CN" dirty="0">
                <a:solidFill>
                  <a:srgbClr val="0070C0"/>
                </a:solidFill>
              </a:rPr>
              <a:t>condition c</a:t>
            </a:r>
            <a:r>
              <a:rPr lang="en-US" altLang="zh-CN" dirty="0"/>
              <a:t>; the monitor can be used be the other processes. </a:t>
            </a:r>
          </a:p>
          <a:p>
            <a:pPr lvl="1"/>
            <a:r>
              <a:rPr lang="en-US" altLang="zh-CN" dirty="0" err="1">
                <a:solidFill>
                  <a:srgbClr val="FF0000"/>
                </a:solidFill>
              </a:rPr>
              <a:t>csignal</a:t>
            </a:r>
            <a:r>
              <a:rPr lang="en-US" altLang="zh-CN" dirty="0">
                <a:solidFill>
                  <a:srgbClr val="FF0000"/>
                </a:solidFill>
              </a:rPr>
              <a:t>(c)</a:t>
            </a:r>
            <a:r>
              <a:rPr lang="en-US" altLang="zh-CN" dirty="0"/>
              <a:t>: </a:t>
            </a:r>
            <a:r>
              <a:rPr lang="en-US" altLang="zh-CN" dirty="0">
                <a:solidFill>
                  <a:srgbClr val="0070C0"/>
                </a:solidFill>
              </a:rPr>
              <a:t>resume</a:t>
            </a:r>
            <a:r>
              <a:rPr lang="en-US" altLang="zh-CN" dirty="0"/>
              <a:t> one of process blocked by condition </a:t>
            </a:r>
            <a:r>
              <a:rPr lang="en-US" altLang="zh-CN" dirty="0" err="1"/>
              <a:t>cwait</a:t>
            </a:r>
            <a:r>
              <a:rPr lang="en-US" altLang="zh-CN" dirty="0"/>
              <a:t>(c); </a:t>
            </a:r>
            <a:r>
              <a:rPr lang="en-US" altLang="zh-CN" b="1" dirty="0">
                <a:solidFill>
                  <a:srgbClr val="FF0000"/>
                </a:solidFill>
              </a:rPr>
              <a:t>if there is no such process, do nothing and signal is lost.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64B45BE-F928-4F82-B0AC-AC2DFB5F08AD}"/>
              </a:ext>
            </a:extLst>
          </p:cNvPr>
          <p:cNvSpPr txBox="1"/>
          <p:nvPr/>
        </p:nvSpPr>
        <p:spPr>
          <a:xfrm>
            <a:off x="8085694" y="6312534"/>
            <a:ext cx="396467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Figure 5.15   Structure of a Monitor</a:t>
            </a: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3B257466-3411-4BB1-8E03-F2D269409BAB}"/>
              </a:ext>
            </a:extLst>
          </p:cNvPr>
          <p:cNvGrpSpPr/>
          <p:nvPr/>
        </p:nvGrpSpPr>
        <p:grpSpPr>
          <a:xfrm>
            <a:off x="8004659" y="906468"/>
            <a:ext cx="3463898" cy="5252888"/>
            <a:chOff x="7780216" y="900863"/>
            <a:chExt cx="3463898" cy="5252888"/>
          </a:xfrm>
        </p:grpSpPr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211B4755-0AEC-4BF4-A9D6-73E86EFDC49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780216" y="900863"/>
              <a:ext cx="3463898" cy="5252888"/>
            </a:xfrm>
            <a:prstGeom prst="rect">
              <a:avLst/>
            </a:prstGeom>
          </p:spPr>
        </p:pic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052FEB58-07B3-40DF-86EE-30E651C46BFF}"/>
                </a:ext>
              </a:extLst>
            </p:cNvPr>
            <p:cNvSpPr/>
            <p:nvPr/>
          </p:nvSpPr>
          <p:spPr>
            <a:xfrm>
              <a:off x="9342120" y="2641600"/>
              <a:ext cx="1686560" cy="558800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9" name="日期占位符 8">
            <a:extLst>
              <a:ext uri="{FF2B5EF4-FFF2-40B4-BE49-F238E27FC236}">
                <a16:creationId xmlns:a16="http://schemas.microsoft.com/office/drawing/2014/main" id="{C295F6E7-32F5-1B45-97C8-8E6312A36C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674FF-C150-1A45-814B-D0209678C73E}" type="datetime1">
              <a:rPr lang="zh-CN" altLang="en-US" smtClean="0"/>
              <a:t>2026/6/19</a:t>
            </a:fld>
            <a:endParaRPr lang="zh-CN" altLang="en-US" dirty="0"/>
          </a:p>
        </p:txBody>
      </p:sp>
      <p:sp>
        <p:nvSpPr>
          <p:cNvPr id="10" name="灯片编号占位符 9">
            <a:extLst>
              <a:ext uri="{FF2B5EF4-FFF2-40B4-BE49-F238E27FC236}">
                <a16:creationId xmlns:a16="http://schemas.microsoft.com/office/drawing/2014/main" id="{9855E3F0-6B14-704F-B285-AC3E04429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3D444-7193-46AD-90E8-D84AE4B61CFF}" type="slidenum">
              <a:rPr lang="en-US" smtClean="0"/>
              <a:pPr/>
              <a:t>68</a:t>
            </a:fld>
            <a:r>
              <a:rPr lang="en-US"/>
              <a:t>/</a:t>
            </a:r>
            <a:r>
              <a:rPr lang="en-US" altLang="zh-CN"/>
              <a:t>63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811090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51AF5C-4BC4-4356-A2B7-F023B68B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Message Passing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B9F6F8-80BA-453F-8B4E-F2DBBF328F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Motivation——when </a:t>
            </a:r>
            <a:r>
              <a:rPr lang="en-US" altLang="zh-CN" dirty="0">
                <a:solidFill>
                  <a:srgbClr val="FF0000"/>
                </a:solidFill>
              </a:rPr>
              <a:t>processes interact </a:t>
            </a:r>
            <a:r>
              <a:rPr lang="en-US" altLang="zh-CN" dirty="0"/>
              <a:t>with one another, two fundamental requirements must be satisfied: </a:t>
            </a:r>
          </a:p>
          <a:p>
            <a:pPr lvl="1"/>
            <a:r>
              <a:rPr lang="en-US" altLang="zh-CN" dirty="0">
                <a:solidFill>
                  <a:srgbClr val="0070C0"/>
                </a:solidFill>
              </a:rPr>
              <a:t>Synchronization</a:t>
            </a:r>
            <a:r>
              <a:rPr lang="en-US" altLang="zh-CN" dirty="0"/>
              <a:t>: Processes need to be synchronized to enforce mutual exclusion</a:t>
            </a:r>
            <a:r>
              <a:rPr lang="zh-CN" altLang="en-US" dirty="0"/>
              <a:t>；</a:t>
            </a:r>
            <a:endParaRPr lang="en-US" altLang="zh-CN" dirty="0"/>
          </a:p>
          <a:p>
            <a:pPr lvl="1"/>
            <a:r>
              <a:rPr lang="en-US" altLang="zh-CN" dirty="0">
                <a:solidFill>
                  <a:srgbClr val="0070C0"/>
                </a:solidFill>
              </a:rPr>
              <a:t>Communication</a:t>
            </a:r>
            <a:r>
              <a:rPr lang="en-US" altLang="zh-CN" dirty="0"/>
              <a:t>: cooperating processes may need to exchange information</a:t>
            </a:r>
            <a:r>
              <a:rPr lang="zh-CN" altLang="en-US" dirty="0"/>
              <a:t>；</a:t>
            </a:r>
            <a:endParaRPr lang="en-US" altLang="zh-CN" dirty="0"/>
          </a:p>
          <a:p>
            <a:pPr marL="0" indent="0">
              <a:buNone/>
            </a:pP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/>
              <a:t>The actual function is normally provided in the form of </a:t>
            </a:r>
            <a:r>
              <a:rPr lang="en-US" altLang="zh-CN" dirty="0">
                <a:solidFill>
                  <a:srgbClr val="FF0000"/>
                </a:solidFill>
              </a:rPr>
              <a:t>a pair of primitives</a:t>
            </a:r>
            <a:r>
              <a:rPr lang="en-US" altLang="zh-CN" dirty="0">
                <a:solidFill>
                  <a:srgbClr val="C00000"/>
                </a:solidFill>
              </a:rPr>
              <a:t> (</a:t>
            </a:r>
            <a:r>
              <a:rPr lang="zh-CN" altLang="en-US" dirty="0">
                <a:solidFill>
                  <a:srgbClr val="C00000"/>
                </a:solidFill>
              </a:rPr>
              <a:t>原语</a:t>
            </a:r>
            <a:r>
              <a:rPr lang="en-US" altLang="zh-CN" dirty="0">
                <a:solidFill>
                  <a:srgbClr val="C00000"/>
                </a:solidFill>
              </a:rPr>
              <a:t>)</a:t>
            </a:r>
            <a:r>
              <a:rPr lang="en-US" altLang="zh-CN" dirty="0"/>
              <a:t>:</a:t>
            </a:r>
          </a:p>
          <a:p>
            <a:pPr lvl="1"/>
            <a:r>
              <a:rPr lang="en-US" altLang="zh-CN" b="1" dirty="0">
                <a:solidFill>
                  <a:srgbClr val="FF0000"/>
                </a:solidFill>
              </a:rPr>
              <a:t>send</a:t>
            </a:r>
            <a:r>
              <a:rPr lang="en-US" altLang="zh-CN" dirty="0"/>
              <a:t> (destination, message)</a:t>
            </a:r>
          </a:p>
          <a:p>
            <a:pPr lvl="1"/>
            <a:r>
              <a:rPr lang="en-US" altLang="zh-CN" b="1" dirty="0">
                <a:solidFill>
                  <a:srgbClr val="FF0000"/>
                </a:solidFill>
              </a:rPr>
              <a:t>receive</a:t>
            </a:r>
            <a:r>
              <a:rPr lang="en-US" altLang="zh-CN" dirty="0"/>
              <a:t> (source, message)</a:t>
            </a:r>
          </a:p>
          <a:p>
            <a:pPr lvl="1"/>
            <a:endParaRPr lang="zh-CN" altLang="en-US" dirty="0"/>
          </a:p>
        </p:txBody>
      </p:sp>
      <p:sp>
        <p:nvSpPr>
          <p:cNvPr id="6" name="日期占位符 5">
            <a:extLst>
              <a:ext uri="{FF2B5EF4-FFF2-40B4-BE49-F238E27FC236}">
                <a16:creationId xmlns:a16="http://schemas.microsoft.com/office/drawing/2014/main" id="{09861E8E-3389-A147-8625-BDCC9F64C6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BB122-5361-4D42-A3E3-2449EFC6EE54}" type="datetime1">
              <a:rPr lang="zh-CN" altLang="en-US" smtClean="0"/>
              <a:t>2026/6/19</a:t>
            </a:fld>
            <a:endParaRPr lang="zh-CN" altLang="en-US" dirty="0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133D928-BE0A-8D47-87CA-15BC10D823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3D444-7193-46AD-90E8-D84AE4B61CFF}" type="slidenum">
              <a:rPr lang="en-US" smtClean="0"/>
              <a:pPr/>
              <a:t>69</a:t>
            </a:fld>
            <a:r>
              <a:rPr lang="en-US"/>
              <a:t>/</a:t>
            </a:r>
            <a:r>
              <a:rPr lang="en-US" altLang="zh-CN"/>
              <a:t>63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9048474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51AF5C-4BC4-4356-A2B7-F023B68B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Producer/Consumer Problem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B9F6F8-80BA-453F-8B4E-F2DBBF328F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Situation:</a:t>
            </a:r>
          </a:p>
          <a:p>
            <a:pPr lvl="1"/>
            <a:r>
              <a:rPr lang="en-US" altLang="zh-CN" dirty="0">
                <a:solidFill>
                  <a:srgbClr val="FF0000"/>
                </a:solidFill>
              </a:rPr>
              <a:t>one or more producers </a:t>
            </a:r>
            <a:r>
              <a:rPr lang="en-US" altLang="zh-CN" dirty="0"/>
              <a:t>are generating data and placing these in a buffer</a:t>
            </a:r>
          </a:p>
          <a:p>
            <a:pPr lvl="1"/>
            <a:r>
              <a:rPr lang="en-US" altLang="zh-CN" dirty="0">
                <a:solidFill>
                  <a:srgbClr val="FF0000"/>
                </a:solidFill>
              </a:rPr>
              <a:t>a single consumer </a:t>
            </a:r>
            <a:r>
              <a:rPr lang="en-US" altLang="zh-CN" dirty="0"/>
              <a:t>is taking items out of the buffer one at time</a:t>
            </a:r>
          </a:p>
          <a:p>
            <a:pPr lvl="1"/>
            <a:r>
              <a:rPr lang="en-US" altLang="zh-CN" dirty="0">
                <a:solidFill>
                  <a:srgbClr val="FF0000"/>
                </a:solidFill>
              </a:rPr>
              <a:t>only one producer or consumer </a:t>
            </a:r>
            <a:r>
              <a:rPr lang="en-US" altLang="zh-CN" dirty="0"/>
              <a:t>may access the buffer at any one time</a:t>
            </a:r>
          </a:p>
          <a:p>
            <a:endParaRPr lang="en-US" altLang="zh-CN" dirty="0"/>
          </a:p>
          <a:p>
            <a:r>
              <a:rPr lang="en-US" altLang="zh-CN" dirty="0"/>
              <a:t>Problem:</a:t>
            </a:r>
          </a:p>
          <a:p>
            <a:pPr lvl="1"/>
            <a:r>
              <a:rPr lang="en-US" altLang="zh-CN" dirty="0">
                <a:solidFill>
                  <a:srgbClr val="FF0000"/>
                </a:solidFill>
              </a:rPr>
              <a:t>Mutual exclusion</a:t>
            </a:r>
            <a:r>
              <a:rPr lang="en-US" altLang="zh-CN" dirty="0"/>
              <a:t>-one process visit the </a:t>
            </a:r>
            <a:r>
              <a:rPr lang="en-US" altLang="zh-CN" dirty="0">
                <a:solidFill>
                  <a:srgbClr val="C00000"/>
                </a:solidFill>
              </a:rPr>
              <a:t>buffer</a:t>
            </a:r>
            <a:r>
              <a:rPr lang="en-US" altLang="zh-CN" dirty="0"/>
              <a:t> </a:t>
            </a:r>
          </a:p>
          <a:p>
            <a:pPr lvl="1"/>
            <a:r>
              <a:rPr lang="en-US" altLang="zh-CN" dirty="0"/>
              <a:t>Synchronization- producer can’t add data into </a:t>
            </a:r>
            <a:r>
              <a:rPr lang="en-US" altLang="zh-CN" dirty="0">
                <a:solidFill>
                  <a:srgbClr val="C00000"/>
                </a:solidFill>
              </a:rPr>
              <a:t>full buffer</a:t>
            </a:r>
          </a:p>
          <a:p>
            <a:pPr lvl="1"/>
            <a:r>
              <a:rPr lang="en-US" altLang="zh-CN" dirty="0"/>
              <a:t>Synchronization- consumer can’t remove data from an </a:t>
            </a:r>
            <a:r>
              <a:rPr lang="en-US" altLang="zh-CN" dirty="0">
                <a:solidFill>
                  <a:srgbClr val="C00000"/>
                </a:solidFill>
              </a:rPr>
              <a:t>empty buffer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56496697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A428E6-9BB7-0BE8-897C-A26381E33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F2B3525-7F38-AB72-1EA4-6AD8D93B7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3D444-7193-46AD-90E8-D84AE4B61CFF}" type="slidenum">
              <a:rPr lang="en-US" smtClean="0"/>
              <a:pPr/>
              <a:t>71</a:t>
            </a:fld>
            <a:r>
              <a:rPr lang="en-US"/>
              <a:t>/114</a:t>
            </a:r>
            <a:endParaRPr lang="en-US" dirty="0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DAC47D0-8DE2-4866-1D8D-BCD0816002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6D1B6-B1AF-7D4D-A84B-F73F4DDF98DE}" type="datetime1">
              <a:rPr lang="zh-CN" altLang="en-US" smtClean="0"/>
              <a:t>2026/6/19</a:t>
            </a:fld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9E779B0-1102-7FEE-B94B-3C08745CFCD2}"/>
              </a:ext>
            </a:extLst>
          </p:cNvPr>
          <p:cNvSpPr txBox="1"/>
          <p:nvPr/>
        </p:nvSpPr>
        <p:spPr>
          <a:xfrm>
            <a:off x="917632" y="1023157"/>
            <a:ext cx="10356735" cy="41703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zh-CN" sz="1800" dirty="0"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In a smart railway monitoring system, two concurrent threads share an alarm queue of size N = 256 in memory. A detector thread continuously monitors track conditions and inserts detected abnormal events into the queue. A dispatcher thread removes events from the queue and sends alert messages to the control center. Use semaphores to synchronize the two threads and ensure the following: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lvl="0" indent="-342900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lphaLcParenR"/>
            </a:pPr>
            <a:r>
              <a:rPr lang="en-US" altLang="zh-CN" sz="1800" dirty="0"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The detector thread waits if the queue is full (i.e., 256 events are already stored).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lvl="0" indent="-342900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lphaLcParenR"/>
            </a:pPr>
            <a:r>
              <a:rPr lang="en-US" altLang="zh-CN" sz="1800" dirty="0"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The dispatcher thread waits if the queue is empty (i.e., no event is available to send).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lvl="0" indent="-342900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lphaLcParenR"/>
            </a:pPr>
            <a:r>
              <a:rPr lang="en-US" altLang="zh-CN" sz="1800" dirty="0"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At most one thread can access the shared queue at any time.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zh-CN" sz="1800" dirty="0"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Answer the following questions: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zh-CN" sz="1800" dirty="0"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(1) Declare the semaphore variables and queue size constant needed to solve this synchronization problem.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zh-CN" sz="1800" dirty="0"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(2) Write the logic of the detector thread using appropriate semaphore operations.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zh-CN" sz="1800" dirty="0"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(3) Write the logic of the dispatcher thread using appropriate semaphore operations.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7283048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6A28557-3510-566A-C18E-14CD5288E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3D444-7193-46AD-90E8-D84AE4B61CFF}" type="slidenum">
              <a:rPr lang="en-US" smtClean="0"/>
              <a:pPr/>
              <a:t>72</a:t>
            </a:fld>
            <a:r>
              <a:rPr lang="en-US"/>
              <a:t>/114</a:t>
            </a:r>
            <a:endParaRPr lang="en-US" dirty="0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C0C6EE8-A54C-12DD-FC08-AC92FD196A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6D1B6-B1AF-7D4D-A84B-F73F4DDF98DE}" type="datetime1">
              <a:rPr lang="zh-CN" altLang="en-US" smtClean="0"/>
              <a:t>2026/6/19</a:t>
            </a:fld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E07C9FD-75A9-80F8-2951-07398BFA3749}"/>
              </a:ext>
            </a:extLst>
          </p:cNvPr>
          <p:cNvSpPr txBox="1"/>
          <p:nvPr/>
        </p:nvSpPr>
        <p:spPr>
          <a:xfrm>
            <a:off x="1578290" y="2030354"/>
            <a:ext cx="60960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zh-CN" altLang="en-US" dirty="0"/>
          </a:p>
          <a:p>
            <a:r>
              <a:rPr lang="zh-CN" altLang="en-US" dirty="0"/>
              <a:t>DetectorThread() {</a:t>
            </a:r>
          </a:p>
          <a:p>
            <a:r>
              <a:rPr lang="zh-CN" altLang="en-US" dirty="0"/>
              <a:t>    while (true) {</a:t>
            </a:r>
          </a:p>
          <a:p>
            <a:r>
              <a:rPr lang="zh-CN" altLang="en-US" dirty="0"/>
              <a:t>        event = detect_abnormal_event();</a:t>
            </a:r>
          </a:p>
          <a:p>
            <a:endParaRPr lang="zh-CN" altLang="en-US" dirty="0"/>
          </a:p>
          <a:p>
            <a:r>
              <a:rPr lang="zh-CN" altLang="en-US" dirty="0">
                <a:solidFill>
                  <a:srgbClr val="C00000"/>
                </a:solidFill>
              </a:rPr>
              <a:t>        P(empty);</a:t>
            </a:r>
          </a:p>
          <a:p>
            <a:r>
              <a:rPr lang="zh-CN" altLang="en-US" dirty="0"/>
              <a:t>        P(mutex);</a:t>
            </a:r>
          </a:p>
          <a:p>
            <a:endParaRPr lang="zh-CN" altLang="en-US" dirty="0"/>
          </a:p>
          <a:p>
            <a:r>
              <a:rPr lang="zh-CN" altLang="en-US" dirty="0"/>
              <a:t>        insert(queue, event);</a:t>
            </a:r>
          </a:p>
          <a:p>
            <a:endParaRPr lang="zh-CN" altLang="en-US" dirty="0"/>
          </a:p>
          <a:p>
            <a:r>
              <a:rPr lang="zh-CN" altLang="en-US" dirty="0"/>
              <a:t>        V(mutex);</a:t>
            </a:r>
          </a:p>
          <a:p>
            <a:r>
              <a:rPr lang="zh-CN" altLang="en-US" dirty="0">
                <a:solidFill>
                  <a:srgbClr val="C00000"/>
                </a:solidFill>
              </a:rPr>
              <a:t>        V(full);</a:t>
            </a:r>
          </a:p>
          <a:p>
            <a:r>
              <a:rPr lang="zh-CN" altLang="en-US" dirty="0"/>
              <a:t>    }</a:t>
            </a:r>
          </a:p>
          <a:p>
            <a:r>
              <a:rPr lang="zh-CN" altLang="en-US" dirty="0"/>
              <a:t>}</a:t>
            </a:r>
          </a:p>
          <a:p>
            <a:endParaRPr lang="zh-CN" altLang="en-US" dirty="0"/>
          </a:p>
          <a:p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B2233C5-7A93-D4AE-AE72-B4C4341FCA5F}"/>
              </a:ext>
            </a:extLst>
          </p:cNvPr>
          <p:cNvSpPr txBox="1"/>
          <p:nvPr/>
        </p:nvSpPr>
        <p:spPr>
          <a:xfrm>
            <a:off x="6557066" y="2445851"/>
            <a:ext cx="4232854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DispatcherThread() {</a:t>
            </a:r>
          </a:p>
          <a:p>
            <a:r>
              <a:rPr lang="zh-CN" altLang="en-US" dirty="0"/>
              <a:t>    while (true) {</a:t>
            </a:r>
            <a:endParaRPr lang="en-US" altLang="zh-CN" dirty="0"/>
          </a:p>
          <a:p>
            <a:endParaRPr lang="zh-CN" altLang="en-US" dirty="0"/>
          </a:p>
          <a:p>
            <a:r>
              <a:rPr lang="zh-CN" altLang="en-US" dirty="0">
                <a:solidFill>
                  <a:srgbClr val="C00000"/>
                </a:solidFill>
              </a:rPr>
              <a:t>        P(full);</a:t>
            </a:r>
          </a:p>
          <a:p>
            <a:r>
              <a:rPr lang="zh-CN" altLang="en-US" dirty="0"/>
              <a:t>        P(mutex);</a:t>
            </a:r>
          </a:p>
          <a:p>
            <a:endParaRPr lang="zh-CN" altLang="en-US" dirty="0"/>
          </a:p>
          <a:p>
            <a:r>
              <a:rPr lang="zh-CN" altLang="en-US" dirty="0"/>
              <a:t>        event = remove(queue);</a:t>
            </a:r>
          </a:p>
          <a:p>
            <a:endParaRPr lang="zh-CN" altLang="en-US" dirty="0"/>
          </a:p>
          <a:p>
            <a:r>
              <a:rPr lang="zh-CN" altLang="en-US" dirty="0"/>
              <a:t>        V(mutex);</a:t>
            </a:r>
          </a:p>
          <a:p>
            <a:r>
              <a:rPr lang="zh-CN" altLang="en-US" dirty="0">
                <a:solidFill>
                  <a:srgbClr val="C00000"/>
                </a:solidFill>
              </a:rPr>
              <a:t>        V(empty);</a:t>
            </a:r>
          </a:p>
          <a:p>
            <a:endParaRPr lang="zh-CN" altLang="en-US" dirty="0"/>
          </a:p>
          <a:p>
            <a:r>
              <a:rPr lang="zh-CN" altLang="en-US" dirty="0"/>
              <a:t>        send_alert(event);</a:t>
            </a:r>
          </a:p>
          <a:p>
            <a:r>
              <a:rPr lang="zh-CN" altLang="en-US" dirty="0"/>
              <a:t>    }</a:t>
            </a:r>
          </a:p>
          <a:p>
            <a:r>
              <a:rPr lang="zh-CN" altLang="en-US" dirty="0"/>
              <a:t>}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FE743B7-CB09-97BF-977B-D4FCAC9ED846}"/>
              </a:ext>
            </a:extLst>
          </p:cNvPr>
          <p:cNvSpPr txBox="1"/>
          <p:nvPr/>
        </p:nvSpPr>
        <p:spPr>
          <a:xfrm>
            <a:off x="2589027" y="718830"/>
            <a:ext cx="624131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semaphore empty = </a:t>
            </a:r>
            <a:r>
              <a:rPr lang="en-US" altLang="zh-CN" dirty="0"/>
              <a:t>256</a:t>
            </a:r>
            <a:r>
              <a:rPr lang="zh-CN" altLang="en-US" dirty="0"/>
              <a:t>;</a:t>
            </a:r>
          </a:p>
          <a:p>
            <a:r>
              <a:rPr lang="zh-CN" altLang="en-US" dirty="0"/>
              <a:t>semaphore full = 0;</a:t>
            </a:r>
          </a:p>
          <a:p>
            <a:r>
              <a:rPr lang="zh-CN" altLang="en-US" dirty="0"/>
              <a:t>semaphore mutex = 1;</a:t>
            </a:r>
          </a:p>
        </p:txBody>
      </p:sp>
    </p:spTree>
    <p:extLst>
      <p:ext uri="{BB962C8B-B14F-4D97-AF65-F5344CB8AC3E}">
        <p14:creationId xmlns:p14="http://schemas.microsoft.com/office/powerpoint/2010/main" val="39994135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51AF5C-4BC4-4356-A2B7-F023B68B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Readers/Writers Problem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B9F6F8-80BA-453F-8B4E-F2DBBF328F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A data area is shared among many processes</a:t>
            </a:r>
          </a:p>
          <a:p>
            <a:pPr lvl="1"/>
            <a:r>
              <a:rPr lang="en-US" altLang="zh-CN" dirty="0"/>
              <a:t>some processes </a:t>
            </a:r>
            <a:r>
              <a:rPr lang="en-US" altLang="zh-CN" dirty="0">
                <a:solidFill>
                  <a:srgbClr val="FF0000"/>
                </a:solidFill>
              </a:rPr>
              <a:t>only read </a:t>
            </a:r>
            <a:r>
              <a:rPr lang="en-US" altLang="zh-CN" dirty="0"/>
              <a:t>the data area (</a:t>
            </a:r>
            <a:r>
              <a:rPr lang="en-US" altLang="zh-CN" dirty="0">
                <a:solidFill>
                  <a:srgbClr val="0070C0"/>
                </a:solidFill>
              </a:rPr>
              <a:t>readers</a:t>
            </a:r>
            <a:r>
              <a:rPr lang="en-US" altLang="zh-CN" dirty="0"/>
              <a:t>) </a:t>
            </a:r>
          </a:p>
          <a:p>
            <a:pPr lvl="1"/>
            <a:r>
              <a:rPr lang="en-US" altLang="zh-CN" dirty="0"/>
              <a:t>some</a:t>
            </a:r>
            <a:r>
              <a:rPr lang="en-US" altLang="zh-CN" dirty="0">
                <a:solidFill>
                  <a:srgbClr val="FF0000"/>
                </a:solidFill>
              </a:rPr>
              <a:t> only write </a:t>
            </a:r>
            <a:r>
              <a:rPr lang="en-US" altLang="zh-CN" dirty="0"/>
              <a:t>to the data area (</a:t>
            </a:r>
            <a:r>
              <a:rPr lang="en-US" altLang="zh-CN" dirty="0">
                <a:solidFill>
                  <a:srgbClr val="0070C0"/>
                </a:solidFill>
              </a:rPr>
              <a:t>writers</a:t>
            </a:r>
            <a:r>
              <a:rPr lang="en-US" altLang="zh-CN" dirty="0"/>
              <a:t>)</a:t>
            </a:r>
          </a:p>
          <a:p>
            <a:pPr lvl="1"/>
            <a:endParaRPr lang="en-US" altLang="zh-CN" dirty="0"/>
          </a:p>
          <a:p>
            <a:r>
              <a:rPr lang="en-US" altLang="zh-CN" dirty="0"/>
              <a:t>Conditions that must be satisfied:</a:t>
            </a:r>
          </a:p>
          <a:p>
            <a:pPr lvl="1"/>
            <a:r>
              <a:rPr lang="en-US" altLang="zh-CN" dirty="0">
                <a:solidFill>
                  <a:srgbClr val="FF0000"/>
                </a:solidFill>
              </a:rPr>
              <a:t>any number of readers may simultaneously </a:t>
            </a:r>
            <a:r>
              <a:rPr lang="en-US" altLang="zh-CN" dirty="0"/>
              <a:t>read the file</a:t>
            </a:r>
          </a:p>
          <a:p>
            <a:pPr lvl="1"/>
            <a:r>
              <a:rPr lang="en-US" altLang="zh-CN" dirty="0">
                <a:solidFill>
                  <a:srgbClr val="FF0000"/>
                </a:solidFill>
              </a:rPr>
              <a:t>only one writer </a:t>
            </a:r>
            <a:r>
              <a:rPr lang="en-US" altLang="zh-CN" dirty="0"/>
              <a:t>at a time may write to the file</a:t>
            </a:r>
          </a:p>
          <a:p>
            <a:pPr lvl="1"/>
            <a:r>
              <a:rPr lang="en-US" altLang="zh-CN" dirty="0"/>
              <a:t>if a writer is writing to the file, no reader may  read it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3471548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020847-90A5-2646-A2C8-373B2ADBD8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Outline</a:t>
            </a:r>
            <a:r>
              <a:rPr lang="zh-CN" altLang="en-US" dirty="0"/>
              <a:t> </a:t>
            </a:r>
            <a:r>
              <a:rPr lang="en-US" altLang="zh-CN" dirty="0"/>
              <a:t>(cont.)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7232B9-DB06-FB46-AA06-B58AAD8424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4.</a:t>
            </a:r>
            <a:r>
              <a:rPr lang="zh-CN" altLang="en-US" dirty="0"/>
              <a:t> </a:t>
            </a:r>
            <a:r>
              <a:rPr lang="en-US" altLang="zh-CN" dirty="0"/>
              <a:t>Concurrency:</a:t>
            </a:r>
            <a:r>
              <a:rPr lang="zh-CN" altLang="en-US" dirty="0"/>
              <a:t> </a:t>
            </a:r>
            <a:r>
              <a:rPr lang="en-US" altLang="zh-CN" dirty="0"/>
              <a:t>Deadlock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starvation</a:t>
            </a:r>
          </a:p>
          <a:p>
            <a:pPr lvl="1"/>
            <a:r>
              <a:rPr lang="en-US" altLang="zh-CN" dirty="0"/>
              <a:t>4.1Conditions</a:t>
            </a:r>
            <a:r>
              <a:rPr lang="zh-CN" altLang="en-US" dirty="0"/>
              <a:t> </a:t>
            </a:r>
            <a:r>
              <a:rPr lang="en-US" altLang="zh-CN" dirty="0"/>
              <a:t>for</a:t>
            </a:r>
            <a:r>
              <a:rPr lang="zh-CN" altLang="en-US" dirty="0"/>
              <a:t> </a:t>
            </a:r>
            <a:r>
              <a:rPr lang="en-US" altLang="zh-CN" dirty="0"/>
              <a:t>Deadlock</a:t>
            </a:r>
          </a:p>
          <a:p>
            <a:pPr lvl="1"/>
            <a:r>
              <a:rPr lang="en-US" altLang="zh-CN" dirty="0"/>
              <a:t>4.2Three</a:t>
            </a:r>
            <a:r>
              <a:rPr lang="zh-CN" altLang="en-US" dirty="0"/>
              <a:t> </a:t>
            </a:r>
            <a:r>
              <a:rPr lang="en-US" altLang="zh-CN" dirty="0"/>
              <a:t>approaches</a:t>
            </a:r>
            <a:r>
              <a:rPr lang="zh-CN" altLang="en-US" dirty="0"/>
              <a:t> </a:t>
            </a:r>
            <a:r>
              <a:rPr lang="en-US" altLang="zh-CN" dirty="0"/>
              <a:t>dealing</a:t>
            </a:r>
            <a:r>
              <a:rPr lang="zh-CN" altLang="en-US" dirty="0"/>
              <a:t> </a:t>
            </a:r>
            <a:r>
              <a:rPr lang="en-US" altLang="zh-CN" dirty="0"/>
              <a:t>with</a:t>
            </a:r>
            <a:r>
              <a:rPr lang="zh-CN" altLang="en-US" dirty="0"/>
              <a:t> </a:t>
            </a:r>
            <a:r>
              <a:rPr lang="en-US" altLang="zh-CN" dirty="0"/>
              <a:t>deadlock</a:t>
            </a:r>
          </a:p>
          <a:p>
            <a:pPr lvl="1"/>
            <a:r>
              <a:rPr lang="en-US" altLang="zh-CN" dirty="0"/>
              <a:t>4.3Dining</a:t>
            </a:r>
            <a:r>
              <a:rPr lang="zh-CN" altLang="en-US" dirty="0"/>
              <a:t> </a:t>
            </a:r>
            <a:r>
              <a:rPr lang="en-US" altLang="zh-CN" dirty="0"/>
              <a:t>Philosophers</a:t>
            </a:r>
            <a:r>
              <a:rPr lang="zh-CN" altLang="en-US" dirty="0"/>
              <a:t> </a:t>
            </a:r>
            <a:r>
              <a:rPr lang="en-US" altLang="zh-CN" dirty="0"/>
              <a:t>Problem</a:t>
            </a:r>
          </a:p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10C61F-7DCA-564C-89EE-88733F4A1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3D444-7193-46AD-90E8-D84AE4B61CFF}" type="slidenum">
              <a:rPr lang="en-US" smtClean="0"/>
              <a:pPr/>
              <a:t>74</a:t>
            </a:fld>
            <a:r>
              <a:rPr lang="en-US"/>
              <a:t>/</a:t>
            </a:r>
            <a:r>
              <a:rPr lang="en-US" altLang="zh-CN"/>
              <a:t>63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C881B6-7D5F-A649-A8D8-6877376649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6D1B6-B1AF-7D4D-A84B-F73F4DDF98DE}" type="datetime1">
              <a:rPr lang="zh-CN" altLang="en-US" smtClean="0"/>
              <a:t>2026/6/19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70698738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1BE850-0A2C-7503-30E7-18944AB055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Quiz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8EAA244-66F2-A213-13A5-C0E1BFA5B5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Which of the following is NOT a necessary condition for deadlock?</a:t>
            </a:r>
          </a:p>
          <a:p>
            <a:pPr marL="0" indent="0">
              <a:buNone/>
            </a:pPr>
            <a:endParaRPr lang="en-US" altLang="zh-CN" dirty="0"/>
          </a:p>
          <a:p>
            <a:r>
              <a:rPr lang="en-US" altLang="zh-CN" dirty="0"/>
              <a:t>A. Mutual Exclusion</a:t>
            </a:r>
          </a:p>
          <a:p>
            <a:r>
              <a:rPr lang="en-US" altLang="zh-CN" dirty="0"/>
              <a:t>B. Hold and Wait</a:t>
            </a:r>
          </a:p>
          <a:p>
            <a:r>
              <a:rPr lang="en-US" altLang="zh-CN" dirty="0"/>
              <a:t>C. Circular Wait</a:t>
            </a:r>
          </a:p>
          <a:p>
            <a:r>
              <a:rPr lang="en-US" altLang="zh-CN" dirty="0"/>
              <a:t>D. Priority Scheduling</a:t>
            </a: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dirty="0">
                <a:solidFill>
                  <a:srgbClr val="FF0000"/>
                </a:solidFill>
              </a:rPr>
              <a:t>Answer: D. Priority Scheduling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AB15170-AABF-6911-B87E-31E280611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3D444-7193-46AD-90E8-D84AE4B61CFF}" type="slidenum">
              <a:rPr lang="en-US" smtClean="0"/>
              <a:pPr/>
              <a:t>75</a:t>
            </a:fld>
            <a:r>
              <a:rPr lang="en-US"/>
              <a:t>/</a:t>
            </a:r>
            <a:r>
              <a:rPr lang="en-US" altLang="zh-CN"/>
              <a:t>63</a:t>
            </a:r>
            <a:endParaRPr lang="en-US" dirty="0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70ABBD6-0231-615B-9FE4-1B97EC2F18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6D1B6-B1AF-7D4D-A84B-F73F4DDF98DE}" type="datetime1">
              <a:rPr lang="zh-CN" altLang="en-US" smtClean="0"/>
              <a:t>2026/6/19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601711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51AF5C-4BC4-4356-A2B7-F023B68B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4.1</a:t>
            </a:r>
            <a:r>
              <a:rPr lang="zh-CN" altLang="en-US" dirty="0"/>
              <a:t> </a:t>
            </a:r>
            <a:r>
              <a:rPr lang="en-US" altLang="zh-CN" dirty="0"/>
              <a:t>Conditions for Deadlock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B9F6F8-80BA-453F-8B4E-F2DBBF328F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41103"/>
            <a:ext cx="10515600" cy="2587897"/>
          </a:xfrm>
        </p:spPr>
        <p:txBody>
          <a:bodyPr>
            <a:normAutofit/>
          </a:bodyPr>
          <a:lstStyle/>
          <a:p>
            <a:r>
              <a:rPr lang="en-US" altLang="zh-CN" dirty="0"/>
              <a:t>Mutual Exclusion</a:t>
            </a:r>
          </a:p>
          <a:p>
            <a:pPr lvl="1"/>
            <a:r>
              <a:rPr lang="en-US" altLang="zh-CN" dirty="0"/>
              <a:t>only one process may use a resource at a time</a:t>
            </a:r>
          </a:p>
          <a:p>
            <a:r>
              <a:rPr lang="en-US" altLang="zh-CN" dirty="0"/>
              <a:t>Hold and Wait</a:t>
            </a:r>
          </a:p>
          <a:p>
            <a:pPr lvl="1"/>
            <a:r>
              <a:rPr lang="en-US" altLang="zh-CN" dirty="0"/>
              <a:t>a process may </a:t>
            </a:r>
            <a:r>
              <a:rPr lang="en-US" altLang="zh-CN" dirty="0">
                <a:solidFill>
                  <a:srgbClr val="FF0000"/>
                </a:solidFill>
              </a:rPr>
              <a:t>hold allocated resources </a:t>
            </a:r>
            <a:r>
              <a:rPr lang="en-US" altLang="zh-CN" dirty="0"/>
              <a:t>while awaiting assignment of others</a:t>
            </a:r>
          </a:p>
          <a:p>
            <a:r>
              <a:rPr lang="en-US" altLang="zh-CN" dirty="0"/>
              <a:t>No Preemption</a:t>
            </a:r>
          </a:p>
          <a:p>
            <a:pPr lvl="1"/>
            <a:r>
              <a:rPr lang="en-US" altLang="zh-CN" dirty="0"/>
              <a:t>no resource can be forcibly removed from a process holding it</a:t>
            </a:r>
          </a:p>
          <a:p>
            <a:pPr lvl="1"/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6B12261-5C4E-4FF4-9BB4-AE799481A5E9}"/>
              </a:ext>
            </a:extLst>
          </p:cNvPr>
          <p:cNvSpPr txBox="1"/>
          <p:nvPr/>
        </p:nvSpPr>
        <p:spPr>
          <a:xfrm>
            <a:off x="838200" y="3516812"/>
            <a:ext cx="10237094" cy="11285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marR="0" lvl="0" indent="-171450" algn="just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Circular Wait</a:t>
            </a:r>
          </a:p>
          <a:p>
            <a:pPr marL="514350" marR="0" lvl="1" indent="-171450" algn="just" defTabSz="685800" rtl="0" eaLnBrk="1" fontAlgn="auto" latinLnBrk="0" hangingPunct="1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a closed chain of processes exists, such that each process holds at least one resource needed by the next process in the chain</a:t>
            </a:r>
          </a:p>
        </p:txBody>
      </p:sp>
      <p:sp>
        <p:nvSpPr>
          <p:cNvPr id="9" name="日期占位符 8">
            <a:extLst>
              <a:ext uri="{FF2B5EF4-FFF2-40B4-BE49-F238E27FC236}">
                <a16:creationId xmlns:a16="http://schemas.microsoft.com/office/drawing/2014/main" id="{2524A07D-D13A-4C3B-8DFD-3F7919276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3AF60-7D97-4FD6-BDE0-F1BA220CFFF6}" type="datetime1">
              <a:rPr lang="zh-CN" altLang="en-US" smtClean="0"/>
              <a:t>2026/6/19</a:t>
            </a:fld>
            <a:endParaRPr lang="zh-CN" altLang="en-US" dirty="0"/>
          </a:p>
        </p:txBody>
      </p:sp>
      <p:sp>
        <p:nvSpPr>
          <p:cNvPr id="10" name="灯片编号占位符 9">
            <a:extLst>
              <a:ext uri="{FF2B5EF4-FFF2-40B4-BE49-F238E27FC236}">
                <a16:creationId xmlns:a16="http://schemas.microsoft.com/office/drawing/2014/main" id="{BA09A6BD-1BA6-4CF5-9B8D-F9D3F5180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3D444-7193-46AD-90E8-D84AE4B61CFF}" type="slidenum">
              <a:rPr lang="en-US" smtClean="0"/>
              <a:pPr/>
              <a:t>76</a:t>
            </a:fld>
            <a:r>
              <a:rPr lang="en-US"/>
              <a:t>/40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2971563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51AF5C-4BC4-4356-A2B7-F023B68B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Resource Allocation Graphs</a:t>
            </a:r>
            <a:endParaRPr lang="zh-CN" altLang="en-US" dirty="0"/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BDEAC072-49E3-4648-A56A-E3ED9A1427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Circular wait</a:t>
            </a:r>
            <a:r>
              <a:rPr lang="en-US" dirty="0"/>
              <a:t>. A closed chain of processes exists, such that </a:t>
            </a:r>
            <a:r>
              <a:rPr lang="en-US" dirty="0">
                <a:solidFill>
                  <a:srgbClr val="FF0000"/>
                </a:solidFill>
              </a:rPr>
              <a:t>each process holds at least one resource needed by the next process </a:t>
            </a:r>
            <a:r>
              <a:rPr lang="en-US" dirty="0"/>
              <a:t>in the chain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D71FE8E6-8A9C-4429-9DF3-2897F9AEEC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1443" y="2065309"/>
            <a:ext cx="6106270" cy="3296854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5CE16FE2-AB13-414D-9D8E-4C56D74D26EA}"/>
              </a:ext>
            </a:extLst>
          </p:cNvPr>
          <p:cNvSpPr txBox="1"/>
          <p:nvPr/>
        </p:nvSpPr>
        <p:spPr>
          <a:xfrm>
            <a:off x="3890087" y="5421151"/>
            <a:ext cx="516100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dirty="0">
                <a:solidFill>
                  <a:srgbClr val="231F20"/>
                </a:solidFill>
                <a:effectLst/>
                <a:latin typeface="TimesTenLTStd-Bold"/>
              </a:rPr>
              <a:t>Resource Allocation Graph for Figure 6.1b</a:t>
            </a:r>
            <a:endParaRPr lang="en-US" dirty="0"/>
          </a:p>
        </p:txBody>
      </p:sp>
      <p:sp>
        <p:nvSpPr>
          <p:cNvPr id="10" name="日期占位符 9">
            <a:extLst>
              <a:ext uri="{FF2B5EF4-FFF2-40B4-BE49-F238E27FC236}">
                <a16:creationId xmlns:a16="http://schemas.microsoft.com/office/drawing/2014/main" id="{6E62858D-64B5-41E2-A473-15B48433B6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9B8F8-FFBD-44D6-9199-17641788B43A}" type="datetime1">
              <a:rPr lang="zh-CN" altLang="en-US" smtClean="0"/>
              <a:t>2026/6/19</a:t>
            </a:fld>
            <a:endParaRPr lang="zh-CN" altLang="en-US" dirty="0"/>
          </a:p>
        </p:txBody>
      </p:sp>
      <p:sp>
        <p:nvSpPr>
          <p:cNvPr id="11" name="灯片编号占位符 10">
            <a:extLst>
              <a:ext uri="{FF2B5EF4-FFF2-40B4-BE49-F238E27FC236}">
                <a16:creationId xmlns:a16="http://schemas.microsoft.com/office/drawing/2014/main" id="{FAA51FFD-6C03-49D6-88FD-EE4E7D302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3D444-7193-46AD-90E8-D84AE4B61CFF}" type="slidenum">
              <a:rPr lang="en-US" smtClean="0"/>
              <a:pPr/>
              <a:t>77</a:t>
            </a:fld>
            <a:r>
              <a:rPr lang="en-US"/>
              <a:t>/40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446316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74DF91-7E76-4C5B-8F92-40A2993241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</a:t>
            </a:r>
            <a:r>
              <a:rPr lang="en-US" dirty="0"/>
              <a:t>.</a:t>
            </a:r>
            <a:r>
              <a:rPr lang="en-US" altLang="zh-CN" dirty="0"/>
              <a:t>2</a:t>
            </a:r>
            <a:r>
              <a:rPr lang="en-US" dirty="0"/>
              <a:t> Three Approaches Dealing with Deadlock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ACCBC82-1376-47EF-B191-4CD01C6667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Deadlock </a:t>
            </a:r>
            <a:r>
              <a:rPr lang="en-US" dirty="0">
                <a:solidFill>
                  <a:srgbClr val="FF0000"/>
                </a:solidFill>
              </a:rPr>
              <a:t>prevention</a:t>
            </a:r>
            <a:r>
              <a:rPr lang="en-US" dirty="0"/>
              <a:t>: Disallow one of the three necessary conditions for deadlock occurrence, or prevent circular wait condition from happening.</a:t>
            </a:r>
          </a:p>
          <a:p>
            <a:endParaRPr lang="en-US" dirty="0"/>
          </a:p>
          <a:p>
            <a:r>
              <a:rPr lang="en-US" dirty="0"/>
              <a:t>Deadlock </a:t>
            </a:r>
            <a:r>
              <a:rPr lang="en-US" dirty="0">
                <a:solidFill>
                  <a:srgbClr val="FF0000"/>
                </a:solidFill>
              </a:rPr>
              <a:t>avoidance</a:t>
            </a:r>
            <a:r>
              <a:rPr lang="en-US" dirty="0"/>
              <a:t>: Do not grant a resource request if this allocation might lead to deadlock.</a:t>
            </a:r>
          </a:p>
          <a:p>
            <a:endParaRPr lang="en-US" dirty="0"/>
          </a:p>
          <a:p>
            <a:r>
              <a:rPr lang="en-US" dirty="0"/>
              <a:t>Deadlock </a:t>
            </a:r>
            <a:r>
              <a:rPr lang="en-US" dirty="0">
                <a:solidFill>
                  <a:srgbClr val="FF0000"/>
                </a:solidFill>
              </a:rPr>
              <a:t>detection</a:t>
            </a:r>
            <a:r>
              <a:rPr lang="en-US" dirty="0"/>
              <a:t>: Grant resource requests when possible, but periodically check for the presence of deadlock and take action to recover.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4161E80-5444-4983-8FCF-4B77D8F858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3D444-7193-46AD-90E8-D84AE4B61CFF}" type="slidenum">
              <a:rPr lang="en-US" smtClean="0"/>
              <a:pPr/>
              <a:t>78</a:t>
            </a:fld>
            <a:r>
              <a:rPr lang="en-US"/>
              <a:t>/</a:t>
            </a:r>
            <a:r>
              <a:rPr lang="en-US" altLang="zh-CN"/>
              <a:t>63</a:t>
            </a:r>
            <a:endParaRPr lang="en-US" dirty="0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FBAED82-780A-4556-8197-55BCBD387A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EFB7F-4AC8-4705-AA4B-48C8D833686C}" type="datetime1">
              <a:rPr lang="zh-CN" altLang="en-US" smtClean="0"/>
              <a:t>2026/6/19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28967581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51AF5C-4BC4-4356-A2B7-F023B68B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Two Approaches to Deadlock Avoidance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B9F6F8-80BA-453F-8B4E-F2DBBF328F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Process Initiation Denial</a:t>
            </a:r>
          </a:p>
          <a:p>
            <a:pPr lvl="1"/>
            <a:r>
              <a:rPr lang="en-US" altLang="zh-CN" dirty="0"/>
              <a:t>do not </a:t>
            </a:r>
            <a:r>
              <a:rPr lang="en-US" altLang="zh-CN" dirty="0">
                <a:solidFill>
                  <a:srgbClr val="C00000"/>
                </a:solidFill>
              </a:rPr>
              <a:t>start</a:t>
            </a:r>
            <a:r>
              <a:rPr lang="en-US" altLang="zh-CN" dirty="0"/>
              <a:t> a process if its demands might lead to deadlock</a:t>
            </a:r>
          </a:p>
          <a:p>
            <a:pPr lvl="1"/>
            <a:endParaRPr lang="en-US" altLang="zh-CN" dirty="0"/>
          </a:p>
          <a:p>
            <a:r>
              <a:rPr lang="en-US" altLang="zh-CN" dirty="0"/>
              <a:t>Resource Allocation Denial</a:t>
            </a:r>
            <a:r>
              <a:rPr lang="zh-CN" altLang="en-US" dirty="0"/>
              <a:t> </a:t>
            </a:r>
            <a:r>
              <a:rPr lang="en-US" altLang="zh-CN" dirty="0"/>
              <a:t>(</a:t>
            </a:r>
            <a:r>
              <a:rPr lang="en-US" altLang="zh-CN" b="1" dirty="0">
                <a:solidFill>
                  <a:srgbClr val="FF0000"/>
                </a:solidFill>
              </a:rPr>
              <a:t>banker algorithm</a:t>
            </a:r>
            <a:r>
              <a:rPr lang="en-US" altLang="zh-CN" dirty="0"/>
              <a:t>)</a:t>
            </a:r>
          </a:p>
          <a:p>
            <a:pPr lvl="1"/>
            <a:r>
              <a:rPr lang="en-US" altLang="zh-CN" dirty="0"/>
              <a:t>do not </a:t>
            </a:r>
            <a:r>
              <a:rPr lang="en-US" altLang="zh-CN" dirty="0">
                <a:solidFill>
                  <a:srgbClr val="C00000"/>
                </a:solidFill>
              </a:rPr>
              <a:t>grant</a:t>
            </a:r>
            <a:r>
              <a:rPr lang="en-US" altLang="zh-CN" dirty="0"/>
              <a:t> an incremental resource request to a process if this allocation might lead to deadlock</a:t>
            </a:r>
          </a:p>
          <a:p>
            <a:pPr lvl="1"/>
            <a:r>
              <a:rPr lang="en-US" altLang="zh-CN" dirty="0">
                <a:solidFill>
                  <a:srgbClr val="C00000"/>
                </a:solidFill>
              </a:rPr>
              <a:t>State</a:t>
            </a:r>
            <a:r>
              <a:rPr lang="en-US" altLang="zh-CN" dirty="0"/>
              <a:t> of the system reflects the current allocation of resources to processes</a:t>
            </a:r>
          </a:p>
          <a:p>
            <a:pPr lvl="1"/>
            <a:r>
              <a:rPr lang="en-US" altLang="zh-CN" dirty="0"/>
              <a:t> </a:t>
            </a:r>
            <a:r>
              <a:rPr lang="en-US" altLang="zh-CN" dirty="0">
                <a:solidFill>
                  <a:srgbClr val="C00000"/>
                </a:solidFill>
              </a:rPr>
              <a:t>Safe state </a:t>
            </a:r>
            <a:r>
              <a:rPr lang="en-US" altLang="zh-CN" dirty="0"/>
              <a:t>is one in which there is </a:t>
            </a:r>
            <a:r>
              <a:rPr lang="en-US" altLang="zh-CN" dirty="0">
                <a:solidFill>
                  <a:srgbClr val="FF0000"/>
                </a:solidFill>
              </a:rPr>
              <a:t>at least one sequence </a:t>
            </a:r>
            <a:r>
              <a:rPr lang="en-US" altLang="zh-CN" dirty="0"/>
              <a:t>of resource allocations to processes that does not result in a deadlock</a:t>
            </a:r>
          </a:p>
          <a:p>
            <a:pPr lvl="1"/>
            <a:r>
              <a:rPr lang="en-US" altLang="zh-CN" dirty="0"/>
              <a:t> </a:t>
            </a:r>
            <a:r>
              <a:rPr lang="en-US" altLang="zh-CN" dirty="0">
                <a:solidFill>
                  <a:srgbClr val="C00000"/>
                </a:solidFill>
              </a:rPr>
              <a:t>Unsafe state </a:t>
            </a:r>
            <a:r>
              <a:rPr lang="en-US" altLang="zh-CN" dirty="0"/>
              <a:t>is a state that is not safe</a:t>
            </a:r>
          </a:p>
          <a:p>
            <a:pPr lvl="1"/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C91A6D7-4E69-4A9A-B124-0682A91B7D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8E7E8D-0A79-451C-97CD-0C4F00D7A7B0}" type="datetime1">
              <a:rPr lang="zh-CN" altLang="en-US" smtClean="0"/>
              <a:t>2026/6/19</a:t>
            </a:fld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D8E1A5C-261E-4555-B8E7-60769025C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3D444-7193-46AD-90E8-D84AE4B61CFF}" type="slidenum">
              <a:rPr lang="en-US" smtClean="0"/>
              <a:pPr/>
              <a:t>79</a:t>
            </a:fld>
            <a:r>
              <a:rPr lang="en-US"/>
              <a:t>/40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661624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51AF5C-4BC4-4356-A2B7-F023B68B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Determination of a Safe State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B9F6F8-80BA-453F-8B4E-F2DBBF328F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State of a system consisting of four processes and three resources</a:t>
            </a:r>
          </a:p>
          <a:p>
            <a:r>
              <a:rPr lang="en-US" altLang="zh-CN" dirty="0"/>
              <a:t>Allocations have been made to the four processes</a:t>
            </a:r>
          </a:p>
          <a:p>
            <a:endParaRPr lang="zh-CN" altLang="en-US" dirty="0"/>
          </a:p>
        </p:txBody>
      </p:sp>
      <p:sp>
        <p:nvSpPr>
          <p:cNvPr id="5" name="Line Callout 2 12">
            <a:extLst>
              <a:ext uri="{FF2B5EF4-FFF2-40B4-BE49-F238E27FC236}">
                <a16:creationId xmlns:a16="http://schemas.microsoft.com/office/drawing/2014/main" id="{A062411C-4885-4424-95EF-CFEE90D2361E}"/>
              </a:ext>
            </a:extLst>
          </p:cNvPr>
          <p:cNvSpPr/>
          <p:nvPr/>
        </p:nvSpPr>
        <p:spPr>
          <a:xfrm>
            <a:off x="1830477" y="5159647"/>
            <a:ext cx="1219200" cy="1143000"/>
          </a:xfrm>
          <a:prstGeom prst="borderCallout2">
            <a:avLst>
              <a:gd name="adj1" fmla="val 47968"/>
              <a:gd name="adj2" fmla="val 103468"/>
              <a:gd name="adj3" fmla="val 47967"/>
              <a:gd name="adj4" fmla="val 132401"/>
              <a:gd name="adj5" fmla="val -8336"/>
              <a:gd name="adj6" fmla="val 194063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>
                <a:solidFill>
                  <a:schemeClr val="tx2">
                    <a:lumMod val="75000"/>
                  </a:schemeClr>
                </a:solidFill>
              </a:rPr>
              <a:t>Amount of existing resources</a:t>
            </a:r>
          </a:p>
        </p:txBody>
      </p:sp>
      <p:sp>
        <p:nvSpPr>
          <p:cNvPr id="7" name="Line Callout 2 13">
            <a:extLst>
              <a:ext uri="{FF2B5EF4-FFF2-40B4-BE49-F238E27FC236}">
                <a16:creationId xmlns:a16="http://schemas.microsoft.com/office/drawing/2014/main" id="{1AFA97BA-50BC-4DFF-A333-C5EB632913B5}"/>
              </a:ext>
            </a:extLst>
          </p:cNvPr>
          <p:cNvSpPr/>
          <p:nvPr/>
        </p:nvSpPr>
        <p:spPr>
          <a:xfrm>
            <a:off x="8793252" y="5383928"/>
            <a:ext cx="1371600" cy="1143000"/>
          </a:xfrm>
          <a:prstGeom prst="borderCallout2">
            <a:avLst>
              <a:gd name="adj1" fmla="val 49011"/>
              <a:gd name="adj2" fmla="val -880"/>
              <a:gd name="adj3" fmla="val 47967"/>
              <a:gd name="adj4" fmla="val -32816"/>
              <a:gd name="adj5" fmla="val -3377"/>
              <a:gd name="adj6" fmla="val -79953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>
                <a:solidFill>
                  <a:schemeClr val="tx2">
                    <a:lumMod val="75000"/>
                  </a:schemeClr>
                </a:solidFill>
              </a:rPr>
              <a:t>Resources available after allocation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49F81E3-FE66-485E-8C26-789E63E5EC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0077" y="2263538"/>
            <a:ext cx="7724775" cy="3028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6683200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51AF5C-4BC4-4356-A2B7-F023B68B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Determination of a Safe State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B9F6F8-80BA-453F-8B4E-F2DBBF328F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State of a system consisting of four processes and three resources</a:t>
            </a:r>
          </a:p>
          <a:p>
            <a:r>
              <a:rPr lang="en-US" altLang="zh-CN" dirty="0"/>
              <a:t>Allocations have been made to the four processes</a:t>
            </a:r>
          </a:p>
          <a:p>
            <a:endParaRPr lang="zh-CN" altLang="en-US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CF98C312-74F8-40BE-9488-92C0289128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1497" y="2850787"/>
            <a:ext cx="7724775" cy="3028950"/>
          </a:xfrm>
          <a:prstGeom prst="rect">
            <a:avLst/>
          </a:prstGeom>
        </p:spPr>
      </p:pic>
      <p:sp>
        <p:nvSpPr>
          <p:cNvPr id="9" name="日期占位符 8">
            <a:extLst>
              <a:ext uri="{FF2B5EF4-FFF2-40B4-BE49-F238E27FC236}">
                <a16:creationId xmlns:a16="http://schemas.microsoft.com/office/drawing/2014/main" id="{E0CE0060-BEFF-4CCC-A861-6A8BABDF64F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200" b="1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0B91B0C-9005-4F3C-AFC7-BED016BC6699}" type="datetime1">
              <a:rPr lang="zh-CN" altLang="en-US" smtClean="0"/>
              <a:pPr/>
              <a:t>2026/6/19</a:t>
            </a:fld>
            <a:endParaRPr lang="zh-CN" altLang="en-US" dirty="0"/>
          </a:p>
        </p:txBody>
      </p:sp>
      <p:sp>
        <p:nvSpPr>
          <p:cNvPr id="10" name="灯片编号占位符 9">
            <a:extLst>
              <a:ext uri="{FF2B5EF4-FFF2-40B4-BE49-F238E27FC236}">
                <a16:creationId xmlns:a16="http://schemas.microsoft.com/office/drawing/2014/main" id="{8ECF7BEF-CFEA-4905-8895-A07C88295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b="1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093D444-7193-46AD-90E8-D84AE4B61CFF}" type="slidenum">
              <a:rPr lang="en-US" smtClean="0"/>
              <a:pPr/>
              <a:t>81</a:t>
            </a:fld>
            <a:r>
              <a:rPr lang="en-US" dirty="0"/>
              <a:t>/114</a:t>
            </a:r>
          </a:p>
        </p:txBody>
      </p:sp>
    </p:spTree>
    <p:extLst>
      <p:ext uri="{BB962C8B-B14F-4D97-AF65-F5344CB8AC3E}">
        <p14:creationId xmlns:p14="http://schemas.microsoft.com/office/powerpoint/2010/main" val="864631418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51AF5C-4BC4-4356-A2B7-F023B68B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P2 Runs to Completion</a:t>
            </a:r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5748DCEE-F334-430E-8254-6748DCEB4B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3938" y="1714613"/>
            <a:ext cx="8556009" cy="3428773"/>
          </a:xfrm>
          <a:prstGeom prst="rect">
            <a:avLst/>
          </a:prstGeom>
        </p:spPr>
      </p:pic>
      <p:sp>
        <p:nvSpPr>
          <p:cNvPr id="8" name="日期占位符 7">
            <a:extLst>
              <a:ext uri="{FF2B5EF4-FFF2-40B4-BE49-F238E27FC236}">
                <a16:creationId xmlns:a16="http://schemas.microsoft.com/office/drawing/2014/main" id="{8434BF57-363E-4DB6-8F47-29A5C7F4F8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200" b="1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0B91B0C-9005-4F3C-AFC7-BED016BC6699}" type="datetime1">
              <a:rPr lang="zh-CN" altLang="en-US" smtClean="0"/>
              <a:pPr/>
              <a:t>2026/6/19</a:t>
            </a:fld>
            <a:endParaRPr lang="zh-CN" altLang="en-US" dirty="0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D9CA5C6-91F2-44BD-AD61-28D5FDD2C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b="1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093D444-7193-46AD-90E8-D84AE4B61CFF}" type="slidenum">
              <a:rPr lang="en-US" smtClean="0"/>
              <a:pPr/>
              <a:t>82</a:t>
            </a:fld>
            <a:r>
              <a:rPr lang="en-US" dirty="0"/>
              <a:t>/114</a:t>
            </a:r>
          </a:p>
        </p:txBody>
      </p:sp>
    </p:spTree>
    <p:extLst>
      <p:ext uri="{BB962C8B-B14F-4D97-AF65-F5344CB8AC3E}">
        <p14:creationId xmlns:p14="http://schemas.microsoft.com/office/powerpoint/2010/main" val="521174461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51AF5C-4BC4-4356-A2B7-F023B68B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P1 Runs to Completion</a:t>
            </a:r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10823A5F-46AE-4682-9A98-60EB1CA4CC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9081" y="1451428"/>
            <a:ext cx="8580019" cy="3512911"/>
          </a:xfrm>
          <a:prstGeom prst="rect">
            <a:avLst/>
          </a:prstGeom>
        </p:spPr>
      </p:pic>
      <p:sp>
        <p:nvSpPr>
          <p:cNvPr id="8" name="日期占位符 7">
            <a:extLst>
              <a:ext uri="{FF2B5EF4-FFF2-40B4-BE49-F238E27FC236}">
                <a16:creationId xmlns:a16="http://schemas.microsoft.com/office/drawing/2014/main" id="{B777032E-8C2E-4F0F-837D-CE44A071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200" b="1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0B91B0C-9005-4F3C-AFC7-BED016BC6699}" type="datetime1">
              <a:rPr lang="zh-CN" altLang="en-US" smtClean="0"/>
              <a:pPr/>
              <a:t>2026/6/19</a:t>
            </a:fld>
            <a:endParaRPr lang="zh-CN" altLang="en-US" dirty="0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AC91D34-8C51-4DA4-ABC4-13E481029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b="1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093D444-7193-46AD-90E8-D84AE4B61CFF}" type="slidenum">
              <a:rPr lang="en-US" smtClean="0"/>
              <a:pPr/>
              <a:t>83</a:t>
            </a:fld>
            <a:r>
              <a:rPr lang="en-US" dirty="0"/>
              <a:t>/114</a:t>
            </a:r>
          </a:p>
        </p:txBody>
      </p:sp>
    </p:spTree>
    <p:extLst>
      <p:ext uri="{BB962C8B-B14F-4D97-AF65-F5344CB8AC3E}">
        <p14:creationId xmlns:p14="http://schemas.microsoft.com/office/powerpoint/2010/main" val="506027414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51AF5C-4BC4-4356-A2B7-F023B68B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P3 Runs to Completion</a:t>
            </a:r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11DCC68-7C90-4DA9-A8B3-24525EF30035}"/>
              </a:ext>
            </a:extLst>
          </p:cNvPr>
          <p:cNvSpPr txBox="1"/>
          <p:nvPr/>
        </p:nvSpPr>
        <p:spPr>
          <a:xfrm>
            <a:off x="2717194" y="5341028"/>
            <a:ext cx="831148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/>
              <a:t>Thus, the state defined originally is a safe state. </a:t>
            </a:r>
          </a:p>
          <a:p>
            <a:pPr algn="ctr"/>
            <a:r>
              <a:rPr lang="en-US" altLang="zh-CN" sz="2400" b="1" dirty="0"/>
              <a:t>The sequence is P2, P1,P3,P4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36BBD681-58F2-423D-A59E-EF30002186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5346" y="1545050"/>
            <a:ext cx="8517468" cy="3322864"/>
          </a:xfrm>
          <a:prstGeom prst="rect">
            <a:avLst/>
          </a:prstGeom>
        </p:spPr>
      </p:pic>
      <p:sp>
        <p:nvSpPr>
          <p:cNvPr id="9" name="日期占位符 8">
            <a:extLst>
              <a:ext uri="{FF2B5EF4-FFF2-40B4-BE49-F238E27FC236}">
                <a16:creationId xmlns:a16="http://schemas.microsoft.com/office/drawing/2014/main" id="{61E59C3A-C476-43DD-A8CB-0F0C315DE67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200" b="1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0B91B0C-9005-4F3C-AFC7-BED016BC6699}" type="datetime1">
              <a:rPr lang="zh-CN" altLang="en-US" smtClean="0"/>
              <a:pPr/>
              <a:t>2026/6/19</a:t>
            </a:fld>
            <a:endParaRPr lang="zh-CN" altLang="en-US" dirty="0"/>
          </a:p>
        </p:txBody>
      </p:sp>
      <p:sp>
        <p:nvSpPr>
          <p:cNvPr id="10" name="灯片编号占位符 9">
            <a:extLst>
              <a:ext uri="{FF2B5EF4-FFF2-40B4-BE49-F238E27FC236}">
                <a16:creationId xmlns:a16="http://schemas.microsoft.com/office/drawing/2014/main" id="{A9A633FF-EC22-4386-ABC9-B5EB53EFAD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b="1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093D444-7193-46AD-90E8-D84AE4B61CFF}" type="slidenum">
              <a:rPr lang="en-US" smtClean="0"/>
              <a:pPr/>
              <a:t>84</a:t>
            </a:fld>
            <a:r>
              <a:rPr lang="en-US" dirty="0"/>
              <a:t>/114</a:t>
            </a:r>
          </a:p>
        </p:txBody>
      </p:sp>
    </p:spTree>
    <p:extLst>
      <p:ext uri="{BB962C8B-B14F-4D97-AF65-F5344CB8AC3E}">
        <p14:creationId xmlns:p14="http://schemas.microsoft.com/office/powerpoint/2010/main" val="942105043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51AF5C-4BC4-4356-A2B7-F023B68B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Determination of an Unsafe State</a:t>
            </a:r>
            <a:endParaRPr lang="zh-CN" altLang="en-US" dirty="0"/>
          </a:p>
        </p:txBody>
      </p:sp>
      <p:pic>
        <p:nvPicPr>
          <p:cNvPr id="9" name="内容占位符 8">
            <a:extLst>
              <a:ext uri="{FF2B5EF4-FFF2-40B4-BE49-F238E27FC236}">
                <a16:creationId xmlns:a16="http://schemas.microsoft.com/office/drawing/2014/main" id="{F0DEFCB8-FC6A-4D89-8AF4-56D51AE137A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49121" y="3713328"/>
            <a:ext cx="6064249" cy="2398546"/>
          </a:xfr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90375210-DBCF-4165-8008-4C308958AC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5046" y="879172"/>
            <a:ext cx="6252400" cy="2497818"/>
          </a:xfrm>
          <a:prstGeom prst="rect">
            <a:avLst/>
          </a:prstGeom>
        </p:spPr>
      </p:pic>
      <p:sp>
        <p:nvSpPr>
          <p:cNvPr id="10" name="日期占位符 9">
            <a:extLst>
              <a:ext uri="{FF2B5EF4-FFF2-40B4-BE49-F238E27FC236}">
                <a16:creationId xmlns:a16="http://schemas.microsoft.com/office/drawing/2014/main" id="{BB2017A2-4272-4305-849F-293C9F1C45E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200" b="1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0B91B0C-9005-4F3C-AFC7-BED016BC6699}" type="datetime1">
              <a:rPr lang="zh-CN" altLang="en-US" smtClean="0"/>
              <a:pPr/>
              <a:t>2026/6/19</a:t>
            </a:fld>
            <a:endParaRPr lang="zh-CN" altLang="en-US" dirty="0"/>
          </a:p>
        </p:txBody>
      </p:sp>
      <p:sp>
        <p:nvSpPr>
          <p:cNvPr id="11" name="灯片编号占位符 10">
            <a:extLst>
              <a:ext uri="{FF2B5EF4-FFF2-40B4-BE49-F238E27FC236}">
                <a16:creationId xmlns:a16="http://schemas.microsoft.com/office/drawing/2014/main" id="{1F533ED9-78AD-44C0-BC3D-AEF35A574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b="1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093D444-7193-46AD-90E8-D84AE4B61CFF}" type="slidenum">
              <a:rPr lang="en-US" smtClean="0"/>
              <a:pPr/>
              <a:t>85</a:t>
            </a:fld>
            <a:r>
              <a:rPr lang="en-US" dirty="0"/>
              <a:t>/114</a:t>
            </a:r>
          </a:p>
        </p:txBody>
      </p:sp>
    </p:spTree>
    <p:extLst>
      <p:ext uri="{BB962C8B-B14F-4D97-AF65-F5344CB8AC3E}">
        <p14:creationId xmlns:p14="http://schemas.microsoft.com/office/powerpoint/2010/main" val="3740154692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51AF5C-4BC4-4356-A2B7-F023B68B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Dining Philosophers Problem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B9F6F8-80BA-453F-8B4E-F2DBBF328F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 Devise a algorithm that allow the philosophers to eat</a:t>
            </a:r>
          </a:p>
          <a:p>
            <a:pPr lvl="1"/>
            <a:r>
              <a:rPr lang="en-US" altLang="zh-CN" dirty="0"/>
              <a:t>No two philosophers can use the same fork at the same time (</a:t>
            </a:r>
            <a:r>
              <a:rPr lang="en-US" altLang="zh-CN" dirty="0">
                <a:solidFill>
                  <a:srgbClr val="FF0000"/>
                </a:solidFill>
              </a:rPr>
              <a:t>mutual exclusion</a:t>
            </a:r>
            <a:r>
              <a:rPr lang="en-US" altLang="zh-CN" dirty="0"/>
              <a:t>)</a:t>
            </a:r>
          </a:p>
          <a:p>
            <a:pPr lvl="1"/>
            <a:r>
              <a:rPr lang="en-US" altLang="zh-CN" dirty="0"/>
              <a:t>Avoid </a:t>
            </a:r>
            <a:r>
              <a:rPr lang="en-US" altLang="zh-CN" dirty="0">
                <a:solidFill>
                  <a:srgbClr val="FF0000"/>
                </a:solidFill>
              </a:rPr>
              <a:t>deadlock and starvation</a:t>
            </a:r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5163BDEA-CA76-4A16-911B-ABB33D7E9F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1855" y="2196160"/>
            <a:ext cx="3606265" cy="3687434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B4DEF876-AA14-4BC1-B675-D0FD4A27EB8F}"/>
              </a:ext>
            </a:extLst>
          </p:cNvPr>
          <p:cNvSpPr txBox="1"/>
          <p:nvPr/>
        </p:nvSpPr>
        <p:spPr>
          <a:xfrm>
            <a:off x="1729075" y="3294107"/>
            <a:ext cx="306385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800" dirty="0">
                <a:solidFill>
                  <a:srgbClr val="231F20"/>
                </a:solidFill>
                <a:effectLst/>
                <a:latin typeface="Microsoft YaHei UI" panose="020B0503020204020204" pitchFamily="34" charset="-122"/>
                <a:ea typeface="Microsoft YaHei UI" panose="020B0503020204020204" pitchFamily="34" charset="-122"/>
              </a:rPr>
              <a:t>using the </a:t>
            </a:r>
            <a:r>
              <a:rPr lang="en-US" sz="1800" dirty="0">
                <a:solidFill>
                  <a:srgbClr val="FF0000"/>
                </a:solidFill>
                <a:effectLst/>
                <a:latin typeface="Microsoft YaHei UI" panose="020B0503020204020204" pitchFamily="34" charset="-122"/>
                <a:ea typeface="Microsoft YaHei UI" panose="020B0503020204020204" pitchFamily="34" charset="-122"/>
              </a:rPr>
              <a:t>two forks </a:t>
            </a:r>
            <a:r>
              <a:rPr lang="en-US" sz="1800" dirty="0">
                <a:solidFill>
                  <a:srgbClr val="231F20"/>
                </a:solidFill>
                <a:effectLst/>
                <a:latin typeface="Microsoft YaHei UI" panose="020B0503020204020204" pitchFamily="34" charset="-122"/>
                <a:ea typeface="Microsoft YaHei UI" panose="020B0503020204020204" pitchFamily="34" charset="-122"/>
              </a:rPr>
              <a:t>on either side of the plate, takes and eats some spaghetti</a:t>
            </a:r>
            <a:endParaRPr 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9" name="日期占位符 8">
            <a:extLst>
              <a:ext uri="{FF2B5EF4-FFF2-40B4-BE49-F238E27FC236}">
                <a16:creationId xmlns:a16="http://schemas.microsoft.com/office/drawing/2014/main" id="{1ABE54AE-92DE-49BF-A793-B6B7B58094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70233-16EF-4E33-AC35-254A3EC95612}" type="datetime1">
              <a:rPr lang="zh-CN" altLang="en-US" smtClean="0"/>
              <a:t>2026/6/19</a:t>
            </a:fld>
            <a:endParaRPr lang="zh-CN" altLang="en-US" dirty="0"/>
          </a:p>
        </p:txBody>
      </p:sp>
      <p:sp>
        <p:nvSpPr>
          <p:cNvPr id="10" name="灯片编号占位符 9">
            <a:extLst>
              <a:ext uri="{FF2B5EF4-FFF2-40B4-BE49-F238E27FC236}">
                <a16:creationId xmlns:a16="http://schemas.microsoft.com/office/drawing/2014/main" id="{A815187C-C6CC-463C-8B9E-1F66226E5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3D444-7193-46AD-90E8-D84AE4B61CFF}" type="slidenum">
              <a:rPr lang="en-US" smtClean="0"/>
              <a:pPr/>
              <a:t>86</a:t>
            </a:fld>
            <a:r>
              <a:rPr lang="en-US" dirty="0"/>
              <a:t>/114</a:t>
            </a:r>
          </a:p>
        </p:txBody>
      </p:sp>
    </p:spTree>
    <p:extLst>
      <p:ext uri="{BB962C8B-B14F-4D97-AF65-F5344CB8AC3E}">
        <p14:creationId xmlns:p14="http://schemas.microsoft.com/office/powerpoint/2010/main" val="2990954822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51AF5C-4BC4-4356-A2B7-F023B68B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Solution Using Semaphores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818A168-9C8B-4B9F-B1A2-FA01ED0B44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Each philosopher first picks up the fork on the </a:t>
            </a:r>
            <a:r>
              <a:rPr lang="en-US" dirty="0">
                <a:solidFill>
                  <a:srgbClr val="FF0000"/>
                </a:solidFill>
              </a:rPr>
              <a:t>left</a:t>
            </a:r>
            <a:r>
              <a:rPr lang="en-US" dirty="0"/>
              <a:t> then the fork on the </a:t>
            </a:r>
            <a:r>
              <a:rPr lang="en-US" dirty="0">
                <a:solidFill>
                  <a:srgbClr val="FF0000"/>
                </a:solidFill>
              </a:rPr>
              <a:t>right</a:t>
            </a:r>
            <a:r>
              <a:rPr lang="en-US" dirty="0"/>
              <a:t>.</a:t>
            </a: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D3446CF3-E073-4B15-B5ED-9A6213F50641}"/>
              </a:ext>
            </a:extLst>
          </p:cNvPr>
          <p:cNvGrpSpPr/>
          <p:nvPr/>
        </p:nvGrpSpPr>
        <p:grpSpPr>
          <a:xfrm>
            <a:off x="3217408" y="1727992"/>
            <a:ext cx="6822712" cy="4738889"/>
            <a:chOff x="3014759" y="1188379"/>
            <a:chExt cx="6822712" cy="4738889"/>
          </a:xfrm>
        </p:grpSpPr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446196C2-6772-44CE-B50A-1C0511163F5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014759" y="1188379"/>
              <a:ext cx="6822712" cy="4738889"/>
            </a:xfrm>
            <a:prstGeom prst="rect">
              <a:avLst/>
            </a:prstGeom>
          </p:spPr>
        </p:pic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1E5685A6-FA6D-408D-9822-7B2672DAF000}"/>
                </a:ext>
              </a:extLst>
            </p:cNvPr>
            <p:cNvSpPr/>
            <p:nvPr/>
          </p:nvSpPr>
          <p:spPr>
            <a:xfrm>
              <a:off x="4259017" y="1528091"/>
              <a:ext cx="1712199" cy="20865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日期占位符 10">
            <a:extLst>
              <a:ext uri="{FF2B5EF4-FFF2-40B4-BE49-F238E27FC236}">
                <a16:creationId xmlns:a16="http://schemas.microsoft.com/office/drawing/2014/main" id="{6E92E3A1-5458-4AE4-9CAE-812C08FAEA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200" b="1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0B91B0C-9005-4F3C-AFC7-BED016BC6699}" type="datetime1">
              <a:rPr lang="zh-CN" altLang="en-US" smtClean="0"/>
              <a:pPr/>
              <a:t>2026/6/19</a:t>
            </a:fld>
            <a:endParaRPr lang="zh-CN" altLang="en-US" dirty="0"/>
          </a:p>
        </p:txBody>
      </p:sp>
      <p:sp>
        <p:nvSpPr>
          <p:cNvPr id="12" name="灯片编号占位符 11">
            <a:extLst>
              <a:ext uri="{FF2B5EF4-FFF2-40B4-BE49-F238E27FC236}">
                <a16:creationId xmlns:a16="http://schemas.microsoft.com/office/drawing/2014/main" id="{6422232A-F959-4052-A3F5-45B1B5FC8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b="1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093D444-7193-46AD-90E8-D84AE4B61CFF}" type="slidenum">
              <a:rPr lang="en-US" smtClean="0"/>
              <a:pPr/>
              <a:t>87</a:t>
            </a:fld>
            <a:r>
              <a:rPr lang="en-US" dirty="0"/>
              <a:t>/114</a:t>
            </a:r>
          </a:p>
        </p:txBody>
      </p:sp>
    </p:spTree>
    <p:extLst>
      <p:ext uri="{BB962C8B-B14F-4D97-AF65-F5344CB8AC3E}">
        <p14:creationId xmlns:p14="http://schemas.microsoft.com/office/powerpoint/2010/main" val="3973192431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51AF5C-4BC4-4356-A2B7-F023B68B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A Second Solution . . . 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4DC733A-3D8B-4C53-BDB6-AC3B6BA8A7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consider adding an attendant who </a:t>
            </a:r>
            <a:r>
              <a:rPr lang="en-US" dirty="0">
                <a:solidFill>
                  <a:srgbClr val="FF0000"/>
                </a:solidFill>
              </a:rPr>
              <a:t>only allows four </a:t>
            </a:r>
            <a:r>
              <a:rPr lang="en-US" dirty="0"/>
              <a:t>philosophers at a time into the dining room.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1492E517-4388-41B8-BACC-867E6150C9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0477" y="2028702"/>
            <a:ext cx="5834054" cy="4635744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82F52CE9-74EE-42F6-A396-710BE780A002}"/>
              </a:ext>
            </a:extLst>
          </p:cNvPr>
          <p:cNvSpPr/>
          <p:nvPr/>
        </p:nvSpPr>
        <p:spPr>
          <a:xfrm>
            <a:off x="3933761" y="2470563"/>
            <a:ext cx="1712199" cy="20865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日期占位符 10">
            <a:extLst>
              <a:ext uri="{FF2B5EF4-FFF2-40B4-BE49-F238E27FC236}">
                <a16:creationId xmlns:a16="http://schemas.microsoft.com/office/drawing/2014/main" id="{320221BE-4C2C-4AB6-BA89-8BF3C91DABF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200" b="1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0B91B0C-9005-4F3C-AFC7-BED016BC6699}" type="datetime1">
              <a:rPr lang="zh-CN" altLang="en-US" smtClean="0"/>
              <a:pPr/>
              <a:t>2026/6/19</a:t>
            </a:fld>
            <a:endParaRPr lang="zh-CN" altLang="en-US" dirty="0"/>
          </a:p>
        </p:txBody>
      </p:sp>
      <p:sp>
        <p:nvSpPr>
          <p:cNvPr id="12" name="灯片编号占位符 11">
            <a:extLst>
              <a:ext uri="{FF2B5EF4-FFF2-40B4-BE49-F238E27FC236}">
                <a16:creationId xmlns:a16="http://schemas.microsoft.com/office/drawing/2014/main" id="{D9D132A2-481A-4233-8749-561043A3E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b="1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093D444-7193-46AD-90E8-D84AE4B61CFF}" type="slidenum">
              <a:rPr lang="en-US" smtClean="0"/>
              <a:pPr/>
              <a:t>88</a:t>
            </a:fld>
            <a:r>
              <a:rPr lang="en-US" dirty="0"/>
              <a:t>/114</a:t>
            </a:r>
          </a:p>
        </p:txBody>
      </p:sp>
    </p:spTree>
    <p:extLst>
      <p:ext uri="{BB962C8B-B14F-4D97-AF65-F5344CB8AC3E}">
        <p14:creationId xmlns:p14="http://schemas.microsoft.com/office/powerpoint/2010/main" val="1117569670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9A924D-6B78-D3D3-65B5-2F916A882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1916690-59C5-6058-AADB-1B48E5BAE8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/>
              <a:t>(4) What problem is the banker's algorithm used to solve</a:t>
            </a:r>
            <a:r>
              <a:rPr lang="zh-CN" altLang="zh-CN" dirty="0"/>
              <a:t>？</a:t>
            </a:r>
            <a:r>
              <a:rPr lang="en-US" altLang="zh-CN" dirty="0"/>
              <a:t> (    ).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dirty="0"/>
              <a:t>A. Deadlock prevention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dirty="0"/>
              <a:t>B. Deadlock detection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dirty="0"/>
              <a:t>C. Deadlock avoidance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dirty="0"/>
              <a:t>D. Deadlock recovery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dirty="0">
                <a:solidFill>
                  <a:srgbClr val="FF0000"/>
                </a:solidFill>
              </a:rPr>
              <a:t>C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9D2CFD1-F0E9-6CDB-40F6-E81B55AAB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3D444-7193-46AD-90E8-D84AE4B61CFF}" type="slidenum">
              <a:rPr lang="en-US" smtClean="0"/>
              <a:pPr/>
              <a:t>89</a:t>
            </a:fld>
            <a:r>
              <a:rPr lang="en-US"/>
              <a:t>/114</a:t>
            </a:r>
            <a:endParaRPr lang="en-US" dirty="0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717AD0B-D71D-6CC2-350E-D0D98F2C49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6D1B6-B1AF-7D4D-A84B-F73F4DDF98DE}" type="datetime1">
              <a:rPr lang="zh-CN" altLang="en-US" smtClean="0"/>
              <a:t>2026/6/19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958486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275635-51BF-7A7D-CADC-725AA8A92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0329551-0D29-2C4C-FA4C-2E047D9CA2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/>
              <a:t>(5) Which scheduling algorithm assigns fixed time slices to all runnable processes in a cyclic manner?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dirty="0"/>
              <a:t>(   )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dirty="0"/>
              <a:t>A. Shortest Job First (SJF)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dirty="0"/>
              <a:t>B. Priority Scheduling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dirty="0"/>
              <a:t>C. Round Robin (RR)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dirty="0"/>
              <a:t>D. Multilevel Feedback Queue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dirty="0">
                <a:solidFill>
                  <a:srgbClr val="FF0000"/>
                </a:solidFill>
              </a:rPr>
              <a:t>C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04DFD25-ADDE-E872-F816-ED7A4750D5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3D444-7193-46AD-90E8-D84AE4B61CFF}" type="slidenum">
              <a:rPr lang="en-US" smtClean="0"/>
              <a:pPr/>
              <a:t>90</a:t>
            </a:fld>
            <a:r>
              <a:rPr lang="en-US"/>
              <a:t>/114</a:t>
            </a:r>
            <a:endParaRPr lang="en-US" dirty="0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F8C0080-58B7-94EA-4A5E-1C857B1A9E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6D1B6-B1AF-7D4D-A84B-F73F4DDF98DE}" type="datetime1">
              <a:rPr lang="zh-CN" altLang="en-US" smtClean="0"/>
              <a:t>2026/6/19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300690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6E2F2A-5337-664D-BB8C-2AB4BE1266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8CD869-1AC3-9942-D168-489BCCB10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True / False Questions 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9BFF8E5-86F6-F5C8-E38D-49E9825056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 dirty="0"/>
              <a:t>Long-term scheduling is the same as CPU scheduling; it determines which process to execute next.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dirty="0">
                <a:solidFill>
                  <a:srgbClr val="FF0000"/>
                </a:solidFill>
              </a:rPr>
              <a:t>F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BDCBD52-DCD8-C0E6-0FF8-018C01CBB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3D444-7193-46AD-90E8-D84AE4B61CFF}" type="slidenum">
              <a:rPr lang="en-US" smtClean="0"/>
              <a:pPr/>
              <a:t>91</a:t>
            </a:fld>
            <a:r>
              <a:rPr lang="en-US"/>
              <a:t>/114</a:t>
            </a:r>
            <a:endParaRPr lang="en-US" dirty="0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4E13D52-BBE5-34FC-CD18-A2AA424ECF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6D1B6-B1AF-7D4D-A84B-F73F4DDF98DE}" type="datetime1">
              <a:rPr lang="zh-CN" altLang="en-US" smtClean="0"/>
              <a:t>2026/6/19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443297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74E892-7B40-D11F-3349-6685B2DE9F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5F4038-AE51-B445-7BC9-9719C2314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True / False Questions 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7D20E52-3FF2-2435-3C3A-225FCF70DD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 dirty="0"/>
              <a:t>Medium-term scheduling determines the degree of multiprogramming. (    ) 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dirty="0">
                <a:solidFill>
                  <a:srgbClr val="FF0000"/>
                </a:solidFill>
              </a:rPr>
              <a:t>F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52235EC-4025-2C93-D25F-C031B9ABDA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3D444-7193-46AD-90E8-D84AE4B61CFF}" type="slidenum">
              <a:rPr lang="en-US" smtClean="0"/>
              <a:pPr/>
              <a:t>92</a:t>
            </a:fld>
            <a:r>
              <a:rPr lang="en-US"/>
              <a:t>/114</a:t>
            </a:r>
            <a:endParaRPr lang="en-US" dirty="0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071539A-6DD7-1C02-DA63-5064B68755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6D1B6-B1AF-7D4D-A84B-F73F4DDF98DE}" type="datetime1">
              <a:rPr lang="zh-CN" altLang="en-US" smtClean="0"/>
              <a:t>2026/6/19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329603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9B1077-08D2-7013-9C6C-946765EFE4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True / False Questions 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3F3D8EB-DC31-8A0F-02D8-271DA226BE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/>
              <a:t>A tightly coupled multiprocessor consists of a set of processors that share a common cache memory and are under the integrated control of one operating system. (    )</a:t>
            </a:r>
          </a:p>
          <a:p>
            <a:pPr marL="0" indent="0">
              <a:buNone/>
            </a:pPr>
            <a:r>
              <a:rPr lang="en-US" altLang="zh-CN" dirty="0">
                <a:solidFill>
                  <a:srgbClr val="FF0000"/>
                </a:solidFill>
              </a:rPr>
              <a:t>F</a:t>
            </a:r>
            <a:endParaRPr lang="zh-CN" altLang="zh-CN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2C6F9DA-CBD9-CE17-EEDA-1F485BBD4F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3D444-7193-46AD-90E8-D84AE4B61CFF}" type="slidenum">
              <a:rPr lang="en-US" smtClean="0"/>
              <a:pPr/>
              <a:t>93</a:t>
            </a:fld>
            <a:r>
              <a:rPr lang="en-US"/>
              <a:t>/114</a:t>
            </a:r>
            <a:endParaRPr lang="en-US" dirty="0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9E7D11E-73E5-55B1-C896-21D1DD374C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6D1B6-B1AF-7D4D-A84B-F73F4DDF98DE}" type="datetime1">
              <a:rPr lang="zh-CN" altLang="en-US" smtClean="0"/>
              <a:t>2026/6/19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000450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3BEA74-AC0C-DF92-BFE5-2E1D12A6A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True / False Questions 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B5D1562-7695-93AF-41C8-76D4731EB8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/>
              <a:t>In priority inheritance, if a high-priority task is blocked waiting for a resource held by a lower-priority task, the lower-priority task temporarily inherits the higher priority until it releases the resource. (    )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dirty="0">
                <a:solidFill>
                  <a:srgbClr val="FF0000"/>
                </a:solidFill>
              </a:rPr>
              <a:t>T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73BDA84-FBA2-851B-E647-495285AF12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3D444-7193-46AD-90E8-D84AE4B61CFF}" type="slidenum">
              <a:rPr lang="en-US" smtClean="0"/>
              <a:pPr/>
              <a:t>94</a:t>
            </a:fld>
            <a:r>
              <a:rPr lang="en-US"/>
              <a:t>/114</a:t>
            </a:r>
            <a:endParaRPr lang="en-US" dirty="0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A40C4F8-3F5E-1ECB-02D6-B6074D21FB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6D1B6-B1AF-7D4D-A84B-F73F4DDF98DE}" type="datetime1">
              <a:rPr lang="zh-CN" altLang="en-US" smtClean="0"/>
              <a:t>2026/6/19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301777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1_Office 主题​​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ambria-Calibri">
      <a:majorFont>
        <a:latin typeface="Cambria" panose="02040503050406030204"/>
        <a:ea typeface=""/>
        <a:cs typeface=""/>
        <a:font script="Jpan" typeface="ＭＳ Ｐゴシック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3182</TotalTime>
  <Words>4486</Words>
  <Application>Microsoft Macintosh PowerPoint</Application>
  <PresentationFormat>Widescreen</PresentationFormat>
  <Paragraphs>725</Paragraphs>
  <Slides>94</Slides>
  <Notes>26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94</vt:i4>
      </vt:variant>
    </vt:vector>
  </HeadingPairs>
  <TitlesOfParts>
    <vt:vector size="107" baseType="lpstr">
      <vt:lpstr>等线</vt:lpstr>
      <vt:lpstr>Inter</vt:lpstr>
      <vt:lpstr>Microsoft YaHei</vt:lpstr>
      <vt:lpstr>Microsoft YaHei</vt:lpstr>
      <vt:lpstr>Microsoft YaHei UI</vt:lpstr>
      <vt:lpstr>Segoe UI Web (West European)</vt:lpstr>
      <vt:lpstr>TimesTenLTStd-Bold</vt:lpstr>
      <vt:lpstr>Arial</vt:lpstr>
      <vt:lpstr>Calibri</vt:lpstr>
      <vt:lpstr>Times New Roman</vt:lpstr>
      <vt:lpstr>Wingdings</vt:lpstr>
      <vt:lpstr>1_Office 主题​​</vt:lpstr>
      <vt:lpstr>Document</vt:lpstr>
      <vt:lpstr>PowerPoint Presentation</vt:lpstr>
      <vt:lpstr>Outline</vt:lpstr>
      <vt:lpstr>Outline (cont.)</vt:lpstr>
      <vt:lpstr>Outline</vt:lpstr>
      <vt:lpstr>1.1 OS Objectives </vt:lpstr>
      <vt:lpstr>Computer Hardware and Software Infrastructure</vt:lpstr>
      <vt:lpstr>Quiz</vt:lpstr>
      <vt:lpstr>A View of Operating System Services</vt:lpstr>
      <vt:lpstr>System Calls</vt:lpstr>
      <vt:lpstr>API – System Call – OS Relationship</vt:lpstr>
      <vt:lpstr>1.2. Evolution of Operating System </vt:lpstr>
      <vt:lpstr>Serial Processing（串行）</vt:lpstr>
      <vt:lpstr>Simple Batch Systems（批处理）</vt:lpstr>
      <vt:lpstr>Quiz</vt:lpstr>
      <vt:lpstr>Multiprogramming Batch Programming</vt:lpstr>
      <vt:lpstr>Time-Sharing Systems （分时）</vt:lpstr>
      <vt:lpstr>1.3 Kernel Space vs. User Space </vt:lpstr>
      <vt:lpstr>1.4 Features of Modern Operating Systems</vt:lpstr>
      <vt:lpstr>Traditional UNIX System Structure</vt:lpstr>
      <vt:lpstr>Microkernel System Structure </vt:lpstr>
      <vt:lpstr>Outline</vt:lpstr>
      <vt:lpstr>2.1 Process Definitions</vt:lpstr>
      <vt:lpstr>OS Control Structures</vt:lpstr>
      <vt:lpstr>Process Image</vt:lpstr>
      <vt:lpstr>Typical Elements of a Process Image</vt:lpstr>
      <vt:lpstr>Process Control Block</vt:lpstr>
      <vt:lpstr>2.3Five-State Process Model</vt:lpstr>
      <vt:lpstr>Using Two Queues</vt:lpstr>
      <vt:lpstr>One Suspend State</vt:lpstr>
      <vt:lpstr>Two Suspend States两种挂起状态</vt:lpstr>
      <vt:lpstr>2.4 Process Switching</vt:lpstr>
      <vt:lpstr>2.5 Processes and Threads</vt:lpstr>
      <vt:lpstr>2.6 Types of Threads</vt:lpstr>
      <vt:lpstr>User-Level Threads (ULTs)</vt:lpstr>
      <vt:lpstr>Advantages of ULTs</vt:lpstr>
      <vt:lpstr>Disadvantages of ULTs</vt:lpstr>
      <vt:lpstr>Kernel-Level Threads (KLTs)</vt:lpstr>
      <vt:lpstr>Advantages and Disadvantages of KLTs</vt:lpstr>
      <vt:lpstr>Combined Approaches</vt:lpstr>
      <vt:lpstr>2.7 Multicore / Multithread</vt:lpstr>
      <vt:lpstr>Performance Effect of Multiple Cores</vt:lpstr>
      <vt:lpstr>Nesting of Scheduling Functions</vt:lpstr>
      <vt:lpstr>2.8 Short Term Scheduling Criteria</vt:lpstr>
      <vt:lpstr>Alternative Scheduling Policies</vt:lpstr>
      <vt:lpstr>PowerPoint Presentation</vt:lpstr>
      <vt:lpstr>Feedback Scheduling</vt:lpstr>
      <vt:lpstr>Comparison of Scheduling Policies</vt:lpstr>
      <vt:lpstr>Approaches to Thread Scheduling</vt:lpstr>
      <vt:lpstr>2.9 Real-time scheduling</vt:lpstr>
      <vt:lpstr>Scheduling of Periodic Real-Time Tasks  with Completion Deadlines</vt:lpstr>
      <vt:lpstr>Scheduling of Aperiodic Real-Time Tasks  with Starting Deadlines</vt:lpstr>
      <vt:lpstr>Measure of Periodic Scheduling Algorithm</vt:lpstr>
      <vt:lpstr>Quiz</vt:lpstr>
      <vt:lpstr>Quiz</vt:lpstr>
      <vt:lpstr>Choice Questions</vt:lpstr>
      <vt:lpstr>Choice Questions</vt:lpstr>
      <vt:lpstr>Choice Questions</vt:lpstr>
      <vt:lpstr>True / False Questions </vt:lpstr>
      <vt:lpstr>PowerPoint Presentation</vt:lpstr>
      <vt:lpstr>PowerPoint Presentation</vt:lpstr>
      <vt:lpstr>Outline </vt:lpstr>
      <vt:lpstr>Key Terms Related to Concurrency</vt:lpstr>
      <vt:lpstr>Illustration of Mutual Exclusion</vt:lpstr>
      <vt:lpstr>Mutual Exclusion Tools</vt:lpstr>
      <vt:lpstr>3.2 Semaphore</vt:lpstr>
      <vt:lpstr>Examples</vt:lpstr>
      <vt:lpstr>3.3 Monitor</vt:lpstr>
      <vt:lpstr>Synchronization</vt:lpstr>
      <vt:lpstr>Message Passing</vt:lpstr>
      <vt:lpstr>Producer/Consumer Problem</vt:lpstr>
      <vt:lpstr>PowerPoint Presentation</vt:lpstr>
      <vt:lpstr>PowerPoint Presentation</vt:lpstr>
      <vt:lpstr>Readers/Writers Problem</vt:lpstr>
      <vt:lpstr>Outline (cont.)</vt:lpstr>
      <vt:lpstr>Quiz</vt:lpstr>
      <vt:lpstr>4.1 Conditions for Deadlock</vt:lpstr>
      <vt:lpstr>Resource Allocation Graphs</vt:lpstr>
      <vt:lpstr>4.2 Three Approaches Dealing with Deadlock</vt:lpstr>
      <vt:lpstr>Two Approaches to Deadlock Avoidance</vt:lpstr>
      <vt:lpstr>Determination of a Safe State</vt:lpstr>
      <vt:lpstr>Determination of a Safe State</vt:lpstr>
      <vt:lpstr>P2 Runs to Completion</vt:lpstr>
      <vt:lpstr>P1 Runs to Completion</vt:lpstr>
      <vt:lpstr>P3 Runs to Completion</vt:lpstr>
      <vt:lpstr>Determination of an Unsafe State</vt:lpstr>
      <vt:lpstr>Dining Philosophers Problem</vt:lpstr>
      <vt:lpstr>Solution Using Semaphores</vt:lpstr>
      <vt:lpstr>A Second Solution . . . </vt:lpstr>
      <vt:lpstr>PowerPoint Presentation</vt:lpstr>
      <vt:lpstr>PowerPoint Presentation</vt:lpstr>
      <vt:lpstr>True / False Questions </vt:lpstr>
      <vt:lpstr>True / False Questions </vt:lpstr>
      <vt:lpstr>True / False Questions </vt:lpstr>
      <vt:lpstr>True / False Questions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Operating System</dc:title>
  <dc:creator>XiangyiChen</dc:creator>
  <cp:lastModifiedBy>xiangyi Chen</cp:lastModifiedBy>
  <cp:revision>504</cp:revision>
  <dcterms:created xsi:type="dcterms:W3CDTF">2020-02-20T05:29:15Z</dcterms:created>
  <dcterms:modified xsi:type="dcterms:W3CDTF">2026-06-19T14:15:40Z</dcterms:modified>
</cp:coreProperties>
</file>