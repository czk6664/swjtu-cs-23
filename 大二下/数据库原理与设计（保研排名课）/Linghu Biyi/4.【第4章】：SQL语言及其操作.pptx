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68"/>
  </p:notesMasterIdLst>
  <p:sldIdLst>
    <p:sldId id="917" r:id="rId4"/>
    <p:sldId id="1022" r:id="rId5"/>
    <p:sldId id="1104" r:id="rId6"/>
    <p:sldId id="1107" r:id="rId7"/>
    <p:sldId id="1106" r:id="rId8"/>
    <p:sldId id="1518" r:id="rId9"/>
    <p:sldId id="1597" r:id="rId10"/>
    <p:sldId id="1105" r:id="rId11"/>
    <p:sldId id="1280" r:id="rId12"/>
    <p:sldId id="1108" r:id="rId13"/>
    <p:sldId id="1109" r:id="rId14"/>
    <p:sldId id="1110" r:id="rId15"/>
    <p:sldId id="1111" r:id="rId16"/>
    <p:sldId id="1112" r:id="rId17"/>
    <p:sldId id="1113" r:id="rId18"/>
    <p:sldId id="1114" r:id="rId19"/>
    <p:sldId id="1115" r:id="rId20"/>
    <p:sldId id="1116" r:id="rId21"/>
    <p:sldId id="1117" r:id="rId22"/>
    <p:sldId id="1183" r:id="rId23"/>
    <p:sldId id="1184" r:id="rId24"/>
    <p:sldId id="1185" r:id="rId25"/>
    <p:sldId id="1831" r:id="rId26"/>
    <p:sldId id="1832" r:id="rId27"/>
    <p:sldId id="1833" r:id="rId28"/>
    <p:sldId id="1182" r:id="rId29"/>
    <p:sldId id="1178" r:id="rId30"/>
    <p:sldId id="1179" r:id="rId31"/>
    <p:sldId id="1180" r:id="rId32"/>
    <p:sldId id="1181" r:id="rId33"/>
    <p:sldId id="1675" r:id="rId34"/>
    <p:sldId id="1734" r:id="rId35"/>
    <p:sldId id="1735" r:id="rId36"/>
    <p:sldId id="1736" r:id="rId37"/>
    <p:sldId id="1138" r:id="rId38"/>
    <p:sldId id="1123" r:id="rId39"/>
    <p:sldId id="1834" r:id="rId40"/>
    <p:sldId id="1835" r:id="rId41"/>
    <p:sldId id="1124" r:id="rId42"/>
    <p:sldId id="1130" r:id="rId43"/>
    <p:sldId id="1131" r:id="rId44"/>
    <p:sldId id="1132" r:id="rId45"/>
    <p:sldId id="1133" r:id="rId46"/>
    <p:sldId id="1134" r:id="rId47"/>
    <p:sldId id="1135" r:id="rId48"/>
    <p:sldId id="1136" r:id="rId49"/>
    <p:sldId id="1126" r:id="rId50"/>
    <p:sldId id="1125" r:id="rId51"/>
    <p:sldId id="1836" r:id="rId52"/>
    <p:sldId id="1837" r:id="rId53"/>
    <p:sldId id="1738" r:id="rId54"/>
    <p:sldId id="1739" r:id="rId55"/>
    <p:sldId id="1740" r:id="rId56"/>
    <p:sldId id="1741" r:id="rId57"/>
    <p:sldId id="1971" r:id="rId58"/>
    <p:sldId id="1830" r:id="rId59"/>
    <p:sldId id="1743" r:id="rId60"/>
    <p:sldId id="1974" r:id="rId61"/>
    <p:sldId id="1975" r:id="rId62"/>
    <p:sldId id="1745" r:id="rId63"/>
    <p:sldId id="1746" r:id="rId64"/>
    <p:sldId id="1747" r:id="rId65"/>
    <p:sldId id="1972" r:id="rId66"/>
    <p:sldId id="1749" r:id="rId67"/>
    <p:sldId id="1838" r:id="rId69"/>
    <p:sldId id="1127" r:id="rId70"/>
    <p:sldId id="1128" r:id="rId71"/>
    <p:sldId id="1139" r:id="rId72"/>
    <p:sldId id="1140" r:id="rId73"/>
    <p:sldId id="1186" r:id="rId74"/>
    <p:sldId id="1143" r:id="rId75"/>
    <p:sldId id="1144" r:id="rId76"/>
    <p:sldId id="2038" r:id="rId77"/>
    <p:sldId id="1187" r:id="rId78"/>
    <p:sldId id="1145" r:id="rId79"/>
    <p:sldId id="1146" r:id="rId80"/>
    <p:sldId id="1840" r:id="rId81"/>
    <p:sldId id="1841" r:id="rId82"/>
    <p:sldId id="1842" r:id="rId83"/>
    <p:sldId id="1843" r:id="rId84"/>
    <p:sldId id="1931" r:id="rId85"/>
    <p:sldId id="2121" r:id="rId86"/>
    <p:sldId id="2122" r:id="rId87"/>
    <p:sldId id="2123" r:id="rId88"/>
    <p:sldId id="2124" r:id="rId89"/>
    <p:sldId id="2125" r:id="rId90"/>
    <p:sldId id="2126" r:id="rId91"/>
    <p:sldId id="2127" r:id="rId92"/>
    <p:sldId id="2128" r:id="rId93"/>
    <p:sldId id="2129" r:id="rId94"/>
    <p:sldId id="2130" r:id="rId95"/>
    <p:sldId id="2131" r:id="rId96"/>
    <p:sldId id="2132" r:id="rId97"/>
    <p:sldId id="2133" r:id="rId98"/>
    <p:sldId id="2134" r:id="rId99"/>
    <p:sldId id="2138" r:id="rId100"/>
    <p:sldId id="2139" r:id="rId101"/>
    <p:sldId id="2140" r:id="rId102"/>
    <p:sldId id="2141" r:id="rId103"/>
    <p:sldId id="2142" r:id="rId104"/>
    <p:sldId id="2143" r:id="rId105"/>
    <p:sldId id="2144" r:id="rId106"/>
    <p:sldId id="2145" r:id="rId107"/>
    <p:sldId id="2146" r:id="rId108"/>
    <p:sldId id="2148" r:id="rId109"/>
    <p:sldId id="2149" r:id="rId110"/>
    <p:sldId id="2150" r:id="rId111"/>
    <p:sldId id="2147" r:id="rId112"/>
    <p:sldId id="2152" r:id="rId113"/>
    <p:sldId id="2153" r:id="rId114"/>
    <p:sldId id="2088" r:id="rId115"/>
    <p:sldId id="2089" r:id="rId116"/>
    <p:sldId id="2159" r:id="rId117"/>
    <p:sldId id="2100" r:id="rId118"/>
    <p:sldId id="2101" r:id="rId119"/>
    <p:sldId id="2102" r:id="rId120"/>
    <p:sldId id="2103" r:id="rId121"/>
    <p:sldId id="2104" r:id="rId122"/>
    <p:sldId id="2105" r:id="rId123"/>
    <p:sldId id="2165" r:id="rId124"/>
    <p:sldId id="2090" r:id="rId125"/>
    <p:sldId id="2095" r:id="rId126"/>
    <p:sldId id="2091" r:id="rId127"/>
    <p:sldId id="2092" r:id="rId128"/>
    <p:sldId id="2094" r:id="rId129"/>
    <p:sldId id="2161" r:id="rId130"/>
    <p:sldId id="2162" r:id="rId131"/>
    <p:sldId id="2093" r:id="rId132"/>
    <p:sldId id="2097" r:id="rId133"/>
    <p:sldId id="2163" r:id="rId134"/>
    <p:sldId id="2098" r:id="rId135"/>
    <p:sldId id="2106" r:id="rId136"/>
    <p:sldId id="2164" r:id="rId137"/>
    <p:sldId id="2107" r:id="rId138"/>
    <p:sldId id="2108" r:id="rId139"/>
    <p:sldId id="2109" r:id="rId140"/>
    <p:sldId id="1858" r:id="rId141"/>
  </p:sldIdLst>
  <p:sldSz cx="9144000" cy="6858000" type="screen4x3"/>
  <p:notesSz cx="6781800" cy="9926955"/>
  <p:custDataLst>
    <p:tags r:id="rId145"/>
  </p:custDataLst>
  <p:defaultTextStyle>
    <a:defPPr>
      <a:defRPr lang="zh-CN"/>
    </a:defPPr>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479" userDrawn="1">
          <p15:clr>
            <a:srgbClr val="A4A3A4"/>
          </p15:clr>
        </p15:guide>
        <p15:guide id="2" pos="28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srgbClr val="FF0000"/>
    </p:penClr>
    <p:extLst>
      <p:ext uri="{2FDB2607-1784-4EEB-B798-7EB5836EED8A}">
        <p14:showMediaCtrls xmlns:p14="http://schemas.microsoft.com/office/powerpoint/2010/main" val="1"/>
      </p:ext>
    </p:extLst>
  </p:showPr>
  <p:clrMru>
    <a:srgbClr val="0000FF"/>
    <a:srgbClr val="CC0000"/>
    <a:srgbClr val="0033CC"/>
    <a:srgbClr val="000099"/>
    <a:srgbClr val="A50021"/>
    <a:srgbClr val="006600"/>
    <a:srgbClr val="FF3300"/>
    <a:srgbClr val="FFFFCC"/>
    <a:srgbClr val="FF99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showGuides="1">
      <p:cViewPr varScale="1">
        <p:scale>
          <a:sx n="69" d="100"/>
          <a:sy n="69" d="100"/>
        </p:scale>
        <p:origin x="-138" y="-102"/>
      </p:cViewPr>
      <p:guideLst>
        <p:guide orient="horz" pos="479"/>
        <p:guide pos="288"/>
      </p:guideLst>
    </p:cSldViewPr>
  </p:slide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5.xml"/><Relationship Id="rId98" Type="http://schemas.openxmlformats.org/officeDocument/2006/relationships/slide" Target="slides/slide94.xml"/><Relationship Id="rId97" Type="http://schemas.openxmlformats.org/officeDocument/2006/relationships/slide" Target="slides/slide93.xml"/><Relationship Id="rId96" Type="http://schemas.openxmlformats.org/officeDocument/2006/relationships/slide" Target="slides/slide92.xml"/><Relationship Id="rId95" Type="http://schemas.openxmlformats.org/officeDocument/2006/relationships/slide" Target="slides/slide91.xml"/><Relationship Id="rId94" Type="http://schemas.openxmlformats.org/officeDocument/2006/relationships/slide" Target="slides/slide90.xml"/><Relationship Id="rId93" Type="http://schemas.openxmlformats.org/officeDocument/2006/relationships/slide" Target="slides/slide89.xml"/><Relationship Id="rId92" Type="http://schemas.openxmlformats.org/officeDocument/2006/relationships/slide" Target="slides/slide88.xml"/><Relationship Id="rId91" Type="http://schemas.openxmlformats.org/officeDocument/2006/relationships/slide" Target="slides/slide87.xml"/><Relationship Id="rId90" Type="http://schemas.openxmlformats.org/officeDocument/2006/relationships/slide" Target="slides/slide86.xml"/><Relationship Id="rId9" Type="http://schemas.openxmlformats.org/officeDocument/2006/relationships/slide" Target="slides/slide6.xml"/><Relationship Id="rId89" Type="http://schemas.openxmlformats.org/officeDocument/2006/relationships/slide" Target="slides/slide85.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5.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4.xml"/><Relationship Id="rId69" Type="http://schemas.openxmlformats.org/officeDocument/2006/relationships/slide" Target="slides/slide65.xml"/><Relationship Id="rId68" Type="http://schemas.openxmlformats.org/officeDocument/2006/relationships/notesMaster" Target="notesMasters/notesMaster1.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5" Type="http://schemas.openxmlformats.org/officeDocument/2006/relationships/tags" Target="tags/tag42.xml"/><Relationship Id="rId144" Type="http://schemas.openxmlformats.org/officeDocument/2006/relationships/tableStyles" Target="tableStyles.xml"/><Relationship Id="rId143" Type="http://schemas.openxmlformats.org/officeDocument/2006/relationships/viewProps" Target="viewProps.xml"/><Relationship Id="rId142" Type="http://schemas.openxmlformats.org/officeDocument/2006/relationships/presProps" Target="presProps.xml"/><Relationship Id="rId141" Type="http://schemas.openxmlformats.org/officeDocument/2006/relationships/slide" Target="slides/slide137.xml"/><Relationship Id="rId140" Type="http://schemas.openxmlformats.org/officeDocument/2006/relationships/slide" Target="slides/slide136.xml"/><Relationship Id="rId14" Type="http://schemas.openxmlformats.org/officeDocument/2006/relationships/slide" Target="slides/slide11.xml"/><Relationship Id="rId139" Type="http://schemas.openxmlformats.org/officeDocument/2006/relationships/slide" Target="slides/slide135.xml"/><Relationship Id="rId138" Type="http://schemas.openxmlformats.org/officeDocument/2006/relationships/slide" Target="slides/slide134.xml"/><Relationship Id="rId137" Type="http://schemas.openxmlformats.org/officeDocument/2006/relationships/slide" Target="slides/slide133.xml"/><Relationship Id="rId136" Type="http://schemas.openxmlformats.org/officeDocument/2006/relationships/slide" Target="slides/slide132.xml"/><Relationship Id="rId135" Type="http://schemas.openxmlformats.org/officeDocument/2006/relationships/slide" Target="slides/slide131.xml"/><Relationship Id="rId134" Type="http://schemas.openxmlformats.org/officeDocument/2006/relationships/slide" Target="slides/slide130.xml"/><Relationship Id="rId133" Type="http://schemas.openxmlformats.org/officeDocument/2006/relationships/slide" Target="slides/slide129.xml"/><Relationship Id="rId132" Type="http://schemas.openxmlformats.org/officeDocument/2006/relationships/slide" Target="slides/slide128.xml"/><Relationship Id="rId131" Type="http://schemas.openxmlformats.org/officeDocument/2006/relationships/slide" Target="slides/slide127.xml"/><Relationship Id="rId130" Type="http://schemas.openxmlformats.org/officeDocument/2006/relationships/slide" Target="slides/slide126.xml"/><Relationship Id="rId13" Type="http://schemas.openxmlformats.org/officeDocument/2006/relationships/slide" Target="slides/slide10.xml"/><Relationship Id="rId129" Type="http://schemas.openxmlformats.org/officeDocument/2006/relationships/slide" Target="slides/slide125.xml"/><Relationship Id="rId128" Type="http://schemas.openxmlformats.org/officeDocument/2006/relationships/slide" Target="slides/slide124.xml"/><Relationship Id="rId127" Type="http://schemas.openxmlformats.org/officeDocument/2006/relationships/slide" Target="slides/slide123.xml"/><Relationship Id="rId126" Type="http://schemas.openxmlformats.org/officeDocument/2006/relationships/slide" Target="slides/slide122.xml"/><Relationship Id="rId125" Type="http://schemas.openxmlformats.org/officeDocument/2006/relationships/slide" Target="slides/slide121.xml"/><Relationship Id="rId124" Type="http://schemas.openxmlformats.org/officeDocument/2006/relationships/slide" Target="slides/slide120.xml"/><Relationship Id="rId123" Type="http://schemas.openxmlformats.org/officeDocument/2006/relationships/slide" Target="slides/slide119.xml"/><Relationship Id="rId122" Type="http://schemas.openxmlformats.org/officeDocument/2006/relationships/slide" Target="slides/slide118.xml"/><Relationship Id="rId121" Type="http://schemas.openxmlformats.org/officeDocument/2006/relationships/slide" Target="slides/slide117.xml"/><Relationship Id="rId120" Type="http://schemas.openxmlformats.org/officeDocument/2006/relationships/slide" Target="slides/slide116.xml"/><Relationship Id="rId12" Type="http://schemas.openxmlformats.org/officeDocument/2006/relationships/slide" Target="slides/slide9.xml"/><Relationship Id="rId119" Type="http://schemas.openxmlformats.org/officeDocument/2006/relationships/slide" Target="slides/slide115.xml"/><Relationship Id="rId118" Type="http://schemas.openxmlformats.org/officeDocument/2006/relationships/slide" Target="slides/slide114.xml"/><Relationship Id="rId117" Type="http://schemas.openxmlformats.org/officeDocument/2006/relationships/slide" Target="slides/slide113.xml"/><Relationship Id="rId116" Type="http://schemas.openxmlformats.org/officeDocument/2006/relationships/slide" Target="slides/slide112.xml"/><Relationship Id="rId115" Type="http://schemas.openxmlformats.org/officeDocument/2006/relationships/slide" Target="slides/slide111.xml"/><Relationship Id="rId114" Type="http://schemas.openxmlformats.org/officeDocument/2006/relationships/slide" Target="slides/slide110.xml"/><Relationship Id="rId113" Type="http://schemas.openxmlformats.org/officeDocument/2006/relationships/slide" Target="slides/slide109.xml"/><Relationship Id="rId112" Type="http://schemas.openxmlformats.org/officeDocument/2006/relationships/slide" Target="slides/slide108.xml"/><Relationship Id="rId111" Type="http://schemas.openxmlformats.org/officeDocument/2006/relationships/slide" Target="slides/slide107.xml"/><Relationship Id="rId110" Type="http://schemas.openxmlformats.org/officeDocument/2006/relationships/slide" Target="slides/slide106.xml"/><Relationship Id="rId11" Type="http://schemas.openxmlformats.org/officeDocument/2006/relationships/slide" Target="slides/slide8.xml"/><Relationship Id="rId109" Type="http://schemas.openxmlformats.org/officeDocument/2006/relationships/slide" Target="slides/slide105.xml"/><Relationship Id="rId108" Type="http://schemas.openxmlformats.org/officeDocument/2006/relationships/slide" Target="slides/slide104.xml"/><Relationship Id="rId107" Type="http://schemas.openxmlformats.org/officeDocument/2006/relationships/slide" Target="slides/slide103.xml"/><Relationship Id="rId106" Type="http://schemas.openxmlformats.org/officeDocument/2006/relationships/slide" Target="slides/slide102.xml"/><Relationship Id="rId105" Type="http://schemas.openxmlformats.org/officeDocument/2006/relationships/slide" Target="slides/slide101.xml"/><Relationship Id="rId104" Type="http://schemas.openxmlformats.org/officeDocument/2006/relationships/slide" Target="slides/slide100.xml"/><Relationship Id="rId103" Type="http://schemas.openxmlformats.org/officeDocument/2006/relationships/slide" Target="slides/slide99.xml"/><Relationship Id="rId102" Type="http://schemas.openxmlformats.org/officeDocument/2006/relationships/slide" Target="slides/slide98.xml"/><Relationship Id="rId101" Type="http://schemas.openxmlformats.org/officeDocument/2006/relationships/slide" Target="slides/slide97.xml"/><Relationship Id="rId100" Type="http://schemas.openxmlformats.org/officeDocument/2006/relationships/slide" Target="slides/slide96.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image" Target="../media/image37.wmf"/><Relationship Id="rId1" Type="http://schemas.openxmlformats.org/officeDocument/2006/relationships/image" Target="../media/image3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4" name="Rectangle 2"/>
          <p:cNvSpPr>
            <a:spLocks noGrp="1"/>
          </p:cNvSpPr>
          <p:nvPr>
            <p:ph type="hdr" sz="quarter"/>
          </p:nvPr>
        </p:nvSpPr>
        <p:spPr>
          <a:xfrm>
            <a:off x="0" y="0"/>
            <a:ext cx="2938463" cy="496888"/>
          </a:xfrm>
          <a:prstGeom prst="rect">
            <a:avLst/>
          </a:prstGeom>
          <a:noFill/>
          <a:ln w="9525">
            <a:noFill/>
          </a:ln>
        </p:spPr>
        <p:txBody>
          <a:bodyPr/>
          <a:p>
            <a:pPr lvl="0" eaLnBrk="1" fontAlgn="base" hangingPunct="1"/>
            <a:endParaRPr lang="en-US" altLang="x-none" sz="1200" b="0" strike="noStrike" noProof="1" dirty="0">
              <a:latin typeface="Times New Roman" panose="02020603050405020304" pitchFamily="2" charset="0"/>
            </a:endParaRPr>
          </a:p>
        </p:txBody>
      </p:sp>
      <p:sp>
        <p:nvSpPr>
          <p:cNvPr id="3075" name="Rectangle 3"/>
          <p:cNvSpPr>
            <a:spLocks noGrp="1"/>
          </p:cNvSpPr>
          <p:nvPr>
            <p:ph type="dt" idx="1"/>
          </p:nvPr>
        </p:nvSpPr>
        <p:spPr>
          <a:xfrm>
            <a:off x="3843338" y="0"/>
            <a:ext cx="2938463" cy="496888"/>
          </a:xfrm>
          <a:prstGeom prst="rect">
            <a:avLst/>
          </a:prstGeom>
          <a:noFill/>
          <a:ln w="9525">
            <a:noFill/>
          </a:ln>
        </p:spPr>
        <p:txBody>
          <a:bodyPr/>
          <a:p>
            <a:pPr lvl="0" algn="r" eaLnBrk="1" fontAlgn="base" hangingPunct="1"/>
            <a:endParaRPr lang="en-US" altLang="x-none" sz="1200" b="0" strike="noStrike" noProof="1" dirty="0">
              <a:latin typeface="Times New Roman" panose="02020603050405020304" pitchFamily="2" charset="0"/>
            </a:endParaRPr>
          </a:p>
        </p:txBody>
      </p:sp>
      <p:sp>
        <p:nvSpPr>
          <p:cNvPr id="3076" name="Rectangle 4"/>
          <p:cNvSpPr>
            <a:spLocks noGrp="1"/>
          </p:cNvSpPr>
          <p:nvPr>
            <p:ph type="sldImg"/>
          </p:nvPr>
        </p:nvSpPr>
        <p:spPr>
          <a:xfrm>
            <a:off x="909638" y="744538"/>
            <a:ext cx="4964112" cy="3722687"/>
          </a:xfrm>
          <a:prstGeom prst="rect">
            <a:avLst/>
          </a:prstGeom>
          <a:noFill/>
          <a:ln w="9525">
            <a:noFill/>
          </a:ln>
        </p:spPr>
      </p:sp>
      <p:sp>
        <p:nvSpPr>
          <p:cNvPr id="3077" name="Rectangle 5"/>
          <p:cNvSpPr>
            <a:spLocks noGrp="1"/>
          </p:cNvSpPr>
          <p:nvPr>
            <p:ph type="body" sz="quarter"/>
          </p:nvPr>
        </p:nvSpPr>
        <p:spPr>
          <a:xfrm>
            <a:off x="904875" y="4714875"/>
            <a:ext cx="4972050" cy="4467225"/>
          </a:xfrm>
          <a:prstGeom prst="rect">
            <a:avLst/>
          </a:prstGeom>
          <a:noFill/>
          <a:ln w="9525">
            <a:noFill/>
          </a:ln>
        </p:spPr>
        <p:txBody>
          <a:bodyPr anchor="t" anchorCtr="0"/>
          <a:p>
            <a:pPr lvl="0"/>
            <a:r>
              <a:rPr lang="zh-CN" altLang="en-US" dirty="0"/>
              <a:t>单击此处编辑母版文本样式</a:t>
            </a:r>
            <a:endParaRPr lang="zh-CN" altLang="en-US" dirty="0"/>
          </a:p>
          <a:p>
            <a:pPr lvl="1" indent="0"/>
            <a:r>
              <a:rPr lang="zh-CN" altLang="en-US" dirty="0"/>
              <a:t>第二级</a:t>
            </a:r>
            <a:endParaRPr lang="zh-CN" altLang="en-US" dirty="0"/>
          </a:p>
          <a:p>
            <a:pPr lvl="2" indent="0"/>
            <a:r>
              <a:rPr lang="zh-CN" altLang="en-US" dirty="0"/>
              <a:t>第三级</a:t>
            </a:r>
            <a:endParaRPr lang="zh-CN" altLang="en-US" dirty="0"/>
          </a:p>
          <a:p>
            <a:pPr lvl="3" indent="0"/>
            <a:r>
              <a:rPr lang="zh-CN" altLang="en-US" dirty="0"/>
              <a:t>第四级</a:t>
            </a:r>
            <a:endParaRPr lang="zh-CN" altLang="en-US" dirty="0"/>
          </a:p>
          <a:p>
            <a:pPr lvl="4" indent="0"/>
            <a:r>
              <a:rPr lang="zh-CN" altLang="en-US" dirty="0"/>
              <a:t>第五级</a:t>
            </a:r>
            <a:endParaRPr lang="zh-CN" altLang="en-US" dirty="0"/>
          </a:p>
        </p:txBody>
      </p:sp>
      <p:sp>
        <p:nvSpPr>
          <p:cNvPr id="3078" name="Rectangle 6"/>
          <p:cNvSpPr>
            <a:spLocks noGrp="1"/>
          </p:cNvSpPr>
          <p:nvPr>
            <p:ph type="ftr" sz="quarter" idx="4"/>
          </p:nvPr>
        </p:nvSpPr>
        <p:spPr>
          <a:xfrm>
            <a:off x="0" y="9429750"/>
            <a:ext cx="2938463" cy="496888"/>
          </a:xfrm>
          <a:prstGeom prst="rect">
            <a:avLst/>
          </a:prstGeom>
          <a:noFill/>
          <a:ln w="9525">
            <a:noFill/>
          </a:ln>
        </p:spPr>
        <p:txBody>
          <a:bodyPr anchor="b"/>
          <a:p>
            <a:pPr lvl="0" eaLnBrk="1" fontAlgn="base" hangingPunct="1"/>
            <a:endParaRPr lang="en-US" altLang="x-none" sz="1200" b="0" strike="noStrike" noProof="1" dirty="0">
              <a:latin typeface="Times New Roman" panose="02020603050405020304" pitchFamily="2" charset="0"/>
            </a:endParaRPr>
          </a:p>
        </p:txBody>
      </p:sp>
      <p:sp>
        <p:nvSpPr>
          <p:cNvPr id="3079" name="Rectangle 7"/>
          <p:cNvSpPr>
            <a:spLocks noGrp="1"/>
          </p:cNvSpPr>
          <p:nvPr>
            <p:ph type="sldNum" sz="quarter" idx="5"/>
          </p:nvPr>
        </p:nvSpPr>
        <p:spPr>
          <a:xfrm>
            <a:off x="3843338" y="9429750"/>
            <a:ext cx="2938463" cy="496888"/>
          </a:xfrm>
          <a:prstGeom prst="rect">
            <a:avLst/>
          </a:prstGeom>
          <a:noFill/>
          <a:ln w="9525">
            <a:noFill/>
          </a:ln>
        </p:spPr>
        <p:txBody>
          <a:bodyPr anchor="b"/>
          <a:p>
            <a:pPr lvl="0" algn="r" eaLnBrk="1" fontAlgn="base" hangingPunct="1"/>
            <a:fld id="{9A0DB2DC-4C9A-4742-B13C-FB6460FD3503}" type="slidenum">
              <a:rPr lang="en-US" altLang="x-none" sz="1200" b="0" strike="noStrike" noProof="1" dirty="0">
                <a:latin typeface="Times New Roman" panose="02020603050405020304" pitchFamily="2" charset="0"/>
                <a:ea typeface="宋体" panose="02010600030101010101" pitchFamily="2" charset="-122"/>
                <a:cs typeface="+mn-ea"/>
              </a:rPr>
            </a:fld>
            <a:endParaRPr lang="en-US" altLang="x-none" sz="1200" b="0" strike="noStrike" noProof="1" dirty="0">
              <a:latin typeface="Times New Roman" panose="02020603050405020304" pitchFamily="2" charset="0"/>
            </a:endParaRPr>
          </a:p>
        </p:txBody>
      </p:sp>
    </p:spTree>
  </p:cSld>
  <p:clrMap bg1="lt1" tx1="dk1" bg2="lt2" tx2="dk2" accent1="accent1" accent2="accent2" accent3="accent3" accent4="accent4" accent5="accent5" accent6="accent6" hlink="hlink" folHlink="folHlink"/>
  <p:hf sldNum="0" hdr="0" ftr="0" dt="0"/>
  <p:notesStyle>
    <a:lvl1pPr marL="0" lvl="0"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1pPr>
    <a:lvl2pPr marL="457200" lvl="1"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2pPr>
    <a:lvl3pPr marL="914400" lvl="2"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3pPr>
    <a:lvl4pPr marL="1371600" lvl="3"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4pPr>
    <a:lvl5pPr marL="1828800" lvl="4"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5pPr>
    <a:lvl6pPr marL="2286000" lvl="5"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6pPr>
    <a:lvl7pPr marL="2743200" lvl="6"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7pPr>
    <a:lvl8pPr marL="3200400" lvl="7"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8pPr>
    <a:lvl9pPr marL="3657600" lvl="8"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1" name="幻灯片图像占位符 1"/>
          <p:cNvSpPr>
            <a:spLocks noGrp="1"/>
          </p:cNvSpPr>
          <p:nvPr>
            <p:ph type="sldImg"/>
          </p:nvPr>
        </p:nvSpPr>
        <p:spPr/>
      </p:sp>
      <p:sp>
        <p:nvSpPr>
          <p:cNvPr id="66562" name="文本占位符 2"/>
          <p:cNvSpPr>
            <a:spLocks noGrp="1"/>
          </p:cNvSpPr>
          <p:nvPr>
            <p:ph type="body"/>
          </p:nvPr>
        </p:nvSpPr>
        <p:spPr/>
        <p:txBody>
          <a:bodyPr anchor="t" anchorCtr="0"/>
          <a:p>
            <a:pPr lvl="0"/>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幻灯片图像占位符 1"/>
          <p:cNvSpPr>
            <a:spLocks noGrp="1" noRot="1" noChangeAspect="1" noTextEdit="1"/>
          </p:cNvSpPr>
          <p:nvPr>
            <p:ph type="sldImg"/>
          </p:nvPr>
        </p:nvSpPr>
        <p:spPr/>
      </p:sp>
      <p:sp>
        <p:nvSpPr>
          <p:cNvPr id="90115" name="文本占位符 2"/>
          <p:cNvSpPr>
            <a:spLocks noGrp="1"/>
          </p:cNvSpPr>
          <p:nvPr>
            <p:ph type="body"/>
          </p:nvPr>
        </p:nvSpPr>
        <p:spPr/>
        <p:txBody>
          <a:bodyPr wrap="square" lIns="91440" tIns="45720" rIns="91440" bIns="45720" anchor="t" anchorCtr="0"/>
          <a:p>
            <a:pPr lvl="0"/>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102402" name="幻灯片图像占位符 1"/>
          <p:cNvSpPr>
            <a:spLocks noGrp="1" noRot="1" noChangeAspect="1" noTextEdit="1"/>
          </p:cNvSpPr>
          <p:nvPr>
            <p:ph type="sldImg"/>
          </p:nvPr>
        </p:nvSpPr>
        <p:spPr/>
      </p:sp>
      <p:sp>
        <p:nvSpPr>
          <p:cNvPr id="102403" name="备注占位符 2"/>
          <p:cNvSpPr>
            <a:spLocks noGrp="1"/>
          </p:cNvSpPr>
          <p:nvPr>
            <p:ph type="body"/>
          </p:nvPr>
        </p:nvSpPr>
        <p:spPr/>
        <p:txBody>
          <a:bodyPr wrap="square" anchor="t" anchorCtr="0"/>
          <a:p>
            <a:pPr lvl="0"/>
            <a:r>
              <a:rPr lang="zh-CN" altLang="en-US" dirty="0"/>
              <a:t>注：</a:t>
            </a:r>
            <a:r>
              <a:rPr lang="en-US" altLang="zh-CN" dirty="0"/>
              <a:t>COMPUTE </a:t>
            </a:r>
            <a:r>
              <a:rPr lang="zh-CN" altLang="en-US" dirty="0"/>
              <a:t>和 </a:t>
            </a:r>
            <a:r>
              <a:rPr lang="en-US" altLang="zh-CN" dirty="0"/>
              <a:t>GROUP BY </a:t>
            </a:r>
            <a:r>
              <a:rPr lang="zh-CN" altLang="en-US" dirty="0"/>
              <a:t>之间的区别汇总如下： </a:t>
            </a:r>
            <a:br>
              <a:rPr lang="zh-CN" altLang="en-US" dirty="0"/>
            </a:br>
            <a:r>
              <a:rPr lang="en-US" altLang="zh-CN" dirty="0"/>
              <a:t>--</a:t>
            </a:r>
            <a:r>
              <a:rPr lang="en-US" altLang="zh-CN" dirty="0">
                <a:solidFill>
                  <a:srgbClr val="FF0000"/>
                </a:solidFill>
                <a:latin typeface="楷体" panose="02010609060101010101" pitchFamily="1" charset="-122"/>
                <a:ea typeface="楷体" panose="02010609060101010101" pitchFamily="1" charset="-122"/>
              </a:rPr>
              <a:t>GROUP BY </a:t>
            </a:r>
            <a:r>
              <a:rPr lang="zh-CN" altLang="en-US" dirty="0">
                <a:solidFill>
                  <a:srgbClr val="FF0000"/>
                </a:solidFill>
                <a:latin typeface="楷体" panose="02010609060101010101" pitchFamily="1" charset="-122"/>
                <a:ea typeface="楷体" panose="02010609060101010101" pitchFamily="1" charset="-122"/>
              </a:rPr>
              <a:t>生成单个结果集。</a:t>
            </a:r>
            <a:r>
              <a:rPr lang="zh-CN" altLang="en-US" dirty="0">
                <a:latin typeface="楷体" panose="02010609060101010101" pitchFamily="1" charset="-122"/>
                <a:ea typeface="楷体" panose="02010609060101010101" pitchFamily="1" charset="-122"/>
              </a:rPr>
              <a:t>每个组都有一个只包含分组依据列和显示该组子聚合的聚合函数的行。选择列表只能包含分组依据列和聚合函数。</a:t>
            </a:r>
            <a:endParaRPr lang="en-US" altLang="zh-CN" dirty="0">
              <a:latin typeface="楷体" panose="02010609060101010101" pitchFamily="1" charset="-122"/>
              <a:ea typeface="楷体" panose="02010609060101010101" pitchFamily="1" charset="-122"/>
            </a:endParaRPr>
          </a:p>
          <a:p>
            <a:pPr lvl="0"/>
            <a:r>
              <a:rPr lang="en-US" altLang="zh-CN" dirty="0">
                <a:solidFill>
                  <a:srgbClr val="FF0000"/>
                </a:solidFill>
              </a:rPr>
              <a:t>--COMPUTE </a:t>
            </a:r>
            <a:r>
              <a:rPr lang="zh-CN" altLang="en-US" dirty="0">
                <a:solidFill>
                  <a:srgbClr val="FF0000"/>
                </a:solidFill>
              </a:rPr>
              <a:t>生成多个结果集。</a:t>
            </a:r>
            <a:r>
              <a:rPr lang="zh-CN" altLang="en-US" dirty="0"/>
              <a:t>一类结果集包含每个组的明细行，其中包含选择列表中的表达式。另一类结果集包含组的子聚合，或 </a:t>
            </a:r>
            <a:r>
              <a:rPr lang="en-US" altLang="zh-CN" dirty="0"/>
              <a:t>SELECT </a:t>
            </a:r>
            <a:r>
              <a:rPr lang="zh-CN" altLang="en-US" dirty="0"/>
              <a:t>语句 的总聚合。</a:t>
            </a:r>
            <a:endParaRPr lang="zh-CN" altLang="en-US" dirty="0"/>
          </a:p>
          <a:p>
            <a:pPr lvl="0"/>
            <a:endParaRPr lang="zh-CN" altLang="en-US" dirty="0"/>
          </a:p>
        </p:txBody>
      </p:sp>
      <p:sp>
        <p:nvSpPr>
          <p:cNvPr id="102404" name="灯片编号占位符 3"/>
          <p:cNvSpPr txBox="1">
            <a:spLocks noGrp="1"/>
          </p:cNvSpPr>
          <p:nvPr/>
        </p:nvSpPr>
        <p:spPr>
          <a:xfrm>
            <a:off x="3843338" y="9429750"/>
            <a:ext cx="2938462" cy="496888"/>
          </a:xfrm>
          <a:prstGeom prst="rect">
            <a:avLst/>
          </a:prstGeom>
          <a:noFill/>
          <a:ln w="9525">
            <a:noFill/>
          </a:ln>
        </p:spPr>
        <p:txBody>
          <a:bodyPr anchor="b" anchorCtr="0"/>
          <a:p>
            <a:pPr lvl="0" algn="r"/>
            <a:fld id="{9A0DB2DC-4C9A-4742-B13C-FB6460FD3503}" type="slidenum">
              <a:rPr lang="en-US" altLang="zh-CN" sz="1200" b="0" dirty="0">
                <a:latin typeface="Times New Roman" panose="02020603050405020304" pitchFamily="2" charset="0"/>
              </a:rPr>
            </a:fld>
            <a:endParaRPr lang="en-US" altLang="zh-CN" sz="1200" b="0" dirty="0">
              <a:latin typeface="Times New Roman" panose="02020603050405020304" pitchFamily="2" charset="0"/>
            </a:endParaRPr>
          </a:p>
        </p:txBody>
      </p:sp>
    </p:spTree>
  </p:cSld>
  <p:clrMapOvr>
    <a:overrideClrMapping bg1="lt1" tx1="dk1" bg2="lt2" tx2="dk2" accent1="accent1" accent2="accent2" accent3="accent3" accent4="accent4" accent5="accent5" accent6="accent6" hlink="hlink" folHlink="folHlink"/>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996950"/>
            <a:ext cx="4032504" cy="512921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996950"/>
            <a:ext cx="4032504" cy="512921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44463"/>
            <a:ext cx="2057400" cy="59817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144463"/>
            <a:ext cx="6052930" cy="59817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996950"/>
            <a:ext cx="4032504" cy="512921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996950"/>
            <a:ext cx="4032504" cy="512921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44463"/>
            <a:ext cx="2057400" cy="59817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144463"/>
            <a:ext cx="6052930" cy="59817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CECFF"/>
            </a:gs>
          </a:gsLst>
          <a:lin ang="5400000" scaled="1"/>
          <a:tileRect/>
        </a:gradFill>
        <a:effectLst/>
      </p:bgPr>
    </p:bg>
    <p:spTree>
      <p:nvGrpSpPr>
        <p:cNvPr id="1" name=""/>
        <p:cNvGrpSpPr/>
        <p:nvPr/>
      </p:nvGrpSpPr>
      <p:grpSpPr/>
      <p:sp>
        <p:nvSpPr>
          <p:cNvPr id="1026" name="Rectangle 9"/>
          <p:cNvSpPr/>
          <p:nvPr userDrawn="1"/>
        </p:nvSpPr>
        <p:spPr>
          <a:xfrm>
            <a:off x="-12700" y="6489700"/>
            <a:ext cx="9156700" cy="368300"/>
          </a:xfrm>
          <a:prstGeom prst="rect">
            <a:avLst/>
          </a:prstGeom>
          <a:solidFill>
            <a:schemeClr val="accent2">
              <a:alpha val="81000"/>
            </a:schemeClr>
          </a:solidFill>
          <a:ln w="9525" cap="flat" cmpd="sng">
            <a:solidFill>
              <a:schemeClr val="tx1"/>
            </a:solidFill>
            <a:prstDash val="solid"/>
            <a:miter/>
            <a:headEnd type="none" w="med" len="med"/>
            <a:tailEnd type="none" w="med" len="med"/>
          </a:ln>
        </p:spPr>
        <p:txBody>
          <a:bodyPr wrap="none" anchor="ctr" anchorCtr="0"/>
          <a:p>
            <a:pPr lvl="0">
              <a:lnSpc>
                <a:spcPct val="135000"/>
              </a:lnSpc>
              <a:buFont typeface="Arial" panose="020B0604020202020204" pitchFamily="34" charset="0"/>
              <a:buChar char="•"/>
            </a:pPr>
            <a:endParaRPr lang="zh-CN" altLang="en-US" dirty="0">
              <a:latin typeface="Arial" panose="020B0604020202020204" pitchFamily="34" charset="0"/>
              <a:ea typeface="宋体" panose="02010600030101010101" pitchFamily="2" charset="-122"/>
            </a:endParaRPr>
          </a:p>
        </p:txBody>
      </p:sp>
      <p:sp>
        <p:nvSpPr>
          <p:cNvPr id="1028" name="Rectangle 10"/>
          <p:cNvSpPr/>
          <p:nvPr userDrawn="1"/>
        </p:nvSpPr>
        <p:spPr>
          <a:xfrm>
            <a:off x="282575" y="774700"/>
            <a:ext cx="8582025" cy="50800"/>
          </a:xfrm>
          <a:prstGeom prst="rect">
            <a:avLst/>
          </a:prstGeom>
          <a:gradFill rotWithShape="1">
            <a:gsLst>
              <a:gs pos="0">
                <a:srgbClr val="FFFF00"/>
              </a:gs>
              <a:gs pos="50000">
                <a:srgbClr val="FF0066"/>
              </a:gs>
              <a:gs pos="100000">
                <a:srgbClr val="FFFF00"/>
              </a:gs>
            </a:gsLst>
            <a:lin ang="0" scaled="1"/>
            <a:tileRect/>
          </a:gradFill>
          <a:ln w="9525">
            <a:noFill/>
          </a:ln>
        </p:spPr>
        <p:txBody>
          <a:bodyPr wrap="none" anchor="ctr" anchorCtr="0"/>
          <a:p>
            <a:pPr lvl="0">
              <a:lnSpc>
                <a:spcPct val="135000"/>
              </a:lnSpc>
              <a:buFont typeface="Arial" panose="020B0604020202020204" pitchFamily="34" charset="0"/>
              <a:buChar char="•"/>
            </a:pPr>
            <a:endParaRPr lang="zh-CN" altLang="en-US" dirty="0">
              <a:latin typeface="Arial" panose="020B0604020202020204" pitchFamily="34" charset="0"/>
              <a:ea typeface="宋体" panose="02010600030101010101" pitchFamily="2" charset="-122"/>
            </a:endParaRPr>
          </a:p>
        </p:txBody>
      </p:sp>
      <p:sp>
        <p:nvSpPr>
          <p:cNvPr id="1029" name="Rectangle 11"/>
          <p:cNvSpPr/>
          <p:nvPr userDrawn="1"/>
        </p:nvSpPr>
        <p:spPr>
          <a:xfrm>
            <a:off x="8178800" y="6511925"/>
            <a:ext cx="889000" cy="269875"/>
          </a:xfrm>
          <a:prstGeom prst="rect">
            <a:avLst/>
          </a:prstGeom>
          <a:noFill/>
          <a:ln w="9525">
            <a:noFill/>
          </a:ln>
        </p:spPr>
        <p:txBody>
          <a:bodyPr anchor="t" anchorCtr="0"/>
          <a:p>
            <a:pPr lvl="0" algn="r"/>
            <a:fld id="{9A0DB2DC-4C9A-4742-B13C-FB6460FD3503}" type="slidenum">
              <a:rPr lang="en-US" altLang="zh-CN" sz="1400" b="0" dirty="0">
                <a:solidFill>
                  <a:schemeClr val="bg1"/>
                </a:solidFill>
                <a:latin typeface="Arial" panose="020B0604020202020204" pitchFamily="34" charset="0"/>
                <a:ea typeface="楷体_GB2312" pitchFamily="1" charset="-122"/>
              </a:rPr>
            </a:fld>
            <a:endParaRPr lang="en-US" altLang="zh-CN" sz="1400" b="0" dirty="0">
              <a:solidFill>
                <a:schemeClr val="bg1"/>
              </a:solidFill>
              <a:latin typeface="Arial" panose="020B0604020202020204" pitchFamily="34" charset="0"/>
              <a:ea typeface="楷体_GB2312" pitchFamily="1" charset="-122"/>
            </a:endParaRPr>
          </a:p>
        </p:txBody>
      </p:sp>
      <p:sp>
        <p:nvSpPr>
          <p:cNvPr id="1030" name="Rectangle 14"/>
          <p:cNvSpPr>
            <a:spLocks noGrp="1"/>
          </p:cNvSpPr>
          <p:nvPr>
            <p:ph type="body"/>
          </p:nvPr>
        </p:nvSpPr>
        <p:spPr>
          <a:xfrm>
            <a:off x="457200" y="996950"/>
            <a:ext cx="8229600" cy="5129213"/>
          </a:xfrm>
          <a:prstGeom prst="rect">
            <a:avLst/>
          </a:prstGeom>
          <a:noFill/>
          <a:ln w="9525">
            <a:noFill/>
          </a:ln>
        </p:spPr>
        <p:txBody>
          <a:bodyPr anchor="t" anchorCtr="0"/>
          <a:p>
            <a:pPr lvl="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1031" name="Rectangle 15"/>
          <p:cNvSpPr>
            <a:spLocks noGrp="1"/>
          </p:cNvSpPr>
          <p:nvPr>
            <p:ph type="title"/>
          </p:nvPr>
        </p:nvSpPr>
        <p:spPr>
          <a:xfrm>
            <a:off x="457200" y="144463"/>
            <a:ext cx="8229600" cy="577850"/>
          </a:xfrm>
          <a:prstGeom prst="rect">
            <a:avLst/>
          </a:prstGeom>
          <a:noFill/>
          <a:ln w="9525">
            <a:noFill/>
          </a:ln>
        </p:spPr>
        <p:txBody>
          <a:bodyPr anchor="ctr" anchorCtr="0"/>
          <a:p>
            <a:pPr lvl="0"/>
            <a:r>
              <a:rPr lang="zh-CN" altLang="en-US"/>
              <a:t>单击此处编辑母版标题样式</a:t>
            </a:r>
            <a:endParaRPr lang="zh-CN" altLang="en-US"/>
          </a:p>
        </p:txBody>
      </p:sp>
      <p:sp>
        <p:nvSpPr>
          <p:cNvPr id="1027" name="Rectangle 6"/>
          <p:cNvSpPr>
            <a:spLocks noChangeArrowheads="1"/>
          </p:cNvSpPr>
          <p:nvPr userDrawn="1"/>
        </p:nvSpPr>
        <p:spPr bwMode="auto">
          <a:xfrm>
            <a:off x="2463800" y="6472238"/>
            <a:ext cx="4240213" cy="386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b="1">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en-US" altLang="zh-CN" sz="1600" b="1" i="0" u="none" strike="noStrike" kern="1200" cap="none" spc="0" normalizeH="0" baseline="0" noProof="0" dirty="0" smtClean="0">
                <a:ln>
                  <a:noFill/>
                </a:ln>
                <a:solidFill>
                  <a:schemeClr val="bg1"/>
                </a:solidFill>
                <a:effectLst/>
                <a:uLnTx/>
                <a:uFillTx/>
                <a:latin typeface="Arial" panose="020B0604020202020204" pitchFamily="34" charset="0"/>
                <a:ea typeface="宋体" panose="02010600030101010101" pitchFamily="2" charset="-122"/>
                <a:cs typeface="+mn-cs"/>
              </a:rPr>
              <a:t>2025~2026</a:t>
            </a:r>
            <a:r>
              <a:rPr kumimoji="0" lang="zh-CN" altLang="en-US" sz="1600" b="1" i="0" u="none" strike="noStrike" kern="1200" cap="none" spc="0" normalizeH="0" baseline="0" noProof="0" dirty="0" smtClean="0">
                <a:ln>
                  <a:noFill/>
                </a:ln>
                <a:solidFill>
                  <a:schemeClr val="bg1"/>
                </a:solidFill>
                <a:effectLst/>
                <a:uLnTx/>
                <a:uFillTx/>
                <a:latin typeface="Arial" panose="020B0604020202020204" pitchFamily="34" charset="0"/>
                <a:ea typeface="宋体" panose="02010600030101010101" pitchFamily="2" charset="-122"/>
                <a:cs typeface="+mn-cs"/>
              </a:rPr>
              <a:t>年度第</a:t>
            </a:r>
            <a:r>
              <a:rPr kumimoji="0" lang="en-US" altLang="zh-CN" sz="1600" b="1" i="0" u="none" strike="noStrike" kern="1200" cap="none" spc="0" normalizeH="0" baseline="0" noProof="0" dirty="0" smtClean="0">
                <a:ln>
                  <a:noFill/>
                </a:ln>
                <a:solidFill>
                  <a:schemeClr val="bg1"/>
                </a:solidFill>
                <a:effectLst/>
                <a:uLnTx/>
                <a:uFillTx/>
                <a:latin typeface="Arial" panose="020B0604020202020204" pitchFamily="34" charset="0"/>
                <a:ea typeface="宋体" panose="02010600030101010101" pitchFamily="2" charset="-122"/>
                <a:cs typeface="+mn-cs"/>
              </a:rPr>
              <a:t>2</a:t>
            </a:r>
            <a:r>
              <a:rPr kumimoji="0" lang="zh-CN" altLang="en-US" sz="1600" b="1" i="0" u="none" strike="noStrike" kern="1200" cap="none" spc="0" normalizeH="0" baseline="0" noProof="0" dirty="0" smtClean="0">
                <a:ln>
                  <a:noFill/>
                </a:ln>
                <a:solidFill>
                  <a:schemeClr val="bg1"/>
                </a:solidFill>
                <a:effectLst/>
                <a:uLnTx/>
                <a:uFillTx/>
                <a:latin typeface="Arial" panose="020B0604020202020204" pitchFamily="34" charset="0"/>
                <a:ea typeface="宋体" panose="02010600030101010101" pitchFamily="2" charset="-122"/>
                <a:cs typeface="+mn-cs"/>
              </a:rPr>
              <a:t>学期</a:t>
            </a:r>
            <a:endParaRPr kumimoji="0" lang="zh-CN" altLang="en-US" sz="1600" b="1" i="0" u="none" strike="noStrike" kern="1200" cap="none" spc="0" normalizeH="0" baseline="0" noProof="0" dirty="0" smtClean="0">
              <a:ln>
                <a:noFill/>
              </a:ln>
              <a:solidFill>
                <a:schemeClr val="bg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hf sldNum="0" hdr="0" ftr="0" dt="0"/>
  <p:txStyles>
    <p:titleStyle>
      <a:lvl1pPr marL="0" lvl="0" indent="0" algn="l" defTabSz="914400" eaLnBrk="0" fontAlgn="base" latinLnBrk="0" hangingPunct="0">
        <a:lnSpc>
          <a:spcPct val="100000"/>
        </a:lnSpc>
        <a:spcBef>
          <a:spcPct val="0"/>
        </a:spcBef>
        <a:spcAft>
          <a:spcPct val="0"/>
        </a:spcAft>
        <a:buClr>
          <a:srgbClr val="000000"/>
        </a:buClr>
        <a:buNone/>
        <a:defRPr sz="3200" b="1" i="0" u="none" kern="1200" baseline="0">
          <a:solidFill>
            <a:srgbClr val="3333CC"/>
          </a:solidFill>
          <a:latin typeface="+mj-lt"/>
          <a:ea typeface="+mj-ea"/>
          <a:cs typeface="+mj-cs"/>
        </a:defRPr>
      </a:lvl1pPr>
    </p:titleStyle>
    <p:body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2000" b="1" i="0" u="none" kern="1200" baseline="0">
          <a:solidFill>
            <a:schemeClr val="tx1"/>
          </a:solidFill>
          <a:latin typeface="+mn-lt"/>
          <a:ea typeface="+mn-ea"/>
          <a:cs typeface="+mn-cs"/>
        </a:defRPr>
      </a:lvl1pPr>
      <a:lvl2pPr marL="742950" lvl="1" indent="-285750" algn="l" defTabSz="914400" eaLnBrk="0" fontAlgn="base" latinLnBrk="0" hangingPunct="0">
        <a:lnSpc>
          <a:spcPct val="100000"/>
        </a:lnSpc>
        <a:spcBef>
          <a:spcPct val="20000"/>
        </a:spcBef>
        <a:spcAft>
          <a:spcPct val="0"/>
        </a:spcAft>
        <a:buClr>
          <a:schemeClr val="accent2"/>
        </a:buClr>
        <a:buSzPct val="70000"/>
        <a:buFont typeface="Wingdings" panose="05000000000000000000" pitchFamily="2" charset="2"/>
        <a:buChar char="l"/>
        <a:defRPr sz="2800" b="1" i="0" u="none" kern="1200" baseline="0">
          <a:solidFill>
            <a:schemeClr val="tx1"/>
          </a:solidFill>
          <a:latin typeface="+mn-lt"/>
          <a:ea typeface="+mn-ea"/>
          <a:cs typeface="+mn-cs"/>
        </a:defRPr>
      </a:lvl2pPr>
      <a:lvl3pPr marL="1143000" lvl="2" indent="-228600" algn="l" defTabSz="914400" eaLnBrk="0" fontAlgn="base" latinLnBrk="0" hangingPunct="0">
        <a:lnSpc>
          <a:spcPct val="100000"/>
        </a:lnSpc>
        <a:spcBef>
          <a:spcPct val="20000"/>
        </a:spcBef>
        <a:spcAft>
          <a:spcPct val="0"/>
        </a:spcAft>
        <a:buClr>
          <a:schemeClr val="accent2"/>
        </a:buClr>
        <a:buSzPct val="60000"/>
        <a:buFont typeface="Wingdings" panose="05000000000000000000" pitchFamily="2" charset="2"/>
        <a:buChar char="l"/>
        <a:defRPr sz="1600" b="1" i="0" u="none" kern="1200" baseline="0">
          <a:solidFill>
            <a:schemeClr val="tx1"/>
          </a:solidFill>
          <a:latin typeface="+mn-lt"/>
          <a:ea typeface="+mn-ea"/>
          <a:cs typeface="+mn-cs"/>
        </a:defRPr>
      </a:lvl3pPr>
      <a:lvl4pPr marL="1600200" lvl="3"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4pPr>
      <a:lvl5pPr marL="2057400" lvl="4"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5pPr>
      <a:lvl6pPr marL="2514600" lvl="5"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6pPr>
      <a:lvl7pPr marL="2971800" lvl="6"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7pPr>
      <a:lvl8pPr marL="3429000" lvl="7"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8pPr>
      <a:lvl9pPr marL="3886200" lvl="8"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9pPr>
    </p:bodyStyle>
    <p:otherStyle>
      <a:lvl1pPr marL="0" lvl="0" indent="0" algn="l" defTabSz="914400" eaLnBrk="0" fontAlgn="base" latinLnBrk="0" hangingPunct="0">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CECFF"/>
            </a:gs>
          </a:gsLst>
          <a:lin ang="5400000" scaled="1"/>
          <a:tileRect/>
        </a:gradFill>
        <a:effectLst/>
      </p:bgPr>
    </p:bg>
    <p:spTree>
      <p:nvGrpSpPr>
        <p:cNvPr id="1" name=""/>
        <p:cNvGrpSpPr/>
        <p:nvPr/>
      </p:nvGrpSpPr>
      <p:grpSpPr/>
      <p:sp>
        <p:nvSpPr>
          <p:cNvPr id="2050" name="Rectangle 2"/>
          <p:cNvSpPr/>
          <p:nvPr userDrawn="1"/>
        </p:nvSpPr>
        <p:spPr>
          <a:xfrm>
            <a:off x="-12700" y="6489700"/>
            <a:ext cx="9156700" cy="368300"/>
          </a:xfrm>
          <a:prstGeom prst="rect">
            <a:avLst/>
          </a:prstGeom>
          <a:solidFill>
            <a:schemeClr val="accent2">
              <a:alpha val="81000"/>
            </a:schemeClr>
          </a:solidFill>
          <a:ln w="9525" cap="flat" cmpd="sng">
            <a:solidFill>
              <a:schemeClr val="tx1"/>
            </a:solidFill>
            <a:prstDash val="solid"/>
            <a:miter/>
            <a:headEnd type="none" w="med" len="med"/>
            <a:tailEnd type="none" w="med" len="med"/>
          </a:ln>
        </p:spPr>
        <p:txBody>
          <a:bodyPr wrap="none" anchor="ctr" anchorCtr="0"/>
          <a:p>
            <a:pPr lvl="0">
              <a:lnSpc>
                <a:spcPct val="135000"/>
              </a:lnSpc>
              <a:buFont typeface="Arial" panose="020B0604020202020204" pitchFamily="34" charset="0"/>
              <a:buChar char="•"/>
            </a:pPr>
            <a:endParaRPr lang="zh-CN" altLang="en-US" dirty="0">
              <a:latin typeface="Arial" panose="020B0604020202020204" pitchFamily="34" charset="0"/>
              <a:ea typeface="宋体" panose="02010600030101010101" pitchFamily="2" charset="-122"/>
            </a:endParaRPr>
          </a:p>
        </p:txBody>
      </p:sp>
      <p:sp>
        <p:nvSpPr>
          <p:cNvPr id="2052" name="Rectangle 4"/>
          <p:cNvSpPr/>
          <p:nvPr userDrawn="1"/>
        </p:nvSpPr>
        <p:spPr>
          <a:xfrm>
            <a:off x="282575" y="774700"/>
            <a:ext cx="8582025" cy="50800"/>
          </a:xfrm>
          <a:prstGeom prst="rect">
            <a:avLst/>
          </a:prstGeom>
          <a:gradFill rotWithShape="1">
            <a:gsLst>
              <a:gs pos="0">
                <a:srgbClr val="FFFF00"/>
              </a:gs>
              <a:gs pos="50000">
                <a:srgbClr val="FF0066"/>
              </a:gs>
              <a:gs pos="100000">
                <a:srgbClr val="FFFF00"/>
              </a:gs>
            </a:gsLst>
            <a:lin ang="0" scaled="1"/>
            <a:tileRect/>
          </a:gradFill>
          <a:ln w="9525">
            <a:noFill/>
          </a:ln>
        </p:spPr>
        <p:txBody>
          <a:bodyPr wrap="none" anchor="ctr" anchorCtr="0"/>
          <a:p>
            <a:pPr lvl="0">
              <a:lnSpc>
                <a:spcPct val="135000"/>
              </a:lnSpc>
              <a:buFont typeface="Arial" panose="020B0604020202020204" pitchFamily="34" charset="0"/>
              <a:buChar char="•"/>
            </a:pPr>
            <a:endParaRPr lang="zh-CN" altLang="en-US" dirty="0">
              <a:latin typeface="Arial" panose="020B0604020202020204" pitchFamily="34" charset="0"/>
              <a:ea typeface="宋体" panose="02010600030101010101" pitchFamily="2" charset="-122"/>
            </a:endParaRPr>
          </a:p>
        </p:txBody>
      </p:sp>
      <p:sp>
        <p:nvSpPr>
          <p:cNvPr id="2053" name="Rectangle 5"/>
          <p:cNvSpPr/>
          <p:nvPr userDrawn="1"/>
        </p:nvSpPr>
        <p:spPr>
          <a:xfrm>
            <a:off x="8178800" y="6511925"/>
            <a:ext cx="889000" cy="269875"/>
          </a:xfrm>
          <a:prstGeom prst="rect">
            <a:avLst/>
          </a:prstGeom>
          <a:noFill/>
          <a:ln w="9525">
            <a:noFill/>
          </a:ln>
        </p:spPr>
        <p:txBody>
          <a:bodyPr anchor="t" anchorCtr="0"/>
          <a:p>
            <a:pPr lvl="0" algn="r"/>
            <a:fld id="{9A0DB2DC-4C9A-4742-B13C-FB6460FD3503}" type="slidenum">
              <a:rPr lang="en-US" altLang="zh-CN" sz="1400" b="0" dirty="0">
                <a:solidFill>
                  <a:schemeClr val="bg1"/>
                </a:solidFill>
                <a:latin typeface="Arial" panose="020B0604020202020204" pitchFamily="34" charset="0"/>
                <a:ea typeface="楷体_GB2312" pitchFamily="1" charset="-122"/>
              </a:rPr>
            </a:fld>
            <a:endParaRPr lang="en-US" altLang="zh-CN" sz="1400" b="0" dirty="0">
              <a:solidFill>
                <a:schemeClr val="bg1"/>
              </a:solidFill>
              <a:latin typeface="Arial" panose="020B0604020202020204" pitchFamily="34" charset="0"/>
              <a:ea typeface="楷体_GB2312" pitchFamily="1" charset="-122"/>
            </a:endParaRPr>
          </a:p>
        </p:txBody>
      </p:sp>
      <p:sp>
        <p:nvSpPr>
          <p:cNvPr id="2054" name="Rectangle 6"/>
          <p:cNvSpPr/>
          <p:nvPr userDrawn="1"/>
        </p:nvSpPr>
        <p:spPr>
          <a:xfrm>
            <a:off x="309563" y="174625"/>
            <a:ext cx="7237412" cy="560388"/>
          </a:xfrm>
          <a:prstGeom prst="rect">
            <a:avLst/>
          </a:prstGeom>
          <a:noFill/>
          <a:ln w="9525">
            <a:noFill/>
          </a:ln>
        </p:spPr>
        <p:txBody>
          <a:bodyPr anchor="t" anchorCtr="0"/>
          <a:p>
            <a:pPr lvl="0"/>
            <a:r>
              <a:rPr lang="en-US" altLang="zh-CN" sz="2800" dirty="0">
                <a:solidFill>
                  <a:srgbClr val="FF0000"/>
                </a:solidFill>
                <a:latin typeface="Times New Roman" panose="02020603050405020304" pitchFamily="2" charset="0"/>
                <a:ea typeface="宋体" panose="02010600030101010101" pitchFamily="2" charset="-122"/>
              </a:rPr>
              <a:t>Principle and Design of Database</a:t>
            </a:r>
            <a:endParaRPr lang="en-US" altLang="zh-CN" sz="2000" dirty="0">
              <a:solidFill>
                <a:srgbClr val="FF0000"/>
              </a:solidFill>
              <a:latin typeface="Times New Roman" panose="02020603050405020304" pitchFamily="2" charset="0"/>
              <a:ea typeface="宋体" panose="02010600030101010101" pitchFamily="2" charset="-122"/>
            </a:endParaRPr>
          </a:p>
          <a:p>
            <a:pPr lvl="0"/>
            <a:endParaRPr lang="en-US" altLang="zh-CN" sz="2800" dirty="0">
              <a:solidFill>
                <a:srgbClr val="FF3300"/>
              </a:solidFill>
              <a:latin typeface="黑体" panose="02010609060101010101" pitchFamily="1" charset="-122"/>
              <a:ea typeface="黑体" panose="02010609060101010101" pitchFamily="1" charset="-122"/>
            </a:endParaRPr>
          </a:p>
        </p:txBody>
      </p:sp>
      <p:sp>
        <p:nvSpPr>
          <p:cNvPr id="2055" name="Rectangle 14"/>
          <p:cNvSpPr>
            <a:spLocks noGrp="1"/>
          </p:cNvSpPr>
          <p:nvPr>
            <p:ph type="body"/>
          </p:nvPr>
        </p:nvSpPr>
        <p:spPr>
          <a:xfrm>
            <a:off x="457200" y="996950"/>
            <a:ext cx="8229600" cy="5129213"/>
          </a:xfrm>
          <a:prstGeom prst="rect">
            <a:avLst/>
          </a:prstGeom>
          <a:noFill/>
          <a:ln w="9525">
            <a:noFill/>
          </a:ln>
        </p:spPr>
        <p:txBody>
          <a:bodyPr anchor="t" anchorCtr="0"/>
          <a:p>
            <a:pPr lvl="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2056" name="Rectangle 15"/>
          <p:cNvSpPr>
            <a:spLocks noGrp="1"/>
          </p:cNvSpPr>
          <p:nvPr>
            <p:ph type="title"/>
          </p:nvPr>
        </p:nvSpPr>
        <p:spPr>
          <a:xfrm>
            <a:off x="457200" y="144463"/>
            <a:ext cx="8229600" cy="577850"/>
          </a:xfrm>
          <a:prstGeom prst="rect">
            <a:avLst/>
          </a:prstGeom>
          <a:noFill/>
          <a:ln w="9525">
            <a:noFill/>
          </a:ln>
        </p:spPr>
        <p:txBody>
          <a:bodyPr anchor="ctr" anchorCtr="0"/>
          <a:p>
            <a:pPr lvl="0"/>
            <a:r>
              <a:rPr lang="zh-CN" altLang="en-US"/>
              <a:t>单击此处编辑母版标题样式</a:t>
            </a:r>
            <a:endParaRPr lang="zh-CN" altLang="en-US"/>
          </a:p>
        </p:txBody>
      </p:sp>
      <p:sp>
        <p:nvSpPr>
          <p:cNvPr id="1027" name="Rectangle 6"/>
          <p:cNvSpPr>
            <a:spLocks noChangeArrowheads="1"/>
          </p:cNvSpPr>
          <p:nvPr userDrawn="1"/>
        </p:nvSpPr>
        <p:spPr bwMode="auto">
          <a:xfrm>
            <a:off x="2463800" y="6472238"/>
            <a:ext cx="4240213" cy="386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b="1">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en-US" altLang="zh-CN" sz="1600" b="1" i="0" u="none" strike="noStrike" kern="1200" cap="none" spc="0" normalizeH="0" baseline="0" noProof="0" dirty="0" smtClean="0">
                <a:ln>
                  <a:noFill/>
                </a:ln>
                <a:solidFill>
                  <a:schemeClr val="bg1"/>
                </a:solidFill>
                <a:effectLst/>
                <a:uLnTx/>
                <a:uFillTx/>
                <a:latin typeface="Arial" panose="020B0604020202020204" pitchFamily="34" charset="0"/>
                <a:ea typeface="宋体" panose="02010600030101010101" pitchFamily="2" charset="-122"/>
                <a:cs typeface="+mn-cs"/>
              </a:rPr>
              <a:t>2025~2026</a:t>
            </a:r>
            <a:r>
              <a:rPr kumimoji="0" lang="zh-CN" altLang="en-US" sz="1600" b="1" i="0" u="none" strike="noStrike" kern="1200" cap="none" spc="0" normalizeH="0" baseline="0" noProof="0" dirty="0" smtClean="0">
                <a:ln>
                  <a:noFill/>
                </a:ln>
                <a:solidFill>
                  <a:schemeClr val="bg1"/>
                </a:solidFill>
                <a:effectLst/>
                <a:uLnTx/>
                <a:uFillTx/>
                <a:latin typeface="Arial" panose="020B0604020202020204" pitchFamily="34" charset="0"/>
                <a:ea typeface="宋体" panose="02010600030101010101" pitchFamily="2" charset="-122"/>
                <a:cs typeface="+mn-cs"/>
              </a:rPr>
              <a:t>年度第</a:t>
            </a:r>
            <a:r>
              <a:rPr kumimoji="0" lang="en-US" altLang="zh-CN" sz="1600" b="1" i="0" u="none" strike="noStrike" kern="1200" cap="none" spc="0" normalizeH="0" baseline="0" noProof="0" dirty="0" smtClean="0">
                <a:ln>
                  <a:noFill/>
                </a:ln>
                <a:solidFill>
                  <a:schemeClr val="bg1"/>
                </a:solidFill>
                <a:effectLst/>
                <a:uLnTx/>
                <a:uFillTx/>
                <a:latin typeface="Arial" panose="020B0604020202020204" pitchFamily="34" charset="0"/>
                <a:ea typeface="宋体" panose="02010600030101010101" pitchFamily="2" charset="-122"/>
                <a:cs typeface="+mn-cs"/>
              </a:rPr>
              <a:t>2</a:t>
            </a:r>
            <a:r>
              <a:rPr kumimoji="0" lang="zh-CN" altLang="en-US" sz="1600" b="1" i="0" u="none" strike="noStrike" kern="1200" cap="none" spc="0" normalizeH="0" baseline="0" noProof="0" dirty="0" smtClean="0">
                <a:ln>
                  <a:noFill/>
                </a:ln>
                <a:solidFill>
                  <a:schemeClr val="bg1"/>
                </a:solidFill>
                <a:effectLst/>
                <a:uLnTx/>
                <a:uFillTx/>
                <a:latin typeface="Arial" panose="020B0604020202020204" pitchFamily="34" charset="0"/>
                <a:ea typeface="宋体" panose="02010600030101010101" pitchFamily="2" charset="-122"/>
                <a:cs typeface="+mn-cs"/>
              </a:rPr>
              <a:t>学期</a:t>
            </a:r>
            <a:endParaRPr kumimoji="0" lang="zh-CN" altLang="en-US" sz="1600" b="1" i="0" u="none" strike="noStrike" kern="1200" cap="none" spc="0" normalizeH="0" baseline="0" noProof="0" dirty="0" smtClean="0">
              <a:ln>
                <a:noFill/>
              </a:ln>
              <a:solidFill>
                <a:schemeClr val="bg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hf sldNum="0" hdr="0" ftr="0" dt="0"/>
  <p:txStyles>
    <p:titleStyle>
      <a:lvl1pPr marL="0" lvl="0" indent="0" algn="l" defTabSz="914400" eaLnBrk="0" fontAlgn="base" latinLnBrk="0" hangingPunct="0">
        <a:lnSpc>
          <a:spcPct val="100000"/>
        </a:lnSpc>
        <a:spcBef>
          <a:spcPct val="0"/>
        </a:spcBef>
        <a:spcAft>
          <a:spcPct val="0"/>
        </a:spcAft>
        <a:buClr>
          <a:srgbClr val="000000"/>
        </a:buClr>
        <a:buNone/>
        <a:defRPr sz="3200" b="1" i="0" u="none" kern="1200" baseline="0">
          <a:solidFill>
            <a:srgbClr val="3333CC"/>
          </a:solidFill>
          <a:latin typeface="+mj-lt"/>
          <a:ea typeface="+mj-ea"/>
          <a:cs typeface="+mj-cs"/>
        </a:defRPr>
      </a:lvl1pPr>
    </p:titleStyle>
    <p:body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2000" b="1" i="0" u="none" kern="1200" baseline="0">
          <a:solidFill>
            <a:schemeClr val="tx1"/>
          </a:solidFill>
          <a:latin typeface="+mn-lt"/>
          <a:ea typeface="+mn-ea"/>
          <a:cs typeface="+mn-cs"/>
        </a:defRPr>
      </a:lvl1pPr>
      <a:lvl2pPr marL="742950" lvl="1" indent="-285750" algn="l" defTabSz="914400" eaLnBrk="0" fontAlgn="base" latinLnBrk="0" hangingPunct="0">
        <a:lnSpc>
          <a:spcPct val="100000"/>
        </a:lnSpc>
        <a:spcBef>
          <a:spcPct val="20000"/>
        </a:spcBef>
        <a:spcAft>
          <a:spcPct val="0"/>
        </a:spcAft>
        <a:buClr>
          <a:schemeClr val="accent2"/>
        </a:buClr>
        <a:buSzPct val="70000"/>
        <a:buFont typeface="Wingdings" panose="05000000000000000000" pitchFamily="2" charset="2"/>
        <a:buChar char="l"/>
        <a:defRPr sz="2800" b="1" i="0" u="none" kern="1200" baseline="0">
          <a:solidFill>
            <a:schemeClr val="tx1"/>
          </a:solidFill>
          <a:latin typeface="+mn-lt"/>
          <a:ea typeface="+mn-ea"/>
          <a:cs typeface="+mn-cs"/>
        </a:defRPr>
      </a:lvl2pPr>
      <a:lvl3pPr marL="1143000" lvl="2" indent="-228600" algn="l" defTabSz="914400" eaLnBrk="0" fontAlgn="base" latinLnBrk="0" hangingPunct="0">
        <a:lnSpc>
          <a:spcPct val="100000"/>
        </a:lnSpc>
        <a:spcBef>
          <a:spcPct val="20000"/>
        </a:spcBef>
        <a:spcAft>
          <a:spcPct val="0"/>
        </a:spcAft>
        <a:buClr>
          <a:schemeClr val="accent2"/>
        </a:buClr>
        <a:buSzPct val="60000"/>
        <a:buFont typeface="Wingdings" panose="05000000000000000000" pitchFamily="2" charset="2"/>
        <a:buChar char="l"/>
        <a:defRPr sz="1600" b="1" i="0" u="none" kern="1200" baseline="0">
          <a:solidFill>
            <a:schemeClr val="tx1"/>
          </a:solidFill>
          <a:latin typeface="+mn-lt"/>
          <a:ea typeface="+mn-ea"/>
          <a:cs typeface="+mn-cs"/>
        </a:defRPr>
      </a:lvl3pPr>
      <a:lvl4pPr marL="1600200" lvl="3"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4pPr>
      <a:lvl5pPr marL="2057400" lvl="4"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5pPr>
      <a:lvl6pPr marL="2514600" lvl="5"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6pPr>
      <a:lvl7pPr marL="2971800" lvl="6"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7pPr>
      <a:lvl8pPr marL="3429000" lvl="7"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8pPr>
      <a:lvl9pPr marL="3886200" lvl="8"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9pPr>
    </p:bodyStyle>
    <p:otherStyle>
      <a:lvl1pPr marL="0" lvl="0" indent="0" algn="l" defTabSz="914400" eaLnBrk="0" fontAlgn="base" latinLnBrk="0" hangingPunct="0">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w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png"/><Relationship Id="rId1" Type="http://schemas.openxmlformats.org/officeDocument/2006/relationships/image" Target="../media/image6.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9.png"/><Relationship Id="rId1" Type="http://schemas.openxmlformats.org/officeDocument/2006/relationships/tags" Target="../tags/tag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7.xml"/><Relationship Id="rId2" Type="http://schemas.openxmlformats.org/officeDocument/2006/relationships/image" Target="../media/image13.wmf"/><Relationship Id="rId1" Type="http://schemas.openxmlformats.org/officeDocument/2006/relationships/oleObject" Target="../embeddings/oleObject1.bin"/></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7.xml"/><Relationship Id="rId2" Type="http://schemas.openxmlformats.org/officeDocument/2006/relationships/image" Target="../media/image14.wmf"/><Relationship Id="rId1" Type="http://schemas.openxmlformats.org/officeDocument/2006/relationships/oleObject" Target="../embeddings/oleObject2.bin"/></Relationships>
</file>

<file path=ppt/slides/_rels/slide61.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7.xml"/><Relationship Id="rId2" Type="http://schemas.openxmlformats.org/officeDocument/2006/relationships/image" Target="../media/image15.wmf"/><Relationship Id="rId1" Type="http://schemas.openxmlformats.org/officeDocument/2006/relationships/oleObject" Target="../embeddings/oleObject3.bin"/></Relationships>
</file>

<file path=ppt/slides/_rels/slide62.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7.xml"/><Relationship Id="rId2" Type="http://schemas.openxmlformats.org/officeDocument/2006/relationships/image" Target="../media/image16.wmf"/><Relationship Id="rId1" Type="http://schemas.openxmlformats.org/officeDocument/2006/relationships/oleObject" Target="../embeddings/oleObject4.bin"/></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9.png"/><Relationship Id="rId1" Type="http://schemas.openxmlformats.org/officeDocument/2006/relationships/image" Target="../media/image18.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23.png"/><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20.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9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tags" Target="../tags/tag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7.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9.png"/><Relationship Id="rId1" Type="http://schemas.openxmlformats.org/officeDocument/2006/relationships/image" Target="../media/image28.png"/></Relationships>
</file>

<file path=ppt/slides/_rels/slide10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0.png"/></Relationships>
</file>

<file path=ppt/slides/_rels/slide101.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31.png"/><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20.png"/></Relationships>
</file>

<file path=ppt/slides/_rels/slide10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3.png"/><Relationship Id="rId1" Type="http://schemas.openxmlformats.org/officeDocument/2006/relationships/image" Target="../media/image32.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9" Type="http://schemas.openxmlformats.org/officeDocument/2006/relationships/tags" Target="../tags/tag6.xml"/><Relationship Id="rId8" Type="http://schemas.openxmlformats.org/officeDocument/2006/relationships/image" Target="../media/image37.wmf"/><Relationship Id="rId7" Type="http://schemas.openxmlformats.org/officeDocument/2006/relationships/oleObject" Target="../embeddings/oleObject6.bin"/><Relationship Id="rId6" Type="http://schemas.openxmlformats.org/officeDocument/2006/relationships/tags" Target="../tags/tag5.xml"/><Relationship Id="rId5" Type="http://schemas.openxmlformats.org/officeDocument/2006/relationships/image" Target="../media/image36.wmf"/><Relationship Id="rId4" Type="http://schemas.openxmlformats.org/officeDocument/2006/relationships/oleObject" Target="../embeddings/oleObject5.bin"/><Relationship Id="rId3" Type="http://schemas.openxmlformats.org/officeDocument/2006/relationships/image" Target="../media/image35.png"/><Relationship Id="rId2" Type="http://schemas.openxmlformats.org/officeDocument/2006/relationships/tags" Target="../tags/tag4.xml"/><Relationship Id="rId15" Type="http://schemas.openxmlformats.org/officeDocument/2006/relationships/notesSlide" Target="../notesSlides/notesSlide3.xml"/><Relationship Id="rId14" Type="http://schemas.openxmlformats.org/officeDocument/2006/relationships/vmlDrawing" Target="../drawings/vmlDrawing5.vml"/><Relationship Id="rId13" Type="http://schemas.openxmlformats.org/officeDocument/2006/relationships/slideLayout" Target="../slideLayouts/slideLayout7.xml"/><Relationship Id="rId12" Type="http://schemas.openxmlformats.org/officeDocument/2006/relationships/tags" Target="../tags/tag7.xml"/><Relationship Id="rId11" Type="http://schemas.openxmlformats.org/officeDocument/2006/relationships/image" Target="../media/image38.wmf"/><Relationship Id="rId10" Type="http://schemas.openxmlformats.org/officeDocument/2006/relationships/oleObject" Target="../embeddings/oleObject7.bin"/><Relationship Id="rId1" Type="http://schemas.openxmlformats.org/officeDocument/2006/relationships/image" Target="../media/image34.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9.png"/></Relationships>
</file>

<file path=ppt/slides/_rels/slide10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1.png"/><Relationship Id="rId1" Type="http://schemas.openxmlformats.org/officeDocument/2006/relationships/image" Target="../media/image40.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2.png"/></Relationships>
</file>

<file path=ppt/slides/_rels/slide112.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43.png"/><Relationship Id="rId6" Type="http://schemas.openxmlformats.org/officeDocument/2006/relationships/tags" Target="../tags/tag13.xml"/><Relationship Id="rId5" Type="http://schemas.openxmlformats.org/officeDocument/2006/relationships/tags" Target="../tags/tag12.xml"/><Relationship Id="rId4" Type="http://schemas.openxmlformats.org/officeDocument/2006/relationships/tags" Target="../tags/tag11.xml"/><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tags" Target="../tags/tag8.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4.png"/><Relationship Id="rId1" Type="http://schemas.openxmlformats.org/officeDocument/2006/relationships/tags" Target="../tags/tag14.xml"/></Relationships>
</file>

<file path=ppt/slides/_rels/slide1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5.xml"/></Relationships>
</file>

<file path=ppt/slides/_rels/slide1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6.xml"/></Relationships>
</file>

<file path=ppt/slides/_rels/slide117.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45.png"/><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s>
</file>

<file path=ppt/slides/_rels/slide1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0.xml"/></Relationships>
</file>

<file path=ppt/slides/_rels/slide119.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tags" Target="../tags/tag21.xml"/></Relationships>
</file>

<file path=ppt/slides/_rels/slide120.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tags" Target="../tags/tag22.xml"/></Relationships>
</file>

<file path=ppt/slides/_rels/slide1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0.png"/></Relationships>
</file>

<file path=ppt/slides/_rels/slide12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1.png"/><Relationship Id="rId1" Type="http://schemas.openxmlformats.org/officeDocument/2006/relationships/tags" Target="../tags/tag23.xml"/></Relationships>
</file>

<file path=ppt/slides/_rels/slide1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4.xml"/></Relationships>
</file>

<file path=ppt/slides/_rels/slide12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tags" Target="../tags/tag25.xml"/></Relationships>
</file>

<file path=ppt/slides/_rels/slide125.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55.png"/><Relationship Id="rId3" Type="http://schemas.openxmlformats.org/officeDocument/2006/relationships/image" Target="../media/image54.png"/><Relationship Id="rId2" Type="http://schemas.openxmlformats.org/officeDocument/2006/relationships/tags" Target="../tags/tag27.xml"/><Relationship Id="rId1" Type="http://schemas.openxmlformats.org/officeDocument/2006/relationships/tags" Target="../tags/tag26.xml"/></Relationships>
</file>

<file path=ppt/slides/_rels/slide12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7.png"/><Relationship Id="rId1" Type="http://schemas.openxmlformats.org/officeDocument/2006/relationships/image" Target="../media/image56.png"/></Relationships>
</file>

<file path=ppt/slides/_rels/slide12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9.png"/><Relationship Id="rId1" Type="http://schemas.openxmlformats.org/officeDocument/2006/relationships/image" Target="../media/image58.png"/></Relationships>
</file>

<file path=ppt/slides/_rels/slide12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8.xml"/></Relationships>
</file>

<file path=ppt/slides/_rels/slide129.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61.png"/><Relationship Id="rId3" Type="http://schemas.openxmlformats.org/officeDocument/2006/relationships/image" Target="../media/image60.png"/><Relationship Id="rId2" Type="http://schemas.openxmlformats.org/officeDocument/2006/relationships/tags" Target="../tags/tag30.xml"/><Relationship Id="rId1" Type="http://schemas.openxmlformats.org/officeDocument/2006/relationships/tags" Target="../tags/tag29.xml"/></Relationships>
</file>

<file path=ppt/slides/_rels/slide130.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63.png"/><Relationship Id="rId3" Type="http://schemas.openxmlformats.org/officeDocument/2006/relationships/image" Target="../media/image62.png"/><Relationship Id="rId2" Type="http://schemas.openxmlformats.org/officeDocument/2006/relationships/tags" Target="../tags/tag32.xml"/><Relationship Id="rId1" Type="http://schemas.openxmlformats.org/officeDocument/2006/relationships/tags" Target="../tags/tag31.xml"/></Relationships>
</file>

<file path=ppt/slides/_rels/slide13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3.xml"/></Relationships>
</file>

<file path=ppt/slides/_rels/slide132.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64.png"/><Relationship Id="rId3" Type="http://schemas.openxmlformats.org/officeDocument/2006/relationships/tags" Target="../tags/tag36.xml"/><Relationship Id="rId2" Type="http://schemas.openxmlformats.org/officeDocument/2006/relationships/tags" Target="../tags/tag35.xml"/><Relationship Id="rId1" Type="http://schemas.openxmlformats.org/officeDocument/2006/relationships/tags" Target="../tags/tag34.xml"/></Relationships>
</file>

<file path=ppt/slides/_rels/slide13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5.png"/><Relationship Id="rId1" Type="http://schemas.openxmlformats.org/officeDocument/2006/relationships/tags" Target="../tags/tag3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9.xml"/><Relationship Id="rId1" Type="http://schemas.openxmlformats.org/officeDocument/2006/relationships/tags" Target="../tags/tag38.xml"/></Relationships>
</file>

<file path=ppt/slides/_rels/slide13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66.png"/><Relationship Id="rId2" Type="http://schemas.openxmlformats.org/officeDocument/2006/relationships/tags" Target="../tags/tag41.xml"/><Relationship Id="rId1" Type="http://schemas.openxmlformats.org/officeDocument/2006/relationships/tags" Target="../tags/tag40.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7" name="AutoShape 51"/>
          <p:cNvSpPr/>
          <p:nvPr/>
        </p:nvSpPr>
        <p:spPr>
          <a:xfrm>
            <a:off x="1495425" y="1639888"/>
            <a:ext cx="6561138" cy="1001712"/>
          </a:xfrm>
          <a:prstGeom prst="roundRect">
            <a:avLst>
              <a:gd name="adj" fmla="val 50000"/>
            </a:avLst>
          </a:prstGeom>
          <a:solidFill>
            <a:srgbClr val="99CCFF"/>
          </a:solidFill>
          <a:ln w="28575" cap="flat" cmpd="sng">
            <a:solidFill>
              <a:srgbClr val="C0C0C0"/>
            </a:solidFill>
            <a:prstDash val="solid"/>
            <a:round/>
            <a:headEnd type="none" w="med" len="med"/>
            <a:tailEnd type="none" w="med" len="med"/>
          </a:ln>
        </p:spPr>
        <p:txBody>
          <a:bodyPr anchor="ctr" anchorCtr="0"/>
          <a:p>
            <a:pPr algn="ctr" eaLnBrk="0" hangingPunct="0">
              <a:lnSpc>
                <a:spcPct val="125000"/>
              </a:lnSpc>
              <a:spcBef>
                <a:spcPct val="50000"/>
              </a:spcBef>
            </a:pPr>
            <a:r>
              <a:rPr lang="zh-CN" altLang="en-US" sz="3200" dirty="0">
                <a:latin typeface="Times New Roman" panose="02020603050405020304" pitchFamily="2" charset="0"/>
                <a:ea typeface="楷体_GB2312" pitchFamily="1" charset="-122"/>
              </a:rPr>
              <a:t>第四章：</a:t>
            </a:r>
            <a:r>
              <a:rPr lang="en-US" altLang="zh-CN" sz="3200" dirty="0">
                <a:latin typeface="Times New Roman" panose="02020603050405020304" pitchFamily="2" charset="0"/>
                <a:ea typeface="楷体_GB2312" pitchFamily="1" charset="-122"/>
              </a:rPr>
              <a:t>SQL</a:t>
            </a:r>
            <a:r>
              <a:rPr lang="zh-CN" altLang="en-US" sz="3200" dirty="0">
                <a:latin typeface="Times New Roman" panose="02020603050405020304" pitchFamily="2" charset="0"/>
                <a:ea typeface="楷体_GB2312" pitchFamily="1" charset="-122"/>
              </a:rPr>
              <a:t>语言及其操作</a:t>
            </a:r>
            <a:endParaRPr lang="en-US" altLang="zh-CN" sz="3200" dirty="0">
              <a:latin typeface="Times New Roman" panose="02020603050405020304" pitchFamily="2" charset="0"/>
              <a:ea typeface="楷体_GB2312" pitchFamily="1" charset="-122"/>
            </a:endParaRPr>
          </a:p>
        </p:txBody>
      </p:sp>
      <p:sp>
        <p:nvSpPr>
          <p:cNvPr id="4098" name="Rectangle 7"/>
          <p:cNvSpPr>
            <a:spLocks noGrp="1"/>
          </p:cNvSpPr>
          <p:nvPr>
            <p:ph type="body"/>
          </p:nvPr>
        </p:nvSpPr>
        <p:spPr>
          <a:xfrm>
            <a:off x="1524000" y="3938588"/>
            <a:ext cx="6429375" cy="1919287"/>
          </a:xfrm>
        </p:spPr>
        <p:txBody>
          <a:bodyPr wrap="square" lIns="0" tIns="0" rIns="0" bIns="0" anchor="t" anchorCtr="0"/>
          <a:p>
            <a:pPr marL="342900" lvl="1" indent="-342900">
              <a:lnSpc>
                <a:spcPct val="110000"/>
              </a:lnSpc>
              <a:buSzPct val="80000"/>
              <a:buFont typeface="Wingdings" panose="05000000000000000000" pitchFamily="2" charset="2"/>
              <a:buChar char="u"/>
            </a:pPr>
            <a:r>
              <a:rPr lang="zh-CN" altLang="en-US" sz="2400" dirty="0">
                <a:latin typeface="宋体" panose="02010600030101010101" pitchFamily="2" charset="-122"/>
              </a:rPr>
              <a:t>定义子语言</a:t>
            </a:r>
            <a:r>
              <a:rPr lang="en-US" altLang="zh-CN" sz="2400" dirty="0">
                <a:latin typeface="宋体" panose="02010600030101010101" pitchFamily="2" charset="-122"/>
              </a:rPr>
              <a:t>DDL</a:t>
            </a:r>
            <a:r>
              <a:rPr lang="zh-CN" altLang="en-US" sz="2400" dirty="0">
                <a:latin typeface="宋体" panose="02010600030101010101" pitchFamily="2" charset="-122"/>
              </a:rPr>
              <a:t>的使用</a:t>
            </a:r>
            <a:endParaRPr lang="zh-CN" altLang="en-US" sz="2400" dirty="0">
              <a:latin typeface="宋体" panose="02010600030101010101" pitchFamily="2" charset="-122"/>
            </a:endParaRPr>
          </a:p>
          <a:p>
            <a:pPr marL="342900" lvl="1" indent="-342900">
              <a:lnSpc>
                <a:spcPct val="110000"/>
              </a:lnSpc>
              <a:buSzPct val="80000"/>
              <a:buFont typeface="Wingdings" panose="05000000000000000000" pitchFamily="2" charset="2"/>
              <a:buChar char="u"/>
            </a:pPr>
            <a:r>
              <a:rPr lang="zh-CN" altLang="en-US" sz="2400" dirty="0">
                <a:latin typeface="宋体" panose="02010600030101010101" pitchFamily="2" charset="-122"/>
              </a:rPr>
              <a:t>操纵子语言</a:t>
            </a:r>
            <a:r>
              <a:rPr lang="en-US" altLang="zh-CN" sz="2400" dirty="0">
                <a:latin typeface="宋体" panose="02010600030101010101" pitchFamily="2" charset="-122"/>
              </a:rPr>
              <a:t>DML</a:t>
            </a:r>
            <a:r>
              <a:rPr lang="zh-CN" altLang="en-US" sz="2400" dirty="0">
                <a:latin typeface="宋体" panose="02010600030101010101" pitchFamily="2" charset="-122"/>
              </a:rPr>
              <a:t>的使用</a:t>
            </a:r>
            <a:endParaRPr lang="zh-CN" altLang="en-US" sz="2400" dirty="0">
              <a:latin typeface="宋体" panose="02010600030101010101" pitchFamily="2" charset="-122"/>
            </a:endParaRPr>
          </a:p>
          <a:p>
            <a:pPr marL="342900" lvl="1" indent="-342900">
              <a:lnSpc>
                <a:spcPct val="110000"/>
              </a:lnSpc>
              <a:buSzPct val="80000"/>
              <a:buFont typeface="Wingdings" panose="05000000000000000000" pitchFamily="2" charset="2"/>
              <a:buChar char="u"/>
            </a:pPr>
            <a:r>
              <a:rPr lang="en-US" altLang="zh-CN" sz="2400" dirty="0">
                <a:latin typeface="宋体" panose="02010600030101010101" pitchFamily="2" charset="-122"/>
              </a:rPr>
              <a:t>Transact-SQL</a:t>
            </a:r>
            <a:r>
              <a:rPr lang="zh-CN" altLang="en-US" sz="2400" dirty="0">
                <a:latin typeface="宋体" panose="02010600030101010101" pitchFamily="2" charset="-122"/>
              </a:rPr>
              <a:t>语言</a:t>
            </a:r>
            <a:endParaRPr lang="zh-CN" altLang="en-US" sz="2400" dirty="0">
              <a:latin typeface="宋体" panose="02010600030101010101" pitchFamily="2" charset="-122"/>
            </a:endParaRPr>
          </a:p>
          <a:p>
            <a:pPr marL="342900" lvl="1" indent="-342900">
              <a:buSzPct val="80000"/>
              <a:buNone/>
            </a:pPr>
            <a:endParaRPr lang="zh-CN" altLang="en-US" sz="2200" dirty="0">
              <a:latin typeface="楷体" panose="02010609060101010101" pitchFamily="1" charset="-122"/>
              <a:ea typeface="楷体" panose="02010609060101010101" pitchFamily="1" charset="-122"/>
            </a:endParaRPr>
          </a:p>
        </p:txBody>
      </p:sp>
      <p:sp>
        <p:nvSpPr>
          <p:cNvPr id="4099" name="Rectangle 8"/>
          <p:cNvSpPr/>
          <p:nvPr/>
        </p:nvSpPr>
        <p:spPr>
          <a:xfrm>
            <a:off x="1393825" y="3700463"/>
            <a:ext cx="6996113" cy="1765300"/>
          </a:xfrm>
          <a:prstGeom prst="rect">
            <a:avLst/>
          </a:prstGeom>
          <a:noFill/>
          <a:ln w="9525" cap="flat" cmpd="sng">
            <a:solidFill>
              <a:srgbClr val="0000FF"/>
            </a:solidFill>
            <a:prstDash val="solid"/>
            <a:miter/>
            <a:headEnd type="none" w="med" len="med"/>
            <a:tailEnd type="none" w="med" len="med"/>
          </a:ln>
          <a:effectLst>
            <a:prstShdw prst="shdw17" dist="17961" dir="2699999">
              <a:srgbClr val="000099"/>
            </a:prstShdw>
          </a:effectLst>
        </p:spPr>
        <p:txBody>
          <a:bodyPr anchor="ctr" anchorCtr="0">
            <a:spAutoFit/>
          </a:bodyPr>
          <a:p>
            <a:pPr>
              <a:lnSpc>
                <a:spcPct val="135000"/>
              </a:lnSpc>
              <a:buFont typeface="Arial" panose="020B0604020202020204" pitchFamily="34" charset="0"/>
              <a:buChar char="•"/>
            </a:pPr>
            <a:endParaRPr lang="zh-CN" altLang="en-US" dirty="0">
              <a:latin typeface="Arial" panose="020B0604020202020204" pitchFamily="34" charset="0"/>
              <a:ea typeface="宋体" panose="02010600030101010101" pitchFamily="2" charset="-122"/>
            </a:endParaRPr>
          </a:p>
        </p:txBody>
      </p:sp>
      <p:pic>
        <p:nvPicPr>
          <p:cNvPr id="4100" name="Picture 6" descr="j0233174"/>
          <p:cNvPicPr>
            <a:picLocks noChangeAspect="1"/>
          </p:cNvPicPr>
          <p:nvPr/>
        </p:nvPicPr>
        <p:blipFill>
          <a:blip r:embed="rId1"/>
          <a:stretch>
            <a:fillRect/>
          </a:stretch>
        </p:blipFill>
        <p:spPr>
          <a:xfrm>
            <a:off x="242888" y="4156075"/>
            <a:ext cx="1460500" cy="1882775"/>
          </a:xfrm>
          <a:prstGeom prst="rect">
            <a:avLst/>
          </a:prstGeom>
          <a:noFill/>
          <a:ln w="9525">
            <a:noFill/>
          </a:ln>
        </p:spPr>
      </p:pic>
      <p:sp>
        <p:nvSpPr>
          <p:cNvPr id="5126" name="Text Box 10"/>
          <p:cNvSpPr txBox="1"/>
          <p:nvPr/>
        </p:nvSpPr>
        <p:spPr>
          <a:xfrm>
            <a:off x="1414463" y="2938463"/>
            <a:ext cx="4348162" cy="681037"/>
          </a:xfrm>
          <a:prstGeom prst="rect">
            <a:avLst/>
          </a:prstGeom>
          <a:noFill/>
          <a:ln w="9525">
            <a:noFill/>
          </a:ln>
        </p:spPr>
        <p:txBody>
          <a:bodyPr anchor="t" anchorCtr="0">
            <a:spAutoFit/>
          </a:bodyPr>
          <a:p>
            <a:pPr>
              <a:lnSpc>
                <a:spcPct val="135000"/>
              </a:lnSpc>
              <a:spcBef>
                <a:spcPct val="50000"/>
              </a:spcBef>
            </a:pPr>
            <a:r>
              <a:rPr lang="zh-CN" altLang="en-US" sz="3200" dirty="0">
                <a:latin typeface="Times New Roman" panose="02020603050405020304" pitchFamily="2" charset="0"/>
                <a:ea typeface="方正舒体" panose="02010601030101010101" pitchFamily="2" charset="-122"/>
              </a:rPr>
              <a:t>学习目的和要求</a:t>
            </a:r>
            <a:endParaRPr lang="zh-CN" altLang="en-US" sz="3200" dirty="0">
              <a:latin typeface="Times New Roman" panose="02020603050405020304" pitchFamily="2" charset="0"/>
              <a:ea typeface="方正舒体" panose="02010601030101010101" pitchFamily="2" charset="-122"/>
            </a:endParaRPr>
          </a:p>
        </p:txBody>
      </p:sp>
    </p:spTree>
  </p:cSld>
  <p:clrMapOvr>
    <a:masterClrMapping/>
  </p:clrMapOvr>
  <p:transition advTm="54672"/>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126"/>
                                        </p:tgtEl>
                                        <p:attrNameLst>
                                          <p:attrName>style.visibility</p:attrName>
                                        </p:attrNameLst>
                                      </p:cBhvr>
                                      <p:to>
                                        <p:strVal val="visible"/>
                                      </p:to>
                                    </p:set>
                                    <p:anim calcmode="lin" valueType="num">
                                      <p:cBhvr additive="base">
                                        <p:cTn id="7" dur="500" fill="hold"/>
                                        <p:tgtEl>
                                          <p:spTgt spid="5126"/>
                                        </p:tgtEl>
                                        <p:attrNameLst>
                                          <p:attrName>ppt_x</p:attrName>
                                        </p:attrNameLst>
                                      </p:cBhvr>
                                      <p:tavLst>
                                        <p:tav tm="0">
                                          <p:val>
                                            <p:strVal val="1+#ppt_w/2"/>
                                          </p:val>
                                        </p:tav>
                                        <p:tav tm="100000">
                                          <p:val>
                                            <p:strVal val="#ppt_x"/>
                                          </p:val>
                                        </p:tav>
                                      </p:tavLst>
                                    </p:anim>
                                    <p:anim calcmode="lin" valueType="num">
                                      <p:cBhvr additive="base">
                                        <p:cTn id="8" dur="500" fill="hold"/>
                                        <p:tgtEl>
                                          <p:spTgt spid="512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一、</a:t>
            </a:r>
            <a:r>
              <a:rPr lang="en-US" altLang="zh-CN" sz="3200" dirty="0">
                <a:solidFill>
                  <a:srgbClr val="FF0000"/>
                </a:solidFill>
                <a:latin typeface="Arial" panose="020B0604020202020204" pitchFamily="34" charset="0"/>
                <a:ea typeface="黑体" panose="02010609060101010101" pitchFamily="1" charset="-122"/>
              </a:rPr>
              <a:t>SQL</a:t>
            </a:r>
            <a:r>
              <a:rPr lang="zh-CN" altLang="en-US" sz="3200" dirty="0">
                <a:solidFill>
                  <a:srgbClr val="FF0000"/>
                </a:solidFill>
                <a:latin typeface="Arial" panose="020B0604020202020204" pitchFamily="34" charset="0"/>
                <a:ea typeface="黑体" panose="02010609060101010101" pitchFamily="1" charset="-122"/>
              </a:rPr>
              <a:t>语言的特点</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5122" name="Rectangle 2"/>
          <p:cNvSpPr txBox="1"/>
          <p:nvPr/>
        </p:nvSpPr>
        <p:spPr>
          <a:xfrm>
            <a:off x="617538" y="760413"/>
            <a:ext cx="5689600" cy="576262"/>
          </a:xfrm>
          <a:prstGeom prst="rect">
            <a:avLst/>
          </a:prstGeom>
          <a:noFill/>
          <a:ln w="9525">
            <a:noFill/>
          </a:ln>
        </p:spPr>
        <p:txBody>
          <a:bodyPr anchor="t" anchorCtr="0"/>
          <a:p>
            <a:pPr marL="457200" indent="-457200" defTabSz="914400">
              <a:lnSpc>
                <a:spcPct val="135000"/>
              </a:lnSpc>
              <a:tabLst>
                <a:tab pos="1428750" algn="l"/>
              </a:tabLst>
            </a:pPr>
            <a:r>
              <a:rPr lang="en-US" altLang="zh-CN" sz="2800" dirty="0">
                <a:solidFill>
                  <a:srgbClr val="0033CC"/>
                </a:solidFill>
                <a:latin typeface="黑体" panose="02010609060101010101" pitchFamily="1" charset="-122"/>
                <a:ea typeface="黑体" panose="02010609060101010101" pitchFamily="1" charset="-122"/>
              </a:rPr>
              <a:t>1.</a:t>
            </a:r>
            <a:r>
              <a:rPr lang="zh-CN" altLang="en-US" sz="2800" dirty="0">
                <a:solidFill>
                  <a:srgbClr val="0033CC"/>
                </a:solidFill>
                <a:latin typeface="黑体" panose="02010609060101010101" pitchFamily="1" charset="-122"/>
                <a:ea typeface="黑体" panose="02010609060101010101" pitchFamily="1" charset="-122"/>
              </a:rPr>
              <a:t>功能一体化：三个子语言构成</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6148" name="AutoShape 2"/>
          <p:cNvSpPr/>
          <p:nvPr/>
        </p:nvSpPr>
        <p:spPr>
          <a:xfrm>
            <a:off x="711200" y="1533525"/>
            <a:ext cx="7823200" cy="1339850"/>
          </a:xfrm>
          <a:prstGeom prst="roundRect">
            <a:avLst>
              <a:gd name="adj" fmla="val 10375"/>
            </a:avLst>
          </a:prstGeom>
          <a:noFill/>
          <a:ln w="19050" cap="rnd" cmpd="sng">
            <a:solidFill>
              <a:schemeClr val="accent2"/>
            </a:solidFill>
            <a:prstDash val="sysDot"/>
            <a:headEnd type="none" w="med" len="med"/>
            <a:tailEnd type="none" w="med" len="med"/>
          </a:ln>
        </p:spPr>
        <p:txBody>
          <a:bodyPr wrap="none" anchor="ctr"/>
          <a:p>
            <a:pPr lvl="0" eaLnBrk="1" fontAlgn="base" hangingPunct="1">
              <a:lnSpc>
                <a:spcPct val="135000"/>
              </a:lnSpc>
              <a:buChar char="•"/>
            </a:pPr>
            <a:endParaRPr lang="zh-CN" altLang="en-US" strike="noStrike" noProof="1" dirty="0">
              <a:effectLst>
                <a:outerShdw blurRad="38100" dist="38100" dir="2700000">
                  <a:srgbClr val="C0C0C0"/>
                </a:outerShdw>
              </a:effectLst>
              <a:latin typeface="Arial" panose="020B0604020202020204" pitchFamily="34" charset="0"/>
              <a:ea typeface="宋体" panose="02010600030101010101" pitchFamily="2" charset="-122"/>
            </a:endParaRPr>
          </a:p>
        </p:txBody>
      </p:sp>
      <p:sp>
        <p:nvSpPr>
          <p:cNvPr id="5124" name="Text Box 3"/>
          <p:cNvSpPr txBox="1"/>
          <p:nvPr/>
        </p:nvSpPr>
        <p:spPr>
          <a:xfrm>
            <a:off x="508000" y="1533525"/>
            <a:ext cx="8229600" cy="1327150"/>
          </a:xfrm>
          <a:prstGeom prst="rect">
            <a:avLst/>
          </a:prstGeom>
          <a:noFill/>
          <a:ln w="9525">
            <a:noFill/>
          </a:ln>
        </p:spPr>
        <p:txBody>
          <a:bodyPr anchor="t" anchorCtr="0">
            <a:spAutoFit/>
          </a:bodyPr>
          <a:p>
            <a:pPr marL="0" lvl="1" indent="0" algn="just" defTabSz="914400" eaLnBrk="1" hangingPunct="1">
              <a:lnSpc>
                <a:spcPct val="114000"/>
              </a:lnSpc>
              <a:spcBef>
                <a:spcPts val="400"/>
              </a:spcBef>
              <a:tabLst>
                <a:tab pos="1428750" algn="l"/>
              </a:tabLst>
            </a:pPr>
            <a:r>
              <a:rPr lang="zh-CN" altLang="en-US" sz="2200" b="0" dirty="0">
                <a:latin typeface="楷体" panose="02010609060101010101" pitchFamily="1" charset="-122"/>
                <a:ea typeface="楷体" panose="02010609060101010101" pitchFamily="1" charset="-122"/>
              </a:rPr>
              <a:t>   </a:t>
            </a:r>
            <a:r>
              <a:rPr lang="en-US" altLang="zh-CN" sz="2200" b="0" dirty="0">
                <a:latin typeface="Arial" panose="020B0604020202020204" pitchFamily="34" charset="0"/>
                <a:ea typeface="楷体" panose="02010609060101010101" pitchFamily="1" charset="-122"/>
              </a:rPr>
              <a:t>--DDL</a:t>
            </a:r>
            <a:r>
              <a:rPr lang="zh-CN" altLang="en-US" sz="2200" b="0" dirty="0">
                <a:latin typeface="Arial" panose="020B0604020202020204" pitchFamily="34" charset="0"/>
                <a:ea typeface="楷体" panose="02010609060101010101" pitchFamily="1" charset="-122"/>
              </a:rPr>
              <a:t>（</a:t>
            </a:r>
            <a:r>
              <a:rPr lang="en-US" altLang="zh-CN" sz="2200" b="0" dirty="0">
                <a:latin typeface="Arial" panose="020B0604020202020204" pitchFamily="34" charset="0"/>
                <a:ea typeface="楷体" panose="02010609060101010101" pitchFamily="1" charset="-122"/>
              </a:rPr>
              <a:t>Data Definition Language)</a:t>
            </a:r>
            <a:endParaRPr lang="en-US" altLang="zh-CN" sz="2200" b="0" dirty="0">
              <a:latin typeface="Arial" panose="020B0604020202020204" pitchFamily="34" charset="0"/>
              <a:ea typeface="楷体" panose="02010609060101010101" pitchFamily="1" charset="-122"/>
            </a:endParaRPr>
          </a:p>
          <a:p>
            <a:pPr marL="0" lvl="1" indent="0" algn="just" defTabSz="914400" eaLnBrk="1" hangingPunct="1">
              <a:lnSpc>
                <a:spcPct val="114000"/>
              </a:lnSpc>
              <a:spcBef>
                <a:spcPts val="400"/>
              </a:spcBef>
              <a:tabLst>
                <a:tab pos="1428750" algn="l"/>
              </a:tabLst>
            </a:pPr>
            <a:r>
              <a:rPr lang="zh-CN" altLang="en-US" sz="2200" b="0" dirty="0">
                <a:latin typeface="Arial" panose="020B0604020202020204" pitchFamily="34" charset="0"/>
                <a:ea typeface="楷体" panose="02010609060101010101" pitchFamily="1" charset="-122"/>
              </a:rPr>
              <a:t>     </a:t>
            </a:r>
            <a:r>
              <a:rPr lang="en-US" altLang="zh-CN" sz="2200" b="0" dirty="0">
                <a:latin typeface="Arial" panose="020B0604020202020204" pitchFamily="34" charset="0"/>
                <a:ea typeface="楷体" panose="02010609060101010101" pitchFamily="1" charset="-122"/>
              </a:rPr>
              <a:t>--DML (Data Manipulation Language)</a:t>
            </a:r>
            <a:endParaRPr lang="en-US" altLang="zh-CN" sz="2200" b="0" dirty="0">
              <a:latin typeface="Arial" panose="020B0604020202020204" pitchFamily="34" charset="0"/>
              <a:ea typeface="楷体" panose="02010609060101010101" pitchFamily="1" charset="-122"/>
            </a:endParaRPr>
          </a:p>
          <a:p>
            <a:pPr marL="0" lvl="1" indent="0" algn="just" defTabSz="914400" eaLnBrk="1" hangingPunct="1">
              <a:lnSpc>
                <a:spcPct val="114000"/>
              </a:lnSpc>
              <a:spcBef>
                <a:spcPts val="400"/>
              </a:spcBef>
              <a:tabLst>
                <a:tab pos="1428750" algn="l"/>
              </a:tabLst>
            </a:pPr>
            <a:r>
              <a:rPr lang="zh-CN" altLang="en-US" sz="2200" b="0" dirty="0">
                <a:latin typeface="Arial" panose="020B0604020202020204" pitchFamily="34" charset="0"/>
                <a:ea typeface="楷体" panose="02010609060101010101" pitchFamily="1" charset="-122"/>
              </a:rPr>
              <a:t>     </a:t>
            </a:r>
            <a:r>
              <a:rPr lang="en-US" altLang="zh-CN" sz="2200" b="0" dirty="0">
                <a:latin typeface="Arial" panose="020B0604020202020204" pitchFamily="34" charset="0"/>
                <a:ea typeface="楷体" panose="02010609060101010101" pitchFamily="1" charset="-122"/>
              </a:rPr>
              <a:t>--DCL (Data </a:t>
            </a:r>
            <a:r>
              <a:rPr lang="de-DE" altLang="en-US" sz="2200" b="0" dirty="0">
                <a:latin typeface="Arial" panose="020B0604020202020204" pitchFamily="34" charset="0"/>
                <a:ea typeface="楷体" panose="02010609060101010101" pitchFamily="1" charset="-122"/>
              </a:rPr>
              <a:t>Control Language)</a:t>
            </a:r>
            <a:endParaRPr lang="en-US" altLang="zh-CN" sz="2200" b="0" dirty="0">
              <a:latin typeface="Arial" panose="020B0604020202020204" pitchFamily="34" charset="0"/>
              <a:ea typeface="楷体" panose="02010609060101010101" pitchFamily="1" charset="-122"/>
            </a:endParaRPr>
          </a:p>
        </p:txBody>
      </p:sp>
      <p:sp>
        <p:nvSpPr>
          <p:cNvPr id="5125" name="Rectangle 2"/>
          <p:cNvSpPr txBox="1"/>
          <p:nvPr/>
        </p:nvSpPr>
        <p:spPr>
          <a:xfrm>
            <a:off x="617538" y="2881313"/>
            <a:ext cx="5689600" cy="576262"/>
          </a:xfrm>
          <a:prstGeom prst="rect">
            <a:avLst/>
          </a:prstGeom>
          <a:noFill/>
          <a:ln w="9525">
            <a:noFill/>
          </a:ln>
        </p:spPr>
        <p:txBody>
          <a:bodyPr anchor="t" anchorCtr="0"/>
          <a:p>
            <a:pPr marL="457200" indent="-457200" defTabSz="914400">
              <a:lnSpc>
                <a:spcPct val="135000"/>
              </a:lnSpc>
              <a:tabLst>
                <a:tab pos="1428750" algn="l"/>
              </a:tabLst>
            </a:pPr>
            <a:r>
              <a:rPr lang="en-US" altLang="zh-CN" sz="2800" dirty="0">
                <a:solidFill>
                  <a:srgbClr val="0033CC"/>
                </a:solidFill>
                <a:latin typeface="黑体" panose="02010609060101010101" pitchFamily="1" charset="-122"/>
                <a:ea typeface="黑体" panose="02010609060101010101" pitchFamily="1" charset="-122"/>
              </a:rPr>
              <a:t>2.</a:t>
            </a:r>
            <a:r>
              <a:rPr lang="zh-CN" altLang="en-US" sz="2800" dirty="0">
                <a:solidFill>
                  <a:srgbClr val="0033CC"/>
                </a:solidFill>
                <a:latin typeface="黑体" panose="02010609060101010101" pitchFamily="1" charset="-122"/>
                <a:ea typeface="黑体" panose="02010609060101010101" pitchFamily="1" charset="-122"/>
              </a:rPr>
              <a:t>语言非过程化</a:t>
            </a:r>
            <a:endParaRPr lang="zh-CN" altLang="en-US" sz="2800" dirty="0">
              <a:solidFill>
                <a:srgbClr val="0033CC"/>
              </a:solidFill>
              <a:latin typeface="黑体" panose="02010609060101010101" pitchFamily="1" charset="-122"/>
              <a:ea typeface="黑体" panose="02010609060101010101" pitchFamily="1" charset="-122"/>
            </a:endParaRPr>
          </a:p>
          <a:p>
            <a:pPr marL="457200" indent="-457200" defTabSz="914400">
              <a:lnSpc>
                <a:spcPct val="135000"/>
              </a:lnSpc>
              <a:tabLst>
                <a:tab pos="1428750" algn="l"/>
              </a:tabLst>
            </a:pP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5126" name="矩形 16"/>
          <p:cNvSpPr/>
          <p:nvPr/>
        </p:nvSpPr>
        <p:spPr>
          <a:xfrm>
            <a:off x="384175" y="3554413"/>
            <a:ext cx="7569200" cy="950912"/>
          </a:xfrm>
          <a:prstGeom prst="rect">
            <a:avLst/>
          </a:prstGeom>
          <a:noFill/>
          <a:ln w="9525">
            <a:noFill/>
          </a:ln>
        </p:spPr>
        <p:txBody>
          <a:bodyPr anchor="t" anchorCtr="0">
            <a:spAutoFit/>
          </a:bodyPr>
          <a:p>
            <a:pPr marL="914400" lvl="1" indent="-457200" defTabSz="914400" eaLnBrk="1" hangingPunct="1">
              <a:lnSpc>
                <a:spcPct val="120000"/>
              </a:lnSpc>
              <a:tabLst>
                <a:tab pos="1428750" algn="l"/>
              </a:tabLst>
            </a:pPr>
            <a:r>
              <a:rPr lang="en-US" altLang="zh-CN" sz="2400" b="0" dirty="0">
                <a:latin typeface="Arial" panose="020B0604020202020204" pitchFamily="34" charset="0"/>
                <a:ea typeface="楷体" panose="02010609060101010101" pitchFamily="1" charset="-122"/>
              </a:rPr>
              <a:t>--</a:t>
            </a:r>
            <a:r>
              <a:rPr lang="zh-CN" altLang="en-US" sz="2400" b="0" dirty="0">
                <a:latin typeface="华文楷体" panose="02010600040101010101" pitchFamily="2" charset="-122"/>
                <a:ea typeface="华文楷体" panose="02010600040101010101" pitchFamily="2" charset="-122"/>
              </a:rPr>
              <a:t>用户只需定义“做什么”，不需定义“怎么做”</a:t>
            </a:r>
            <a:endParaRPr lang="zh-CN" altLang="en-US" sz="2400" b="0" dirty="0">
              <a:latin typeface="华文楷体" panose="02010600040101010101" pitchFamily="2" charset="-122"/>
              <a:ea typeface="华文楷体" panose="02010600040101010101" pitchFamily="2" charset="-122"/>
            </a:endParaRPr>
          </a:p>
          <a:p>
            <a:pPr marL="914400" lvl="1" indent="-457200" defTabSz="914400" eaLnBrk="1" hangingPunct="1">
              <a:lnSpc>
                <a:spcPct val="120000"/>
              </a:lnSpc>
              <a:tabLst>
                <a:tab pos="1428750" algn="l"/>
              </a:tabLst>
            </a:pPr>
            <a:r>
              <a:rPr lang="en-US" altLang="zh-CN" sz="2400" b="0" dirty="0">
                <a:latin typeface="Arial" panose="020B0604020202020204" pitchFamily="34" charset="0"/>
                <a:ea typeface="楷体" panose="02010609060101010101" pitchFamily="1" charset="-122"/>
              </a:rPr>
              <a:t>--</a:t>
            </a:r>
            <a:r>
              <a:rPr lang="zh-CN" altLang="en-US" sz="2400" b="0" dirty="0">
                <a:latin typeface="华文楷体" panose="02010600040101010101" pitchFamily="2" charset="-122"/>
                <a:ea typeface="华文楷体" panose="02010600040101010101" pitchFamily="2" charset="-122"/>
              </a:rPr>
              <a:t>描述的形式</a:t>
            </a:r>
            <a:endParaRPr lang="zh-CN" altLang="en-US" sz="2400" b="0" dirty="0">
              <a:latin typeface="华文楷体" panose="02010600040101010101" pitchFamily="2" charset="-122"/>
              <a:ea typeface="华文楷体" panose="02010600040101010101" pitchFamily="2" charset="-122"/>
            </a:endParaRPr>
          </a:p>
        </p:txBody>
      </p:sp>
      <p:sp>
        <p:nvSpPr>
          <p:cNvPr id="6152" name="AutoShape 2"/>
          <p:cNvSpPr/>
          <p:nvPr/>
        </p:nvSpPr>
        <p:spPr>
          <a:xfrm>
            <a:off x="652463" y="3565525"/>
            <a:ext cx="7823200" cy="904875"/>
          </a:xfrm>
          <a:prstGeom prst="roundRect">
            <a:avLst>
              <a:gd name="adj" fmla="val 10375"/>
            </a:avLst>
          </a:prstGeom>
          <a:noFill/>
          <a:ln w="19050" cap="rnd" cmpd="sng">
            <a:solidFill>
              <a:schemeClr val="accent2"/>
            </a:solidFill>
            <a:prstDash val="sysDot"/>
            <a:headEnd type="none" w="med" len="med"/>
            <a:tailEnd type="none" w="med" len="med"/>
          </a:ln>
        </p:spPr>
        <p:txBody>
          <a:bodyPr wrap="none" anchor="ctr"/>
          <a:p>
            <a:pPr lvl="0" eaLnBrk="1" fontAlgn="base" hangingPunct="1">
              <a:lnSpc>
                <a:spcPct val="135000"/>
              </a:lnSpc>
              <a:buChar char="•"/>
            </a:pPr>
            <a:endParaRPr lang="zh-CN" altLang="en-US" strike="noStrike" noProof="1" dirty="0">
              <a:effectLst>
                <a:outerShdw blurRad="38100" dist="38100" dir="2700000">
                  <a:srgbClr val="C0C0C0"/>
                </a:outerShdw>
              </a:effectLst>
              <a:latin typeface="Arial" panose="020B0604020202020204" pitchFamily="34" charset="0"/>
              <a:ea typeface="宋体" panose="02010600030101010101" pitchFamily="2" charset="-122"/>
            </a:endParaRPr>
          </a:p>
        </p:txBody>
      </p:sp>
      <p:sp>
        <p:nvSpPr>
          <p:cNvPr id="5128" name="Rectangle 2"/>
          <p:cNvSpPr txBox="1"/>
          <p:nvPr/>
        </p:nvSpPr>
        <p:spPr>
          <a:xfrm>
            <a:off x="652463" y="4514850"/>
            <a:ext cx="5689600" cy="576263"/>
          </a:xfrm>
          <a:prstGeom prst="rect">
            <a:avLst/>
          </a:prstGeom>
          <a:noFill/>
          <a:ln w="9525">
            <a:noFill/>
          </a:ln>
        </p:spPr>
        <p:txBody>
          <a:bodyPr anchor="t" anchorCtr="0"/>
          <a:p>
            <a:pPr marL="457200" indent="-457200" defTabSz="914400">
              <a:lnSpc>
                <a:spcPct val="135000"/>
              </a:lnSpc>
              <a:tabLst>
                <a:tab pos="1428750" algn="l"/>
              </a:tabLst>
            </a:pPr>
            <a:r>
              <a:rPr lang="en-US" altLang="zh-CN" sz="2800" dirty="0">
                <a:solidFill>
                  <a:srgbClr val="0033CC"/>
                </a:solidFill>
                <a:latin typeface="黑体" panose="02010609060101010101" pitchFamily="1" charset="-122"/>
                <a:ea typeface="黑体" panose="02010609060101010101" pitchFamily="1" charset="-122"/>
              </a:rPr>
              <a:t>3.</a:t>
            </a:r>
            <a:r>
              <a:rPr lang="zh-CN" altLang="en-US" sz="2800" dirty="0">
                <a:solidFill>
                  <a:srgbClr val="0033CC"/>
                </a:solidFill>
                <a:latin typeface="黑体" panose="02010609060101010101" pitchFamily="1" charset="-122"/>
                <a:ea typeface="黑体" panose="02010609060101010101" pitchFamily="1" charset="-122"/>
              </a:rPr>
              <a:t>交互式和嵌入式使用</a:t>
            </a:r>
            <a:endParaRPr lang="zh-CN" altLang="en-US" sz="2800" dirty="0">
              <a:solidFill>
                <a:srgbClr val="0033CC"/>
              </a:solidFill>
              <a:latin typeface="黑体" panose="02010609060101010101" pitchFamily="1" charset="-122"/>
              <a:ea typeface="黑体" panose="02010609060101010101" pitchFamily="1" charset="-122"/>
            </a:endParaRPr>
          </a:p>
          <a:p>
            <a:pPr marL="457200" indent="-457200" defTabSz="914400">
              <a:lnSpc>
                <a:spcPct val="135000"/>
              </a:lnSpc>
              <a:tabLst>
                <a:tab pos="1428750" algn="l"/>
              </a:tabLst>
            </a:pPr>
            <a:endParaRPr lang="zh-CN" altLang="en-US" sz="2800" dirty="0">
              <a:solidFill>
                <a:srgbClr val="0033CC"/>
              </a:solidFill>
              <a:latin typeface="黑体" panose="02010609060101010101" pitchFamily="1" charset="-122"/>
              <a:ea typeface="黑体" panose="02010609060101010101" pitchFamily="1" charset="-122"/>
            </a:endParaRPr>
          </a:p>
          <a:p>
            <a:pPr marL="457200" indent="-457200" defTabSz="914400">
              <a:lnSpc>
                <a:spcPct val="135000"/>
              </a:lnSpc>
              <a:tabLst>
                <a:tab pos="1428750" algn="l"/>
              </a:tabLst>
            </a:pP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5129" name="矩形 19"/>
          <p:cNvSpPr/>
          <p:nvPr/>
        </p:nvSpPr>
        <p:spPr>
          <a:xfrm>
            <a:off x="384175" y="5092700"/>
            <a:ext cx="7235825" cy="935038"/>
          </a:xfrm>
          <a:prstGeom prst="rect">
            <a:avLst/>
          </a:prstGeom>
          <a:noFill/>
          <a:ln w="9525">
            <a:noFill/>
          </a:ln>
        </p:spPr>
        <p:txBody>
          <a:bodyPr anchor="t" anchorCtr="0">
            <a:spAutoFit/>
          </a:bodyPr>
          <a:p>
            <a:pPr marL="914400" lvl="1" indent="-457200" defTabSz="914400" eaLnBrk="1" hangingPunct="1">
              <a:lnSpc>
                <a:spcPct val="120000"/>
              </a:lnSpc>
              <a:tabLst>
                <a:tab pos="1428750" algn="l"/>
              </a:tabLst>
            </a:pPr>
            <a:r>
              <a:rPr lang="en-US" altLang="zh-CN" sz="2400" b="0" dirty="0">
                <a:latin typeface="Arial" panose="020B0604020202020204" pitchFamily="34" charset="0"/>
                <a:ea typeface="楷体" panose="02010609060101010101" pitchFamily="1" charset="-122"/>
              </a:rPr>
              <a:t>--</a:t>
            </a:r>
            <a:r>
              <a:rPr lang="zh-CN" altLang="en-US" sz="2400" b="0" dirty="0">
                <a:latin typeface="Arial" panose="020B0604020202020204" pitchFamily="34" charset="0"/>
                <a:ea typeface="楷体" panose="02010609060101010101" pitchFamily="1" charset="-122"/>
              </a:rPr>
              <a:t>独立地，用户交互式使用</a:t>
            </a:r>
            <a:endParaRPr lang="zh-CN" altLang="en-US" sz="2400" b="0" dirty="0">
              <a:latin typeface="Arial" panose="020B0604020202020204" pitchFamily="34" charset="0"/>
              <a:ea typeface="楷体" panose="02010609060101010101" pitchFamily="1" charset="-122"/>
            </a:endParaRPr>
          </a:p>
          <a:p>
            <a:pPr marL="914400" lvl="1" indent="-457200" defTabSz="914400" eaLnBrk="1" hangingPunct="1">
              <a:lnSpc>
                <a:spcPct val="120000"/>
              </a:lnSpc>
              <a:tabLst>
                <a:tab pos="1428750" algn="l"/>
              </a:tabLst>
            </a:pPr>
            <a:r>
              <a:rPr lang="en-US" altLang="zh-CN" sz="2400" b="0" dirty="0">
                <a:latin typeface="Arial" panose="020B0604020202020204" pitchFamily="34" charset="0"/>
                <a:ea typeface="楷体" panose="02010609060101010101" pitchFamily="1" charset="-122"/>
              </a:rPr>
              <a:t>--</a:t>
            </a:r>
            <a:r>
              <a:rPr lang="zh-CN" altLang="en-US" sz="2400" b="0" dirty="0">
                <a:latin typeface="Arial" panose="020B0604020202020204" pitchFamily="34" charset="0"/>
                <a:ea typeface="楷体" panose="02010609060101010101" pitchFamily="1" charset="-122"/>
              </a:rPr>
              <a:t>嵌入在宿主语言中使用</a:t>
            </a:r>
            <a:endParaRPr lang="zh-CN" altLang="en-US" sz="2400" b="0" dirty="0">
              <a:latin typeface="Arial" panose="020B0604020202020204" pitchFamily="34" charset="0"/>
              <a:ea typeface="楷体" panose="02010609060101010101" pitchFamily="1" charset="-122"/>
            </a:endParaRPr>
          </a:p>
        </p:txBody>
      </p:sp>
      <p:sp>
        <p:nvSpPr>
          <p:cNvPr id="6155" name="AutoShape 2"/>
          <p:cNvSpPr/>
          <p:nvPr/>
        </p:nvSpPr>
        <p:spPr>
          <a:xfrm>
            <a:off x="674688" y="5140325"/>
            <a:ext cx="7823200" cy="904875"/>
          </a:xfrm>
          <a:prstGeom prst="roundRect">
            <a:avLst>
              <a:gd name="adj" fmla="val 10375"/>
            </a:avLst>
          </a:prstGeom>
          <a:noFill/>
          <a:ln w="19050" cap="rnd" cmpd="sng">
            <a:solidFill>
              <a:schemeClr val="accent2"/>
            </a:solidFill>
            <a:prstDash val="sysDot"/>
            <a:headEnd type="none" w="med" len="med"/>
            <a:tailEnd type="none" w="med" len="med"/>
          </a:ln>
        </p:spPr>
        <p:txBody>
          <a:bodyPr wrap="none" anchor="ctr"/>
          <a:p>
            <a:pPr lvl="0" eaLnBrk="1" fontAlgn="base" hangingPunct="1">
              <a:lnSpc>
                <a:spcPct val="135000"/>
              </a:lnSpc>
              <a:buChar char="•"/>
            </a:pPr>
            <a:endParaRPr lang="zh-CN" altLang="en-US" strike="noStrike" noProof="1" dirty="0">
              <a:effectLst>
                <a:outerShdw blurRad="38100" dist="38100" dir="2700000">
                  <a:srgbClr val="C0C0C0"/>
                </a:outerShdw>
              </a:effectLst>
              <a:latin typeface="Arial" panose="020B0604020202020204" pitchFamily="34" charset="0"/>
              <a:ea typeface="宋体" panose="02010600030101010101" pitchFamily="2" charset="-122"/>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Rectangle 3"/>
          <p:cNvSpPr txBox="1"/>
          <p:nvPr/>
        </p:nvSpPr>
        <p:spPr>
          <a:xfrm>
            <a:off x="425450" y="1550988"/>
            <a:ext cx="8151813" cy="1322387"/>
          </a:xfrm>
          <a:prstGeom prst="rect">
            <a:avLst/>
          </a:prstGeom>
          <a:noFill/>
          <a:ln w="9525">
            <a:noFill/>
          </a:ln>
        </p:spPr>
        <p:txBody>
          <a:bodyPr anchor="t" anchorCtr="0"/>
          <a:p>
            <a:pPr marL="742950" lvl="1" indent="-285750" eaLnBrk="1" hangingPunct="1">
              <a:lnSpc>
                <a:spcPct val="120000"/>
              </a:lnSpc>
              <a:buClr>
                <a:schemeClr val="accent2"/>
              </a:buClr>
              <a:buSzPct val="70000"/>
            </a:pPr>
            <a:r>
              <a:rPr lang="en-US" altLang="zh-CN" sz="2800" dirty="0">
                <a:latin typeface="华文楷体" panose="02010600040101010101" pitchFamily="2" charset="-122"/>
                <a:ea typeface="宋体" panose="02010600030101010101" pitchFamily="2" charset="-122"/>
              </a:rPr>
              <a:t>--</a:t>
            </a:r>
            <a:r>
              <a:rPr lang="zh-CN" altLang="en-US" sz="2400" b="0" dirty="0">
                <a:latin typeface="楷体" panose="02010609060101010101" pitchFamily="1" charset="-122"/>
                <a:ea typeface="楷体" panose="02010609060101010101" pitchFamily="1" charset="-122"/>
              </a:rPr>
              <a:t>几乎所有的</a:t>
            </a:r>
            <a:r>
              <a:rPr lang="en-US" altLang="zh-CN" sz="2400" b="0" dirty="0">
                <a:latin typeface="楷体" panose="02010609060101010101" pitchFamily="1" charset="-122"/>
                <a:ea typeface="楷体" panose="02010609060101010101" pitchFamily="1" charset="-122"/>
              </a:rPr>
              <a:t>RDBMS</a:t>
            </a:r>
            <a:r>
              <a:rPr lang="zh-CN" altLang="en-US" sz="2400" b="0" dirty="0">
                <a:latin typeface="楷体" panose="02010609060101010101" pitchFamily="1" charset="-122"/>
                <a:ea typeface="楷体" panose="02010609060101010101" pitchFamily="1" charset="-122"/>
              </a:rPr>
              <a:t>都支持</a:t>
            </a:r>
            <a:r>
              <a:rPr lang="en-US" altLang="zh-CN" sz="2400" b="0" dirty="0">
                <a:latin typeface="楷体" panose="02010609060101010101" pitchFamily="1" charset="-122"/>
                <a:ea typeface="楷体" panose="02010609060101010101" pitchFamily="1" charset="-122"/>
              </a:rPr>
              <a:t>SQL</a:t>
            </a:r>
            <a:r>
              <a:rPr lang="zh-CN" altLang="en-US" sz="2400" b="0" dirty="0">
                <a:latin typeface="楷体" panose="02010609060101010101" pitchFamily="1" charset="-122"/>
                <a:ea typeface="楷体" panose="02010609060101010101" pitchFamily="1" charset="-122"/>
              </a:rPr>
              <a:t>语言，所以，使用标准</a:t>
            </a:r>
            <a:r>
              <a:rPr lang="en-US" altLang="zh-CN" sz="2400" b="0" dirty="0">
                <a:latin typeface="楷体" panose="02010609060101010101" pitchFamily="1" charset="-122"/>
                <a:ea typeface="楷体" panose="02010609060101010101" pitchFamily="1" charset="-122"/>
              </a:rPr>
              <a:t>SQL</a:t>
            </a:r>
            <a:r>
              <a:rPr lang="zh-CN" altLang="en-US" sz="2400" b="0" dirty="0">
                <a:latin typeface="楷体" panose="02010609060101010101" pitchFamily="1" charset="-122"/>
                <a:ea typeface="楷体" panose="02010609060101010101" pitchFamily="1" charset="-122"/>
              </a:rPr>
              <a:t>语言的程序可以方便地从一种</a:t>
            </a:r>
            <a:r>
              <a:rPr lang="en-US" altLang="zh-CN" sz="2400" b="0" dirty="0">
                <a:latin typeface="楷体" panose="02010609060101010101" pitchFamily="1" charset="-122"/>
                <a:ea typeface="楷体" panose="02010609060101010101" pitchFamily="1" charset="-122"/>
              </a:rPr>
              <a:t>RDBMS</a:t>
            </a:r>
            <a:r>
              <a:rPr lang="zh-CN" altLang="en-US" sz="2400" b="0" dirty="0">
                <a:latin typeface="楷体" panose="02010609060101010101" pitchFamily="1" charset="-122"/>
                <a:ea typeface="楷体" panose="02010609060101010101" pitchFamily="1" charset="-122"/>
              </a:rPr>
              <a:t>移植到另一种</a:t>
            </a:r>
            <a:r>
              <a:rPr lang="en-US" altLang="zh-CN" sz="2400" b="0" dirty="0">
                <a:latin typeface="楷体" panose="02010609060101010101" pitchFamily="1" charset="-122"/>
                <a:ea typeface="楷体" panose="02010609060101010101" pitchFamily="1" charset="-122"/>
              </a:rPr>
              <a:t>RDBMS</a:t>
            </a:r>
            <a:r>
              <a:rPr lang="zh-CN" altLang="en-US" sz="2400" b="0" dirty="0">
                <a:latin typeface="楷体" panose="02010609060101010101" pitchFamily="1" charset="-122"/>
                <a:ea typeface="楷体" panose="02010609060101010101" pitchFamily="1" charset="-122"/>
              </a:rPr>
              <a:t>上。</a:t>
            </a:r>
            <a:endParaRPr lang="zh-CN" altLang="en-US" sz="2400" b="0" dirty="0">
              <a:latin typeface="楷体" panose="02010609060101010101" pitchFamily="1" charset="-122"/>
              <a:ea typeface="楷体" panose="02010609060101010101" pitchFamily="1" charset="-122"/>
            </a:endParaRPr>
          </a:p>
          <a:p>
            <a:pPr marL="342900" indent="-342900">
              <a:buClr>
                <a:srgbClr val="0033CC"/>
              </a:buClr>
              <a:buSzPct val="80000"/>
            </a:pPr>
            <a:endParaRPr lang="en-US" altLang="zh-CN" sz="2000" dirty="0">
              <a:latin typeface="华文楷体" panose="02010600040101010101" pitchFamily="2" charset="-122"/>
              <a:ea typeface="宋体" panose="02010600030101010101" pitchFamily="2" charset="-122"/>
            </a:endParaRPr>
          </a:p>
        </p:txBody>
      </p:sp>
      <p:sp>
        <p:nvSpPr>
          <p:cNvPr id="6146" name="Rectangle 2"/>
          <p:cNvSpPr txBox="1"/>
          <p:nvPr/>
        </p:nvSpPr>
        <p:spPr>
          <a:xfrm>
            <a:off x="609600" y="871538"/>
            <a:ext cx="5689600" cy="576262"/>
          </a:xfrm>
          <a:prstGeom prst="rect">
            <a:avLst/>
          </a:prstGeom>
          <a:noFill/>
          <a:ln w="9525">
            <a:noFill/>
          </a:ln>
        </p:spPr>
        <p:txBody>
          <a:bodyPr anchor="t" anchorCtr="0"/>
          <a:p>
            <a:pPr marL="457200" indent="-457200" defTabSz="914400">
              <a:lnSpc>
                <a:spcPct val="135000"/>
              </a:lnSpc>
              <a:tabLst>
                <a:tab pos="1428750" algn="l"/>
              </a:tabLst>
            </a:pPr>
            <a:r>
              <a:rPr lang="en-US" altLang="zh-CN" sz="2800" dirty="0">
                <a:solidFill>
                  <a:srgbClr val="0033CC"/>
                </a:solidFill>
                <a:latin typeface="黑体" panose="02010609060101010101" pitchFamily="1" charset="-122"/>
                <a:ea typeface="黑体" panose="02010609060101010101" pitchFamily="1" charset="-122"/>
              </a:rPr>
              <a:t>4.</a:t>
            </a:r>
            <a:r>
              <a:rPr lang="zh-CN" altLang="en-US" sz="2800" dirty="0">
                <a:solidFill>
                  <a:srgbClr val="0033CC"/>
                </a:solidFill>
                <a:latin typeface="黑体" panose="02010609060101010101" pitchFamily="1" charset="-122"/>
                <a:ea typeface="黑体" panose="02010609060101010101" pitchFamily="1" charset="-122"/>
              </a:rPr>
              <a:t>标准化与易移植性</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6147"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一、</a:t>
            </a:r>
            <a:r>
              <a:rPr lang="en-US" altLang="zh-CN" sz="3200" dirty="0">
                <a:solidFill>
                  <a:srgbClr val="FF0000"/>
                </a:solidFill>
                <a:latin typeface="Arial" panose="020B0604020202020204" pitchFamily="34" charset="0"/>
                <a:ea typeface="黑体" panose="02010609060101010101" pitchFamily="1" charset="-122"/>
              </a:rPr>
              <a:t>SQL</a:t>
            </a:r>
            <a:r>
              <a:rPr lang="zh-CN" altLang="en-US" sz="3200" dirty="0">
                <a:solidFill>
                  <a:srgbClr val="FF0000"/>
                </a:solidFill>
                <a:latin typeface="Arial" panose="020B0604020202020204" pitchFamily="34" charset="0"/>
                <a:ea typeface="黑体" panose="02010609060101010101" pitchFamily="1" charset="-122"/>
              </a:rPr>
              <a:t>语言的特点</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7173" name="AutoShape 2"/>
          <p:cNvSpPr/>
          <p:nvPr/>
        </p:nvSpPr>
        <p:spPr>
          <a:xfrm>
            <a:off x="739775" y="1576388"/>
            <a:ext cx="7823200" cy="1530350"/>
          </a:xfrm>
          <a:prstGeom prst="roundRect">
            <a:avLst>
              <a:gd name="adj" fmla="val 10375"/>
            </a:avLst>
          </a:prstGeom>
          <a:noFill/>
          <a:ln w="19050" cap="rnd" cmpd="sng">
            <a:solidFill>
              <a:schemeClr val="accent2"/>
            </a:solidFill>
            <a:prstDash val="sysDot"/>
            <a:headEnd type="none" w="med" len="med"/>
            <a:tailEnd type="none" w="med" len="med"/>
          </a:ln>
        </p:spPr>
        <p:txBody>
          <a:bodyPr wrap="none" anchor="ctr"/>
          <a:p>
            <a:pPr lvl="0" eaLnBrk="1" fontAlgn="base" hangingPunct="1">
              <a:lnSpc>
                <a:spcPct val="135000"/>
              </a:lnSpc>
              <a:buChar char="•"/>
            </a:pPr>
            <a:endParaRPr lang="zh-CN" altLang="en-US" strike="noStrike" noProof="1" dirty="0">
              <a:effectLst>
                <a:outerShdw blurRad="38100" dist="38100" dir="2700000">
                  <a:srgbClr val="C0C0C0"/>
                </a:outerShdw>
              </a:effectLst>
              <a:latin typeface="Arial" panose="020B0604020202020204" pitchFamily="34" charset="0"/>
              <a:ea typeface="宋体" panose="02010600030101010101" pitchFamily="2" charset="-122"/>
            </a:endParaRPr>
          </a:p>
        </p:txBody>
      </p:sp>
      <p:sp>
        <p:nvSpPr>
          <p:cNvPr id="6149" name="Rectangle 2"/>
          <p:cNvSpPr txBox="1"/>
          <p:nvPr/>
        </p:nvSpPr>
        <p:spPr>
          <a:xfrm>
            <a:off x="617538" y="3244850"/>
            <a:ext cx="5689600" cy="576263"/>
          </a:xfrm>
          <a:prstGeom prst="rect">
            <a:avLst/>
          </a:prstGeom>
          <a:noFill/>
          <a:ln w="9525">
            <a:noFill/>
          </a:ln>
        </p:spPr>
        <p:txBody>
          <a:bodyPr anchor="t" anchorCtr="0"/>
          <a:p>
            <a:pPr marL="457200" indent="-457200" defTabSz="914400">
              <a:lnSpc>
                <a:spcPct val="135000"/>
              </a:lnSpc>
              <a:tabLst>
                <a:tab pos="1428750" algn="l"/>
              </a:tabLst>
            </a:pPr>
            <a:r>
              <a:rPr lang="en-US" altLang="zh-CN" sz="2800" dirty="0">
                <a:solidFill>
                  <a:srgbClr val="0033CC"/>
                </a:solidFill>
                <a:latin typeface="黑体" panose="02010609060101010101" pitchFamily="1" charset="-122"/>
                <a:ea typeface="黑体" panose="02010609060101010101" pitchFamily="1" charset="-122"/>
              </a:rPr>
              <a:t>5.</a:t>
            </a:r>
            <a:r>
              <a:rPr lang="zh-CN" altLang="en-US" sz="2800" dirty="0">
                <a:solidFill>
                  <a:srgbClr val="0033CC"/>
                </a:solidFill>
                <a:latin typeface="黑体" panose="02010609060101010101" pitchFamily="1" charset="-122"/>
                <a:ea typeface="黑体" panose="02010609060101010101" pitchFamily="1" charset="-122"/>
              </a:rPr>
              <a:t>简单易学</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6150" name="矩形 7"/>
          <p:cNvSpPr/>
          <p:nvPr/>
        </p:nvSpPr>
        <p:spPr>
          <a:xfrm>
            <a:off x="425450" y="3895090"/>
            <a:ext cx="8207375" cy="608013"/>
          </a:xfrm>
          <a:prstGeom prst="rect">
            <a:avLst/>
          </a:prstGeom>
          <a:noFill/>
          <a:ln w="9525">
            <a:noFill/>
          </a:ln>
        </p:spPr>
        <p:txBody>
          <a:bodyPr anchor="t" anchorCtr="0">
            <a:spAutoFit/>
          </a:bodyPr>
          <a:p>
            <a:pPr lvl="1" indent="0" eaLnBrk="1" hangingPunct="1">
              <a:lnSpc>
                <a:spcPct val="120000"/>
              </a:lnSpc>
            </a:pPr>
            <a:r>
              <a:rPr lang="en-US" altLang="zh-CN" sz="2800" dirty="0">
                <a:latin typeface="华文楷体" panose="02010600040101010101" pitchFamily="2" charset="-122"/>
                <a:ea typeface="宋体" panose="02010600030101010101" pitchFamily="2" charset="-122"/>
              </a:rPr>
              <a:t>--</a:t>
            </a:r>
            <a:r>
              <a:rPr lang="zh-CN" altLang="en-US" sz="2400" b="0" dirty="0">
                <a:latin typeface="楷体" panose="02010609060101010101" pitchFamily="1" charset="-122"/>
                <a:ea typeface="楷体" panose="02010609060101010101" pitchFamily="1" charset="-122"/>
              </a:rPr>
              <a:t>完成核心功能只用九个英语动词。语法结构接近英语。</a:t>
            </a:r>
            <a:endParaRPr lang="de-DE" altLang="en-US" sz="2400" b="0" dirty="0">
              <a:latin typeface="楷体" panose="02010609060101010101" pitchFamily="1" charset="-122"/>
              <a:ea typeface="楷体" panose="02010609060101010101" pitchFamily="1" charset="-122"/>
            </a:endParaRPr>
          </a:p>
        </p:txBody>
      </p:sp>
      <p:sp>
        <p:nvSpPr>
          <p:cNvPr id="7176" name="AutoShape 2"/>
          <p:cNvSpPr/>
          <p:nvPr/>
        </p:nvSpPr>
        <p:spPr>
          <a:xfrm>
            <a:off x="739775" y="3898900"/>
            <a:ext cx="7823200" cy="647065"/>
          </a:xfrm>
          <a:prstGeom prst="roundRect">
            <a:avLst>
              <a:gd name="adj" fmla="val 10375"/>
            </a:avLst>
          </a:prstGeom>
          <a:noFill/>
          <a:ln w="19050" cap="rnd" cmpd="sng">
            <a:solidFill>
              <a:schemeClr val="accent2"/>
            </a:solidFill>
            <a:prstDash val="sysDot"/>
            <a:headEnd type="none" w="med" len="med"/>
            <a:tailEnd type="none" w="med" len="med"/>
          </a:ln>
        </p:spPr>
        <p:txBody>
          <a:bodyPr wrap="none" anchor="ctr"/>
          <a:p>
            <a:pPr lvl="0" eaLnBrk="1" fontAlgn="base" hangingPunct="1">
              <a:lnSpc>
                <a:spcPct val="135000"/>
              </a:lnSpc>
              <a:buChar char="•"/>
            </a:pPr>
            <a:endParaRPr lang="zh-CN" altLang="en-US" strike="noStrike" noProof="1" dirty="0">
              <a:effectLst>
                <a:outerShdw blurRad="38100" dist="38100" dir="2700000">
                  <a:srgbClr val="C0C0C0"/>
                </a:outerShdw>
              </a:effectLst>
              <a:latin typeface="Arial" panose="020B0604020202020204" pitchFamily="34" charset="0"/>
              <a:ea typeface="宋体" panose="02010600030101010101" pitchFamily="2" charset="-122"/>
            </a:endParaRPr>
          </a:p>
        </p:txBody>
      </p:sp>
      <p:sp>
        <p:nvSpPr>
          <p:cNvPr id="3" name="矩形 7"/>
          <p:cNvSpPr/>
          <p:nvPr/>
        </p:nvSpPr>
        <p:spPr>
          <a:xfrm>
            <a:off x="739775" y="4780915"/>
            <a:ext cx="8102600" cy="1420495"/>
          </a:xfrm>
          <a:prstGeom prst="rect">
            <a:avLst/>
          </a:prstGeom>
          <a:solidFill>
            <a:schemeClr val="accent1"/>
          </a:solidFill>
          <a:ln w="9525">
            <a:noFill/>
          </a:ln>
        </p:spPr>
        <p:txBody>
          <a:bodyPr wrap="square" lIns="0" rIns="0" anchor="t" anchorCtr="0">
            <a:spAutoFit/>
          </a:bodyPr>
          <a:p>
            <a:pPr lvl="1" indent="0" eaLnBrk="1" hangingPunct="1">
              <a:lnSpc>
                <a:spcPct val="120000"/>
              </a:lnSpc>
            </a:pPr>
            <a:r>
              <a:rPr lang="zh-CN" altLang="en-US" sz="2400" b="0" dirty="0">
                <a:latin typeface="楷体" panose="02010609060101010101" pitchFamily="1" charset="-122"/>
                <a:ea typeface="楷体" panose="02010609060101010101" pitchFamily="1" charset="-122"/>
              </a:rPr>
              <a:t>思考：是否能结合自然语言处理技术实现</a:t>
            </a:r>
            <a:r>
              <a:rPr lang="en-US" altLang="zh-CN" sz="2400" b="0" dirty="0">
                <a:latin typeface="楷体" panose="02010609060101010101" pitchFamily="1" charset="-122"/>
                <a:ea typeface="楷体" panose="02010609060101010101" pitchFamily="1" charset="-122"/>
              </a:rPr>
              <a:t>SQL</a:t>
            </a:r>
            <a:r>
              <a:rPr lang="zh-CN" altLang="en-US" sz="2400" b="0" dirty="0">
                <a:latin typeface="楷体" panose="02010609060101010101" pitchFamily="1" charset="-122"/>
                <a:ea typeface="楷体" panose="02010609060101010101" pitchFamily="1" charset="-122"/>
              </a:rPr>
              <a:t>的自动转换？</a:t>
            </a:r>
            <a:endParaRPr lang="zh-CN" altLang="en-US" sz="2400" b="0" dirty="0">
              <a:latin typeface="楷体" panose="02010609060101010101" pitchFamily="1" charset="-122"/>
              <a:ea typeface="楷体" panose="02010609060101010101" pitchFamily="1" charset="-122"/>
            </a:endParaRPr>
          </a:p>
          <a:p>
            <a:pPr lvl="1" indent="0" eaLnBrk="1" hangingPunct="1">
              <a:lnSpc>
                <a:spcPct val="120000"/>
              </a:lnSpc>
            </a:pPr>
            <a:r>
              <a:rPr lang="en-US" altLang="zh-CN" sz="2400" b="0" dirty="0">
                <a:latin typeface="楷体" panose="02010609060101010101" pitchFamily="1" charset="-122"/>
                <a:ea typeface="楷体" panose="02010609060101010101" pitchFamily="1" charset="-122"/>
              </a:rPr>
              <a:t>      </a:t>
            </a:r>
            <a:r>
              <a:rPr lang="zh-CN" altLang="en-US" sz="2400" b="0" dirty="0">
                <a:latin typeface="楷体" panose="02010609060101010101" pitchFamily="1" charset="-122"/>
                <a:ea typeface="楷体" panose="02010609060101010101" pitchFamily="1" charset="-122"/>
              </a:rPr>
              <a:t>是否能结合</a:t>
            </a:r>
            <a:r>
              <a:rPr lang="en-US" altLang="zh-CN" sz="2400" b="0" dirty="0">
                <a:latin typeface="楷体" panose="02010609060101010101" pitchFamily="1" charset="-122"/>
                <a:ea typeface="楷体" panose="02010609060101010101" pitchFamily="1" charset="-122"/>
              </a:rPr>
              <a:t>GPT</a:t>
            </a:r>
            <a:r>
              <a:rPr lang="zh-CN" altLang="en-US" sz="2400" b="0" dirty="0">
                <a:latin typeface="楷体" panose="02010609060101010101" pitchFamily="1" charset="-122"/>
                <a:ea typeface="楷体" panose="02010609060101010101" pitchFamily="1" charset="-122"/>
              </a:rPr>
              <a:t>等大模型自动完成</a:t>
            </a:r>
            <a:r>
              <a:rPr lang="en-US" altLang="zh-CN" sz="2400" b="0" dirty="0">
                <a:latin typeface="楷体" panose="02010609060101010101" pitchFamily="1" charset="-122"/>
                <a:ea typeface="楷体" panose="02010609060101010101" pitchFamily="1" charset="-122"/>
                <a:sym typeface="+mn-ea"/>
              </a:rPr>
              <a:t>SQL</a:t>
            </a:r>
            <a:r>
              <a:rPr lang="zh-CN" altLang="en-US" sz="2400" b="0" dirty="0">
                <a:latin typeface="楷体" panose="02010609060101010101" pitchFamily="1" charset="-122"/>
                <a:ea typeface="楷体" panose="02010609060101010101" pitchFamily="1" charset="-122"/>
                <a:sym typeface="+mn-ea"/>
              </a:rPr>
              <a:t>的自动转换？</a:t>
            </a:r>
            <a:endParaRPr lang="zh-CN" altLang="en-US" sz="2400" b="0" dirty="0">
              <a:latin typeface="楷体" panose="02010609060101010101" pitchFamily="1" charset="-122"/>
              <a:ea typeface="楷体" panose="02010609060101010101" pitchFamily="1" charset="-122"/>
              <a:sym typeface="+mn-ea"/>
            </a:endParaRPr>
          </a:p>
          <a:p>
            <a:pPr lvl="1" indent="0" eaLnBrk="1" hangingPunct="1">
              <a:lnSpc>
                <a:spcPct val="120000"/>
              </a:lnSpc>
            </a:pPr>
            <a:r>
              <a:rPr lang="en-US" altLang="zh-CN" sz="2400" b="0" dirty="0">
                <a:latin typeface="楷体" panose="02010609060101010101" pitchFamily="1" charset="-122"/>
                <a:ea typeface="楷体" panose="02010609060101010101" pitchFamily="1" charset="-122"/>
              </a:rPr>
              <a:t>      </a:t>
            </a:r>
            <a:r>
              <a:rPr lang="zh-CN" altLang="en-US" sz="2400" b="0" dirty="0">
                <a:latin typeface="楷体" panose="02010609060101010101" pitchFamily="1" charset="-122"/>
                <a:ea typeface="楷体" panose="02010609060101010101" pitchFamily="1" charset="-122"/>
              </a:rPr>
              <a:t>如果可以对数据库架构师岗位有哪些</a:t>
            </a:r>
            <a:r>
              <a:rPr lang="zh-CN" altLang="en-US" sz="2400" b="0" dirty="0">
                <a:latin typeface="楷体" panose="02010609060101010101" pitchFamily="1" charset="-122"/>
                <a:ea typeface="楷体" panose="02010609060101010101" pitchFamily="1" charset="-122"/>
              </a:rPr>
              <a:t>挑战？</a:t>
            </a:r>
            <a:endParaRPr lang="zh-CN" altLang="en-US" sz="2400" b="0" dirty="0">
              <a:latin typeface="楷体" panose="02010609060101010101" pitchFamily="1" charset="-122"/>
              <a:ea typeface="楷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3" grpId="1"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9"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7170" name="矩形 2"/>
          <p:cNvSpPr/>
          <p:nvPr/>
        </p:nvSpPr>
        <p:spPr>
          <a:xfrm>
            <a:off x="558800" y="881063"/>
            <a:ext cx="3225800" cy="517525"/>
          </a:xfrm>
          <a:prstGeom prst="rect">
            <a:avLst/>
          </a:prstGeom>
          <a:noFill/>
          <a:ln w="9525">
            <a:noFill/>
          </a:ln>
        </p:spPr>
        <p:txBody>
          <a:bodyPr wrap="none" anchor="t" anchorCtr="0">
            <a:spAutoFit/>
          </a:bodyPr>
          <a:p>
            <a:r>
              <a:rPr lang="en-US" altLang="zh-CN" sz="2800" dirty="0">
                <a:solidFill>
                  <a:srgbClr val="0033CC"/>
                </a:solidFill>
                <a:latin typeface="黑体" panose="02010609060101010101" pitchFamily="1" charset="-122"/>
                <a:ea typeface="黑体" panose="02010609060101010101" pitchFamily="1" charset="-122"/>
              </a:rPr>
              <a:t>1.DDL</a:t>
            </a:r>
            <a:r>
              <a:rPr lang="zh-CN" altLang="en-US" sz="2800" dirty="0">
                <a:solidFill>
                  <a:srgbClr val="0033CC"/>
                </a:solidFill>
                <a:latin typeface="黑体" panose="02010609060101010101" pitchFamily="1" charset="-122"/>
                <a:ea typeface="黑体" panose="02010609060101010101" pitchFamily="1" charset="-122"/>
              </a:rPr>
              <a:t>的操作一览表</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7171" name="Rectangle 3"/>
          <p:cNvSpPr txBox="1"/>
          <p:nvPr/>
        </p:nvSpPr>
        <p:spPr>
          <a:xfrm>
            <a:off x="558800" y="1093788"/>
            <a:ext cx="5289550" cy="5018087"/>
          </a:xfrm>
          <a:prstGeom prst="rect">
            <a:avLst/>
          </a:prstGeom>
          <a:noFill/>
          <a:ln w="9525">
            <a:noFill/>
          </a:ln>
        </p:spPr>
        <p:txBody>
          <a:bodyPr anchor="t" anchorCtr="0"/>
          <a:p>
            <a:pPr marL="342900" indent="-342900">
              <a:spcBef>
                <a:spcPct val="20000"/>
              </a:spcBef>
              <a:buClr>
                <a:srgbClr val="0033CC"/>
              </a:buClr>
              <a:buSzPct val="80000"/>
            </a:pPr>
            <a:endParaRPr lang="en-US" altLang="zh-CN" sz="2000" dirty="0">
              <a:latin typeface="Arial" panose="020B0604020202020204" pitchFamily="34" charset="0"/>
              <a:ea typeface="宋体" panose="02010600030101010101" pitchFamily="2" charset="-122"/>
            </a:endParaRPr>
          </a:p>
          <a:p>
            <a:pPr marL="342900" indent="-342900">
              <a:lnSpc>
                <a:spcPct val="120000"/>
              </a:lnSpc>
              <a:spcBef>
                <a:spcPct val="20000"/>
              </a:spcBef>
              <a:buClr>
                <a:srgbClr val="0033CC"/>
              </a:buClr>
              <a:buSzPct val="80000"/>
              <a:buFont typeface="Wingdings" panose="05000000000000000000" pitchFamily="2" charset="2"/>
              <a:buChar char="u"/>
            </a:pPr>
            <a:r>
              <a:rPr lang="zh-CN" altLang="en-US" sz="2300" dirty="0">
                <a:latin typeface="Arial" panose="020B0604020202020204" pitchFamily="34" charset="0"/>
                <a:ea typeface="宋体" panose="02010600030101010101" pitchFamily="2" charset="-122"/>
              </a:rPr>
              <a:t>数据库（模式）的建立、删除、修改</a:t>
            </a:r>
            <a:endParaRPr lang="zh-CN" altLang="en-US" sz="2300" dirty="0">
              <a:latin typeface="Arial" panose="020B0604020202020204" pitchFamily="34" charset="0"/>
              <a:ea typeface="宋体" panose="02010600030101010101" pitchFamily="2" charset="-122"/>
            </a:endParaRPr>
          </a:p>
          <a:p>
            <a:pPr marL="342900" indent="-342900">
              <a:lnSpc>
                <a:spcPct val="120000"/>
              </a:lnSpc>
              <a:spcBef>
                <a:spcPct val="20000"/>
              </a:spcBef>
              <a:buClr>
                <a:srgbClr val="0033CC"/>
              </a:buClr>
              <a:buSzPct val="80000"/>
              <a:buFont typeface="Wingdings" panose="05000000000000000000" pitchFamily="2" charset="2"/>
              <a:buChar char="u"/>
            </a:pPr>
            <a:r>
              <a:rPr lang="zh-CN" altLang="en-US" sz="2300" dirty="0">
                <a:latin typeface="Arial" panose="020B0604020202020204" pitchFamily="34" charset="0"/>
                <a:ea typeface="宋体" panose="02010600030101010101" pitchFamily="2" charset="-122"/>
              </a:rPr>
              <a:t>数据库日志的建立、删除、修改</a:t>
            </a:r>
            <a:endParaRPr lang="zh-CN" altLang="en-US" sz="2300" dirty="0">
              <a:latin typeface="Arial" panose="020B0604020202020204" pitchFamily="34" charset="0"/>
              <a:ea typeface="宋体" panose="02010600030101010101" pitchFamily="2" charset="-122"/>
            </a:endParaRPr>
          </a:p>
          <a:p>
            <a:pPr marL="342900" indent="-342900">
              <a:lnSpc>
                <a:spcPct val="120000"/>
              </a:lnSpc>
              <a:spcBef>
                <a:spcPct val="20000"/>
              </a:spcBef>
              <a:buClr>
                <a:srgbClr val="0033CC"/>
              </a:buClr>
              <a:buSzPct val="80000"/>
              <a:buFont typeface="Wingdings" panose="05000000000000000000" pitchFamily="2" charset="2"/>
              <a:buChar char="u"/>
            </a:pPr>
            <a:r>
              <a:rPr lang="zh-CN" altLang="en-US" sz="2300" dirty="0">
                <a:latin typeface="Arial" panose="020B0604020202020204" pitchFamily="34" charset="0"/>
                <a:ea typeface="宋体" panose="02010600030101010101" pitchFamily="2" charset="-122"/>
              </a:rPr>
              <a:t>数据库表的建立、删除、修改</a:t>
            </a:r>
            <a:endParaRPr lang="zh-CN" altLang="en-US" sz="2300" dirty="0">
              <a:latin typeface="Arial" panose="020B0604020202020204" pitchFamily="34" charset="0"/>
              <a:ea typeface="宋体" panose="02010600030101010101" pitchFamily="2" charset="-122"/>
            </a:endParaRPr>
          </a:p>
          <a:p>
            <a:pPr marL="342900" indent="-342900">
              <a:lnSpc>
                <a:spcPct val="120000"/>
              </a:lnSpc>
              <a:spcBef>
                <a:spcPct val="20000"/>
              </a:spcBef>
              <a:buClr>
                <a:srgbClr val="0033CC"/>
              </a:buClr>
              <a:buSzPct val="80000"/>
              <a:buFont typeface="Wingdings" panose="05000000000000000000" pitchFamily="2" charset="2"/>
              <a:buChar char="u"/>
            </a:pPr>
            <a:r>
              <a:rPr lang="zh-CN" altLang="en-US" sz="2300" dirty="0">
                <a:latin typeface="Arial" panose="020B0604020202020204" pitchFamily="34" charset="0"/>
                <a:ea typeface="宋体" panose="02010600030101010101" pitchFamily="2" charset="-122"/>
              </a:rPr>
              <a:t>视图的建立、删除、修改</a:t>
            </a:r>
            <a:endParaRPr lang="zh-CN" altLang="en-US" sz="2300" dirty="0">
              <a:latin typeface="Arial" panose="020B0604020202020204" pitchFamily="34" charset="0"/>
              <a:ea typeface="宋体" panose="02010600030101010101" pitchFamily="2" charset="-122"/>
            </a:endParaRPr>
          </a:p>
          <a:p>
            <a:pPr marL="342900" indent="-342900">
              <a:lnSpc>
                <a:spcPct val="120000"/>
              </a:lnSpc>
              <a:spcBef>
                <a:spcPct val="20000"/>
              </a:spcBef>
              <a:buClr>
                <a:srgbClr val="0033CC"/>
              </a:buClr>
              <a:buSzPct val="80000"/>
              <a:buFont typeface="Wingdings" panose="05000000000000000000" pitchFamily="2" charset="2"/>
              <a:buChar char="u"/>
            </a:pPr>
            <a:r>
              <a:rPr lang="zh-CN" altLang="en-US" sz="2300" dirty="0">
                <a:latin typeface="Arial" panose="020B0604020202020204" pitchFamily="34" charset="0"/>
                <a:ea typeface="宋体" panose="02010600030101010101" pitchFamily="2" charset="-122"/>
              </a:rPr>
              <a:t>索引的建立、删除</a:t>
            </a:r>
            <a:endParaRPr lang="zh-CN" altLang="en-US" sz="2300" dirty="0">
              <a:latin typeface="Arial" panose="020B0604020202020204" pitchFamily="34" charset="0"/>
              <a:ea typeface="宋体" panose="02010600030101010101" pitchFamily="2" charset="-122"/>
            </a:endParaRPr>
          </a:p>
          <a:p>
            <a:pPr marL="342900" indent="-342900">
              <a:lnSpc>
                <a:spcPct val="120000"/>
              </a:lnSpc>
              <a:spcBef>
                <a:spcPct val="20000"/>
              </a:spcBef>
              <a:buClr>
                <a:srgbClr val="0033CC"/>
              </a:buClr>
              <a:buSzPct val="80000"/>
              <a:buFont typeface="Wingdings" panose="05000000000000000000" pitchFamily="2" charset="2"/>
              <a:buChar char="u"/>
            </a:pPr>
            <a:r>
              <a:rPr lang="zh-CN" altLang="zh-CN" sz="2300" dirty="0">
                <a:latin typeface="Arial" panose="020B0604020202020204" pitchFamily="34" charset="0"/>
                <a:ea typeface="宋体" panose="02010600030101010101" pitchFamily="2" charset="-122"/>
              </a:rPr>
              <a:t>规则的建立、删除</a:t>
            </a:r>
            <a:endParaRPr lang="zh-CN" altLang="zh-CN" sz="2300" dirty="0">
              <a:latin typeface="Arial" panose="020B0604020202020204" pitchFamily="34" charset="0"/>
              <a:ea typeface="宋体" panose="02010600030101010101" pitchFamily="2" charset="-122"/>
            </a:endParaRPr>
          </a:p>
          <a:p>
            <a:pPr marL="342900" indent="-342900">
              <a:lnSpc>
                <a:spcPct val="120000"/>
              </a:lnSpc>
              <a:spcBef>
                <a:spcPct val="20000"/>
              </a:spcBef>
              <a:buClr>
                <a:srgbClr val="0033CC"/>
              </a:buClr>
              <a:buSzPct val="80000"/>
              <a:buFont typeface="Wingdings" panose="05000000000000000000" pitchFamily="2" charset="2"/>
              <a:buChar char="u"/>
            </a:pPr>
            <a:r>
              <a:rPr lang="zh-CN" altLang="zh-CN" sz="2300" dirty="0">
                <a:latin typeface="Arial" panose="020B0604020202020204" pitchFamily="34" charset="0"/>
                <a:ea typeface="宋体" panose="02010600030101010101" pitchFamily="2" charset="-122"/>
              </a:rPr>
              <a:t>触发器的建立、修改、删除</a:t>
            </a:r>
            <a:endParaRPr lang="zh-CN" altLang="zh-CN" sz="2300" dirty="0">
              <a:latin typeface="Arial" panose="020B0604020202020204" pitchFamily="34" charset="0"/>
              <a:ea typeface="宋体" panose="02010600030101010101" pitchFamily="2" charset="-122"/>
            </a:endParaRPr>
          </a:p>
          <a:p>
            <a:pPr marL="342900" indent="-342900">
              <a:lnSpc>
                <a:spcPct val="120000"/>
              </a:lnSpc>
              <a:spcBef>
                <a:spcPct val="20000"/>
              </a:spcBef>
              <a:buClr>
                <a:srgbClr val="0033CC"/>
              </a:buClr>
              <a:buSzPct val="80000"/>
              <a:buFont typeface="Wingdings" panose="05000000000000000000" pitchFamily="2" charset="2"/>
              <a:buChar char="u"/>
            </a:pPr>
            <a:r>
              <a:rPr lang="zh-CN" altLang="zh-CN" sz="2300" dirty="0">
                <a:latin typeface="Arial" panose="020B0604020202020204" pitchFamily="34" charset="0"/>
                <a:ea typeface="宋体" panose="02010600030101010101" pitchFamily="2" charset="-122"/>
              </a:rPr>
              <a:t>默认值的建立、删除</a:t>
            </a:r>
            <a:endParaRPr lang="zh-CN" altLang="zh-CN" sz="2300" dirty="0">
              <a:latin typeface="Arial" panose="020B0604020202020204" pitchFamily="34" charset="0"/>
              <a:ea typeface="宋体" panose="02010600030101010101" pitchFamily="2" charset="-122"/>
            </a:endParaRPr>
          </a:p>
          <a:p>
            <a:pPr marL="342900" indent="-342900">
              <a:lnSpc>
                <a:spcPct val="120000"/>
              </a:lnSpc>
              <a:spcBef>
                <a:spcPct val="20000"/>
              </a:spcBef>
              <a:buClr>
                <a:srgbClr val="0033CC"/>
              </a:buClr>
              <a:buSzPct val="80000"/>
              <a:buFont typeface="Wingdings" panose="05000000000000000000" pitchFamily="2" charset="2"/>
              <a:buChar char="u"/>
            </a:pPr>
            <a:r>
              <a:rPr lang="zh-CN" altLang="zh-CN" sz="2300" dirty="0">
                <a:latin typeface="Arial" panose="020B0604020202020204" pitchFamily="34" charset="0"/>
                <a:ea typeface="宋体" panose="02010600030101010101" pitchFamily="2" charset="-122"/>
              </a:rPr>
              <a:t>函数</a:t>
            </a:r>
            <a:r>
              <a:rPr lang="en-US" altLang="zh-CN" sz="2300" dirty="0">
                <a:latin typeface="Arial" panose="020B0604020202020204" pitchFamily="34" charset="0"/>
                <a:ea typeface="宋体" panose="02010600030101010101" pitchFamily="2" charset="-122"/>
              </a:rPr>
              <a:t>Function</a:t>
            </a:r>
            <a:r>
              <a:rPr lang="zh-CN" altLang="zh-CN" sz="2300" dirty="0">
                <a:latin typeface="Arial" panose="020B0604020202020204" pitchFamily="34" charset="0"/>
                <a:ea typeface="宋体" panose="02010600030101010101" pitchFamily="2" charset="-122"/>
              </a:rPr>
              <a:t>的建立、修改和删除</a:t>
            </a:r>
            <a:endParaRPr lang="zh-CN" altLang="zh-CN" sz="2300" dirty="0">
              <a:latin typeface="Arial" panose="020B0604020202020204" pitchFamily="34" charset="0"/>
              <a:ea typeface="宋体" panose="02010600030101010101" pitchFamily="2" charset="-122"/>
            </a:endParaRPr>
          </a:p>
          <a:p>
            <a:pPr marL="342900" indent="-342900">
              <a:spcBef>
                <a:spcPct val="20000"/>
              </a:spcBef>
              <a:buClr>
                <a:srgbClr val="0033CC"/>
              </a:buClr>
              <a:buSzPct val="80000"/>
            </a:pPr>
            <a:endParaRPr lang="en-US" altLang="zh-CN" sz="2300" dirty="0">
              <a:latin typeface="Arial" panose="020B0604020202020204" pitchFamily="34" charset="0"/>
              <a:ea typeface="宋体" panose="02010600030101010101" pitchFamily="2" charset="-122"/>
            </a:endParaRPr>
          </a:p>
        </p:txBody>
      </p:sp>
      <p:grpSp>
        <p:nvGrpSpPr>
          <p:cNvPr id="7172" name="Group 4"/>
          <p:cNvGrpSpPr/>
          <p:nvPr/>
        </p:nvGrpSpPr>
        <p:grpSpPr>
          <a:xfrm>
            <a:off x="5229225" y="1389063"/>
            <a:ext cx="3309938" cy="3089275"/>
            <a:chOff x="0" y="0"/>
            <a:chExt cx="2722" cy="2631"/>
          </a:xfrm>
        </p:grpSpPr>
        <p:sp>
          <p:nvSpPr>
            <p:cNvPr id="7173" name="AutoShape 5"/>
            <p:cNvSpPr/>
            <p:nvPr/>
          </p:nvSpPr>
          <p:spPr>
            <a:xfrm>
              <a:off x="1497" y="1089"/>
              <a:ext cx="1225" cy="1542"/>
            </a:xfrm>
            <a:prstGeom prst="can">
              <a:avLst>
                <a:gd name="adj" fmla="val 31468"/>
              </a:avLst>
            </a:prstGeom>
            <a:solidFill>
              <a:srgbClr val="FCDAF3"/>
            </a:solidFill>
            <a:ln w="9525" cap="flat" cmpd="sng">
              <a:solidFill>
                <a:srgbClr val="003300"/>
              </a:solidFill>
              <a:prstDash val="solid"/>
              <a:round/>
              <a:headEnd type="none" w="med" len="med"/>
              <a:tailEnd type="none" w="med" len="med"/>
            </a:ln>
          </p:spPr>
          <p:txBody>
            <a:bodyPr wrap="none" anchor="ctr" anchorCtr="0"/>
            <a:p>
              <a:pPr algn="ctr">
                <a:lnSpc>
                  <a:spcPct val="135000"/>
                </a:lnSpc>
              </a:pPr>
              <a:endParaRPr lang="en-US" altLang="zh-CN" sz="2400" dirty="0">
                <a:latin typeface="宋体" panose="02010600030101010101" pitchFamily="2" charset="-122"/>
                <a:ea typeface="宋体" panose="02010600030101010101" pitchFamily="2" charset="-122"/>
              </a:endParaRPr>
            </a:p>
            <a:p>
              <a:pPr algn="ctr">
                <a:lnSpc>
                  <a:spcPct val="135000"/>
                </a:lnSpc>
              </a:pPr>
              <a:r>
                <a:rPr lang="zh-CN" altLang="en-US" sz="2400" dirty="0">
                  <a:latin typeface="宋体" panose="02010600030101010101" pitchFamily="2" charset="-122"/>
                  <a:ea typeface="宋体" panose="02010600030101010101" pitchFamily="2" charset="-122"/>
                </a:rPr>
                <a:t>数据库</a:t>
              </a:r>
              <a:endParaRPr lang="zh-CN" altLang="en-US" sz="2400" dirty="0">
                <a:latin typeface="宋体" panose="02010600030101010101" pitchFamily="2" charset="-122"/>
                <a:ea typeface="宋体" panose="02010600030101010101" pitchFamily="2" charset="-122"/>
              </a:endParaRPr>
            </a:p>
            <a:p>
              <a:pPr algn="ctr">
                <a:lnSpc>
                  <a:spcPct val="135000"/>
                </a:lnSpc>
                <a:buFont typeface="Arial" panose="020B0604020202020204" pitchFamily="34" charset="0"/>
                <a:buChar char="•"/>
              </a:pPr>
              <a:endParaRPr lang="zh-CN" altLang="en-US" sz="2400" dirty="0">
                <a:latin typeface="宋体" panose="02010600030101010101" pitchFamily="2" charset="-122"/>
                <a:ea typeface="宋体" panose="02010600030101010101" pitchFamily="2" charset="-122"/>
              </a:endParaRPr>
            </a:p>
            <a:p>
              <a:pPr algn="ctr">
                <a:lnSpc>
                  <a:spcPct val="135000"/>
                </a:lnSpc>
                <a:buFont typeface="Arial" panose="020B0604020202020204" pitchFamily="34" charset="0"/>
                <a:buChar char="•"/>
              </a:pPr>
              <a:endParaRPr lang="zh-CN" altLang="en-US" sz="2400" dirty="0">
                <a:latin typeface="宋体" panose="02010600030101010101" pitchFamily="2" charset="-122"/>
                <a:ea typeface="宋体" panose="02010600030101010101" pitchFamily="2" charset="-122"/>
              </a:endParaRPr>
            </a:p>
            <a:p>
              <a:pPr algn="ctr">
                <a:lnSpc>
                  <a:spcPct val="135000"/>
                </a:lnSpc>
                <a:buFont typeface="Arial" panose="020B0604020202020204" pitchFamily="34" charset="0"/>
                <a:buChar char="•"/>
              </a:pPr>
              <a:endParaRPr lang="en-US" altLang="zh-CN" sz="2400" dirty="0">
                <a:latin typeface="宋体" panose="02010600030101010101" pitchFamily="2" charset="-122"/>
                <a:ea typeface="宋体" panose="02010600030101010101" pitchFamily="2" charset="-122"/>
              </a:endParaRPr>
            </a:p>
          </p:txBody>
        </p:sp>
        <p:sp>
          <p:nvSpPr>
            <p:cNvPr id="7174" name="AutoShape 6"/>
            <p:cNvSpPr/>
            <p:nvPr/>
          </p:nvSpPr>
          <p:spPr>
            <a:xfrm>
              <a:off x="1678" y="1860"/>
              <a:ext cx="817" cy="635"/>
            </a:xfrm>
            <a:prstGeom prst="flowChartInternalStorage">
              <a:avLst/>
            </a:prstGeom>
            <a:solidFill>
              <a:srgbClr val="FF99CC"/>
            </a:solidFill>
            <a:ln w="9525" cap="flat" cmpd="sng">
              <a:solidFill>
                <a:srgbClr val="003300"/>
              </a:solidFill>
              <a:prstDash val="solid"/>
              <a:miter/>
              <a:headEnd type="none" w="med" len="med"/>
              <a:tailEnd type="none" w="med" len="med"/>
            </a:ln>
          </p:spPr>
          <p:txBody>
            <a:bodyPr wrap="none" anchor="ctr" anchorCtr="0"/>
            <a:p>
              <a:pPr algn="ctr">
                <a:lnSpc>
                  <a:spcPct val="135000"/>
                </a:lnSpc>
              </a:pPr>
              <a:r>
                <a:rPr lang="zh-CN" altLang="en-US" sz="2400" dirty="0">
                  <a:latin typeface="宋体" panose="02010600030101010101" pitchFamily="2" charset="-122"/>
                  <a:ea typeface="宋体" panose="02010600030101010101" pitchFamily="2" charset="-122"/>
                </a:rPr>
                <a:t>表</a:t>
              </a:r>
              <a:endParaRPr lang="zh-CN" altLang="en-US" sz="2400" dirty="0">
                <a:latin typeface="宋体" panose="02010600030101010101" pitchFamily="2" charset="-122"/>
                <a:ea typeface="宋体" panose="02010600030101010101" pitchFamily="2" charset="-122"/>
              </a:endParaRPr>
            </a:p>
          </p:txBody>
        </p:sp>
        <p:sp>
          <p:nvSpPr>
            <p:cNvPr id="7175" name="AutoShape 7"/>
            <p:cNvSpPr/>
            <p:nvPr/>
          </p:nvSpPr>
          <p:spPr>
            <a:xfrm>
              <a:off x="1678" y="0"/>
              <a:ext cx="816" cy="635"/>
            </a:xfrm>
            <a:prstGeom prst="bevel">
              <a:avLst>
                <a:gd name="adj" fmla="val 12500"/>
              </a:avLst>
            </a:prstGeom>
            <a:solidFill>
              <a:srgbClr val="99CCFF"/>
            </a:solidFill>
            <a:ln w="9525" cap="flat" cmpd="sng">
              <a:solidFill>
                <a:schemeClr val="tx1"/>
              </a:solidFill>
              <a:prstDash val="solid"/>
              <a:miter/>
              <a:headEnd type="none" w="med" len="med"/>
              <a:tailEnd type="none" w="med" len="med"/>
            </a:ln>
          </p:spPr>
          <p:txBody>
            <a:bodyPr wrap="none" anchor="ctr" anchorCtr="0"/>
            <a:p>
              <a:pPr algn="ctr">
                <a:lnSpc>
                  <a:spcPct val="135000"/>
                </a:lnSpc>
              </a:pPr>
              <a:r>
                <a:rPr lang="zh-CN" altLang="en-US" sz="2400" dirty="0">
                  <a:latin typeface="宋体" panose="02010600030101010101" pitchFamily="2" charset="-122"/>
                  <a:ea typeface="宋体" panose="02010600030101010101" pitchFamily="2" charset="-122"/>
                </a:rPr>
                <a:t>视图</a:t>
              </a:r>
              <a:endParaRPr lang="zh-CN" altLang="en-US" sz="2400" dirty="0">
                <a:latin typeface="宋体" panose="02010600030101010101" pitchFamily="2" charset="-122"/>
                <a:ea typeface="宋体" panose="02010600030101010101" pitchFamily="2" charset="-122"/>
              </a:endParaRPr>
            </a:p>
          </p:txBody>
        </p:sp>
        <p:sp>
          <p:nvSpPr>
            <p:cNvPr id="7176" name="AutoShape 8"/>
            <p:cNvSpPr/>
            <p:nvPr/>
          </p:nvSpPr>
          <p:spPr>
            <a:xfrm>
              <a:off x="0" y="1225"/>
              <a:ext cx="861" cy="726"/>
            </a:xfrm>
            <a:prstGeom prst="flowChartMultidocumen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a:lnSpc>
                  <a:spcPct val="135000"/>
                </a:lnSpc>
              </a:pPr>
              <a:r>
                <a:rPr lang="zh-CN" altLang="en-US" sz="2400" dirty="0">
                  <a:latin typeface="宋体" panose="02010600030101010101" pitchFamily="2" charset="-122"/>
                  <a:ea typeface="宋体" panose="02010600030101010101" pitchFamily="2" charset="-122"/>
                </a:rPr>
                <a:t>索引</a:t>
              </a:r>
              <a:endParaRPr lang="zh-CN" altLang="en-US" sz="2400" dirty="0">
                <a:latin typeface="宋体" panose="02010600030101010101" pitchFamily="2" charset="-122"/>
                <a:ea typeface="宋体" panose="02010600030101010101" pitchFamily="2" charset="-122"/>
              </a:endParaRPr>
            </a:p>
          </p:txBody>
        </p:sp>
        <p:sp>
          <p:nvSpPr>
            <p:cNvPr id="7177" name="AutoShape 9"/>
            <p:cNvSpPr/>
            <p:nvPr/>
          </p:nvSpPr>
          <p:spPr>
            <a:xfrm>
              <a:off x="2041" y="681"/>
              <a:ext cx="136" cy="590"/>
            </a:xfrm>
            <a:prstGeom prst="upArrow">
              <a:avLst>
                <a:gd name="adj1" fmla="val 50000"/>
                <a:gd name="adj2" fmla="val 108255"/>
              </a:avLst>
            </a:prstGeom>
            <a:solidFill>
              <a:schemeClr val="tx1"/>
            </a:solidFill>
            <a:ln w="9525" cap="flat" cmpd="sng">
              <a:solidFill>
                <a:schemeClr val="tx1"/>
              </a:solidFill>
              <a:prstDash val="solid"/>
              <a:miter/>
              <a:headEnd type="none" w="med" len="med"/>
              <a:tailEnd type="none" w="med" len="med"/>
            </a:ln>
          </p:spPr>
          <p:txBody>
            <a:bodyPr vert="eaVert" wrap="none" anchor="ctr" anchorCtr="0"/>
            <a:p>
              <a:pPr>
                <a:lnSpc>
                  <a:spcPct val="135000"/>
                </a:lnSpc>
                <a:buFont typeface="Arial" panose="020B0604020202020204" pitchFamily="34" charset="0"/>
                <a:buChar char="•"/>
              </a:pPr>
              <a:endParaRPr lang="zh-CN" altLang="en-US" dirty="0">
                <a:latin typeface="Arial" panose="020B0604020202020204" pitchFamily="34" charset="0"/>
                <a:ea typeface="宋体" panose="02010600030101010101" pitchFamily="2" charset="-122"/>
              </a:endParaRPr>
            </a:p>
          </p:txBody>
        </p:sp>
        <p:sp>
          <p:nvSpPr>
            <p:cNvPr id="7178" name="AutoShape 10"/>
            <p:cNvSpPr/>
            <p:nvPr/>
          </p:nvSpPr>
          <p:spPr>
            <a:xfrm>
              <a:off x="953" y="1588"/>
              <a:ext cx="408" cy="136"/>
            </a:xfrm>
            <a:prstGeom prst="leftArrow">
              <a:avLst>
                <a:gd name="adj1" fmla="val 50000"/>
                <a:gd name="adj2" fmla="val 75000"/>
              </a:avLst>
            </a:prstGeom>
            <a:solidFill>
              <a:schemeClr val="tx1"/>
            </a:solidFill>
            <a:ln w="9525" cap="flat" cmpd="sng">
              <a:solidFill>
                <a:schemeClr val="tx1"/>
              </a:solidFill>
              <a:prstDash val="solid"/>
              <a:miter/>
              <a:headEnd type="none" w="med" len="med"/>
              <a:tailEnd type="none" w="med" len="med"/>
            </a:ln>
          </p:spPr>
          <p:txBody>
            <a:bodyPr wrap="none" anchor="ctr" anchorCtr="0"/>
            <a:p>
              <a:pPr>
                <a:lnSpc>
                  <a:spcPct val="135000"/>
                </a:lnSpc>
                <a:buFont typeface="Arial" panose="020B0604020202020204" pitchFamily="34" charset="0"/>
                <a:buChar char="•"/>
              </a:pPr>
              <a:endParaRPr lang="zh-CN" altLang="en-US" dirty="0">
                <a:latin typeface="Arial" panose="020B0604020202020204" pitchFamily="34" charset="0"/>
                <a:ea typeface="宋体" panose="02010600030101010101" pitchFamily="2" charset="-122"/>
              </a:endParaRPr>
            </a:p>
          </p:txBody>
        </p:sp>
      </p:grpSp>
      <p:sp>
        <p:nvSpPr>
          <p:cNvPr id="7179" name="矩形 4"/>
          <p:cNvSpPr/>
          <p:nvPr/>
        </p:nvSpPr>
        <p:spPr>
          <a:xfrm>
            <a:off x="5718175" y="4683125"/>
            <a:ext cx="2968625" cy="1311275"/>
          </a:xfrm>
          <a:prstGeom prst="rect">
            <a:avLst/>
          </a:prstGeom>
          <a:solidFill>
            <a:schemeClr val="accent1"/>
          </a:solidFill>
          <a:ln w="9525">
            <a:noFill/>
          </a:ln>
        </p:spPr>
        <p:txBody>
          <a:bodyPr wrap="square" anchor="t" anchorCtr="0">
            <a:spAutoFit/>
          </a:bodyPr>
          <a:p>
            <a:r>
              <a:rPr lang="en-US" altLang="zh-CN" sz="2000" dirty="0">
                <a:latin typeface="楷体" panose="02010609060101010101" pitchFamily="1" charset="-122"/>
                <a:ea typeface="楷体" panose="02010609060101010101" pitchFamily="1" charset="-122"/>
              </a:rPr>
              <a:t>DDL</a:t>
            </a:r>
            <a:r>
              <a:rPr lang="zh-CN" altLang="en-US" sz="2000" dirty="0">
                <a:latin typeface="楷体" panose="02010609060101010101" pitchFamily="1" charset="-122"/>
                <a:ea typeface="楷体" panose="02010609060101010101" pitchFamily="1" charset="-122"/>
              </a:rPr>
              <a:t>使得数据库中的一些概念，如数据库、表、视图等不再是抽象的，而是能</a:t>
            </a:r>
            <a:r>
              <a:rPr lang="en-US" altLang="zh-CN" sz="2000" dirty="0">
                <a:latin typeface="楷体" panose="02010609060101010101" pitchFamily="1" charset="-122"/>
                <a:ea typeface="楷体" panose="02010609060101010101" pitchFamily="1" charset="-122"/>
              </a:rPr>
              <a:t>“</a:t>
            </a:r>
            <a:r>
              <a:rPr lang="zh-CN" altLang="en-US" sz="2000" dirty="0">
                <a:latin typeface="楷体" panose="02010609060101010101" pitchFamily="1" charset="-122"/>
                <a:ea typeface="楷体" panose="02010609060101010101" pitchFamily="1" charset="-122"/>
              </a:rPr>
              <a:t>触摸</a:t>
            </a:r>
            <a:r>
              <a:rPr lang="en-US" altLang="zh-CN" sz="2000" dirty="0">
                <a:latin typeface="楷体" panose="02010609060101010101" pitchFamily="1" charset="-122"/>
                <a:ea typeface="楷体" panose="02010609060101010101" pitchFamily="1" charset="-122"/>
              </a:rPr>
              <a:t>”</a:t>
            </a:r>
            <a:r>
              <a:rPr lang="zh-CN" altLang="en-US" sz="2000" dirty="0">
                <a:latin typeface="楷体" panose="02010609060101010101" pitchFamily="1" charset="-122"/>
                <a:ea typeface="楷体" panose="02010609060101010101" pitchFamily="1" charset="-122"/>
              </a:rPr>
              <a:t>的</a:t>
            </a:r>
            <a:endParaRPr lang="zh-CN" altLang="en-US" sz="2000" dirty="0">
              <a:latin typeface="楷体" panose="02010609060101010101" pitchFamily="1" charset="-122"/>
              <a:ea typeface="楷体" panose="02010609060101010101" pitchFamily="1" charset="-122"/>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3"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8194" name="矩形 3"/>
          <p:cNvSpPr/>
          <p:nvPr/>
        </p:nvSpPr>
        <p:spPr>
          <a:xfrm>
            <a:off x="601663" y="881063"/>
            <a:ext cx="4832350" cy="517525"/>
          </a:xfrm>
          <a:prstGeom prst="rect">
            <a:avLst/>
          </a:prstGeom>
          <a:noFill/>
          <a:ln w="9525">
            <a:noFill/>
          </a:ln>
        </p:spPr>
        <p:txBody>
          <a:bodyPr wrap="none" anchor="t" anchorCtr="0">
            <a:spAutoFit/>
          </a:bodyPr>
          <a:p>
            <a:r>
              <a:rPr lang="en-US" altLang="zh-CN" sz="2800" dirty="0">
                <a:solidFill>
                  <a:srgbClr val="0033CC"/>
                </a:solidFill>
                <a:latin typeface="黑体" panose="02010609060101010101" pitchFamily="1" charset="-122"/>
                <a:ea typeface="黑体" panose="02010609060101010101" pitchFamily="1" charset="-122"/>
              </a:rPr>
              <a:t>2.</a:t>
            </a:r>
            <a:r>
              <a:rPr lang="zh-CN" altLang="en-US" sz="2800" dirty="0">
                <a:solidFill>
                  <a:srgbClr val="0033CC"/>
                </a:solidFill>
                <a:latin typeface="黑体" panose="02010609060101010101" pitchFamily="1" charset="-122"/>
                <a:ea typeface="黑体" panose="02010609060101010101" pitchFamily="1" charset="-122"/>
              </a:rPr>
              <a:t>定义子语言的关键字及语法</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9220" name="Text Box 12"/>
          <p:cNvSpPr txBox="1"/>
          <p:nvPr/>
        </p:nvSpPr>
        <p:spPr>
          <a:xfrm>
            <a:off x="871538" y="1449388"/>
            <a:ext cx="2046287" cy="631825"/>
          </a:xfrm>
          <a:prstGeom prst="rect">
            <a:avLst/>
          </a:prstGeom>
          <a:noFill/>
          <a:ln w="9525">
            <a:noFill/>
          </a:ln>
        </p:spPr>
        <p:txBody>
          <a:bodyPr anchor="t" anchorCtr="0">
            <a:spAutoFit/>
          </a:bodyPr>
          <a:p>
            <a:pPr>
              <a:lnSpc>
                <a:spcPct val="135000"/>
              </a:lnSpc>
              <a:spcBef>
                <a:spcPct val="50000"/>
              </a:spcBef>
            </a:pPr>
            <a:r>
              <a:rPr lang="en-US" altLang="zh-CN" sz="2600" dirty="0">
                <a:solidFill>
                  <a:schemeClr val="accent2"/>
                </a:solidFill>
                <a:latin typeface="Arial" panose="020B0604020202020204" pitchFamily="34" charset="0"/>
                <a:ea typeface="方正姚体" panose="02010601030101010101" pitchFamily="2" charset="-122"/>
              </a:rPr>
              <a:t> </a:t>
            </a:r>
            <a:r>
              <a:rPr lang="en-US" altLang="zh-CN" sz="2400" b="0" dirty="0">
                <a:latin typeface="Arial" panose="020B0604020202020204" pitchFamily="34" charset="0"/>
                <a:ea typeface="楷体" panose="02010609060101010101" pitchFamily="1" charset="-122"/>
              </a:rPr>
              <a:t>(1) Create</a:t>
            </a:r>
            <a:endParaRPr lang="en-US" altLang="zh-CN" sz="2400" b="0" dirty="0">
              <a:latin typeface="Arial" panose="020B0604020202020204" pitchFamily="34" charset="0"/>
              <a:ea typeface="楷体" panose="02010609060101010101" pitchFamily="1" charset="-122"/>
            </a:endParaRPr>
          </a:p>
        </p:txBody>
      </p:sp>
      <p:sp>
        <p:nvSpPr>
          <p:cNvPr id="9221" name="Text Box 13"/>
          <p:cNvSpPr txBox="1"/>
          <p:nvPr/>
        </p:nvSpPr>
        <p:spPr>
          <a:xfrm>
            <a:off x="3005138" y="1473200"/>
            <a:ext cx="2046287" cy="590550"/>
          </a:xfrm>
          <a:prstGeom prst="rect">
            <a:avLst/>
          </a:prstGeom>
          <a:noFill/>
          <a:ln w="9525">
            <a:noFill/>
          </a:ln>
        </p:spPr>
        <p:txBody>
          <a:bodyPr anchor="t" anchorCtr="0">
            <a:spAutoFit/>
          </a:bodyPr>
          <a:p>
            <a:pPr>
              <a:lnSpc>
                <a:spcPct val="135000"/>
              </a:lnSpc>
              <a:spcBef>
                <a:spcPct val="50000"/>
              </a:spcBef>
            </a:pPr>
            <a:r>
              <a:rPr lang="en-US" altLang="zh-CN" sz="2400" b="0" dirty="0">
                <a:latin typeface="方正姚体" panose="02010601030101010101" pitchFamily="2" charset="-122"/>
                <a:ea typeface="方正姚体" panose="02010601030101010101" pitchFamily="2" charset="-122"/>
              </a:rPr>
              <a:t> </a:t>
            </a:r>
            <a:r>
              <a:rPr lang="en-US" altLang="zh-CN" sz="2400" b="0" dirty="0">
                <a:latin typeface="Arial" panose="020B0604020202020204" pitchFamily="34" charset="0"/>
                <a:ea typeface="方正姚体" panose="02010601030101010101" pitchFamily="2" charset="-122"/>
              </a:rPr>
              <a:t>(2) Drop</a:t>
            </a:r>
            <a:endParaRPr lang="en-US" altLang="zh-CN" sz="2400" b="0" dirty="0">
              <a:latin typeface="Arial" panose="020B0604020202020204" pitchFamily="34" charset="0"/>
              <a:ea typeface="方正姚体" panose="02010601030101010101" pitchFamily="2" charset="-122"/>
            </a:endParaRPr>
          </a:p>
        </p:txBody>
      </p:sp>
      <p:sp>
        <p:nvSpPr>
          <p:cNvPr id="9222" name="Text Box 14"/>
          <p:cNvSpPr txBox="1"/>
          <p:nvPr/>
        </p:nvSpPr>
        <p:spPr>
          <a:xfrm>
            <a:off x="4818063" y="1498600"/>
            <a:ext cx="1785937" cy="590550"/>
          </a:xfrm>
          <a:prstGeom prst="rect">
            <a:avLst/>
          </a:prstGeom>
          <a:noFill/>
          <a:ln w="9525">
            <a:noFill/>
          </a:ln>
        </p:spPr>
        <p:txBody>
          <a:bodyPr anchor="t" anchorCtr="0">
            <a:spAutoFit/>
          </a:bodyPr>
          <a:p>
            <a:pPr>
              <a:lnSpc>
                <a:spcPct val="135000"/>
              </a:lnSpc>
              <a:spcBef>
                <a:spcPct val="50000"/>
              </a:spcBef>
            </a:pPr>
            <a:r>
              <a:rPr lang="en-US" altLang="zh-CN" sz="2400" b="0" dirty="0">
                <a:latin typeface="Arial" panose="020B0604020202020204" pitchFamily="34" charset="0"/>
                <a:ea typeface="方正姚体" panose="02010601030101010101" pitchFamily="2" charset="-122"/>
              </a:rPr>
              <a:t> (3) Alter</a:t>
            </a:r>
            <a:endParaRPr lang="en-US" altLang="zh-CN" sz="2400" b="0" dirty="0">
              <a:latin typeface="Arial" panose="020B0604020202020204" pitchFamily="34" charset="0"/>
              <a:ea typeface="方正姚体" panose="02010601030101010101" pitchFamily="2" charset="-122"/>
            </a:endParaRPr>
          </a:p>
        </p:txBody>
      </p:sp>
      <p:sp>
        <p:nvSpPr>
          <p:cNvPr id="8198" name="矩形 7"/>
          <p:cNvSpPr/>
          <p:nvPr/>
        </p:nvSpPr>
        <p:spPr>
          <a:xfrm>
            <a:off x="674688" y="2805113"/>
            <a:ext cx="8020050" cy="3844925"/>
          </a:xfrm>
          <a:prstGeom prst="rect">
            <a:avLst/>
          </a:prstGeom>
          <a:noFill/>
          <a:ln w="9525">
            <a:noFill/>
          </a:ln>
        </p:spPr>
        <p:txBody>
          <a:bodyPr anchor="t" anchorCtr="0">
            <a:spAutoFit/>
          </a:bodyPr>
          <a:p>
            <a:pPr>
              <a:lnSpc>
                <a:spcPct val="110000"/>
              </a:lnSpc>
              <a:spcBef>
                <a:spcPts val="600"/>
              </a:spcBef>
            </a:pPr>
            <a:r>
              <a:rPr lang="en-US" altLang="zh-CN" sz="2200" dirty="0">
                <a:latin typeface="华文楷体" panose="02010600040101010101" pitchFamily="2" charset="-122"/>
                <a:ea typeface="宋体" panose="02010600030101010101" pitchFamily="2" charset="-122"/>
              </a:rPr>
              <a:t>--</a:t>
            </a:r>
            <a:r>
              <a:rPr lang="zh-CN" altLang="en-US" sz="2200" dirty="0">
                <a:latin typeface="楷体" panose="02010609060101010101" pitchFamily="1" charset="-122"/>
                <a:ea typeface="楷体" panose="02010609060101010101" pitchFamily="1" charset="-122"/>
              </a:rPr>
              <a:t>各个命令关键字后应紧跟所要定义的对象关键字，如数据库为</a:t>
            </a:r>
            <a:endParaRPr lang="en-US" altLang="zh-CN" sz="2200" dirty="0">
              <a:latin typeface="楷体" panose="02010609060101010101" pitchFamily="1" charset="-122"/>
              <a:ea typeface="楷体" panose="02010609060101010101" pitchFamily="1" charset="-122"/>
            </a:endParaRPr>
          </a:p>
          <a:p>
            <a:pPr>
              <a:lnSpc>
                <a:spcPct val="110000"/>
              </a:lnSpc>
            </a:pPr>
            <a:r>
              <a:rPr lang="zh-CN" altLang="en-US" sz="2200" dirty="0">
                <a:latin typeface="楷体" panose="02010609060101010101" pitchFamily="1" charset="-122"/>
                <a:ea typeface="楷体" panose="02010609060101010101" pitchFamily="1" charset="-122"/>
              </a:rPr>
              <a:t>   </a:t>
            </a:r>
            <a:r>
              <a:rPr lang="en-US" altLang="zh-CN" sz="2200" dirty="0">
                <a:latin typeface="楷体" panose="02010609060101010101" pitchFamily="1" charset="-122"/>
                <a:ea typeface="楷体" panose="02010609060101010101" pitchFamily="1" charset="-122"/>
              </a:rPr>
              <a:t>DATABASE</a:t>
            </a:r>
            <a:r>
              <a:rPr lang="zh-CN" altLang="en-US" sz="2200" dirty="0">
                <a:latin typeface="楷体" panose="02010609060101010101" pitchFamily="1" charset="-122"/>
                <a:ea typeface="楷体" panose="02010609060101010101" pitchFamily="1" charset="-122"/>
              </a:rPr>
              <a:t>、表为</a:t>
            </a:r>
            <a:r>
              <a:rPr lang="en-US" altLang="zh-CN" sz="2200" dirty="0">
                <a:latin typeface="楷体" panose="02010609060101010101" pitchFamily="1" charset="-122"/>
                <a:ea typeface="楷体" panose="02010609060101010101" pitchFamily="1" charset="-122"/>
              </a:rPr>
              <a:t>TABLE</a:t>
            </a:r>
            <a:r>
              <a:rPr lang="zh-CN" altLang="en-US" sz="2200" dirty="0">
                <a:latin typeface="楷体" panose="02010609060101010101" pitchFamily="1" charset="-122"/>
                <a:ea typeface="楷体" panose="02010609060101010101" pitchFamily="1" charset="-122"/>
              </a:rPr>
              <a:t>、视图为</a:t>
            </a:r>
            <a:r>
              <a:rPr lang="en-US" altLang="zh-CN" sz="2200" dirty="0">
                <a:latin typeface="楷体" panose="02010609060101010101" pitchFamily="1" charset="-122"/>
                <a:ea typeface="楷体" panose="02010609060101010101" pitchFamily="1" charset="-122"/>
              </a:rPr>
              <a:t>VIEW</a:t>
            </a:r>
            <a:r>
              <a:rPr lang="zh-CN" altLang="en-US" sz="2200" dirty="0">
                <a:latin typeface="楷体" panose="02010609060101010101" pitchFamily="1" charset="-122"/>
                <a:ea typeface="楷体" panose="02010609060101010101" pitchFamily="1" charset="-122"/>
              </a:rPr>
              <a:t>、索引为</a:t>
            </a:r>
            <a:r>
              <a:rPr lang="en-US" altLang="zh-CN" sz="2200" dirty="0">
                <a:latin typeface="楷体" panose="02010609060101010101" pitchFamily="1" charset="-122"/>
                <a:ea typeface="楷体" panose="02010609060101010101" pitchFamily="1" charset="-122"/>
              </a:rPr>
              <a:t>INDEX</a:t>
            </a:r>
            <a:r>
              <a:rPr lang="zh-CN" altLang="en-US" sz="2200" dirty="0">
                <a:latin typeface="楷体" panose="02010609060101010101" pitchFamily="1" charset="-122"/>
                <a:ea typeface="楷体" panose="02010609060101010101" pitchFamily="1" charset="-122"/>
              </a:rPr>
              <a:t>。如：</a:t>
            </a:r>
            <a:endParaRPr lang="zh-CN" altLang="en-US" sz="2200" dirty="0">
              <a:latin typeface="楷体" panose="02010609060101010101" pitchFamily="1" charset="-122"/>
              <a:ea typeface="楷体" panose="02010609060101010101" pitchFamily="1" charset="-122"/>
            </a:endParaRPr>
          </a:p>
          <a:p>
            <a:pPr>
              <a:lnSpc>
                <a:spcPct val="110000"/>
              </a:lnSpc>
              <a:spcBef>
                <a:spcPts val="600"/>
              </a:spcBef>
            </a:pPr>
            <a:r>
              <a:rPr lang="zh-CN" altLang="en-US" sz="2200" dirty="0">
                <a:latin typeface="楷体" panose="02010609060101010101" pitchFamily="1" charset="-122"/>
                <a:ea typeface="楷体" panose="02010609060101010101" pitchFamily="1" charset="-122"/>
              </a:rPr>
              <a:t>   </a:t>
            </a:r>
            <a:r>
              <a:rPr lang="en-US" altLang="zh-CN" sz="2200" dirty="0">
                <a:latin typeface="楷体" panose="02010609060101010101" pitchFamily="1" charset="-122"/>
                <a:ea typeface="楷体" panose="02010609060101010101" pitchFamily="1" charset="-122"/>
              </a:rPr>
              <a:t>CREATE </a:t>
            </a:r>
            <a:r>
              <a:rPr lang="zh-CN" altLang="en-US" sz="2200" dirty="0">
                <a:latin typeface="楷体" panose="02010609060101010101" pitchFamily="1" charset="-122"/>
                <a:ea typeface="楷体" panose="02010609060101010101" pitchFamily="1" charset="-122"/>
              </a:rPr>
              <a:t> </a:t>
            </a:r>
            <a:r>
              <a:rPr lang="en-US" altLang="zh-CN" sz="2200" dirty="0">
                <a:latin typeface="楷体" panose="02010609060101010101" pitchFamily="1" charset="-122"/>
                <a:ea typeface="楷体" panose="02010609060101010101" pitchFamily="1" charset="-122"/>
              </a:rPr>
              <a:t>DATABASE</a:t>
            </a:r>
            <a:r>
              <a:rPr lang="zh-CN" altLang="en-US" sz="2200" dirty="0">
                <a:latin typeface="楷体" panose="02010609060101010101" pitchFamily="1" charset="-122"/>
                <a:ea typeface="楷体" panose="02010609060101010101" pitchFamily="1" charset="-122"/>
              </a:rPr>
              <a:t>     </a:t>
            </a:r>
            <a:r>
              <a:rPr lang="en-US" altLang="zh-CN" sz="2200" dirty="0">
                <a:latin typeface="楷体" panose="02010609060101010101" pitchFamily="1" charset="-122"/>
                <a:ea typeface="楷体" panose="02010609060101010101" pitchFamily="1" charset="-122"/>
              </a:rPr>
              <a:t>DROP TABLE</a:t>
            </a:r>
            <a:r>
              <a:rPr lang="zh-CN" altLang="en-US" sz="2200" dirty="0">
                <a:latin typeface="楷体" panose="02010609060101010101" pitchFamily="1" charset="-122"/>
                <a:ea typeface="楷体" panose="02010609060101010101" pitchFamily="1" charset="-122"/>
              </a:rPr>
              <a:t>     </a:t>
            </a:r>
            <a:r>
              <a:rPr lang="en-US" altLang="zh-CN" sz="2200" dirty="0">
                <a:latin typeface="楷体" panose="02010609060101010101" pitchFamily="1" charset="-122"/>
                <a:ea typeface="楷体" panose="02010609060101010101" pitchFamily="1" charset="-122"/>
              </a:rPr>
              <a:t>ALTER DATABASE</a:t>
            </a:r>
            <a:endParaRPr lang="en-US" altLang="zh-CN" sz="2200" dirty="0">
              <a:latin typeface="楷体" panose="02010609060101010101" pitchFamily="1" charset="-122"/>
              <a:ea typeface="楷体" panose="02010609060101010101" pitchFamily="1" charset="-122"/>
            </a:endParaRPr>
          </a:p>
          <a:p>
            <a:pPr>
              <a:lnSpc>
                <a:spcPct val="110000"/>
              </a:lnSpc>
              <a:spcBef>
                <a:spcPts val="900"/>
              </a:spcBef>
            </a:pPr>
            <a:r>
              <a:rPr lang="en-US" altLang="zh-CN"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 </a:t>
            </a:r>
            <a:r>
              <a:rPr lang="en-US" altLang="zh-CN" sz="2200" dirty="0">
                <a:solidFill>
                  <a:srgbClr val="0033CC"/>
                </a:solidFill>
                <a:latin typeface="楷体" panose="02010609060101010101" pitchFamily="1" charset="-122"/>
                <a:ea typeface="楷体" panose="02010609060101010101" pitchFamily="1" charset="-122"/>
              </a:rPr>
              <a:t>SQL SERVER</a:t>
            </a:r>
            <a:r>
              <a:rPr lang="zh-CN" altLang="en-US" sz="2200" dirty="0">
                <a:solidFill>
                  <a:srgbClr val="0033CC"/>
                </a:solidFill>
                <a:latin typeface="楷体" panose="02010609060101010101" pitchFamily="1" charset="-122"/>
                <a:ea typeface="楷体" panose="02010609060101010101" pitchFamily="1" charset="-122"/>
              </a:rPr>
              <a:t>中可用这三个命令的数据库对象有：</a:t>
            </a:r>
            <a:r>
              <a:rPr lang="en-US" altLang="zh-CN" sz="2200" dirty="0">
                <a:solidFill>
                  <a:srgbClr val="0033CC"/>
                </a:solidFill>
                <a:latin typeface="楷体" panose="02010609060101010101" pitchFamily="1" charset="-122"/>
                <a:ea typeface="楷体" panose="02010609060101010101" pitchFamily="1" charset="-122"/>
              </a:rPr>
              <a:t>DATABASE</a:t>
            </a:r>
            <a:r>
              <a:rPr lang="zh-CN" altLang="en-US" sz="2200" dirty="0">
                <a:solidFill>
                  <a:srgbClr val="0033CC"/>
                </a:solidFill>
                <a:latin typeface="楷体" panose="02010609060101010101" pitchFamily="1" charset="-122"/>
                <a:ea typeface="楷体" panose="02010609060101010101" pitchFamily="1" charset="-122"/>
              </a:rPr>
              <a:t>、</a:t>
            </a:r>
            <a:endParaRPr lang="en-US" altLang="zh-CN" sz="2200" dirty="0">
              <a:solidFill>
                <a:srgbClr val="0033CC"/>
              </a:solidFill>
              <a:latin typeface="楷体" panose="02010609060101010101" pitchFamily="1" charset="-122"/>
              <a:ea typeface="楷体" panose="02010609060101010101" pitchFamily="1" charset="-122"/>
            </a:endParaRPr>
          </a:p>
          <a:p>
            <a:pPr>
              <a:lnSpc>
                <a:spcPct val="110000"/>
              </a:lnSpc>
            </a:pPr>
            <a:r>
              <a:rPr lang="zh-CN" altLang="en-US" sz="2200" dirty="0">
                <a:solidFill>
                  <a:srgbClr val="0033CC"/>
                </a:solidFill>
                <a:latin typeface="楷体" panose="02010609060101010101" pitchFamily="1" charset="-122"/>
                <a:ea typeface="楷体" panose="02010609060101010101" pitchFamily="1" charset="-122"/>
              </a:rPr>
              <a:t>   </a:t>
            </a:r>
            <a:r>
              <a:rPr lang="en-US" altLang="zh-CN" sz="2200" dirty="0">
                <a:solidFill>
                  <a:srgbClr val="0033CC"/>
                </a:solidFill>
                <a:latin typeface="楷体" panose="02010609060101010101" pitchFamily="1" charset="-122"/>
                <a:ea typeface="楷体" panose="02010609060101010101" pitchFamily="1" charset="-122"/>
              </a:rPr>
              <a:t>TABLE</a:t>
            </a:r>
            <a:r>
              <a:rPr lang="zh-CN" altLang="en-US" sz="2200" dirty="0">
                <a:solidFill>
                  <a:srgbClr val="0033CC"/>
                </a:solidFill>
                <a:latin typeface="楷体" panose="02010609060101010101" pitchFamily="1" charset="-122"/>
                <a:ea typeface="楷体" panose="02010609060101010101" pitchFamily="1" charset="-122"/>
              </a:rPr>
              <a:t>、</a:t>
            </a:r>
            <a:r>
              <a:rPr lang="en-US" altLang="zh-CN" sz="2200" dirty="0">
                <a:solidFill>
                  <a:srgbClr val="0033CC"/>
                </a:solidFill>
                <a:latin typeface="楷体" panose="02010609060101010101" pitchFamily="1" charset="-122"/>
                <a:ea typeface="楷体" panose="02010609060101010101" pitchFamily="1" charset="-122"/>
              </a:rPr>
              <a:t>VIEW</a:t>
            </a:r>
            <a:r>
              <a:rPr lang="zh-CN" altLang="en-US" sz="2200" dirty="0">
                <a:solidFill>
                  <a:srgbClr val="0033CC"/>
                </a:solidFill>
                <a:latin typeface="楷体" panose="02010609060101010101" pitchFamily="1" charset="-122"/>
                <a:ea typeface="楷体" panose="02010609060101010101" pitchFamily="1" charset="-122"/>
              </a:rPr>
              <a:t>、</a:t>
            </a:r>
            <a:r>
              <a:rPr lang="en-US" altLang="zh-CN" sz="2200" dirty="0">
                <a:solidFill>
                  <a:srgbClr val="0033CC"/>
                </a:solidFill>
                <a:latin typeface="楷体" panose="02010609060101010101" pitchFamily="1" charset="-122"/>
                <a:ea typeface="楷体" panose="02010609060101010101" pitchFamily="1" charset="-122"/>
              </a:rPr>
              <a:t>INDEX</a:t>
            </a:r>
            <a:r>
              <a:rPr lang="zh-CN" altLang="en-US" sz="2200" dirty="0">
                <a:solidFill>
                  <a:srgbClr val="0033CC"/>
                </a:solidFill>
                <a:latin typeface="楷体" panose="02010609060101010101" pitchFamily="1" charset="-122"/>
                <a:ea typeface="楷体" panose="02010609060101010101" pitchFamily="1" charset="-122"/>
              </a:rPr>
              <a:t>、</a:t>
            </a:r>
            <a:r>
              <a:rPr lang="en-US" altLang="zh-CN" sz="2200" dirty="0">
                <a:solidFill>
                  <a:srgbClr val="0033CC"/>
                </a:solidFill>
                <a:latin typeface="楷体" panose="02010609060101010101" pitchFamily="1" charset="-122"/>
                <a:ea typeface="楷体" panose="02010609060101010101" pitchFamily="1" charset="-122"/>
              </a:rPr>
              <a:t>TRIGGER</a:t>
            </a:r>
            <a:r>
              <a:rPr lang="zh-CN" altLang="en-US" sz="2200" dirty="0">
                <a:solidFill>
                  <a:srgbClr val="0033CC"/>
                </a:solidFill>
                <a:latin typeface="楷体" panose="02010609060101010101" pitchFamily="1" charset="-122"/>
                <a:ea typeface="楷体" panose="02010609060101010101" pitchFamily="1" charset="-122"/>
              </a:rPr>
              <a:t>、</a:t>
            </a:r>
            <a:r>
              <a:rPr lang="en-US" altLang="zh-CN" sz="2200" dirty="0">
                <a:solidFill>
                  <a:srgbClr val="0033CC"/>
                </a:solidFill>
                <a:latin typeface="楷体" panose="02010609060101010101" pitchFamily="1" charset="-122"/>
                <a:ea typeface="楷体" panose="02010609060101010101" pitchFamily="1" charset="-122"/>
              </a:rPr>
              <a:t>PROCEDURE</a:t>
            </a:r>
            <a:r>
              <a:rPr lang="zh-CN" altLang="en-US" sz="2200" dirty="0">
                <a:solidFill>
                  <a:srgbClr val="0033CC"/>
                </a:solidFill>
                <a:latin typeface="楷体" panose="02010609060101010101" pitchFamily="1" charset="-122"/>
                <a:ea typeface="楷体" panose="02010609060101010101" pitchFamily="1" charset="-122"/>
              </a:rPr>
              <a:t>、</a:t>
            </a:r>
            <a:r>
              <a:rPr lang="en-US" altLang="zh-CN" sz="2200" dirty="0">
                <a:solidFill>
                  <a:srgbClr val="0033CC"/>
                </a:solidFill>
                <a:latin typeface="楷体" panose="02010609060101010101" pitchFamily="1" charset="-122"/>
                <a:ea typeface="楷体" panose="02010609060101010101" pitchFamily="1" charset="-122"/>
              </a:rPr>
              <a:t>RULE</a:t>
            </a:r>
            <a:r>
              <a:rPr lang="zh-CN" altLang="en-US" sz="2200" dirty="0">
                <a:solidFill>
                  <a:srgbClr val="0033CC"/>
                </a:solidFill>
                <a:latin typeface="楷体" panose="02010609060101010101" pitchFamily="1" charset="-122"/>
                <a:ea typeface="楷体" panose="02010609060101010101" pitchFamily="1" charset="-122"/>
              </a:rPr>
              <a:t>、</a:t>
            </a:r>
            <a:endParaRPr lang="en-US" altLang="zh-CN" sz="2200" dirty="0">
              <a:solidFill>
                <a:srgbClr val="0033CC"/>
              </a:solidFill>
              <a:latin typeface="楷体" panose="02010609060101010101" pitchFamily="1" charset="-122"/>
              <a:ea typeface="楷体" panose="02010609060101010101" pitchFamily="1" charset="-122"/>
            </a:endParaRPr>
          </a:p>
          <a:p>
            <a:pPr>
              <a:lnSpc>
                <a:spcPct val="110000"/>
              </a:lnSpc>
            </a:pPr>
            <a:r>
              <a:rPr lang="zh-CN" altLang="en-US" sz="2200" dirty="0">
                <a:solidFill>
                  <a:srgbClr val="0033CC"/>
                </a:solidFill>
                <a:latin typeface="楷体" panose="02010609060101010101" pitchFamily="1" charset="-122"/>
                <a:ea typeface="楷体" panose="02010609060101010101" pitchFamily="1" charset="-122"/>
              </a:rPr>
              <a:t>   </a:t>
            </a:r>
            <a:r>
              <a:rPr lang="en-US" altLang="zh-CN" sz="2200" dirty="0">
                <a:solidFill>
                  <a:srgbClr val="0033CC"/>
                </a:solidFill>
                <a:latin typeface="楷体" panose="02010609060101010101" pitchFamily="1" charset="-122"/>
                <a:ea typeface="楷体" panose="02010609060101010101" pitchFamily="1" charset="-122"/>
              </a:rPr>
              <a:t>DEFAULT</a:t>
            </a:r>
            <a:r>
              <a:rPr lang="zh-CN" altLang="en-US" sz="2200" dirty="0">
                <a:solidFill>
                  <a:srgbClr val="0033CC"/>
                </a:solidFill>
                <a:latin typeface="楷体" panose="02010609060101010101" pitchFamily="1" charset="-122"/>
                <a:ea typeface="楷体" panose="02010609060101010101" pitchFamily="1" charset="-122"/>
              </a:rPr>
              <a:t>、</a:t>
            </a:r>
            <a:r>
              <a:rPr lang="en-US" altLang="zh-CN" sz="2200" dirty="0">
                <a:solidFill>
                  <a:srgbClr val="0033CC"/>
                </a:solidFill>
                <a:latin typeface="楷体" panose="02010609060101010101" pitchFamily="1" charset="-122"/>
                <a:ea typeface="楷体" panose="02010609060101010101" pitchFamily="1" charset="-122"/>
              </a:rPr>
              <a:t>FUNCTION</a:t>
            </a:r>
            <a:r>
              <a:rPr lang="zh-CN" altLang="en-US" sz="2200" dirty="0">
                <a:solidFill>
                  <a:srgbClr val="0033CC"/>
                </a:solidFill>
                <a:latin typeface="楷体" panose="02010609060101010101" pitchFamily="1" charset="-122"/>
                <a:ea typeface="楷体" panose="02010609060101010101" pitchFamily="1" charset="-122"/>
              </a:rPr>
              <a:t>。</a:t>
            </a:r>
            <a:endParaRPr lang="zh-CN" altLang="en-US" sz="2200" dirty="0">
              <a:solidFill>
                <a:srgbClr val="0033CC"/>
              </a:solidFill>
              <a:latin typeface="楷体" panose="02010609060101010101" pitchFamily="1" charset="-122"/>
              <a:ea typeface="楷体" panose="02010609060101010101" pitchFamily="1" charset="-122"/>
            </a:endParaRPr>
          </a:p>
          <a:p>
            <a:pPr>
              <a:lnSpc>
                <a:spcPct val="110000"/>
              </a:lnSpc>
              <a:spcBef>
                <a:spcPts val="900"/>
              </a:spcBef>
            </a:pPr>
            <a:r>
              <a:rPr lang="en-US" altLang="zh-CN" sz="2200" dirty="0">
                <a:latin typeface="楷体" panose="02010609060101010101" pitchFamily="1" charset="-122"/>
                <a:ea typeface="楷体" panose="02010609060101010101" pitchFamily="1" charset="-122"/>
              </a:rPr>
              <a:t>--</a:t>
            </a:r>
            <a:r>
              <a:rPr lang="en-US" altLang="zh-CN" sz="2200" dirty="0">
                <a:solidFill>
                  <a:srgbClr val="FF0000"/>
                </a:solidFill>
                <a:latin typeface="楷体" panose="02010609060101010101" pitchFamily="1" charset="-122"/>
                <a:ea typeface="楷体" panose="02010609060101010101" pitchFamily="1" charset="-122"/>
              </a:rPr>
              <a:t>SQL SERVER</a:t>
            </a:r>
            <a:r>
              <a:rPr lang="zh-CN" altLang="en-US" sz="2200" dirty="0">
                <a:solidFill>
                  <a:srgbClr val="FF0000"/>
                </a:solidFill>
                <a:latin typeface="楷体" panose="02010609060101010101" pitchFamily="1" charset="-122"/>
                <a:ea typeface="楷体" panose="02010609060101010101" pitchFamily="1" charset="-122"/>
              </a:rPr>
              <a:t>中，有几个数据库对象没有</a:t>
            </a:r>
            <a:r>
              <a:rPr lang="en-US" altLang="zh-CN" sz="2200" dirty="0">
                <a:solidFill>
                  <a:srgbClr val="FF0000"/>
                </a:solidFill>
                <a:latin typeface="楷体" panose="02010609060101010101" pitchFamily="1" charset="-122"/>
                <a:ea typeface="楷体" panose="02010609060101010101" pitchFamily="1" charset="-122"/>
              </a:rPr>
              <a:t>ALTER</a:t>
            </a:r>
            <a:r>
              <a:rPr lang="zh-CN" altLang="en-US" sz="2200" dirty="0">
                <a:solidFill>
                  <a:srgbClr val="FF0000"/>
                </a:solidFill>
                <a:latin typeface="楷体" panose="02010609060101010101" pitchFamily="1" charset="-122"/>
                <a:ea typeface="楷体" panose="02010609060101010101" pitchFamily="1" charset="-122"/>
              </a:rPr>
              <a:t>命令，如：</a:t>
            </a:r>
            <a:endParaRPr lang="en-US" altLang="zh-CN" sz="2200" dirty="0">
              <a:solidFill>
                <a:srgbClr val="FF0000"/>
              </a:solidFill>
              <a:latin typeface="楷体" panose="02010609060101010101" pitchFamily="1" charset="-122"/>
              <a:ea typeface="楷体" panose="02010609060101010101" pitchFamily="1" charset="-122"/>
            </a:endParaRPr>
          </a:p>
          <a:p>
            <a:pPr>
              <a:lnSpc>
                <a:spcPct val="110000"/>
              </a:lnSpc>
            </a:pPr>
            <a:r>
              <a:rPr lang="zh-CN" altLang="en-US" sz="2200" dirty="0">
                <a:solidFill>
                  <a:srgbClr val="FF0000"/>
                </a:solidFill>
                <a:latin typeface="楷体" panose="02010609060101010101" pitchFamily="1" charset="-122"/>
                <a:ea typeface="楷体" panose="02010609060101010101" pitchFamily="1" charset="-122"/>
              </a:rPr>
              <a:t>  </a:t>
            </a:r>
            <a:r>
              <a:rPr lang="en-US" altLang="zh-CN" sz="2200" dirty="0">
                <a:solidFill>
                  <a:srgbClr val="FF0000"/>
                </a:solidFill>
                <a:latin typeface="楷体" panose="02010609060101010101" pitchFamily="1" charset="-122"/>
                <a:ea typeface="楷体" panose="02010609060101010101" pitchFamily="1" charset="-122"/>
              </a:rPr>
              <a:t>INDEX</a:t>
            </a:r>
            <a:r>
              <a:rPr lang="zh-CN" altLang="en-US" sz="2200" dirty="0">
                <a:solidFill>
                  <a:srgbClr val="FF0000"/>
                </a:solidFill>
                <a:latin typeface="楷体" panose="02010609060101010101" pitchFamily="1" charset="-122"/>
                <a:ea typeface="楷体" panose="02010609060101010101" pitchFamily="1" charset="-122"/>
              </a:rPr>
              <a:t>、</a:t>
            </a:r>
            <a:r>
              <a:rPr lang="en-US" altLang="zh-CN" sz="2200" dirty="0">
                <a:solidFill>
                  <a:srgbClr val="FF0000"/>
                </a:solidFill>
                <a:latin typeface="楷体" panose="02010609060101010101" pitchFamily="1" charset="-122"/>
                <a:ea typeface="楷体" panose="02010609060101010101" pitchFamily="1" charset="-122"/>
              </a:rPr>
              <a:t>RULE</a:t>
            </a:r>
            <a:r>
              <a:rPr lang="zh-CN" altLang="en-US" sz="2200" dirty="0">
                <a:solidFill>
                  <a:srgbClr val="FF0000"/>
                </a:solidFill>
                <a:latin typeface="楷体" panose="02010609060101010101" pitchFamily="1" charset="-122"/>
                <a:ea typeface="楷体" panose="02010609060101010101" pitchFamily="1" charset="-122"/>
              </a:rPr>
              <a:t>、</a:t>
            </a:r>
            <a:r>
              <a:rPr lang="en-US" altLang="zh-CN" sz="2200" dirty="0">
                <a:solidFill>
                  <a:srgbClr val="FF0000"/>
                </a:solidFill>
                <a:latin typeface="楷体" panose="02010609060101010101" pitchFamily="1" charset="-122"/>
                <a:ea typeface="楷体" panose="02010609060101010101" pitchFamily="1" charset="-122"/>
              </a:rPr>
              <a:t>DEFAULT.</a:t>
            </a:r>
            <a:endParaRPr lang="zh-CN" altLang="en-US" sz="2200" dirty="0">
              <a:solidFill>
                <a:srgbClr val="FF0000"/>
              </a:solidFill>
              <a:latin typeface="楷体" panose="02010609060101010101" pitchFamily="1" charset="-122"/>
              <a:ea typeface="楷体" panose="02010609060101010101" pitchFamily="1" charset="-122"/>
            </a:endParaRPr>
          </a:p>
          <a:p>
            <a:pPr>
              <a:lnSpc>
                <a:spcPct val="90000"/>
              </a:lnSpc>
              <a:spcBef>
                <a:spcPct val="50000"/>
              </a:spcBef>
            </a:pPr>
            <a:endParaRPr lang="en-US" altLang="zh-CN" dirty="0">
              <a:latin typeface="华文楷体" panose="02010600040101010101" pitchFamily="2" charset="-122"/>
              <a:ea typeface="宋体" panose="02010600030101010101" pitchFamily="2" charset="-122"/>
            </a:endParaRPr>
          </a:p>
        </p:txBody>
      </p:sp>
      <p:sp>
        <p:nvSpPr>
          <p:cNvPr id="9224" name="AutoShape 2"/>
          <p:cNvSpPr/>
          <p:nvPr/>
        </p:nvSpPr>
        <p:spPr>
          <a:xfrm>
            <a:off x="609600" y="1431925"/>
            <a:ext cx="8170863" cy="687388"/>
          </a:xfrm>
          <a:prstGeom prst="roundRect">
            <a:avLst>
              <a:gd name="adj" fmla="val 10375"/>
            </a:avLst>
          </a:prstGeom>
          <a:noFill/>
          <a:ln w="19050" cap="rnd" cmpd="sng">
            <a:solidFill>
              <a:schemeClr val="accent2"/>
            </a:solidFill>
            <a:prstDash val="sysDot"/>
            <a:headEnd type="none" w="med" len="med"/>
            <a:tailEnd type="none" w="med" len="med"/>
          </a:ln>
        </p:spPr>
        <p:txBody>
          <a:bodyPr wrap="none" anchor="ctr"/>
          <a:p>
            <a:pPr lvl="0" eaLnBrk="1" fontAlgn="base" hangingPunct="1">
              <a:lnSpc>
                <a:spcPct val="135000"/>
              </a:lnSpc>
              <a:buChar char="•"/>
            </a:pPr>
            <a:endParaRPr lang="zh-CN" altLang="en-US" strike="noStrike" noProof="1" dirty="0">
              <a:effectLst>
                <a:outerShdw blurRad="38100" dist="38100" dir="2700000">
                  <a:srgbClr val="C0C0C0"/>
                </a:outerShdw>
              </a:effectLst>
              <a:latin typeface="Arial" panose="020B0604020202020204" pitchFamily="34" charset="0"/>
              <a:ea typeface="宋体" panose="02010600030101010101" pitchFamily="2" charset="-122"/>
            </a:endParaRPr>
          </a:p>
        </p:txBody>
      </p:sp>
      <p:sp>
        <p:nvSpPr>
          <p:cNvPr id="8200" name="矩形 9"/>
          <p:cNvSpPr/>
          <p:nvPr/>
        </p:nvSpPr>
        <p:spPr>
          <a:xfrm>
            <a:off x="619125" y="2271713"/>
            <a:ext cx="1414463" cy="423862"/>
          </a:xfrm>
          <a:prstGeom prst="rect">
            <a:avLst/>
          </a:prstGeom>
          <a:noFill/>
          <a:ln w="9525">
            <a:noFill/>
          </a:ln>
        </p:spPr>
        <p:txBody>
          <a:bodyPr wrap="none" anchor="t" anchorCtr="0">
            <a:spAutoFit/>
          </a:bodyPr>
          <a:p>
            <a:pPr>
              <a:lnSpc>
                <a:spcPct val="90000"/>
              </a:lnSpc>
              <a:buFont typeface="Wingdings" panose="05000000000000000000" pitchFamily="2" charset="2"/>
              <a:buChar char="p"/>
            </a:pPr>
            <a:r>
              <a:rPr lang="zh-CN" altLang="en-US" sz="2400" dirty="0">
                <a:solidFill>
                  <a:srgbClr val="0033CC"/>
                </a:solidFill>
                <a:latin typeface="华文楷体" panose="02010600040101010101" pitchFamily="2" charset="-122"/>
                <a:ea typeface="宋体" panose="02010600030101010101" pitchFamily="2" charset="-122"/>
              </a:rPr>
              <a:t>说明：</a:t>
            </a:r>
            <a:endParaRPr lang="zh-CN" altLang="en-US" sz="2400" dirty="0">
              <a:solidFill>
                <a:srgbClr val="0033CC"/>
              </a:solidFill>
              <a:latin typeface="华文楷体" panose="02010600040101010101" pitchFamily="2" charset="-122"/>
              <a:ea typeface="宋体" panose="02010600030101010101" pitchFamily="2" charset="-122"/>
            </a:endParaRPr>
          </a:p>
        </p:txBody>
      </p:sp>
      <p:sp>
        <p:nvSpPr>
          <p:cNvPr id="9226" name="AutoShape 2"/>
          <p:cNvSpPr/>
          <p:nvPr/>
        </p:nvSpPr>
        <p:spPr>
          <a:xfrm>
            <a:off x="581025" y="2701925"/>
            <a:ext cx="8229600" cy="3436938"/>
          </a:xfrm>
          <a:prstGeom prst="roundRect">
            <a:avLst>
              <a:gd name="adj" fmla="val 10375"/>
            </a:avLst>
          </a:prstGeom>
          <a:noFill/>
          <a:ln w="19050" cap="rnd" cmpd="sng">
            <a:solidFill>
              <a:schemeClr val="accent2"/>
            </a:solidFill>
            <a:prstDash val="sysDot"/>
            <a:headEnd type="none" w="med" len="med"/>
            <a:tailEnd type="none" w="med" len="med"/>
          </a:ln>
        </p:spPr>
        <p:txBody>
          <a:bodyPr wrap="none" anchor="ctr"/>
          <a:p>
            <a:pPr lvl="0" eaLnBrk="1" fontAlgn="base" hangingPunct="1">
              <a:lnSpc>
                <a:spcPct val="135000"/>
              </a:lnSpc>
              <a:buChar char="•"/>
            </a:pPr>
            <a:endParaRPr lang="zh-CN" altLang="en-US" strike="noStrike" noProof="1" dirty="0">
              <a:effectLst>
                <a:outerShdw blurRad="38100" dist="38100" dir="2700000">
                  <a:srgbClr val="C0C0C0"/>
                </a:outerShdw>
              </a:effectLst>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9220"/>
                                        </p:tgtEl>
                                        <p:attrNameLst>
                                          <p:attrName>style.visibility</p:attrName>
                                        </p:attrNameLst>
                                      </p:cBhvr>
                                      <p:to>
                                        <p:strVal val="visible"/>
                                      </p:to>
                                    </p:set>
                                    <p:animEffect transition="in" filter="box(in)">
                                      <p:cBhvr>
                                        <p:cTn id="7" dur="500"/>
                                        <p:tgtEl>
                                          <p:spTgt spid="9220"/>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9221"/>
                                        </p:tgtEl>
                                        <p:attrNameLst>
                                          <p:attrName>style.visibility</p:attrName>
                                        </p:attrNameLst>
                                      </p:cBhvr>
                                      <p:to>
                                        <p:strVal val="visible"/>
                                      </p:to>
                                    </p:set>
                                    <p:animEffect transition="in" filter="box(in)">
                                      <p:cBhvr>
                                        <p:cTn id="12" dur="500"/>
                                        <p:tgtEl>
                                          <p:spTgt spid="9221"/>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9222"/>
                                        </p:tgtEl>
                                        <p:attrNameLst>
                                          <p:attrName>style.visibility</p:attrName>
                                        </p:attrNameLst>
                                      </p:cBhvr>
                                      <p:to>
                                        <p:strVal val="visible"/>
                                      </p:to>
                                    </p:set>
                                    <p:animEffect transition="in" filter="box(in)">
                                      <p:cBhvr>
                                        <p:cTn id="17" dur="500"/>
                                        <p:tgtEl>
                                          <p:spTgt spid="92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0" grpId="0"/>
      <p:bldP spid="9221" grpId="0"/>
      <p:bldP spid="922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7" name="Rectangle 3"/>
          <p:cNvSpPr txBox="1"/>
          <p:nvPr/>
        </p:nvSpPr>
        <p:spPr>
          <a:xfrm>
            <a:off x="501650" y="1517650"/>
            <a:ext cx="8191500" cy="2182813"/>
          </a:xfrm>
          <a:prstGeom prst="rect">
            <a:avLst/>
          </a:prstGeom>
          <a:solidFill>
            <a:schemeClr val="bg1"/>
          </a:solidFill>
          <a:ln w="9525">
            <a:noFill/>
          </a:ln>
        </p:spPr>
        <p:txBody>
          <a:bodyPr anchor="t"/>
          <a:p>
            <a:pPr marL="522605" lvl="1" indent="-342900" eaLnBrk="1" fontAlgn="base" hangingPunct="1">
              <a:lnSpc>
                <a:spcPct val="110000"/>
              </a:lnSpc>
              <a:spcBef>
                <a:spcPts val="200"/>
              </a:spcBef>
              <a:buClr>
                <a:srgbClr val="C00000"/>
              </a:buClr>
              <a:buFont typeface="Wingdings" panose="05000000000000000000" charset="0"/>
              <a:buChar char=""/>
            </a:pPr>
            <a:r>
              <a:rPr lang="zh-CN" altLang="en-US" sz="2200" u="sng" strike="noStrike" noProof="1" dirty="0">
                <a:solidFill>
                  <a:srgbClr val="FF0000"/>
                </a:solidFill>
                <a:latin typeface="华文中宋" panose="02010600040101010101" charset="-122"/>
                <a:ea typeface="华文中宋" panose="02010600040101010101" charset="-122"/>
                <a:cs typeface="+mn-cs"/>
              </a:rPr>
              <a:t>默认值实例：</a:t>
            </a:r>
            <a:r>
              <a:rPr lang="zh-CN" altLang="en-US" sz="2200" b="0" strike="noStrike" noProof="1" dirty="0">
                <a:latin typeface="楷体" panose="02010609060101010101" pitchFamily="1" charset="-122"/>
                <a:ea typeface="楷体" panose="02010609060101010101" pitchFamily="1" charset="-122"/>
                <a:cs typeface="+mn-cs"/>
              </a:rPr>
              <a:t>设定一个“全局”缺省值，可多次赋值（绑定）</a:t>
            </a:r>
            <a:endParaRPr lang="zh-CN" altLang="en-US" sz="2200" b="0" strike="noStrike" noProof="1" dirty="0">
              <a:latin typeface="楷体" panose="02010609060101010101" pitchFamily="1" charset="-122"/>
              <a:ea typeface="楷体" panose="02010609060101010101" pitchFamily="1" charset="-122"/>
            </a:endParaRPr>
          </a:p>
          <a:p>
            <a:pPr>
              <a:lnSpc>
                <a:spcPct val="110000"/>
              </a:lnSpc>
              <a:spcBef>
                <a:spcPts val="200"/>
              </a:spcBef>
              <a:buClr>
                <a:srgbClr val="0033CC"/>
              </a:buClr>
              <a:buSzPct val="80000"/>
            </a:pPr>
            <a:r>
              <a:rPr lang="zh-CN" altLang="zh-CN" sz="2200" noProof="1" dirty="0">
                <a:latin typeface="华文楷体" panose="02010600040101010101" pitchFamily="2" charset="-122"/>
                <a:ea typeface="宋体" panose="02010600030101010101" pitchFamily="2" charset="-122"/>
                <a:cs typeface="+mn-cs"/>
              </a:rPr>
              <a:t>       CREATE  DEFAULT  dft_term  AS  '1'</a:t>
            </a:r>
            <a:endParaRPr lang="zh-CN" altLang="zh-CN" sz="2200" noProof="1" dirty="0">
              <a:latin typeface="华文楷体" panose="02010600040101010101" pitchFamily="2" charset="-122"/>
              <a:ea typeface="宋体" panose="02010600030101010101" pitchFamily="2" charset="-122"/>
            </a:endParaRPr>
          </a:p>
          <a:p>
            <a:pPr>
              <a:lnSpc>
                <a:spcPct val="110000"/>
              </a:lnSpc>
              <a:spcBef>
                <a:spcPts val="200"/>
              </a:spcBef>
              <a:buClr>
                <a:srgbClr val="0033CC"/>
              </a:buClr>
              <a:buSzPct val="80000"/>
            </a:pPr>
            <a:r>
              <a:rPr lang="zh-CN" altLang="zh-CN" sz="2200" noProof="1" dirty="0">
                <a:latin typeface="华文楷体" panose="02010600040101010101" pitchFamily="2" charset="-122"/>
                <a:ea typeface="宋体" panose="02010600030101010101" pitchFamily="2" charset="-122"/>
                <a:cs typeface="+mn-cs"/>
              </a:rPr>
              <a:t>        sp_bindefault  dft_term,'ctake.term'</a:t>
            </a:r>
            <a:endParaRPr lang="zh-CN" altLang="zh-CN" sz="2200" noProof="1" dirty="0">
              <a:latin typeface="华文楷体" panose="02010600040101010101" pitchFamily="2" charset="-122"/>
              <a:ea typeface="宋体" panose="02010600030101010101" pitchFamily="2" charset="-122"/>
            </a:endParaRPr>
          </a:p>
          <a:p>
            <a:pPr>
              <a:lnSpc>
                <a:spcPct val="110000"/>
              </a:lnSpc>
              <a:spcBef>
                <a:spcPts val="200"/>
              </a:spcBef>
              <a:buClr>
                <a:srgbClr val="0033CC"/>
              </a:buClr>
              <a:buSzPct val="80000"/>
            </a:pPr>
            <a:r>
              <a:rPr lang="zh-CN" altLang="zh-CN" sz="2200" noProof="1" dirty="0">
                <a:latin typeface="华文楷体" panose="02010600040101010101" pitchFamily="2" charset="-122"/>
                <a:ea typeface="宋体" panose="02010600030101010101" pitchFamily="2" charset="-122"/>
                <a:cs typeface="+mn-cs"/>
                <a:sym typeface="+mn-ea"/>
              </a:rPr>
              <a:t>        sp_unbindefault  'ctake.term'</a:t>
            </a:r>
            <a:endParaRPr lang="zh-CN" altLang="zh-CN" sz="2200" noProof="1" dirty="0">
              <a:latin typeface="华文楷体" panose="02010600040101010101" pitchFamily="2" charset="-122"/>
              <a:sym typeface="+mn-ea"/>
            </a:endParaRPr>
          </a:p>
          <a:p>
            <a:pPr>
              <a:lnSpc>
                <a:spcPct val="110000"/>
              </a:lnSpc>
              <a:spcBef>
                <a:spcPts val="200"/>
              </a:spcBef>
              <a:buClr>
                <a:srgbClr val="0033CC"/>
              </a:buClr>
              <a:buSzPct val="80000"/>
            </a:pPr>
            <a:r>
              <a:rPr lang="zh-CN" altLang="zh-CN" sz="2200" noProof="1" dirty="0">
                <a:latin typeface="华文楷体" panose="02010600040101010101" pitchFamily="2" charset="-122"/>
                <a:ea typeface="宋体" panose="02010600030101010101" pitchFamily="2" charset="-122"/>
                <a:cs typeface="+mn-cs"/>
                <a:sym typeface="+mn-ea"/>
              </a:rPr>
              <a:t>        DROP  DEFAULT  dft_term</a:t>
            </a:r>
            <a:endParaRPr lang="zh-CN" altLang="zh-CN" sz="2200" noProof="1" dirty="0">
              <a:latin typeface="华文楷体" panose="02010600040101010101" pitchFamily="2" charset="-122"/>
              <a:ea typeface="宋体" panose="02010600030101010101" pitchFamily="2" charset="-122"/>
            </a:endParaRPr>
          </a:p>
          <a:p>
            <a:pPr>
              <a:lnSpc>
                <a:spcPct val="110000"/>
              </a:lnSpc>
              <a:spcBef>
                <a:spcPts val="200"/>
              </a:spcBef>
              <a:buClr>
                <a:srgbClr val="0033CC"/>
              </a:buClr>
              <a:buSzPct val="80000"/>
            </a:pPr>
            <a:endParaRPr lang="zh-CN" altLang="zh-CN" sz="2200" noProof="1" dirty="0">
              <a:latin typeface="华文楷体" panose="02010600040101010101" pitchFamily="2" charset="-122"/>
              <a:ea typeface="宋体" panose="02010600030101010101" pitchFamily="2" charset="-122"/>
            </a:endParaRPr>
          </a:p>
          <a:p>
            <a:pPr marL="179705" lvl="1" indent="0" eaLnBrk="1" fontAlgn="base" hangingPunct="1">
              <a:lnSpc>
                <a:spcPct val="110000"/>
              </a:lnSpc>
              <a:spcBef>
                <a:spcPts val="200"/>
              </a:spcBef>
              <a:buClr>
                <a:schemeClr val="accent2"/>
              </a:buClr>
              <a:buSzPct val="70000"/>
            </a:pPr>
            <a:endParaRPr lang="zh-CN" altLang="en-US" sz="2200" b="0" strike="noStrike" noProof="1" dirty="0">
              <a:latin typeface="楷体" panose="02010609060101010101" pitchFamily="1" charset="-122"/>
              <a:ea typeface="楷体" panose="02010609060101010101" pitchFamily="1" charset="-122"/>
            </a:endParaRPr>
          </a:p>
        </p:txBody>
      </p:sp>
      <p:sp>
        <p:nvSpPr>
          <p:cNvPr id="9218"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9219" name="矩形 3"/>
          <p:cNvSpPr/>
          <p:nvPr/>
        </p:nvSpPr>
        <p:spPr>
          <a:xfrm>
            <a:off x="601663" y="881063"/>
            <a:ext cx="4832350" cy="517525"/>
          </a:xfrm>
          <a:prstGeom prst="rect">
            <a:avLst/>
          </a:prstGeom>
          <a:noFill/>
          <a:ln w="9525">
            <a:noFill/>
          </a:ln>
        </p:spPr>
        <p:txBody>
          <a:bodyPr wrap="none" anchor="t" anchorCtr="0">
            <a:spAutoFit/>
          </a:bodyPr>
          <a:p>
            <a:r>
              <a:rPr lang="en-US" altLang="zh-CN" sz="2800" dirty="0">
                <a:solidFill>
                  <a:srgbClr val="0033CC"/>
                </a:solidFill>
                <a:latin typeface="黑体" panose="02010609060101010101" pitchFamily="1" charset="-122"/>
                <a:ea typeface="黑体" panose="02010609060101010101" pitchFamily="1" charset="-122"/>
              </a:rPr>
              <a:t>2.</a:t>
            </a:r>
            <a:r>
              <a:rPr lang="zh-CN" altLang="en-US" sz="2800" dirty="0">
                <a:solidFill>
                  <a:srgbClr val="0033CC"/>
                </a:solidFill>
                <a:latin typeface="黑体" panose="02010609060101010101" pitchFamily="1" charset="-122"/>
                <a:ea typeface="黑体" panose="02010609060101010101" pitchFamily="1" charset="-122"/>
              </a:rPr>
              <a:t>定义子语言的关键字及语法</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2" name="文本框 1"/>
          <p:cNvSpPr txBox="1"/>
          <p:nvPr/>
        </p:nvSpPr>
        <p:spPr>
          <a:xfrm>
            <a:off x="539750" y="3860800"/>
            <a:ext cx="8185150" cy="2087563"/>
          </a:xfrm>
          <a:prstGeom prst="rect">
            <a:avLst/>
          </a:prstGeom>
          <a:solidFill>
            <a:schemeClr val="bg1"/>
          </a:solidFill>
        </p:spPr>
        <p:txBody>
          <a:bodyPr wrap="square" rtlCol="0" anchor="t">
            <a:spAutoFit/>
          </a:bodyPr>
          <a:p>
            <a:pPr marL="363855" indent="-363855">
              <a:lnSpc>
                <a:spcPct val="120000"/>
              </a:lnSpc>
              <a:spcBef>
                <a:spcPct val="20000"/>
              </a:spcBef>
              <a:buClr>
                <a:srgbClr val="C00000"/>
              </a:buClr>
              <a:buFont typeface="Wingdings" panose="05000000000000000000" charset="0"/>
              <a:buChar char=""/>
            </a:pPr>
            <a:r>
              <a:rPr lang="zh-CN" altLang="en-US" sz="2200" u="sng" noProof="1" dirty="0">
                <a:solidFill>
                  <a:srgbClr val="FF0000"/>
                </a:solidFill>
                <a:latin typeface="华文中宋" panose="02010600040101010101" charset="-122"/>
                <a:ea typeface="华文中宋" panose="02010600040101010101" charset="-122"/>
                <a:cs typeface="+mn-cs"/>
                <a:sym typeface="+mn-ea"/>
              </a:rPr>
              <a:t>规则实例：</a:t>
            </a:r>
            <a:r>
              <a:rPr lang="zh-CN" altLang="en-US" sz="2200" b="0" noProof="1" dirty="0">
                <a:latin typeface="楷体" panose="02010609060101010101" pitchFamily="1" charset="-122"/>
                <a:ea typeface="楷体" panose="02010609060101010101" pitchFamily="1" charset="-122"/>
                <a:cs typeface="+mn-cs"/>
                <a:sym typeface="+mn-ea"/>
              </a:rPr>
              <a:t>设定一个规则，可以将规则绑定到列</a:t>
            </a:r>
            <a:endParaRPr lang="zh-CN" altLang="en-US" sz="2200" u="sng" noProof="1" dirty="0">
              <a:solidFill>
                <a:srgbClr val="FF0000"/>
              </a:solidFill>
              <a:latin typeface="华文中宋" panose="02010600040101010101" charset="-122"/>
              <a:ea typeface="华文中宋" panose="02010600040101010101" charset="-122"/>
              <a:sym typeface="+mn-ea"/>
            </a:endParaRPr>
          </a:p>
          <a:p>
            <a:pPr>
              <a:lnSpc>
                <a:spcPct val="110000"/>
              </a:lnSpc>
              <a:spcBef>
                <a:spcPts val="200"/>
              </a:spcBef>
              <a:buClr>
                <a:srgbClr val="0033CC"/>
              </a:buClr>
              <a:buSzPct val="80000"/>
            </a:pPr>
            <a:r>
              <a:rPr lang="en-US" altLang="x-none" noProof="1" dirty="0">
                <a:latin typeface="华文楷体" panose="02010600040101010101" pitchFamily="2" charset="-122"/>
                <a:ea typeface="宋体" panose="02010600030101010101" pitchFamily="2" charset="-122"/>
                <a:cs typeface="+mn-cs"/>
                <a:sym typeface="+mn-ea"/>
              </a:rPr>
              <a:t>        </a:t>
            </a:r>
            <a:r>
              <a:rPr lang="zh-CN" altLang="zh-CN" sz="2200" noProof="1" dirty="0">
                <a:latin typeface="华文楷体" panose="02010600040101010101" pitchFamily="2" charset="-122"/>
                <a:ea typeface="宋体" panose="02010600030101010101" pitchFamily="2" charset="-122"/>
                <a:cs typeface="+mn-cs"/>
                <a:sym typeface="+mn-ea"/>
              </a:rPr>
              <a:t>CREATE  RULE  mark_rule  AS @mark between 0 and 100</a:t>
            </a:r>
            <a:endParaRPr lang="zh-CN" altLang="zh-CN" sz="2200" noProof="1" dirty="0">
              <a:latin typeface="华文楷体" panose="02010600040101010101" pitchFamily="2" charset="-122"/>
              <a:sym typeface="+mn-ea"/>
            </a:endParaRPr>
          </a:p>
          <a:p>
            <a:pPr>
              <a:lnSpc>
                <a:spcPct val="110000"/>
              </a:lnSpc>
              <a:spcBef>
                <a:spcPts val="200"/>
              </a:spcBef>
              <a:buClr>
                <a:srgbClr val="0033CC"/>
              </a:buClr>
              <a:buSzPct val="80000"/>
            </a:pPr>
            <a:r>
              <a:rPr lang="zh-CN" altLang="zh-CN" sz="2200" noProof="1" dirty="0">
                <a:latin typeface="华文楷体" panose="02010600040101010101" pitchFamily="2" charset="-122"/>
                <a:ea typeface="宋体" panose="02010600030101010101" pitchFamily="2" charset="-122"/>
                <a:cs typeface="+mn-cs"/>
                <a:sym typeface="+mn-ea"/>
              </a:rPr>
              <a:t>       sp_bindrule mark_rule,'Ctake.mark'</a:t>
            </a:r>
            <a:endParaRPr lang="zh-CN" altLang="zh-CN" sz="2200" noProof="1" dirty="0">
              <a:latin typeface="华文楷体" panose="02010600040101010101" pitchFamily="2" charset="-122"/>
              <a:sym typeface="+mn-ea"/>
            </a:endParaRPr>
          </a:p>
          <a:p>
            <a:pPr>
              <a:lnSpc>
                <a:spcPct val="110000"/>
              </a:lnSpc>
              <a:spcBef>
                <a:spcPts val="200"/>
              </a:spcBef>
              <a:buClr>
                <a:srgbClr val="0033CC"/>
              </a:buClr>
              <a:buSzPct val="80000"/>
            </a:pPr>
            <a:r>
              <a:rPr lang="zh-CN" altLang="zh-CN" sz="2200" noProof="1" dirty="0">
                <a:latin typeface="华文楷体" panose="02010600040101010101" pitchFamily="2" charset="-122"/>
                <a:ea typeface="宋体" panose="02010600030101010101" pitchFamily="2" charset="-122"/>
                <a:cs typeface="+mn-cs"/>
              </a:rPr>
              <a:t>       </a:t>
            </a:r>
            <a:r>
              <a:rPr lang="en-US" altLang="zh-CN" sz="2200" noProof="1" dirty="0">
                <a:latin typeface="华文楷体" panose="02010600040101010101" pitchFamily="2" charset="-122"/>
                <a:ea typeface="宋体" panose="02010600030101010101" pitchFamily="2" charset="-122"/>
                <a:cs typeface="+mn-cs"/>
              </a:rPr>
              <a:t>sp_unbindrule  </a:t>
            </a:r>
            <a:r>
              <a:rPr lang="zh-CN" altLang="zh-CN" sz="2200" noProof="1" dirty="0">
                <a:latin typeface="华文楷体" panose="02010600040101010101" pitchFamily="2" charset="-122"/>
                <a:ea typeface="宋体" panose="02010600030101010101" pitchFamily="2" charset="-122"/>
                <a:cs typeface="+mn-cs"/>
                <a:sym typeface="+mn-ea"/>
              </a:rPr>
              <a:t>'Ctake.mark'</a:t>
            </a:r>
            <a:endParaRPr lang="zh-CN" altLang="zh-CN" sz="2200" noProof="1" dirty="0">
              <a:latin typeface="华文楷体" panose="02010600040101010101" pitchFamily="2" charset="-122"/>
              <a:sym typeface="+mn-ea"/>
            </a:endParaRPr>
          </a:p>
          <a:p>
            <a:pPr>
              <a:lnSpc>
                <a:spcPct val="110000"/>
              </a:lnSpc>
              <a:spcBef>
                <a:spcPts val="200"/>
              </a:spcBef>
              <a:buClr>
                <a:srgbClr val="0033CC"/>
              </a:buClr>
              <a:buSzPct val="80000"/>
            </a:pPr>
            <a:r>
              <a:rPr lang="en-US" altLang="zh-CN" sz="2200" noProof="1" dirty="0">
                <a:latin typeface="华文楷体" panose="02010600040101010101" pitchFamily="2" charset="-122"/>
                <a:ea typeface="宋体" panose="02010600030101010101" pitchFamily="2" charset="-122"/>
                <a:cs typeface="+mn-cs"/>
              </a:rPr>
              <a:t>       DROP </a:t>
            </a:r>
            <a:r>
              <a:rPr lang="zh-CN" altLang="zh-CN" sz="2200" noProof="1" dirty="0">
                <a:latin typeface="华文楷体" panose="02010600040101010101" pitchFamily="2" charset="-122"/>
                <a:ea typeface="宋体" panose="02010600030101010101" pitchFamily="2" charset="-122"/>
                <a:cs typeface="+mn-cs"/>
                <a:sym typeface="+mn-ea"/>
              </a:rPr>
              <a:t>RULE mark_rule</a:t>
            </a:r>
            <a:endParaRPr lang="en-US" altLang="zh-CN" sz="2200" noProof="1" dirty="0">
              <a:latin typeface="华文楷体" panose="02010600040101010101" pitchFamily="2" charset="-122"/>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10242" name="矩形 3"/>
          <p:cNvSpPr/>
          <p:nvPr/>
        </p:nvSpPr>
        <p:spPr>
          <a:xfrm>
            <a:off x="601663" y="881063"/>
            <a:ext cx="4832350" cy="517525"/>
          </a:xfrm>
          <a:prstGeom prst="rect">
            <a:avLst/>
          </a:prstGeom>
          <a:noFill/>
          <a:ln w="9525">
            <a:noFill/>
          </a:ln>
        </p:spPr>
        <p:txBody>
          <a:bodyPr wrap="none" anchor="t" anchorCtr="0">
            <a:spAutoFit/>
          </a:bodyPr>
          <a:p>
            <a:r>
              <a:rPr lang="en-US" altLang="zh-CN" sz="2800" dirty="0">
                <a:solidFill>
                  <a:srgbClr val="0033CC"/>
                </a:solidFill>
                <a:latin typeface="黑体" panose="02010609060101010101" pitchFamily="1" charset="-122"/>
                <a:ea typeface="黑体" panose="02010609060101010101" pitchFamily="1" charset="-122"/>
              </a:rPr>
              <a:t>2.</a:t>
            </a:r>
            <a:r>
              <a:rPr lang="zh-CN" altLang="en-US" sz="2800" dirty="0">
                <a:solidFill>
                  <a:srgbClr val="0033CC"/>
                </a:solidFill>
                <a:latin typeface="黑体" panose="02010609060101010101" pitchFamily="1" charset="-122"/>
                <a:ea typeface="黑体" panose="02010609060101010101" pitchFamily="1" charset="-122"/>
              </a:rPr>
              <a:t>定义子语言的关键字及语法</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10243" name="矩形 4"/>
          <p:cNvSpPr/>
          <p:nvPr/>
        </p:nvSpPr>
        <p:spPr>
          <a:xfrm>
            <a:off x="750888" y="1890713"/>
            <a:ext cx="7743825" cy="4032250"/>
          </a:xfrm>
          <a:prstGeom prst="rect">
            <a:avLst/>
          </a:prstGeom>
          <a:solidFill>
            <a:schemeClr val="bg1"/>
          </a:solidFill>
          <a:ln w="9525">
            <a:noFill/>
          </a:ln>
        </p:spPr>
        <p:txBody>
          <a:bodyPr anchor="t" anchorCtr="0">
            <a:spAutoFit/>
          </a:bodyPr>
          <a:p>
            <a:pPr marL="342900" indent="-342900">
              <a:lnSpc>
                <a:spcPct val="80000"/>
              </a:lnSpc>
              <a:spcBef>
                <a:spcPct val="20000"/>
              </a:spcBef>
              <a:buClr>
                <a:srgbClr val="0033CC"/>
              </a:buClr>
              <a:buSzPct val="80000"/>
            </a:pPr>
            <a:r>
              <a:rPr lang="en-US" altLang="zh-CN" sz="2000" dirty="0">
                <a:latin typeface="Arial" panose="020B0604020202020204" pitchFamily="34" charset="0"/>
                <a:ea typeface="宋体" panose="02010600030101010101" pitchFamily="2" charset="-122"/>
              </a:rPr>
              <a:t>CREATE  TRIGGER  title_iu</a:t>
            </a:r>
            <a:endParaRPr lang="en-US" altLang="zh-CN" sz="2000" dirty="0">
              <a:latin typeface="Arial" panose="020B0604020202020204" pitchFamily="34" charset="0"/>
              <a:ea typeface="宋体" panose="02010600030101010101" pitchFamily="2" charset="-122"/>
            </a:endParaRPr>
          </a:p>
          <a:p>
            <a:pPr marL="342900" indent="-342900">
              <a:lnSpc>
                <a:spcPct val="80000"/>
              </a:lnSpc>
              <a:spcBef>
                <a:spcPct val="20000"/>
              </a:spcBef>
              <a:buClr>
                <a:srgbClr val="0033CC"/>
              </a:buClr>
              <a:buSzPct val="80000"/>
            </a:pPr>
            <a:r>
              <a:rPr lang="en-US" altLang="zh-CN" sz="2000" dirty="0">
                <a:latin typeface="Arial" panose="020B0604020202020204" pitchFamily="34" charset="0"/>
                <a:ea typeface="宋体" panose="02010600030101010101" pitchFamily="2" charset="-122"/>
              </a:rPr>
              <a:t>    ON  titles  </a:t>
            </a:r>
            <a:endParaRPr lang="en-US" altLang="zh-CN" sz="2000" dirty="0">
              <a:latin typeface="Arial" panose="020B0604020202020204" pitchFamily="34" charset="0"/>
              <a:ea typeface="宋体" panose="02010600030101010101" pitchFamily="2" charset="-122"/>
            </a:endParaRPr>
          </a:p>
          <a:p>
            <a:pPr marL="342900" indent="-342900">
              <a:lnSpc>
                <a:spcPct val="80000"/>
              </a:lnSpc>
              <a:spcBef>
                <a:spcPct val="20000"/>
              </a:spcBef>
              <a:buClr>
                <a:srgbClr val="0033CC"/>
              </a:buClr>
              <a:buSzPct val="80000"/>
            </a:pPr>
            <a:r>
              <a:rPr lang="en-US" altLang="zh-CN" sz="2000" dirty="0">
                <a:latin typeface="Arial" panose="020B0604020202020204" pitchFamily="34" charset="0"/>
                <a:ea typeface="宋体" panose="02010600030101010101" pitchFamily="2" charset="-122"/>
              </a:rPr>
              <a:t>    FOR INSERT, UPDATE</a:t>
            </a:r>
            <a:endParaRPr lang="en-US" altLang="zh-CN" sz="2000" dirty="0">
              <a:latin typeface="Arial" panose="020B0604020202020204" pitchFamily="34" charset="0"/>
              <a:ea typeface="宋体" panose="02010600030101010101" pitchFamily="2" charset="-122"/>
            </a:endParaRPr>
          </a:p>
          <a:p>
            <a:pPr marL="342900" indent="-342900">
              <a:lnSpc>
                <a:spcPct val="80000"/>
              </a:lnSpc>
              <a:spcBef>
                <a:spcPct val="20000"/>
              </a:spcBef>
              <a:buClr>
                <a:srgbClr val="0033CC"/>
              </a:buClr>
              <a:buSzPct val="80000"/>
            </a:pPr>
            <a:r>
              <a:rPr lang="en-US" altLang="zh-CN" sz="2000" dirty="0">
                <a:latin typeface="Arial" panose="020B0604020202020204" pitchFamily="34" charset="0"/>
                <a:ea typeface="宋体" panose="02010600030101010101" pitchFamily="2" charset="-122"/>
              </a:rPr>
              <a:t>    AS</a:t>
            </a:r>
            <a:endParaRPr lang="en-US" altLang="zh-CN" sz="2000" dirty="0">
              <a:latin typeface="Arial" panose="020B0604020202020204" pitchFamily="34" charset="0"/>
              <a:ea typeface="宋体" panose="02010600030101010101" pitchFamily="2" charset="-122"/>
            </a:endParaRPr>
          </a:p>
          <a:p>
            <a:pPr marL="342900" indent="-342900">
              <a:lnSpc>
                <a:spcPct val="80000"/>
              </a:lnSpc>
              <a:spcBef>
                <a:spcPct val="20000"/>
              </a:spcBef>
              <a:buClr>
                <a:srgbClr val="0033CC"/>
              </a:buClr>
              <a:buSzPct val="80000"/>
            </a:pPr>
            <a:r>
              <a:rPr lang="en-US" altLang="zh-CN" sz="2000" dirty="0">
                <a:latin typeface="Arial" panose="020B0604020202020204" pitchFamily="34" charset="0"/>
                <a:ea typeface="宋体" panose="02010600030101010101" pitchFamily="2" charset="-122"/>
              </a:rPr>
              <a:t>		IF @@rowcount=0 RETURN</a:t>
            </a:r>
            <a:endParaRPr lang="en-US" altLang="zh-CN" sz="2000" dirty="0">
              <a:latin typeface="Arial" panose="020B0604020202020204" pitchFamily="34" charset="0"/>
              <a:ea typeface="宋体" panose="02010600030101010101" pitchFamily="2" charset="-122"/>
            </a:endParaRPr>
          </a:p>
          <a:p>
            <a:pPr marL="342900" indent="-342900">
              <a:lnSpc>
                <a:spcPct val="80000"/>
              </a:lnSpc>
              <a:spcBef>
                <a:spcPct val="20000"/>
              </a:spcBef>
              <a:buClr>
                <a:srgbClr val="0033CC"/>
              </a:buClr>
              <a:buSzPct val="80000"/>
            </a:pPr>
            <a:r>
              <a:rPr lang="en-US" altLang="zh-CN" sz="2000" dirty="0">
                <a:latin typeface="Arial" panose="020B0604020202020204" pitchFamily="34" charset="0"/>
                <a:ea typeface="宋体" panose="02010600030101010101" pitchFamily="2" charset="-122"/>
              </a:rPr>
              <a:t>		IF (SELECT Count(*) FROM publishers p, inserted i</a:t>
            </a:r>
            <a:endParaRPr lang="en-US" altLang="zh-CN" sz="2000" dirty="0">
              <a:latin typeface="Arial" panose="020B0604020202020204" pitchFamily="34" charset="0"/>
              <a:ea typeface="宋体" panose="02010600030101010101" pitchFamily="2" charset="-122"/>
            </a:endParaRPr>
          </a:p>
          <a:p>
            <a:pPr marL="342900" indent="-342900">
              <a:lnSpc>
                <a:spcPct val="80000"/>
              </a:lnSpc>
              <a:spcBef>
                <a:spcPct val="20000"/>
              </a:spcBef>
              <a:buClr>
                <a:srgbClr val="0033CC"/>
              </a:buClr>
              <a:buSzPct val="80000"/>
            </a:pPr>
            <a:r>
              <a:rPr lang="en-US" altLang="zh-CN" sz="2000" dirty="0">
                <a:latin typeface="Arial" panose="020B0604020202020204" pitchFamily="34" charset="0"/>
                <a:ea typeface="宋体" panose="02010600030101010101" pitchFamily="2" charset="-122"/>
              </a:rPr>
              <a:t>                 WHERE p.pub_id=i.pub_id)= 0</a:t>
            </a:r>
            <a:endParaRPr lang="en-US" altLang="zh-CN" sz="2000" dirty="0">
              <a:latin typeface="Arial" panose="020B0604020202020204" pitchFamily="34" charset="0"/>
              <a:ea typeface="宋体" panose="02010600030101010101" pitchFamily="2" charset="-122"/>
            </a:endParaRPr>
          </a:p>
          <a:p>
            <a:pPr marL="342900" indent="-342900">
              <a:lnSpc>
                <a:spcPct val="80000"/>
              </a:lnSpc>
              <a:spcBef>
                <a:spcPct val="20000"/>
              </a:spcBef>
              <a:buClr>
                <a:srgbClr val="0033CC"/>
              </a:buClr>
              <a:buSzPct val="80000"/>
            </a:pPr>
            <a:r>
              <a:rPr lang="en-US" altLang="zh-CN" sz="2000" dirty="0">
                <a:latin typeface="Arial" panose="020B0604020202020204" pitchFamily="34" charset="0"/>
                <a:ea typeface="宋体" panose="02010600030101010101" pitchFamily="2" charset="-122"/>
              </a:rPr>
              <a:t>    BEGIN</a:t>
            </a:r>
            <a:endParaRPr lang="en-US" altLang="zh-CN" sz="2000" dirty="0">
              <a:latin typeface="Arial" panose="020B0604020202020204" pitchFamily="34" charset="0"/>
              <a:ea typeface="宋体" panose="02010600030101010101" pitchFamily="2" charset="-122"/>
            </a:endParaRPr>
          </a:p>
          <a:p>
            <a:pPr marL="342900" indent="-342900">
              <a:lnSpc>
                <a:spcPct val="80000"/>
              </a:lnSpc>
              <a:spcBef>
                <a:spcPct val="20000"/>
              </a:spcBef>
              <a:buClr>
                <a:srgbClr val="0033CC"/>
              </a:buClr>
              <a:buSzPct val="80000"/>
            </a:pPr>
            <a:r>
              <a:rPr lang="en-US" altLang="zh-CN" sz="2000" dirty="0">
                <a:latin typeface="Arial" panose="020B0604020202020204" pitchFamily="34" charset="0"/>
                <a:ea typeface="宋体" panose="02010600030101010101" pitchFamily="2" charset="-122"/>
              </a:rPr>
              <a:t>          RAISERROR 53334  '</a:t>
            </a:r>
            <a:r>
              <a:rPr lang="zh-CN" altLang="en-US" sz="2000" dirty="0">
                <a:latin typeface="Arial" panose="020B0604020202020204" pitchFamily="34" charset="0"/>
                <a:ea typeface="宋体" panose="02010600030101010101" pitchFamily="2" charset="-122"/>
              </a:rPr>
              <a:t>试图插入或修改非法的</a:t>
            </a:r>
            <a:r>
              <a:rPr lang="en-US" altLang="zh-CN" sz="2000" dirty="0">
                <a:latin typeface="Arial" panose="020B0604020202020204" pitchFamily="34" charset="0"/>
                <a:ea typeface="宋体" panose="02010600030101010101" pitchFamily="2" charset="-122"/>
              </a:rPr>
              <a:t>pub_id</a:t>
            </a:r>
            <a:r>
              <a:rPr lang="zh-CN" altLang="en-US" sz="2000" dirty="0">
                <a:latin typeface="Arial" panose="020B0604020202020204" pitchFamily="34" charset="0"/>
                <a:ea typeface="宋体" panose="02010600030101010101" pitchFamily="2" charset="-122"/>
              </a:rPr>
              <a:t>值</a:t>
            </a:r>
            <a:r>
              <a:rPr lang="en-US" altLang="zh-CN" sz="2000" dirty="0">
                <a:latin typeface="Arial" panose="020B0604020202020204" pitchFamily="34" charset="0"/>
                <a:ea typeface="宋体" panose="02010600030101010101" pitchFamily="2" charset="-122"/>
              </a:rPr>
              <a:t>'</a:t>
            </a:r>
            <a:endParaRPr lang="en-US" altLang="zh-CN" sz="2000" dirty="0">
              <a:latin typeface="Arial" panose="020B0604020202020204" pitchFamily="34" charset="0"/>
              <a:ea typeface="宋体" panose="02010600030101010101" pitchFamily="2" charset="-122"/>
            </a:endParaRPr>
          </a:p>
          <a:p>
            <a:pPr marL="342900" indent="-342900">
              <a:lnSpc>
                <a:spcPct val="80000"/>
              </a:lnSpc>
              <a:spcBef>
                <a:spcPct val="20000"/>
              </a:spcBef>
              <a:buClr>
                <a:srgbClr val="0033CC"/>
              </a:buClr>
              <a:buSzPct val="80000"/>
            </a:pPr>
            <a:r>
              <a:rPr lang="en-US" altLang="zh-CN" sz="2000" dirty="0">
                <a:latin typeface="Arial" panose="020B0604020202020204" pitchFamily="34" charset="0"/>
                <a:ea typeface="宋体" panose="02010600030101010101" pitchFamily="2" charset="-122"/>
              </a:rPr>
              <a:t>          ROLLBACK TRANSACTION </a:t>
            </a:r>
            <a:endParaRPr lang="en-US" altLang="zh-CN" sz="2000" dirty="0">
              <a:latin typeface="Arial" panose="020B0604020202020204" pitchFamily="34" charset="0"/>
              <a:ea typeface="宋体" panose="02010600030101010101" pitchFamily="2" charset="-122"/>
            </a:endParaRPr>
          </a:p>
          <a:p>
            <a:pPr marL="342900" indent="-342900">
              <a:lnSpc>
                <a:spcPct val="80000"/>
              </a:lnSpc>
              <a:spcBef>
                <a:spcPct val="20000"/>
              </a:spcBef>
              <a:buClr>
                <a:srgbClr val="0033CC"/>
              </a:buClr>
              <a:buSzPct val="80000"/>
            </a:pPr>
            <a:r>
              <a:rPr lang="en-US" altLang="zh-CN" sz="2000" dirty="0">
                <a:latin typeface="Arial" panose="020B0604020202020204" pitchFamily="34" charset="0"/>
                <a:ea typeface="宋体" panose="02010600030101010101" pitchFamily="2" charset="-122"/>
              </a:rPr>
              <a:t>     RETURN</a:t>
            </a:r>
            <a:endParaRPr lang="en-US" altLang="zh-CN" sz="2000" dirty="0">
              <a:latin typeface="Arial" panose="020B0604020202020204" pitchFamily="34" charset="0"/>
              <a:ea typeface="宋体" panose="02010600030101010101" pitchFamily="2" charset="-122"/>
            </a:endParaRPr>
          </a:p>
          <a:p>
            <a:pPr marL="342900" indent="-342900">
              <a:lnSpc>
                <a:spcPct val="80000"/>
              </a:lnSpc>
              <a:spcBef>
                <a:spcPct val="20000"/>
              </a:spcBef>
              <a:buClr>
                <a:srgbClr val="0033CC"/>
              </a:buClr>
              <a:buSzPct val="80000"/>
            </a:pPr>
            <a:r>
              <a:rPr lang="en-US" altLang="zh-CN" sz="2000" dirty="0">
                <a:latin typeface="Arial" panose="020B0604020202020204" pitchFamily="34" charset="0"/>
                <a:ea typeface="宋体" panose="02010600030101010101" pitchFamily="2" charset="-122"/>
              </a:rPr>
              <a:t>     END</a:t>
            </a:r>
            <a:endParaRPr lang="en-US" altLang="zh-CN" sz="2000" dirty="0">
              <a:latin typeface="Arial" panose="020B0604020202020204" pitchFamily="34" charset="0"/>
              <a:ea typeface="宋体" panose="02010600030101010101" pitchFamily="2" charset="-122"/>
            </a:endParaRPr>
          </a:p>
          <a:p>
            <a:pPr marL="342900" indent="-342900">
              <a:lnSpc>
                <a:spcPct val="80000"/>
              </a:lnSpc>
              <a:spcBef>
                <a:spcPct val="20000"/>
              </a:spcBef>
              <a:buClr>
                <a:srgbClr val="0033CC"/>
              </a:buClr>
              <a:buSzPct val="80000"/>
            </a:pPr>
            <a:r>
              <a:rPr lang="en-US" altLang="zh-CN" sz="2000" dirty="0">
                <a:latin typeface="Arial" panose="020B0604020202020204" pitchFamily="34" charset="0"/>
                <a:ea typeface="宋体" panose="02010600030101010101" pitchFamily="2" charset="-122"/>
              </a:rPr>
              <a:t>RETURN</a:t>
            </a:r>
            <a:endParaRPr lang="zh-CN" altLang="en-US" sz="2000" dirty="0">
              <a:latin typeface="Arial" panose="020B0604020202020204" pitchFamily="34" charset="0"/>
              <a:ea typeface="宋体" panose="02010600030101010101" pitchFamily="2" charset="-122"/>
            </a:endParaRPr>
          </a:p>
        </p:txBody>
      </p:sp>
      <p:sp>
        <p:nvSpPr>
          <p:cNvPr id="10244" name="矩形 5"/>
          <p:cNvSpPr/>
          <p:nvPr/>
        </p:nvSpPr>
        <p:spPr>
          <a:xfrm>
            <a:off x="684213" y="1416050"/>
            <a:ext cx="6677025" cy="463550"/>
          </a:xfrm>
          <a:prstGeom prst="rect">
            <a:avLst/>
          </a:prstGeom>
          <a:noFill/>
          <a:ln w="9525">
            <a:noFill/>
          </a:ln>
        </p:spPr>
        <p:txBody>
          <a:bodyPr wrap="none" anchor="t" anchorCtr="0">
            <a:spAutoFit/>
          </a:bodyPr>
          <a:p>
            <a:pPr marL="342900" indent="-342900">
              <a:lnSpc>
                <a:spcPct val="110000"/>
              </a:lnSpc>
              <a:spcBef>
                <a:spcPct val="20000"/>
              </a:spcBef>
              <a:buClr>
                <a:srgbClr val="C00000"/>
              </a:buClr>
              <a:buFont typeface="Wingdings" panose="05000000000000000000" charset="0"/>
              <a:buChar char=""/>
            </a:pPr>
            <a:r>
              <a:rPr lang="zh-CN" altLang="en-US" sz="2200" u="sng" dirty="0">
                <a:solidFill>
                  <a:srgbClr val="FF0000"/>
                </a:solidFill>
                <a:latin typeface="华文中宋" panose="02010600040101010101" charset="-122"/>
                <a:ea typeface="华文中宋" panose="02010600040101010101" charset="-122"/>
              </a:rPr>
              <a:t>触发器实例：</a:t>
            </a:r>
            <a:r>
              <a:rPr lang="zh-CN" altLang="en-US" sz="2200" b="0" dirty="0">
                <a:latin typeface="楷体" panose="02010609060101010101" pitchFamily="1" charset="-122"/>
                <a:ea typeface="楷体" panose="02010609060101010101" pitchFamily="1" charset="-122"/>
              </a:rPr>
              <a:t>由修改和插入操作激发的从表触发器</a:t>
            </a:r>
            <a:endParaRPr lang="zh-CN" altLang="en-US" sz="2200" b="0" dirty="0">
              <a:latin typeface="楷体" panose="02010609060101010101" pitchFamily="1" charset="-122"/>
              <a:ea typeface="楷体" panose="02010609060101010101" pitchFamily="1" charset="-122"/>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9"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12290" name="矩形 2"/>
          <p:cNvSpPr/>
          <p:nvPr/>
        </p:nvSpPr>
        <p:spPr>
          <a:xfrm>
            <a:off x="601663" y="881063"/>
            <a:ext cx="3402012" cy="517525"/>
          </a:xfrm>
          <a:prstGeom prst="rect">
            <a:avLst/>
          </a:prstGeom>
          <a:noFill/>
          <a:ln w="9525">
            <a:noFill/>
          </a:ln>
        </p:spPr>
        <p:txBody>
          <a:bodyPr wrap="none" anchor="t" anchorCtr="0">
            <a:spAutoFit/>
          </a:bodyPr>
          <a:p>
            <a:r>
              <a:rPr lang="en-US" altLang="zh-CN" sz="2800" dirty="0">
                <a:solidFill>
                  <a:srgbClr val="0033CC"/>
                </a:solidFill>
                <a:latin typeface="黑体" panose="02010609060101010101" pitchFamily="1" charset="-122"/>
                <a:ea typeface="黑体" panose="02010609060101010101" pitchFamily="1" charset="-122"/>
              </a:rPr>
              <a:t>3.</a:t>
            </a:r>
            <a:r>
              <a:rPr lang="zh-CN" altLang="en-US" sz="2800" dirty="0">
                <a:solidFill>
                  <a:srgbClr val="0033CC"/>
                </a:solidFill>
                <a:latin typeface="黑体" panose="02010609060101010101" pitchFamily="1" charset="-122"/>
                <a:ea typeface="黑体" panose="02010609060101010101" pitchFamily="1" charset="-122"/>
              </a:rPr>
              <a:t>定义数据库及日志</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12291" name="AutoShape 2"/>
          <p:cNvSpPr/>
          <p:nvPr/>
        </p:nvSpPr>
        <p:spPr>
          <a:xfrm>
            <a:off x="6573838" y="1587500"/>
            <a:ext cx="1944687" cy="2447925"/>
          </a:xfrm>
          <a:prstGeom prst="can">
            <a:avLst>
              <a:gd name="adj" fmla="val 31468"/>
            </a:avLst>
          </a:prstGeom>
          <a:solidFill>
            <a:srgbClr val="FCDAF3"/>
          </a:solidFill>
          <a:ln w="9525" cap="flat" cmpd="sng">
            <a:solidFill>
              <a:srgbClr val="003300"/>
            </a:solidFill>
            <a:prstDash val="solid"/>
            <a:round/>
            <a:headEnd type="none" w="med" len="med"/>
            <a:tailEnd type="none" w="med" len="med"/>
          </a:ln>
        </p:spPr>
        <p:txBody>
          <a:bodyPr wrap="none" anchor="ctr" anchorCtr="0"/>
          <a:p>
            <a:pPr algn="ctr">
              <a:lnSpc>
                <a:spcPct val="135000"/>
              </a:lnSpc>
            </a:pPr>
            <a:endParaRPr lang="en-US" altLang="zh-CN" sz="2400" dirty="0">
              <a:latin typeface="宋体" panose="02010600030101010101" pitchFamily="2" charset="-122"/>
              <a:ea typeface="宋体" panose="02010600030101010101" pitchFamily="2" charset="-122"/>
            </a:endParaRPr>
          </a:p>
          <a:p>
            <a:pPr algn="ctr">
              <a:lnSpc>
                <a:spcPct val="135000"/>
              </a:lnSpc>
            </a:pPr>
            <a:r>
              <a:rPr lang="zh-CN" altLang="en-US" sz="2400" dirty="0">
                <a:latin typeface="宋体" panose="02010600030101010101" pitchFamily="2" charset="-122"/>
                <a:ea typeface="宋体" panose="02010600030101010101" pitchFamily="2" charset="-122"/>
              </a:rPr>
              <a:t>数据库</a:t>
            </a:r>
            <a:endParaRPr lang="zh-CN" altLang="en-US" sz="2400" dirty="0">
              <a:latin typeface="宋体" panose="02010600030101010101" pitchFamily="2" charset="-122"/>
              <a:ea typeface="宋体" panose="02010600030101010101" pitchFamily="2" charset="-122"/>
            </a:endParaRPr>
          </a:p>
          <a:p>
            <a:pPr algn="ctr">
              <a:lnSpc>
                <a:spcPct val="135000"/>
              </a:lnSpc>
              <a:buFont typeface="Arial" panose="020B0604020202020204" pitchFamily="34" charset="0"/>
              <a:buChar char="•"/>
            </a:pPr>
            <a:endParaRPr lang="zh-CN" altLang="en-US" sz="2400" dirty="0">
              <a:latin typeface="宋体" panose="02010600030101010101" pitchFamily="2" charset="-122"/>
              <a:ea typeface="宋体" panose="02010600030101010101" pitchFamily="2" charset="-122"/>
            </a:endParaRPr>
          </a:p>
          <a:p>
            <a:pPr algn="ctr">
              <a:lnSpc>
                <a:spcPct val="135000"/>
              </a:lnSpc>
              <a:buFont typeface="Arial" panose="020B0604020202020204" pitchFamily="34" charset="0"/>
              <a:buChar char="•"/>
            </a:pPr>
            <a:endParaRPr lang="zh-CN" altLang="en-US" sz="2400" dirty="0">
              <a:latin typeface="宋体" panose="02010600030101010101" pitchFamily="2" charset="-122"/>
              <a:ea typeface="宋体" panose="02010600030101010101" pitchFamily="2" charset="-122"/>
            </a:endParaRPr>
          </a:p>
          <a:p>
            <a:pPr algn="ctr">
              <a:lnSpc>
                <a:spcPct val="135000"/>
              </a:lnSpc>
              <a:buFont typeface="Arial" panose="020B0604020202020204" pitchFamily="34" charset="0"/>
              <a:buChar char="•"/>
            </a:pPr>
            <a:endParaRPr lang="en-US" altLang="zh-CN" sz="2400" dirty="0">
              <a:latin typeface="宋体" panose="02010600030101010101" pitchFamily="2" charset="-122"/>
              <a:ea typeface="宋体" panose="02010600030101010101" pitchFamily="2" charset="-122"/>
            </a:endParaRPr>
          </a:p>
        </p:txBody>
      </p:sp>
      <p:sp>
        <p:nvSpPr>
          <p:cNvPr id="12292" name="AutoShape 4"/>
          <p:cNvSpPr/>
          <p:nvPr/>
        </p:nvSpPr>
        <p:spPr>
          <a:xfrm>
            <a:off x="7366000" y="2740025"/>
            <a:ext cx="792163" cy="865188"/>
          </a:xfrm>
          <a:prstGeom prst="flowChartInternalStorage">
            <a:avLst/>
          </a:prstGeom>
          <a:solidFill>
            <a:srgbClr val="FF99CC"/>
          </a:solidFill>
          <a:ln w="9525" cap="flat" cmpd="sng">
            <a:solidFill>
              <a:srgbClr val="003300"/>
            </a:solidFill>
            <a:prstDash val="solid"/>
            <a:miter/>
            <a:headEnd type="none" w="med" len="med"/>
            <a:tailEnd type="none" w="med" len="med"/>
          </a:ln>
        </p:spPr>
        <p:txBody>
          <a:bodyPr wrap="none" anchor="ctr" anchorCtr="0"/>
          <a:p>
            <a:pPr algn="ctr">
              <a:lnSpc>
                <a:spcPct val="135000"/>
              </a:lnSpc>
            </a:pPr>
            <a:r>
              <a:rPr lang="zh-CN" altLang="en-US" sz="2400" dirty="0">
                <a:latin typeface="宋体" panose="02010600030101010101" pitchFamily="2" charset="-122"/>
                <a:ea typeface="宋体" panose="02010600030101010101" pitchFamily="2" charset="-122"/>
              </a:rPr>
              <a:t>表</a:t>
            </a:r>
            <a:endParaRPr lang="zh-CN" altLang="en-US" sz="2400" dirty="0">
              <a:latin typeface="宋体" panose="02010600030101010101" pitchFamily="2" charset="-122"/>
              <a:ea typeface="宋体" panose="02010600030101010101" pitchFamily="2" charset="-122"/>
            </a:endParaRPr>
          </a:p>
        </p:txBody>
      </p:sp>
      <p:sp>
        <p:nvSpPr>
          <p:cNvPr id="12293" name="Rectangle 5"/>
          <p:cNvSpPr txBox="1"/>
          <p:nvPr/>
        </p:nvSpPr>
        <p:spPr>
          <a:xfrm>
            <a:off x="657225" y="1595438"/>
            <a:ext cx="5508625" cy="3151187"/>
          </a:xfrm>
          <a:prstGeom prst="rect">
            <a:avLst/>
          </a:prstGeom>
          <a:noFill/>
          <a:ln w="9525">
            <a:noFill/>
          </a:ln>
        </p:spPr>
        <p:txBody>
          <a:bodyPr anchor="t" anchorCtr="0"/>
          <a:p>
            <a:pPr marL="342900" indent="-342900">
              <a:lnSpc>
                <a:spcPct val="125000"/>
              </a:lnSpc>
              <a:spcBef>
                <a:spcPct val="20000"/>
              </a:spcBef>
              <a:buClr>
                <a:srgbClr val="0033CC"/>
              </a:buClr>
              <a:buSzPct val="80000"/>
              <a:buFont typeface="Wingdings" panose="05000000000000000000" pitchFamily="2" charset="2"/>
              <a:buChar char="u"/>
            </a:pPr>
            <a:r>
              <a:rPr lang="zh-CN" altLang="en-US" sz="2800" u="sng" dirty="0">
                <a:solidFill>
                  <a:srgbClr val="CC0000"/>
                </a:solidFill>
                <a:latin typeface="Arial" panose="020B0604020202020204" pitchFamily="34" charset="0"/>
                <a:ea typeface="宋体" panose="02010600030101010101" pitchFamily="2" charset="-122"/>
              </a:rPr>
              <a:t>数据库：</a:t>
            </a:r>
            <a:r>
              <a:rPr lang="zh-CN" altLang="en-US" sz="2400" dirty="0">
                <a:latin typeface="Arial" panose="020B0604020202020204" pitchFamily="34" charset="0"/>
                <a:ea typeface="宋体" panose="02010600030101010101" pitchFamily="2" charset="-122"/>
              </a:rPr>
              <a:t>是一个存储空间。用于存放相关数据集合，包括表、视图、索引、存储过程、触发器、与数据库安全性有关的控制机制以及其它对象等。 </a:t>
            </a:r>
            <a:endParaRPr lang="zh-CN" altLang="en-US" sz="2400" dirty="0">
              <a:latin typeface="Arial" panose="020B0604020202020204" pitchFamily="34" charset="0"/>
              <a:ea typeface="宋体" panose="02010600030101010101" pitchFamily="2" charset="-122"/>
            </a:endParaRPr>
          </a:p>
          <a:p>
            <a:pPr marL="342900" indent="-342900">
              <a:lnSpc>
                <a:spcPct val="125000"/>
              </a:lnSpc>
              <a:spcBef>
                <a:spcPts val="600"/>
              </a:spcBef>
              <a:buClr>
                <a:srgbClr val="0033CC"/>
              </a:buClr>
              <a:buSzPct val="80000"/>
              <a:buFont typeface="Wingdings" panose="05000000000000000000" pitchFamily="2" charset="2"/>
              <a:buChar char="u"/>
            </a:pPr>
            <a:r>
              <a:rPr lang="zh-CN" altLang="en-US" sz="2800" u="sng" dirty="0">
                <a:solidFill>
                  <a:srgbClr val="CC0000"/>
                </a:solidFill>
                <a:latin typeface="华文楷体" panose="02010600040101010101" pitchFamily="2" charset="-122"/>
                <a:ea typeface="宋体" panose="02010600030101010101" pitchFamily="2" charset="-122"/>
              </a:rPr>
              <a:t>日志（</a:t>
            </a:r>
            <a:r>
              <a:rPr lang="en-US" altLang="zh-CN" sz="2800" u="sng" dirty="0">
                <a:solidFill>
                  <a:srgbClr val="CC0000"/>
                </a:solidFill>
                <a:latin typeface="华文楷体" panose="02010600040101010101" pitchFamily="2" charset="-122"/>
                <a:ea typeface="宋体" panose="02010600030101010101" pitchFamily="2" charset="-122"/>
              </a:rPr>
              <a:t>Log</a:t>
            </a:r>
            <a:r>
              <a:rPr lang="zh-CN" altLang="en-US" sz="2800" u="sng" dirty="0">
                <a:solidFill>
                  <a:srgbClr val="CC0000"/>
                </a:solidFill>
                <a:latin typeface="华文楷体" panose="02010600040101010101" pitchFamily="2" charset="-122"/>
                <a:ea typeface="宋体" panose="02010600030101010101" pitchFamily="2" charset="-122"/>
              </a:rPr>
              <a:t>）：</a:t>
            </a:r>
            <a:r>
              <a:rPr lang="zh-CN" altLang="en-US" sz="2400" dirty="0">
                <a:latin typeface="Arial" panose="020B0604020202020204" pitchFamily="34" charset="0"/>
                <a:ea typeface="宋体" panose="02010600030101010101" pitchFamily="2" charset="-122"/>
              </a:rPr>
              <a:t>是数据库故障恢复的重要手段和方法。用于记录对数据库的各种操作及所涉及的相关数据，实际上也需要一个存储空间。为安全起见，一般与数据库分开存放。</a:t>
            </a:r>
            <a:endParaRPr lang="zh-CN" altLang="en-US" sz="2400" dirty="0">
              <a:latin typeface="Arial" panose="020B0604020202020204" pitchFamily="34" charset="0"/>
              <a:ea typeface="宋体" panose="02010600030101010101" pitchFamily="2" charset="-122"/>
            </a:endParaRPr>
          </a:p>
        </p:txBody>
      </p:sp>
      <p:sp>
        <p:nvSpPr>
          <p:cNvPr id="12294" name="AutoShape 6"/>
          <p:cNvSpPr/>
          <p:nvPr/>
        </p:nvSpPr>
        <p:spPr>
          <a:xfrm>
            <a:off x="6789738" y="2955925"/>
            <a:ext cx="792162" cy="865188"/>
          </a:xfrm>
          <a:prstGeom prst="flowChartInternalStorage">
            <a:avLst/>
          </a:prstGeom>
          <a:solidFill>
            <a:srgbClr val="FF99CC"/>
          </a:solidFill>
          <a:ln w="9525" cap="flat" cmpd="sng">
            <a:solidFill>
              <a:srgbClr val="003300"/>
            </a:solidFill>
            <a:prstDash val="solid"/>
            <a:miter/>
            <a:headEnd type="none" w="med" len="med"/>
            <a:tailEnd type="none" w="med" len="med"/>
          </a:ln>
        </p:spPr>
        <p:txBody>
          <a:bodyPr wrap="none" anchor="ctr" anchorCtr="0"/>
          <a:p>
            <a:pPr algn="ctr">
              <a:lnSpc>
                <a:spcPct val="135000"/>
              </a:lnSpc>
            </a:pPr>
            <a:r>
              <a:rPr lang="zh-CN" altLang="en-US" sz="2400" dirty="0">
                <a:latin typeface="宋体" panose="02010600030101010101" pitchFamily="2" charset="-122"/>
                <a:ea typeface="宋体" panose="02010600030101010101" pitchFamily="2" charset="-122"/>
              </a:rPr>
              <a:t>表</a:t>
            </a:r>
            <a:endParaRPr lang="zh-CN" altLang="en-US" sz="2400" dirty="0">
              <a:latin typeface="宋体" panose="02010600030101010101" pitchFamily="2" charset="-122"/>
              <a:ea typeface="宋体" panose="02010600030101010101" pitchFamily="2" charset="-122"/>
            </a:endParaRPr>
          </a:p>
        </p:txBody>
      </p:sp>
      <p:sp>
        <p:nvSpPr>
          <p:cNvPr id="12295" name="AutoShape 7"/>
          <p:cNvSpPr/>
          <p:nvPr/>
        </p:nvSpPr>
        <p:spPr>
          <a:xfrm>
            <a:off x="6905625" y="4438650"/>
            <a:ext cx="1296988" cy="1439863"/>
          </a:xfrm>
          <a:prstGeom prst="foldedCorner">
            <a:avLst>
              <a:gd name="adj" fmla="val 12500"/>
            </a:avLst>
          </a:prstGeom>
          <a:solidFill>
            <a:srgbClr val="CCFFFF"/>
          </a:solidFill>
          <a:ln w="9525" cap="flat" cmpd="sng">
            <a:solidFill>
              <a:schemeClr val="tx1"/>
            </a:solidFill>
            <a:prstDash val="solid"/>
            <a:round/>
            <a:headEnd type="none" w="med" len="med"/>
            <a:tailEnd type="none" w="med" len="med"/>
          </a:ln>
        </p:spPr>
        <p:txBody>
          <a:bodyPr wrap="none" anchor="ctr" anchorCtr="0"/>
          <a:p>
            <a:pPr algn="ctr">
              <a:lnSpc>
                <a:spcPct val="135000"/>
              </a:lnSpc>
            </a:pPr>
            <a:r>
              <a:rPr lang="zh-CN" altLang="en-US" sz="2800" dirty="0">
                <a:latin typeface="宋体" panose="02010600030101010101" pitchFamily="2" charset="-122"/>
                <a:ea typeface="宋体" panose="02010600030101010101" pitchFamily="2" charset="-122"/>
              </a:rPr>
              <a:t>日志</a:t>
            </a:r>
            <a:endParaRPr lang="zh-CN" altLang="en-US" sz="2800" dirty="0">
              <a:latin typeface="宋体" panose="02010600030101010101" pitchFamily="2" charset="-122"/>
              <a:ea typeface="宋体" panose="02010600030101010101" pitchFamily="2" charset="-122"/>
            </a:endParaRPr>
          </a:p>
        </p:txBody>
      </p:sp>
      <p:sp>
        <p:nvSpPr>
          <p:cNvPr id="12296" name="AutoShape 8"/>
          <p:cNvSpPr/>
          <p:nvPr/>
        </p:nvSpPr>
        <p:spPr>
          <a:xfrm>
            <a:off x="7064375" y="1385888"/>
            <a:ext cx="1066800" cy="703262"/>
          </a:xfrm>
          <a:prstGeom prst="bevel">
            <a:avLst>
              <a:gd name="adj" fmla="val 12500"/>
            </a:avLst>
          </a:prstGeom>
          <a:solidFill>
            <a:srgbClr val="99CCFF"/>
          </a:solidFill>
          <a:ln w="9525" cap="flat" cmpd="sng">
            <a:solidFill>
              <a:schemeClr val="tx1"/>
            </a:solidFill>
            <a:prstDash val="solid"/>
            <a:miter/>
            <a:headEnd type="none" w="med" len="med"/>
            <a:tailEnd type="none" w="med" len="med"/>
          </a:ln>
        </p:spPr>
        <p:txBody>
          <a:bodyPr wrap="none" anchor="ctr" anchorCtr="0"/>
          <a:p>
            <a:pPr algn="ctr">
              <a:lnSpc>
                <a:spcPct val="135000"/>
              </a:lnSpc>
            </a:pPr>
            <a:r>
              <a:rPr lang="zh-CN" altLang="en-US" sz="2400" dirty="0">
                <a:latin typeface="宋体" panose="02010600030101010101" pitchFamily="2" charset="-122"/>
                <a:ea typeface="宋体" panose="02010600030101010101" pitchFamily="2" charset="-122"/>
              </a:rPr>
              <a:t>视图</a:t>
            </a:r>
            <a:endParaRPr lang="zh-CN" altLang="en-US" sz="2400" dirty="0">
              <a:latin typeface="宋体" panose="02010600030101010101" pitchFamily="2" charset="-122"/>
              <a:ea typeface="宋体" panose="02010600030101010101" pitchFamily="2" charset="-122"/>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13314" name="矩形 3"/>
          <p:cNvSpPr/>
          <p:nvPr/>
        </p:nvSpPr>
        <p:spPr>
          <a:xfrm>
            <a:off x="601663" y="881063"/>
            <a:ext cx="4832350" cy="517525"/>
          </a:xfrm>
          <a:prstGeom prst="rect">
            <a:avLst/>
          </a:prstGeom>
          <a:noFill/>
          <a:ln w="9525">
            <a:noFill/>
          </a:ln>
        </p:spPr>
        <p:txBody>
          <a:bodyPr wrap="none" anchor="t" anchorCtr="0">
            <a:spAutoFit/>
          </a:bodyPr>
          <a:p>
            <a:r>
              <a:rPr lang="en-US" altLang="zh-CN" sz="2800" dirty="0">
                <a:solidFill>
                  <a:srgbClr val="0033CC"/>
                </a:solidFill>
                <a:latin typeface="黑体" panose="02010609060101010101" pitchFamily="1" charset="-122"/>
                <a:ea typeface="黑体" panose="02010609060101010101" pitchFamily="1" charset="-122"/>
              </a:rPr>
              <a:t>2.</a:t>
            </a:r>
            <a:r>
              <a:rPr lang="zh-CN" altLang="en-US" sz="2800" dirty="0">
                <a:solidFill>
                  <a:srgbClr val="0033CC"/>
                </a:solidFill>
                <a:latin typeface="黑体" panose="02010609060101010101" pitchFamily="1" charset="-122"/>
                <a:ea typeface="黑体" panose="02010609060101010101" pitchFamily="1" charset="-122"/>
              </a:rPr>
              <a:t>定义子语言的关键字及语法</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13315" name="矩形 3"/>
          <p:cNvSpPr/>
          <p:nvPr/>
        </p:nvSpPr>
        <p:spPr>
          <a:xfrm>
            <a:off x="581025" y="1398588"/>
            <a:ext cx="7981950" cy="931862"/>
          </a:xfrm>
          <a:prstGeom prst="rect">
            <a:avLst/>
          </a:prstGeom>
          <a:noFill/>
          <a:ln w="9525">
            <a:noFill/>
          </a:ln>
        </p:spPr>
        <p:txBody>
          <a:bodyPr wrap="square" anchor="t" anchorCtr="0">
            <a:spAutoFit/>
          </a:bodyPr>
          <a:p>
            <a:pPr>
              <a:lnSpc>
                <a:spcPct val="120000"/>
              </a:lnSpc>
            </a:pPr>
            <a:r>
              <a:rPr lang="zh-CN" altLang="en-US" sz="2400" dirty="0">
                <a:latin typeface="宋体" panose="02010600030101010101" pitchFamily="2" charset="-122"/>
                <a:ea typeface="宋体" panose="02010600030101010101" pitchFamily="2" charset="-122"/>
              </a:rPr>
              <a:t>   </a:t>
            </a:r>
            <a:r>
              <a:rPr lang="en-US" altLang="zh-CN" sz="2200" dirty="0">
                <a:latin typeface="宋体" panose="02010600030101010101" pitchFamily="2" charset="-122"/>
                <a:ea typeface="宋体" panose="02010600030101010101" pitchFamily="2" charset="-122"/>
              </a:rPr>
              <a:t>SQL</a:t>
            </a:r>
            <a:r>
              <a:rPr lang="zh-CN" altLang="en-US" sz="2200" dirty="0">
                <a:latin typeface="宋体" panose="02010600030101010101" pitchFamily="2" charset="-122"/>
                <a:ea typeface="宋体" panose="02010600030101010101" pitchFamily="2" charset="-122"/>
              </a:rPr>
              <a:t>语法定义采用了变形的巴科斯范式（</a:t>
            </a:r>
            <a:r>
              <a:rPr lang="en-US" altLang="zh-CN" sz="2200" dirty="0">
                <a:latin typeface="宋体" panose="02010600030101010101" pitchFamily="2" charset="-122"/>
                <a:ea typeface="宋体" panose="02010600030101010101" pitchFamily="2" charset="-122"/>
              </a:rPr>
              <a:t>Backus-Naur form,BNF)</a:t>
            </a:r>
            <a:r>
              <a:rPr lang="zh-CN" altLang="en-US" sz="2200" dirty="0">
                <a:latin typeface="宋体" panose="02010600030101010101" pitchFamily="2" charset="-122"/>
                <a:ea typeface="宋体" panose="02010600030101010101" pitchFamily="2" charset="-122"/>
              </a:rPr>
              <a:t>符号，约定如下：</a:t>
            </a:r>
            <a:endParaRPr lang="zh-CN" altLang="en-US" sz="2200" dirty="0">
              <a:latin typeface="宋体" panose="02010600030101010101" pitchFamily="2" charset="-122"/>
              <a:ea typeface="宋体" panose="02010600030101010101" pitchFamily="2" charset="-122"/>
            </a:endParaRPr>
          </a:p>
        </p:txBody>
      </p:sp>
      <p:sp>
        <p:nvSpPr>
          <p:cNvPr id="13316" name="矩形 4"/>
          <p:cNvSpPr/>
          <p:nvPr/>
        </p:nvSpPr>
        <p:spPr>
          <a:xfrm>
            <a:off x="711200" y="2438400"/>
            <a:ext cx="7721600" cy="2527300"/>
          </a:xfrm>
          <a:prstGeom prst="rect">
            <a:avLst/>
          </a:prstGeom>
          <a:noFill/>
          <a:ln w="9525" cap="flat" cmpd="sng">
            <a:solidFill>
              <a:srgbClr val="0033CC"/>
            </a:solidFill>
            <a:prstDash val="dash"/>
            <a:round/>
            <a:headEnd type="none" w="med" len="med"/>
            <a:tailEnd type="none" w="med" len="med"/>
          </a:ln>
        </p:spPr>
        <p:txBody>
          <a:bodyPr wrap="square" anchor="t" anchorCtr="0">
            <a:spAutoFit/>
          </a:bodyPr>
          <a:p>
            <a:pPr>
              <a:lnSpc>
                <a:spcPct val="120000"/>
              </a:lnSpc>
              <a:buFont typeface="Wingdings" panose="05000000000000000000" charset="0"/>
            </a:pPr>
            <a:r>
              <a:rPr lang="en-US" altLang="zh-CN" sz="2200">
                <a:solidFill>
                  <a:srgbClr val="FF0000"/>
                </a:solidFill>
                <a:latin typeface="楷体" panose="02010609060101010101" pitchFamily="1" charset="-122"/>
                <a:ea typeface="楷体" panose="02010609060101010101" pitchFamily="1" charset="-122"/>
              </a:rPr>
              <a:t>“::=”</a:t>
            </a:r>
            <a:r>
              <a:rPr lang="zh-CN" altLang="zh-CN" sz="2200">
                <a:latin typeface="楷体" panose="02010609060101010101" pitchFamily="1" charset="-122"/>
                <a:ea typeface="楷体" panose="02010609060101010101" pitchFamily="1" charset="-122"/>
              </a:rPr>
              <a:t>用于定义运算符，将所定义的语法元素与定义分隔</a:t>
            </a:r>
            <a:r>
              <a:rPr lang="zh-CN" altLang="en-US" sz="2200">
                <a:latin typeface="楷体" panose="02010609060101010101" pitchFamily="1" charset="-122"/>
                <a:ea typeface="楷体" panose="02010609060101010101" pitchFamily="1" charset="-122"/>
              </a:rPr>
              <a:t>；</a:t>
            </a:r>
            <a:endParaRPr lang="zh-CN" altLang="en-US" sz="2200">
              <a:latin typeface="楷体" panose="02010609060101010101" pitchFamily="1" charset="-122"/>
              <a:ea typeface="楷体" panose="02010609060101010101" pitchFamily="1" charset="-122"/>
            </a:endParaRPr>
          </a:p>
          <a:p>
            <a:pPr>
              <a:lnSpc>
                <a:spcPct val="120000"/>
              </a:lnSpc>
              <a:buFont typeface="Wingdings" panose="05000000000000000000" charset="0"/>
            </a:pPr>
            <a:r>
              <a:rPr lang="en-US" altLang="zh-CN" sz="2200">
                <a:solidFill>
                  <a:srgbClr val="FF0000"/>
                </a:solidFill>
                <a:latin typeface="楷体" panose="02010609060101010101" pitchFamily="1" charset="-122"/>
                <a:ea typeface="楷体" panose="02010609060101010101" pitchFamily="1" charset="-122"/>
              </a:rPr>
              <a:t>“[ ]”</a:t>
            </a:r>
            <a:r>
              <a:rPr lang="zh-CN" altLang="zh-CN" sz="2200">
                <a:latin typeface="楷体" panose="02010609060101010101" pitchFamily="1" charset="-122"/>
                <a:ea typeface="楷体" panose="02010609060101010101" pitchFamily="1" charset="-122"/>
              </a:rPr>
              <a:t>表示其中的内容可选；</a:t>
            </a:r>
            <a:endParaRPr lang="zh-CN" altLang="zh-CN" sz="2200">
              <a:latin typeface="楷体" panose="02010609060101010101" pitchFamily="1" charset="-122"/>
              <a:ea typeface="楷体" panose="02010609060101010101" pitchFamily="1" charset="-122"/>
            </a:endParaRPr>
          </a:p>
          <a:p>
            <a:pPr>
              <a:lnSpc>
                <a:spcPct val="120000"/>
              </a:lnSpc>
              <a:buFont typeface="Wingdings" panose="05000000000000000000" charset="0"/>
            </a:pPr>
            <a:r>
              <a:rPr lang="en-US" altLang="zh-CN" sz="2200">
                <a:solidFill>
                  <a:srgbClr val="FF0000"/>
                </a:solidFill>
                <a:latin typeface="楷体" panose="02010609060101010101" pitchFamily="1" charset="-122"/>
                <a:ea typeface="楷体" panose="02010609060101010101" pitchFamily="1" charset="-122"/>
              </a:rPr>
              <a:t>“&lt; &gt;”</a:t>
            </a:r>
            <a:r>
              <a:rPr lang="zh-CN" altLang="en-US" sz="2200">
                <a:latin typeface="楷体" panose="02010609060101010101" pitchFamily="1" charset="-122"/>
                <a:ea typeface="楷体" panose="02010609060101010101" pitchFamily="1" charset="-122"/>
              </a:rPr>
              <a:t>表示其中是语法元素的名称；</a:t>
            </a:r>
            <a:endParaRPr lang="zh-CN" altLang="en-US" sz="2200">
              <a:latin typeface="楷体" panose="02010609060101010101" pitchFamily="1" charset="-122"/>
              <a:ea typeface="楷体" panose="02010609060101010101" pitchFamily="1" charset="-122"/>
            </a:endParaRPr>
          </a:p>
          <a:p>
            <a:pPr>
              <a:lnSpc>
                <a:spcPct val="120000"/>
              </a:lnSpc>
              <a:buFont typeface="Wingdings" panose="05000000000000000000" charset="0"/>
            </a:pPr>
            <a:r>
              <a:rPr lang="en-US" altLang="zh-CN" sz="2200">
                <a:solidFill>
                  <a:srgbClr val="FF0000"/>
                </a:solidFill>
                <a:latin typeface="楷体" panose="02010609060101010101" pitchFamily="1" charset="-122"/>
                <a:ea typeface="楷体" panose="02010609060101010101" pitchFamily="1" charset="-122"/>
              </a:rPr>
              <a:t>“ | ”</a:t>
            </a:r>
            <a:r>
              <a:rPr lang="zh-CN" altLang="zh-CN" sz="2200">
                <a:latin typeface="楷体" panose="02010609060101010101" pitchFamily="1" charset="-122"/>
                <a:ea typeface="楷体" panose="02010609060101010101" pitchFamily="1" charset="-122"/>
              </a:rPr>
              <a:t>用来将语法元素分开，表示必选其一；</a:t>
            </a:r>
            <a:endParaRPr lang="zh-CN" altLang="zh-CN" sz="2200">
              <a:latin typeface="楷体" panose="02010609060101010101" pitchFamily="1" charset="-122"/>
              <a:ea typeface="楷体" panose="02010609060101010101" pitchFamily="1" charset="-122"/>
            </a:endParaRPr>
          </a:p>
          <a:p>
            <a:pPr>
              <a:lnSpc>
                <a:spcPct val="120000"/>
              </a:lnSpc>
              <a:buFont typeface="Wingdings" panose="05000000000000000000" charset="0"/>
            </a:pPr>
            <a:r>
              <a:rPr lang="en-US" altLang="zh-CN" sz="2200">
                <a:solidFill>
                  <a:srgbClr val="FF0000"/>
                </a:solidFill>
                <a:latin typeface="楷体" panose="02010609060101010101" pitchFamily="1" charset="-122"/>
                <a:ea typeface="楷体" panose="02010609060101010101" pitchFamily="1" charset="-122"/>
              </a:rPr>
              <a:t>“{ }”</a:t>
            </a:r>
            <a:r>
              <a:rPr lang="zh-CN" altLang="zh-CN" sz="2200">
                <a:latin typeface="楷体" panose="02010609060101010101" pitchFamily="1" charset="-122"/>
                <a:ea typeface="楷体" panose="02010609060101010101" pitchFamily="1" charset="-122"/>
              </a:rPr>
              <a:t>表示必选其中的一项或多项；</a:t>
            </a:r>
            <a:endParaRPr lang="zh-CN" altLang="zh-CN" sz="2200">
              <a:latin typeface="楷体" panose="02010609060101010101" pitchFamily="1" charset="-122"/>
              <a:ea typeface="楷体" panose="02010609060101010101" pitchFamily="1" charset="-122"/>
            </a:endParaRPr>
          </a:p>
          <a:p>
            <a:pPr>
              <a:lnSpc>
                <a:spcPct val="120000"/>
              </a:lnSpc>
              <a:buFont typeface="Wingdings" panose="05000000000000000000" charset="0"/>
            </a:pPr>
            <a:r>
              <a:rPr lang="en-US" altLang="zh-CN" sz="2200">
                <a:solidFill>
                  <a:srgbClr val="FF0000"/>
                </a:solidFill>
                <a:latin typeface="楷体" panose="02010609060101010101" pitchFamily="1" charset="-122"/>
                <a:ea typeface="楷体" panose="02010609060101010101" pitchFamily="1" charset="-122"/>
              </a:rPr>
              <a:t>“[,…n]”</a:t>
            </a:r>
            <a:r>
              <a:rPr lang="zh-CN" altLang="zh-CN" sz="2200">
                <a:latin typeface="楷体" panose="02010609060101010101" pitchFamily="1" charset="-122"/>
                <a:ea typeface="楷体" panose="02010609060101010101" pitchFamily="1" charset="-122"/>
              </a:rPr>
              <a:t>表示可按它前面部分（或块）的样式重复。</a:t>
            </a:r>
            <a:endParaRPr lang="zh-CN" altLang="zh-CN" sz="2200">
              <a:latin typeface="楷体" panose="02010609060101010101" pitchFamily="1" charset="-122"/>
              <a:ea typeface="楷体" panose="02010609060101010101" pitchFamily="1" charset="-122"/>
            </a:endParaRPr>
          </a:p>
        </p:txBody>
      </p:sp>
      <p:sp>
        <p:nvSpPr>
          <p:cNvPr id="13317" name="矩形 4"/>
          <p:cNvSpPr/>
          <p:nvPr/>
        </p:nvSpPr>
        <p:spPr>
          <a:xfrm>
            <a:off x="711200" y="5159375"/>
            <a:ext cx="7721600" cy="457200"/>
          </a:xfrm>
          <a:prstGeom prst="rect">
            <a:avLst/>
          </a:prstGeom>
          <a:solidFill>
            <a:schemeClr val="accent1"/>
          </a:solidFill>
          <a:ln w="9525">
            <a:noFill/>
          </a:ln>
        </p:spPr>
        <p:txBody>
          <a:bodyPr wrap="square" anchor="t" anchorCtr="0">
            <a:spAutoFit/>
          </a:bodyPr>
          <a:p>
            <a:r>
              <a:rPr lang="en-US" altLang="zh-CN" sz="2400" dirty="0">
                <a:latin typeface="楷体" panose="02010609060101010101" pitchFamily="1" charset="-122"/>
                <a:ea typeface="楷体" panose="02010609060101010101" pitchFamily="1" charset="-122"/>
              </a:rPr>
              <a:t>“&lt; &gt;”</a:t>
            </a:r>
            <a:r>
              <a:rPr lang="zh-CN" altLang="zh-CN" sz="2400" dirty="0">
                <a:latin typeface="楷体" panose="02010609060101010101" pitchFamily="1" charset="-122"/>
                <a:ea typeface="楷体" panose="02010609060101010101" pitchFamily="1" charset="-122"/>
              </a:rPr>
              <a:t>、</a:t>
            </a:r>
            <a:r>
              <a:rPr lang="en-US" altLang="zh-CN" sz="2400" dirty="0">
                <a:latin typeface="楷体" panose="02010609060101010101" pitchFamily="1" charset="-122"/>
                <a:ea typeface="楷体" panose="02010609060101010101" pitchFamily="1" charset="-122"/>
              </a:rPr>
              <a:t>“{ }”</a:t>
            </a:r>
            <a:r>
              <a:rPr lang="zh-CN" altLang="zh-CN" sz="2400" dirty="0">
                <a:latin typeface="楷体" panose="02010609060101010101" pitchFamily="1" charset="-122"/>
                <a:ea typeface="楷体" panose="02010609060101010101" pitchFamily="1" charset="-122"/>
              </a:rPr>
              <a:t>和</a:t>
            </a:r>
            <a:r>
              <a:rPr lang="en-US" altLang="zh-CN" sz="2400" dirty="0">
                <a:latin typeface="楷体" panose="02010609060101010101" pitchFamily="1" charset="-122"/>
                <a:ea typeface="楷体" panose="02010609060101010101" pitchFamily="1" charset="-122"/>
              </a:rPr>
              <a:t>“…”</a:t>
            </a:r>
            <a:r>
              <a:rPr lang="zh-CN" altLang="en-US" sz="2400" dirty="0">
                <a:latin typeface="楷体" panose="02010609060101010101" pitchFamily="1" charset="-122"/>
                <a:ea typeface="楷体" panose="02010609060101010101" pitchFamily="1" charset="-122"/>
              </a:rPr>
              <a:t>不能出现在构造语句的</a:t>
            </a:r>
            <a:r>
              <a:rPr lang="en-US" altLang="zh-CN" sz="2400" dirty="0">
                <a:latin typeface="楷体" panose="02010609060101010101" pitchFamily="1" charset="-122"/>
                <a:ea typeface="楷体" panose="02010609060101010101" pitchFamily="1" charset="-122"/>
              </a:rPr>
              <a:t>SQL</a:t>
            </a:r>
            <a:r>
              <a:rPr lang="zh-CN" altLang="zh-CN" sz="2400" dirty="0">
                <a:latin typeface="楷体" panose="02010609060101010101" pitchFamily="1" charset="-122"/>
                <a:ea typeface="楷体" panose="02010609060101010101" pitchFamily="1" charset="-122"/>
              </a:rPr>
              <a:t>中。</a:t>
            </a:r>
            <a:endParaRPr lang="zh-CN" altLang="zh-CN" sz="2400" dirty="0">
              <a:latin typeface="楷体" panose="02010609060101010101" pitchFamily="1" charset="-122"/>
              <a:ea typeface="楷体" panose="02010609060101010101" pitchFamily="1" charset="-122"/>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14338" name="矩形 2"/>
          <p:cNvSpPr/>
          <p:nvPr/>
        </p:nvSpPr>
        <p:spPr>
          <a:xfrm>
            <a:off x="530225" y="842963"/>
            <a:ext cx="4321175" cy="517525"/>
          </a:xfrm>
          <a:prstGeom prst="rect">
            <a:avLst/>
          </a:prstGeom>
          <a:noFill/>
          <a:ln w="9525">
            <a:noFill/>
          </a:ln>
        </p:spPr>
        <p:txBody>
          <a:bodyPr wrap="none" anchor="t" anchorCtr="0">
            <a:spAutoFit/>
          </a:bodyPr>
          <a:p>
            <a:r>
              <a:rPr lang="en-US" altLang="zh-CN" sz="2800" dirty="0">
                <a:solidFill>
                  <a:srgbClr val="0033CC"/>
                </a:solidFill>
                <a:latin typeface="黑体" panose="02010609060101010101" pitchFamily="1" charset="-122"/>
                <a:ea typeface="黑体" panose="02010609060101010101" pitchFamily="1" charset="-122"/>
              </a:rPr>
              <a:t>3.</a:t>
            </a:r>
            <a:r>
              <a:rPr lang="zh-CN" altLang="en-US" sz="2800" dirty="0">
                <a:solidFill>
                  <a:srgbClr val="0033CC"/>
                </a:solidFill>
                <a:latin typeface="黑体" panose="02010609060101010101" pitchFamily="1" charset="-122"/>
                <a:ea typeface="黑体" panose="02010609060101010101" pitchFamily="1" charset="-122"/>
              </a:rPr>
              <a:t>定义数据库及日志</a:t>
            </a:r>
            <a:r>
              <a:rPr lang="en-US" altLang="zh-CN" sz="2400" dirty="0">
                <a:solidFill>
                  <a:srgbClr val="FF0000"/>
                </a:solidFill>
                <a:latin typeface="黑体" panose="02010609060101010101" pitchFamily="1" charset="-122"/>
                <a:ea typeface="黑体" panose="02010609060101010101" pitchFamily="1" charset="-122"/>
              </a:rPr>
              <a:t>—</a:t>
            </a:r>
            <a:r>
              <a:rPr lang="zh-CN" altLang="en-US" sz="2400" dirty="0">
                <a:solidFill>
                  <a:srgbClr val="FF0000"/>
                </a:solidFill>
                <a:latin typeface="黑体" panose="02010609060101010101" pitchFamily="1" charset="-122"/>
                <a:ea typeface="黑体" panose="02010609060101010101" pitchFamily="1" charset="-122"/>
              </a:rPr>
              <a:t>创建</a:t>
            </a:r>
            <a:endParaRPr lang="zh-CN" altLang="en-US" sz="2400" dirty="0">
              <a:solidFill>
                <a:srgbClr val="FF0000"/>
              </a:solidFill>
              <a:latin typeface="黑体" panose="02010609060101010101" pitchFamily="1" charset="-122"/>
              <a:ea typeface="黑体" panose="02010609060101010101" pitchFamily="1" charset="-122"/>
            </a:endParaRPr>
          </a:p>
        </p:txBody>
      </p:sp>
      <p:grpSp>
        <p:nvGrpSpPr>
          <p:cNvPr id="11268" name="Group 2"/>
          <p:cNvGrpSpPr/>
          <p:nvPr/>
        </p:nvGrpSpPr>
        <p:grpSpPr>
          <a:xfrm>
            <a:off x="2787650" y="3517900"/>
            <a:ext cx="5846763" cy="1112838"/>
            <a:chOff x="0" y="0"/>
            <a:chExt cx="3419" cy="701"/>
          </a:xfrm>
        </p:grpSpPr>
        <p:sp>
          <p:nvSpPr>
            <p:cNvPr id="14340" name="Oval 3"/>
            <p:cNvSpPr/>
            <p:nvPr/>
          </p:nvSpPr>
          <p:spPr>
            <a:xfrm>
              <a:off x="0" y="317"/>
              <a:ext cx="1008" cy="384"/>
            </a:xfrm>
            <a:prstGeom prst="ellipse">
              <a:avLst/>
            </a:prstGeom>
            <a:solidFill>
              <a:srgbClr val="FFCC99">
                <a:alpha val="28000"/>
              </a:srgbClr>
            </a:solidFill>
            <a:ln w="28575" cap="flat" cmpd="sng">
              <a:solidFill>
                <a:srgbClr val="000000"/>
              </a:solidFill>
              <a:prstDash val="solid"/>
              <a:round/>
              <a:headEnd type="none" w="med" len="med"/>
              <a:tailEnd type="none" w="med" len="med"/>
            </a:ln>
          </p:spPr>
          <p:txBody>
            <a:bodyPr wrap="none" anchor="ctr" anchorCtr="0"/>
            <a:p>
              <a:pPr>
                <a:lnSpc>
                  <a:spcPct val="135000"/>
                </a:lnSpc>
                <a:buFont typeface="Arial" panose="020B0604020202020204" pitchFamily="34" charset="0"/>
                <a:buChar char="•"/>
              </a:pPr>
              <a:endParaRPr lang="zh-CN" altLang="en-US" dirty="0">
                <a:latin typeface="Arial" panose="020B0604020202020204" pitchFamily="34" charset="0"/>
                <a:ea typeface="宋体" panose="02010600030101010101" pitchFamily="2" charset="-122"/>
              </a:endParaRPr>
            </a:p>
          </p:txBody>
        </p:sp>
        <p:sp>
          <p:nvSpPr>
            <p:cNvPr id="14341" name="Line 4"/>
            <p:cNvSpPr/>
            <p:nvPr/>
          </p:nvSpPr>
          <p:spPr>
            <a:xfrm flipV="1">
              <a:off x="923" y="210"/>
              <a:ext cx="528" cy="192"/>
            </a:xfrm>
            <a:prstGeom prst="line">
              <a:avLst/>
            </a:prstGeom>
            <a:ln w="19050" cap="flat" cmpd="sng">
              <a:solidFill>
                <a:schemeClr val="tx1"/>
              </a:solidFill>
              <a:prstDash val="solid"/>
              <a:round/>
              <a:headEnd type="none" w="med" len="med"/>
              <a:tailEnd type="none" w="med" len="med"/>
            </a:ln>
          </p:spPr>
        </p:sp>
        <p:sp>
          <p:nvSpPr>
            <p:cNvPr id="14342" name="AutoShape 5"/>
            <p:cNvSpPr/>
            <p:nvPr/>
          </p:nvSpPr>
          <p:spPr>
            <a:xfrm>
              <a:off x="1451" y="0"/>
              <a:ext cx="1968" cy="336"/>
            </a:xfrm>
            <a:prstGeom prst="roundRect">
              <a:avLst>
                <a:gd name="adj" fmla="val 16667"/>
              </a:avLst>
            </a:prstGeom>
            <a:solidFill>
              <a:srgbClr val="FBE2B1"/>
            </a:solidFill>
            <a:ln w="9525" cap="flat" cmpd="sng">
              <a:solidFill>
                <a:schemeClr val="tx1"/>
              </a:solidFill>
              <a:prstDash val="solid"/>
              <a:round/>
              <a:headEnd type="none" w="med" len="med"/>
              <a:tailEnd type="none" w="med" len="med"/>
            </a:ln>
          </p:spPr>
          <p:txBody>
            <a:bodyPr wrap="none" anchor="ctr" anchorCtr="0"/>
            <a:p>
              <a:pPr algn="ctr">
                <a:lnSpc>
                  <a:spcPct val="135000"/>
                </a:lnSpc>
              </a:pPr>
              <a:r>
                <a:rPr lang="zh-CN" altLang="en-US" sz="2400" dirty="0">
                  <a:solidFill>
                    <a:srgbClr val="003300"/>
                  </a:solidFill>
                  <a:latin typeface="宋体" panose="02010600030101010101" pitchFamily="2" charset="-122"/>
                  <a:ea typeface="宋体" panose="02010600030101010101" pitchFamily="2" charset="-122"/>
                </a:rPr>
                <a:t>数据空间的第一个文件</a:t>
              </a:r>
              <a:endParaRPr lang="zh-CN" altLang="en-US" sz="2400" dirty="0">
                <a:solidFill>
                  <a:srgbClr val="003300"/>
                </a:solidFill>
                <a:latin typeface="宋体" panose="02010600030101010101" pitchFamily="2" charset="-122"/>
                <a:ea typeface="宋体" panose="02010600030101010101" pitchFamily="2" charset="-122"/>
              </a:endParaRPr>
            </a:p>
          </p:txBody>
        </p:sp>
      </p:grpSp>
      <p:grpSp>
        <p:nvGrpSpPr>
          <p:cNvPr id="11272" name="Group 6"/>
          <p:cNvGrpSpPr/>
          <p:nvPr/>
        </p:nvGrpSpPr>
        <p:grpSpPr>
          <a:xfrm>
            <a:off x="461963" y="2960688"/>
            <a:ext cx="6629400" cy="795337"/>
            <a:chOff x="0" y="0"/>
            <a:chExt cx="4176" cy="501"/>
          </a:xfrm>
        </p:grpSpPr>
        <p:sp>
          <p:nvSpPr>
            <p:cNvPr id="14344" name="AutoShape 7"/>
            <p:cNvSpPr/>
            <p:nvPr/>
          </p:nvSpPr>
          <p:spPr>
            <a:xfrm>
              <a:off x="0" y="199"/>
              <a:ext cx="2514" cy="302"/>
            </a:xfrm>
            <a:prstGeom prst="roundRect">
              <a:avLst>
                <a:gd name="adj" fmla="val 16667"/>
              </a:avLst>
            </a:prstGeom>
            <a:solidFill>
              <a:srgbClr val="CACFF6">
                <a:alpha val="50000"/>
              </a:srgbClr>
            </a:solidFill>
            <a:ln w="9525" cap="flat" cmpd="sng">
              <a:solidFill>
                <a:schemeClr val="tx1"/>
              </a:solidFill>
              <a:prstDash val="solid"/>
              <a:round/>
              <a:headEnd type="none" w="med" len="med"/>
              <a:tailEnd type="none" w="med" len="med"/>
            </a:ln>
          </p:spPr>
          <p:txBody>
            <a:bodyPr wrap="none" anchor="ctr" anchorCtr="0"/>
            <a:p>
              <a:pPr>
                <a:lnSpc>
                  <a:spcPct val="135000"/>
                </a:lnSpc>
                <a:buFont typeface="Arial" panose="020B0604020202020204" pitchFamily="34" charset="0"/>
                <a:buChar char="•"/>
              </a:pPr>
              <a:endParaRPr lang="zh-CN" altLang="en-US" dirty="0">
                <a:latin typeface="Arial" panose="020B0604020202020204" pitchFamily="34" charset="0"/>
                <a:ea typeface="宋体" panose="02010600030101010101" pitchFamily="2" charset="-122"/>
              </a:endParaRPr>
            </a:p>
          </p:txBody>
        </p:sp>
        <p:sp>
          <p:nvSpPr>
            <p:cNvPr id="14345" name="AutoShape 8"/>
            <p:cNvSpPr/>
            <p:nvPr/>
          </p:nvSpPr>
          <p:spPr>
            <a:xfrm>
              <a:off x="3264" y="0"/>
              <a:ext cx="912" cy="288"/>
            </a:xfrm>
            <a:prstGeom prst="roundRect">
              <a:avLst>
                <a:gd name="adj" fmla="val 16667"/>
              </a:avLst>
            </a:prstGeom>
            <a:solidFill>
              <a:srgbClr val="FBE2B1"/>
            </a:solidFill>
            <a:ln w="9525" cap="flat" cmpd="sng">
              <a:solidFill>
                <a:schemeClr val="tx1"/>
              </a:solidFill>
              <a:prstDash val="solid"/>
              <a:round/>
              <a:headEnd type="none" w="med" len="med"/>
              <a:tailEnd type="none" w="med" len="med"/>
            </a:ln>
          </p:spPr>
          <p:txBody>
            <a:bodyPr wrap="none" anchor="ctr" anchorCtr="0"/>
            <a:p>
              <a:pPr algn="ctr">
                <a:lnSpc>
                  <a:spcPct val="135000"/>
                </a:lnSpc>
              </a:pPr>
              <a:r>
                <a:rPr lang="zh-CN" altLang="en-US" sz="2400" dirty="0">
                  <a:solidFill>
                    <a:srgbClr val="003300"/>
                  </a:solidFill>
                  <a:latin typeface="宋体" panose="02010600030101010101" pitchFamily="2" charset="-122"/>
                  <a:ea typeface="宋体" panose="02010600030101010101" pitchFamily="2" charset="-122"/>
                </a:rPr>
                <a:t>定义日志</a:t>
              </a:r>
              <a:endParaRPr lang="zh-CN" altLang="en-US" sz="2400" dirty="0">
                <a:solidFill>
                  <a:srgbClr val="003300"/>
                </a:solidFill>
                <a:latin typeface="宋体" panose="02010600030101010101" pitchFamily="2" charset="-122"/>
                <a:ea typeface="宋体" panose="02010600030101010101" pitchFamily="2" charset="-122"/>
              </a:endParaRPr>
            </a:p>
          </p:txBody>
        </p:sp>
        <p:sp>
          <p:nvSpPr>
            <p:cNvPr id="14346" name="Line 9"/>
            <p:cNvSpPr/>
            <p:nvPr/>
          </p:nvSpPr>
          <p:spPr>
            <a:xfrm flipV="1">
              <a:off x="2496" y="192"/>
              <a:ext cx="768" cy="199"/>
            </a:xfrm>
            <a:prstGeom prst="line">
              <a:avLst/>
            </a:prstGeom>
            <a:ln w="19050" cap="flat" cmpd="sng">
              <a:solidFill>
                <a:schemeClr val="tx1"/>
              </a:solidFill>
              <a:prstDash val="solid"/>
              <a:round/>
              <a:headEnd type="none" w="med" len="med"/>
              <a:tailEnd type="none" w="med" len="med"/>
            </a:ln>
          </p:spPr>
        </p:sp>
      </p:grpSp>
      <p:grpSp>
        <p:nvGrpSpPr>
          <p:cNvPr id="11276" name="Group 10"/>
          <p:cNvGrpSpPr/>
          <p:nvPr/>
        </p:nvGrpSpPr>
        <p:grpSpPr>
          <a:xfrm>
            <a:off x="477838" y="2460625"/>
            <a:ext cx="7239000" cy="700088"/>
            <a:chOff x="0" y="0"/>
            <a:chExt cx="4560" cy="441"/>
          </a:xfrm>
        </p:grpSpPr>
        <p:sp>
          <p:nvSpPr>
            <p:cNvPr id="14348" name="AutoShape 11"/>
            <p:cNvSpPr/>
            <p:nvPr/>
          </p:nvSpPr>
          <p:spPr>
            <a:xfrm>
              <a:off x="0" y="144"/>
              <a:ext cx="2304" cy="297"/>
            </a:xfrm>
            <a:prstGeom prst="roundRect">
              <a:avLst>
                <a:gd name="adj" fmla="val 16667"/>
              </a:avLst>
            </a:prstGeom>
            <a:solidFill>
              <a:srgbClr val="CACFF6">
                <a:alpha val="50000"/>
              </a:srgbClr>
            </a:solidFill>
            <a:ln w="9525" cap="flat" cmpd="sng">
              <a:solidFill>
                <a:schemeClr val="tx1"/>
              </a:solidFill>
              <a:prstDash val="solid"/>
              <a:round/>
              <a:headEnd type="none" w="med" len="med"/>
              <a:tailEnd type="none" w="med" len="med"/>
            </a:ln>
          </p:spPr>
          <p:txBody>
            <a:bodyPr wrap="none" anchor="ctr" anchorCtr="0"/>
            <a:p>
              <a:pPr>
                <a:lnSpc>
                  <a:spcPct val="135000"/>
                </a:lnSpc>
                <a:buFont typeface="Arial" panose="020B0604020202020204" pitchFamily="34" charset="0"/>
                <a:buChar char="•"/>
              </a:pPr>
              <a:endParaRPr lang="zh-CN" altLang="en-US" dirty="0">
                <a:latin typeface="Arial" panose="020B0604020202020204" pitchFamily="34" charset="0"/>
                <a:ea typeface="宋体" panose="02010600030101010101" pitchFamily="2" charset="-122"/>
              </a:endParaRPr>
            </a:p>
          </p:txBody>
        </p:sp>
        <p:sp>
          <p:nvSpPr>
            <p:cNvPr id="14349" name="AutoShape 12"/>
            <p:cNvSpPr/>
            <p:nvPr/>
          </p:nvSpPr>
          <p:spPr>
            <a:xfrm>
              <a:off x="3264" y="0"/>
              <a:ext cx="1296" cy="288"/>
            </a:xfrm>
            <a:prstGeom prst="roundRect">
              <a:avLst>
                <a:gd name="adj" fmla="val 16667"/>
              </a:avLst>
            </a:prstGeom>
            <a:solidFill>
              <a:srgbClr val="FBE2B1"/>
            </a:solidFill>
            <a:ln w="9525" cap="flat" cmpd="sng">
              <a:solidFill>
                <a:schemeClr val="tx1"/>
              </a:solidFill>
              <a:prstDash val="solid"/>
              <a:round/>
              <a:headEnd type="none" w="med" len="med"/>
              <a:tailEnd type="none" w="med" len="med"/>
            </a:ln>
          </p:spPr>
          <p:txBody>
            <a:bodyPr wrap="none" anchor="ctr" anchorCtr="0"/>
            <a:p>
              <a:pPr algn="ctr">
                <a:lnSpc>
                  <a:spcPct val="135000"/>
                </a:lnSpc>
              </a:pPr>
              <a:r>
                <a:rPr lang="zh-CN" altLang="en-US" sz="2400" dirty="0">
                  <a:solidFill>
                    <a:srgbClr val="003300"/>
                  </a:solidFill>
                  <a:latin typeface="宋体" panose="02010600030101010101" pitchFamily="2" charset="-122"/>
                  <a:ea typeface="宋体" panose="02010600030101010101" pitchFamily="2" charset="-122"/>
                </a:rPr>
                <a:t>定义数据空间</a:t>
              </a:r>
              <a:endParaRPr lang="zh-CN" altLang="en-US" sz="2400" dirty="0">
                <a:solidFill>
                  <a:srgbClr val="003300"/>
                </a:solidFill>
                <a:latin typeface="宋体" panose="02010600030101010101" pitchFamily="2" charset="-122"/>
                <a:ea typeface="宋体" panose="02010600030101010101" pitchFamily="2" charset="-122"/>
              </a:endParaRPr>
            </a:p>
          </p:txBody>
        </p:sp>
        <p:sp>
          <p:nvSpPr>
            <p:cNvPr id="14350" name="Line 13"/>
            <p:cNvSpPr/>
            <p:nvPr/>
          </p:nvSpPr>
          <p:spPr>
            <a:xfrm flipV="1">
              <a:off x="2341" y="34"/>
              <a:ext cx="960" cy="288"/>
            </a:xfrm>
            <a:prstGeom prst="line">
              <a:avLst/>
            </a:prstGeom>
            <a:ln w="19050" cap="flat" cmpd="sng">
              <a:solidFill>
                <a:schemeClr val="tx1"/>
              </a:solidFill>
              <a:prstDash val="solid"/>
              <a:round/>
              <a:headEnd type="none" w="med" len="med"/>
              <a:tailEnd type="none" w="med" len="med"/>
            </a:ln>
          </p:spPr>
        </p:sp>
      </p:grpSp>
      <p:sp>
        <p:nvSpPr>
          <p:cNvPr id="11280" name="Oval 14"/>
          <p:cNvSpPr/>
          <p:nvPr/>
        </p:nvSpPr>
        <p:spPr>
          <a:xfrm>
            <a:off x="1970088" y="1938338"/>
            <a:ext cx="1800225" cy="647700"/>
          </a:xfrm>
          <a:prstGeom prst="ellipse">
            <a:avLst/>
          </a:prstGeom>
          <a:solidFill>
            <a:srgbClr val="CCFFCC">
              <a:alpha val="23999"/>
            </a:srgbClr>
          </a:solidFill>
          <a:ln w="28575" cap="flat" cmpd="sng">
            <a:solidFill>
              <a:srgbClr val="000000"/>
            </a:solidFill>
            <a:prstDash val="solid"/>
            <a:round/>
            <a:headEnd type="none" w="med" len="med"/>
            <a:tailEnd type="none" w="med" len="med"/>
          </a:ln>
        </p:spPr>
        <p:txBody>
          <a:bodyPr wrap="none" anchor="ctr" anchorCtr="0"/>
          <a:p>
            <a:pPr>
              <a:lnSpc>
                <a:spcPct val="135000"/>
              </a:lnSpc>
              <a:buFont typeface="Arial" panose="020B0604020202020204" pitchFamily="34" charset="0"/>
              <a:buChar char="•"/>
            </a:pPr>
            <a:endParaRPr lang="zh-CN" altLang="en-US" dirty="0">
              <a:latin typeface="Arial" panose="020B0604020202020204" pitchFamily="34" charset="0"/>
              <a:ea typeface="宋体" panose="02010600030101010101" pitchFamily="2" charset="-122"/>
            </a:endParaRPr>
          </a:p>
        </p:txBody>
      </p:sp>
      <p:sp>
        <p:nvSpPr>
          <p:cNvPr id="11281" name="Rectangle 16"/>
          <p:cNvSpPr txBox="1"/>
          <p:nvPr/>
        </p:nvSpPr>
        <p:spPr>
          <a:xfrm>
            <a:off x="528638" y="2008188"/>
            <a:ext cx="8077200" cy="609600"/>
          </a:xfrm>
          <a:prstGeom prst="rect">
            <a:avLst/>
          </a:prstGeom>
          <a:noFill/>
          <a:ln w="9525">
            <a:noFill/>
          </a:ln>
        </p:spPr>
        <p:txBody>
          <a:bodyPr anchor="t" anchorCtr="0"/>
          <a:p>
            <a:pPr marL="342900" indent="-342900">
              <a:spcBef>
                <a:spcPct val="20000"/>
              </a:spcBef>
              <a:buClr>
                <a:srgbClr val="0033CC"/>
              </a:buClr>
              <a:buSzPct val="80000"/>
            </a:pPr>
            <a:r>
              <a:rPr lang="en-US" altLang="zh-CN" sz="2400" dirty="0">
                <a:latin typeface="Times New Roman" panose="02020603050405020304" pitchFamily="2" charset="0"/>
                <a:ea typeface="宋体" panose="02010600030101010101" pitchFamily="2" charset="-122"/>
              </a:rPr>
              <a:t>CREATE </a:t>
            </a:r>
            <a:r>
              <a:rPr lang="en-US" altLang="zh-CN" sz="2400" dirty="0">
                <a:solidFill>
                  <a:srgbClr val="336600"/>
                </a:solidFill>
                <a:latin typeface="Times New Roman" panose="02020603050405020304" pitchFamily="2" charset="0"/>
                <a:ea typeface="宋体" panose="02010600030101010101" pitchFamily="2" charset="-122"/>
              </a:rPr>
              <a:t>DATABASE   </a:t>
            </a:r>
            <a:r>
              <a:rPr lang="en-US" altLang="zh-CN" sz="2400" dirty="0">
                <a:latin typeface="Times New Roman" panose="02020603050405020304" pitchFamily="2" charset="0"/>
                <a:ea typeface="宋体" panose="02010600030101010101" pitchFamily="2" charset="-122"/>
              </a:rPr>
              <a:t> </a:t>
            </a:r>
            <a:r>
              <a:rPr lang="en-US" altLang="zh-CN" sz="2400" dirty="0">
                <a:solidFill>
                  <a:srgbClr val="CC0000"/>
                </a:solidFill>
                <a:latin typeface="Times New Roman" panose="02020603050405020304" pitchFamily="2" charset="0"/>
                <a:ea typeface="宋体" panose="02010600030101010101" pitchFamily="2" charset="-122"/>
              </a:rPr>
              <a:t>StuData</a:t>
            </a:r>
            <a:endParaRPr lang="en-US" altLang="zh-CN" sz="2400" dirty="0">
              <a:solidFill>
                <a:srgbClr val="CC0000"/>
              </a:solidFill>
              <a:latin typeface="Times New Roman" panose="02020603050405020304" pitchFamily="2" charset="0"/>
              <a:ea typeface="宋体" panose="02010600030101010101" pitchFamily="2" charset="-122"/>
            </a:endParaRPr>
          </a:p>
        </p:txBody>
      </p:sp>
      <p:sp>
        <p:nvSpPr>
          <p:cNvPr id="11282" name="Text Box 17"/>
          <p:cNvSpPr txBox="1"/>
          <p:nvPr/>
        </p:nvSpPr>
        <p:spPr>
          <a:xfrm>
            <a:off x="600075" y="2655888"/>
            <a:ext cx="3767138" cy="400050"/>
          </a:xfrm>
          <a:prstGeom prst="rect">
            <a:avLst/>
          </a:prstGeom>
          <a:noFill/>
          <a:ln w="9525">
            <a:noFill/>
          </a:ln>
        </p:spPr>
        <p:txBody>
          <a:bodyPr anchor="t" anchorCtr="0">
            <a:spAutoFit/>
          </a:bodyPr>
          <a:p>
            <a:r>
              <a:rPr lang="en-US" altLang="zh-CN" sz="2000" dirty="0">
                <a:solidFill>
                  <a:srgbClr val="0000CC"/>
                </a:solidFill>
                <a:latin typeface="Times New Roman" panose="02020603050405020304" pitchFamily="2" charset="0"/>
                <a:ea typeface="方正姚体" panose="02010601030101010101" pitchFamily="2" charset="-122"/>
              </a:rPr>
              <a:t>[ ON   [ &lt; </a:t>
            </a:r>
            <a:r>
              <a:rPr lang="en-US" altLang="zh-CN" sz="2000" dirty="0">
                <a:solidFill>
                  <a:srgbClr val="CC0000"/>
                </a:solidFill>
                <a:latin typeface="Times New Roman" panose="02020603050405020304" pitchFamily="2" charset="0"/>
                <a:ea typeface="方正姚体" panose="02010601030101010101" pitchFamily="2" charset="-122"/>
              </a:rPr>
              <a:t>filespec</a:t>
            </a:r>
            <a:r>
              <a:rPr lang="en-US" altLang="zh-CN" sz="2000" dirty="0">
                <a:solidFill>
                  <a:srgbClr val="0000CC"/>
                </a:solidFill>
                <a:latin typeface="Times New Roman" panose="02020603050405020304" pitchFamily="2" charset="0"/>
                <a:ea typeface="方正姚体" panose="02010601030101010101" pitchFamily="2" charset="-122"/>
              </a:rPr>
              <a:t> &gt; [ ,...n ] ] ] </a:t>
            </a:r>
            <a:endParaRPr lang="en-US" altLang="zh-CN" sz="2000" dirty="0">
              <a:solidFill>
                <a:srgbClr val="0000CC"/>
              </a:solidFill>
              <a:latin typeface="Times New Roman" panose="02020603050405020304" pitchFamily="2" charset="0"/>
              <a:ea typeface="方正姚体" panose="02010601030101010101" pitchFamily="2" charset="-122"/>
            </a:endParaRPr>
          </a:p>
        </p:txBody>
      </p:sp>
      <p:sp>
        <p:nvSpPr>
          <p:cNvPr id="11283" name="Text Box 18"/>
          <p:cNvSpPr txBox="1"/>
          <p:nvPr/>
        </p:nvSpPr>
        <p:spPr>
          <a:xfrm>
            <a:off x="571500" y="3346450"/>
            <a:ext cx="3795713" cy="400050"/>
          </a:xfrm>
          <a:prstGeom prst="rect">
            <a:avLst/>
          </a:prstGeom>
          <a:noFill/>
          <a:ln w="9525">
            <a:noFill/>
          </a:ln>
        </p:spPr>
        <p:txBody>
          <a:bodyPr anchor="t" anchorCtr="0">
            <a:spAutoFit/>
          </a:bodyPr>
          <a:p>
            <a:r>
              <a:rPr lang="en-US" altLang="zh-CN" sz="2000" dirty="0">
                <a:solidFill>
                  <a:srgbClr val="0000CC"/>
                </a:solidFill>
                <a:latin typeface="Times New Roman" panose="02020603050405020304" pitchFamily="2" charset="0"/>
                <a:ea typeface="方正姚体" panose="02010601030101010101" pitchFamily="2" charset="-122"/>
              </a:rPr>
              <a:t>[ LOG ON  </a:t>
            </a:r>
            <a:r>
              <a:rPr lang="en-US" altLang="zh-CN" sz="2000" dirty="0">
                <a:solidFill>
                  <a:srgbClr val="0000CC"/>
                </a:solidFill>
                <a:latin typeface="Times New Roman" panose="02020603050405020304" pitchFamily="2" charset="0"/>
                <a:ea typeface="宋体" panose="02010600030101010101" pitchFamily="2" charset="-122"/>
              </a:rPr>
              <a:t>{</a:t>
            </a:r>
            <a:r>
              <a:rPr lang="en-US" altLang="zh-CN" sz="2000" dirty="0">
                <a:solidFill>
                  <a:srgbClr val="0000CC"/>
                </a:solidFill>
                <a:latin typeface="Times New Roman" panose="02020603050405020304" pitchFamily="2" charset="0"/>
                <a:ea typeface="方正姚体" panose="02010601030101010101" pitchFamily="2" charset="-122"/>
              </a:rPr>
              <a:t>&lt;</a:t>
            </a:r>
            <a:r>
              <a:rPr lang="en-US" altLang="zh-CN" sz="2000" dirty="0">
                <a:solidFill>
                  <a:srgbClr val="CC0000"/>
                </a:solidFill>
                <a:latin typeface="Times New Roman" panose="02020603050405020304" pitchFamily="2" charset="0"/>
                <a:ea typeface="方正姚体" panose="02010601030101010101" pitchFamily="2" charset="-122"/>
              </a:rPr>
              <a:t> filespec </a:t>
            </a:r>
            <a:r>
              <a:rPr lang="en-US" altLang="zh-CN" sz="2000" dirty="0">
                <a:solidFill>
                  <a:srgbClr val="0000CC"/>
                </a:solidFill>
                <a:latin typeface="Times New Roman" panose="02020603050405020304" pitchFamily="2" charset="0"/>
                <a:ea typeface="方正姚体" panose="02010601030101010101" pitchFamily="2" charset="-122"/>
              </a:rPr>
              <a:t>&gt; [ ,...n ] </a:t>
            </a:r>
            <a:r>
              <a:rPr lang="en-US" altLang="zh-CN" sz="2000" dirty="0">
                <a:solidFill>
                  <a:srgbClr val="0000CC"/>
                </a:solidFill>
                <a:latin typeface="Times New Roman" panose="02020603050405020304" pitchFamily="2" charset="0"/>
                <a:ea typeface="宋体" panose="02010600030101010101" pitchFamily="2" charset="-122"/>
              </a:rPr>
              <a:t>}</a:t>
            </a:r>
            <a:r>
              <a:rPr lang="en-US" altLang="zh-CN" sz="2000" dirty="0">
                <a:solidFill>
                  <a:srgbClr val="0000CC"/>
                </a:solidFill>
                <a:latin typeface="Times New Roman" panose="02020603050405020304" pitchFamily="2" charset="0"/>
                <a:ea typeface="方正姚体" panose="02010601030101010101" pitchFamily="2" charset="-122"/>
              </a:rPr>
              <a:t> ] </a:t>
            </a:r>
            <a:endParaRPr lang="en-US" altLang="zh-CN" sz="2000" dirty="0">
              <a:solidFill>
                <a:srgbClr val="0000CC"/>
              </a:solidFill>
              <a:latin typeface="Times New Roman" panose="02020603050405020304" pitchFamily="2" charset="0"/>
              <a:ea typeface="方正姚体" panose="02010601030101010101" pitchFamily="2" charset="-122"/>
            </a:endParaRPr>
          </a:p>
        </p:txBody>
      </p:sp>
      <p:sp>
        <p:nvSpPr>
          <p:cNvPr id="11284" name="Text Box 19"/>
          <p:cNvSpPr txBox="1"/>
          <p:nvPr/>
        </p:nvSpPr>
        <p:spPr>
          <a:xfrm>
            <a:off x="512763" y="4005263"/>
            <a:ext cx="8229600" cy="2308225"/>
          </a:xfrm>
          <a:prstGeom prst="rect">
            <a:avLst/>
          </a:prstGeom>
          <a:noFill/>
          <a:ln w="9525">
            <a:noFill/>
          </a:ln>
        </p:spPr>
        <p:txBody>
          <a:bodyPr anchor="t" anchorCtr="0">
            <a:spAutoFit/>
          </a:bodyPr>
          <a:p>
            <a:pPr marL="190500" lvl="1" indent="0" eaLnBrk="1" hangingPunct="1"/>
            <a:r>
              <a:rPr lang="en-US" altLang="zh-CN" sz="2400" dirty="0">
                <a:solidFill>
                  <a:srgbClr val="0000FF"/>
                </a:solidFill>
                <a:latin typeface="Times New Roman" panose="02020603050405020304" pitchFamily="2" charset="0"/>
                <a:ea typeface="方正姚体" panose="02010601030101010101" pitchFamily="2" charset="-122"/>
              </a:rPr>
              <a:t>&lt; </a:t>
            </a:r>
            <a:r>
              <a:rPr lang="en-US" altLang="zh-CN" sz="2400" dirty="0">
                <a:solidFill>
                  <a:srgbClr val="CC0000"/>
                </a:solidFill>
                <a:latin typeface="Times New Roman" panose="02020603050405020304" pitchFamily="2" charset="0"/>
                <a:ea typeface="方正姚体" panose="02010601030101010101" pitchFamily="2" charset="-122"/>
              </a:rPr>
              <a:t>filespec </a:t>
            </a:r>
            <a:r>
              <a:rPr lang="en-US" altLang="zh-CN" sz="2400" dirty="0">
                <a:solidFill>
                  <a:srgbClr val="0000FF"/>
                </a:solidFill>
                <a:latin typeface="Times New Roman" panose="02020603050405020304" pitchFamily="2" charset="0"/>
                <a:ea typeface="方正姚体" panose="02010601030101010101" pitchFamily="2" charset="-122"/>
              </a:rPr>
              <a:t>&gt;</a:t>
            </a:r>
            <a:r>
              <a:rPr lang="en-US" altLang="zh-CN" sz="2400" dirty="0">
                <a:latin typeface="Times New Roman" panose="02020603050405020304" pitchFamily="2" charset="0"/>
                <a:ea typeface="方正姚体" panose="02010601030101010101" pitchFamily="2" charset="-122"/>
              </a:rPr>
              <a:t> ::= [ </a:t>
            </a:r>
            <a:r>
              <a:rPr lang="en-US" altLang="zh-CN" sz="2400" dirty="0">
                <a:latin typeface="Times New Roman" panose="02020603050405020304" pitchFamily="2" charset="0"/>
                <a:ea typeface="宋体" panose="02010600030101010101" pitchFamily="2" charset="-122"/>
              </a:rPr>
              <a:t>PRIMARY ]</a:t>
            </a:r>
            <a:br>
              <a:rPr lang="en-US" altLang="zh-CN" sz="2400" dirty="0">
                <a:latin typeface="Times New Roman" panose="02020603050405020304" pitchFamily="2" charset="0"/>
                <a:ea typeface="宋体" panose="02010600030101010101" pitchFamily="2" charset="-122"/>
              </a:rPr>
            </a:br>
            <a:r>
              <a:rPr lang="en-US" altLang="zh-CN" sz="2400" dirty="0">
                <a:latin typeface="Times New Roman" panose="02020603050405020304" pitchFamily="2" charset="0"/>
                <a:ea typeface="宋体" panose="02010600030101010101" pitchFamily="2" charset="-122"/>
              </a:rPr>
              <a:t>		     ( [ NAME = </a:t>
            </a:r>
            <a:r>
              <a:rPr lang="zh-CN" altLang="en-US" sz="2400" dirty="0">
                <a:latin typeface="Times New Roman" panose="02020603050405020304" pitchFamily="2" charset="0"/>
                <a:ea typeface="宋体" panose="02010600030101010101" pitchFamily="2" charset="-122"/>
              </a:rPr>
              <a:t>逻辑名 </a:t>
            </a:r>
            <a:r>
              <a:rPr lang="en-US" altLang="zh-CN" sz="2400" dirty="0">
                <a:latin typeface="Times New Roman" panose="02020603050405020304" pitchFamily="2" charset="0"/>
                <a:ea typeface="宋体" panose="02010600030101010101" pitchFamily="2" charset="-122"/>
              </a:rPr>
              <a:t>, ] </a:t>
            </a:r>
            <a:br>
              <a:rPr lang="en-US" altLang="zh-CN" sz="2400" dirty="0">
                <a:latin typeface="Times New Roman" panose="02020603050405020304" pitchFamily="2" charset="0"/>
                <a:ea typeface="宋体" panose="02010600030101010101" pitchFamily="2" charset="-122"/>
              </a:rPr>
            </a:br>
            <a:r>
              <a:rPr lang="en-US" altLang="zh-CN" sz="2400" dirty="0">
                <a:latin typeface="Times New Roman" panose="02020603050405020304" pitchFamily="2" charset="0"/>
                <a:ea typeface="宋体" panose="02010600030101010101" pitchFamily="2" charset="-122"/>
              </a:rPr>
              <a:t>    		        FILENAME = ‘OS</a:t>
            </a:r>
            <a:r>
              <a:rPr lang="zh-CN" altLang="en-US" sz="2400" dirty="0">
                <a:latin typeface="Times New Roman" panose="02020603050405020304" pitchFamily="2" charset="0"/>
                <a:ea typeface="宋体" panose="02010600030101010101" pitchFamily="2" charset="-122"/>
              </a:rPr>
              <a:t>文件的路径及名字’ </a:t>
            </a:r>
            <a:br>
              <a:rPr lang="zh-CN" altLang="en-US" sz="2400" dirty="0">
                <a:latin typeface="Times New Roman" panose="02020603050405020304" pitchFamily="2" charset="0"/>
                <a:ea typeface="宋体" panose="02010600030101010101" pitchFamily="2" charset="-122"/>
              </a:rPr>
            </a:br>
            <a:r>
              <a:rPr lang="zh-CN" altLang="en-US" sz="2400" dirty="0">
                <a:latin typeface="Times New Roman" panose="02020603050405020304" pitchFamily="2" charset="0"/>
                <a:ea typeface="宋体" panose="02010600030101010101" pitchFamily="2" charset="-122"/>
              </a:rPr>
              <a:t>    		        </a:t>
            </a:r>
            <a:r>
              <a:rPr lang="en-US" altLang="zh-CN" sz="2400" dirty="0">
                <a:latin typeface="Times New Roman" panose="02020603050405020304" pitchFamily="2" charset="0"/>
                <a:ea typeface="宋体" panose="02010600030101010101" pitchFamily="2" charset="-122"/>
              </a:rPr>
              <a:t>[ , SIZE = </a:t>
            </a:r>
            <a:r>
              <a:rPr lang="zh-CN" altLang="en-US" sz="2400" dirty="0">
                <a:latin typeface="Times New Roman" panose="02020603050405020304" pitchFamily="2" charset="0"/>
                <a:ea typeface="宋体" panose="02010600030101010101" pitchFamily="2" charset="-122"/>
              </a:rPr>
              <a:t>文件初始大小 </a:t>
            </a:r>
            <a:r>
              <a:rPr lang="en-US" altLang="zh-CN" sz="2400" dirty="0">
                <a:latin typeface="Times New Roman" panose="02020603050405020304" pitchFamily="2" charset="0"/>
                <a:ea typeface="宋体" panose="02010600030101010101" pitchFamily="2" charset="-122"/>
              </a:rPr>
              <a:t>] </a:t>
            </a:r>
            <a:br>
              <a:rPr lang="en-US" altLang="zh-CN" sz="2400" dirty="0">
                <a:latin typeface="Times New Roman" panose="02020603050405020304" pitchFamily="2" charset="0"/>
                <a:ea typeface="宋体" panose="02010600030101010101" pitchFamily="2" charset="-122"/>
              </a:rPr>
            </a:br>
            <a:r>
              <a:rPr lang="en-US" altLang="zh-CN" sz="2400" dirty="0">
                <a:latin typeface="Times New Roman" panose="02020603050405020304" pitchFamily="2" charset="0"/>
                <a:ea typeface="宋体" panose="02010600030101010101" pitchFamily="2" charset="-122"/>
              </a:rPr>
              <a:t>    		        [ , MAXSIZE = { </a:t>
            </a:r>
            <a:r>
              <a:rPr lang="zh-CN" altLang="en-US" sz="2400" dirty="0">
                <a:latin typeface="Times New Roman" panose="02020603050405020304" pitchFamily="2" charset="0"/>
                <a:ea typeface="宋体" panose="02010600030101010101" pitchFamily="2" charset="-122"/>
              </a:rPr>
              <a:t>最大值 </a:t>
            </a:r>
            <a:r>
              <a:rPr lang="en-US" altLang="zh-CN" sz="2400" dirty="0">
                <a:latin typeface="Times New Roman" panose="02020603050405020304" pitchFamily="2" charset="0"/>
                <a:ea typeface="宋体" panose="02010600030101010101" pitchFamily="2" charset="-122"/>
              </a:rPr>
              <a:t>| UNLIMITED } ] </a:t>
            </a:r>
            <a:br>
              <a:rPr lang="en-US" altLang="zh-CN" sz="2400" dirty="0">
                <a:latin typeface="Times New Roman" panose="02020603050405020304" pitchFamily="2" charset="0"/>
                <a:ea typeface="宋体" panose="02010600030101010101" pitchFamily="2" charset="-122"/>
              </a:rPr>
            </a:br>
            <a:r>
              <a:rPr lang="en-US" altLang="zh-CN" sz="2400" dirty="0">
                <a:latin typeface="Times New Roman" panose="02020603050405020304" pitchFamily="2" charset="0"/>
                <a:ea typeface="宋体" panose="02010600030101010101" pitchFamily="2" charset="-122"/>
              </a:rPr>
              <a:t>     		        [ , FILEGROWTH = </a:t>
            </a:r>
            <a:r>
              <a:rPr lang="zh-CN" altLang="en-US" sz="2400" dirty="0">
                <a:latin typeface="Times New Roman" panose="02020603050405020304" pitchFamily="2" charset="0"/>
                <a:ea typeface="宋体" panose="02010600030101010101" pitchFamily="2" charset="-122"/>
              </a:rPr>
              <a:t>文件大小增量值 </a:t>
            </a:r>
            <a:r>
              <a:rPr lang="en-US" altLang="zh-CN" sz="2400" dirty="0">
                <a:latin typeface="Times New Roman" panose="02020603050405020304" pitchFamily="2" charset="0"/>
                <a:ea typeface="宋体" panose="02010600030101010101" pitchFamily="2" charset="-122"/>
              </a:rPr>
              <a:t>] )</a:t>
            </a:r>
            <a:endParaRPr lang="en-US" altLang="zh-CN" sz="2400" dirty="0">
              <a:solidFill>
                <a:srgbClr val="0000CC"/>
              </a:solidFill>
              <a:latin typeface="Times New Roman" panose="02020603050405020304" pitchFamily="2" charset="0"/>
              <a:ea typeface="宋体" panose="02010600030101010101" pitchFamily="2" charset="-122"/>
            </a:endParaRPr>
          </a:p>
        </p:txBody>
      </p:sp>
      <p:grpSp>
        <p:nvGrpSpPr>
          <p:cNvPr id="11285" name="Group 20"/>
          <p:cNvGrpSpPr/>
          <p:nvPr/>
        </p:nvGrpSpPr>
        <p:grpSpPr>
          <a:xfrm>
            <a:off x="3856038" y="1803400"/>
            <a:ext cx="3306762" cy="815975"/>
            <a:chOff x="0" y="0"/>
            <a:chExt cx="2083" cy="514"/>
          </a:xfrm>
        </p:grpSpPr>
        <p:sp>
          <p:nvSpPr>
            <p:cNvPr id="14357" name="Oval 21"/>
            <p:cNvSpPr/>
            <p:nvPr/>
          </p:nvSpPr>
          <p:spPr>
            <a:xfrm>
              <a:off x="0" y="130"/>
              <a:ext cx="768" cy="384"/>
            </a:xfrm>
            <a:prstGeom prst="ellipse">
              <a:avLst/>
            </a:prstGeom>
            <a:solidFill>
              <a:srgbClr val="FFCC99">
                <a:alpha val="25999"/>
              </a:srgbClr>
            </a:solidFill>
            <a:ln w="28575" cap="flat" cmpd="sng">
              <a:solidFill>
                <a:srgbClr val="000000"/>
              </a:solidFill>
              <a:prstDash val="solid"/>
              <a:round/>
              <a:headEnd type="none" w="med" len="med"/>
              <a:tailEnd type="none" w="med" len="med"/>
            </a:ln>
          </p:spPr>
          <p:txBody>
            <a:bodyPr wrap="none" anchor="ctr" anchorCtr="0"/>
            <a:p>
              <a:pPr>
                <a:lnSpc>
                  <a:spcPct val="135000"/>
                </a:lnSpc>
                <a:buFont typeface="Arial" panose="020B0604020202020204" pitchFamily="34" charset="0"/>
                <a:buChar char="•"/>
              </a:pPr>
              <a:endParaRPr lang="zh-CN" altLang="en-US" dirty="0">
                <a:latin typeface="Arial" panose="020B0604020202020204" pitchFamily="34" charset="0"/>
                <a:ea typeface="宋体" panose="02010600030101010101" pitchFamily="2" charset="-122"/>
              </a:endParaRPr>
            </a:p>
          </p:txBody>
        </p:sp>
        <p:sp>
          <p:nvSpPr>
            <p:cNvPr id="14358" name="Line 22"/>
            <p:cNvSpPr/>
            <p:nvPr/>
          </p:nvSpPr>
          <p:spPr>
            <a:xfrm flipV="1">
              <a:off x="726" y="96"/>
              <a:ext cx="445" cy="125"/>
            </a:xfrm>
            <a:prstGeom prst="line">
              <a:avLst/>
            </a:prstGeom>
            <a:ln w="19050" cap="flat" cmpd="sng">
              <a:solidFill>
                <a:schemeClr val="tx1"/>
              </a:solidFill>
              <a:prstDash val="solid"/>
              <a:round/>
              <a:headEnd type="none" w="med" len="med"/>
              <a:tailEnd type="none" w="med" len="med"/>
            </a:ln>
          </p:spPr>
        </p:sp>
        <p:sp>
          <p:nvSpPr>
            <p:cNvPr id="14359" name="AutoShape 23"/>
            <p:cNvSpPr/>
            <p:nvPr/>
          </p:nvSpPr>
          <p:spPr>
            <a:xfrm>
              <a:off x="1171" y="0"/>
              <a:ext cx="912" cy="288"/>
            </a:xfrm>
            <a:prstGeom prst="roundRect">
              <a:avLst>
                <a:gd name="adj" fmla="val 16667"/>
              </a:avLst>
            </a:prstGeom>
            <a:solidFill>
              <a:srgbClr val="FBE2B1"/>
            </a:solidFill>
            <a:ln w="9525" cap="flat" cmpd="sng">
              <a:solidFill>
                <a:schemeClr val="tx1"/>
              </a:solidFill>
              <a:prstDash val="solid"/>
              <a:round/>
              <a:headEnd type="none" w="med" len="med"/>
              <a:tailEnd type="none" w="med" len="med"/>
            </a:ln>
          </p:spPr>
          <p:txBody>
            <a:bodyPr wrap="none" anchor="ctr" anchorCtr="0"/>
            <a:p>
              <a:pPr algn="ctr">
                <a:lnSpc>
                  <a:spcPct val="135000"/>
                </a:lnSpc>
              </a:pPr>
              <a:r>
                <a:rPr lang="zh-CN" altLang="en-US" sz="2400" dirty="0">
                  <a:solidFill>
                    <a:srgbClr val="003300"/>
                  </a:solidFill>
                  <a:latin typeface="宋体" panose="02010600030101010101" pitchFamily="2" charset="-122"/>
                  <a:ea typeface="宋体" panose="02010600030101010101" pitchFamily="2" charset="-122"/>
                </a:rPr>
                <a:t>数据库名</a:t>
              </a:r>
              <a:endParaRPr lang="zh-CN" altLang="en-US" sz="2400" dirty="0">
                <a:solidFill>
                  <a:srgbClr val="003300"/>
                </a:solidFill>
                <a:latin typeface="宋体" panose="02010600030101010101" pitchFamily="2" charset="-122"/>
                <a:ea typeface="宋体" panose="02010600030101010101" pitchFamily="2" charset="-122"/>
              </a:endParaRPr>
            </a:p>
          </p:txBody>
        </p:sp>
      </p:grpSp>
      <p:grpSp>
        <p:nvGrpSpPr>
          <p:cNvPr id="11289" name="Group 24"/>
          <p:cNvGrpSpPr/>
          <p:nvPr/>
        </p:nvGrpSpPr>
        <p:grpSpPr>
          <a:xfrm>
            <a:off x="746125" y="1454150"/>
            <a:ext cx="2771775" cy="588963"/>
            <a:chOff x="0" y="0"/>
            <a:chExt cx="1746" cy="454"/>
          </a:xfrm>
        </p:grpSpPr>
        <p:sp>
          <p:nvSpPr>
            <p:cNvPr id="14361" name="AutoShape 25"/>
            <p:cNvSpPr/>
            <p:nvPr/>
          </p:nvSpPr>
          <p:spPr>
            <a:xfrm>
              <a:off x="0" y="0"/>
              <a:ext cx="1474" cy="379"/>
            </a:xfrm>
            <a:prstGeom prst="roundRect">
              <a:avLst>
                <a:gd name="adj" fmla="val 16667"/>
              </a:avLst>
            </a:prstGeom>
            <a:solidFill>
              <a:srgbClr val="CCFFCC">
                <a:alpha val="23999"/>
              </a:srgbClr>
            </a:solidFill>
            <a:ln w="9525" cap="flat" cmpd="sng">
              <a:solidFill>
                <a:schemeClr val="tx1"/>
              </a:solidFill>
              <a:prstDash val="solid"/>
              <a:round/>
              <a:headEnd type="none" w="med" len="med"/>
              <a:tailEnd type="none" w="med" len="med"/>
            </a:ln>
          </p:spPr>
          <p:txBody>
            <a:bodyPr wrap="none" anchor="ctr" anchorCtr="0"/>
            <a:p>
              <a:pPr algn="ctr">
                <a:lnSpc>
                  <a:spcPct val="135000"/>
                </a:lnSpc>
              </a:pPr>
              <a:r>
                <a:rPr lang="zh-CN" altLang="en-US" sz="2400" dirty="0">
                  <a:solidFill>
                    <a:srgbClr val="003300"/>
                  </a:solidFill>
                  <a:latin typeface="宋体" panose="02010600030101010101" pitchFamily="2" charset="-122"/>
                  <a:ea typeface="宋体" panose="02010600030101010101" pitchFamily="2" charset="-122"/>
                </a:rPr>
                <a:t>数据库关键字</a:t>
              </a:r>
              <a:endParaRPr lang="zh-CN" altLang="en-US" sz="2400" dirty="0">
                <a:solidFill>
                  <a:srgbClr val="003300"/>
                </a:solidFill>
                <a:latin typeface="宋体" panose="02010600030101010101" pitchFamily="2" charset="-122"/>
                <a:ea typeface="宋体" panose="02010600030101010101" pitchFamily="2" charset="-122"/>
              </a:endParaRPr>
            </a:p>
          </p:txBody>
        </p:sp>
        <p:sp>
          <p:nvSpPr>
            <p:cNvPr id="14362" name="Line 26"/>
            <p:cNvSpPr/>
            <p:nvPr/>
          </p:nvSpPr>
          <p:spPr>
            <a:xfrm>
              <a:off x="1474" y="181"/>
              <a:ext cx="272" cy="273"/>
            </a:xfrm>
            <a:prstGeom prst="line">
              <a:avLst/>
            </a:prstGeom>
            <a:ln w="28575" cap="flat" cmpd="sng">
              <a:solidFill>
                <a:schemeClr val="tx1"/>
              </a:solidFill>
              <a:prstDash val="solid"/>
              <a:round/>
              <a:headEnd type="none" w="med" len="med"/>
              <a:tailEnd type="none" w="med" len="med"/>
            </a:ln>
          </p:spPr>
        </p:sp>
      </p:grpSp>
      <p:sp>
        <p:nvSpPr>
          <p:cNvPr id="2" name="文本框 1"/>
          <p:cNvSpPr txBox="1"/>
          <p:nvPr/>
        </p:nvSpPr>
        <p:spPr>
          <a:xfrm>
            <a:off x="464185" y="3428365"/>
            <a:ext cx="8222615" cy="922020"/>
          </a:xfrm>
          <a:prstGeom prst="rect">
            <a:avLst/>
          </a:prstGeom>
          <a:solidFill>
            <a:schemeClr val="accent1"/>
          </a:solidFill>
        </p:spPr>
        <p:txBody>
          <a:bodyPr wrap="square" rtlCol="0" anchor="t">
            <a:spAutoFit/>
          </a:bodyPr>
          <a:p>
            <a:pPr marL="285750" indent="-285750">
              <a:buFont typeface="Wingdings" panose="05000000000000000000" charset="0"/>
              <a:buChar char="p"/>
            </a:pPr>
            <a:r>
              <a:rPr lang="zh-CN" altLang="en-US"/>
              <a:t>SIZE（大小）：定义数据库文件的初始大小。这是数据库文件在创建时占用的磁盘空间。指定一个合适的初始大小可以避免频繁的文件增长操作，提高数据库的性能。</a:t>
            </a:r>
            <a:r>
              <a:rPr lang="en-US" altLang="zh-CN"/>
              <a:t>SQL Server</a:t>
            </a:r>
            <a:r>
              <a:rPr lang="zh-CN" altLang="en-US"/>
              <a:t>中默认主文件是 8 MB，日志文件通常为</a:t>
            </a:r>
            <a:r>
              <a:rPr lang="en-US" altLang="zh-CN"/>
              <a:t>1MB</a:t>
            </a:r>
            <a:r>
              <a:rPr lang="zh-CN" altLang="en-US"/>
              <a:t>。</a:t>
            </a:r>
            <a:endParaRPr lang="zh-CN" altLang="en-US"/>
          </a:p>
        </p:txBody>
      </p:sp>
      <p:sp>
        <p:nvSpPr>
          <p:cNvPr id="3" name="文本框 2"/>
          <p:cNvSpPr txBox="1"/>
          <p:nvPr/>
        </p:nvSpPr>
        <p:spPr>
          <a:xfrm>
            <a:off x="464185" y="4507230"/>
            <a:ext cx="8222615" cy="645160"/>
          </a:xfrm>
          <a:prstGeom prst="rect">
            <a:avLst/>
          </a:prstGeom>
          <a:solidFill>
            <a:schemeClr val="accent1"/>
          </a:solidFill>
        </p:spPr>
        <p:txBody>
          <a:bodyPr wrap="square" rtlCol="0" anchor="t">
            <a:spAutoFit/>
          </a:bodyPr>
          <a:p>
            <a:pPr marL="285750" indent="-285750">
              <a:buFont typeface="Wingdings" panose="05000000000000000000" charset="0"/>
              <a:buChar char="p"/>
            </a:pPr>
            <a:r>
              <a:rPr lang="zh-CN" altLang="en-US"/>
              <a:t>MAXSIZE（最大大小）：定义数据库文件的最大允许大小。这个参数限制了数据库文件可以增长到的最大大小。</a:t>
            </a:r>
            <a:r>
              <a:rPr lang="en-US" altLang="zh-CN">
                <a:sym typeface="+mn-ea"/>
              </a:rPr>
              <a:t>SQL Server</a:t>
            </a:r>
            <a:r>
              <a:rPr lang="zh-CN" altLang="en-US">
                <a:sym typeface="+mn-ea"/>
              </a:rPr>
              <a:t>中通常不设</a:t>
            </a:r>
            <a:r>
              <a:rPr lang="zh-CN" altLang="en-US">
                <a:sym typeface="+mn-ea"/>
              </a:rPr>
              <a:t>限。</a:t>
            </a:r>
            <a:endParaRPr lang="zh-CN" altLang="en-US">
              <a:sym typeface="+mn-ea"/>
            </a:endParaRPr>
          </a:p>
        </p:txBody>
      </p:sp>
      <p:sp>
        <p:nvSpPr>
          <p:cNvPr id="4" name="文本框 3"/>
          <p:cNvSpPr txBox="1"/>
          <p:nvPr/>
        </p:nvSpPr>
        <p:spPr>
          <a:xfrm>
            <a:off x="478155" y="5308600"/>
            <a:ext cx="8222615" cy="922020"/>
          </a:xfrm>
          <a:prstGeom prst="rect">
            <a:avLst/>
          </a:prstGeom>
          <a:solidFill>
            <a:schemeClr val="accent1"/>
          </a:solidFill>
        </p:spPr>
        <p:txBody>
          <a:bodyPr wrap="square" rtlCol="0" anchor="t">
            <a:spAutoFit/>
          </a:bodyPr>
          <a:p>
            <a:pPr marL="285750" indent="-285750">
              <a:buFont typeface="Wingdings" panose="05000000000000000000" charset="0"/>
              <a:buChar char="p"/>
            </a:pPr>
            <a:r>
              <a:t>FILEGROWTH（文件增长）：定义数据库文件每次增长的大小。文件增长通常应根据数据库的使用情况和数据增长率来设定，以平衡性能和磁盘空间利用率。SQL Server 2017 及更新版本的默认文件增长为 10%</a:t>
            </a:r>
            <a:r>
              <a:rPr lang="zh-CN"/>
              <a:t>。</a:t>
            </a:r>
            <a:endParaRPr lang="zh-CN"/>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281">
                                            <p:txEl>
                                              <p:charRg st="0" end="27"/>
                                            </p:txEl>
                                          </p:spTgt>
                                        </p:tgtEl>
                                        <p:attrNameLst>
                                          <p:attrName>style.visibility</p:attrName>
                                        </p:attrNameLst>
                                      </p:cBhvr>
                                      <p:to>
                                        <p:strVal val="visible"/>
                                      </p:to>
                                    </p:set>
                                    <p:animEffect transition="in" filter="dissolve">
                                      <p:cBhvr>
                                        <p:cTn id="7" dur="500"/>
                                        <p:tgtEl>
                                          <p:spTgt spid="11281">
                                            <p:txEl>
                                              <p:charRg st="0" end="27"/>
                                            </p:txEl>
                                          </p:spTgt>
                                        </p:tgtEl>
                                      </p:cBhvr>
                                    </p:animEffect>
                                  </p:childTnLst>
                                </p:cTn>
                              </p:par>
                            </p:childTnLst>
                          </p:cTn>
                        </p:par>
                      </p:childTnLst>
                    </p:cTn>
                  </p:par>
                  <p:par>
                    <p:cTn id="8" fill="hold">
                      <p:stCondLst>
                        <p:cond delay="indefinite"/>
                      </p:stCondLst>
                      <p:childTnLst>
                        <p:par>
                          <p:cTn id="9" fill="hold">
                            <p:stCondLst>
                              <p:cond delay="0"/>
                            </p:stCondLst>
                            <p:childTnLst>
                              <p:par>
                                <p:cTn id="10" presetID="20" presetClass="entr" presetSubtype="0" fill="hold" grpId="0" nodeType="clickEffect">
                                  <p:stCondLst>
                                    <p:cond delay="0"/>
                                  </p:stCondLst>
                                  <p:childTnLst>
                                    <p:set>
                                      <p:cBhvr>
                                        <p:cTn id="11" dur="1" fill="hold">
                                          <p:stCondLst>
                                            <p:cond delay="0"/>
                                          </p:stCondLst>
                                        </p:cTn>
                                        <p:tgtEl>
                                          <p:spTgt spid="11280"/>
                                        </p:tgtEl>
                                        <p:attrNameLst>
                                          <p:attrName>style.visibility</p:attrName>
                                        </p:attrNameLst>
                                      </p:cBhvr>
                                      <p:to>
                                        <p:strVal val="visible"/>
                                      </p:to>
                                    </p:set>
                                    <p:animEffect transition="in" filter="wedge">
                                      <p:cBhvr>
                                        <p:cTn id="12" dur="2000"/>
                                        <p:tgtEl>
                                          <p:spTgt spid="11280"/>
                                        </p:tgtEl>
                                      </p:cBhvr>
                                    </p:animEffect>
                                  </p:childTnLst>
                                </p:cTn>
                              </p:par>
                            </p:childTnLst>
                          </p:cTn>
                        </p:par>
                      </p:childTnLst>
                    </p:cTn>
                  </p:par>
                  <p:par>
                    <p:cTn id="13" fill="hold">
                      <p:stCondLst>
                        <p:cond delay="indefinite"/>
                      </p:stCondLst>
                      <p:childTnLst>
                        <p:par>
                          <p:cTn id="14" fill="hold">
                            <p:stCondLst>
                              <p:cond delay="0"/>
                            </p:stCondLst>
                            <p:childTnLst>
                              <p:par>
                                <p:cTn id="15" presetID="55" presetClass="entr" presetSubtype="0" fill="hold" nodeType="clickEffect">
                                  <p:stCondLst>
                                    <p:cond delay="0"/>
                                  </p:stCondLst>
                                  <p:childTnLst>
                                    <p:set>
                                      <p:cBhvr>
                                        <p:cTn id="16" dur="1" fill="hold">
                                          <p:stCondLst>
                                            <p:cond delay="0"/>
                                          </p:stCondLst>
                                        </p:cTn>
                                        <p:tgtEl>
                                          <p:spTgt spid="11289"/>
                                        </p:tgtEl>
                                        <p:attrNameLst>
                                          <p:attrName>style.visibility</p:attrName>
                                        </p:attrNameLst>
                                      </p:cBhvr>
                                      <p:to>
                                        <p:strVal val="visible"/>
                                      </p:to>
                                    </p:set>
                                    <p:anim calcmode="lin" valueType="num">
                                      <p:cBhvr>
                                        <p:cTn id="17" dur="1000" fill="hold"/>
                                        <p:tgtEl>
                                          <p:spTgt spid="11289"/>
                                        </p:tgtEl>
                                        <p:attrNameLst>
                                          <p:attrName>ppt_w</p:attrName>
                                        </p:attrNameLst>
                                      </p:cBhvr>
                                      <p:tavLst>
                                        <p:tav tm="0">
                                          <p:val>
                                            <p:strVal val="#ppt_w*0.70"/>
                                          </p:val>
                                        </p:tav>
                                        <p:tav tm="100000">
                                          <p:val>
                                            <p:strVal val="#ppt_w"/>
                                          </p:val>
                                        </p:tav>
                                      </p:tavLst>
                                    </p:anim>
                                    <p:anim calcmode="lin" valueType="num">
                                      <p:cBhvr>
                                        <p:cTn id="18" dur="1000" fill="hold"/>
                                        <p:tgtEl>
                                          <p:spTgt spid="11289"/>
                                        </p:tgtEl>
                                        <p:attrNameLst>
                                          <p:attrName>ppt_h</p:attrName>
                                        </p:attrNameLst>
                                      </p:cBhvr>
                                      <p:tavLst>
                                        <p:tav tm="0">
                                          <p:val>
                                            <p:strVal val="#ppt_h"/>
                                          </p:val>
                                        </p:tav>
                                        <p:tav tm="100000">
                                          <p:val>
                                            <p:strVal val="#ppt_h"/>
                                          </p:val>
                                        </p:tav>
                                      </p:tavLst>
                                    </p:anim>
                                    <p:animEffect transition="in" filter="fade">
                                      <p:cBhvr>
                                        <p:cTn id="19" dur="1000"/>
                                        <p:tgtEl>
                                          <p:spTgt spid="11289"/>
                                        </p:tgtEl>
                                      </p:cBhvr>
                                    </p:animEffect>
                                  </p:childTnLst>
                                </p:cTn>
                              </p:par>
                            </p:childTnLst>
                          </p:cTn>
                        </p:par>
                      </p:childTnLst>
                    </p:cTn>
                  </p:par>
                  <p:par>
                    <p:cTn id="20" fill="hold">
                      <p:stCondLst>
                        <p:cond delay="indefinite"/>
                      </p:stCondLst>
                      <p:childTnLst>
                        <p:par>
                          <p:cTn id="21" fill="hold">
                            <p:stCondLst>
                              <p:cond delay="0"/>
                            </p:stCondLst>
                            <p:childTnLst>
                              <p:par>
                                <p:cTn id="22" presetID="20" presetClass="entr" presetSubtype="0" fill="hold" nodeType="clickEffect">
                                  <p:stCondLst>
                                    <p:cond delay="0"/>
                                  </p:stCondLst>
                                  <p:childTnLst>
                                    <p:set>
                                      <p:cBhvr>
                                        <p:cTn id="23" dur="1" fill="hold">
                                          <p:stCondLst>
                                            <p:cond delay="0"/>
                                          </p:stCondLst>
                                        </p:cTn>
                                        <p:tgtEl>
                                          <p:spTgt spid="11285"/>
                                        </p:tgtEl>
                                        <p:attrNameLst>
                                          <p:attrName>style.visibility</p:attrName>
                                        </p:attrNameLst>
                                      </p:cBhvr>
                                      <p:to>
                                        <p:strVal val="visible"/>
                                      </p:to>
                                    </p:set>
                                    <p:animEffect transition="in" filter="wedge">
                                      <p:cBhvr>
                                        <p:cTn id="24" dur="2000"/>
                                        <p:tgtEl>
                                          <p:spTgt spid="11285"/>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11282"/>
                                        </p:tgtEl>
                                        <p:attrNameLst>
                                          <p:attrName>style.visibility</p:attrName>
                                        </p:attrNameLst>
                                      </p:cBhvr>
                                      <p:to>
                                        <p:strVal val="visible"/>
                                      </p:to>
                                    </p:set>
                                    <p:animEffect transition="in" filter="dissolve">
                                      <p:cBhvr>
                                        <p:cTn id="29" dur="500"/>
                                        <p:tgtEl>
                                          <p:spTgt spid="11282"/>
                                        </p:tgtEl>
                                      </p:cBhvr>
                                    </p:animEffect>
                                  </p:childTnLst>
                                </p:cTn>
                              </p:par>
                            </p:childTnLst>
                          </p:cTn>
                        </p:par>
                      </p:childTnLst>
                    </p:cTn>
                  </p:par>
                  <p:par>
                    <p:cTn id="30" fill="hold">
                      <p:stCondLst>
                        <p:cond delay="indefinite"/>
                      </p:stCondLst>
                      <p:childTnLst>
                        <p:par>
                          <p:cTn id="31" fill="hold">
                            <p:stCondLst>
                              <p:cond delay="0"/>
                            </p:stCondLst>
                            <p:childTnLst>
                              <p:par>
                                <p:cTn id="32" presetID="20" presetClass="entr" presetSubtype="0" fill="hold" nodeType="clickEffect">
                                  <p:stCondLst>
                                    <p:cond delay="0"/>
                                  </p:stCondLst>
                                  <p:childTnLst>
                                    <p:set>
                                      <p:cBhvr>
                                        <p:cTn id="33" dur="1" fill="hold">
                                          <p:stCondLst>
                                            <p:cond delay="0"/>
                                          </p:stCondLst>
                                        </p:cTn>
                                        <p:tgtEl>
                                          <p:spTgt spid="11276"/>
                                        </p:tgtEl>
                                        <p:attrNameLst>
                                          <p:attrName>style.visibility</p:attrName>
                                        </p:attrNameLst>
                                      </p:cBhvr>
                                      <p:to>
                                        <p:strVal val="visible"/>
                                      </p:to>
                                    </p:set>
                                    <p:animEffect transition="in" filter="wedge">
                                      <p:cBhvr>
                                        <p:cTn id="34" dur="2000"/>
                                        <p:tgtEl>
                                          <p:spTgt spid="11276"/>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11283"/>
                                        </p:tgtEl>
                                        <p:attrNameLst>
                                          <p:attrName>style.visibility</p:attrName>
                                        </p:attrNameLst>
                                      </p:cBhvr>
                                      <p:to>
                                        <p:strVal val="visible"/>
                                      </p:to>
                                    </p:set>
                                    <p:animEffect transition="in" filter="dissolve">
                                      <p:cBhvr>
                                        <p:cTn id="39" dur="500"/>
                                        <p:tgtEl>
                                          <p:spTgt spid="11283"/>
                                        </p:tgtEl>
                                      </p:cBhvr>
                                    </p:animEffect>
                                  </p:childTnLst>
                                </p:cTn>
                              </p:par>
                            </p:childTnLst>
                          </p:cTn>
                        </p:par>
                      </p:childTnLst>
                    </p:cTn>
                  </p:par>
                  <p:par>
                    <p:cTn id="40" fill="hold">
                      <p:stCondLst>
                        <p:cond delay="indefinite"/>
                      </p:stCondLst>
                      <p:childTnLst>
                        <p:par>
                          <p:cTn id="41" fill="hold">
                            <p:stCondLst>
                              <p:cond delay="0"/>
                            </p:stCondLst>
                            <p:childTnLst>
                              <p:par>
                                <p:cTn id="42" presetID="20" presetClass="entr" presetSubtype="0" fill="hold" nodeType="clickEffect">
                                  <p:stCondLst>
                                    <p:cond delay="0"/>
                                  </p:stCondLst>
                                  <p:childTnLst>
                                    <p:set>
                                      <p:cBhvr>
                                        <p:cTn id="43" dur="1" fill="hold">
                                          <p:stCondLst>
                                            <p:cond delay="0"/>
                                          </p:stCondLst>
                                        </p:cTn>
                                        <p:tgtEl>
                                          <p:spTgt spid="11272"/>
                                        </p:tgtEl>
                                        <p:attrNameLst>
                                          <p:attrName>style.visibility</p:attrName>
                                        </p:attrNameLst>
                                      </p:cBhvr>
                                      <p:to>
                                        <p:strVal val="visible"/>
                                      </p:to>
                                    </p:set>
                                    <p:animEffect transition="in" filter="wedge">
                                      <p:cBhvr>
                                        <p:cTn id="44" dur="2000"/>
                                        <p:tgtEl>
                                          <p:spTgt spid="11272"/>
                                        </p:tgtEl>
                                      </p:cBhvr>
                                    </p:animEffect>
                                  </p:childTnLst>
                                </p:cTn>
                              </p:par>
                            </p:childTnLst>
                          </p:cTn>
                        </p:par>
                      </p:childTnLst>
                    </p:cTn>
                  </p:par>
                  <p:par>
                    <p:cTn id="45" fill="hold">
                      <p:stCondLst>
                        <p:cond delay="indefinite"/>
                      </p:stCondLst>
                      <p:childTnLst>
                        <p:par>
                          <p:cTn id="46" fill="hold">
                            <p:stCondLst>
                              <p:cond delay="0"/>
                            </p:stCondLst>
                            <p:childTnLst>
                              <p:par>
                                <p:cTn id="47" presetID="9" presetClass="entr" presetSubtype="0" fill="hold" grpId="0" nodeType="clickEffect">
                                  <p:stCondLst>
                                    <p:cond delay="0"/>
                                  </p:stCondLst>
                                  <p:childTnLst>
                                    <p:set>
                                      <p:cBhvr>
                                        <p:cTn id="48" dur="1" fill="hold">
                                          <p:stCondLst>
                                            <p:cond delay="0"/>
                                          </p:stCondLst>
                                        </p:cTn>
                                        <p:tgtEl>
                                          <p:spTgt spid="11284"/>
                                        </p:tgtEl>
                                        <p:attrNameLst>
                                          <p:attrName>style.visibility</p:attrName>
                                        </p:attrNameLst>
                                      </p:cBhvr>
                                      <p:to>
                                        <p:strVal val="visible"/>
                                      </p:to>
                                    </p:set>
                                    <p:animEffect transition="in" filter="dissolve">
                                      <p:cBhvr>
                                        <p:cTn id="49" dur="500"/>
                                        <p:tgtEl>
                                          <p:spTgt spid="11284"/>
                                        </p:tgtEl>
                                      </p:cBhvr>
                                    </p:animEffect>
                                  </p:childTnLst>
                                </p:cTn>
                              </p:par>
                            </p:childTnLst>
                          </p:cTn>
                        </p:par>
                      </p:childTnLst>
                    </p:cTn>
                  </p:par>
                  <p:par>
                    <p:cTn id="50" fill="hold">
                      <p:stCondLst>
                        <p:cond delay="indefinite"/>
                      </p:stCondLst>
                      <p:childTnLst>
                        <p:par>
                          <p:cTn id="51" fill="hold">
                            <p:stCondLst>
                              <p:cond delay="0"/>
                            </p:stCondLst>
                            <p:childTnLst>
                              <p:par>
                                <p:cTn id="52" presetID="20" presetClass="entr" presetSubtype="0" fill="hold" nodeType="clickEffect">
                                  <p:stCondLst>
                                    <p:cond delay="0"/>
                                  </p:stCondLst>
                                  <p:childTnLst>
                                    <p:set>
                                      <p:cBhvr>
                                        <p:cTn id="53" dur="1" fill="hold">
                                          <p:stCondLst>
                                            <p:cond delay="0"/>
                                          </p:stCondLst>
                                        </p:cTn>
                                        <p:tgtEl>
                                          <p:spTgt spid="11268"/>
                                        </p:tgtEl>
                                        <p:attrNameLst>
                                          <p:attrName>style.visibility</p:attrName>
                                        </p:attrNameLst>
                                      </p:cBhvr>
                                      <p:to>
                                        <p:strVal val="visible"/>
                                      </p:to>
                                    </p:set>
                                    <p:animEffect transition="in" filter="wedge">
                                      <p:cBhvr>
                                        <p:cTn id="54" dur="2000"/>
                                        <p:tgtEl>
                                          <p:spTgt spid="11268"/>
                                        </p:tgtEl>
                                      </p:cBhvr>
                                    </p:animEffect>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grpId="0" nodeType="clickEffect">
                                  <p:stCondLst>
                                    <p:cond delay="0"/>
                                  </p:stCondLst>
                                  <p:childTnLst>
                                    <p:set>
                                      <p:cBhvr>
                                        <p:cTn id="58" dur="1" fill="hold">
                                          <p:stCondLst>
                                            <p:cond delay="0"/>
                                          </p:stCondLst>
                                        </p:cTn>
                                        <p:tgtEl>
                                          <p:spTgt spid="2"/>
                                        </p:tgtEl>
                                        <p:attrNameLst>
                                          <p:attrName>style.visibility</p:attrName>
                                        </p:attrNameLst>
                                      </p:cBhvr>
                                      <p:to>
                                        <p:strVal val="visible"/>
                                      </p:to>
                                    </p:set>
                                    <p:anim calcmode="lin" valueType="num">
                                      <p:cBhvr additive="base">
                                        <p:cTn id="59" dur="500" fill="hold"/>
                                        <p:tgtEl>
                                          <p:spTgt spid="2"/>
                                        </p:tgtEl>
                                        <p:attrNameLst>
                                          <p:attrName>ppt_x</p:attrName>
                                        </p:attrNameLst>
                                      </p:cBhvr>
                                      <p:tavLst>
                                        <p:tav tm="0">
                                          <p:val>
                                            <p:strVal val="#ppt_x"/>
                                          </p:val>
                                        </p:tav>
                                        <p:tav tm="100000">
                                          <p:val>
                                            <p:strVal val="#ppt_x"/>
                                          </p:val>
                                        </p:tav>
                                      </p:tavLst>
                                    </p:anim>
                                    <p:anim calcmode="lin" valueType="num">
                                      <p:cBhvr additive="base">
                                        <p:cTn id="6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grpId="0" nodeType="clickEffect">
                                  <p:stCondLst>
                                    <p:cond delay="0"/>
                                  </p:stCondLst>
                                  <p:childTnLst>
                                    <p:set>
                                      <p:cBhvr>
                                        <p:cTn id="64" dur="1" fill="hold">
                                          <p:stCondLst>
                                            <p:cond delay="0"/>
                                          </p:stCondLst>
                                        </p:cTn>
                                        <p:tgtEl>
                                          <p:spTgt spid="3"/>
                                        </p:tgtEl>
                                        <p:attrNameLst>
                                          <p:attrName>style.visibility</p:attrName>
                                        </p:attrNameLst>
                                      </p:cBhvr>
                                      <p:to>
                                        <p:strVal val="visible"/>
                                      </p:to>
                                    </p:set>
                                    <p:anim calcmode="lin" valueType="num">
                                      <p:cBhvr additive="base">
                                        <p:cTn id="65" dur="500" fill="hold"/>
                                        <p:tgtEl>
                                          <p:spTgt spid="3"/>
                                        </p:tgtEl>
                                        <p:attrNameLst>
                                          <p:attrName>ppt_x</p:attrName>
                                        </p:attrNameLst>
                                      </p:cBhvr>
                                      <p:tavLst>
                                        <p:tav tm="0">
                                          <p:val>
                                            <p:strVal val="#ppt_x"/>
                                          </p:val>
                                        </p:tav>
                                        <p:tav tm="100000">
                                          <p:val>
                                            <p:strVal val="#ppt_x"/>
                                          </p:val>
                                        </p:tav>
                                      </p:tavLst>
                                    </p:anim>
                                    <p:anim calcmode="lin" valueType="num">
                                      <p:cBhvr additive="base">
                                        <p:cTn id="6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grpId="0" nodeType="clickEffect">
                                  <p:stCondLst>
                                    <p:cond delay="0"/>
                                  </p:stCondLst>
                                  <p:childTnLst>
                                    <p:set>
                                      <p:cBhvr>
                                        <p:cTn id="70" dur="1" fill="hold">
                                          <p:stCondLst>
                                            <p:cond delay="0"/>
                                          </p:stCondLst>
                                        </p:cTn>
                                        <p:tgtEl>
                                          <p:spTgt spid="4"/>
                                        </p:tgtEl>
                                        <p:attrNameLst>
                                          <p:attrName>style.visibility</p:attrName>
                                        </p:attrNameLst>
                                      </p:cBhvr>
                                      <p:to>
                                        <p:strVal val="visible"/>
                                      </p:to>
                                    </p:set>
                                    <p:anim calcmode="lin" valueType="num">
                                      <p:cBhvr additive="base">
                                        <p:cTn id="71" dur="500" fill="hold"/>
                                        <p:tgtEl>
                                          <p:spTgt spid="4"/>
                                        </p:tgtEl>
                                        <p:attrNameLst>
                                          <p:attrName>ppt_x</p:attrName>
                                        </p:attrNameLst>
                                      </p:cBhvr>
                                      <p:tavLst>
                                        <p:tav tm="0">
                                          <p:val>
                                            <p:strVal val="#ppt_x"/>
                                          </p:val>
                                        </p:tav>
                                        <p:tav tm="100000">
                                          <p:val>
                                            <p:strVal val="#ppt_x"/>
                                          </p:val>
                                        </p:tav>
                                      </p:tavLst>
                                    </p:anim>
                                    <p:anim calcmode="lin" valueType="num">
                                      <p:cBhvr additive="base">
                                        <p:cTn id="7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80" grpId="0" bldLvl="0" animBg="1"/>
      <p:bldP spid="11281" grpId="0" build="p"/>
      <p:bldP spid="11282" grpId="0"/>
      <p:bldP spid="11283" grpId="0"/>
      <p:bldP spid="11284" grpId="0"/>
      <p:bldP spid="2" grpId="0" bldLvl="0" animBg="1"/>
      <p:bldP spid="2" grpId="1" animBg="1"/>
      <p:bldP spid="3" grpId="0" bldLvl="0" animBg="1"/>
      <p:bldP spid="3" grpId="1" animBg="1"/>
      <p:bldP spid="4" grpId="0" bldLvl="0" animBg="1"/>
      <p:bldP spid="4" grpId="1"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15362" name="矩形 2"/>
          <p:cNvSpPr/>
          <p:nvPr/>
        </p:nvSpPr>
        <p:spPr>
          <a:xfrm>
            <a:off x="530225" y="817563"/>
            <a:ext cx="4319588" cy="944562"/>
          </a:xfrm>
          <a:prstGeom prst="rect">
            <a:avLst/>
          </a:prstGeom>
          <a:noFill/>
          <a:ln w="9525">
            <a:noFill/>
          </a:ln>
        </p:spPr>
        <p:txBody>
          <a:bodyPr wrap="none" anchor="t" anchorCtr="0">
            <a:spAutoFit/>
          </a:bodyPr>
          <a:p>
            <a:r>
              <a:rPr lang="en-US" altLang="zh-CN" sz="2800" dirty="0">
                <a:solidFill>
                  <a:srgbClr val="0033CC"/>
                </a:solidFill>
                <a:latin typeface="黑体" panose="02010609060101010101" pitchFamily="1" charset="-122"/>
                <a:ea typeface="黑体" panose="02010609060101010101" pitchFamily="1" charset="-122"/>
              </a:rPr>
              <a:t>3.</a:t>
            </a:r>
            <a:r>
              <a:rPr lang="zh-CN" altLang="en-US" sz="2800" dirty="0">
                <a:solidFill>
                  <a:srgbClr val="0033CC"/>
                </a:solidFill>
                <a:latin typeface="黑体" panose="02010609060101010101" pitchFamily="1" charset="-122"/>
                <a:ea typeface="黑体" panose="02010609060101010101" pitchFamily="1" charset="-122"/>
              </a:rPr>
              <a:t>定义数据库及日志</a:t>
            </a:r>
            <a:r>
              <a:rPr lang="en-US" altLang="zh-CN" sz="2400" dirty="0">
                <a:solidFill>
                  <a:srgbClr val="FF0000"/>
                </a:solidFill>
                <a:latin typeface="黑体" panose="02010609060101010101" pitchFamily="1" charset="-122"/>
                <a:ea typeface="宋体" panose="02010600030101010101" pitchFamily="2" charset="-122"/>
              </a:rPr>
              <a:t>—</a:t>
            </a:r>
            <a:r>
              <a:rPr lang="zh-CN" altLang="en-US" sz="2400" dirty="0">
                <a:solidFill>
                  <a:srgbClr val="FF0000"/>
                </a:solidFill>
                <a:latin typeface="黑体" panose="02010609060101010101" pitchFamily="1" charset="-122"/>
                <a:ea typeface="宋体" panose="02010600030101010101" pitchFamily="2" charset="-122"/>
              </a:rPr>
              <a:t>创建</a:t>
            </a:r>
            <a:endParaRPr lang="zh-CN" altLang="en-US" sz="2400" dirty="0">
              <a:solidFill>
                <a:srgbClr val="FF0000"/>
              </a:solidFill>
              <a:latin typeface="黑体" panose="02010609060101010101" pitchFamily="1" charset="-122"/>
              <a:ea typeface="宋体" panose="02010600030101010101" pitchFamily="2" charset="-122"/>
            </a:endParaRPr>
          </a:p>
          <a:p>
            <a:endParaRPr lang="zh-CN" altLang="en-US" sz="2800" dirty="0">
              <a:solidFill>
                <a:srgbClr val="0033CC"/>
              </a:solidFill>
              <a:latin typeface="黑体" panose="02010609060101010101" pitchFamily="1" charset="-122"/>
              <a:ea typeface="黑体" panose="02010609060101010101" pitchFamily="1" charset="-122"/>
            </a:endParaRPr>
          </a:p>
        </p:txBody>
      </p:sp>
      <p:grpSp>
        <p:nvGrpSpPr>
          <p:cNvPr id="12292" name="Group 3"/>
          <p:cNvGrpSpPr/>
          <p:nvPr/>
        </p:nvGrpSpPr>
        <p:grpSpPr>
          <a:xfrm>
            <a:off x="217488" y="1331913"/>
            <a:ext cx="2720975" cy="3008312"/>
            <a:chOff x="0" y="0"/>
            <a:chExt cx="1714" cy="1974"/>
          </a:xfrm>
        </p:grpSpPr>
        <p:sp>
          <p:nvSpPr>
            <p:cNvPr id="15364" name="Oval 4"/>
            <p:cNvSpPr/>
            <p:nvPr/>
          </p:nvSpPr>
          <p:spPr>
            <a:xfrm>
              <a:off x="754" y="0"/>
              <a:ext cx="960" cy="288"/>
            </a:xfrm>
            <a:prstGeom prst="ellipse">
              <a:avLst/>
            </a:prstGeom>
            <a:solidFill>
              <a:srgbClr val="CCFFCC">
                <a:alpha val="28999"/>
              </a:srgbClr>
            </a:solidFill>
            <a:ln w="28575" cap="flat" cmpd="sng">
              <a:solidFill>
                <a:srgbClr val="000000"/>
              </a:solidFill>
              <a:prstDash val="solid"/>
              <a:round/>
              <a:headEnd type="none" w="med" len="med"/>
              <a:tailEnd type="none" w="med" len="med"/>
            </a:ln>
          </p:spPr>
          <p:txBody>
            <a:bodyPr wrap="none" anchor="ctr" anchorCtr="0"/>
            <a:p>
              <a:pPr>
                <a:lnSpc>
                  <a:spcPct val="135000"/>
                </a:lnSpc>
                <a:buFont typeface="Arial" panose="020B0604020202020204" pitchFamily="34" charset="0"/>
                <a:buChar char="•"/>
              </a:pPr>
              <a:endParaRPr lang="zh-CN" altLang="en-US" dirty="0">
                <a:latin typeface="Arial" panose="020B0604020202020204" pitchFamily="34" charset="0"/>
                <a:ea typeface="宋体" panose="02010600030101010101" pitchFamily="2" charset="-122"/>
              </a:endParaRPr>
            </a:p>
          </p:txBody>
        </p:sp>
        <p:sp>
          <p:nvSpPr>
            <p:cNvPr id="15365" name="Line 5"/>
            <p:cNvSpPr/>
            <p:nvPr/>
          </p:nvSpPr>
          <p:spPr>
            <a:xfrm flipH="1">
              <a:off x="411" y="250"/>
              <a:ext cx="545" cy="771"/>
            </a:xfrm>
            <a:prstGeom prst="line">
              <a:avLst/>
            </a:prstGeom>
            <a:ln w="9525" cap="flat" cmpd="sng">
              <a:solidFill>
                <a:schemeClr val="tx1"/>
              </a:solidFill>
              <a:prstDash val="solid"/>
              <a:round/>
              <a:headEnd type="none" w="med" len="med"/>
              <a:tailEnd type="none" w="med" len="med"/>
            </a:ln>
          </p:spPr>
        </p:sp>
        <p:sp>
          <p:nvSpPr>
            <p:cNvPr id="15366" name="AutoShape 6"/>
            <p:cNvSpPr/>
            <p:nvPr/>
          </p:nvSpPr>
          <p:spPr>
            <a:xfrm>
              <a:off x="0" y="1021"/>
              <a:ext cx="707" cy="953"/>
            </a:xfrm>
            <a:prstGeom prst="roundRect">
              <a:avLst>
                <a:gd name="adj" fmla="val 16667"/>
              </a:avLst>
            </a:prstGeom>
            <a:solidFill>
              <a:srgbClr val="CCFFCC">
                <a:alpha val="28000"/>
              </a:srgbClr>
            </a:solidFill>
            <a:ln w="9525" cap="flat" cmpd="sng">
              <a:solidFill>
                <a:schemeClr val="tx1"/>
              </a:solidFill>
              <a:prstDash val="solid"/>
              <a:round/>
              <a:headEnd type="none" w="med" len="med"/>
              <a:tailEnd type="none" w="med" len="med"/>
            </a:ln>
          </p:spPr>
          <p:txBody>
            <a:bodyPr lIns="36000" rIns="36000" anchor="ctr" anchorCtr="0"/>
            <a:p>
              <a:pPr algn="ctr"/>
              <a:r>
                <a:rPr lang="zh-CN" altLang="en-US" sz="2400" dirty="0">
                  <a:latin typeface="宋体" panose="02010600030101010101" pitchFamily="2" charset="-122"/>
                  <a:ea typeface="宋体" panose="02010600030101010101" pitchFamily="2" charset="-122"/>
                </a:rPr>
                <a:t>数据以文件形式定义</a:t>
              </a:r>
              <a:endParaRPr lang="zh-CN" altLang="en-US" sz="2400" dirty="0">
                <a:latin typeface="宋体" panose="02010600030101010101" pitchFamily="2" charset="-122"/>
                <a:ea typeface="宋体" panose="02010600030101010101" pitchFamily="2" charset="-122"/>
              </a:endParaRPr>
            </a:p>
          </p:txBody>
        </p:sp>
      </p:grpSp>
      <p:sp>
        <p:nvSpPr>
          <p:cNvPr id="15367" name="Rectangle 8"/>
          <p:cNvSpPr txBox="1"/>
          <p:nvPr/>
        </p:nvSpPr>
        <p:spPr>
          <a:xfrm>
            <a:off x="625475" y="1417638"/>
            <a:ext cx="7923213" cy="4906962"/>
          </a:xfrm>
          <a:prstGeom prst="rect">
            <a:avLst/>
          </a:prstGeom>
          <a:noFill/>
          <a:ln w="9525">
            <a:noFill/>
          </a:ln>
        </p:spPr>
        <p:txBody>
          <a:bodyPr anchor="t" anchorCtr="0"/>
          <a:p>
            <a:pPr marL="342900" indent="-342900">
              <a:lnSpc>
                <a:spcPct val="90000"/>
              </a:lnSpc>
              <a:buClr>
                <a:srgbClr val="0033CC"/>
              </a:buClr>
              <a:buSzPct val="80000"/>
            </a:pPr>
            <a:r>
              <a:rPr lang="en-US" altLang="zh-CN" sz="2000" dirty="0">
                <a:solidFill>
                  <a:srgbClr val="CC0000"/>
                </a:solidFill>
                <a:latin typeface="方正姚体" panose="02010601030101010101" pitchFamily="2" charset="-122"/>
                <a:ea typeface="方正姚体" panose="02010601030101010101" pitchFamily="2" charset="-122"/>
              </a:rPr>
              <a:t>Create Database StudnetData</a:t>
            </a:r>
            <a:endParaRPr lang="en-US" altLang="zh-CN" sz="2000" dirty="0">
              <a:solidFill>
                <a:srgbClr val="CC0000"/>
              </a:solidFill>
              <a:latin typeface="方正姚体" panose="02010601030101010101" pitchFamily="2" charset="-122"/>
              <a:ea typeface="方正姚体" panose="02010601030101010101" pitchFamily="2" charset="-122"/>
            </a:endParaRPr>
          </a:p>
          <a:p>
            <a:pPr marL="342900" indent="-342900">
              <a:lnSpc>
                <a:spcPct val="90000"/>
              </a:lnSpc>
              <a:buClr>
                <a:srgbClr val="0033CC"/>
              </a:buClr>
              <a:buSzPct val="80000"/>
            </a:pPr>
            <a:r>
              <a:rPr lang="en-US" altLang="zh-CN" sz="2000" dirty="0">
                <a:solidFill>
                  <a:srgbClr val="0033CC"/>
                </a:solidFill>
                <a:latin typeface="方正姚体" panose="02010601030101010101" pitchFamily="2" charset="-122"/>
                <a:ea typeface="方正姚体" panose="02010601030101010101" pitchFamily="2" charset="-122"/>
              </a:rPr>
              <a:t>          On Primary      </a:t>
            </a:r>
            <a:endParaRPr lang="en-US" altLang="zh-CN" sz="2000" dirty="0">
              <a:solidFill>
                <a:srgbClr val="0033CC"/>
              </a:solidFill>
              <a:latin typeface="方正姚体" panose="02010601030101010101" pitchFamily="2" charset="-122"/>
              <a:ea typeface="方正姚体" panose="02010601030101010101" pitchFamily="2" charset="-122"/>
            </a:endParaRPr>
          </a:p>
          <a:p>
            <a:pPr marL="342900" indent="-342900">
              <a:lnSpc>
                <a:spcPct val="90000"/>
              </a:lnSpc>
              <a:buClr>
                <a:srgbClr val="0033CC"/>
              </a:buClr>
              <a:buSzPct val="80000"/>
            </a:pPr>
            <a:r>
              <a:rPr lang="en-US" altLang="zh-CN" sz="2000" dirty="0">
                <a:solidFill>
                  <a:srgbClr val="0033CC"/>
                </a:solidFill>
                <a:latin typeface="方正姚体" panose="02010601030101010101" pitchFamily="2" charset="-122"/>
                <a:ea typeface="方正姚体" panose="02010601030101010101" pitchFamily="2" charset="-122"/>
              </a:rPr>
              <a:t>             (  Name       = StudentFile1,</a:t>
            </a:r>
            <a:endParaRPr lang="en-US" altLang="zh-CN" sz="2000" dirty="0">
              <a:solidFill>
                <a:srgbClr val="0033CC"/>
              </a:solidFill>
              <a:latin typeface="方正姚体" panose="02010601030101010101" pitchFamily="2" charset="-122"/>
              <a:ea typeface="方正姚体" panose="02010601030101010101" pitchFamily="2" charset="-122"/>
            </a:endParaRPr>
          </a:p>
          <a:p>
            <a:pPr marL="342900" indent="-342900">
              <a:lnSpc>
                <a:spcPct val="90000"/>
              </a:lnSpc>
              <a:buClr>
                <a:srgbClr val="0033CC"/>
              </a:buClr>
              <a:buSzPct val="80000"/>
            </a:pPr>
            <a:r>
              <a:rPr lang="en-US" altLang="zh-CN" sz="2000" dirty="0">
                <a:solidFill>
                  <a:srgbClr val="0033CC"/>
                </a:solidFill>
                <a:latin typeface="方正姚体" panose="02010601030101010101" pitchFamily="2" charset="-122"/>
                <a:ea typeface="方正姚体" panose="02010601030101010101" pitchFamily="2" charset="-122"/>
              </a:rPr>
              <a:t>                 Filename   = 'c:\data\StuFile1.mdf', </a:t>
            </a:r>
            <a:endParaRPr lang="en-US" altLang="zh-CN" sz="2000" dirty="0">
              <a:solidFill>
                <a:srgbClr val="0033CC"/>
              </a:solidFill>
              <a:latin typeface="方正姚体" panose="02010601030101010101" pitchFamily="2" charset="-122"/>
              <a:ea typeface="方正姚体" panose="02010601030101010101" pitchFamily="2" charset="-122"/>
            </a:endParaRPr>
          </a:p>
          <a:p>
            <a:pPr marL="342900" indent="-342900">
              <a:lnSpc>
                <a:spcPct val="90000"/>
              </a:lnSpc>
              <a:buClr>
                <a:srgbClr val="0033CC"/>
              </a:buClr>
              <a:buSzPct val="80000"/>
            </a:pPr>
            <a:r>
              <a:rPr lang="en-US" altLang="zh-CN" sz="2000" dirty="0">
                <a:solidFill>
                  <a:srgbClr val="0033CC"/>
                </a:solidFill>
                <a:latin typeface="方正姚体" panose="02010601030101010101" pitchFamily="2" charset="-122"/>
                <a:ea typeface="方正姚体" panose="02010601030101010101" pitchFamily="2" charset="-122"/>
              </a:rPr>
              <a:t>                 Size       = 10MB,</a:t>
            </a:r>
            <a:endParaRPr lang="en-US" altLang="zh-CN" sz="2000" dirty="0">
              <a:solidFill>
                <a:srgbClr val="0033CC"/>
              </a:solidFill>
              <a:latin typeface="方正姚体" panose="02010601030101010101" pitchFamily="2" charset="-122"/>
              <a:ea typeface="方正姚体" panose="02010601030101010101" pitchFamily="2" charset="-122"/>
            </a:endParaRPr>
          </a:p>
          <a:p>
            <a:pPr marL="342900" indent="-342900">
              <a:lnSpc>
                <a:spcPct val="90000"/>
              </a:lnSpc>
              <a:buClr>
                <a:srgbClr val="0033CC"/>
              </a:buClr>
              <a:buSzPct val="80000"/>
            </a:pPr>
            <a:r>
              <a:rPr lang="en-US" altLang="zh-CN" sz="2000" dirty="0">
                <a:solidFill>
                  <a:srgbClr val="0033CC"/>
                </a:solidFill>
                <a:latin typeface="方正姚体" panose="02010601030101010101" pitchFamily="2" charset="-122"/>
                <a:ea typeface="方正姚体" panose="02010601030101010101" pitchFamily="2" charset="-122"/>
              </a:rPr>
              <a:t>                 MaxSize    = 1000MB,</a:t>
            </a:r>
            <a:endParaRPr lang="en-US" altLang="zh-CN" sz="2000" dirty="0">
              <a:solidFill>
                <a:srgbClr val="0033CC"/>
              </a:solidFill>
              <a:latin typeface="方正姚体" panose="02010601030101010101" pitchFamily="2" charset="-122"/>
              <a:ea typeface="方正姚体" panose="02010601030101010101" pitchFamily="2" charset="-122"/>
            </a:endParaRPr>
          </a:p>
          <a:p>
            <a:pPr marL="342900" indent="-342900">
              <a:lnSpc>
                <a:spcPct val="90000"/>
              </a:lnSpc>
              <a:buClr>
                <a:srgbClr val="0033CC"/>
              </a:buClr>
              <a:buSzPct val="80000"/>
            </a:pPr>
            <a:r>
              <a:rPr lang="en-US" altLang="zh-CN" sz="2000" dirty="0">
                <a:solidFill>
                  <a:srgbClr val="0033CC"/>
                </a:solidFill>
                <a:latin typeface="方正姚体" panose="02010601030101010101" pitchFamily="2" charset="-122"/>
                <a:ea typeface="方正姚体" panose="02010601030101010101" pitchFamily="2" charset="-122"/>
              </a:rPr>
              <a:t>                 FileGrowth = 5MB),</a:t>
            </a:r>
            <a:endParaRPr lang="en-US" altLang="zh-CN" sz="2000" dirty="0">
              <a:solidFill>
                <a:srgbClr val="0033CC"/>
              </a:solidFill>
              <a:latin typeface="方正姚体" panose="02010601030101010101" pitchFamily="2" charset="-122"/>
              <a:ea typeface="方正姚体" panose="02010601030101010101" pitchFamily="2" charset="-122"/>
            </a:endParaRPr>
          </a:p>
          <a:p>
            <a:pPr marL="342900" indent="-342900">
              <a:lnSpc>
                <a:spcPct val="90000"/>
              </a:lnSpc>
              <a:buClr>
                <a:srgbClr val="0033CC"/>
              </a:buClr>
              <a:buSzPct val="80000"/>
            </a:pPr>
            <a:r>
              <a:rPr lang="en-US" altLang="zh-CN" sz="2000" dirty="0">
                <a:solidFill>
                  <a:srgbClr val="0033CC"/>
                </a:solidFill>
                <a:latin typeface="方正姚体" panose="02010601030101010101" pitchFamily="2" charset="-122"/>
                <a:ea typeface="方正姚体" panose="02010601030101010101" pitchFamily="2" charset="-122"/>
              </a:rPr>
              <a:t>           (  Name       = StudentFile2,</a:t>
            </a:r>
            <a:endParaRPr lang="en-US" altLang="zh-CN" sz="2000" dirty="0">
              <a:solidFill>
                <a:srgbClr val="0033CC"/>
              </a:solidFill>
              <a:latin typeface="方正姚体" panose="02010601030101010101" pitchFamily="2" charset="-122"/>
              <a:ea typeface="方正姚体" panose="02010601030101010101" pitchFamily="2" charset="-122"/>
            </a:endParaRPr>
          </a:p>
          <a:p>
            <a:pPr marL="342900" indent="-342900">
              <a:lnSpc>
                <a:spcPct val="90000"/>
              </a:lnSpc>
              <a:buClr>
                <a:srgbClr val="0033CC"/>
              </a:buClr>
              <a:buSzPct val="80000"/>
            </a:pPr>
            <a:r>
              <a:rPr lang="en-US" altLang="zh-CN" sz="2000" dirty="0">
                <a:solidFill>
                  <a:srgbClr val="0033CC"/>
                </a:solidFill>
                <a:latin typeface="方正姚体" panose="02010601030101010101" pitchFamily="2" charset="-122"/>
                <a:ea typeface="方正姚体" panose="02010601030101010101" pitchFamily="2" charset="-122"/>
              </a:rPr>
              <a:t>                Filename   = 'c:\data\StuFile2.ndf',</a:t>
            </a:r>
            <a:endParaRPr lang="en-US" altLang="zh-CN" sz="2000" dirty="0">
              <a:solidFill>
                <a:srgbClr val="0033CC"/>
              </a:solidFill>
              <a:latin typeface="方正姚体" panose="02010601030101010101" pitchFamily="2" charset="-122"/>
              <a:ea typeface="方正姚体" panose="02010601030101010101" pitchFamily="2" charset="-122"/>
            </a:endParaRPr>
          </a:p>
          <a:p>
            <a:pPr marL="342900" indent="-342900">
              <a:lnSpc>
                <a:spcPct val="90000"/>
              </a:lnSpc>
              <a:buClr>
                <a:srgbClr val="0033CC"/>
              </a:buClr>
              <a:buSzPct val="80000"/>
            </a:pPr>
            <a:r>
              <a:rPr lang="en-US" altLang="zh-CN" sz="2000" dirty="0">
                <a:solidFill>
                  <a:srgbClr val="0033CC"/>
                </a:solidFill>
                <a:latin typeface="方正姚体" panose="02010601030101010101" pitchFamily="2" charset="-122"/>
                <a:ea typeface="方正姚体" panose="02010601030101010101" pitchFamily="2" charset="-122"/>
              </a:rPr>
              <a:t>                Size       = 10MB,</a:t>
            </a:r>
            <a:endParaRPr lang="en-US" altLang="zh-CN" sz="2000" dirty="0">
              <a:solidFill>
                <a:srgbClr val="0033CC"/>
              </a:solidFill>
              <a:latin typeface="方正姚体" panose="02010601030101010101" pitchFamily="2" charset="-122"/>
              <a:ea typeface="方正姚体" panose="02010601030101010101" pitchFamily="2" charset="-122"/>
            </a:endParaRPr>
          </a:p>
          <a:p>
            <a:pPr marL="342900" indent="-342900">
              <a:lnSpc>
                <a:spcPct val="90000"/>
              </a:lnSpc>
              <a:buClr>
                <a:srgbClr val="0033CC"/>
              </a:buClr>
              <a:buSzPct val="80000"/>
            </a:pPr>
            <a:r>
              <a:rPr lang="en-US" altLang="zh-CN" sz="2000" dirty="0">
                <a:solidFill>
                  <a:srgbClr val="0033CC"/>
                </a:solidFill>
                <a:latin typeface="方正姚体" panose="02010601030101010101" pitchFamily="2" charset="-122"/>
                <a:ea typeface="方正姚体" panose="02010601030101010101" pitchFamily="2" charset="-122"/>
              </a:rPr>
              <a:t>                MaxSize    = 1000MB,</a:t>
            </a:r>
            <a:endParaRPr lang="en-US" altLang="zh-CN" sz="2000" dirty="0">
              <a:solidFill>
                <a:srgbClr val="0033CC"/>
              </a:solidFill>
              <a:latin typeface="方正姚体" panose="02010601030101010101" pitchFamily="2" charset="-122"/>
              <a:ea typeface="方正姚体" panose="02010601030101010101" pitchFamily="2" charset="-122"/>
            </a:endParaRPr>
          </a:p>
          <a:p>
            <a:pPr marL="342900" indent="-342900">
              <a:lnSpc>
                <a:spcPct val="90000"/>
              </a:lnSpc>
              <a:buClr>
                <a:srgbClr val="0033CC"/>
              </a:buClr>
              <a:buSzPct val="80000"/>
            </a:pPr>
            <a:r>
              <a:rPr lang="en-US" altLang="zh-CN" sz="2000" dirty="0">
                <a:solidFill>
                  <a:srgbClr val="0033CC"/>
                </a:solidFill>
                <a:latin typeface="方正姚体" panose="02010601030101010101" pitchFamily="2" charset="-122"/>
                <a:ea typeface="方正姚体" panose="02010601030101010101" pitchFamily="2" charset="-122"/>
              </a:rPr>
              <a:t>                FileGrowth = 5MB)</a:t>
            </a:r>
            <a:endParaRPr lang="en-US" altLang="zh-CN" sz="2000" dirty="0">
              <a:solidFill>
                <a:srgbClr val="0033CC"/>
              </a:solidFill>
              <a:latin typeface="方正姚体" panose="02010601030101010101" pitchFamily="2" charset="-122"/>
              <a:ea typeface="方正姚体" panose="02010601030101010101" pitchFamily="2" charset="-122"/>
            </a:endParaRPr>
          </a:p>
          <a:p>
            <a:pPr marL="342900" indent="-342900">
              <a:lnSpc>
                <a:spcPct val="90000"/>
              </a:lnSpc>
              <a:buClr>
                <a:srgbClr val="0033CC"/>
              </a:buClr>
              <a:buSzPct val="80000"/>
            </a:pPr>
            <a:r>
              <a:rPr lang="en-US" altLang="zh-CN" sz="2000" dirty="0">
                <a:solidFill>
                  <a:srgbClr val="0033CC"/>
                </a:solidFill>
                <a:latin typeface="方正姚体" panose="02010601030101010101" pitchFamily="2" charset="-122"/>
                <a:ea typeface="方正姚体" panose="02010601030101010101" pitchFamily="2" charset="-122"/>
              </a:rPr>
              <a:t>        Log On</a:t>
            </a:r>
            <a:endParaRPr lang="en-US" altLang="zh-CN" sz="2000" dirty="0">
              <a:solidFill>
                <a:srgbClr val="0033CC"/>
              </a:solidFill>
              <a:latin typeface="方正姚体" panose="02010601030101010101" pitchFamily="2" charset="-122"/>
              <a:ea typeface="方正姚体" panose="02010601030101010101" pitchFamily="2" charset="-122"/>
            </a:endParaRPr>
          </a:p>
          <a:p>
            <a:pPr marL="342900" indent="-342900">
              <a:lnSpc>
                <a:spcPct val="90000"/>
              </a:lnSpc>
              <a:buClr>
                <a:srgbClr val="0033CC"/>
              </a:buClr>
              <a:buSzPct val="80000"/>
            </a:pPr>
            <a:r>
              <a:rPr lang="en-US" altLang="zh-CN" sz="2000" dirty="0">
                <a:solidFill>
                  <a:srgbClr val="0033CC"/>
                </a:solidFill>
                <a:latin typeface="方正姚体" panose="02010601030101010101" pitchFamily="2" charset="-122"/>
                <a:ea typeface="方正姚体" panose="02010601030101010101" pitchFamily="2" charset="-122"/>
              </a:rPr>
              <a:t>           (  Name       = Studentlog,</a:t>
            </a:r>
            <a:endParaRPr lang="en-US" altLang="zh-CN" sz="2000" dirty="0">
              <a:solidFill>
                <a:srgbClr val="0033CC"/>
              </a:solidFill>
              <a:latin typeface="方正姚体" panose="02010601030101010101" pitchFamily="2" charset="-122"/>
              <a:ea typeface="方正姚体" panose="02010601030101010101" pitchFamily="2" charset="-122"/>
            </a:endParaRPr>
          </a:p>
          <a:p>
            <a:pPr marL="342900" indent="-342900">
              <a:lnSpc>
                <a:spcPct val="90000"/>
              </a:lnSpc>
              <a:buClr>
                <a:srgbClr val="0033CC"/>
              </a:buClr>
              <a:buSzPct val="80000"/>
            </a:pPr>
            <a:r>
              <a:rPr lang="en-US" altLang="zh-CN" sz="2000" dirty="0">
                <a:solidFill>
                  <a:srgbClr val="0033CC"/>
                </a:solidFill>
                <a:latin typeface="方正姚体" panose="02010601030101010101" pitchFamily="2" charset="-122"/>
                <a:ea typeface="方正姚体" panose="02010601030101010101" pitchFamily="2" charset="-122"/>
              </a:rPr>
              <a:t>                Filename   = 'c:\data\Stulog.ldf', </a:t>
            </a:r>
            <a:endParaRPr lang="en-US" altLang="zh-CN" sz="2000" dirty="0">
              <a:solidFill>
                <a:srgbClr val="0033CC"/>
              </a:solidFill>
              <a:latin typeface="方正姚体" panose="02010601030101010101" pitchFamily="2" charset="-122"/>
              <a:ea typeface="方正姚体" panose="02010601030101010101" pitchFamily="2" charset="-122"/>
            </a:endParaRPr>
          </a:p>
          <a:p>
            <a:pPr marL="342900" indent="-342900">
              <a:lnSpc>
                <a:spcPct val="90000"/>
              </a:lnSpc>
              <a:buClr>
                <a:srgbClr val="0033CC"/>
              </a:buClr>
              <a:buSzPct val="80000"/>
            </a:pPr>
            <a:r>
              <a:rPr lang="en-US" altLang="zh-CN" sz="2000" dirty="0">
                <a:solidFill>
                  <a:srgbClr val="0033CC"/>
                </a:solidFill>
                <a:latin typeface="方正姚体" panose="02010601030101010101" pitchFamily="2" charset="-122"/>
                <a:ea typeface="方正姚体" panose="02010601030101010101" pitchFamily="2" charset="-122"/>
              </a:rPr>
              <a:t>                Size       = 10MB,</a:t>
            </a:r>
            <a:endParaRPr lang="en-US" altLang="zh-CN" sz="2000" dirty="0">
              <a:solidFill>
                <a:srgbClr val="0033CC"/>
              </a:solidFill>
              <a:latin typeface="方正姚体" panose="02010601030101010101" pitchFamily="2" charset="-122"/>
              <a:ea typeface="方正姚体" panose="02010601030101010101" pitchFamily="2" charset="-122"/>
            </a:endParaRPr>
          </a:p>
          <a:p>
            <a:pPr marL="342900" indent="-342900">
              <a:lnSpc>
                <a:spcPct val="90000"/>
              </a:lnSpc>
              <a:buClr>
                <a:srgbClr val="0033CC"/>
              </a:buClr>
              <a:buSzPct val="80000"/>
            </a:pPr>
            <a:r>
              <a:rPr lang="en-US" altLang="zh-CN" sz="2000" dirty="0">
                <a:solidFill>
                  <a:srgbClr val="0033CC"/>
                </a:solidFill>
                <a:latin typeface="方正姚体" panose="02010601030101010101" pitchFamily="2" charset="-122"/>
                <a:ea typeface="方正姚体" panose="02010601030101010101" pitchFamily="2" charset="-122"/>
              </a:rPr>
              <a:t>                MaxSize    = 1000MB,</a:t>
            </a:r>
            <a:endParaRPr lang="en-US" altLang="zh-CN" sz="2000" dirty="0">
              <a:solidFill>
                <a:srgbClr val="0033CC"/>
              </a:solidFill>
              <a:latin typeface="方正姚体" panose="02010601030101010101" pitchFamily="2" charset="-122"/>
              <a:ea typeface="方正姚体" panose="02010601030101010101" pitchFamily="2" charset="-122"/>
            </a:endParaRPr>
          </a:p>
          <a:p>
            <a:pPr marL="342900" indent="-342900">
              <a:lnSpc>
                <a:spcPct val="90000"/>
              </a:lnSpc>
              <a:buClr>
                <a:srgbClr val="0033CC"/>
              </a:buClr>
              <a:buSzPct val="80000"/>
            </a:pPr>
            <a:r>
              <a:rPr lang="en-US" altLang="zh-CN" sz="2000" dirty="0">
                <a:solidFill>
                  <a:srgbClr val="0033CC"/>
                </a:solidFill>
                <a:latin typeface="方正姚体" panose="02010601030101010101" pitchFamily="2" charset="-122"/>
                <a:ea typeface="方正姚体" panose="02010601030101010101" pitchFamily="2" charset="-122"/>
              </a:rPr>
              <a:t>                FileGrowth = 5MB) </a:t>
            </a:r>
            <a:endParaRPr lang="en-GB" altLang="en-US" sz="2000" dirty="0">
              <a:solidFill>
                <a:srgbClr val="0033CC"/>
              </a:solidFill>
              <a:latin typeface="Times New Roman" panose="02020603050405020304" pitchFamily="2" charset="0"/>
              <a:ea typeface="宋体" panose="02010600030101010101" pitchFamily="2" charset="-122"/>
            </a:endParaRPr>
          </a:p>
        </p:txBody>
      </p:sp>
      <p:grpSp>
        <p:nvGrpSpPr>
          <p:cNvPr id="12297" name="Group 9"/>
          <p:cNvGrpSpPr/>
          <p:nvPr/>
        </p:nvGrpSpPr>
        <p:grpSpPr>
          <a:xfrm>
            <a:off x="4052888" y="1474788"/>
            <a:ext cx="1482725" cy="661987"/>
            <a:chOff x="0" y="0"/>
            <a:chExt cx="934" cy="417"/>
          </a:xfrm>
        </p:grpSpPr>
        <p:sp>
          <p:nvSpPr>
            <p:cNvPr id="15369" name="AutoShape 10"/>
            <p:cNvSpPr/>
            <p:nvPr/>
          </p:nvSpPr>
          <p:spPr>
            <a:xfrm>
              <a:off x="26" y="0"/>
              <a:ext cx="908" cy="288"/>
            </a:xfrm>
            <a:prstGeom prst="roundRect">
              <a:avLst>
                <a:gd name="adj" fmla="val 16667"/>
              </a:avLst>
            </a:prstGeom>
            <a:solidFill>
              <a:srgbClr val="FBE2B1"/>
            </a:solidFill>
            <a:ln w="9525" cap="flat" cmpd="sng">
              <a:solidFill>
                <a:schemeClr val="tx1"/>
              </a:solidFill>
              <a:prstDash val="solid"/>
              <a:round/>
              <a:headEnd type="none" w="med" len="med"/>
              <a:tailEnd type="none" w="med" len="med"/>
            </a:ln>
          </p:spPr>
          <p:txBody>
            <a:bodyPr wrap="none" anchor="ctr" anchorCtr="0"/>
            <a:p>
              <a:pPr algn="ctr">
                <a:lnSpc>
                  <a:spcPct val="135000"/>
                </a:lnSpc>
              </a:pPr>
              <a:r>
                <a:rPr lang="zh-CN" altLang="en-US" sz="2400" dirty="0">
                  <a:solidFill>
                    <a:srgbClr val="003300"/>
                  </a:solidFill>
                  <a:latin typeface="宋体" panose="02010600030101010101" pitchFamily="2" charset="-122"/>
                  <a:ea typeface="宋体" panose="02010600030101010101" pitchFamily="2" charset="-122"/>
                </a:rPr>
                <a:t>主文件</a:t>
              </a:r>
              <a:endParaRPr lang="zh-CN" altLang="en-US" sz="2400" dirty="0">
                <a:solidFill>
                  <a:srgbClr val="003300"/>
                </a:solidFill>
                <a:latin typeface="宋体" panose="02010600030101010101" pitchFamily="2" charset="-122"/>
                <a:ea typeface="宋体" panose="02010600030101010101" pitchFamily="2" charset="-122"/>
              </a:endParaRPr>
            </a:p>
          </p:txBody>
        </p:sp>
        <p:sp>
          <p:nvSpPr>
            <p:cNvPr id="15370" name="Line 11"/>
            <p:cNvSpPr/>
            <p:nvPr/>
          </p:nvSpPr>
          <p:spPr>
            <a:xfrm flipV="1">
              <a:off x="0" y="305"/>
              <a:ext cx="528" cy="112"/>
            </a:xfrm>
            <a:prstGeom prst="line">
              <a:avLst/>
            </a:prstGeom>
            <a:ln w="25400" cap="flat" cmpd="sng">
              <a:solidFill>
                <a:schemeClr val="tx1"/>
              </a:solidFill>
              <a:prstDash val="solid"/>
              <a:round/>
              <a:headEnd type="triangle" w="med" len="med"/>
              <a:tailEnd type="none" w="med" len="med"/>
            </a:ln>
          </p:spPr>
        </p:sp>
      </p:grpSp>
      <p:grpSp>
        <p:nvGrpSpPr>
          <p:cNvPr id="12300" name="Group 12"/>
          <p:cNvGrpSpPr/>
          <p:nvPr/>
        </p:nvGrpSpPr>
        <p:grpSpPr>
          <a:xfrm>
            <a:off x="3948113" y="2662238"/>
            <a:ext cx="1812925" cy="835025"/>
            <a:chOff x="0" y="0"/>
            <a:chExt cx="1142" cy="526"/>
          </a:xfrm>
        </p:grpSpPr>
        <p:sp>
          <p:nvSpPr>
            <p:cNvPr id="15372" name="AutoShape 13"/>
            <p:cNvSpPr/>
            <p:nvPr/>
          </p:nvSpPr>
          <p:spPr>
            <a:xfrm>
              <a:off x="355" y="0"/>
              <a:ext cx="787" cy="288"/>
            </a:xfrm>
            <a:prstGeom prst="roundRect">
              <a:avLst>
                <a:gd name="adj" fmla="val 16667"/>
              </a:avLst>
            </a:prstGeom>
            <a:solidFill>
              <a:srgbClr val="FBE2B1"/>
            </a:solidFill>
            <a:ln w="9525" cap="flat" cmpd="sng">
              <a:solidFill>
                <a:schemeClr val="tx1"/>
              </a:solidFill>
              <a:prstDash val="solid"/>
              <a:round/>
              <a:headEnd type="none" w="med" len="med"/>
              <a:tailEnd type="none" w="med" len="med"/>
            </a:ln>
          </p:spPr>
          <p:txBody>
            <a:bodyPr wrap="none" anchor="ctr" anchorCtr="0"/>
            <a:p>
              <a:pPr algn="ctr">
                <a:lnSpc>
                  <a:spcPct val="135000"/>
                </a:lnSpc>
              </a:pPr>
              <a:r>
                <a:rPr lang="zh-CN" altLang="en-US" sz="2400" dirty="0">
                  <a:solidFill>
                    <a:srgbClr val="003300"/>
                  </a:solidFill>
                  <a:latin typeface="宋体" panose="02010600030101010101" pitchFamily="2" charset="-122"/>
                  <a:ea typeface="宋体" panose="02010600030101010101" pitchFamily="2" charset="-122"/>
                </a:rPr>
                <a:t>次文件</a:t>
              </a:r>
              <a:endParaRPr lang="en-GB" altLang="en-US" sz="2400" dirty="0">
                <a:solidFill>
                  <a:srgbClr val="003300"/>
                </a:solidFill>
                <a:latin typeface="宋体" panose="02010600030101010101" pitchFamily="2" charset="-122"/>
                <a:ea typeface="宋体" panose="02010600030101010101" pitchFamily="2" charset="-122"/>
              </a:endParaRPr>
            </a:p>
          </p:txBody>
        </p:sp>
        <p:sp>
          <p:nvSpPr>
            <p:cNvPr id="15373" name="Line 14"/>
            <p:cNvSpPr/>
            <p:nvPr/>
          </p:nvSpPr>
          <p:spPr>
            <a:xfrm flipV="1">
              <a:off x="0" y="298"/>
              <a:ext cx="457" cy="228"/>
            </a:xfrm>
            <a:prstGeom prst="line">
              <a:avLst/>
            </a:prstGeom>
            <a:ln w="25400" cap="flat" cmpd="sng">
              <a:solidFill>
                <a:schemeClr val="tx1"/>
              </a:solidFill>
              <a:prstDash val="solid"/>
              <a:round/>
              <a:headEnd type="triangle" w="med" len="med"/>
              <a:tailEnd type="none" w="med" len="med"/>
            </a:ln>
          </p:spPr>
        </p:sp>
      </p:grpSp>
      <p:grpSp>
        <p:nvGrpSpPr>
          <p:cNvPr id="12303" name="Group 15"/>
          <p:cNvGrpSpPr/>
          <p:nvPr/>
        </p:nvGrpSpPr>
        <p:grpSpPr>
          <a:xfrm>
            <a:off x="3732213" y="4491038"/>
            <a:ext cx="1887537" cy="620712"/>
            <a:chOff x="0" y="0"/>
            <a:chExt cx="1189" cy="391"/>
          </a:xfrm>
        </p:grpSpPr>
        <p:sp>
          <p:nvSpPr>
            <p:cNvPr id="15375" name="AutoShape 16"/>
            <p:cNvSpPr/>
            <p:nvPr/>
          </p:nvSpPr>
          <p:spPr>
            <a:xfrm>
              <a:off x="281" y="0"/>
              <a:ext cx="908" cy="288"/>
            </a:xfrm>
            <a:prstGeom prst="roundRect">
              <a:avLst>
                <a:gd name="adj" fmla="val 16667"/>
              </a:avLst>
            </a:prstGeom>
            <a:solidFill>
              <a:srgbClr val="FBE2B1"/>
            </a:solidFill>
            <a:ln w="9525" cap="flat" cmpd="sng">
              <a:solidFill>
                <a:schemeClr val="tx1"/>
              </a:solidFill>
              <a:prstDash val="solid"/>
              <a:round/>
              <a:headEnd type="none" w="med" len="med"/>
              <a:tailEnd type="none" w="med" len="med"/>
            </a:ln>
          </p:spPr>
          <p:txBody>
            <a:bodyPr wrap="none" anchor="ctr" anchorCtr="0"/>
            <a:p>
              <a:pPr algn="ctr">
                <a:lnSpc>
                  <a:spcPct val="135000"/>
                </a:lnSpc>
              </a:pPr>
              <a:r>
                <a:rPr lang="zh-CN" altLang="en-US" sz="2400" dirty="0">
                  <a:solidFill>
                    <a:srgbClr val="003300"/>
                  </a:solidFill>
                  <a:latin typeface="宋体" panose="02010600030101010101" pitchFamily="2" charset="-122"/>
                  <a:ea typeface="宋体" panose="02010600030101010101" pitchFamily="2" charset="-122"/>
                </a:rPr>
                <a:t>日志文件</a:t>
              </a:r>
              <a:endParaRPr lang="zh-CN" altLang="en-US" sz="2400" dirty="0">
                <a:solidFill>
                  <a:srgbClr val="003300"/>
                </a:solidFill>
                <a:latin typeface="宋体" panose="02010600030101010101" pitchFamily="2" charset="-122"/>
                <a:ea typeface="宋体" panose="02010600030101010101" pitchFamily="2" charset="-122"/>
              </a:endParaRPr>
            </a:p>
          </p:txBody>
        </p:sp>
        <p:sp>
          <p:nvSpPr>
            <p:cNvPr id="15376" name="Line 17"/>
            <p:cNvSpPr/>
            <p:nvPr/>
          </p:nvSpPr>
          <p:spPr>
            <a:xfrm flipV="1">
              <a:off x="0" y="289"/>
              <a:ext cx="511" cy="102"/>
            </a:xfrm>
            <a:prstGeom prst="line">
              <a:avLst/>
            </a:prstGeom>
            <a:ln w="25400" cap="flat" cmpd="sng">
              <a:solidFill>
                <a:schemeClr val="tx1"/>
              </a:solidFill>
              <a:prstDash val="solid"/>
              <a:round/>
              <a:headEnd type="triangle" w="med" len="med"/>
              <a:tailEnd type="none" w="med" len="med"/>
            </a:ln>
          </p:spPr>
        </p:sp>
      </p:grpSp>
      <p:grpSp>
        <p:nvGrpSpPr>
          <p:cNvPr id="12306" name="Group 18"/>
          <p:cNvGrpSpPr/>
          <p:nvPr/>
        </p:nvGrpSpPr>
        <p:grpSpPr>
          <a:xfrm>
            <a:off x="5384800" y="1417638"/>
            <a:ext cx="3152775" cy="962025"/>
            <a:chOff x="0" y="0"/>
            <a:chExt cx="1986" cy="606"/>
          </a:xfrm>
        </p:grpSpPr>
        <p:sp>
          <p:nvSpPr>
            <p:cNvPr id="15378" name="AutoShape 19"/>
            <p:cNvSpPr/>
            <p:nvPr/>
          </p:nvSpPr>
          <p:spPr>
            <a:xfrm>
              <a:off x="354" y="0"/>
              <a:ext cx="1632" cy="334"/>
            </a:xfrm>
            <a:prstGeom prst="roundRect">
              <a:avLst>
                <a:gd name="adj" fmla="val 16667"/>
              </a:avLst>
            </a:prstGeom>
            <a:solidFill>
              <a:srgbClr val="CCFFFF">
                <a:alpha val="29999"/>
              </a:srgbClr>
            </a:solidFill>
            <a:ln w="9525" cap="flat" cmpd="sng">
              <a:solidFill>
                <a:schemeClr val="tx1"/>
              </a:solidFill>
              <a:prstDash val="solid"/>
              <a:round/>
              <a:headEnd type="none" w="med" len="med"/>
              <a:tailEnd type="none" w="med" len="med"/>
            </a:ln>
          </p:spPr>
          <p:txBody>
            <a:bodyPr wrap="none" anchor="ctr" anchorCtr="0"/>
            <a:p>
              <a:pPr algn="ctr">
                <a:lnSpc>
                  <a:spcPct val="135000"/>
                </a:lnSpc>
              </a:pPr>
              <a:r>
                <a:rPr lang="zh-CN" altLang="en-US" sz="2400" dirty="0">
                  <a:solidFill>
                    <a:srgbClr val="003300"/>
                  </a:solidFill>
                  <a:latin typeface="宋体" panose="02010600030101010101" pitchFamily="2" charset="-122"/>
                  <a:ea typeface="宋体" panose="02010600030101010101" pitchFamily="2" charset="-122"/>
                </a:rPr>
                <a:t>主数据文件扩展名</a:t>
              </a:r>
              <a:endParaRPr lang="zh-CN" altLang="en-US" sz="2400" dirty="0">
                <a:solidFill>
                  <a:srgbClr val="003300"/>
                </a:solidFill>
                <a:latin typeface="宋体" panose="02010600030101010101" pitchFamily="2" charset="-122"/>
                <a:ea typeface="宋体" panose="02010600030101010101" pitchFamily="2" charset="-122"/>
              </a:endParaRPr>
            </a:p>
          </p:txBody>
        </p:sp>
        <p:sp>
          <p:nvSpPr>
            <p:cNvPr id="15379" name="Line 20"/>
            <p:cNvSpPr/>
            <p:nvPr/>
          </p:nvSpPr>
          <p:spPr>
            <a:xfrm flipH="1">
              <a:off x="0" y="339"/>
              <a:ext cx="1495" cy="267"/>
            </a:xfrm>
            <a:prstGeom prst="line">
              <a:avLst/>
            </a:prstGeom>
            <a:ln w="38100" cap="flat" cmpd="sng">
              <a:solidFill>
                <a:schemeClr val="tx1"/>
              </a:solidFill>
              <a:prstDash val="solid"/>
              <a:round/>
              <a:headEnd type="none" w="med" len="med"/>
              <a:tailEnd type="triangle" w="med" len="med"/>
            </a:ln>
          </p:spPr>
        </p:sp>
      </p:grpSp>
      <p:grpSp>
        <p:nvGrpSpPr>
          <p:cNvPr id="12309" name="Group 21"/>
          <p:cNvGrpSpPr/>
          <p:nvPr/>
        </p:nvGrpSpPr>
        <p:grpSpPr>
          <a:xfrm>
            <a:off x="5153025" y="2887663"/>
            <a:ext cx="3370263" cy="842962"/>
            <a:chOff x="0" y="0"/>
            <a:chExt cx="2123" cy="531"/>
          </a:xfrm>
        </p:grpSpPr>
        <p:sp>
          <p:nvSpPr>
            <p:cNvPr id="15381" name="AutoShape 22"/>
            <p:cNvSpPr/>
            <p:nvPr/>
          </p:nvSpPr>
          <p:spPr>
            <a:xfrm>
              <a:off x="491" y="0"/>
              <a:ext cx="1632" cy="334"/>
            </a:xfrm>
            <a:prstGeom prst="roundRect">
              <a:avLst>
                <a:gd name="adj" fmla="val 16667"/>
              </a:avLst>
            </a:prstGeom>
            <a:solidFill>
              <a:srgbClr val="CCFFFF">
                <a:alpha val="29999"/>
              </a:srgbClr>
            </a:solidFill>
            <a:ln w="9525" cap="flat" cmpd="sng">
              <a:solidFill>
                <a:schemeClr val="tx1"/>
              </a:solidFill>
              <a:prstDash val="solid"/>
              <a:round/>
              <a:headEnd type="none" w="med" len="med"/>
              <a:tailEnd type="none" w="med" len="med"/>
            </a:ln>
          </p:spPr>
          <p:txBody>
            <a:bodyPr wrap="none" anchor="ctr" anchorCtr="0"/>
            <a:p>
              <a:pPr algn="ctr">
                <a:lnSpc>
                  <a:spcPct val="135000"/>
                </a:lnSpc>
              </a:pPr>
              <a:r>
                <a:rPr lang="zh-CN" altLang="en-US" sz="2400" dirty="0">
                  <a:solidFill>
                    <a:srgbClr val="003300"/>
                  </a:solidFill>
                  <a:latin typeface="宋体" panose="02010600030101010101" pitchFamily="2" charset="-122"/>
                  <a:ea typeface="宋体" panose="02010600030101010101" pitchFamily="2" charset="-122"/>
                </a:rPr>
                <a:t>次数据文件扩展名</a:t>
              </a:r>
              <a:endParaRPr lang="zh-CN" altLang="en-US" sz="2400" dirty="0">
                <a:solidFill>
                  <a:srgbClr val="003300"/>
                </a:solidFill>
                <a:latin typeface="宋体" panose="02010600030101010101" pitchFamily="2" charset="-122"/>
                <a:ea typeface="宋体" panose="02010600030101010101" pitchFamily="2" charset="-122"/>
              </a:endParaRPr>
            </a:p>
          </p:txBody>
        </p:sp>
        <p:sp>
          <p:nvSpPr>
            <p:cNvPr id="15382" name="Line 23"/>
            <p:cNvSpPr/>
            <p:nvPr/>
          </p:nvSpPr>
          <p:spPr>
            <a:xfrm flipH="1">
              <a:off x="0" y="320"/>
              <a:ext cx="1261" cy="211"/>
            </a:xfrm>
            <a:prstGeom prst="line">
              <a:avLst/>
            </a:prstGeom>
            <a:ln w="38100" cap="flat" cmpd="sng">
              <a:solidFill>
                <a:schemeClr val="tx1"/>
              </a:solidFill>
              <a:prstDash val="solid"/>
              <a:round/>
              <a:headEnd type="none" w="med" len="med"/>
              <a:tailEnd type="triangle" w="med" len="med"/>
            </a:ln>
          </p:spPr>
        </p:sp>
      </p:grpSp>
      <p:grpSp>
        <p:nvGrpSpPr>
          <p:cNvPr id="12312" name="Group 24"/>
          <p:cNvGrpSpPr/>
          <p:nvPr/>
        </p:nvGrpSpPr>
        <p:grpSpPr>
          <a:xfrm>
            <a:off x="5226050" y="4541838"/>
            <a:ext cx="3322638" cy="900112"/>
            <a:chOff x="0" y="0"/>
            <a:chExt cx="2093" cy="567"/>
          </a:xfrm>
        </p:grpSpPr>
        <p:sp>
          <p:nvSpPr>
            <p:cNvPr id="15384" name="AutoShape 25"/>
            <p:cNvSpPr/>
            <p:nvPr/>
          </p:nvSpPr>
          <p:spPr>
            <a:xfrm>
              <a:off x="610" y="0"/>
              <a:ext cx="1483" cy="334"/>
            </a:xfrm>
            <a:prstGeom prst="roundRect">
              <a:avLst>
                <a:gd name="adj" fmla="val 16667"/>
              </a:avLst>
            </a:prstGeom>
            <a:solidFill>
              <a:srgbClr val="CCFFFF">
                <a:alpha val="29999"/>
              </a:srgbClr>
            </a:solidFill>
            <a:ln w="9525" cap="flat" cmpd="sng">
              <a:solidFill>
                <a:schemeClr val="tx1"/>
              </a:solidFill>
              <a:prstDash val="solid"/>
              <a:round/>
              <a:headEnd type="none" w="med" len="med"/>
              <a:tailEnd type="none" w="med" len="med"/>
            </a:ln>
          </p:spPr>
          <p:txBody>
            <a:bodyPr wrap="none" anchor="ctr" anchorCtr="0"/>
            <a:p>
              <a:pPr algn="ctr">
                <a:lnSpc>
                  <a:spcPct val="135000"/>
                </a:lnSpc>
              </a:pPr>
              <a:r>
                <a:rPr lang="zh-CN" altLang="en-US" sz="2400" dirty="0">
                  <a:solidFill>
                    <a:srgbClr val="003300"/>
                  </a:solidFill>
                  <a:latin typeface="宋体" panose="02010600030101010101" pitchFamily="2" charset="-122"/>
                  <a:ea typeface="宋体" panose="02010600030101010101" pitchFamily="2" charset="-122"/>
                </a:rPr>
                <a:t>日志文件扩展名</a:t>
              </a:r>
              <a:endParaRPr lang="zh-CN" altLang="en-US" sz="2400" dirty="0">
                <a:solidFill>
                  <a:srgbClr val="003300"/>
                </a:solidFill>
                <a:latin typeface="宋体" panose="02010600030101010101" pitchFamily="2" charset="-122"/>
                <a:ea typeface="宋体" panose="02010600030101010101" pitchFamily="2" charset="-122"/>
              </a:endParaRPr>
            </a:p>
          </p:txBody>
        </p:sp>
        <p:sp>
          <p:nvSpPr>
            <p:cNvPr id="15385" name="Line 26"/>
            <p:cNvSpPr/>
            <p:nvPr/>
          </p:nvSpPr>
          <p:spPr>
            <a:xfrm flipH="1">
              <a:off x="0" y="329"/>
              <a:ext cx="1186" cy="238"/>
            </a:xfrm>
            <a:prstGeom prst="line">
              <a:avLst/>
            </a:prstGeom>
            <a:ln w="38100" cap="flat" cmpd="sng">
              <a:solidFill>
                <a:schemeClr val="tx1"/>
              </a:solidFill>
              <a:prstDash val="solid"/>
              <a:round/>
              <a:headEnd type="none" w="med" len="med"/>
              <a:tailEnd type="triangle" w="med" len="med"/>
            </a:ln>
          </p:spPr>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nodeType="clickEffect">
                                  <p:stCondLst>
                                    <p:cond delay="0"/>
                                  </p:stCondLst>
                                  <p:childTnLst>
                                    <p:set>
                                      <p:cBhvr>
                                        <p:cTn id="6" dur="1" fill="hold">
                                          <p:stCondLst>
                                            <p:cond delay="0"/>
                                          </p:stCondLst>
                                        </p:cTn>
                                        <p:tgtEl>
                                          <p:spTgt spid="12292"/>
                                        </p:tgtEl>
                                        <p:attrNameLst>
                                          <p:attrName>style.visibility</p:attrName>
                                        </p:attrNameLst>
                                      </p:cBhvr>
                                      <p:to>
                                        <p:strVal val="visible"/>
                                      </p:to>
                                    </p:set>
                                    <p:animEffect transition="in" filter="plus(in)">
                                      <p:cBhvr>
                                        <p:cTn id="7" dur="2000"/>
                                        <p:tgtEl>
                                          <p:spTgt spid="12292"/>
                                        </p:tgtEl>
                                      </p:cBhvr>
                                    </p:animEffect>
                                  </p:childTnLst>
                                </p:cTn>
                              </p:par>
                            </p:childTnLst>
                          </p:cTn>
                        </p:par>
                      </p:childTnLst>
                    </p:cTn>
                  </p:par>
                  <p:par>
                    <p:cTn id="8" fill="hold">
                      <p:stCondLst>
                        <p:cond delay="indefinite"/>
                      </p:stCondLst>
                      <p:childTnLst>
                        <p:par>
                          <p:cTn id="9" fill="hold">
                            <p:stCondLst>
                              <p:cond delay="0"/>
                            </p:stCondLst>
                            <p:childTnLst>
                              <p:par>
                                <p:cTn id="10" presetID="13" presetClass="entr" presetSubtype="16" fill="hold" nodeType="clickEffect">
                                  <p:stCondLst>
                                    <p:cond delay="0"/>
                                  </p:stCondLst>
                                  <p:childTnLst>
                                    <p:set>
                                      <p:cBhvr>
                                        <p:cTn id="11" dur="1" fill="hold">
                                          <p:stCondLst>
                                            <p:cond delay="0"/>
                                          </p:stCondLst>
                                        </p:cTn>
                                        <p:tgtEl>
                                          <p:spTgt spid="12297"/>
                                        </p:tgtEl>
                                        <p:attrNameLst>
                                          <p:attrName>style.visibility</p:attrName>
                                        </p:attrNameLst>
                                      </p:cBhvr>
                                      <p:to>
                                        <p:strVal val="visible"/>
                                      </p:to>
                                    </p:set>
                                    <p:animEffect transition="in" filter="plus(in)">
                                      <p:cBhvr>
                                        <p:cTn id="12" dur="2000"/>
                                        <p:tgtEl>
                                          <p:spTgt spid="12297"/>
                                        </p:tgtEl>
                                      </p:cBhvr>
                                    </p:animEffect>
                                  </p:childTnLst>
                                </p:cTn>
                              </p:par>
                            </p:childTnLst>
                          </p:cTn>
                        </p:par>
                      </p:childTnLst>
                    </p:cTn>
                  </p:par>
                  <p:par>
                    <p:cTn id="13" fill="hold">
                      <p:stCondLst>
                        <p:cond delay="indefinite"/>
                      </p:stCondLst>
                      <p:childTnLst>
                        <p:par>
                          <p:cTn id="14" fill="hold">
                            <p:stCondLst>
                              <p:cond delay="0"/>
                            </p:stCondLst>
                            <p:childTnLst>
                              <p:par>
                                <p:cTn id="15" presetID="55" presetClass="entr" presetSubtype="0" fill="hold" nodeType="clickEffect">
                                  <p:stCondLst>
                                    <p:cond delay="0"/>
                                  </p:stCondLst>
                                  <p:childTnLst>
                                    <p:set>
                                      <p:cBhvr>
                                        <p:cTn id="16" dur="1" fill="hold">
                                          <p:stCondLst>
                                            <p:cond delay="0"/>
                                          </p:stCondLst>
                                        </p:cTn>
                                        <p:tgtEl>
                                          <p:spTgt spid="12306"/>
                                        </p:tgtEl>
                                        <p:attrNameLst>
                                          <p:attrName>style.visibility</p:attrName>
                                        </p:attrNameLst>
                                      </p:cBhvr>
                                      <p:to>
                                        <p:strVal val="visible"/>
                                      </p:to>
                                    </p:set>
                                    <p:anim calcmode="lin" valueType="num">
                                      <p:cBhvr>
                                        <p:cTn id="17" dur="1000" fill="hold"/>
                                        <p:tgtEl>
                                          <p:spTgt spid="12306"/>
                                        </p:tgtEl>
                                        <p:attrNameLst>
                                          <p:attrName>ppt_w</p:attrName>
                                        </p:attrNameLst>
                                      </p:cBhvr>
                                      <p:tavLst>
                                        <p:tav tm="0">
                                          <p:val>
                                            <p:strVal val="#ppt_w*0.70"/>
                                          </p:val>
                                        </p:tav>
                                        <p:tav tm="100000">
                                          <p:val>
                                            <p:strVal val="#ppt_w"/>
                                          </p:val>
                                        </p:tav>
                                      </p:tavLst>
                                    </p:anim>
                                    <p:anim calcmode="lin" valueType="num">
                                      <p:cBhvr>
                                        <p:cTn id="18" dur="1000" fill="hold"/>
                                        <p:tgtEl>
                                          <p:spTgt spid="12306"/>
                                        </p:tgtEl>
                                        <p:attrNameLst>
                                          <p:attrName>ppt_h</p:attrName>
                                        </p:attrNameLst>
                                      </p:cBhvr>
                                      <p:tavLst>
                                        <p:tav tm="0">
                                          <p:val>
                                            <p:strVal val="#ppt_h"/>
                                          </p:val>
                                        </p:tav>
                                        <p:tav tm="100000">
                                          <p:val>
                                            <p:strVal val="#ppt_h"/>
                                          </p:val>
                                        </p:tav>
                                      </p:tavLst>
                                    </p:anim>
                                    <p:animEffect transition="in" filter="fade">
                                      <p:cBhvr>
                                        <p:cTn id="19" dur="1000"/>
                                        <p:tgtEl>
                                          <p:spTgt spid="12306"/>
                                        </p:tgtEl>
                                      </p:cBhvr>
                                    </p:animEffect>
                                  </p:childTnLst>
                                </p:cTn>
                              </p:par>
                            </p:childTnLst>
                          </p:cTn>
                        </p:par>
                      </p:childTnLst>
                    </p:cTn>
                  </p:par>
                  <p:par>
                    <p:cTn id="20" fill="hold">
                      <p:stCondLst>
                        <p:cond delay="indefinite"/>
                      </p:stCondLst>
                      <p:childTnLst>
                        <p:par>
                          <p:cTn id="21" fill="hold">
                            <p:stCondLst>
                              <p:cond delay="0"/>
                            </p:stCondLst>
                            <p:childTnLst>
                              <p:par>
                                <p:cTn id="22" presetID="55" presetClass="entr" presetSubtype="0" fill="hold" nodeType="clickEffect">
                                  <p:stCondLst>
                                    <p:cond delay="0"/>
                                  </p:stCondLst>
                                  <p:childTnLst>
                                    <p:set>
                                      <p:cBhvr>
                                        <p:cTn id="23" dur="1" fill="hold">
                                          <p:stCondLst>
                                            <p:cond delay="0"/>
                                          </p:stCondLst>
                                        </p:cTn>
                                        <p:tgtEl>
                                          <p:spTgt spid="12300"/>
                                        </p:tgtEl>
                                        <p:attrNameLst>
                                          <p:attrName>style.visibility</p:attrName>
                                        </p:attrNameLst>
                                      </p:cBhvr>
                                      <p:to>
                                        <p:strVal val="visible"/>
                                      </p:to>
                                    </p:set>
                                    <p:anim calcmode="lin" valueType="num">
                                      <p:cBhvr>
                                        <p:cTn id="24" dur="1000" fill="hold"/>
                                        <p:tgtEl>
                                          <p:spTgt spid="12300"/>
                                        </p:tgtEl>
                                        <p:attrNameLst>
                                          <p:attrName>ppt_w</p:attrName>
                                        </p:attrNameLst>
                                      </p:cBhvr>
                                      <p:tavLst>
                                        <p:tav tm="0">
                                          <p:val>
                                            <p:strVal val="#ppt_w*0.70"/>
                                          </p:val>
                                        </p:tav>
                                        <p:tav tm="100000">
                                          <p:val>
                                            <p:strVal val="#ppt_w"/>
                                          </p:val>
                                        </p:tav>
                                      </p:tavLst>
                                    </p:anim>
                                    <p:anim calcmode="lin" valueType="num">
                                      <p:cBhvr>
                                        <p:cTn id="25" dur="1000" fill="hold"/>
                                        <p:tgtEl>
                                          <p:spTgt spid="12300"/>
                                        </p:tgtEl>
                                        <p:attrNameLst>
                                          <p:attrName>ppt_h</p:attrName>
                                        </p:attrNameLst>
                                      </p:cBhvr>
                                      <p:tavLst>
                                        <p:tav tm="0">
                                          <p:val>
                                            <p:strVal val="#ppt_h"/>
                                          </p:val>
                                        </p:tav>
                                        <p:tav tm="100000">
                                          <p:val>
                                            <p:strVal val="#ppt_h"/>
                                          </p:val>
                                        </p:tav>
                                      </p:tavLst>
                                    </p:anim>
                                    <p:animEffect transition="in" filter="fade">
                                      <p:cBhvr>
                                        <p:cTn id="26" dur="1000"/>
                                        <p:tgtEl>
                                          <p:spTgt spid="12300"/>
                                        </p:tgtEl>
                                      </p:cBhvr>
                                    </p:animEffect>
                                  </p:childTnLst>
                                </p:cTn>
                              </p:par>
                            </p:childTnLst>
                          </p:cTn>
                        </p:par>
                      </p:childTnLst>
                    </p:cTn>
                  </p:par>
                  <p:par>
                    <p:cTn id="27" fill="hold">
                      <p:stCondLst>
                        <p:cond delay="indefinite"/>
                      </p:stCondLst>
                      <p:childTnLst>
                        <p:par>
                          <p:cTn id="28" fill="hold">
                            <p:stCondLst>
                              <p:cond delay="0"/>
                            </p:stCondLst>
                            <p:childTnLst>
                              <p:par>
                                <p:cTn id="29" presetID="55" presetClass="entr" presetSubtype="0" fill="hold" nodeType="clickEffect">
                                  <p:stCondLst>
                                    <p:cond delay="0"/>
                                  </p:stCondLst>
                                  <p:childTnLst>
                                    <p:set>
                                      <p:cBhvr>
                                        <p:cTn id="30" dur="1" fill="hold">
                                          <p:stCondLst>
                                            <p:cond delay="0"/>
                                          </p:stCondLst>
                                        </p:cTn>
                                        <p:tgtEl>
                                          <p:spTgt spid="12309"/>
                                        </p:tgtEl>
                                        <p:attrNameLst>
                                          <p:attrName>style.visibility</p:attrName>
                                        </p:attrNameLst>
                                      </p:cBhvr>
                                      <p:to>
                                        <p:strVal val="visible"/>
                                      </p:to>
                                    </p:set>
                                    <p:anim calcmode="lin" valueType="num">
                                      <p:cBhvr>
                                        <p:cTn id="31" dur="1000" fill="hold"/>
                                        <p:tgtEl>
                                          <p:spTgt spid="12309"/>
                                        </p:tgtEl>
                                        <p:attrNameLst>
                                          <p:attrName>ppt_w</p:attrName>
                                        </p:attrNameLst>
                                      </p:cBhvr>
                                      <p:tavLst>
                                        <p:tav tm="0">
                                          <p:val>
                                            <p:strVal val="#ppt_w*0.70"/>
                                          </p:val>
                                        </p:tav>
                                        <p:tav tm="100000">
                                          <p:val>
                                            <p:strVal val="#ppt_w"/>
                                          </p:val>
                                        </p:tav>
                                      </p:tavLst>
                                    </p:anim>
                                    <p:anim calcmode="lin" valueType="num">
                                      <p:cBhvr>
                                        <p:cTn id="32" dur="1000" fill="hold"/>
                                        <p:tgtEl>
                                          <p:spTgt spid="12309"/>
                                        </p:tgtEl>
                                        <p:attrNameLst>
                                          <p:attrName>ppt_h</p:attrName>
                                        </p:attrNameLst>
                                      </p:cBhvr>
                                      <p:tavLst>
                                        <p:tav tm="0">
                                          <p:val>
                                            <p:strVal val="#ppt_h"/>
                                          </p:val>
                                        </p:tav>
                                        <p:tav tm="100000">
                                          <p:val>
                                            <p:strVal val="#ppt_h"/>
                                          </p:val>
                                        </p:tav>
                                      </p:tavLst>
                                    </p:anim>
                                    <p:animEffect transition="in" filter="fade">
                                      <p:cBhvr>
                                        <p:cTn id="33" dur="1000"/>
                                        <p:tgtEl>
                                          <p:spTgt spid="12309"/>
                                        </p:tgtEl>
                                      </p:cBhvr>
                                    </p:animEffect>
                                  </p:childTnLst>
                                </p:cTn>
                              </p:par>
                            </p:childTnLst>
                          </p:cTn>
                        </p:par>
                      </p:childTnLst>
                    </p:cTn>
                  </p:par>
                  <p:par>
                    <p:cTn id="34" fill="hold">
                      <p:stCondLst>
                        <p:cond delay="indefinite"/>
                      </p:stCondLst>
                      <p:childTnLst>
                        <p:par>
                          <p:cTn id="35" fill="hold">
                            <p:stCondLst>
                              <p:cond delay="0"/>
                            </p:stCondLst>
                            <p:childTnLst>
                              <p:par>
                                <p:cTn id="36" presetID="13" presetClass="entr" presetSubtype="16" fill="hold" nodeType="clickEffect">
                                  <p:stCondLst>
                                    <p:cond delay="0"/>
                                  </p:stCondLst>
                                  <p:childTnLst>
                                    <p:set>
                                      <p:cBhvr>
                                        <p:cTn id="37" dur="1" fill="hold">
                                          <p:stCondLst>
                                            <p:cond delay="0"/>
                                          </p:stCondLst>
                                        </p:cTn>
                                        <p:tgtEl>
                                          <p:spTgt spid="12303"/>
                                        </p:tgtEl>
                                        <p:attrNameLst>
                                          <p:attrName>style.visibility</p:attrName>
                                        </p:attrNameLst>
                                      </p:cBhvr>
                                      <p:to>
                                        <p:strVal val="visible"/>
                                      </p:to>
                                    </p:set>
                                    <p:animEffect transition="in" filter="plus(in)">
                                      <p:cBhvr>
                                        <p:cTn id="38" dur="2000"/>
                                        <p:tgtEl>
                                          <p:spTgt spid="12303"/>
                                        </p:tgtEl>
                                      </p:cBhvr>
                                    </p:animEffect>
                                  </p:childTnLst>
                                </p:cTn>
                              </p:par>
                            </p:childTnLst>
                          </p:cTn>
                        </p:par>
                      </p:childTnLst>
                    </p:cTn>
                  </p:par>
                  <p:par>
                    <p:cTn id="39" fill="hold">
                      <p:stCondLst>
                        <p:cond delay="indefinite"/>
                      </p:stCondLst>
                      <p:childTnLst>
                        <p:par>
                          <p:cTn id="40" fill="hold">
                            <p:stCondLst>
                              <p:cond delay="0"/>
                            </p:stCondLst>
                            <p:childTnLst>
                              <p:par>
                                <p:cTn id="41" presetID="13" presetClass="entr" presetSubtype="16" fill="hold" nodeType="clickEffect">
                                  <p:stCondLst>
                                    <p:cond delay="0"/>
                                  </p:stCondLst>
                                  <p:childTnLst>
                                    <p:set>
                                      <p:cBhvr>
                                        <p:cTn id="42" dur="1" fill="hold">
                                          <p:stCondLst>
                                            <p:cond delay="0"/>
                                          </p:stCondLst>
                                        </p:cTn>
                                        <p:tgtEl>
                                          <p:spTgt spid="12312"/>
                                        </p:tgtEl>
                                        <p:attrNameLst>
                                          <p:attrName>style.visibility</p:attrName>
                                        </p:attrNameLst>
                                      </p:cBhvr>
                                      <p:to>
                                        <p:strVal val="visible"/>
                                      </p:to>
                                    </p:set>
                                    <p:animEffect transition="in" filter="plus(in)">
                                      <p:cBhvr>
                                        <p:cTn id="43" dur="2000"/>
                                        <p:tgtEl>
                                          <p:spTgt spid="123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16386" name="矩形 2"/>
          <p:cNvSpPr/>
          <p:nvPr/>
        </p:nvSpPr>
        <p:spPr>
          <a:xfrm>
            <a:off x="576263" y="855663"/>
            <a:ext cx="4321175" cy="944562"/>
          </a:xfrm>
          <a:prstGeom prst="rect">
            <a:avLst/>
          </a:prstGeom>
          <a:noFill/>
          <a:ln w="9525">
            <a:noFill/>
          </a:ln>
        </p:spPr>
        <p:txBody>
          <a:bodyPr wrap="none" anchor="t" anchorCtr="0">
            <a:spAutoFit/>
          </a:bodyPr>
          <a:p>
            <a:r>
              <a:rPr lang="en-US" altLang="zh-CN" sz="2800" dirty="0">
                <a:solidFill>
                  <a:srgbClr val="0033CC"/>
                </a:solidFill>
                <a:latin typeface="黑体" panose="02010609060101010101" pitchFamily="1" charset="-122"/>
                <a:ea typeface="黑体" panose="02010609060101010101" pitchFamily="1" charset="-122"/>
              </a:rPr>
              <a:t>3.</a:t>
            </a:r>
            <a:r>
              <a:rPr lang="zh-CN" altLang="en-US" sz="2800" dirty="0">
                <a:solidFill>
                  <a:srgbClr val="0033CC"/>
                </a:solidFill>
                <a:latin typeface="黑体" panose="02010609060101010101" pitchFamily="1" charset="-122"/>
                <a:ea typeface="黑体" panose="02010609060101010101" pitchFamily="1" charset="-122"/>
              </a:rPr>
              <a:t>定义数据库及日志</a:t>
            </a:r>
            <a:r>
              <a:rPr lang="en-US" altLang="zh-CN" sz="2400" dirty="0">
                <a:solidFill>
                  <a:srgbClr val="FF0000"/>
                </a:solidFill>
                <a:latin typeface="黑体" panose="02010609060101010101" pitchFamily="1" charset="-122"/>
                <a:ea typeface="宋体" panose="02010600030101010101" pitchFamily="2" charset="-122"/>
              </a:rPr>
              <a:t>—</a:t>
            </a:r>
            <a:r>
              <a:rPr lang="zh-CN" altLang="en-US" sz="2400" dirty="0">
                <a:solidFill>
                  <a:srgbClr val="FF0000"/>
                </a:solidFill>
                <a:latin typeface="黑体" panose="02010609060101010101" pitchFamily="1" charset="-122"/>
                <a:ea typeface="宋体" panose="02010600030101010101" pitchFamily="2" charset="-122"/>
              </a:rPr>
              <a:t>创建</a:t>
            </a:r>
            <a:endParaRPr lang="zh-CN" altLang="en-US" sz="2400" dirty="0">
              <a:solidFill>
                <a:srgbClr val="FF0000"/>
              </a:solidFill>
              <a:latin typeface="黑体" panose="02010609060101010101" pitchFamily="1" charset="-122"/>
              <a:ea typeface="宋体" panose="02010600030101010101" pitchFamily="2" charset="-122"/>
            </a:endParaRPr>
          </a:p>
          <a:p>
            <a:endParaRPr lang="zh-CN" altLang="en-US" sz="2800" dirty="0">
              <a:solidFill>
                <a:srgbClr val="0033CC"/>
              </a:solidFill>
              <a:latin typeface="黑体" panose="02010609060101010101" pitchFamily="1" charset="-122"/>
              <a:ea typeface="黑体" panose="02010609060101010101" pitchFamily="1" charset="-122"/>
            </a:endParaRPr>
          </a:p>
        </p:txBody>
      </p:sp>
      <p:pic>
        <p:nvPicPr>
          <p:cNvPr id="16387" name="Picture 3" descr="Ch4-CreateDB"/>
          <p:cNvPicPr>
            <a:picLocks noChangeAspect="1"/>
          </p:cNvPicPr>
          <p:nvPr/>
        </p:nvPicPr>
        <p:blipFill>
          <a:blip r:embed="rId1"/>
          <a:stretch>
            <a:fillRect/>
          </a:stretch>
        </p:blipFill>
        <p:spPr>
          <a:xfrm>
            <a:off x="628650" y="1425575"/>
            <a:ext cx="7807325" cy="4960938"/>
          </a:xfrm>
          <a:prstGeom prst="rect">
            <a:avLst/>
          </a:prstGeom>
          <a:noFill/>
          <a:ln w="9525">
            <a:noFill/>
          </a:ln>
        </p:spPr>
      </p:pic>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9"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17410" name="矩形 2"/>
          <p:cNvSpPr/>
          <p:nvPr/>
        </p:nvSpPr>
        <p:spPr>
          <a:xfrm>
            <a:off x="601663" y="881063"/>
            <a:ext cx="4321175" cy="944562"/>
          </a:xfrm>
          <a:prstGeom prst="rect">
            <a:avLst/>
          </a:prstGeom>
          <a:noFill/>
          <a:ln w="9525">
            <a:noFill/>
          </a:ln>
        </p:spPr>
        <p:txBody>
          <a:bodyPr wrap="none" anchor="t" anchorCtr="0">
            <a:spAutoFit/>
          </a:bodyPr>
          <a:p>
            <a:r>
              <a:rPr lang="en-US" altLang="zh-CN" sz="2800" dirty="0">
                <a:solidFill>
                  <a:srgbClr val="0033CC"/>
                </a:solidFill>
                <a:latin typeface="黑体" panose="02010609060101010101" pitchFamily="1" charset="-122"/>
                <a:ea typeface="黑体" panose="02010609060101010101" pitchFamily="1" charset="-122"/>
              </a:rPr>
              <a:t>3.</a:t>
            </a:r>
            <a:r>
              <a:rPr lang="zh-CN" altLang="en-US" sz="2800" dirty="0">
                <a:solidFill>
                  <a:srgbClr val="0033CC"/>
                </a:solidFill>
                <a:latin typeface="黑体" panose="02010609060101010101" pitchFamily="1" charset="-122"/>
                <a:ea typeface="黑体" panose="02010609060101010101" pitchFamily="1" charset="-122"/>
              </a:rPr>
              <a:t>定义数据库及日志</a:t>
            </a:r>
            <a:r>
              <a:rPr lang="en-US" altLang="zh-CN" sz="2400" dirty="0">
                <a:solidFill>
                  <a:srgbClr val="FF0000"/>
                </a:solidFill>
                <a:latin typeface="黑体" panose="02010609060101010101" pitchFamily="1" charset="-122"/>
                <a:ea typeface="宋体" panose="02010600030101010101" pitchFamily="2" charset="-122"/>
              </a:rPr>
              <a:t>—</a:t>
            </a:r>
            <a:r>
              <a:rPr lang="zh-CN" altLang="en-US" sz="2400" dirty="0">
                <a:solidFill>
                  <a:srgbClr val="FF0000"/>
                </a:solidFill>
                <a:latin typeface="黑体" panose="02010609060101010101" pitchFamily="1" charset="-122"/>
                <a:ea typeface="宋体" panose="02010600030101010101" pitchFamily="2" charset="-122"/>
              </a:rPr>
              <a:t>创建</a:t>
            </a:r>
            <a:endParaRPr lang="zh-CN" altLang="en-US" sz="2400" dirty="0">
              <a:solidFill>
                <a:srgbClr val="FF0000"/>
              </a:solidFill>
              <a:latin typeface="黑体" panose="02010609060101010101" pitchFamily="1" charset="-122"/>
              <a:ea typeface="宋体" panose="02010600030101010101" pitchFamily="2" charset="-122"/>
            </a:endParaRPr>
          </a:p>
          <a:p>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17411" name="矩形 3"/>
          <p:cNvSpPr/>
          <p:nvPr/>
        </p:nvSpPr>
        <p:spPr>
          <a:xfrm>
            <a:off x="693738" y="1497013"/>
            <a:ext cx="3667125" cy="592137"/>
          </a:xfrm>
          <a:prstGeom prst="rect">
            <a:avLst/>
          </a:prstGeom>
          <a:noFill/>
          <a:ln w="9525">
            <a:noFill/>
          </a:ln>
        </p:spPr>
        <p:txBody>
          <a:bodyPr wrap="none" anchor="t" anchorCtr="0">
            <a:spAutoFit/>
          </a:bodyPr>
          <a:p>
            <a:pPr>
              <a:lnSpc>
                <a:spcPct val="135000"/>
              </a:lnSpc>
              <a:buFont typeface="Wingdings" panose="05000000000000000000" pitchFamily="2" charset="2"/>
              <a:buChar char="u"/>
            </a:pPr>
            <a:r>
              <a:rPr lang="zh-CN" altLang="en-US" sz="2400" dirty="0">
                <a:latin typeface="Arial" panose="020B0604020202020204" pitchFamily="34" charset="0"/>
                <a:ea typeface="宋体" panose="02010600030101010101" pitchFamily="2" charset="-122"/>
              </a:rPr>
              <a:t> 创建数据库的几点注释</a:t>
            </a:r>
            <a:endParaRPr lang="zh-CN" altLang="en-US" sz="2400" dirty="0">
              <a:latin typeface="Arial" panose="020B0604020202020204" pitchFamily="34" charset="0"/>
              <a:ea typeface="宋体" panose="02010600030101010101" pitchFamily="2" charset="-122"/>
            </a:endParaRPr>
          </a:p>
        </p:txBody>
      </p:sp>
      <p:sp>
        <p:nvSpPr>
          <p:cNvPr id="17412" name="Rectangle 3"/>
          <p:cNvSpPr txBox="1"/>
          <p:nvPr/>
        </p:nvSpPr>
        <p:spPr>
          <a:xfrm>
            <a:off x="660400" y="2173288"/>
            <a:ext cx="7916863" cy="2935287"/>
          </a:xfrm>
          <a:prstGeom prst="rect">
            <a:avLst/>
          </a:prstGeom>
          <a:noFill/>
          <a:ln w="9525">
            <a:noFill/>
          </a:ln>
        </p:spPr>
        <p:txBody>
          <a:bodyPr anchor="t" anchorCtr="0"/>
          <a:p>
            <a:pPr marL="342900" indent="-342900">
              <a:lnSpc>
                <a:spcPct val="125000"/>
              </a:lnSpc>
              <a:spcBef>
                <a:spcPct val="20000"/>
              </a:spcBef>
              <a:buClr>
                <a:srgbClr val="0033CC"/>
              </a:buClr>
              <a:buSzPct val="80000"/>
            </a:pPr>
            <a:r>
              <a:rPr lang="zh-CN" altLang="en-US" sz="2200" b="0" dirty="0">
                <a:latin typeface="楷体" panose="02010609060101010101" pitchFamily="1" charset="-122"/>
                <a:ea typeface="楷体" panose="02010609060101010101" pitchFamily="1" charset="-122"/>
              </a:rPr>
              <a:t>   </a:t>
            </a:r>
            <a:r>
              <a:rPr lang="en-US" altLang="zh-CN" sz="2200" b="0" dirty="0">
                <a:latin typeface="楷体" panose="02010609060101010101" pitchFamily="1" charset="-122"/>
                <a:ea typeface="楷体" panose="02010609060101010101" pitchFamily="1" charset="-122"/>
              </a:rPr>
              <a:t>--</a:t>
            </a:r>
            <a:r>
              <a:rPr lang="zh-CN" altLang="en-US" sz="2200" b="0" dirty="0">
                <a:latin typeface="楷体" panose="02010609060101010101" pitchFamily="1" charset="-122"/>
                <a:ea typeface="楷体" panose="02010609060101010101" pitchFamily="1" charset="-122"/>
              </a:rPr>
              <a:t>默认情况下，用户创建的表，视图等是放在主文件中的。如果想放在次文件中，在创建这些对象时，要在相应的地方注明次文件的逻辑名。</a:t>
            </a:r>
            <a:endParaRPr lang="zh-CN" altLang="en-US" sz="2200" b="0" dirty="0">
              <a:latin typeface="楷体" panose="02010609060101010101" pitchFamily="1" charset="-122"/>
              <a:ea typeface="楷体" panose="02010609060101010101" pitchFamily="1" charset="-122"/>
            </a:endParaRPr>
          </a:p>
          <a:p>
            <a:pPr marL="342900" indent="-342900">
              <a:lnSpc>
                <a:spcPct val="125000"/>
              </a:lnSpc>
              <a:spcBef>
                <a:spcPct val="20000"/>
              </a:spcBef>
              <a:buClr>
                <a:srgbClr val="0033CC"/>
              </a:buClr>
              <a:buSzPct val="80000"/>
            </a:pPr>
            <a:r>
              <a:rPr lang="zh-CN" altLang="en-US" sz="2200" b="0" dirty="0">
                <a:latin typeface="楷体" panose="02010609060101010101" pitchFamily="1" charset="-122"/>
                <a:ea typeface="楷体" panose="02010609060101010101" pitchFamily="1" charset="-122"/>
              </a:rPr>
              <a:t>   </a:t>
            </a:r>
            <a:r>
              <a:rPr lang="en-US" altLang="zh-CN" sz="2200" b="0" dirty="0">
                <a:latin typeface="楷体" panose="02010609060101010101" pitchFamily="1" charset="-122"/>
                <a:ea typeface="楷体" panose="02010609060101010101" pitchFamily="1" charset="-122"/>
              </a:rPr>
              <a:t>--</a:t>
            </a:r>
            <a:r>
              <a:rPr lang="zh-CN" altLang="en-US" sz="2200" b="0" dirty="0">
                <a:latin typeface="楷体" panose="02010609060101010101" pitchFamily="1" charset="-122"/>
                <a:ea typeface="楷体" panose="02010609060101010101" pitchFamily="1" charset="-122"/>
              </a:rPr>
              <a:t>一个数据库只能有一个主文件。</a:t>
            </a:r>
            <a:endParaRPr lang="zh-CN" altLang="en-US" sz="2200" b="0" dirty="0">
              <a:latin typeface="楷体" panose="02010609060101010101" pitchFamily="1" charset="-122"/>
              <a:ea typeface="楷体" panose="02010609060101010101" pitchFamily="1" charset="-122"/>
            </a:endParaRPr>
          </a:p>
          <a:p>
            <a:pPr marL="342900" indent="-342900">
              <a:lnSpc>
                <a:spcPct val="125000"/>
              </a:lnSpc>
              <a:spcBef>
                <a:spcPct val="20000"/>
              </a:spcBef>
              <a:buClr>
                <a:srgbClr val="0033CC"/>
              </a:buClr>
              <a:buSzPct val="80000"/>
            </a:pPr>
            <a:r>
              <a:rPr lang="zh-CN" altLang="en-US" sz="2200" b="0" dirty="0">
                <a:latin typeface="楷体" panose="02010609060101010101" pitchFamily="1" charset="-122"/>
                <a:ea typeface="楷体" panose="02010609060101010101" pitchFamily="1" charset="-122"/>
              </a:rPr>
              <a:t>   </a:t>
            </a:r>
            <a:r>
              <a:rPr lang="en-US" altLang="zh-CN" sz="2200" b="0" dirty="0">
                <a:latin typeface="楷体" panose="02010609060101010101" pitchFamily="1" charset="-122"/>
                <a:ea typeface="楷体" panose="02010609060101010101" pitchFamily="1" charset="-122"/>
              </a:rPr>
              <a:t>--</a:t>
            </a:r>
            <a:r>
              <a:rPr lang="zh-CN" altLang="en-US" sz="2200" b="0" dirty="0">
                <a:latin typeface="楷体" panose="02010609060101010101" pitchFamily="1" charset="-122"/>
                <a:ea typeface="楷体" panose="02010609060101010101" pitchFamily="1" charset="-122"/>
              </a:rPr>
              <a:t>在有些商用数据库中，创建数据库空间（</a:t>
            </a:r>
            <a:r>
              <a:rPr lang="en-US" altLang="zh-CN" sz="2200" b="0" dirty="0">
                <a:latin typeface="楷体" panose="02010609060101010101" pitchFamily="1" charset="-122"/>
                <a:ea typeface="楷体" panose="02010609060101010101" pitchFamily="1" charset="-122"/>
              </a:rPr>
              <a:t>data space)</a:t>
            </a:r>
            <a:r>
              <a:rPr lang="zh-CN" altLang="en-US" sz="2200" b="0" dirty="0">
                <a:latin typeface="楷体" panose="02010609060101010101" pitchFamily="1" charset="-122"/>
                <a:ea typeface="楷体" panose="02010609060101010101" pitchFamily="1" charset="-122"/>
              </a:rPr>
              <a:t>时，还需设定用户名和密码。</a:t>
            </a:r>
            <a:endParaRPr lang="zh-CN" altLang="en-US" sz="2200" b="0" dirty="0">
              <a:latin typeface="楷体" panose="02010609060101010101" pitchFamily="1" charset="-122"/>
              <a:ea typeface="楷体" panose="02010609060101010101" pitchFamily="1" charset="-122"/>
            </a:endParaRPr>
          </a:p>
        </p:txBody>
      </p:sp>
      <p:sp>
        <p:nvSpPr>
          <p:cNvPr id="14342" name="AutoShape 2"/>
          <p:cNvSpPr/>
          <p:nvPr/>
        </p:nvSpPr>
        <p:spPr>
          <a:xfrm>
            <a:off x="638175" y="2135188"/>
            <a:ext cx="7997825" cy="3438525"/>
          </a:xfrm>
          <a:prstGeom prst="roundRect">
            <a:avLst>
              <a:gd name="adj" fmla="val 10375"/>
            </a:avLst>
          </a:prstGeom>
          <a:noFill/>
          <a:ln w="19050" cap="rnd" cmpd="sng">
            <a:solidFill>
              <a:schemeClr val="accent2"/>
            </a:solidFill>
            <a:prstDash val="sysDot"/>
            <a:headEnd type="none" w="med" len="med"/>
            <a:tailEnd type="none" w="med" len="med"/>
          </a:ln>
        </p:spPr>
        <p:txBody>
          <a:bodyPr wrap="none" anchor="ctr"/>
          <a:p>
            <a:pPr lvl="0" eaLnBrk="1" fontAlgn="base" hangingPunct="1">
              <a:lnSpc>
                <a:spcPct val="135000"/>
              </a:lnSpc>
              <a:buChar char="•"/>
            </a:pPr>
            <a:endParaRPr lang="zh-CN" altLang="en-US" strike="noStrike" noProof="1" dirty="0">
              <a:effectLst>
                <a:outerShdw blurRad="38100" dist="38100" dir="2700000">
                  <a:srgbClr val="C0C0C0"/>
                </a:outerShdw>
              </a:effectLst>
              <a:latin typeface="Arial" panose="020B0604020202020204" pitchFamily="34" charset="0"/>
              <a:ea typeface="宋体" panose="02010600030101010101" pitchFamily="2" charset="-122"/>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18434" name="Rectangle 4"/>
          <p:cNvSpPr txBox="1"/>
          <p:nvPr/>
        </p:nvSpPr>
        <p:spPr>
          <a:xfrm>
            <a:off x="684213" y="2263775"/>
            <a:ext cx="7821612" cy="2062163"/>
          </a:xfrm>
          <a:prstGeom prst="rect">
            <a:avLst/>
          </a:prstGeom>
          <a:noFill/>
          <a:ln w="9525">
            <a:noFill/>
          </a:ln>
        </p:spPr>
        <p:txBody>
          <a:bodyPr anchor="t" anchorCtr="0"/>
          <a:p>
            <a:pPr marL="342900" indent="-342900">
              <a:lnSpc>
                <a:spcPct val="80000"/>
              </a:lnSpc>
              <a:spcBef>
                <a:spcPct val="20000"/>
              </a:spcBef>
              <a:buClr>
                <a:srgbClr val="0033CC"/>
              </a:buClr>
              <a:buSzPct val="80000"/>
            </a:pPr>
            <a:r>
              <a:rPr lang="en-US" altLang="zh-CN" sz="2200" dirty="0">
                <a:solidFill>
                  <a:srgbClr val="0033CC"/>
                </a:solidFill>
                <a:latin typeface="Times New Roman" panose="02020603050405020304" pitchFamily="2" charset="0"/>
                <a:ea typeface="宋体" panose="02010600030101010101" pitchFamily="2" charset="-122"/>
              </a:rPr>
              <a:t>ALTER </a:t>
            </a:r>
            <a:r>
              <a:rPr lang="en-US" altLang="zh-CN" sz="2200" dirty="0">
                <a:solidFill>
                  <a:srgbClr val="336600"/>
                </a:solidFill>
                <a:latin typeface="Times New Roman" panose="02020603050405020304" pitchFamily="2" charset="0"/>
                <a:ea typeface="宋体" panose="02010600030101010101" pitchFamily="2" charset="-122"/>
              </a:rPr>
              <a:t>DATABASE</a:t>
            </a:r>
            <a:r>
              <a:rPr lang="en-US" altLang="zh-CN" sz="2200" dirty="0">
                <a:solidFill>
                  <a:srgbClr val="0033CC"/>
                </a:solidFill>
                <a:latin typeface="Times New Roman" panose="02020603050405020304" pitchFamily="2" charset="0"/>
                <a:ea typeface="宋体" panose="02010600030101010101" pitchFamily="2" charset="-122"/>
              </a:rPr>
              <a:t> </a:t>
            </a:r>
            <a:r>
              <a:rPr lang="zh-CN" altLang="en-US" sz="2200" dirty="0">
                <a:solidFill>
                  <a:srgbClr val="CC0000"/>
                </a:solidFill>
                <a:latin typeface="Times New Roman" panose="02020603050405020304" pitchFamily="2" charset="0"/>
                <a:ea typeface="宋体" panose="02010600030101010101" pitchFamily="2" charset="-122"/>
              </a:rPr>
              <a:t>数据库名</a:t>
            </a:r>
            <a:endParaRPr lang="zh-CN" altLang="en-US" sz="2200" dirty="0">
              <a:solidFill>
                <a:srgbClr val="CC0000"/>
              </a:solidFill>
              <a:latin typeface="Times New Roman" panose="02020603050405020304" pitchFamily="2" charset="0"/>
              <a:ea typeface="宋体" panose="02010600030101010101" pitchFamily="2" charset="-122"/>
            </a:endParaRPr>
          </a:p>
          <a:p>
            <a:pPr marL="342900" indent="-342900">
              <a:lnSpc>
                <a:spcPct val="80000"/>
              </a:lnSpc>
              <a:spcBef>
                <a:spcPct val="20000"/>
              </a:spcBef>
              <a:buClr>
                <a:srgbClr val="0033CC"/>
              </a:buClr>
              <a:buSzPct val="80000"/>
            </a:pPr>
            <a:r>
              <a:rPr lang="zh-CN" altLang="en-US" sz="2200" dirty="0">
                <a:solidFill>
                  <a:srgbClr val="0033CC"/>
                </a:solidFill>
                <a:latin typeface="Times New Roman" panose="02020603050405020304" pitchFamily="2" charset="0"/>
                <a:ea typeface="宋体" panose="02010600030101010101" pitchFamily="2" charset="-122"/>
              </a:rPr>
              <a:t>   </a:t>
            </a:r>
            <a:r>
              <a:rPr lang="en-US" altLang="zh-CN" sz="2200" dirty="0">
                <a:solidFill>
                  <a:srgbClr val="0033CC"/>
                </a:solidFill>
                <a:latin typeface="Times New Roman" panose="02020603050405020304" pitchFamily="2" charset="0"/>
                <a:ea typeface="宋体" panose="02010600030101010101" pitchFamily="2" charset="-122"/>
              </a:rPr>
              <a:t>{    ADD FILE &lt; filespec &gt; [ ,...n ] </a:t>
            </a:r>
            <a:endParaRPr lang="en-US" altLang="zh-CN" sz="2200" dirty="0">
              <a:solidFill>
                <a:srgbClr val="0033CC"/>
              </a:solidFill>
              <a:latin typeface="Times New Roman" panose="02020603050405020304" pitchFamily="2" charset="0"/>
              <a:ea typeface="宋体" panose="02010600030101010101" pitchFamily="2" charset="-122"/>
            </a:endParaRPr>
          </a:p>
          <a:p>
            <a:pPr marL="342900" indent="-342900">
              <a:lnSpc>
                <a:spcPct val="80000"/>
              </a:lnSpc>
              <a:spcBef>
                <a:spcPct val="20000"/>
              </a:spcBef>
              <a:buClr>
                <a:srgbClr val="0033CC"/>
              </a:buClr>
              <a:buSzPct val="80000"/>
            </a:pPr>
            <a:r>
              <a:rPr lang="en-US" altLang="zh-CN" sz="2200" dirty="0">
                <a:solidFill>
                  <a:srgbClr val="0033CC"/>
                </a:solidFill>
                <a:latin typeface="Times New Roman" panose="02020603050405020304" pitchFamily="2" charset="0"/>
                <a:ea typeface="宋体" panose="02010600030101010101" pitchFamily="2" charset="-122"/>
              </a:rPr>
              <a:t>       | MODIFY   FILE  &lt; filespec &gt;     </a:t>
            </a:r>
            <a:r>
              <a:rPr lang="zh-CN" altLang="en-US" sz="2200" dirty="0">
                <a:solidFill>
                  <a:srgbClr val="336600"/>
                </a:solidFill>
                <a:latin typeface="Times New Roman" panose="02020603050405020304" pitchFamily="2" charset="0"/>
                <a:ea typeface="宋体" panose="02010600030101010101" pitchFamily="2" charset="-122"/>
              </a:rPr>
              <a:t>修改数据或日志文件</a:t>
            </a:r>
            <a:br>
              <a:rPr lang="zh-CN" altLang="en-US" sz="2200" dirty="0">
                <a:solidFill>
                  <a:srgbClr val="0033CC"/>
                </a:solidFill>
                <a:latin typeface="Times New Roman" panose="02020603050405020304" pitchFamily="2" charset="0"/>
                <a:ea typeface="宋体" panose="02010600030101010101" pitchFamily="2" charset="-122"/>
              </a:rPr>
            </a:br>
            <a:r>
              <a:rPr lang="zh-CN" altLang="en-US" sz="2200" dirty="0">
                <a:solidFill>
                  <a:srgbClr val="0033CC"/>
                </a:solidFill>
                <a:latin typeface="Times New Roman" panose="02020603050405020304" pitchFamily="2" charset="0"/>
                <a:ea typeface="宋体" panose="02010600030101010101" pitchFamily="2" charset="-122"/>
              </a:rPr>
              <a:t>  </a:t>
            </a:r>
            <a:r>
              <a:rPr lang="en-US" altLang="zh-CN" sz="2200" dirty="0">
                <a:solidFill>
                  <a:srgbClr val="0033CC"/>
                </a:solidFill>
                <a:latin typeface="Times New Roman" panose="02020603050405020304" pitchFamily="2" charset="0"/>
                <a:ea typeface="宋体" panose="02010600030101010101" pitchFamily="2" charset="-122"/>
              </a:rPr>
              <a:t>| REMOVE  FILE  </a:t>
            </a:r>
            <a:r>
              <a:rPr lang="zh-CN" altLang="en-US" sz="2200" dirty="0">
                <a:solidFill>
                  <a:srgbClr val="0033CC"/>
                </a:solidFill>
                <a:latin typeface="Times New Roman" panose="02020603050405020304" pitchFamily="2" charset="0"/>
                <a:ea typeface="宋体" panose="02010600030101010101" pitchFamily="2" charset="-122"/>
              </a:rPr>
              <a:t>逻辑文件名    </a:t>
            </a:r>
            <a:r>
              <a:rPr lang="zh-CN" altLang="en-US" sz="2200" dirty="0">
                <a:solidFill>
                  <a:srgbClr val="336600"/>
                </a:solidFill>
                <a:latin typeface="Times New Roman" panose="02020603050405020304" pitchFamily="2" charset="0"/>
                <a:ea typeface="宋体" panose="02010600030101010101" pitchFamily="2" charset="-122"/>
              </a:rPr>
              <a:t>删除文件</a:t>
            </a:r>
            <a:endParaRPr lang="zh-CN" altLang="en-US" sz="2200" dirty="0">
              <a:solidFill>
                <a:srgbClr val="336600"/>
              </a:solidFill>
              <a:latin typeface="Times New Roman" panose="02020603050405020304" pitchFamily="2" charset="0"/>
              <a:ea typeface="宋体" panose="02010600030101010101" pitchFamily="2" charset="-122"/>
            </a:endParaRPr>
          </a:p>
          <a:p>
            <a:pPr marL="342900" indent="-342900">
              <a:lnSpc>
                <a:spcPct val="80000"/>
              </a:lnSpc>
              <a:spcBef>
                <a:spcPct val="20000"/>
              </a:spcBef>
              <a:buClr>
                <a:srgbClr val="0033CC"/>
              </a:buClr>
              <a:buSzPct val="80000"/>
            </a:pPr>
            <a:r>
              <a:rPr lang="zh-CN" altLang="en-US" sz="2200" dirty="0">
                <a:solidFill>
                  <a:srgbClr val="0033CC"/>
                </a:solidFill>
                <a:latin typeface="Times New Roman" panose="02020603050405020304" pitchFamily="2" charset="0"/>
                <a:ea typeface="宋体" panose="02010600030101010101" pitchFamily="2" charset="-122"/>
              </a:rPr>
              <a:t>       </a:t>
            </a:r>
            <a:r>
              <a:rPr lang="en-US" altLang="zh-CN" sz="2200" dirty="0">
                <a:solidFill>
                  <a:srgbClr val="0033CC"/>
                </a:solidFill>
                <a:latin typeface="Times New Roman" panose="02020603050405020304" pitchFamily="2" charset="0"/>
                <a:ea typeface="宋体" panose="02010600030101010101" pitchFamily="2" charset="-122"/>
              </a:rPr>
              <a:t>| ADD LOG FILE &lt; filespec &gt; [ ,...n ] </a:t>
            </a:r>
            <a:br>
              <a:rPr lang="en-US" altLang="zh-CN" sz="2200" dirty="0">
                <a:solidFill>
                  <a:srgbClr val="0033CC"/>
                </a:solidFill>
                <a:latin typeface="Times New Roman" panose="02020603050405020304" pitchFamily="2" charset="0"/>
                <a:ea typeface="宋体" panose="02010600030101010101" pitchFamily="2" charset="-122"/>
              </a:rPr>
            </a:br>
            <a:r>
              <a:rPr lang="en-US" altLang="zh-CN" sz="2200" dirty="0">
                <a:solidFill>
                  <a:srgbClr val="0033CC"/>
                </a:solidFill>
                <a:latin typeface="Times New Roman" panose="02020603050405020304" pitchFamily="2" charset="0"/>
                <a:ea typeface="宋体" panose="02010600030101010101" pitchFamily="2" charset="-122"/>
              </a:rPr>
              <a:t>  | MODIFY NAME = </a:t>
            </a:r>
            <a:r>
              <a:rPr lang="zh-CN" altLang="en-US" sz="2200" dirty="0">
                <a:solidFill>
                  <a:srgbClr val="0033CC"/>
                </a:solidFill>
                <a:latin typeface="Times New Roman" panose="02020603050405020304" pitchFamily="2" charset="0"/>
                <a:ea typeface="宋体" panose="02010600030101010101" pitchFamily="2" charset="-122"/>
              </a:rPr>
              <a:t>新数据库名       </a:t>
            </a:r>
            <a:r>
              <a:rPr lang="zh-CN" altLang="en-US" sz="2200" dirty="0">
                <a:solidFill>
                  <a:srgbClr val="336600"/>
                </a:solidFill>
                <a:latin typeface="Times New Roman" panose="02020603050405020304" pitchFamily="2" charset="0"/>
                <a:ea typeface="宋体" panose="02010600030101010101" pitchFamily="2" charset="-122"/>
              </a:rPr>
              <a:t>修改数据库名    </a:t>
            </a:r>
            <a:r>
              <a:rPr lang="zh-CN" altLang="en-US" sz="2200" dirty="0">
                <a:solidFill>
                  <a:srgbClr val="0033CC"/>
                </a:solidFill>
                <a:latin typeface="Times New Roman" panose="02020603050405020304" pitchFamily="2" charset="0"/>
                <a:ea typeface="宋体" panose="02010600030101010101" pitchFamily="2" charset="-122"/>
              </a:rPr>
              <a:t> </a:t>
            </a:r>
            <a:r>
              <a:rPr lang="en-US" altLang="zh-CN" sz="2200" dirty="0">
                <a:solidFill>
                  <a:srgbClr val="0033CC"/>
                </a:solidFill>
                <a:latin typeface="Times New Roman" panose="02020603050405020304" pitchFamily="2" charset="0"/>
                <a:ea typeface="宋体" panose="02010600030101010101" pitchFamily="2" charset="-122"/>
              </a:rPr>
              <a:t>}</a:t>
            </a:r>
            <a:endParaRPr lang="en-US" altLang="zh-CN" sz="2200" dirty="0">
              <a:solidFill>
                <a:srgbClr val="0033CC"/>
              </a:solidFill>
              <a:latin typeface="Times New Roman" panose="02020603050405020304" pitchFamily="2" charset="0"/>
              <a:ea typeface="宋体" panose="02010600030101010101" pitchFamily="2" charset="-122"/>
            </a:endParaRPr>
          </a:p>
        </p:txBody>
      </p:sp>
      <p:sp>
        <p:nvSpPr>
          <p:cNvPr id="18435" name="Rectangle 5" descr="Rectangle: Click to edit Master text styles&#10;Second level&#10;Third level&#10;Fourth level&#10;Fifth level"/>
          <p:cNvSpPr/>
          <p:nvPr/>
        </p:nvSpPr>
        <p:spPr>
          <a:xfrm>
            <a:off x="468313" y="4005263"/>
            <a:ext cx="8215312" cy="2447925"/>
          </a:xfrm>
          <a:prstGeom prst="rect">
            <a:avLst/>
          </a:prstGeom>
          <a:noFill/>
          <a:ln w="9525">
            <a:noFill/>
          </a:ln>
        </p:spPr>
        <p:txBody>
          <a:bodyPr anchor="t" anchorCtr="0"/>
          <a:p>
            <a:pPr marL="342900" indent="-342900">
              <a:lnSpc>
                <a:spcPct val="80000"/>
              </a:lnSpc>
              <a:spcBef>
                <a:spcPct val="20000"/>
              </a:spcBef>
            </a:pPr>
            <a:r>
              <a:rPr lang="en-US" altLang="zh-CN" sz="2400" dirty="0">
                <a:solidFill>
                  <a:srgbClr val="339966"/>
                </a:solidFill>
                <a:latin typeface="Arial" panose="020B0604020202020204" pitchFamily="34" charset="0"/>
                <a:ea typeface="宋体" panose="02010600030101010101" pitchFamily="2" charset="-122"/>
              </a:rPr>
              <a:t> </a:t>
            </a:r>
            <a:endParaRPr lang="en-US" altLang="zh-CN" sz="2400" dirty="0">
              <a:solidFill>
                <a:srgbClr val="339966"/>
              </a:solidFill>
              <a:latin typeface="Arial" panose="020B0604020202020204" pitchFamily="34" charset="0"/>
              <a:ea typeface="宋体" panose="02010600030101010101" pitchFamily="2" charset="-122"/>
            </a:endParaRPr>
          </a:p>
        </p:txBody>
      </p:sp>
      <p:sp>
        <p:nvSpPr>
          <p:cNvPr id="18436" name="Rectangle 6"/>
          <p:cNvSpPr/>
          <p:nvPr/>
        </p:nvSpPr>
        <p:spPr>
          <a:xfrm>
            <a:off x="798513" y="4179888"/>
            <a:ext cx="8007350" cy="2124075"/>
          </a:xfrm>
          <a:prstGeom prst="rect">
            <a:avLst/>
          </a:prstGeom>
          <a:noFill/>
          <a:ln w="9525">
            <a:noFill/>
          </a:ln>
        </p:spPr>
        <p:txBody>
          <a:bodyPr anchor="t" anchorCtr="0">
            <a:spAutoFit/>
          </a:bodyPr>
          <a:p>
            <a:pPr>
              <a:lnSpc>
                <a:spcPct val="110000"/>
              </a:lnSpc>
            </a:pPr>
            <a:r>
              <a:rPr lang="en-US" altLang="zh-CN" sz="2000" dirty="0">
                <a:latin typeface="Times New Roman" panose="02020603050405020304" pitchFamily="2" charset="0"/>
                <a:ea typeface="宋体" panose="02010600030101010101" pitchFamily="2" charset="-122"/>
              </a:rPr>
              <a:t>&lt;filespec&gt;::=    ( NAME = </a:t>
            </a:r>
            <a:r>
              <a:rPr lang="zh-CN" altLang="en-US" sz="2000" dirty="0">
                <a:latin typeface="Times New Roman" panose="02020603050405020304" pitchFamily="2" charset="0"/>
                <a:ea typeface="宋体" panose="02010600030101010101" pitchFamily="2" charset="-122"/>
              </a:rPr>
              <a:t>逻辑文件名 </a:t>
            </a:r>
            <a:br>
              <a:rPr lang="zh-CN" altLang="en-US" sz="2000" dirty="0">
                <a:latin typeface="Times New Roman" panose="02020603050405020304" pitchFamily="2" charset="0"/>
                <a:ea typeface="宋体" panose="02010600030101010101" pitchFamily="2" charset="-122"/>
              </a:rPr>
            </a:br>
            <a:r>
              <a:rPr lang="zh-CN" altLang="en-US" sz="2000" dirty="0">
                <a:latin typeface="Times New Roman" panose="02020603050405020304" pitchFamily="2" charset="0"/>
                <a:ea typeface="宋体" panose="02010600030101010101" pitchFamily="2" charset="-122"/>
              </a:rPr>
              <a:t>                         </a:t>
            </a:r>
            <a:r>
              <a:rPr lang="en-US" altLang="zh-CN" sz="2000" dirty="0">
                <a:latin typeface="Times New Roman" panose="02020603050405020304" pitchFamily="2" charset="0"/>
                <a:ea typeface="宋体" panose="02010600030101010101" pitchFamily="2" charset="-122"/>
              </a:rPr>
              <a:t>[ , NEWNAME = </a:t>
            </a:r>
            <a:r>
              <a:rPr lang="zh-CN" altLang="en-US" sz="2000" dirty="0">
                <a:latin typeface="Times New Roman" panose="02020603050405020304" pitchFamily="2" charset="0"/>
                <a:ea typeface="宋体" panose="02010600030101010101" pitchFamily="2" charset="-122"/>
              </a:rPr>
              <a:t>新逻辑文件名 </a:t>
            </a:r>
            <a:r>
              <a:rPr lang="en-US" altLang="zh-CN" sz="2000" dirty="0">
                <a:latin typeface="Times New Roman" panose="02020603050405020304" pitchFamily="2" charset="0"/>
                <a:ea typeface="宋体" panose="02010600030101010101" pitchFamily="2" charset="-122"/>
              </a:rPr>
              <a:t>] </a:t>
            </a:r>
            <a:br>
              <a:rPr lang="en-US" altLang="zh-CN" sz="2000" dirty="0">
                <a:latin typeface="Times New Roman" panose="02020603050405020304" pitchFamily="2" charset="0"/>
                <a:ea typeface="宋体" panose="02010600030101010101" pitchFamily="2" charset="-122"/>
              </a:rPr>
            </a:br>
            <a:r>
              <a:rPr lang="en-US" altLang="zh-CN" sz="2000" dirty="0">
                <a:latin typeface="Times New Roman" panose="02020603050405020304" pitchFamily="2" charset="0"/>
                <a:ea typeface="宋体" panose="02010600030101010101" pitchFamily="2" charset="-122"/>
              </a:rPr>
              <a:t>                         [ , FILENAME = ‘OS</a:t>
            </a:r>
            <a:r>
              <a:rPr lang="zh-CN" altLang="en-US" sz="2000" dirty="0">
                <a:latin typeface="Times New Roman" panose="02020603050405020304" pitchFamily="2" charset="0"/>
                <a:ea typeface="宋体" panose="02010600030101010101" pitchFamily="2" charset="-122"/>
              </a:rPr>
              <a:t>文件的路径及名字’ </a:t>
            </a:r>
            <a:r>
              <a:rPr lang="en-US" altLang="zh-CN" sz="2000" dirty="0">
                <a:latin typeface="Times New Roman" panose="02020603050405020304" pitchFamily="2" charset="0"/>
                <a:ea typeface="宋体" panose="02010600030101010101" pitchFamily="2" charset="-122"/>
              </a:rPr>
              <a:t>] </a:t>
            </a:r>
            <a:br>
              <a:rPr lang="en-US" altLang="zh-CN" sz="2000" dirty="0">
                <a:latin typeface="Times New Roman" panose="02020603050405020304" pitchFamily="2" charset="0"/>
                <a:ea typeface="宋体" panose="02010600030101010101" pitchFamily="2" charset="-122"/>
              </a:rPr>
            </a:br>
            <a:r>
              <a:rPr lang="en-US" altLang="zh-CN" sz="2000" dirty="0">
                <a:latin typeface="Times New Roman" panose="02020603050405020304" pitchFamily="2" charset="0"/>
                <a:ea typeface="宋体" panose="02010600030101010101" pitchFamily="2" charset="-122"/>
              </a:rPr>
              <a:t>                         [ , SIZE =</a:t>
            </a:r>
            <a:r>
              <a:rPr lang="zh-CN" altLang="en-US" sz="2000" dirty="0">
                <a:latin typeface="Times New Roman" panose="02020603050405020304" pitchFamily="2" charset="0"/>
                <a:ea typeface="宋体" panose="02010600030101010101" pitchFamily="2" charset="-122"/>
              </a:rPr>
              <a:t>文件的初始大小 </a:t>
            </a:r>
            <a:r>
              <a:rPr lang="en-US" altLang="zh-CN" sz="2000" dirty="0">
                <a:latin typeface="Times New Roman" panose="02020603050405020304" pitchFamily="2" charset="0"/>
                <a:ea typeface="宋体" panose="02010600030101010101" pitchFamily="2" charset="-122"/>
              </a:rPr>
              <a:t>] </a:t>
            </a:r>
            <a:br>
              <a:rPr lang="en-US" altLang="zh-CN" sz="2000" dirty="0">
                <a:latin typeface="Times New Roman" panose="02020603050405020304" pitchFamily="2" charset="0"/>
                <a:ea typeface="宋体" panose="02010600030101010101" pitchFamily="2" charset="-122"/>
              </a:rPr>
            </a:br>
            <a:r>
              <a:rPr lang="en-US" altLang="zh-CN" sz="2000" dirty="0">
                <a:latin typeface="Times New Roman" panose="02020603050405020304" pitchFamily="2" charset="0"/>
                <a:ea typeface="宋体" panose="02010600030101010101" pitchFamily="2" charset="-122"/>
              </a:rPr>
              <a:t>                         [ , MAXSIZE =</a:t>
            </a:r>
            <a:r>
              <a:rPr lang="zh-CN" altLang="en-US" sz="2000" dirty="0">
                <a:latin typeface="Times New Roman" panose="02020603050405020304" pitchFamily="2" charset="0"/>
                <a:ea typeface="宋体" panose="02010600030101010101" pitchFamily="2" charset="-122"/>
              </a:rPr>
              <a:t>最大的文件尺寸</a:t>
            </a:r>
            <a:endParaRPr lang="zh-CN" altLang="en-US" sz="2000" dirty="0">
              <a:latin typeface="Times New Roman" panose="02020603050405020304" pitchFamily="2" charset="0"/>
              <a:ea typeface="宋体" panose="02010600030101010101" pitchFamily="2" charset="-122"/>
            </a:endParaRPr>
          </a:p>
          <a:p>
            <a:pPr>
              <a:lnSpc>
                <a:spcPct val="110000"/>
              </a:lnSpc>
            </a:pPr>
            <a:r>
              <a:rPr lang="zh-CN" altLang="en-US" sz="2000" dirty="0">
                <a:latin typeface="Times New Roman" panose="02020603050405020304" pitchFamily="2" charset="0"/>
                <a:ea typeface="宋体" panose="02010600030101010101" pitchFamily="2" charset="-122"/>
              </a:rPr>
              <a:t>                        </a:t>
            </a:r>
            <a:r>
              <a:rPr lang="en-US" altLang="zh-CN" sz="2000" dirty="0">
                <a:latin typeface="Times New Roman" panose="02020603050405020304" pitchFamily="2" charset="0"/>
                <a:ea typeface="宋体" panose="02010600030101010101" pitchFamily="2" charset="-122"/>
              </a:rPr>
              <a:t>[ , FILEGROWTH = </a:t>
            </a:r>
            <a:r>
              <a:rPr lang="zh-CN" altLang="en-US" sz="2000" dirty="0">
                <a:latin typeface="Times New Roman" panose="02020603050405020304" pitchFamily="2" charset="0"/>
                <a:ea typeface="宋体" panose="02010600030101010101" pitchFamily="2" charset="-122"/>
              </a:rPr>
              <a:t>文件大小增量 </a:t>
            </a:r>
            <a:r>
              <a:rPr lang="en-US" altLang="zh-CN" sz="2000" dirty="0">
                <a:latin typeface="Times New Roman" panose="02020603050405020304" pitchFamily="2" charset="0"/>
                <a:ea typeface="宋体" panose="02010600030101010101" pitchFamily="2" charset="-122"/>
              </a:rPr>
              <a:t>] )  </a:t>
            </a:r>
            <a:endParaRPr lang="en-US" altLang="zh-CN" sz="2000" dirty="0">
              <a:latin typeface="Times New Roman" panose="02020603050405020304" pitchFamily="2" charset="0"/>
              <a:ea typeface="宋体" panose="02010600030101010101" pitchFamily="2" charset="-122"/>
            </a:endParaRPr>
          </a:p>
        </p:txBody>
      </p:sp>
      <p:sp>
        <p:nvSpPr>
          <p:cNvPr id="18437" name="Text Box 7"/>
          <p:cNvSpPr txBox="1"/>
          <p:nvPr/>
        </p:nvSpPr>
        <p:spPr>
          <a:xfrm>
            <a:off x="655638" y="1387475"/>
            <a:ext cx="8064500" cy="825500"/>
          </a:xfrm>
          <a:prstGeom prst="rect">
            <a:avLst/>
          </a:prstGeom>
          <a:noFill/>
          <a:ln w="9525">
            <a:noFill/>
          </a:ln>
        </p:spPr>
        <p:txBody>
          <a:bodyPr anchor="t" anchorCtr="0">
            <a:spAutoFit/>
          </a:bodyPr>
          <a:p>
            <a:pPr>
              <a:lnSpc>
                <a:spcPct val="105000"/>
              </a:lnSpc>
              <a:spcBef>
                <a:spcPts val="600"/>
              </a:spcBef>
            </a:pPr>
            <a:r>
              <a:rPr lang="zh-CN" altLang="en-US" sz="2400" dirty="0">
                <a:latin typeface="宋体" panose="02010600030101010101" pitchFamily="2" charset="-122"/>
                <a:ea typeface="宋体" panose="02010600030101010101" pitchFamily="2" charset="-122"/>
              </a:rPr>
              <a:t>    </a:t>
            </a:r>
            <a:r>
              <a:rPr lang="zh-CN" altLang="en-US" sz="2200" dirty="0">
                <a:latin typeface="宋体" panose="02010600030101010101" pitchFamily="2" charset="-122"/>
                <a:ea typeface="宋体" panose="02010600030101010101" pitchFamily="2" charset="-122"/>
              </a:rPr>
              <a:t>数据库创建之后，可使用</a:t>
            </a:r>
            <a:r>
              <a:rPr lang="en-US" altLang="zh-CN" sz="2200" dirty="0">
                <a:latin typeface="宋体" panose="02010600030101010101" pitchFamily="2" charset="-122"/>
                <a:ea typeface="宋体" panose="02010600030101010101" pitchFamily="2" charset="-122"/>
              </a:rPr>
              <a:t>Alter</a:t>
            </a:r>
            <a:r>
              <a:rPr lang="zh-CN" altLang="en-US" sz="2200" dirty="0">
                <a:latin typeface="宋体" panose="02010600030101010101" pitchFamily="2" charset="-122"/>
                <a:ea typeface="宋体" panose="02010600030101010101" pitchFamily="2" charset="-122"/>
              </a:rPr>
              <a:t>修改数据库。增加新的数据或日志文件，删除已有文件，修改文件的设置。</a:t>
            </a:r>
            <a:endParaRPr lang="zh-CN" altLang="en-US" sz="2200" dirty="0">
              <a:latin typeface="宋体" panose="02010600030101010101" pitchFamily="2" charset="-122"/>
              <a:ea typeface="宋体" panose="02010600030101010101" pitchFamily="2" charset="-122"/>
            </a:endParaRPr>
          </a:p>
        </p:txBody>
      </p:sp>
      <p:sp>
        <p:nvSpPr>
          <p:cNvPr id="18438" name="矩形 7"/>
          <p:cNvSpPr/>
          <p:nvPr/>
        </p:nvSpPr>
        <p:spPr>
          <a:xfrm>
            <a:off x="601663" y="881063"/>
            <a:ext cx="4321175" cy="944562"/>
          </a:xfrm>
          <a:prstGeom prst="rect">
            <a:avLst/>
          </a:prstGeom>
          <a:noFill/>
          <a:ln w="9525">
            <a:noFill/>
          </a:ln>
        </p:spPr>
        <p:txBody>
          <a:bodyPr wrap="none" anchor="t" anchorCtr="0">
            <a:spAutoFit/>
          </a:bodyPr>
          <a:p>
            <a:r>
              <a:rPr lang="en-US" altLang="zh-CN" sz="2800" dirty="0">
                <a:solidFill>
                  <a:srgbClr val="0033CC"/>
                </a:solidFill>
                <a:latin typeface="黑体" panose="02010609060101010101" pitchFamily="1" charset="-122"/>
                <a:ea typeface="黑体" panose="02010609060101010101" pitchFamily="1" charset="-122"/>
              </a:rPr>
              <a:t>3.</a:t>
            </a:r>
            <a:r>
              <a:rPr lang="zh-CN" altLang="en-US" sz="2800" dirty="0">
                <a:solidFill>
                  <a:srgbClr val="0033CC"/>
                </a:solidFill>
                <a:latin typeface="黑体" panose="02010609060101010101" pitchFamily="1" charset="-122"/>
                <a:ea typeface="黑体" panose="02010609060101010101" pitchFamily="1" charset="-122"/>
              </a:rPr>
              <a:t>定义数据库及日志</a:t>
            </a:r>
            <a:r>
              <a:rPr lang="en-US" altLang="zh-CN" sz="2400" dirty="0">
                <a:solidFill>
                  <a:srgbClr val="FF0000"/>
                </a:solidFill>
                <a:latin typeface="黑体" panose="02010609060101010101" pitchFamily="1" charset="-122"/>
                <a:ea typeface="宋体" panose="02010600030101010101" pitchFamily="2" charset="-122"/>
              </a:rPr>
              <a:t>—</a:t>
            </a:r>
            <a:r>
              <a:rPr lang="zh-CN" altLang="en-US" sz="2400" dirty="0">
                <a:solidFill>
                  <a:srgbClr val="FF0000"/>
                </a:solidFill>
                <a:latin typeface="黑体" panose="02010609060101010101" pitchFamily="1" charset="-122"/>
                <a:ea typeface="宋体" panose="02010600030101010101" pitchFamily="2" charset="-122"/>
              </a:rPr>
              <a:t>修改</a:t>
            </a:r>
            <a:endParaRPr lang="zh-CN" altLang="en-US" sz="2400" dirty="0">
              <a:solidFill>
                <a:srgbClr val="FF0000"/>
              </a:solidFill>
              <a:latin typeface="黑体" panose="02010609060101010101" pitchFamily="1" charset="-122"/>
              <a:ea typeface="宋体" panose="02010600030101010101" pitchFamily="2" charset="-122"/>
            </a:endParaRPr>
          </a:p>
          <a:p>
            <a:endParaRPr lang="zh-CN" altLang="en-US" sz="2800" dirty="0">
              <a:solidFill>
                <a:srgbClr val="0033CC"/>
              </a:solidFill>
              <a:latin typeface="黑体" panose="02010609060101010101" pitchFamily="1" charset="-122"/>
              <a:ea typeface="黑体" panose="02010609060101010101" pitchFamily="1" charset="-122"/>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7"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19458" name="Rectangle 3"/>
          <p:cNvSpPr txBox="1"/>
          <p:nvPr/>
        </p:nvSpPr>
        <p:spPr>
          <a:xfrm>
            <a:off x="812800" y="2003425"/>
            <a:ext cx="7577138" cy="4121150"/>
          </a:xfrm>
          <a:prstGeom prst="rect">
            <a:avLst/>
          </a:prstGeom>
          <a:noFill/>
          <a:ln w="9525">
            <a:noFill/>
          </a:ln>
        </p:spPr>
        <p:txBody>
          <a:bodyPr anchor="t" anchorCtr="0"/>
          <a:p>
            <a:pPr marL="342900" indent="-342900">
              <a:spcBef>
                <a:spcPct val="20000"/>
              </a:spcBef>
              <a:buClr>
                <a:srgbClr val="0033CC"/>
              </a:buClr>
              <a:buSzPct val="80000"/>
            </a:pPr>
            <a:r>
              <a:rPr lang="zh-CN" altLang="en-US" sz="2000" dirty="0">
                <a:latin typeface="Arial" panose="020B0604020202020204" pitchFamily="34" charset="0"/>
                <a:ea typeface="宋体" panose="02010600030101010101" pitchFamily="2" charset="-122"/>
              </a:rPr>
              <a:t>修改</a:t>
            </a:r>
            <a:r>
              <a:rPr lang="en-US" altLang="zh-CN" sz="2000" dirty="0">
                <a:latin typeface="Arial" panose="020B0604020202020204" pitchFamily="34" charset="0"/>
                <a:ea typeface="宋体" panose="02010600030101010101" pitchFamily="2" charset="-122"/>
              </a:rPr>
              <a:t>1</a:t>
            </a:r>
            <a:r>
              <a:rPr lang="zh-CN" altLang="en-US" sz="2000" dirty="0">
                <a:latin typeface="Arial" panose="020B0604020202020204" pitchFamily="34" charset="0"/>
                <a:ea typeface="宋体" panose="02010600030101010101" pitchFamily="2" charset="-122"/>
              </a:rPr>
              <a:t>：</a:t>
            </a:r>
            <a:r>
              <a:rPr lang="en-US" altLang="zh-CN" sz="2000" dirty="0">
                <a:latin typeface="Arial" panose="020B0604020202020204" pitchFamily="34" charset="0"/>
                <a:ea typeface="宋体" panose="02010600030101010101" pitchFamily="2" charset="-122"/>
              </a:rPr>
              <a:t> ALTER Database StudentData </a:t>
            </a:r>
            <a:endParaRPr lang="en-US" altLang="zh-CN" sz="2000" dirty="0">
              <a:latin typeface="Arial" panose="020B0604020202020204" pitchFamily="34" charset="0"/>
              <a:ea typeface="宋体" panose="02010600030101010101" pitchFamily="2" charset="-122"/>
            </a:endParaRPr>
          </a:p>
          <a:p>
            <a:pPr marL="342900" indent="-342900">
              <a:spcBef>
                <a:spcPct val="20000"/>
              </a:spcBef>
              <a:buClr>
                <a:srgbClr val="0033CC"/>
              </a:buClr>
              <a:buSzPct val="80000"/>
            </a:pPr>
            <a:r>
              <a:rPr lang="en-US" altLang="zh-CN" sz="2000" dirty="0">
                <a:latin typeface="Arial" panose="020B0604020202020204" pitchFamily="34" charset="0"/>
                <a:ea typeface="宋体" panose="02010600030101010101" pitchFamily="2" charset="-122"/>
              </a:rPr>
              <a:t>ADD File </a:t>
            </a:r>
            <a:endParaRPr lang="en-US" altLang="zh-CN" sz="2000" dirty="0">
              <a:latin typeface="Arial" panose="020B0604020202020204" pitchFamily="34" charset="0"/>
              <a:ea typeface="宋体" panose="02010600030101010101" pitchFamily="2" charset="-122"/>
            </a:endParaRPr>
          </a:p>
          <a:p>
            <a:pPr marL="342900" indent="-342900">
              <a:spcBef>
                <a:spcPct val="20000"/>
              </a:spcBef>
              <a:buClr>
                <a:srgbClr val="0033CC"/>
              </a:buClr>
              <a:buSzPct val="80000"/>
            </a:pPr>
            <a:r>
              <a:rPr lang="en-US" altLang="zh-CN" sz="2000" dirty="0">
                <a:latin typeface="Arial" panose="020B0604020202020204" pitchFamily="34" charset="0"/>
                <a:ea typeface="宋体" panose="02010600030101010101" pitchFamily="2" charset="-122"/>
              </a:rPr>
              <a:t> (Name       = StudentFile3,</a:t>
            </a:r>
            <a:endParaRPr lang="en-US" altLang="zh-CN" sz="2000" dirty="0">
              <a:latin typeface="Arial" panose="020B0604020202020204" pitchFamily="34" charset="0"/>
              <a:ea typeface="宋体" panose="02010600030101010101" pitchFamily="2" charset="-122"/>
            </a:endParaRPr>
          </a:p>
          <a:p>
            <a:pPr marL="342900" indent="-342900">
              <a:spcBef>
                <a:spcPct val="20000"/>
              </a:spcBef>
              <a:buClr>
                <a:srgbClr val="0033CC"/>
              </a:buClr>
              <a:buSzPct val="80000"/>
            </a:pPr>
            <a:r>
              <a:rPr lang="en-US" altLang="zh-CN" sz="2000" dirty="0">
                <a:latin typeface="Arial" panose="020B0604020202020204" pitchFamily="34" charset="0"/>
                <a:ea typeface="宋体" panose="02010600030101010101" pitchFamily="2" charset="-122"/>
              </a:rPr>
              <a:t>  Filename   ='c:\data\StuFile3.ndf',</a:t>
            </a:r>
            <a:endParaRPr lang="en-US" altLang="zh-CN" sz="2000" dirty="0">
              <a:latin typeface="Arial" panose="020B0604020202020204" pitchFamily="34" charset="0"/>
              <a:ea typeface="宋体" panose="02010600030101010101" pitchFamily="2" charset="-122"/>
            </a:endParaRPr>
          </a:p>
          <a:p>
            <a:pPr marL="342900" indent="-342900">
              <a:spcBef>
                <a:spcPct val="20000"/>
              </a:spcBef>
              <a:buClr>
                <a:srgbClr val="0033CC"/>
              </a:buClr>
              <a:buSzPct val="80000"/>
            </a:pPr>
            <a:r>
              <a:rPr lang="en-US" altLang="zh-CN" sz="2000" dirty="0">
                <a:latin typeface="Arial" panose="020B0604020202020204" pitchFamily="34" charset="0"/>
                <a:ea typeface="宋体" panose="02010600030101010101" pitchFamily="2" charset="-122"/>
              </a:rPr>
              <a:t>  Size       = 10MB,</a:t>
            </a:r>
            <a:endParaRPr lang="en-US" altLang="zh-CN" sz="2000" dirty="0">
              <a:latin typeface="Arial" panose="020B0604020202020204" pitchFamily="34" charset="0"/>
              <a:ea typeface="宋体" panose="02010600030101010101" pitchFamily="2" charset="-122"/>
            </a:endParaRPr>
          </a:p>
          <a:p>
            <a:pPr marL="342900" indent="-342900">
              <a:spcBef>
                <a:spcPct val="20000"/>
              </a:spcBef>
              <a:buClr>
                <a:srgbClr val="0033CC"/>
              </a:buClr>
              <a:buSzPct val="80000"/>
            </a:pPr>
            <a:r>
              <a:rPr lang="en-US" altLang="zh-CN" sz="2000" dirty="0">
                <a:latin typeface="Arial" panose="020B0604020202020204" pitchFamily="34" charset="0"/>
                <a:ea typeface="宋体" panose="02010600030101010101" pitchFamily="2" charset="-122"/>
              </a:rPr>
              <a:t>  MaxSize    = 1000MB,</a:t>
            </a:r>
            <a:endParaRPr lang="en-US" altLang="zh-CN" sz="2000" dirty="0">
              <a:latin typeface="Arial" panose="020B0604020202020204" pitchFamily="34" charset="0"/>
              <a:ea typeface="宋体" panose="02010600030101010101" pitchFamily="2" charset="-122"/>
            </a:endParaRPr>
          </a:p>
          <a:p>
            <a:pPr marL="342900" indent="-342900">
              <a:spcBef>
                <a:spcPct val="20000"/>
              </a:spcBef>
              <a:buClr>
                <a:srgbClr val="0033CC"/>
              </a:buClr>
              <a:buSzPct val="80000"/>
            </a:pPr>
            <a:r>
              <a:rPr lang="en-US" altLang="zh-CN" sz="2000" dirty="0">
                <a:latin typeface="Arial" panose="020B0604020202020204" pitchFamily="34" charset="0"/>
                <a:ea typeface="宋体" panose="02010600030101010101" pitchFamily="2" charset="-122"/>
              </a:rPr>
              <a:t>  FileGrowth = 5MB)</a:t>
            </a:r>
            <a:endParaRPr lang="en-US" altLang="zh-CN" sz="2400" dirty="0">
              <a:latin typeface="Arial" panose="020B0604020202020204" pitchFamily="34" charset="0"/>
              <a:ea typeface="宋体" panose="02010600030101010101" pitchFamily="2" charset="-122"/>
            </a:endParaRPr>
          </a:p>
          <a:p>
            <a:pPr marL="342900" indent="-342900">
              <a:spcBef>
                <a:spcPct val="20000"/>
              </a:spcBef>
              <a:buClr>
                <a:srgbClr val="0033CC"/>
              </a:buClr>
              <a:buSzPct val="80000"/>
            </a:pPr>
            <a:r>
              <a:rPr lang="zh-CN" altLang="en-US" sz="2000" dirty="0">
                <a:latin typeface="Arial" panose="020B0604020202020204" pitchFamily="34" charset="0"/>
                <a:ea typeface="宋体" panose="02010600030101010101" pitchFamily="2" charset="-122"/>
              </a:rPr>
              <a:t>修改</a:t>
            </a:r>
            <a:r>
              <a:rPr lang="en-US" altLang="zh-CN" sz="2000" dirty="0">
                <a:latin typeface="Arial" panose="020B0604020202020204" pitchFamily="34" charset="0"/>
                <a:ea typeface="宋体" panose="02010600030101010101" pitchFamily="2" charset="-122"/>
              </a:rPr>
              <a:t>2</a:t>
            </a:r>
            <a:r>
              <a:rPr lang="zh-CN" altLang="en-US" sz="2000" dirty="0">
                <a:latin typeface="Arial" panose="020B0604020202020204" pitchFamily="34" charset="0"/>
                <a:ea typeface="宋体" panose="02010600030101010101" pitchFamily="2" charset="-122"/>
              </a:rPr>
              <a:t>：</a:t>
            </a:r>
            <a:r>
              <a:rPr lang="en-US" altLang="zh-CN" sz="2000" dirty="0">
                <a:latin typeface="Arial" panose="020B0604020202020204" pitchFamily="34" charset="0"/>
                <a:ea typeface="宋体" panose="02010600030101010101" pitchFamily="2" charset="-122"/>
              </a:rPr>
              <a:t>ALTER Database </a:t>
            </a:r>
            <a:r>
              <a:rPr lang="en-US" altLang="zh-CN" sz="2000" dirty="0">
                <a:sym typeface="+mn-ea"/>
              </a:rPr>
              <a:t>StudentData</a:t>
            </a:r>
            <a:r>
              <a:rPr lang="en-US" altLang="zh-CN" sz="2000" dirty="0">
                <a:latin typeface="Arial" panose="020B0604020202020204" pitchFamily="34" charset="0"/>
                <a:ea typeface="宋体" panose="02010600030101010101" pitchFamily="2" charset="-122"/>
              </a:rPr>
              <a:t> </a:t>
            </a:r>
            <a:endParaRPr lang="en-US" altLang="zh-CN" sz="2000" dirty="0">
              <a:latin typeface="Arial" panose="020B0604020202020204" pitchFamily="34" charset="0"/>
              <a:ea typeface="宋体" panose="02010600030101010101" pitchFamily="2" charset="-122"/>
            </a:endParaRPr>
          </a:p>
          <a:p>
            <a:pPr marL="342900" indent="-342900">
              <a:spcBef>
                <a:spcPct val="20000"/>
              </a:spcBef>
              <a:buClr>
                <a:srgbClr val="0033CC"/>
              </a:buClr>
              <a:buSzPct val="80000"/>
            </a:pPr>
            <a:r>
              <a:rPr lang="en-US" altLang="zh-CN" sz="2000" dirty="0">
                <a:latin typeface="Arial" panose="020B0604020202020204" pitchFamily="34" charset="0"/>
                <a:ea typeface="宋体" panose="02010600030101010101" pitchFamily="2" charset="-122"/>
              </a:rPr>
              <a:t>MODIFY FILE</a:t>
            </a:r>
            <a:endParaRPr lang="en-US" altLang="zh-CN" sz="2000" dirty="0">
              <a:latin typeface="Arial" panose="020B0604020202020204" pitchFamily="34" charset="0"/>
              <a:ea typeface="宋体" panose="02010600030101010101" pitchFamily="2" charset="-122"/>
            </a:endParaRPr>
          </a:p>
          <a:p>
            <a:pPr marL="342900" indent="-342900">
              <a:spcBef>
                <a:spcPct val="20000"/>
              </a:spcBef>
              <a:buClr>
                <a:srgbClr val="0033CC"/>
              </a:buClr>
              <a:buSzPct val="80000"/>
            </a:pPr>
            <a:r>
              <a:rPr lang="en-US" altLang="zh-CN" sz="2000" dirty="0">
                <a:latin typeface="Arial" panose="020B0604020202020204" pitchFamily="34" charset="0"/>
                <a:ea typeface="宋体" panose="02010600030101010101" pitchFamily="2" charset="-122"/>
              </a:rPr>
              <a:t> (Name     = StudentFile1,</a:t>
            </a:r>
            <a:endParaRPr lang="en-US" altLang="zh-CN" sz="2000" dirty="0">
              <a:latin typeface="Arial" panose="020B0604020202020204" pitchFamily="34" charset="0"/>
              <a:ea typeface="宋体" panose="02010600030101010101" pitchFamily="2" charset="-122"/>
            </a:endParaRPr>
          </a:p>
          <a:p>
            <a:pPr marL="342900" indent="-342900">
              <a:spcBef>
                <a:spcPct val="20000"/>
              </a:spcBef>
              <a:buClr>
                <a:srgbClr val="0033CC"/>
              </a:buClr>
              <a:buSzPct val="80000"/>
            </a:pPr>
            <a:r>
              <a:rPr lang="en-US" altLang="zh-CN" sz="2000" dirty="0">
                <a:latin typeface="Arial" panose="020B0604020202020204" pitchFamily="34" charset="0"/>
                <a:ea typeface="宋体" panose="02010600030101010101" pitchFamily="2" charset="-122"/>
              </a:rPr>
              <a:t>  MaxSize  = </a:t>
            </a:r>
            <a:r>
              <a:rPr lang="en-US" altLang="zh-CN" sz="2000" dirty="0">
                <a:solidFill>
                  <a:srgbClr val="CC0000"/>
                </a:solidFill>
                <a:latin typeface="Arial" panose="020B0604020202020204" pitchFamily="34" charset="0"/>
                <a:ea typeface="宋体" panose="02010600030101010101" pitchFamily="2" charset="-122"/>
              </a:rPr>
              <a:t>3000MB</a:t>
            </a:r>
            <a:r>
              <a:rPr lang="en-US" altLang="zh-CN" sz="2000" dirty="0">
                <a:latin typeface="Arial" panose="020B0604020202020204" pitchFamily="34" charset="0"/>
                <a:ea typeface="宋体" panose="02010600030101010101" pitchFamily="2" charset="-122"/>
              </a:rPr>
              <a:t>)</a:t>
            </a:r>
            <a:endParaRPr lang="en-US" altLang="zh-CN" sz="2000" dirty="0">
              <a:latin typeface="Arial" panose="020B0604020202020204" pitchFamily="34" charset="0"/>
              <a:ea typeface="宋体" panose="02010600030101010101" pitchFamily="2" charset="-122"/>
            </a:endParaRPr>
          </a:p>
        </p:txBody>
      </p:sp>
      <p:sp>
        <p:nvSpPr>
          <p:cNvPr id="16388" name="AutoShape 5"/>
          <p:cNvSpPr/>
          <p:nvPr/>
        </p:nvSpPr>
        <p:spPr>
          <a:xfrm>
            <a:off x="6134418" y="3970655"/>
            <a:ext cx="2452687" cy="768350"/>
          </a:xfrm>
          <a:prstGeom prst="wedgeRoundRectCallout">
            <a:avLst>
              <a:gd name="adj1" fmla="val -86894"/>
              <a:gd name="adj2" fmla="val 53681"/>
              <a:gd name="adj3" fmla="val 16667"/>
            </a:avLst>
          </a:prstGeom>
          <a:solidFill>
            <a:srgbClr val="FFDFFF"/>
          </a:solidFill>
          <a:ln w="9525" cap="flat" cmpd="sng">
            <a:solidFill>
              <a:srgbClr val="336600"/>
            </a:solidFill>
            <a:prstDash val="solid"/>
            <a:miter/>
            <a:headEnd type="none" w="med" len="med"/>
            <a:tailEnd type="none" w="med" len="med"/>
          </a:ln>
        </p:spPr>
        <p:txBody>
          <a:bodyPr anchor="t" anchorCtr="0"/>
          <a:p>
            <a:pPr algn="ctr">
              <a:lnSpc>
                <a:spcPct val="135000"/>
              </a:lnSpc>
            </a:pPr>
            <a:r>
              <a:rPr lang="zh-CN" altLang="en-US" sz="2400" dirty="0">
                <a:latin typeface="宋体" panose="02010600030101010101" pitchFamily="2" charset="-122"/>
                <a:ea typeface="宋体" panose="02010600030101010101" pitchFamily="2" charset="-122"/>
              </a:rPr>
              <a:t>修改数据文件</a:t>
            </a:r>
            <a:endParaRPr lang="zh-CN" altLang="en-US" sz="2400" dirty="0">
              <a:latin typeface="宋体" panose="02010600030101010101" pitchFamily="2" charset="-122"/>
              <a:ea typeface="宋体" panose="02010600030101010101" pitchFamily="2" charset="-122"/>
            </a:endParaRPr>
          </a:p>
        </p:txBody>
      </p:sp>
      <p:sp>
        <p:nvSpPr>
          <p:cNvPr id="16389" name="AutoShape 6"/>
          <p:cNvSpPr/>
          <p:nvPr/>
        </p:nvSpPr>
        <p:spPr>
          <a:xfrm>
            <a:off x="4554538" y="2322513"/>
            <a:ext cx="2282825" cy="595312"/>
          </a:xfrm>
          <a:prstGeom prst="wedgeRoundRectCallout">
            <a:avLst>
              <a:gd name="adj1" fmla="val -160704"/>
              <a:gd name="adj2" fmla="val -1468"/>
              <a:gd name="adj3" fmla="val 16667"/>
            </a:avLst>
          </a:prstGeom>
          <a:solidFill>
            <a:srgbClr val="FFDFFF"/>
          </a:solidFill>
          <a:ln w="9525" cap="flat" cmpd="sng">
            <a:solidFill>
              <a:srgbClr val="336600"/>
            </a:solidFill>
            <a:prstDash val="solid"/>
            <a:miter/>
            <a:headEnd type="none" w="med" len="med"/>
            <a:tailEnd type="none" w="med" len="med"/>
          </a:ln>
        </p:spPr>
        <p:txBody>
          <a:bodyPr anchor="t" anchorCtr="0"/>
          <a:p>
            <a:pPr algn="ctr">
              <a:lnSpc>
                <a:spcPct val="135000"/>
              </a:lnSpc>
            </a:pPr>
            <a:r>
              <a:rPr lang="zh-CN" altLang="en-US" sz="2400" dirty="0">
                <a:latin typeface="宋体" panose="02010600030101010101" pitchFamily="2" charset="-122"/>
                <a:ea typeface="宋体" panose="02010600030101010101" pitchFamily="2" charset="-122"/>
              </a:rPr>
              <a:t>增加数据文件</a:t>
            </a:r>
            <a:endParaRPr lang="zh-CN" altLang="en-US" sz="2400" dirty="0">
              <a:latin typeface="宋体" panose="02010600030101010101" pitchFamily="2" charset="-122"/>
              <a:ea typeface="宋体" panose="02010600030101010101" pitchFamily="2" charset="-122"/>
            </a:endParaRPr>
          </a:p>
        </p:txBody>
      </p:sp>
      <p:sp>
        <p:nvSpPr>
          <p:cNvPr id="19461" name="矩形 6"/>
          <p:cNvSpPr/>
          <p:nvPr/>
        </p:nvSpPr>
        <p:spPr>
          <a:xfrm>
            <a:off x="665163" y="1366838"/>
            <a:ext cx="3224212" cy="569912"/>
          </a:xfrm>
          <a:prstGeom prst="rect">
            <a:avLst/>
          </a:prstGeom>
          <a:noFill/>
          <a:ln w="9525">
            <a:noFill/>
          </a:ln>
        </p:spPr>
        <p:txBody>
          <a:bodyPr wrap="none" anchor="t" anchorCtr="0">
            <a:spAutoFit/>
          </a:bodyPr>
          <a:p>
            <a:pPr>
              <a:lnSpc>
                <a:spcPct val="135000"/>
              </a:lnSpc>
              <a:buFont typeface="Wingdings" panose="05000000000000000000" pitchFamily="2" charset="2"/>
              <a:buChar char="p"/>
            </a:pPr>
            <a:r>
              <a:rPr lang="zh-CN" altLang="en-US" sz="2400" dirty="0">
                <a:solidFill>
                  <a:srgbClr val="006600"/>
                </a:solidFill>
                <a:latin typeface="Arial" panose="020B0604020202020204" pitchFamily="34" charset="0"/>
                <a:ea typeface="宋体" panose="02010600030101010101" pitchFamily="2" charset="-122"/>
              </a:rPr>
              <a:t> </a:t>
            </a:r>
            <a:r>
              <a:rPr lang="zh-CN" altLang="en-US" sz="2600" dirty="0">
                <a:solidFill>
                  <a:srgbClr val="006600"/>
                </a:solidFill>
                <a:latin typeface="Arial" panose="020B0604020202020204" pitchFamily="34" charset="0"/>
                <a:ea typeface="宋体" panose="02010600030101010101" pitchFamily="2" charset="-122"/>
              </a:rPr>
              <a:t>修改数据库的例子</a:t>
            </a:r>
            <a:endParaRPr lang="zh-CN" altLang="en-US" sz="2600" dirty="0">
              <a:solidFill>
                <a:srgbClr val="006600"/>
              </a:solidFill>
              <a:latin typeface="Arial" panose="020B0604020202020204" pitchFamily="34" charset="0"/>
              <a:ea typeface="宋体" panose="02010600030101010101" pitchFamily="2" charset="-122"/>
            </a:endParaRPr>
          </a:p>
        </p:txBody>
      </p:sp>
      <p:sp>
        <p:nvSpPr>
          <p:cNvPr id="19462" name="矩形 8"/>
          <p:cNvSpPr/>
          <p:nvPr/>
        </p:nvSpPr>
        <p:spPr>
          <a:xfrm>
            <a:off x="601663" y="881063"/>
            <a:ext cx="4321175" cy="944562"/>
          </a:xfrm>
          <a:prstGeom prst="rect">
            <a:avLst/>
          </a:prstGeom>
          <a:noFill/>
          <a:ln w="9525">
            <a:noFill/>
          </a:ln>
        </p:spPr>
        <p:txBody>
          <a:bodyPr wrap="none" anchor="t" anchorCtr="0">
            <a:spAutoFit/>
          </a:bodyPr>
          <a:p>
            <a:r>
              <a:rPr lang="en-US" altLang="zh-CN" sz="2800" dirty="0">
                <a:solidFill>
                  <a:srgbClr val="0033CC"/>
                </a:solidFill>
                <a:latin typeface="黑体" panose="02010609060101010101" pitchFamily="1" charset="-122"/>
                <a:ea typeface="黑体" panose="02010609060101010101" pitchFamily="1" charset="-122"/>
              </a:rPr>
              <a:t>3.</a:t>
            </a:r>
            <a:r>
              <a:rPr lang="zh-CN" altLang="en-US" sz="2800" dirty="0">
                <a:solidFill>
                  <a:srgbClr val="0033CC"/>
                </a:solidFill>
                <a:latin typeface="黑体" panose="02010609060101010101" pitchFamily="1" charset="-122"/>
                <a:ea typeface="黑体" panose="02010609060101010101" pitchFamily="1" charset="-122"/>
              </a:rPr>
              <a:t>定义数据库及日志</a:t>
            </a:r>
            <a:r>
              <a:rPr lang="en-US" altLang="zh-CN" sz="2400" dirty="0">
                <a:solidFill>
                  <a:srgbClr val="FF0000"/>
                </a:solidFill>
                <a:latin typeface="黑体" panose="02010609060101010101" pitchFamily="1" charset="-122"/>
                <a:ea typeface="宋体" panose="02010600030101010101" pitchFamily="2" charset="-122"/>
              </a:rPr>
              <a:t>—</a:t>
            </a:r>
            <a:r>
              <a:rPr lang="zh-CN" altLang="en-US" sz="2400" dirty="0">
                <a:solidFill>
                  <a:srgbClr val="FF0000"/>
                </a:solidFill>
                <a:latin typeface="黑体" panose="02010609060101010101" pitchFamily="1" charset="-122"/>
                <a:ea typeface="宋体" panose="02010600030101010101" pitchFamily="2" charset="-122"/>
              </a:rPr>
              <a:t>修改</a:t>
            </a:r>
            <a:endParaRPr lang="zh-CN" altLang="en-US" sz="2400" dirty="0">
              <a:solidFill>
                <a:srgbClr val="FF0000"/>
              </a:solidFill>
              <a:latin typeface="黑体" panose="02010609060101010101" pitchFamily="1" charset="-122"/>
              <a:ea typeface="宋体" panose="02010600030101010101" pitchFamily="2" charset="-122"/>
            </a:endParaRPr>
          </a:p>
          <a:p>
            <a:endParaRPr lang="zh-CN" altLang="en-US" sz="2800" dirty="0">
              <a:solidFill>
                <a:srgbClr val="0033CC"/>
              </a:solidFill>
              <a:latin typeface="黑体" panose="02010609060101010101" pitchFamily="1" charset="-122"/>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6389"/>
                                        </p:tgtEl>
                                        <p:attrNameLst>
                                          <p:attrName>style.visibility</p:attrName>
                                        </p:attrNameLst>
                                      </p:cBhvr>
                                      <p:to>
                                        <p:strVal val="visible"/>
                                      </p:to>
                                    </p:set>
                                    <p:animEffect transition="in" filter="box(in)">
                                      <p:cBhvr>
                                        <p:cTn id="7" dur="500"/>
                                        <p:tgtEl>
                                          <p:spTgt spid="16389"/>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6388"/>
                                        </p:tgtEl>
                                        <p:attrNameLst>
                                          <p:attrName>style.visibility</p:attrName>
                                        </p:attrNameLst>
                                      </p:cBhvr>
                                      <p:to>
                                        <p:strVal val="visible"/>
                                      </p:to>
                                    </p:set>
                                    <p:animEffect transition="in" filter="box(in)">
                                      <p:cBhvr>
                                        <p:cTn id="12" dur="500"/>
                                        <p:tgtEl>
                                          <p:spTgt spid="163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8" grpId="0" bldLvl="0" animBg="1"/>
      <p:bldP spid="1638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1"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20482" name="Rectangle 3"/>
          <p:cNvSpPr txBox="1"/>
          <p:nvPr/>
        </p:nvSpPr>
        <p:spPr>
          <a:xfrm>
            <a:off x="671513" y="1631950"/>
            <a:ext cx="7950200" cy="3230563"/>
          </a:xfrm>
          <a:prstGeom prst="rect">
            <a:avLst/>
          </a:prstGeom>
          <a:noFill/>
          <a:ln w="9525">
            <a:noFill/>
          </a:ln>
        </p:spPr>
        <p:txBody>
          <a:bodyPr anchor="t" anchorCtr="0"/>
          <a:p>
            <a:pPr marL="342900" indent="-342900">
              <a:lnSpc>
                <a:spcPct val="125000"/>
              </a:lnSpc>
              <a:spcBef>
                <a:spcPct val="20000"/>
              </a:spcBef>
              <a:buClr>
                <a:srgbClr val="0033CC"/>
              </a:buClr>
              <a:buSzPct val="80000"/>
              <a:buFont typeface="Wingdings" panose="05000000000000000000" pitchFamily="2" charset="2"/>
              <a:buChar char="u"/>
            </a:pPr>
            <a:r>
              <a:rPr lang="zh-CN" altLang="en-US" sz="2400" dirty="0">
                <a:latin typeface="华文楷体" panose="02010600040101010101" pitchFamily="2" charset="-122"/>
                <a:ea typeface="宋体" panose="02010600030101010101" pitchFamily="2" charset="-122"/>
              </a:rPr>
              <a:t>当一个</a:t>
            </a:r>
            <a:r>
              <a:rPr lang="en-US" altLang="zh-CN" sz="2400" dirty="0">
                <a:latin typeface="华文楷体" panose="02010600040101010101" pitchFamily="2" charset="-122"/>
                <a:ea typeface="宋体" panose="02010600030101010101" pitchFamily="2" charset="-122"/>
              </a:rPr>
              <a:t>SQL</a:t>
            </a:r>
            <a:r>
              <a:rPr lang="zh-CN" altLang="en-US" sz="2400" dirty="0">
                <a:latin typeface="华文楷体" panose="02010600040101010101" pitchFamily="2" charset="-122"/>
                <a:ea typeface="宋体" panose="02010600030101010101" pitchFamily="2" charset="-122"/>
              </a:rPr>
              <a:t>数据库及其所属的基本表，视图等对象都不需要时，可以用</a:t>
            </a:r>
            <a:endParaRPr lang="zh-CN" altLang="en-US" sz="2400" dirty="0">
              <a:latin typeface="华文楷体" panose="02010600040101010101" pitchFamily="2" charset="-122"/>
              <a:ea typeface="宋体" panose="02010600030101010101" pitchFamily="2" charset="-122"/>
            </a:endParaRPr>
          </a:p>
          <a:p>
            <a:pPr marL="342900" indent="-342900">
              <a:lnSpc>
                <a:spcPct val="125000"/>
              </a:lnSpc>
              <a:buClr>
                <a:srgbClr val="0033CC"/>
              </a:buClr>
              <a:buSzPct val="80000"/>
            </a:pPr>
            <a:r>
              <a:rPr lang="zh-CN" altLang="en-US" sz="2400" dirty="0">
                <a:latin typeface="华文楷体" panose="02010600040101010101" pitchFamily="2" charset="-122"/>
                <a:ea typeface="宋体" panose="02010600030101010101" pitchFamily="2" charset="-122"/>
              </a:rPr>
              <a:t>  </a:t>
            </a:r>
            <a:r>
              <a:rPr lang="en-US" altLang="zh-CN" sz="2400" dirty="0">
                <a:latin typeface="华文楷体" panose="02010600040101010101" pitchFamily="2" charset="-122"/>
                <a:ea typeface="宋体" panose="02010600030101010101" pitchFamily="2" charset="-122"/>
              </a:rPr>
              <a:t>DROP DATABASE </a:t>
            </a:r>
            <a:r>
              <a:rPr lang="zh-CN" altLang="en-US" sz="2400" dirty="0">
                <a:latin typeface="华文楷体" panose="02010600040101010101" pitchFamily="2" charset="-122"/>
                <a:ea typeface="宋体" panose="02010600030101010101" pitchFamily="2" charset="-122"/>
              </a:rPr>
              <a:t>数据库名 </a:t>
            </a:r>
            <a:r>
              <a:rPr lang="en-US" altLang="zh-CN" sz="2400" dirty="0">
                <a:latin typeface="华文楷体" panose="02010600040101010101" pitchFamily="2" charset="-122"/>
                <a:ea typeface="宋体" panose="02010600030101010101" pitchFamily="2" charset="-122"/>
              </a:rPr>
              <a:t>[ ,...n</a:t>
            </a:r>
            <a:r>
              <a:rPr lang="en-US" altLang="zh-CN" sz="2400" i="1" dirty="0">
                <a:latin typeface="华文楷体" panose="02010600040101010101" pitchFamily="2" charset="-122"/>
                <a:ea typeface="宋体" panose="02010600030101010101" pitchFamily="2" charset="-122"/>
              </a:rPr>
              <a:t> </a:t>
            </a:r>
            <a:r>
              <a:rPr lang="en-US" altLang="zh-CN" sz="2400" dirty="0">
                <a:latin typeface="华文楷体" panose="02010600040101010101" pitchFamily="2" charset="-122"/>
                <a:ea typeface="宋体" panose="02010600030101010101" pitchFamily="2" charset="-122"/>
              </a:rPr>
              <a:t>]</a:t>
            </a:r>
            <a:endParaRPr lang="en-US" altLang="zh-CN" sz="2400" dirty="0">
              <a:latin typeface="华文楷体" panose="02010600040101010101" pitchFamily="2" charset="-122"/>
              <a:ea typeface="宋体" panose="02010600030101010101" pitchFamily="2" charset="-122"/>
            </a:endParaRPr>
          </a:p>
          <a:p>
            <a:pPr marL="342900" indent="-342900">
              <a:lnSpc>
                <a:spcPct val="125000"/>
              </a:lnSpc>
              <a:buClr>
                <a:srgbClr val="0033CC"/>
              </a:buClr>
              <a:buSzPct val="80000"/>
              <a:buFont typeface="Wingdings" panose="05000000000000000000" pitchFamily="2" charset="2"/>
              <a:buChar char="u"/>
            </a:pPr>
            <a:endParaRPr lang="en-US" altLang="zh-CN" sz="2400" dirty="0">
              <a:latin typeface="华文楷体" panose="02010600040101010101" pitchFamily="2" charset="-122"/>
              <a:ea typeface="宋体" panose="02010600030101010101" pitchFamily="2" charset="-122"/>
            </a:endParaRPr>
          </a:p>
          <a:p>
            <a:pPr marL="342900" indent="-342900">
              <a:lnSpc>
                <a:spcPct val="125000"/>
              </a:lnSpc>
              <a:buClr>
                <a:srgbClr val="0033CC"/>
              </a:buClr>
              <a:buSzPct val="80000"/>
              <a:buFont typeface="Wingdings" panose="05000000000000000000" pitchFamily="2" charset="2"/>
              <a:buChar char="u"/>
            </a:pPr>
            <a:r>
              <a:rPr lang="zh-CN" altLang="en-US" sz="2400" dirty="0">
                <a:latin typeface="华文楷体" panose="02010600040101010101" pitchFamily="2" charset="-122"/>
                <a:ea typeface="宋体" panose="02010600030101010101" pitchFamily="2" charset="-122"/>
              </a:rPr>
              <a:t>虽然语法简单，但其带来的危害却是最大的，因为数据库的删除，意味着其中的各种数据和日志文件等，也将全部被删除。</a:t>
            </a:r>
            <a:endParaRPr lang="zh-CN" altLang="en-US" sz="2400" dirty="0">
              <a:latin typeface="华文楷体" panose="02010600040101010101" pitchFamily="2" charset="-122"/>
              <a:ea typeface="宋体" panose="02010600030101010101" pitchFamily="2" charset="-122"/>
            </a:endParaRPr>
          </a:p>
          <a:p>
            <a:pPr marL="342900" indent="-342900">
              <a:lnSpc>
                <a:spcPct val="125000"/>
              </a:lnSpc>
              <a:buClr>
                <a:srgbClr val="0033CC"/>
              </a:buClr>
              <a:buSzPct val="80000"/>
              <a:buFont typeface="Wingdings" panose="05000000000000000000" pitchFamily="2" charset="2"/>
              <a:buChar char="u"/>
            </a:pPr>
            <a:r>
              <a:rPr lang="zh-CN" altLang="en-US" sz="2400" dirty="0">
                <a:solidFill>
                  <a:srgbClr val="A50021"/>
                </a:solidFill>
                <a:latin typeface="华文楷体" panose="02010600040101010101" pitchFamily="2" charset="-122"/>
                <a:ea typeface="宋体" panose="02010600030101010101" pitchFamily="2" charset="-122"/>
              </a:rPr>
              <a:t>必须慎重！</a:t>
            </a:r>
            <a:r>
              <a:rPr lang="zh-CN" altLang="en-US" sz="2400" dirty="0">
                <a:latin typeface="华文楷体" panose="02010600040101010101" pitchFamily="2" charset="-122"/>
                <a:ea typeface="宋体" panose="02010600030101010101" pitchFamily="2" charset="-122"/>
              </a:rPr>
              <a:t> </a:t>
            </a:r>
            <a:endParaRPr lang="zh-CN" altLang="en-US" sz="2400" dirty="0">
              <a:latin typeface="华文楷体" panose="02010600040101010101" pitchFamily="2" charset="-122"/>
              <a:ea typeface="宋体" panose="02010600030101010101" pitchFamily="2" charset="-122"/>
            </a:endParaRPr>
          </a:p>
          <a:p>
            <a:pPr marL="342900" indent="-342900">
              <a:spcBef>
                <a:spcPct val="20000"/>
              </a:spcBef>
              <a:buClr>
                <a:srgbClr val="0033CC"/>
              </a:buClr>
              <a:buSzPct val="80000"/>
              <a:buFont typeface="Wingdings" panose="05000000000000000000" pitchFamily="2" charset="2"/>
              <a:buChar char="u"/>
            </a:pPr>
            <a:endParaRPr lang="en-US" altLang="zh-CN" sz="2000" dirty="0">
              <a:latin typeface="华文楷体" panose="02010600040101010101" pitchFamily="2" charset="-122"/>
              <a:ea typeface="宋体" panose="02010600030101010101" pitchFamily="2" charset="-122"/>
            </a:endParaRPr>
          </a:p>
        </p:txBody>
      </p:sp>
      <p:sp>
        <p:nvSpPr>
          <p:cNvPr id="20483" name="矩形 4"/>
          <p:cNvSpPr/>
          <p:nvPr/>
        </p:nvSpPr>
        <p:spPr>
          <a:xfrm>
            <a:off x="601663" y="881063"/>
            <a:ext cx="4321175" cy="944562"/>
          </a:xfrm>
          <a:prstGeom prst="rect">
            <a:avLst/>
          </a:prstGeom>
          <a:noFill/>
          <a:ln w="9525">
            <a:noFill/>
          </a:ln>
        </p:spPr>
        <p:txBody>
          <a:bodyPr wrap="none" anchor="t" anchorCtr="0">
            <a:spAutoFit/>
          </a:bodyPr>
          <a:p>
            <a:r>
              <a:rPr lang="en-US" altLang="zh-CN" sz="2800" dirty="0">
                <a:solidFill>
                  <a:srgbClr val="0033CC"/>
                </a:solidFill>
                <a:latin typeface="黑体" panose="02010609060101010101" pitchFamily="1" charset="-122"/>
                <a:ea typeface="黑体" panose="02010609060101010101" pitchFamily="1" charset="-122"/>
              </a:rPr>
              <a:t>3.</a:t>
            </a:r>
            <a:r>
              <a:rPr lang="zh-CN" altLang="en-US" sz="2800" dirty="0">
                <a:solidFill>
                  <a:srgbClr val="0033CC"/>
                </a:solidFill>
                <a:latin typeface="黑体" panose="02010609060101010101" pitchFamily="1" charset="-122"/>
                <a:ea typeface="黑体" panose="02010609060101010101" pitchFamily="1" charset="-122"/>
              </a:rPr>
              <a:t>定义数据库及日志</a:t>
            </a:r>
            <a:r>
              <a:rPr lang="en-US" altLang="zh-CN" sz="2400" dirty="0">
                <a:solidFill>
                  <a:srgbClr val="FF0000"/>
                </a:solidFill>
                <a:latin typeface="黑体" panose="02010609060101010101" pitchFamily="1" charset="-122"/>
                <a:ea typeface="宋体" panose="02010600030101010101" pitchFamily="2" charset="-122"/>
              </a:rPr>
              <a:t>—</a:t>
            </a:r>
            <a:r>
              <a:rPr lang="zh-CN" altLang="en-US" sz="2400" dirty="0">
                <a:solidFill>
                  <a:srgbClr val="FF0000"/>
                </a:solidFill>
                <a:latin typeface="黑体" panose="02010609060101010101" pitchFamily="1" charset="-122"/>
                <a:ea typeface="宋体" panose="02010600030101010101" pitchFamily="2" charset="-122"/>
              </a:rPr>
              <a:t>删除</a:t>
            </a:r>
            <a:endParaRPr lang="zh-CN" altLang="en-US" sz="2400" dirty="0">
              <a:solidFill>
                <a:srgbClr val="FF0000"/>
              </a:solidFill>
              <a:latin typeface="黑体" panose="02010609060101010101" pitchFamily="1" charset="-122"/>
              <a:ea typeface="宋体" panose="02010600030101010101" pitchFamily="2" charset="-122"/>
            </a:endParaRPr>
          </a:p>
          <a:p>
            <a:endParaRPr lang="zh-CN" altLang="en-US" sz="2800" dirty="0">
              <a:solidFill>
                <a:srgbClr val="0033CC"/>
              </a:solidFill>
              <a:latin typeface="黑体" panose="02010609060101010101" pitchFamily="1" charset="-122"/>
              <a:ea typeface="黑体" panose="02010609060101010101" pitchFamily="1" charset="-122"/>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5"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21506" name="矩形 2"/>
          <p:cNvSpPr/>
          <p:nvPr/>
        </p:nvSpPr>
        <p:spPr>
          <a:xfrm>
            <a:off x="601663" y="881063"/>
            <a:ext cx="3248025" cy="944562"/>
          </a:xfrm>
          <a:prstGeom prst="rect">
            <a:avLst/>
          </a:prstGeom>
          <a:noFill/>
          <a:ln w="9525">
            <a:noFill/>
          </a:ln>
        </p:spPr>
        <p:txBody>
          <a:bodyPr wrap="none" anchor="t" anchorCtr="0">
            <a:spAutoFit/>
          </a:bodyPr>
          <a:p>
            <a:r>
              <a:rPr lang="en-US" altLang="zh-CN" sz="2800" dirty="0">
                <a:solidFill>
                  <a:srgbClr val="0033CC"/>
                </a:solidFill>
                <a:latin typeface="黑体" panose="02010609060101010101" pitchFamily="1" charset="-122"/>
                <a:ea typeface="黑体" panose="02010609060101010101" pitchFamily="1" charset="-122"/>
              </a:rPr>
              <a:t>4.</a:t>
            </a:r>
            <a:r>
              <a:rPr lang="zh-CN" altLang="en-US" sz="2800" dirty="0">
                <a:solidFill>
                  <a:srgbClr val="0033CC"/>
                </a:solidFill>
                <a:latin typeface="黑体" panose="02010609060101010101" pitchFamily="1" charset="-122"/>
                <a:ea typeface="黑体" panose="02010609060101010101" pitchFamily="1" charset="-122"/>
              </a:rPr>
              <a:t>定义数据表</a:t>
            </a:r>
            <a:r>
              <a:rPr lang="en-US" altLang="zh-CN" sz="2400" dirty="0">
                <a:solidFill>
                  <a:srgbClr val="FF0000"/>
                </a:solidFill>
                <a:latin typeface="黑体" panose="02010609060101010101" pitchFamily="1" charset="-122"/>
                <a:ea typeface="宋体" panose="02010600030101010101" pitchFamily="2" charset="-122"/>
              </a:rPr>
              <a:t>—</a:t>
            </a:r>
            <a:r>
              <a:rPr lang="zh-CN" altLang="en-US" sz="2400" dirty="0">
                <a:solidFill>
                  <a:srgbClr val="FF0000"/>
                </a:solidFill>
                <a:latin typeface="黑体" panose="02010609060101010101" pitchFamily="1" charset="-122"/>
                <a:ea typeface="宋体" panose="02010600030101010101" pitchFamily="2" charset="-122"/>
              </a:rPr>
              <a:t>创建</a:t>
            </a:r>
            <a:endParaRPr lang="zh-CN" altLang="en-US" sz="2400" dirty="0">
              <a:solidFill>
                <a:srgbClr val="FF0000"/>
              </a:solidFill>
              <a:latin typeface="黑体" panose="02010609060101010101" pitchFamily="1" charset="-122"/>
              <a:ea typeface="宋体" panose="02010600030101010101" pitchFamily="2" charset="-122"/>
            </a:endParaRPr>
          </a:p>
          <a:p>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18436" name="AutoShape 2"/>
          <p:cNvSpPr/>
          <p:nvPr/>
        </p:nvSpPr>
        <p:spPr>
          <a:xfrm>
            <a:off x="457200" y="1444625"/>
            <a:ext cx="8077200" cy="2667000"/>
          </a:xfrm>
          <a:prstGeom prst="flowChartAlternateProcess">
            <a:avLst/>
          </a:prstGeom>
          <a:solidFill>
            <a:srgbClr val="CCFFFF">
              <a:alpha val="50000"/>
            </a:srgbClr>
          </a:solidFill>
          <a:ln w="9525" cap="flat" cmpd="sng">
            <a:solidFill>
              <a:schemeClr val="tx1"/>
            </a:solidFill>
            <a:prstDash val="solid"/>
            <a:miter/>
            <a:headEnd type="none" w="med" len="med"/>
            <a:tailEnd type="none" w="med" len="med"/>
          </a:ln>
        </p:spPr>
        <p:txBody>
          <a:bodyPr wrap="none" anchor="ctr" anchorCtr="0"/>
          <a:p>
            <a:pPr>
              <a:lnSpc>
                <a:spcPct val="135000"/>
              </a:lnSpc>
              <a:buFont typeface="Arial" panose="020B0604020202020204" pitchFamily="34" charset="0"/>
              <a:buChar char="•"/>
            </a:pPr>
            <a:endParaRPr lang="zh-CN" altLang="en-US" dirty="0">
              <a:latin typeface="Arial" panose="020B0604020202020204" pitchFamily="34" charset="0"/>
              <a:ea typeface="宋体" panose="02010600030101010101" pitchFamily="2" charset="-122"/>
            </a:endParaRPr>
          </a:p>
        </p:txBody>
      </p:sp>
      <p:sp>
        <p:nvSpPr>
          <p:cNvPr id="18437" name="Rectangle 5"/>
          <p:cNvSpPr/>
          <p:nvPr/>
        </p:nvSpPr>
        <p:spPr>
          <a:xfrm>
            <a:off x="1511300" y="2043113"/>
            <a:ext cx="1828800" cy="304800"/>
          </a:xfrm>
          <a:prstGeom prst="rect">
            <a:avLst/>
          </a:prstGeom>
          <a:solidFill>
            <a:srgbClr val="CC0000">
              <a:alpha val="50000"/>
            </a:srgbClr>
          </a:solidFill>
          <a:ln w="9525">
            <a:noFill/>
          </a:ln>
        </p:spPr>
        <p:txBody>
          <a:bodyPr wrap="none" anchor="ctr" anchorCtr="0"/>
          <a:p>
            <a:pPr>
              <a:lnSpc>
                <a:spcPct val="135000"/>
              </a:lnSpc>
              <a:buFont typeface="Arial" panose="020B0604020202020204" pitchFamily="34" charset="0"/>
              <a:buChar char="•"/>
            </a:pPr>
            <a:endParaRPr lang="zh-CN" altLang="en-US" dirty="0">
              <a:latin typeface="Arial" panose="020B0604020202020204" pitchFamily="34" charset="0"/>
              <a:ea typeface="宋体" panose="02010600030101010101" pitchFamily="2" charset="-122"/>
            </a:endParaRPr>
          </a:p>
        </p:txBody>
      </p:sp>
      <p:sp>
        <p:nvSpPr>
          <p:cNvPr id="21509" name="Rectangle 6"/>
          <p:cNvSpPr txBox="1"/>
          <p:nvPr/>
        </p:nvSpPr>
        <p:spPr>
          <a:xfrm>
            <a:off x="503238" y="1574800"/>
            <a:ext cx="8077200" cy="5334000"/>
          </a:xfrm>
          <a:prstGeom prst="rect">
            <a:avLst/>
          </a:prstGeom>
          <a:noFill/>
          <a:ln w="9525">
            <a:noFill/>
          </a:ln>
        </p:spPr>
        <p:txBody>
          <a:bodyPr anchor="t" anchorCtr="0"/>
          <a:p>
            <a:pPr marL="342900" indent="-342900">
              <a:lnSpc>
                <a:spcPct val="90000"/>
              </a:lnSpc>
              <a:spcBef>
                <a:spcPct val="50000"/>
              </a:spcBef>
              <a:buClr>
                <a:srgbClr val="0033CC"/>
              </a:buClr>
              <a:buSzPct val="80000"/>
            </a:pPr>
            <a:r>
              <a:rPr lang="en-US" altLang="zh-CN" sz="2400" dirty="0">
                <a:latin typeface="Arial" panose="020B0604020202020204" pitchFamily="34" charset="0"/>
                <a:ea typeface="宋体" panose="02010600030101010101" pitchFamily="2" charset="-122"/>
              </a:rPr>
              <a:t>CREATE TABLE </a:t>
            </a:r>
            <a:r>
              <a:rPr lang="en-US" altLang="zh-CN" sz="2400" dirty="0">
                <a:latin typeface="宋体" panose="02010600030101010101" pitchFamily="2" charset="-122"/>
                <a:ea typeface="宋体" panose="02010600030101010101" pitchFamily="2" charset="-122"/>
              </a:rPr>
              <a:t> </a:t>
            </a:r>
            <a:r>
              <a:rPr lang="en-US" altLang="zh-CN" sz="2400" dirty="0">
                <a:latin typeface="Arial" panose="020B0604020202020204" pitchFamily="34" charset="0"/>
                <a:ea typeface="宋体" panose="02010600030101010101" pitchFamily="2" charset="-122"/>
              </a:rPr>
              <a:t>[ </a:t>
            </a:r>
            <a:r>
              <a:rPr lang="zh-CN" altLang="en-US" sz="2400" dirty="0">
                <a:latin typeface="Arial" panose="020B0604020202020204" pitchFamily="34" charset="0"/>
                <a:ea typeface="宋体" panose="02010600030101010101" pitchFamily="2" charset="-122"/>
              </a:rPr>
              <a:t>数据库名</a:t>
            </a:r>
            <a:r>
              <a:rPr lang="en-US" altLang="zh-CN" sz="2400" dirty="0">
                <a:latin typeface="Arial" panose="020B0604020202020204" pitchFamily="34" charset="0"/>
                <a:ea typeface="宋体" panose="02010600030101010101" pitchFamily="2" charset="-122"/>
              </a:rPr>
              <a:t>.[ </a:t>
            </a:r>
            <a:r>
              <a:rPr lang="zh-CN" altLang="en-US" sz="2400" dirty="0">
                <a:latin typeface="Arial" panose="020B0604020202020204" pitchFamily="34" charset="0"/>
                <a:ea typeface="宋体" panose="02010600030101010101" pitchFamily="2" charset="-122"/>
              </a:rPr>
              <a:t>拥有者</a:t>
            </a:r>
            <a:r>
              <a:rPr lang="zh-CN" altLang="en-US" sz="2400" i="1" dirty="0">
                <a:latin typeface="Arial" panose="020B0604020202020204" pitchFamily="34" charset="0"/>
                <a:ea typeface="宋体" panose="02010600030101010101" pitchFamily="2" charset="-122"/>
              </a:rPr>
              <a:t> </a:t>
            </a:r>
            <a:r>
              <a:rPr lang="en-US" altLang="zh-CN" sz="2400" dirty="0">
                <a:latin typeface="Arial" panose="020B0604020202020204" pitchFamily="34" charset="0"/>
                <a:ea typeface="宋体" panose="02010600030101010101" pitchFamily="2" charset="-122"/>
              </a:rPr>
              <a:t>].|</a:t>
            </a:r>
            <a:r>
              <a:rPr lang="zh-CN" altLang="en-US" sz="2400" dirty="0">
                <a:latin typeface="Arial" panose="020B0604020202020204" pitchFamily="34" charset="0"/>
                <a:ea typeface="宋体" panose="02010600030101010101" pitchFamily="2" charset="-122"/>
              </a:rPr>
              <a:t>拥有者</a:t>
            </a:r>
            <a:r>
              <a:rPr lang="en-US" altLang="zh-CN" sz="2400" dirty="0">
                <a:latin typeface="Arial" panose="020B0604020202020204" pitchFamily="34" charset="0"/>
                <a:ea typeface="宋体" panose="02010600030101010101" pitchFamily="2" charset="-122"/>
              </a:rPr>
              <a:t>.] </a:t>
            </a:r>
            <a:r>
              <a:rPr lang="zh-CN" altLang="en-US" sz="2400" dirty="0">
                <a:latin typeface="Arial" panose="020B0604020202020204" pitchFamily="34" charset="0"/>
                <a:ea typeface="宋体" panose="02010600030101010101" pitchFamily="2" charset="-122"/>
              </a:rPr>
              <a:t>表名</a:t>
            </a:r>
            <a:endParaRPr lang="zh-CN" altLang="en-US" sz="2400" dirty="0">
              <a:latin typeface="Arial" panose="020B0604020202020204" pitchFamily="34" charset="0"/>
              <a:ea typeface="宋体" panose="02010600030101010101" pitchFamily="2" charset="-122"/>
            </a:endParaRPr>
          </a:p>
          <a:p>
            <a:pPr marL="342900" indent="-342900">
              <a:lnSpc>
                <a:spcPct val="90000"/>
              </a:lnSpc>
              <a:buClr>
                <a:srgbClr val="0033CC"/>
              </a:buClr>
              <a:buSzPct val="80000"/>
            </a:pPr>
            <a:r>
              <a:rPr lang="zh-CN" altLang="en-US" sz="2400" dirty="0">
                <a:latin typeface="Arial" panose="020B0604020202020204" pitchFamily="34" charset="0"/>
                <a:ea typeface="宋体" panose="02010600030101010101" pitchFamily="2" charset="-122"/>
              </a:rPr>
              <a:t>     </a:t>
            </a:r>
            <a:r>
              <a:rPr lang="en-US" altLang="zh-CN" sz="2400" dirty="0">
                <a:solidFill>
                  <a:srgbClr val="000099"/>
                </a:solidFill>
                <a:latin typeface="Arial" panose="020B0604020202020204" pitchFamily="34" charset="0"/>
                <a:ea typeface="宋体" panose="02010600030101010101" pitchFamily="2" charset="-122"/>
              </a:rPr>
              <a:t>( { </a:t>
            </a:r>
            <a:r>
              <a:rPr lang="en-US" altLang="zh-CN" sz="2400" dirty="0">
                <a:solidFill>
                  <a:srgbClr val="CC0000"/>
                </a:solidFill>
                <a:latin typeface="Arial" panose="020B0604020202020204" pitchFamily="34" charset="0"/>
                <a:ea typeface="宋体" panose="02010600030101010101" pitchFamily="2" charset="-122"/>
              </a:rPr>
              <a:t>&lt; </a:t>
            </a:r>
            <a:r>
              <a:rPr lang="zh-CN" altLang="en-US" sz="2400" dirty="0">
                <a:solidFill>
                  <a:srgbClr val="CC0000"/>
                </a:solidFill>
                <a:latin typeface="Arial" panose="020B0604020202020204" pitchFamily="34" charset="0"/>
                <a:ea typeface="宋体" panose="02010600030101010101" pitchFamily="2" charset="-122"/>
              </a:rPr>
              <a:t>列定义 </a:t>
            </a:r>
            <a:r>
              <a:rPr lang="en-US" altLang="zh-CN" sz="2400" dirty="0">
                <a:solidFill>
                  <a:srgbClr val="CC0000"/>
                </a:solidFill>
                <a:latin typeface="Arial" panose="020B0604020202020204" pitchFamily="34" charset="0"/>
                <a:ea typeface="宋体" panose="02010600030101010101" pitchFamily="2" charset="-122"/>
              </a:rPr>
              <a:t>&gt;</a:t>
            </a:r>
            <a:endParaRPr lang="en-US" altLang="zh-CN" sz="2400" dirty="0">
              <a:solidFill>
                <a:srgbClr val="CC0000"/>
              </a:solidFill>
              <a:latin typeface="Arial" panose="020B0604020202020204" pitchFamily="34" charset="0"/>
              <a:ea typeface="宋体" panose="02010600030101010101" pitchFamily="2" charset="-122"/>
            </a:endParaRPr>
          </a:p>
          <a:p>
            <a:pPr marL="342900" indent="-342900">
              <a:lnSpc>
                <a:spcPct val="90000"/>
              </a:lnSpc>
              <a:buClr>
                <a:srgbClr val="0033CC"/>
              </a:buClr>
              <a:buSzPct val="80000"/>
            </a:pPr>
            <a:r>
              <a:rPr lang="en-US" altLang="zh-CN" sz="2400" dirty="0">
                <a:solidFill>
                  <a:srgbClr val="000099"/>
                </a:solidFill>
                <a:latin typeface="Arial" panose="020B0604020202020204" pitchFamily="34" charset="0"/>
                <a:ea typeface="宋体" panose="02010600030101010101" pitchFamily="2" charset="-122"/>
              </a:rPr>
              <a:t>       | </a:t>
            </a:r>
            <a:r>
              <a:rPr lang="zh-CN" altLang="en-US" sz="2400" dirty="0">
                <a:solidFill>
                  <a:srgbClr val="000099"/>
                </a:solidFill>
                <a:latin typeface="Arial" panose="020B0604020202020204" pitchFamily="34" charset="0"/>
                <a:ea typeface="宋体" panose="02010600030101010101" pitchFamily="2" charset="-122"/>
              </a:rPr>
              <a:t>列名  </a:t>
            </a:r>
            <a:r>
              <a:rPr lang="en-US" altLang="zh-CN" sz="2400" dirty="0">
                <a:solidFill>
                  <a:srgbClr val="000099"/>
                </a:solidFill>
                <a:latin typeface="Arial" panose="020B0604020202020204" pitchFamily="34" charset="0"/>
                <a:ea typeface="宋体" panose="02010600030101010101" pitchFamily="2" charset="-122"/>
              </a:rPr>
              <a:t>AS  </a:t>
            </a:r>
            <a:r>
              <a:rPr lang="zh-CN" altLang="en-US" sz="2400" dirty="0">
                <a:solidFill>
                  <a:srgbClr val="000099"/>
                </a:solidFill>
                <a:latin typeface="Arial" panose="020B0604020202020204" pitchFamily="34" charset="0"/>
                <a:ea typeface="宋体" panose="02010600030101010101" pitchFamily="2" charset="-122"/>
              </a:rPr>
              <a:t>列计算表达式</a:t>
            </a:r>
            <a:endParaRPr lang="zh-CN" altLang="en-US" sz="2400" dirty="0">
              <a:solidFill>
                <a:srgbClr val="000099"/>
              </a:solidFill>
              <a:latin typeface="Arial" panose="020B0604020202020204" pitchFamily="34" charset="0"/>
              <a:ea typeface="宋体" panose="02010600030101010101" pitchFamily="2" charset="-122"/>
            </a:endParaRPr>
          </a:p>
          <a:p>
            <a:pPr marL="342900" indent="-342900">
              <a:lnSpc>
                <a:spcPct val="90000"/>
              </a:lnSpc>
              <a:buClr>
                <a:srgbClr val="0033CC"/>
              </a:buClr>
              <a:buSzPct val="80000"/>
            </a:pPr>
            <a:r>
              <a:rPr lang="zh-CN" altLang="en-US" sz="2400" dirty="0">
                <a:solidFill>
                  <a:srgbClr val="000099"/>
                </a:solidFill>
                <a:latin typeface="Arial" panose="020B0604020202020204" pitchFamily="34" charset="0"/>
                <a:ea typeface="宋体" panose="02010600030101010101" pitchFamily="2" charset="-122"/>
              </a:rPr>
              <a:t>       </a:t>
            </a:r>
            <a:r>
              <a:rPr lang="en-US" altLang="zh-CN" sz="2400" dirty="0">
                <a:solidFill>
                  <a:srgbClr val="000099"/>
                </a:solidFill>
                <a:latin typeface="Arial" panose="020B0604020202020204" pitchFamily="34" charset="0"/>
                <a:ea typeface="宋体" panose="02010600030101010101" pitchFamily="2" charset="-122"/>
              </a:rPr>
              <a:t>| </a:t>
            </a:r>
            <a:r>
              <a:rPr lang="en-US" altLang="zh-CN" sz="2400" dirty="0">
                <a:solidFill>
                  <a:srgbClr val="CC0000"/>
                </a:solidFill>
                <a:latin typeface="Arial" panose="020B0604020202020204" pitchFamily="34" charset="0"/>
                <a:ea typeface="宋体" panose="02010600030101010101" pitchFamily="2" charset="-122"/>
              </a:rPr>
              <a:t>&lt; </a:t>
            </a:r>
            <a:r>
              <a:rPr lang="zh-CN" altLang="en-US" sz="2400" dirty="0">
                <a:solidFill>
                  <a:srgbClr val="CC0000"/>
                </a:solidFill>
                <a:latin typeface="Arial" panose="020B0604020202020204" pitchFamily="34" charset="0"/>
                <a:ea typeface="宋体" panose="02010600030101010101" pitchFamily="2" charset="-122"/>
              </a:rPr>
              <a:t>表级约束</a:t>
            </a:r>
            <a:r>
              <a:rPr lang="en-US" altLang="zh-CN" sz="2400" dirty="0">
                <a:solidFill>
                  <a:srgbClr val="CC0000"/>
                </a:solidFill>
                <a:latin typeface="Arial" panose="020B0604020202020204" pitchFamily="34" charset="0"/>
                <a:ea typeface="宋体" panose="02010600030101010101" pitchFamily="2" charset="-122"/>
              </a:rPr>
              <a:t>&gt;</a:t>
            </a:r>
            <a:r>
              <a:rPr lang="en-US" altLang="zh-CN" sz="2400" dirty="0">
                <a:solidFill>
                  <a:srgbClr val="000099"/>
                </a:solidFill>
                <a:latin typeface="Arial" panose="020B0604020202020204" pitchFamily="34" charset="0"/>
                <a:ea typeface="宋体" panose="02010600030101010101" pitchFamily="2" charset="-122"/>
              </a:rPr>
              <a:t> }</a:t>
            </a:r>
            <a:endParaRPr lang="en-US" altLang="zh-CN" sz="2400" dirty="0">
              <a:solidFill>
                <a:srgbClr val="000099"/>
              </a:solidFill>
              <a:latin typeface="Arial" panose="020B0604020202020204" pitchFamily="34" charset="0"/>
              <a:ea typeface="宋体" panose="02010600030101010101" pitchFamily="2" charset="-122"/>
            </a:endParaRPr>
          </a:p>
          <a:p>
            <a:pPr marL="342900" indent="-342900">
              <a:lnSpc>
                <a:spcPct val="90000"/>
              </a:lnSpc>
              <a:buClr>
                <a:srgbClr val="0033CC"/>
              </a:buClr>
              <a:buSzPct val="80000"/>
            </a:pPr>
            <a:r>
              <a:rPr lang="en-US" altLang="zh-CN" sz="2400" dirty="0">
                <a:solidFill>
                  <a:srgbClr val="000099"/>
                </a:solidFill>
                <a:latin typeface="Arial" panose="020B0604020202020204" pitchFamily="34" charset="0"/>
                <a:ea typeface="宋体" panose="02010600030101010101" pitchFamily="2" charset="-122"/>
              </a:rPr>
              <a:t>       | [ { PRIMARY KEY | UNIQUE } [ ,...] ]</a:t>
            </a:r>
            <a:endParaRPr lang="en-US" altLang="zh-CN" sz="2400" dirty="0">
              <a:solidFill>
                <a:srgbClr val="000099"/>
              </a:solidFill>
              <a:latin typeface="Arial" panose="020B0604020202020204" pitchFamily="34" charset="0"/>
              <a:ea typeface="宋体" panose="02010600030101010101" pitchFamily="2" charset="-122"/>
            </a:endParaRPr>
          </a:p>
          <a:p>
            <a:pPr marL="342900" indent="-342900">
              <a:lnSpc>
                <a:spcPct val="90000"/>
              </a:lnSpc>
              <a:buClr>
                <a:srgbClr val="0033CC"/>
              </a:buClr>
              <a:buSzPct val="80000"/>
            </a:pPr>
            <a:r>
              <a:rPr lang="en-US" altLang="zh-CN" sz="2400" dirty="0">
                <a:solidFill>
                  <a:srgbClr val="000099"/>
                </a:solidFill>
                <a:latin typeface="Arial" panose="020B0604020202020204" pitchFamily="34" charset="0"/>
                <a:ea typeface="宋体" panose="02010600030101010101" pitchFamily="2" charset="-122"/>
              </a:rPr>
              <a:t>     )    [ON {filegroup| DEFAULT}]</a:t>
            </a:r>
            <a:endParaRPr lang="en-US" altLang="zh-CN" sz="2400" dirty="0">
              <a:solidFill>
                <a:srgbClr val="000099"/>
              </a:solidFill>
              <a:latin typeface="Arial" panose="020B0604020202020204" pitchFamily="34" charset="0"/>
              <a:ea typeface="宋体" panose="02010600030101010101" pitchFamily="2" charset="-122"/>
            </a:endParaRPr>
          </a:p>
          <a:p>
            <a:pPr marL="342900" indent="-342900">
              <a:lnSpc>
                <a:spcPct val="25000"/>
              </a:lnSpc>
              <a:buClr>
                <a:srgbClr val="0033CC"/>
              </a:buClr>
              <a:buSzPct val="80000"/>
            </a:pPr>
            <a:endParaRPr lang="en-US" altLang="zh-CN" sz="2400" dirty="0">
              <a:solidFill>
                <a:srgbClr val="000099"/>
              </a:solidFill>
              <a:latin typeface="Arial" panose="020B0604020202020204" pitchFamily="34" charset="0"/>
              <a:ea typeface="宋体" panose="02010600030101010101" pitchFamily="2" charset="-122"/>
            </a:endParaRPr>
          </a:p>
          <a:p>
            <a:pPr marL="342900" indent="-342900">
              <a:lnSpc>
                <a:spcPct val="95000"/>
              </a:lnSpc>
              <a:buClr>
                <a:srgbClr val="0033CC"/>
              </a:buClr>
              <a:buSzPct val="80000"/>
            </a:pPr>
            <a:r>
              <a:rPr lang="en-US" altLang="zh-CN" sz="2400" dirty="0">
                <a:solidFill>
                  <a:srgbClr val="000099"/>
                </a:solidFill>
                <a:latin typeface="Arial" panose="020B0604020202020204" pitchFamily="34" charset="0"/>
                <a:ea typeface="宋体" panose="02010600030101010101" pitchFamily="2" charset="-122"/>
              </a:rPr>
              <a:t>&lt;</a:t>
            </a:r>
            <a:r>
              <a:rPr lang="zh-CN" altLang="en-US" sz="2400" dirty="0">
                <a:solidFill>
                  <a:srgbClr val="000099"/>
                </a:solidFill>
                <a:latin typeface="Arial" panose="020B0604020202020204" pitchFamily="34" charset="0"/>
                <a:ea typeface="宋体" panose="02010600030101010101" pitchFamily="2" charset="-122"/>
              </a:rPr>
              <a:t>列定义</a:t>
            </a:r>
            <a:r>
              <a:rPr lang="en-US" altLang="zh-CN" sz="2400" dirty="0">
                <a:solidFill>
                  <a:srgbClr val="000099"/>
                </a:solidFill>
                <a:latin typeface="Arial" panose="020B0604020202020204" pitchFamily="34" charset="0"/>
                <a:ea typeface="宋体" panose="02010600030101010101" pitchFamily="2" charset="-122"/>
              </a:rPr>
              <a:t>&gt; ::= </a:t>
            </a:r>
            <a:endParaRPr lang="en-US" altLang="zh-CN" sz="2400" dirty="0">
              <a:solidFill>
                <a:srgbClr val="000099"/>
              </a:solidFill>
              <a:latin typeface="Arial" panose="020B0604020202020204" pitchFamily="34" charset="0"/>
              <a:ea typeface="宋体" panose="02010600030101010101" pitchFamily="2" charset="-122"/>
            </a:endParaRPr>
          </a:p>
          <a:p>
            <a:pPr marL="342900" indent="-342900">
              <a:lnSpc>
                <a:spcPct val="95000"/>
              </a:lnSpc>
              <a:buClr>
                <a:srgbClr val="0033CC"/>
              </a:buClr>
              <a:buSzPct val="80000"/>
            </a:pPr>
            <a:r>
              <a:rPr lang="en-US" altLang="zh-CN" sz="2400" dirty="0">
                <a:solidFill>
                  <a:srgbClr val="000099"/>
                </a:solidFill>
                <a:latin typeface="Arial" panose="020B0604020202020204" pitchFamily="34" charset="0"/>
                <a:ea typeface="宋体" panose="02010600030101010101" pitchFamily="2" charset="-122"/>
              </a:rPr>
              <a:t>   {  &lt;</a:t>
            </a:r>
            <a:r>
              <a:rPr lang="zh-CN" altLang="en-US" sz="2400" dirty="0">
                <a:solidFill>
                  <a:srgbClr val="000099"/>
                </a:solidFill>
                <a:latin typeface="Arial" panose="020B0604020202020204" pitchFamily="34" charset="0"/>
                <a:ea typeface="宋体" panose="02010600030101010101" pitchFamily="2" charset="-122"/>
              </a:rPr>
              <a:t>列名</a:t>
            </a:r>
            <a:r>
              <a:rPr lang="en-US" altLang="zh-CN" sz="2400" dirty="0">
                <a:solidFill>
                  <a:srgbClr val="000099"/>
                </a:solidFill>
                <a:latin typeface="Arial" panose="020B0604020202020204" pitchFamily="34" charset="0"/>
                <a:ea typeface="宋体" panose="02010600030101010101" pitchFamily="2" charset="-122"/>
              </a:rPr>
              <a:t>&gt; &lt;</a:t>
            </a:r>
            <a:r>
              <a:rPr lang="zh-CN" altLang="en-US" sz="2400" dirty="0">
                <a:solidFill>
                  <a:srgbClr val="000099"/>
                </a:solidFill>
                <a:latin typeface="Arial" panose="020B0604020202020204" pitchFamily="34" charset="0"/>
                <a:ea typeface="宋体" panose="02010600030101010101" pitchFamily="2" charset="-122"/>
              </a:rPr>
              <a:t>列类型</a:t>
            </a:r>
            <a:r>
              <a:rPr lang="en-US" altLang="zh-CN" sz="2400" dirty="0">
                <a:solidFill>
                  <a:srgbClr val="000099"/>
                </a:solidFill>
                <a:latin typeface="Arial" panose="020B0604020202020204" pitchFamily="34" charset="0"/>
                <a:ea typeface="宋体" panose="02010600030101010101" pitchFamily="2" charset="-122"/>
              </a:rPr>
              <a:t>&gt; [NULL|NOT NULL]  }</a:t>
            </a:r>
            <a:endParaRPr lang="en-US" altLang="zh-CN" sz="2400" dirty="0">
              <a:solidFill>
                <a:srgbClr val="000099"/>
              </a:solidFill>
              <a:latin typeface="Arial" panose="020B0604020202020204" pitchFamily="34" charset="0"/>
              <a:ea typeface="宋体" panose="02010600030101010101" pitchFamily="2" charset="-122"/>
            </a:endParaRPr>
          </a:p>
          <a:p>
            <a:pPr marL="342900" indent="-342900">
              <a:lnSpc>
                <a:spcPct val="95000"/>
              </a:lnSpc>
              <a:buClr>
                <a:srgbClr val="0033CC"/>
              </a:buClr>
              <a:buSzPct val="80000"/>
            </a:pPr>
            <a:r>
              <a:rPr lang="en-US" altLang="zh-CN" sz="2400" dirty="0">
                <a:solidFill>
                  <a:srgbClr val="000099"/>
                </a:solidFill>
                <a:latin typeface="Arial" panose="020B0604020202020204" pitchFamily="34" charset="0"/>
                <a:ea typeface="宋体" panose="02010600030101010101" pitchFamily="2" charset="-122"/>
              </a:rPr>
              <a:t>   [ [ DEFAULT </a:t>
            </a:r>
            <a:r>
              <a:rPr lang="zh-CN" altLang="en-US" sz="2400" dirty="0">
                <a:solidFill>
                  <a:srgbClr val="000099"/>
                </a:solidFill>
                <a:latin typeface="Arial" panose="020B0604020202020204" pitchFamily="34" charset="0"/>
                <a:ea typeface="宋体" panose="02010600030101010101" pitchFamily="2" charset="-122"/>
              </a:rPr>
              <a:t>常数表达式</a:t>
            </a:r>
            <a:r>
              <a:rPr lang="en-US" altLang="zh-CN" sz="2400" dirty="0">
                <a:solidFill>
                  <a:srgbClr val="000099"/>
                </a:solidFill>
                <a:latin typeface="Arial" panose="020B0604020202020204" pitchFamily="34" charset="0"/>
                <a:ea typeface="宋体" panose="02010600030101010101" pitchFamily="2" charset="-122"/>
              </a:rPr>
              <a:t>]</a:t>
            </a:r>
            <a:endParaRPr lang="en-US" altLang="zh-CN" sz="2400" dirty="0">
              <a:solidFill>
                <a:srgbClr val="000099"/>
              </a:solidFill>
              <a:latin typeface="Arial" panose="020B0604020202020204" pitchFamily="34" charset="0"/>
              <a:ea typeface="宋体" panose="02010600030101010101" pitchFamily="2" charset="-122"/>
            </a:endParaRPr>
          </a:p>
          <a:p>
            <a:pPr marL="342900" indent="-342900">
              <a:lnSpc>
                <a:spcPct val="95000"/>
              </a:lnSpc>
              <a:buClr>
                <a:srgbClr val="0033CC"/>
              </a:buClr>
              <a:buSzPct val="80000"/>
            </a:pPr>
            <a:r>
              <a:rPr lang="en-US" altLang="zh-CN" sz="2400" dirty="0">
                <a:solidFill>
                  <a:srgbClr val="000099"/>
                </a:solidFill>
                <a:latin typeface="Arial" panose="020B0604020202020204" pitchFamily="34" charset="0"/>
                <a:ea typeface="宋体" panose="02010600030101010101" pitchFamily="2" charset="-122"/>
              </a:rPr>
              <a:t>   | [ IDENTITY [ ( </a:t>
            </a:r>
            <a:r>
              <a:rPr lang="zh-CN" altLang="en-US" sz="2400" dirty="0">
                <a:solidFill>
                  <a:srgbClr val="000099"/>
                </a:solidFill>
                <a:latin typeface="Arial" panose="020B0604020202020204" pitchFamily="34" charset="0"/>
                <a:ea typeface="宋体" panose="02010600030101010101" pitchFamily="2" charset="-122"/>
              </a:rPr>
              <a:t>初值</a:t>
            </a:r>
            <a:r>
              <a:rPr lang="zh-CN" altLang="en-US" sz="2400" i="1" dirty="0">
                <a:solidFill>
                  <a:srgbClr val="000099"/>
                </a:solidFill>
                <a:latin typeface="Arial" panose="020B0604020202020204" pitchFamily="34" charset="0"/>
                <a:ea typeface="宋体" panose="02010600030101010101" pitchFamily="2" charset="-122"/>
              </a:rPr>
              <a:t> </a:t>
            </a:r>
            <a:r>
              <a:rPr lang="en-US" altLang="zh-CN" sz="2400" dirty="0">
                <a:solidFill>
                  <a:srgbClr val="000099"/>
                </a:solidFill>
                <a:latin typeface="Arial" panose="020B0604020202020204" pitchFamily="34" charset="0"/>
                <a:ea typeface="宋体" panose="02010600030101010101" pitchFamily="2" charset="-122"/>
              </a:rPr>
              <a:t>, </a:t>
            </a:r>
            <a:r>
              <a:rPr lang="zh-CN" altLang="en-US" sz="2400" dirty="0">
                <a:solidFill>
                  <a:srgbClr val="000099"/>
                </a:solidFill>
                <a:latin typeface="Arial" panose="020B0604020202020204" pitchFamily="34" charset="0"/>
                <a:ea typeface="宋体" panose="02010600030101010101" pitchFamily="2" charset="-122"/>
              </a:rPr>
              <a:t>步长 </a:t>
            </a:r>
            <a:r>
              <a:rPr lang="en-US" altLang="zh-CN" sz="2400" dirty="0">
                <a:solidFill>
                  <a:srgbClr val="000099"/>
                </a:solidFill>
                <a:latin typeface="Arial" panose="020B0604020202020204" pitchFamily="34" charset="0"/>
                <a:ea typeface="宋体" panose="02010600030101010101" pitchFamily="2" charset="-122"/>
              </a:rPr>
              <a:t>) [ NOT FOR    </a:t>
            </a:r>
            <a:endParaRPr lang="en-US" altLang="zh-CN" sz="2400" dirty="0">
              <a:solidFill>
                <a:srgbClr val="000099"/>
              </a:solidFill>
              <a:latin typeface="Arial" panose="020B0604020202020204" pitchFamily="34" charset="0"/>
              <a:ea typeface="宋体" panose="02010600030101010101" pitchFamily="2" charset="-122"/>
            </a:endParaRPr>
          </a:p>
          <a:p>
            <a:pPr marL="342900" indent="-342900">
              <a:lnSpc>
                <a:spcPct val="95000"/>
              </a:lnSpc>
              <a:buClr>
                <a:srgbClr val="0033CC"/>
              </a:buClr>
              <a:buSzPct val="80000"/>
            </a:pPr>
            <a:r>
              <a:rPr lang="en-US" altLang="zh-CN" sz="2400" dirty="0">
                <a:solidFill>
                  <a:srgbClr val="000099"/>
                </a:solidFill>
                <a:latin typeface="Arial" panose="020B0604020202020204" pitchFamily="34" charset="0"/>
                <a:ea typeface="宋体" panose="02010600030101010101" pitchFamily="2" charset="-122"/>
              </a:rPr>
              <a:t>       REPLICATION ] ] ] </a:t>
            </a:r>
            <a:endParaRPr lang="en-US" altLang="zh-CN" sz="2400" dirty="0">
              <a:solidFill>
                <a:srgbClr val="000099"/>
              </a:solidFill>
              <a:latin typeface="Arial" panose="020B0604020202020204" pitchFamily="34" charset="0"/>
              <a:ea typeface="宋体" panose="02010600030101010101" pitchFamily="2" charset="-122"/>
            </a:endParaRPr>
          </a:p>
          <a:p>
            <a:pPr marL="342900" indent="-342900">
              <a:lnSpc>
                <a:spcPct val="95000"/>
              </a:lnSpc>
              <a:buClr>
                <a:srgbClr val="0033CC"/>
              </a:buClr>
              <a:buSzPct val="80000"/>
            </a:pPr>
            <a:r>
              <a:rPr lang="en-US" altLang="zh-CN" sz="2400" dirty="0">
                <a:solidFill>
                  <a:srgbClr val="000099"/>
                </a:solidFill>
                <a:latin typeface="Arial" panose="020B0604020202020204" pitchFamily="34" charset="0"/>
                <a:ea typeface="宋体" panose="02010600030101010101" pitchFamily="2" charset="-122"/>
              </a:rPr>
              <a:t>     [ ROWGUIDCOL]</a:t>
            </a:r>
            <a:endParaRPr lang="en-US" altLang="zh-CN" sz="2400" dirty="0">
              <a:solidFill>
                <a:srgbClr val="000099"/>
              </a:solidFill>
              <a:latin typeface="Arial" panose="020B0604020202020204" pitchFamily="34" charset="0"/>
              <a:ea typeface="宋体" panose="02010600030101010101" pitchFamily="2" charset="-122"/>
            </a:endParaRPr>
          </a:p>
          <a:p>
            <a:pPr marL="342900" indent="-342900">
              <a:lnSpc>
                <a:spcPct val="95000"/>
              </a:lnSpc>
              <a:buClr>
                <a:srgbClr val="0033CC"/>
              </a:buClr>
              <a:buSzPct val="80000"/>
            </a:pPr>
            <a:r>
              <a:rPr lang="en-US" altLang="zh-CN" sz="2400" dirty="0">
                <a:solidFill>
                  <a:srgbClr val="000099"/>
                </a:solidFill>
                <a:latin typeface="Arial" panose="020B0604020202020204" pitchFamily="34" charset="0"/>
                <a:ea typeface="宋体" panose="02010600030101010101" pitchFamily="2" charset="-122"/>
              </a:rPr>
              <a:t>     [ </a:t>
            </a:r>
            <a:r>
              <a:rPr lang="en-US" altLang="zh-CN" sz="2400" dirty="0">
                <a:solidFill>
                  <a:srgbClr val="CC0000"/>
                </a:solidFill>
                <a:latin typeface="Arial" panose="020B0604020202020204" pitchFamily="34" charset="0"/>
                <a:ea typeface="宋体" panose="02010600030101010101" pitchFamily="2" charset="-122"/>
              </a:rPr>
              <a:t>&lt; </a:t>
            </a:r>
            <a:r>
              <a:rPr lang="zh-CN" altLang="en-US" sz="2400" dirty="0">
                <a:solidFill>
                  <a:srgbClr val="CC0000"/>
                </a:solidFill>
                <a:latin typeface="Arial" panose="020B0604020202020204" pitchFamily="34" charset="0"/>
                <a:ea typeface="宋体" panose="02010600030101010101" pitchFamily="2" charset="-122"/>
              </a:rPr>
              <a:t>列级约束 </a:t>
            </a:r>
            <a:r>
              <a:rPr lang="en-US" altLang="zh-CN" sz="2400" dirty="0">
                <a:solidFill>
                  <a:srgbClr val="CC0000"/>
                </a:solidFill>
                <a:latin typeface="Arial" panose="020B0604020202020204" pitchFamily="34" charset="0"/>
                <a:ea typeface="宋体" panose="02010600030101010101" pitchFamily="2" charset="-122"/>
              </a:rPr>
              <a:t>&gt;</a:t>
            </a:r>
            <a:r>
              <a:rPr lang="en-US" altLang="zh-CN" sz="2400" dirty="0">
                <a:solidFill>
                  <a:srgbClr val="000099"/>
                </a:solidFill>
                <a:latin typeface="Arial" panose="020B0604020202020204" pitchFamily="34" charset="0"/>
                <a:ea typeface="宋体" panose="02010600030101010101" pitchFamily="2" charset="-122"/>
              </a:rPr>
              <a:t> ] [ ...</a:t>
            </a:r>
            <a:r>
              <a:rPr lang="en-US" altLang="zh-CN" sz="2400" i="1" dirty="0">
                <a:solidFill>
                  <a:srgbClr val="000099"/>
                </a:solidFill>
                <a:latin typeface="Arial" panose="020B0604020202020204" pitchFamily="34" charset="0"/>
                <a:ea typeface="宋体" panose="02010600030101010101" pitchFamily="2" charset="-122"/>
              </a:rPr>
              <a:t> </a:t>
            </a:r>
            <a:r>
              <a:rPr lang="en-US" altLang="zh-CN" sz="2400" dirty="0">
                <a:solidFill>
                  <a:srgbClr val="000099"/>
                </a:solidFill>
                <a:latin typeface="Arial" panose="020B0604020202020204" pitchFamily="34" charset="0"/>
                <a:ea typeface="宋体" panose="02010600030101010101" pitchFamily="2" charset="-122"/>
              </a:rPr>
              <a:t>]	</a:t>
            </a:r>
            <a:endParaRPr lang="en-US" altLang="zh-CN" sz="2400" dirty="0">
              <a:latin typeface="Arial" panose="020B0604020202020204" pitchFamily="34" charset="0"/>
              <a:ea typeface="宋体" panose="02010600030101010101" pitchFamily="2" charset="-122"/>
            </a:endParaRPr>
          </a:p>
        </p:txBody>
      </p:sp>
      <p:sp>
        <p:nvSpPr>
          <p:cNvPr id="18439" name="AutoShape 7"/>
          <p:cNvSpPr/>
          <p:nvPr/>
        </p:nvSpPr>
        <p:spPr>
          <a:xfrm>
            <a:off x="5795963" y="4895850"/>
            <a:ext cx="3000375" cy="1328738"/>
          </a:xfrm>
          <a:prstGeom prst="flowChartAlternateProcess">
            <a:avLst/>
          </a:prstGeom>
          <a:solidFill>
            <a:srgbClr val="FFDFFF"/>
          </a:solidFill>
          <a:ln w="9525" cap="flat" cmpd="sng">
            <a:solidFill>
              <a:schemeClr val="tx1"/>
            </a:solidFill>
            <a:prstDash val="solid"/>
            <a:miter/>
            <a:headEnd type="none" w="med" len="med"/>
            <a:tailEnd type="none" w="med" len="med"/>
          </a:ln>
        </p:spPr>
        <p:txBody>
          <a:bodyPr anchor="ctr" anchorCtr="0">
            <a:spAutoFit/>
          </a:bodyPr>
          <a:p>
            <a:r>
              <a:rPr lang="zh-CN" altLang="en-US" sz="2400" dirty="0">
                <a:latin typeface="宋体" panose="02010600030101010101" pitchFamily="2" charset="-122"/>
                <a:ea typeface="宋体" panose="02010600030101010101" pitchFamily="2" charset="-122"/>
              </a:rPr>
              <a:t>四大部分：命令主框架；列定义；列级约束；表级约束</a:t>
            </a:r>
            <a:endParaRPr lang="zh-CN" altLang="en-US" sz="2400" dirty="0">
              <a:latin typeface="宋体" panose="02010600030101010101" pitchFamily="2" charset="-122"/>
              <a:ea typeface="宋体" panose="02010600030101010101" pitchFamily="2" charset="-122"/>
            </a:endParaRPr>
          </a:p>
        </p:txBody>
      </p:sp>
      <p:sp>
        <p:nvSpPr>
          <p:cNvPr id="18440" name="Rectangle 9"/>
          <p:cNvSpPr/>
          <p:nvPr/>
        </p:nvSpPr>
        <p:spPr>
          <a:xfrm>
            <a:off x="1268413" y="5805488"/>
            <a:ext cx="2057400" cy="304800"/>
          </a:xfrm>
          <a:prstGeom prst="rect">
            <a:avLst/>
          </a:prstGeom>
          <a:solidFill>
            <a:srgbClr val="CC0000">
              <a:alpha val="50000"/>
            </a:srgbClr>
          </a:solidFill>
          <a:ln w="9525">
            <a:noFill/>
          </a:ln>
        </p:spPr>
        <p:txBody>
          <a:bodyPr wrap="none" anchor="ctr" anchorCtr="0"/>
          <a:p>
            <a:pPr>
              <a:lnSpc>
                <a:spcPct val="135000"/>
              </a:lnSpc>
              <a:buFont typeface="Arial" panose="020B0604020202020204" pitchFamily="34" charset="0"/>
              <a:buChar char="•"/>
            </a:pPr>
            <a:endParaRPr lang="zh-CN" altLang="en-US" dirty="0">
              <a:latin typeface="Arial" panose="020B0604020202020204" pitchFamily="34" charset="0"/>
              <a:ea typeface="宋体" panose="02010600030101010101" pitchFamily="2" charset="-122"/>
            </a:endParaRPr>
          </a:p>
        </p:txBody>
      </p:sp>
      <p:sp>
        <p:nvSpPr>
          <p:cNvPr id="18441" name="Rectangle 10"/>
          <p:cNvSpPr/>
          <p:nvPr/>
        </p:nvSpPr>
        <p:spPr>
          <a:xfrm>
            <a:off x="1360488" y="2525713"/>
            <a:ext cx="1905000" cy="381000"/>
          </a:xfrm>
          <a:prstGeom prst="rect">
            <a:avLst/>
          </a:prstGeom>
          <a:solidFill>
            <a:srgbClr val="CC0000">
              <a:alpha val="50000"/>
            </a:srgbClr>
          </a:solidFill>
          <a:ln w="9525">
            <a:noFill/>
          </a:ln>
        </p:spPr>
        <p:txBody>
          <a:bodyPr wrap="none" anchor="ctr" anchorCtr="0"/>
          <a:p>
            <a:pPr>
              <a:lnSpc>
                <a:spcPct val="135000"/>
              </a:lnSpc>
              <a:buFont typeface="Arial" panose="020B0604020202020204" pitchFamily="34" charset="0"/>
              <a:buChar char="•"/>
            </a:pPr>
            <a:endParaRPr lang="zh-CN" altLang="en-US" dirty="0">
              <a:latin typeface="Arial" panose="020B0604020202020204" pitchFamily="34" charset="0"/>
              <a:ea typeface="宋体" panose="02010600030101010101" pitchFamily="2" charset="-122"/>
            </a:endParaRPr>
          </a:p>
        </p:txBody>
      </p:sp>
      <p:sp>
        <p:nvSpPr>
          <p:cNvPr id="18442" name="Rectangle 11"/>
          <p:cNvSpPr/>
          <p:nvPr/>
        </p:nvSpPr>
        <p:spPr>
          <a:xfrm>
            <a:off x="511175" y="3659188"/>
            <a:ext cx="1905000" cy="381000"/>
          </a:xfrm>
          <a:prstGeom prst="rect">
            <a:avLst/>
          </a:prstGeom>
          <a:solidFill>
            <a:srgbClr val="FF9933">
              <a:alpha val="37000"/>
            </a:srgbClr>
          </a:solidFill>
          <a:ln w="9525">
            <a:noFill/>
          </a:ln>
        </p:spPr>
        <p:txBody>
          <a:bodyPr wrap="none" anchor="ctr" anchorCtr="0"/>
          <a:p>
            <a:pPr>
              <a:lnSpc>
                <a:spcPct val="135000"/>
              </a:lnSpc>
              <a:buFont typeface="Arial" panose="020B0604020202020204" pitchFamily="34" charset="0"/>
              <a:buChar char="•"/>
            </a:pPr>
            <a:endParaRPr lang="zh-CN" altLang="en-US" dirty="0">
              <a:latin typeface="Arial" panose="020B0604020202020204" pitchFamily="34" charset="0"/>
              <a:ea typeface="宋体" panose="02010600030101010101" pitchFamily="2" charset="-122"/>
            </a:endParaRPr>
          </a:p>
        </p:txBody>
      </p:sp>
      <p:sp>
        <p:nvSpPr>
          <p:cNvPr id="18443" name="Rectangle 12"/>
          <p:cNvSpPr/>
          <p:nvPr/>
        </p:nvSpPr>
        <p:spPr>
          <a:xfrm>
            <a:off x="442913" y="4106863"/>
            <a:ext cx="7561262" cy="2105025"/>
          </a:xfrm>
          <a:prstGeom prst="rect">
            <a:avLst/>
          </a:prstGeom>
          <a:solidFill>
            <a:srgbClr val="FFFFCC"/>
          </a:solidFill>
          <a:ln w="9525" cap="flat" cmpd="sng">
            <a:solidFill>
              <a:schemeClr val="tx1"/>
            </a:solidFill>
            <a:prstDash val="solid"/>
            <a:miter/>
            <a:headEnd type="none" w="med" len="med"/>
            <a:tailEnd type="none" w="med" len="med"/>
          </a:ln>
        </p:spPr>
        <p:txBody>
          <a:bodyPr wrap="none" lIns="90000" tIns="46800" rIns="90000" bIns="46800" anchor="ctr" anchorCtr="0"/>
          <a:p>
            <a:pPr>
              <a:lnSpc>
                <a:spcPct val="110000"/>
              </a:lnSpc>
            </a:pPr>
            <a:r>
              <a:rPr lang="en-US" altLang="zh-CN" sz="2400" dirty="0">
                <a:latin typeface="宋体" panose="02010600030101010101" pitchFamily="2" charset="-122"/>
                <a:ea typeface="宋体" panose="02010600030101010101" pitchFamily="2" charset="-122"/>
              </a:rPr>
              <a:t>&lt;</a:t>
            </a:r>
            <a:r>
              <a:rPr lang="zh-CN" altLang="en-US" sz="2400" dirty="0">
                <a:latin typeface="宋体" panose="02010600030101010101" pitchFamily="2" charset="-122"/>
                <a:ea typeface="宋体" panose="02010600030101010101" pitchFamily="2" charset="-122"/>
              </a:rPr>
              <a:t>表级约束</a:t>
            </a:r>
            <a:r>
              <a:rPr lang="en-US" altLang="zh-CN" sz="2400" dirty="0">
                <a:latin typeface="宋体" panose="02010600030101010101" pitchFamily="2" charset="-122"/>
                <a:ea typeface="宋体" panose="02010600030101010101" pitchFamily="2" charset="-122"/>
              </a:rPr>
              <a:t>&gt; ::= [CONSTRAINT </a:t>
            </a:r>
            <a:r>
              <a:rPr lang="zh-CN" altLang="en-US" sz="2400" dirty="0">
                <a:latin typeface="宋体" panose="02010600030101010101" pitchFamily="2" charset="-122"/>
                <a:ea typeface="宋体" panose="02010600030101010101" pitchFamily="2" charset="-122"/>
              </a:rPr>
              <a:t>约束名</a:t>
            </a:r>
            <a:r>
              <a:rPr lang="en-US" altLang="zh-CN" sz="2400" dirty="0">
                <a:latin typeface="宋体" panose="02010600030101010101" pitchFamily="2" charset="-122"/>
                <a:ea typeface="宋体" panose="02010600030101010101" pitchFamily="2" charset="-122"/>
              </a:rPr>
              <a:t>]</a:t>
            </a:r>
            <a:endParaRPr lang="en-US" altLang="zh-CN" sz="2400" dirty="0">
              <a:latin typeface="宋体" panose="02010600030101010101" pitchFamily="2" charset="-122"/>
              <a:ea typeface="宋体" panose="02010600030101010101" pitchFamily="2" charset="-122"/>
            </a:endParaRPr>
          </a:p>
          <a:p>
            <a:pPr>
              <a:lnSpc>
                <a:spcPct val="110000"/>
              </a:lnSpc>
            </a:pPr>
            <a:r>
              <a:rPr lang="en-US" altLang="zh-CN" sz="2400" dirty="0">
                <a:latin typeface="宋体" panose="02010600030101010101" pitchFamily="2" charset="-122"/>
                <a:ea typeface="宋体" panose="02010600030101010101" pitchFamily="2" charset="-122"/>
              </a:rPr>
              <a:t>   {[FOREIGN KEY [</a:t>
            </a:r>
            <a:r>
              <a:rPr lang="zh-CN" altLang="en-US" sz="2400" dirty="0">
                <a:latin typeface="宋体" panose="02010600030101010101" pitchFamily="2" charset="-122"/>
                <a:ea typeface="宋体" panose="02010600030101010101" pitchFamily="2" charset="-122"/>
              </a:rPr>
              <a:t>（列名</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a:t>
            </a:r>
            <a:endParaRPr lang="en-US" altLang="zh-CN" sz="2400" dirty="0">
              <a:latin typeface="宋体" panose="02010600030101010101" pitchFamily="2" charset="-122"/>
              <a:ea typeface="宋体" panose="02010600030101010101" pitchFamily="2" charset="-122"/>
            </a:endParaRPr>
          </a:p>
          <a:p>
            <a:pPr>
              <a:lnSpc>
                <a:spcPct val="110000"/>
              </a:lnSpc>
            </a:pPr>
            <a:r>
              <a:rPr lang="en-US" altLang="zh-CN" sz="2400" dirty="0">
                <a:latin typeface="宋体" panose="02010600030101010101" pitchFamily="2" charset="-122"/>
                <a:ea typeface="宋体" panose="02010600030101010101" pitchFamily="2" charset="-122"/>
              </a:rPr>
              <a:t>    REFERENCES </a:t>
            </a:r>
            <a:r>
              <a:rPr lang="zh-CN" altLang="en-US" sz="2400" dirty="0">
                <a:latin typeface="宋体" panose="02010600030101010101" pitchFamily="2" charset="-122"/>
                <a:ea typeface="宋体" panose="02010600030101010101" pitchFamily="2" charset="-122"/>
              </a:rPr>
              <a:t>参照表</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（参照列</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a:t>
            </a:r>
            <a:endParaRPr lang="en-US" altLang="zh-CN" sz="2400" dirty="0">
              <a:latin typeface="宋体" panose="02010600030101010101" pitchFamily="2" charset="-122"/>
              <a:ea typeface="宋体" panose="02010600030101010101" pitchFamily="2" charset="-122"/>
            </a:endParaRPr>
          </a:p>
          <a:p>
            <a:pPr>
              <a:lnSpc>
                <a:spcPct val="110000"/>
              </a:lnSpc>
            </a:pPr>
            <a:r>
              <a:rPr lang="en-US" altLang="zh-CN" sz="2400" dirty="0">
                <a:latin typeface="宋体" panose="02010600030101010101" pitchFamily="2" charset="-122"/>
                <a:ea typeface="宋体" panose="02010600030101010101" pitchFamily="2" charset="-122"/>
              </a:rPr>
              <a:t>    [ON DELETE {CASCADE | NO ACTION}]</a:t>
            </a:r>
            <a:endParaRPr lang="en-US" altLang="zh-CN" sz="2400" dirty="0">
              <a:latin typeface="宋体" panose="02010600030101010101" pitchFamily="2" charset="-122"/>
              <a:ea typeface="宋体" panose="02010600030101010101" pitchFamily="2" charset="-122"/>
            </a:endParaRPr>
          </a:p>
          <a:p>
            <a:pPr>
              <a:lnSpc>
                <a:spcPct val="110000"/>
              </a:lnSpc>
            </a:pPr>
            <a:r>
              <a:rPr lang="en-US" altLang="zh-CN" sz="2400" dirty="0">
                <a:latin typeface="宋体" panose="02010600030101010101" pitchFamily="2" charset="-122"/>
                <a:ea typeface="宋体" panose="02010600030101010101" pitchFamily="2" charset="-122"/>
              </a:rPr>
              <a:t>    [ON UPDATE {CASCADE | NO ACTION}]}</a:t>
            </a:r>
            <a:endParaRPr lang="en-US" altLang="zh-CN" sz="2400" dirty="0">
              <a:latin typeface="宋体" panose="02010600030101010101" pitchFamily="2" charset="-122"/>
              <a:ea typeface="宋体" panose="02010600030101010101" pitchFamily="2" charset="-122"/>
            </a:endParaRPr>
          </a:p>
        </p:txBody>
      </p:sp>
      <p:sp>
        <p:nvSpPr>
          <p:cNvPr id="18444" name="AutoShape 8"/>
          <p:cNvSpPr/>
          <p:nvPr/>
        </p:nvSpPr>
        <p:spPr>
          <a:xfrm>
            <a:off x="6618288" y="2079625"/>
            <a:ext cx="2209800" cy="1636713"/>
          </a:xfrm>
          <a:prstGeom prst="wedgeRoundRectCallout">
            <a:avLst>
              <a:gd name="adj1" fmla="val -141250"/>
              <a:gd name="adj2" fmla="val -59000"/>
              <a:gd name="adj3" fmla="val 16667"/>
            </a:avLst>
          </a:prstGeom>
          <a:solidFill>
            <a:srgbClr val="CCFFCC"/>
          </a:solidFill>
          <a:ln w="9525" cap="flat" cmpd="sng">
            <a:solidFill>
              <a:schemeClr val="tx1"/>
            </a:solidFill>
            <a:prstDash val="solid"/>
            <a:miter/>
            <a:headEnd type="none" w="med" len="med"/>
            <a:tailEnd type="none" w="med" len="med"/>
          </a:ln>
        </p:spPr>
        <p:txBody>
          <a:bodyPr anchor="t" anchorCtr="0"/>
          <a:p>
            <a:pPr algn="ctr"/>
            <a:r>
              <a:rPr lang="zh-CN" altLang="en-US" sz="2400" dirty="0">
                <a:latin typeface="宋体" panose="02010600030101010101" pitchFamily="2" charset="-122"/>
                <a:ea typeface="宋体" panose="02010600030101010101" pitchFamily="2" charset="-122"/>
              </a:rPr>
              <a:t>指明该表放在数据库中的哪个文件里，默认时为主文件</a:t>
            </a:r>
            <a:endParaRPr lang="zh-CN" altLang="en-US" sz="2400" dirty="0">
              <a:latin typeface="宋体" panose="02010600030101010101" pitchFamily="2" charset="-122"/>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18439"/>
                                        </p:tgtEl>
                                        <p:attrNameLst>
                                          <p:attrName>style.visibility</p:attrName>
                                        </p:attrNameLst>
                                      </p:cBhvr>
                                      <p:to>
                                        <p:strVal val="visible"/>
                                      </p:to>
                                    </p:set>
                                    <p:anim calcmode="lin" valueType="num">
                                      <p:cBhvr>
                                        <p:cTn id="7" dur="500" fill="hold"/>
                                        <p:tgtEl>
                                          <p:spTgt spid="18439"/>
                                        </p:tgtEl>
                                        <p:attrNameLst>
                                          <p:attrName>ppt_w</p:attrName>
                                        </p:attrNameLst>
                                      </p:cBhvr>
                                      <p:tavLst>
                                        <p:tav tm="0">
                                          <p:val>
                                            <p:fltVal val="0.000000"/>
                                          </p:val>
                                        </p:tav>
                                        <p:tav tm="100000">
                                          <p:val>
                                            <p:strVal val="#ppt_w"/>
                                          </p:val>
                                        </p:tav>
                                      </p:tavLst>
                                    </p:anim>
                                    <p:anim calcmode="lin" valueType="num">
                                      <p:cBhvr>
                                        <p:cTn id="8" dur="500" fill="hold"/>
                                        <p:tgtEl>
                                          <p:spTgt spid="18439"/>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18436"/>
                                        </p:tgtEl>
                                        <p:attrNameLst>
                                          <p:attrName>style.visibility</p:attrName>
                                        </p:attrNameLst>
                                      </p:cBhvr>
                                      <p:to>
                                        <p:strVal val="visible"/>
                                      </p:to>
                                    </p:set>
                                    <p:animEffect transition="in" filter="dissolve">
                                      <p:cBhvr>
                                        <p:cTn id="13" dur="500"/>
                                        <p:tgtEl>
                                          <p:spTgt spid="18436"/>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8437"/>
                                        </p:tgtEl>
                                        <p:attrNameLst>
                                          <p:attrName>style.visibility</p:attrName>
                                        </p:attrNameLst>
                                      </p:cBhvr>
                                      <p:to>
                                        <p:strVal val="visible"/>
                                      </p:to>
                                    </p:set>
                                    <p:anim calcmode="lin" valueType="num">
                                      <p:cBhvr>
                                        <p:cTn id="18" dur="500" fill="hold"/>
                                        <p:tgtEl>
                                          <p:spTgt spid="18437"/>
                                        </p:tgtEl>
                                        <p:attrNameLst>
                                          <p:attrName>ppt_w</p:attrName>
                                        </p:attrNameLst>
                                      </p:cBhvr>
                                      <p:tavLst>
                                        <p:tav tm="0">
                                          <p:val>
                                            <p:fltVal val="0.000000"/>
                                          </p:val>
                                        </p:tav>
                                        <p:tav tm="100000">
                                          <p:val>
                                            <p:strVal val="#ppt_w"/>
                                          </p:val>
                                        </p:tav>
                                      </p:tavLst>
                                    </p:anim>
                                    <p:anim calcmode="lin" valueType="num">
                                      <p:cBhvr>
                                        <p:cTn id="19" dur="500" fill="hold"/>
                                        <p:tgtEl>
                                          <p:spTgt spid="18437"/>
                                        </p:tgtEl>
                                        <p:attrNameLst>
                                          <p:attrName>ppt_h</p:attrName>
                                        </p:attrNameLst>
                                      </p:cBhvr>
                                      <p:tavLst>
                                        <p:tav tm="0">
                                          <p:val>
                                            <p:fltVal val="0.000000"/>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23" presetClass="entr" presetSubtype="16" fill="hold" grpId="0" nodeType="clickEffect">
                                  <p:stCondLst>
                                    <p:cond delay="0"/>
                                  </p:stCondLst>
                                  <p:childTnLst>
                                    <p:set>
                                      <p:cBhvr>
                                        <p:cTn id="23" dur="1" fill="hold">
                                          <p:stCondLst>
                                            <p:cond delay="0"/>
                                          </p:stCondLst>
                                        </p:cTn>
                                        <p:tgtEl>
                                          <p:spTgt spid="18442"/>
                                        </p:tgtEl>
                                        <p:attrNameLst>
                                          <p:attrName>style.visibility</p:attrName>
                                        </p:attrNameLst>
                                      </p:cBhvr>
                                      <p:to>
                                        <p:strVal val="visible"/>
                                      </p:to>
                                    </p:set>
                                    <p:anim calcmode="lin" valueType="num">
                                      <p:cBhvr>
                                        <p:cTn id="24" dur="500" fill="hold"/>
                                        <p:tgtEl>
                                          <p:spTgt spid="18442"/>
                                        </p:tgtEl>
                                        <p:attrNameLst>
                                          <p:attrName>ppt_w</p:attrName>
                                        </p:attrNameLst>
                                      </p:cBhvr>
                                      <p:tavLst>
                                        <p:tav tm="0">
                                          <p:val>
                                            <p:fltVal val="0.000000"/>
                                          </p:val>
                                        </p:tav>
                                        <p:tav tm="100000">
                                          <p:val>
                                            <p:strVal val="#ppt_w"/>
                                          </p:val>
                                        </p:tav>
                                      </p:tavLst>
                                    </p:anim>
                                    <p:anim calcmode="lin" valueType="num">
                                      <p:cBhvr>
                                        <p:cTn id="25" dur="500" fill="hold"/>
                                        <p:tgtEl>
                                          <p:spTgt spid="18442"/>
                                        </p:tgtEl>
                                        <p:attrNameLst>
                                          <p:attrName>ppt_h</p:attrName>
                                        </p:attrNameLst>
                                      </p:cBhvr>
                                      <p:tavLst>
                                        <p:tav tm="0">
                                          <p:val>
                                            <p:fltVal val="0.000000"/>
                                          </p:val>
                                        </p:tav>
                                        <p:tav tm="100000">
                                          <p:val>
                                            <p:strVal val="#ppt_h"/>
                                          </p:val>
                                        </p:tav>
                                      </p:tavLst>
                                    </p:anim>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8440"/>
                                        </p:tgtEl>
                                        <p:attrNameLst>
                                          <p:attrName>style.visibility</p:attrName>
                                        </p:attrNameLst>
                                      </p:cBhvr>
                                      <p:to>
                                        <p:strVal val="visible"/>
                                      </p:to>
                                    </p:set>
                                    <p:anim calcmode="lin" valueType="num">
                                      <p:cBhvr>
                                        <p:cTn id="30" dur="500" fill="hold"/>
                                        <p:tgtEl>
                                          <p:spTgt spid="18440"/>
                                        </p:tgtEl>
                                        <p:attrNameLst>
                                          <p:attrName>ppt_w</p:attrName>
                                        </p:attrNameLst>
                                      </p:cBhvr>
                                      <p:tavLst>
                                        <p:tav tm="0">
                                          <p:val>
                                            <p:fltVal val="0.000000"/>
                                          </p:val>
                                        </p:tav>
                                        <p:tav tm="100000">
                                          <p:val>
                                            <p:strVal val="#ppt_w"/>
                                          </p:val>
                                        </p:tav>
                                      </p:tavLst>
                                    </p:anim>
                                    <p:anim calcmode="lin" valueType="num">
                                      <p:cBhvr>
                                        <p:cTn id="31" dur="500" fill="hold"/>
                                        <p:tgtEl>
                                          <p:spTgt spid="18440"/>
                                        </p:tgtEl>
                                        <p:attrNameLst>
                                          <p:attrName>ppt_h</p:attrName>
                                        </p:attrNameLst>
                                      </p:cBhvr>
                                      <p:tavLst>
                                        <p:tav tm="0">
                                          <p:val>
                                            <p:fltVal val="0.000000"/>
                                          </p:val>
                                        </p:tav>
                                        <p:tav tm="100000">
                                          <p:val>
                                            <p:strVal val="#ppt_h"/>
                                          </p:val>
                                        </p:tav>
                                      </p:tavLst>
                                    </p:anim>
                                  </p:childTnLst>
                                </p:cTn>
                              </p:par>
                            </p:childTnLst>
                          </p:cTn>
                        </p:par>
                      </p:childTnLst>
                    </p:cTn>
                  </p:par>
                  <p:par>
                    <p:cTn id="32" fill="hold">
                      <p:stCondLst>
                        <p:cond delay="indefinite"/>
                      </p:stCondLst>
                      <p:childTnLst>
                        <p:par>
                          <p:cTn id="33" fill="hold">
                            <p:stCondLst>
                              <p:cond delay="0"/>
                            </p:stCondLst>
                            <p:childTnLst>
                              <p:par>
                                <p:cTn id="34" presetID="23" presetClass="entr" presetSubtype="16" fill="hold" grpId="0" nodeType="clickEffect">
                                  <p:stCondLst>
                                    <p:cond delay="0"/>
                                  </p:stCondLst>
                                  <p:childTnLst>
                                    <p:set>
                                      <p:cBhvr>
                                        <p:cTn id="35" dur="1" fill="hold">
                                          <p:stCondLst>
                                            <p:cond delay="0"/>
                                          </p:stCondLst>
                                        </p:cTn>
                                        <p:tgtEl>
                                          <p:spTgt spid="18441"/>
                                        </p:tgtEl>
                                        <p:attrNameLst>
                                          <p:attrName>style.visibility</p:attrName>
                                        </p:attrNameLst>
                                      </p:cBhvr>
                                      <p:to>
                                        <p:strVal val="visible"/>
                                      </p:to>
                                    </p:set>
                                    <p:anim calcmode="lin" valueType="num">
                                      <p:cBhvr>
                                        <p:cTn id="36" dur="500" fill="hold"/>
                                        <p:tgtEl>
                                          <p:spTgt spid="18441"/>
                                        </p:tgtEl>
                                        <p:attrNameLst>
                                          <p:attrName>ppt_w</p:attrName>
                                        </p:attrNameLst>
                                      </p:cBhvr>
                                      <p:tavLst>
                                        <p:tav tm="0">
                                          <p:val>
                                            <p:fltVal val="0.000000"/>
                                          </p:val>
                                        </p:tav>
                                        <p:tav tm="100000">
                                          <p:val>
                                            <p:strVal val="#ppt_w"/>
                                          </p:val>
                                        </p:tav>
                                      </p:tavLst>
                                    </p:anim>
                                    <p:anim calcmode="lin" valueType="num">
                                      <p:cBhvr>
                                        <p:cTn id="37" dur="500" fill="hold"/>
                                        <p:tgtEl>
                                          <p:spTgt spid="18441"/>
                                        </p:tgtEl>
                                        <p:attrNameLst>
                                          <p:attrName>ppt_h</p:attrName>
                                        </p:attrNameLst>
                                      </p:cBhvr>
                                      <p:tavLst>
                                        <p:tav tm="0">
                                          <p:val>
                                            <p:fltVal val="0.000000"/>
                                          </p:val>
                                        </p:tav>
                                        <p:tav tm="100000">
                                          <p:val>
                                            <p:strVal val="#ppt_h"/>
                                          </p:val>
                                        </p:tav>
                                      </p:tavLst>
                                    </p:anim>
                                  </p:childTnLst>
                                </p:cTn>
                              </p:par>
                            </p:childTnLst>
                          </p:cTn>
                        </p:par>
                      </p:childTnLst>
                    </p:cTn>
                  </p:par>
                  <p:par>
                    <p:cTn id="38" fill="hold">
                      <p:stCondLst>
                        <p:cond delay="indefinite"/>
                      </p:stCondLst>
                      <p:childTnLst>
                        <p:par>
                          <p:cTn id="39" fill="hold">
                            <p:stCondLst>
                              <p:cond delay="0"/>
                            </p:stCondLst>
                            <p:childTnLst>
                              <p:par>
                                <p:cTn id="40" presetID="16" presetClass="entr" presetSubtype="26" fill="hold" grpId="0" nodeType="clickEffect">
                                  <p:stCondLst>
                                    <p:cond delay="0"/>
                                  </p:stCondLst>
                                  <p:childTnLst>
                                    <p:set>
                                      <p:cBhvr>
                                        <p:cTn id="41" dur="1" fill="hold">
                                          <p:stCondLst>
                                            <p:cond delay="0"/>
                                          </p:stCondLst>
                                        </p:cTn>
                                        <p:tgtEl>
                                          <p:spTgt spid="18443"/>
                                        </p:tgtEl>
                                        <p:attrNameLst>
                                          <p:attrName>style.visibility</p:attrName>
                                        </p:attrNameLst>
                                      </p:cBhvr>
                                      <p:to>
                                        <p:strVal val="visible"/>
                                      </p:to>
                                    </p:set>
                                    <p:animEffect transition="in" filter="barn(inHorizontal)">
                                      <p:cBhvr>
                                        <p:cTn id="42" dur="500"/>
                                        <p:tgtEl>
                                          <p:spTgt spid="18443"/>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8444"/>
                                        </p:tgtEl>
                                        <p:attrNameLst>
                                          <p:attrName>style.visibility</p:attrName>
                                        </p:attrNameLst>
                                      </p:cBhvr>
                                      <p:to>
                                        <p:strVal val="visible"/>
                                      </p:to>
                                    </p:set>
                                    <p:animEffect transition="in" filter="blinds(horizontal)">
                                      <p:cBhvr>
                                        <p:cTn id="47" dur="500"/>
                                        <p:tgtEl>
                                          <p:spTgt spid="184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6" grpId="0" animBg="1"/>
      <p:bldP spid="18437" grpId="0" animBg="1"/>
      <p:bldP spid="18439" grpId="0" animBg="1"/>
      <p:bldP spid="18440" grpId="0" animBg="1"/>
      <p:bldP spid="18441" grpId="0" animBg="1"/>
      <p:bldP spid="18442" grpId="0" animBg="1"/>
      <p:bldP spid="18443" grpId="0" animBg="1"/>
      <p:bldP spid="18444" grpId="0" bldLvl="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22530" name="矩形 2"/>
          <p:cNvSpPr/>
          <p:nvPr/>
        </p:nvSpPr>
        <p:spPr>
          <a:xfrm>
            <a:off x="542925" y="881063"/>
            <a:ext cx="3248025" cy="944562"/>
          </a:xfrm>
          <a:prstGeom prst="rect">
            <a:avLst/>
          </a:prstGeom>
          <a:noFill/>
          <a:ln w="9525">
            <a:noFill/>
          </a:ln>
        </p:spPr>
        <p:txBody>
          <a:bodyPr wrap="none" anchor="t" anchorCtr="0">
            <a:spAutoFit/>
          </a:bodyPr>
          <a:p>
            <a:r>
              <a:rPr lang="en-US" altLang="zh-CN" sz="2800" dirty="0">
                <a:solidFill>
                  <a:srgbClr val="0033CC"/>
                </a:solidFill>
                <a:latin typeface="黑体" panose="02010609060101010101" pitchFamily="1" charset="-122"/>
                <a:ea typeface="黑体" panose="02010609060101010101" pitchFamily="1" charset="-122"/>
              </a:rPr>
              <a:t>4.</a:t>
            </a:r>
            <a:r>
              <a:rPr lang="zh-CN" altLang="en-US" sz="2800" dirty="0">
                <a:solidFill>
                  <a:srgbClr val="0033CC"/>
                </a:solidFill>
                <a:latin typeface="黑体" panose="02010609060101010101" pitchFamily="1" charset="-122"/>
                <a:ea typeface="黑体" panose="02010609060101010101" pitchFamily="1" charset="-122"/>
              </a:rPr>
              <a:t>定义数据表</a:t>
            </a:r>
            <a:r>
              <a:rPr lang="en-US" altLang="zh-CN" sz="2400" dirty="0">
                <a:solidFill>
                  <a:srgbClr val="FF0000"/>
                </a:solidFill>
                <a:latin typeface="黑体" panose="02010609060101010101" pitchFamily="1" charset="-122"/>
                <a:ea typeface="宋体" panose="02010600030101010101" pitchFamily="2" charset="-122"/>
              </a:rPr>
              <a:t>—</a:t>
            </a:r>
            <a:r>
              <a:rPr lang="zh-CN" altLang="en-US" sz="2400" dirty="0">
                <a:solidFill>
                  <a:srgbClr val="FF0000"/>
                </a:solidFill>
                <a:latin typeface="黑体" panose="02010609060101010101" pitchFamily="1" charset="-122"/>
                <a:ea typeface="宋体" panose="02010600030101010101" pitchFamily="2" charset="-122"/>
              </a:rPr>
              <a:t>创建</a:t>
            </a:r>
            <a:endParaRPr lang="zh-CN" altLang="en-US" sz="2400" dirty="0">
              <a:solidFill>
                <a:srgbClr val="FF0000"/>
              </a:solidFill>
              <a:latin typeface="黑体" panose="02010609060101010101" pitchFamily="1" charset="-122"/>
              <a:ea typeface="宋体" panose="02010600030101010101" pitchFamily="2" charset="-122"/>
            </a:endParaRPr>
          </a:p>
          <a:p>
            <a:endParaRPr lang="zh-CN" altLang="en-US" sz="2800" dirty="0">
              <a:solidFill>
                <a:srgbClr val="0033CC"/>
              </a:solidFill>
              <a:latin typeface="黑体" panose="02010609060101010101" pitchFamily="1" charset="-122"/>
              <a:ea typeface="黑体" panose="02010609060101010101" pitchFamily="1" charset="-122"/>
            </a:endParaRPr>
          </a:p>
        </p:txBody>
      </p:sp>
      <p:pic>
        <p:nvPicPr>
          <p:cNvPr id="22531" name="Picture 2" descr="Ch4-CreateTab"/>
          <p:cNvPicPr>
            <a:picLocks noChangeAspect="1"/>
          </p:cNvPicPr>
          <p:nvPr/>
        </p:nvPicPr>
        <p:blipFill>
          <a:blip r:embed="rId1"/>
          <a:stretch>
            <a:fillRect/>
          </a:stretch>
        </p:blipFill>
        <p:spPr>
          <a:xfrm>
            <a:off x="534988" y="1436688"/>
            <a:ext cx="8051800" cy="4808537"/>
          </a:xfrm>
          <a:prstGeom prst="rect">
            <a:avLst/>
          </a:prstGeom>
          <a:noFill/>
          <a:ln w="9525">
            <a:noFill/>
          </a:ln>
        </p:spPr>
      </p:pic>
      <p:sp>
        <p:nvSpPr>
          <p:cNvPr id="19461" name="AutoShape 3"/>
          <p:cNvSpPr/>
          <p:nvPr/>
        </p:nvSpPr>
        <p:spPr>
          <a:xfrm>
            <a:off x="6537325" y="1306513"/>
            <a:ext cx="1808163" cy="952500"/>
          </a:xfrm>
          <a:prstGeom prst="wedgeRoundRectCallout">
            <a:avLst>
              <a:gd name="adj1" fmla="val -171079"/>
              <a:gd name="adj2" fmla="val 73106"/>
              <a:gd name="adj3" fmla="val 16667"/>
            </a:avLst>
          </a:prstGeom>
          <a:solidFill>
            <a:srgbClr val="FEDCEB"/>
          </a:solidFill>
          <a:ln w="9525" cap="flat" cmpd="sng">
            <a:solidFill>
              <a:srgbClr val="336600"/>
            </a:solidFill>
            <a:prstDash val="solid"/>
            <a:miter/>
            <a:headEnd type="none" w="med" len="med"/>
            <a:tailEnd type="none" w="med" len="med"/>
          </a:ln>
        </p:spPr>
        <p:txBody>
          <a:bodyPr anchor="t" anchorCtr="0"/>
          <a:p>
            <a:r>
              <a:rPr lang="zh-CN" altLang="en-US" sz="2400" dirty="0">
                <a:solidFill>
                  <a:srgbClr val="000099"/>
                </a:solidFill>
                <a:latin typeface="宋体" panose="02010600030101010101" pitchFamily="2" charset="-122"/>
                <a:ea typeface="宋体" panose="02010600030101010101" pitchFamily="2" charset="-122"/>
              </a:rPr>
              <a:t>列级约束，省略约束名</a:t>
            </a:r>
            <a:endParaRPr lang="zh-CN" altLang="en-US" sz="2400" dirty="0">
              <a:solidFill>
                <a:srgbClr val="000099"/>
              </a:solidFill>
              <a:latin typeface="宋体" panose="02010600030101010101" pitchFamily="2" charset="-122"/>
              <a:ea typeface="宋体" panose="02010600030101010101" pitchFamily="2" charset="-122"/>
            </a:endParaRPr>
          </a:p>
        </p:txBody>
      </p:sp>
      <p:sp>
        <p:nvSpPr>
          <p:cNvPr id="19462" name="AutoShape 4"/>
          <p:cNvSpPr/>
          <p:nvPr/>
        </p:nvSpPr>
        <p:spPr>
          <a:xfrm>
            <a:off x="6053138" y="5087938"/>
            <a:ext cx="2190750" cy="590550"/>
          </a:xfrm>
          <a:prstGeom prst="wedgeRoundRectCallout">
            <a:avLst>
              <a:gd name="adj1" fmla="val -97019"/>
              <a:gd name="adj2" fmla="val -194690"/>
              <a:gd name="adj3" fmla="val 16667"/>
            </a:avLst>
          </a:prstGeom>
          <a:solidFill>
            <a:srgbClr val="FEDCEB"/>
          </a:solidFill>
          <a:ln w="9525" cap="flat" cmpd="sng">
            <a:solidFill>
              <a:srgbClr val="336600"/>
            </a:solidFill>
            <a:prstDash val="solid"/>
            <a:miter/>
            <a:headEnd type="none" w="med" len="med"/>
            <a:tailEnd type="none" w="med" len="med"/>
          </a:ln>
        </p:spPr>
        <p:txBody>
          <a:bodyPr anchor="t" anchorCtr="0"/>
          <a:p>
            <a:pPr>
              <a:lnSpc>
                <a:spcPct val="135000"/>
              </a:lnSpc>
            </a:pPr>
            <a:r>
              <a:rPr lang="zh-CN" altLang="en-US" sz="2400" dirty="0">
                <a:solidFill>
                  <a:srgbClr val="000099"/>
                </a:solidFill>
                <a:latin typeface="宋体" panose="02010600030101010101" pitchFamily="2" charset="-122"/>
                <a:ea typeface="宋体" panose="02010600030101010101" pitchFamily="2" charset="-122"/>
              </a:rPr>
              <a:t>表级检查约束</a:t>
            </a:r>
            <a:endParaRPr lang="zh-CN" altLang="en-US" sz="2400" dirty="0">
              <a:solidFill>
                <a:srgbClr val="000099"/>
              </a:solidFill>
              <a:latin typeface="宋体" panose="02010600030101010101" pitchFamily="2" charset="-122"/>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9461"/>
                                        </p:tgtEl>
                                        <p:attrNameLst>
                                          <p:attrName>style.visibility</p:attrName>
                                        </p:attrNameLst>
                                      </p:cBhvr>
                                      <p:to>
                                        <p:strVal val="visible"/>
                                      </p:to>
                                    </p:set>
                                    <p:animEffect transition="in" filter="box(in)">
                                      <p:cBhvr>
                                        <p:cTn id="7" dur="500"/>
                                        <p:tgtEl>
                                          <p:spTgt spid="19461"/>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9462"/>
                                        </p:tgtEl>
                                        <p:attrNameLst>
                                          <p:attrName>style.visibility</p:attrName>
                                        </p:attrNameLst>
                                      </p:cBhvr>
                                      <p:to>
                                        <p:strVal val="visible"/>
                                      </p:to>
                                    </p:set>
                                    <p:animEffect transition="in" filter="box(in)">
                                      <p:cBhvr>
                                        <p:cTn id="12" dur="500"/>
                                        <p:tgtEl>
                                          <p:spTgt spid="194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1" grpId="0" animBg="1"/>
      <p:bldP spid="1946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23554" name="矩形 2"/>
          <p:cNvSpPr/>
          <p:nvPr/>
        </p:nvSpPr>
        <p:spPr>
          <a:xfrm>
            <a:off x="542925" y="881063"/>
            <a:ext cx="3248025" cy="944562"/>
          </a:xfrm>
          <a:prstGeom prst="rect">
            <a:avLst/>
          </a:prstGeom>
          <a:noFill/>
          <a:ln w="9525">
            <a:noFill/>
          </a:ln>
        </p:spPr>
        <p:txBody>
          <a:bodyPr wrap="none" anchor="t" anchorCtr="0">
            <a:spAutoFit/>
          </a:bodyPr>
          <a:p>
            <a:r>
              <a:rPr lang="en-US" altLang="zh-CN" sz="2800" dirty="0">
                <a:solidFill>
                  <a:srgbClr val="0033CC"/>
                </a:solidFill>
                <a:latin typeface="黑体" panose="02010609060101010101" pitchFamily="1" charset="-122"/>
                <a:ea typeface="黑体" panose="02010609060101010101" pitchFamily="1" charset="-122"/>
              </a:rPr>
              <a:t>4.</a:t>
            </a:r>
            <a:r>
              <a:rPr lang="zh-CN" altLang="en-US" sz="2800" dirty="0">
                <a:solidFill>
                  <a:srgbClr val="0033CC"/>
                </a:solidFill>
                <a:latin typeface="黑体" panose="02010609060101010101" pitchFamily="1" charset="-122"/>
                <a:ea typeface="黑体" panose="02010609060101010101" pitchFamily="1" charset="-122"/>
              </a:rPr>
              <a:t>定义数据表</a:t>
            </a:r>
            <a:r>
              <a:rPr lang="en-US" altLang="zh-CN" sz="2400" dirty="0">
                <a:solidFill>
                  <a:srgbClr val="FF0000"/>
                </a:solidFill>
                <a:latin typeface="黑体" panose="02010609060101010101" pitchFamily="1" charset="-122"/>
                <a:ea typeface="宋体" panose="02010600030101010101" pitchFamily="2" charset="-122"/>
              </a:rPr>
              <a:t>—</a:t>
            </a:r>
            <a:r>
              <a:rPr lang="zh-CN" altLang="en-US" sz="2400" dirty="0">
                <a:solidFill>
                  <a:srgbClr val="FF0000"/>
                </a:solidFill>
                <a:latin typeface="黑体" panose="02010609060101010101" pitchFamily="1" charset="-122"/>
                <a:ea typeface="宋体" panose="02010600030101010101" pitchFamily="2" charset="-122"/>
              </a:rPr>
              <a:t>创建</a:t>
            </a:r>
            <a:endParaRPr lang="zh-CN" altLang="en-US" sz="2400" dirty="0">
              <a:solidFill>
                <a:srgbClr val="FF0000"/>
              </a:solidFill>
              <a:latin typeface="黑体" panose="02010609060101010101" pitchFamily="1" charset="-122"/>
              <a:ea typeface="宋体" panose="02010600030101010101" pitchFamily="2" charset="-122"/>
            </a:endParaRPr>
          </a:p>
          <a:p>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23555" name="Rectangle 3"/>
          <p:cNvSpPr txBox="1"/>
          <p:nvPr/>
        </p:nvSpPr>
        <p:spPr>
          <a:xfrm>
            <a:off x="625475" y="1576388"/>
            <a:ext cx="8137525" cy="3394075"/>
          </a:xfrm>
          <a:prstGeom prst="rect">
            <a:avLst/>
          </a:prstGeom>
          <a:noFill/>
          <a:ln w="9525">
            <a:noFill/>
          </a:ln>
        </p:spPr>
        <p:txBody>
          <a:bodyPr anchor="t" anchorCtr="0"/>
          <a:p>
            <a:pPr marL="285750" lvl="1" indent="-95250" defTabSz="914400" eaLnBrk="1" hangingPunct="1">
              <a:lnSpc>
                <a:spcPct val="80000"/>
              </a:lnSpc>
              <a:spcBef>
                <a:spcPct val="20000"/>
              </a:spcBef>
              <a:buClr>
                <a:srgbClr val="FF0000"/>
              </a:buClr>
              <a:buSzPct val="100000"/>
              <a:buFont typeface="Wingdings" panose="05000000000000000000" pitchFamily="2" charset="2"/>
              <a:buChar char="p"/>
              <a:tabLst>
                <a:tab pos="190500" algn="l"/>
              </a:tabLst>
            </a:pPr>
            <a:r>
              <a:rPr lang="zh-CN" altLang="en-US" sz="2800" dirty="0">
                <a:solidFill>
                  <a:srgbClr val="FF0000"/>
                </a:solidFill>
                <a:latin typeface="Arial" panose="020B0604020202020204" pitchFamily="34" charset="0"/>
                <a:ea typeface="宋体" panose="02010600030101010101" pitchFamily="2" charset="-122"/>
              </a:rPr>
              <a:t> 创建带有计算列的关系</a:t>
            </a:r>
            <a:endParaRPr lang="en-US" altLang="zh-CN" sz="2800" dirty="0">
              <a:solidFill>
                <a:srgbClr val="FF0000"/>
              </a:solidFill>
              <a:latin typeface="Arial" panose="020B0604020202020204" pitchFamily="34" charset="0"/>
              <a:ea typeface="宋体" panose="02010600030101010101" pitchFamily="2" charset="-122"/>
            </a:endParaRPr>
          </a:p>
          <a:p>
            <a:pPr marL="285750" lvl="1" indent="-95250" defTabSz="914400" eaLnBrk="1" hangingPunct="1">
              <a:lnSpc>
                <a:spcPct val="120000"/>
              </a:lnSpc>
              <a:spcBef>
                <a:spcPct val="20000"/>
              </a:spcBef>
              <a:buClr>
                <a:schemeClr val="accent2"/>
              </a:buClr>
              <a:buSzPct val="70000"/>
              <a:tabLst>
                <a:tab pos="190500" algn="l"/>
              </a:tabLst>
            </a:pPr>
            <a:r>
              <a:rPr lang="en-US" altLang="zh-CN" sz="2400" dirty="0">
                <a:latin typeface="华文楷体" panose="02010600040101010101" pitchFamily="2" charset="-122"/>
                <a:ea typeface="宋体" panose="02010600030101010101" pitchFamily="2" charset="-122"/>
              </a:rPr>
              <a:t>CREATE TABLE  student</a:t>
            </a:r>
            <a:endParaRPr lang="en-US" altLang="zh-CN" sz="2400" dirty="0">
              <a:latin typeface="华文楷体" panose="02010600040101010101" pitchFamily="2" charset="-122"/>
              <a:ea typeface="宋体" panose="02010600030101010101" pitchFamily="2" charset="-122"/>
            </a:endParaRPr>
          </a:p>
          <a:p>
            <a:pPr marL="285750" lvl="1" indent="-95250" defTabSz="914400" eaLnBrk="1" hangingPunct="1">
              <a:lnSpc>
                <a:spcPct val="80000"/>
              </a:lnSpc>
              <a:spcBef>
                <a:spcPct val="20000"/>
              </a:spcBef>
              <a:buClr>
                <a:schemeClr val="accent2"/>
              </a:buClr>
              <a:buSzPct val="70000"/>
              <a:tabLst>
                <a:tab pos="190500" algn="l"/>
              </a:tabLst>
            </a:pPr>
            <a:r>
              <a:rPr lang="en-US" altLang="zh-CN" sz="2400" dirty="0">
                <a:latin typeface="华文楷体" panose="02010600040101010101" pitchFamily="2" charset="-122"/>
                <a:ea typeface="宋体" panose="02010600030101010101" pitchFamily="2" charset="-122"/>
              </a:rPr>
              <a:t> (  SID char(8) primary key,</a:t>
            </a:r>
            <a:endParaRPr lang="en-US" altLang="zh-CN" sz="2400" dirty="0">
              <a:latin typeface="华文楷体" panose="02010600040101010101" pitchFamily="2" charset="-122"/>
              <a:ea typeface="宋体" panose="02010600030101010101" pitchFamily="2" charset="-122"/>
            </a:endParaRPr>
          </a:p>
          <a:p>
            <a:pPr marL="285750" lvl="1" indent="-95250" defTabSz="914400" eaLnBrk="1" hangingPunct="1">
              <a:lnSpc>
                <a:spcPct val="80000"/>
              </a:lnSpc>
              <a:spcBef>
                <a:spcPct val="20000"/>
              </a:spcBef>
              <a:buClr>
                <a:schemeClr val="accent2"/>
              </a:buClr>
              <a:buSzPct val="70000"/>
              <a:tabLst>
                <a:tab pos="190500" algn="l"/>
              </a:tabLst>
            </a:pPr>
            <a:r>
              <a:rPr lang="en-US" altLang="zh-CN" sz="2400" dirty="0">
                <a:latin typeface="华文楷体" panose="02010600040101010101" pitchFamily="2" charset="-122"/>
                <a:ea typeface="宋体" panose="02010600030101010101" pitchFamily="2" charset="-122"/>
              </a:rPr>
              <a:t>    SName nvarchar(12),</a:t>
            </a:r>
            <a:endParaRPr lang="en-US" altLang="zh-CN" sz="2400" dirty="0">
              <a:latin typeface="华文楷体" panose="02010600040101010101" pitchFamily="2" charset="-122"/>
              <a:ea typeface="宋体" panose="02010600030101010101" pitchFamily="2" charset="-122"/>
            </a:endParaRPr>
          </a:p>
          <a:p>
            <a:pPr marL="285750" lvl="1" indent="-95250" defTabSz="914400" eaLnBrk="1" hangingPunct="1">
              <a:lnSpc>
                <a:spcPct val="80000"/>
              </a:lnSpc>
              <a:spcBef>
                <a:spcPct val="20000"/>
              </a:spcBef>
              <a:buClr>
                <a:schemeClr val="accent2"/>
              </a:buClr>
              <a:buSzPct val="70000"/>
              <a:tabLst>
                <a:tab pos="190500" algn="l"/>
              </a:tabLst>
            </a:pPr>
            <a:r>
              <a:rPr lang="en-US" altLang="zh-CN" sz="2400" dirty="0">
                <a:latin typeface="华文楷体" panose="02010600040101010101" pitchFamily="2" charset="-122"/>
                <a:ea typeface="宋体" panose="02010600030101010101" pitchFamily="2" charset="-122"/>
              </a:rPr>
              <a:t>    SBirthyear smalldatetime,</a:t>
            </a:r>
            <a:endParaRPr lang="en-US" altLang="zh-CN" sz="2400" dirty="0">
              <a:latin typeface="华文楷体" panose="02010600040101010101" pitchFamily="2" charset="-122"/>
              <a:ea typeface="宋体" panose="02010600030101010101" pitchFamily="2" charset="-122"/>
            </a:endParaRPr>
          </a:p>
          <a:p>
            <a:pPr marL="285750" lvl="1" indent="-95250" defTabSz="914400" eaLnBrk="1" hangingPunct="1">
              <a:lnSpc>
                <a:spcPct val="80000"/>
              </a:lnSpc>
              <a:spcBef>
                <a:spcPct val="20000"/>
              </a:spcBef>
              <a:buClr>
                <a:schemeClr val="accent2"/>
              </a:buClr>
              <a:buSzPct val="70000"/>
              <a:tabLst>
                <a:tab pos="190500" algn="l"/>
              </a:tabLst>
            </a:pPr>
            <a:r>
              <a:rPr lang="en-US" altLang="zh-CN" sz="2400" dirty="0">
                <a:latin typeface="华文楷体" panose="02010600040101010101" pitchFamily="2" charset="-122"/>
                <a:ea typeface="宋体" panose="02010600030101010101" pitchFamily="2" charset="-122"/>
              </a:rPr>
              <a:t>    SGender char(1) check(Sgender in ('f','m')),</a:t>
            </a:r>
            <a:endParaRPr lang="en-US" altLang="zh-CN" sz="2400" dirty="0">
              <a:latin typeface="华文楷体" panose="02010600040101010101" pitchFamily="2" charset="-122"/>
              <a:ea typeface="宋体" panose="02010600030101010101" pitchFamily="2" charset="-122"/>
            </a:endParaRPr>
          </a:p>
          <a:p>
            <a:pPr marL="285750" lvl="1" indent="-95250" defTabSz="914400" eaLnBrk="1" hangingPunct="1">
              <a:lnSpc>
                <a:spcPct val="80000"/>
              </a:lnSpc>
              <a:spcBef>
                <a:spcPct val="20000"/>
              </a:spcBef>
              <a:buClr>
                <a:schemeClr val="accent2"/>
              </a:buClr>
              <a:buSzPct val="70000"/>
              <a:tabLst>
                <a:tab pos="190500" algn="l"/>
              </a:tabLst>
            </a:pPr>
            <a:r>
              <a:rPr lang="en-US" altLang="zh-CN" sz="2400" dirty="0">
                <a:latin typeface="华文楷体" panose="02010600040101010101" pitchFamily="2" charset="-122"/>
                <a:ea typeface="宋体" panose="02010600030101010101" pitchFamily="2" charset="-122"/>
              </a:rPr>
              <a:t>    SPhone char(11) check(SPhone like '[0-9][0-9][0-9][0-9][0-9][0-9][0-9][0-9][0-9][0-9][0-9]'),</a:t>
            </a:r>
            <a:endParaRPr lang="en-US" altLang="zh-CN" sz="2400" dirty="0">
              <a:latin typeface="华文楷体" panose="02010600040101010101" pitchFamily="2" charset="-122"/>
              <a:ea typeface="宋体" panose="02010600030101010101" pitchFamily="2" charset="-122"/>
            </a:endParaRPr>
          </a:p>
          <a:p>
            <a:pPr marL="285750" lvl="1" indent="-95250" defTabSz="914400" eaLnBrk="1" hangingPunct="1">
              <a:lnSpc>
                <a:spcPct val="80000"/>
              </a:lnSpc>
              <a:spcBef>
                <a:spcPct val="20000"/>
              </a:spcBef>
              <a:buClr>
                <a:schemeClr val="accent2"/>
              </a:buClr>
              <a:buSzPct val="70000"/>
              <a:tabLst>
                <a:tab pos="190500" algn="l"/>
              </a:tabLst>
            </a:pPr>
            <a:r>
              <a:rPr lang="en-US" altLang="zh-CN" sz="2400" dirty="0">
                <a:latin typeface="华文楷体" panose="02010600040101010101" pitchFamily="2" charset="-122"/>
                <a:ea typeface="宋体" panose="02010600030101010101" pitchFamily="2" charset="-122"/>
              </a:rPr>
              <a:t>    SAge as datepart(yyyy,getdate())-datepart(yyyy, SBirthyear) )</a:t>
            </a:r>
            <a:endParaRPr lang="en-US" altLang="zh-CN" sz="2400" dirty="0">
              <a:latin typeface="华文楷体" panose="02010600040101010101" pitchFamily="2" charset="-122"/>
              <a:ea typeface="宋体" panose="02010600030101010101" pitchFamily="2" charset="-122"/>
            </a:endParaRPr>
          </a:p>
        </p:txBody>
      </p:sp>
      <p:sp>
        <p:nvSpPr>
          <p:cNvPr id="23556" name="文本框 1"/>
          <p:cNvSpPr txBox="1"/>
          <p:nvPr/>
        </p:nvSpPr>
        <p:spPr>
          <a:xfrm>
            <a:off x="457200" y="5183188"/>
            <a:ext cx="8474075" cy="701675"/>
          </a:xfrm>
          <a:prstGeom prst="rect">
            <a:avLst/>
          </a:prstGeom>
          <a:solidFill>
            <a:schemeClr val="accent1"/>
          </a:solidFill>
          <a:ln w="9525">
            <a:noFill/>
          </a:ln>
        </p:spPr>
        <p:txBody>
          <a:bodyPr wrap="square" anchor="t" anchorCtr="0">
            <a:spAutoFit/>
          </a:bodyPr>
          <a:p>
            <a:r>
              <a:rPr lang="zh-CN" altLang="en-US">
                <a:latin typeface="Arial" panose="020B0604020202020204" pitchFamily="34" charset="0"/>
                <a:ea typeface="宋体" panose="02010600030101010101" pitchFamily="2" charset="-122"/>
              </a:rPr>
              <a:t> </a:t>
            </a:r>
            <a:r>
              <a:rPr lang="zh-CN" altLang="en-US" sz="2000">
                <a:latin typeface="Arial" panose="020B0604020202020204" pitchFamily="34" charset="0"/>
                <a:ea typeface="宋体" panose="02010600030101010101" pitchFamily="2" charset="-122"/>
              </a:rPr>
              <a:t>insert student values('20130301','王磊','1992-03-05','m','13809021031')</a:t>
            </a:r>
            <a:endParaRPr lang="zh-CN" altLang="en-US" sz="2000">
              <a:latin typeface="Arial" panose="020B0604020202020204" pitchFamily="34" charset="0"/>
              <a:ea typeface="宋体" panose="02010600030101010101" pitchFamily="2" charset="-122"/>
            </a:endParaRPr>
          </a:p>
          <a:p>
            <a:r>
              <a:rPr lang="zh-CN" altLang="en-US" sz="2000">
                <a:latin typeface="Arial" panose="020B0604020202020204" pitchFamily="34" charset="0"/>
                <a:ea typeface="宋体" panose="02010600030101010101" pitchFamily="2" charset="-122"/>
              </a:rPr>
              <a:t> insert student values('20130304','赵刚','1994-10-05','m','13981922204')</a:t>
            </a:r>
            <a:endParaRPr lang="zh-CN" altLang="en-US" sz="2000">
              <a:latin typeface="Arial" panose="020B0604020202020204" pitchFamily="34" charset="0"/>
              <a:ea typeface="宋体" panose="02010600030101010101" pitchFamily="2" charset="-122"/>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26626" name="矩形 2"/>
          <p:cNvSpPr/>
          <p:nvPr/>
        </p:nvSpPr>
        <p:spPr>
          <a:xfrm>
            <a:off x="542925" y="881063"/>
            <a:ext cx="3248025" cy="944562"/>
          </a:xfrm>
          <a:prstGeom prst="rect">
            <a:avLst/>
          </a:prstGeom>
          <a:noFill/>
          <a:ln w="9525">
            <a:noFill/>
          </a:ln>
        </p:spPr>
        <p:txBody>
          <a:bodyPr wrap="none" anchor="t" anchorCtr="0">
            <a:spAutoFit/>
          </a:bodyPr>
          <a:p>
            <a:r>
              <a:rPr lang="en-US" altLang="zh-CN" sz="2800" dirty="0">
                <a:solidFill>
                  <a:srgbClr val="0033CC"/>
                </a:solidFill>
                <a:latin typeface="黑体" panose="02010609060101010101" pitchFamily="1" charset="-122"/>
                <a:ea typeface="黑体" panose="02010609060101010101" pitchFamily="1" charset="-122"/>
              </a:rPr>
              <a:t>4.</a:t>
            </a:r>
            <a:r>
              <a:rPr lang="zh-CN" altLang="en-US" sz="2800" dirty="0">
                <a:solidFill>
                  <a:srgbClr val="0033CC"/>
                </a:solidFill>
                <a:latin typeface="黑体" panose="02010609060101010101" pitchFamily="1" charset="-122"/>
                <a:ea typeface="黑体" panose="02010609060101010101" pitchFamily="1" charset="-122"/>
              </a:rPr>
              <a:t>定义数据表</a:t>
            </a:r>
            <a:r>
              <a:rPr lang="en-US" altLang="zh-CN" sz="2400" dirty="0">
                <a:solidFill>
                  <a:srgbClr val="FF0000"/>
                </a:solidFill>
                <a:latin typeface="黑体" panose="02010609060101010101" pitchFamily="1" charset="-122"/>
                <a:ea typeface="宋体" panose="02010600030101010101" pitchFamily="2" charset="-122"/>
              </a:rPr>
              <a:t>—</a:t>
            </a:r>
            <a:r>
              <a:rPr lang="zh-CN" altLang="en-US" sz="2400" dirty="0">
                <a:solidFill>
                  <a:srgbClr val="FF0000"/>
                </a:solidFill>
                <a:latin typeface="黑体" panose="02010609060101010101" pitchFamily="1" charset="-122"/>
                <a:ea typeface="宋体" panose="02010600030101010101" pitchFamily="2" charset="-122"/>
              </a:rPr>
              <a:t>修改</a:t>
            </a:r>
            <a:endParaRPr lang="zh-CN" altLang="en-US" sz="2400" dirty="0">
              <a:solidFill>
                <a:srgbClr val="FF0000"/>
              </a:solidFill>
              <a:latin typeface="黑体" panose="02010609060101010101" pitchFamily="1" charset="-122"/>
              <a:ea typeface="宋体" panose="02010600030101010101" pitchFamily="2" charset="-122"/>
            </a:endParaRPr>
          </a:p>
          <a:p>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26627" name="Rectangle 2"/>
          <p:cNvSpPr txBox="1"/>
          <p:nvPr/>
        </p:nvSpPr>
        <p:spPr>
          <a:xfrm>
            <a:off x="542925" y="1455738"/>
            <a:ext cx="8475663" cy="4413250"/>
          </a:xfrm>
          <a:prstGeom prst="rect">
            <a:avLst/>
          </a:prstGeom>
          <a:noFill/>
          <a:ln w="9525">
            <a:noFill/>
          </a:ln>
        </p:spPr>
        <p:txBody>
          <a:bodyPr lIns="36000" rIns="36000" anchor="t" anchorCtr="0"/>
          <a:p>
            <a:pPr marL="342900" indent="-342900">
              <a:buClr>
                <a:srgbClr val="0033CC"/>
              </a:buClr>
              <a:buSzPct val="80000"/>
            </a:pPr>
            <a:r>
              <a:rPr lang="en-US" altLang="zh-CN" sz="2400" dirty="0">
                <a:latin typeface="Arial" panose="020B0604020202020204" pitchFamily="34" charset="0"/>
                <a:ea typeface="宋体" panose="02010600030101010101" pitchFamily="2" charset="-122"/>
              </a:rPr>
              <a:t>ALTER TABLE </a:t>
            </a:r>
            <a:r>
              <a:rPr lang="zh-CN" altLang="en-US" sz="2400" dirty="0">
                <a:latin typeface="Arial" panose="020B0604020202020204" pitchFamily="34" charset="0"/>
                <a:ea typeface="宋体" panose="02010600030101010101" pitchFamily="2" charset="-122"/>
              </a:rPr>
              <a:t>表名 </a:t>
            </a:r>
            <a:endParaRPr lang="zh-CN" altLang="en-US" sz="2400" dirty="0">
              <a:latin typeface="Arial" panose="020B0604020202020204" pitchFamily="34" charset="0"/>
              <a:ea typeface="宋体" panose="02010600030101010101" pitchFamily="2" charset="-122"/>
            </a:endParaRPr>
          </a:p>
          <a:p>
            <a:pPr marL="342900" indent="-342900">
              <a:lnSpc>
                <a:spcPct val="120000"/>
              </a:lnSpc>
              <a:buClr>
                <a:srgbClr val="0033CC"/>
              </a:buClr>
              <a:buSzPct val="80000"/>
            </a:pPr>
            <a:r>
              <a:rPr lang="zh-CN" altLang="en-US" sz="2400" dirty="0">
                <a:latin typeface="Arial" panose="020B0604020202020204" pitchFamily="34" charset="0"/>
                <a:ea typeface="宋体" panose="02010600030101010101" pitchFamily="2" charset="-122"/>
              </a:rPr>
              <a:t> </a:t>
            </a:r>
            <a:r>
              <a:rPr lang="en-US" altLang="zh-CN" sz="2400" dirty="0">
                <a:latin typeface="华文楷体" panose="02010600040101010101" pitchFamily="2" charset="-122"/>
                <a:ea typeface="宋体" panose="02010600030101010101" pitchFamily="2" charset="-122"/>
              </a:rPr>
              <a:t>{[  ALTER COLUMN </a:t>
            </a:r>
            <a:r>
              <a:rPr lang="zh-CN" altLang="en-US" sz="2400" dirty="0">
                <a:latin typeface="华文楷体" panose="02010600040101010101" pitchFamily="2" charset="-122"/>
                <a:ea typeface="宋体" panose="02010600030101010101" pitchFamily="2" charset="-122"/>
              </a:rPr>
              <a:t>列名</a:t>
            </a:r>
            <a:r>
              <a:rPr lang="en-US" altLang="zh-CN" sz="2400" dirty="0">
                <a:latin typeface="华文楷体" panose="02010600040101010101" pitchFamily="2" charset="-122"/>
                <a:ea typeface="宋体" panose="02010600030101010101" pitchFamily="2" charset="-122"/>
              </a:rPr>
              <a:t>{ </a:t>
            </a:r>
            <a:r>
              <a:rPr lang="zh-CN" altLang="en-US" sz="2400" dirty="0">
                <a:latin typeface="华文楷体" panose="02010600040101010101" pitchFamily="2" charset="-122"/>
                <a:ea typeface="宋体" panose="02010600030101010101" pitchFamily="2" charset="-122"/>
              </a:rPr>
              <a:t>新数据类型 </a:t>
            </a:r>
            <a:r>
              <a:rPr lang="en-US" altLang="zh-CN" sz="2400" dirty="0">
                <a:latin typeface="华文楷体" panose="02010600040101010101" pitchFamily="2" charset="-122"/>
                <a:ea typeface="宋体" panose="02010600030101010101" pitchFamily="2" charset="-122"/>
              </a:rPr>
              <a:t>[NULL|NOT NULL]}] </a:t>
            </a:r>
            <a:endParaRPr lang="en-US" altLang="zh-CN" sz="2400" dirty="0">
              <a:latin typeface="华文楷体" panose="02010600040101010101" pitchFamily="2" charset="-122"/>
              <a:ea typeface="宋体" panose="02010600030101010101" pitchFamily="2" charset="-122"/>
            </a:endParaRPr>
          </a:p>
          <a:p>
            <a:pPr marL="342900" indent="-342900">
              <a:lnSpc>
                <a:spcPct val="120000"/>
              </a:lnSpc>
              <a:buClr>
                <a:srgbClr val="0033CC"/>
              </a:buClr>
              <a:buSzPct val="80000"/>
            </a:pPr>
            <a:r>
              <a:rPr lang="en-US" altLang="zh-CN" sz="2400" dirty="0">
                <a:latin typeface="华文楷体" panose="02010600040101010101" pitchFamily="2" charset="-122"/>
                <a:ea typeface="宋体" panose="02010600030101010101" pitchFamily="2" charset="-122"/>
              </a:rPr>
              <a:t>  </a:t>
            </a:r>
            <a:r>
              <a:rPr lang="de-DE" altLang="en-US" sz="2400" dirty="0">
                <a:latin typeface="华文楷体" panose="02010600040101010101" pitchFamily="2" charset="-122"/>
                <a:ea typeface="宋体" panose="02010600030101010101" pitchFamily="2" charset="-122"/>
              </a:rPr>
              <a:t>   </a:t>
            </a:r>
            <a:r>
              <a:rPr lang="en-US" altLang="zh-CN" sz="2400" dirty="0">
                <a:latin typeface="华文楷体" panose="02010600040101010101" pitchFamily="2" charset="-122"/>
                <a:ea typeface="宋体" panose="02010600030101010101" pitchFamily="2" charset="-122"/>
              </a:rPr>
              <a:t>|ADD{[&lt; </a:t>
            </a:r>
            <a:r>
              <a:rPr lang="zh-CN" altLang="en-US" sz="2400" dirty="0">
                <a:latin typeface="华文楷体" panose="02010600040101010101" pitchFamily="2" charset="-122"/>
                <a:ea typeface="宋体" panose="02010600030101010101" pitchFamily="2" charset="-122"/>
              </a:rPr>
              <a:t>列定义 </a:t>
            </a:r>
            <a:r>
              <a:rPr lang="en-US" altLang="zh-CN" sz="2400" dirty="0">
                <a:latin typeface="华文楷体" panose="02010600040101010101" pitchFamily="2" charset="-122"/>
                <a:ea typeface="宋体" panose="02010600030101010101" pitchFamily="2" charset="-122"/>
              </a:rPr>
              <a:t>&gt; ] | </a:t>
            </a:r>
            <a:r>
              <a:rPr lang="zh-CN" altLang="en-US" sz="2400" dirty="0">
                <a:latin typeface="华文楷体" panose="02010600040101010101" pitchFamily="2" charset="-122"/>
                <a:ea typeface="宋体" panose="02010600030101010101" pitchFamily="2" charset="-122"/>
              </a:rPr>
              <a:t>列名 </a:t>
            </a:r>
            <a:r>
              <a:rPr lang="en-US" altLang="zh-CN" sz="2400" dirty="0">
                <a:latin typeface="华文楷体" panose="02010600040101010101" pitchFamily="2" charset="-122"/>
                <a:ea typeface="宋体" panose="02010600030101010101" pitchFamily="2" charset="-122"/>
              </a:rPr>
              <a:t>AS </a:t>
            </a:r>
            <a:r>
              <a:rPr lang="zh-CN" altLang="en-US" sz="2400" dirty="0">
                <a:latin typeface="华文楷体" panose="02010600040101010101" pitchFamily="2" charset="-122"/>
                <a:ea typeface="宋体" panose="02010600030101010101" pitchFamily="2" charset="-122"/>
              </a:rPr>
              <a:t>计算表达式</a:t>
            </a:r>
            <a:r>
              <a:rPr lang="en-US" altLang="zh-CN" sz="2400" dirty="0">
                <a:latin typeface="华文楷体" panose="02010600040101010101" pitchFamily="2" charset="-122"/>
                <a:ea typeface="宋体" panose="02010600030101010101" pitchFamily="2" charset="-122"/>
              </a:rPr>
              <a:t>} [ , ...] </a:t>
            </a:r>
            <a:endParaRPr lang="en-US" altLang="zh-CN" sz="2400" dirty="0">
              <a:latin typeface="华文楷体" panose="02010600040101010101" pitchFamily="2" charset="-122"/>
              <a:ea typeface="宋体" panose="02010600030101010101" pitchFamily="2" charset="-122"/>
            </a:endParaRPr>
          </a:p>
          <a:p>
            <a:pPr marL="342900" indent="-342900">
              <a:lnSpc>
                <a:spcPct val="120000"/>
              </a:lnSpc>
              <a:buClr>
                <a:srgbClr val="0033CC"/>
              </a:buClr>
              <a:buSzPct val="80000"/>
            </a:pPr>
            <a:r>
              <a:rPr lang="en-US" altLang="zh-CN" sz="2400" dirty="0">
                <a:latin typeface="华文楷体" panose="02010600040101010101" pitchFamily="2" charset="-122"/>
                <a:ea typeface="宋体" panose="02010600030101010101" pitchFamily="2" charset="-122"/>
              </a:rPr>
              <a:t>     |[ WITH CHECK | WITH NOCHECK ] ADD  { &lt;</a:t>
            </a:r>
            <a:r>
              <a:rPr lang="zh-CN" altLang="en-US" sz="2400" dirty="0">
                <a:latin typeface="华文楷体" panose="02010600040101010101" pitchFamily="2" charset="-122"/>
                <a:ea typeface="宋体" panose="02010600030101010101" pitchFamily="2" charset="-122"/>
              </a:rPr>
              <a:t>表级约束</a:t>
            </a:r>
            <a:r>
              <a:rPr lang="en-US" altLang="zh-CN" sz="2400" dirty="0">
                <a:latin typeface="华文楷体" panose="02010600040101010101" pitchFamily="2" charset="-122"/>
                <a:ea typeface="宋体" panose="02010600030101010101" pitchFamily="2" charset="-122"/>
              </a:rPr>
              <a:t>&gt; }  </a:t>
            </a:r>
            <a:endParaRPr lang="en-US" altLang="zh-CN" sz="2400" dirty="0">
              <a:latin typeface="华文楷体" panose="02010600040101010101" pitchFamily="2" charset="-122"/>
              <a:ea typeface="宋体" panose="02010600030101010101" pitchFamily="2" charset="-122"/>
            </a:endParaRPr>
          </a:p>
          <a:p>
            <a:pPr marL="342900" indent="-342900">
              <a:lnSpc>
                <a:spcPct val="120000"/>
              </a:lnSpc>
              <a:buClr>
                <a:srgbClr val="0033CC"/>
              </a:buClr>
              <a:buSzPct val="80000"/>
            </a:pPr>
            <a:r>
              <a:rPr lang="en-US" altLang="zh-CN" sz="2400" dirty="0">
                <a:latin typeface="华文楷体" panose="02010600040101010101" pitchFamily="2" charset="-122"/>
                <a:ea typeface="宋体" panose="02010600030101010101" pitchFamily="2" charset="-122"/>
              </a:rPr>
              <a:t>               [ , ... ] </a:t>
            </a:r>
            <a:endParaRPr lang="en-US" altLang="zh-CN" sz="2400" dirty="0">
              <a:latin typeface="华文楷体" panose="02010600040101010101" pitchFamily="2" charset="-122"/>
              <a:ea typeface="宋体" panose="02010600030101010101" pitchFamily="2" charset="-122"/>
            </a:endParaRPr>
          </a:p>
          <a:p>
            <a:pPr marL="342900" indent="-342900">
              <a:lnSpc>
                <a:spcPct val="120000"/>
              </a:lnSpc>
              <a:buClr>
                <a:srgbClr val="0033CC"/>
              </a:buClr>
              <a:buSzPct val="80000"/>
            </a:pPr>
            <a:r>
              <a:rPr lang="en-US" altLang="zh-CN" sz="2400" dirty="0">
                <a:latin typeface="华文楷体" panose="02010600040101010101" pitchFamily="2" charset="-122"/>
                <a:ea typeface="宋体" panose="02010600030101010101" pitchFamily="2" charset="-122"/>
              </a:rPr>
              <a:t>     |DROP{[ CONSTRAINT]</a:t>
            </a:r>
            <a:r>
              <a:rPr lang="zh-CN" altLang="en-US" sz="2400" dirty="0">
                <a:latin typeface="华文楷体" panose="02010600040101010101" pitchFamily="2" charset="-122"/>
                <a:ea typeface="宋体" panose="02010600030101010101" pitchFamily="2" charset="-122"/>
              </a:rPr>
              <a:t>约束名 </a:t>
            </a:r>
            <a:r>
              <a:rPr lang="en-US" altLang="zh-CN" sz="2400" dirty="0">
                <a:latin typeface="华文楷体" panose="02010600040101010101" pitchFamily="2" charset="-122"/>
                <a:ea typeface="宋体" panose="02010600030101010101" pitchFamily="2" charset="-122"/>
              </a:rPr>
              <a:t>|COLUMN </a:t>
            </a:r>
            <a:r>
              <a:rPr lang="zh-CN" altLang="en-US" sz="2400" dirty="0">
                <a:latin typeface="华文楷体" panose="02010600040101010101" pitchFamily="2" charset="-122"/>
                <a:ea typeface="宋体" panose="02010600030101010101" pitchFamily="2" charset="-122"/>
              </a:rPr>
              <a:t>列名 </a:t>
            </a:r>
            <a:r>
              <a:rPr lang="en-US" altLang="zh-CN" sz="2400" dirty="0">
                <a:latin typeface="华文楷体" panose="02010600040101010101" pitchFamily="2" charset="-122"/>
                <a:ea typeface="宋体" panose="02010600030101010101" pitchFamily="2" charset="-122"/>
              </a:rPr>
              <a:t>} [ , ... ]</a:t>
            </a:r>
            <a:endParaRPr lang="en-US" altLang="zh-CN" sz="2400" dirty="0">
              <a:latin typeface="华文楷体" panose="02010600040101010101" pitchFamily="2" charset="-122"/>
              <a:ea typeface="宋体" panose="02010600030101010101" pitchFamily="2" charset="-122"/>
            </a:endParaRPr>
          </a:p>
          <a:p>
            <a:pPr marL="342900" indent="-342900">
              <a:lnSpc>
                <a:spcPct val="120000"/>
              </a:lnSpc>
              <a:buClr>
                <a:srgbClr val="0033CC"/>
              </a:buClr>
              <a:buSzPct val="80000"/>
            </a:pPr>
            <a:r>
              <a:rPr lang="en-US" altLang="zh-CN" sz="2400" dirty="0">
                <a:latin typeface="华文楷体" panose="02010600040101010101" pitchFamily="2" charset="-122"/>
                <a:ea typeface="宋体" panose="02010600030101010101" pitchFamily="2" charset="-122"/>
              </a:rPr>
              <a:t>     | { CHECK | NOCHECK } CONSTRAINT { ALL | </a:t>
            </a:r>
            <a:r>
              <a:rPr lang="zh-CN" altLang="en-US" sz="2400" dirty="0">
                <a:latin typeface="华文楷体" panose="02010600040101010101" pitchFamily="2" charset="-122"/>
                <a:ea typeface="宋体" panose="02010600030101010101" pitchFamily="2" charset="-122"/>
              </a:rPr>
              <a:t>约束名 </a:t>
            </a:r>
            <a:endParaRPr lang="zh-CN" altLang="en-US" sz="2400" dirty="0">
              <a:latin typeface="华文楷体" panose="02010600040101010101" pitchFamily="2" charset="-122"/>
              <a:ea typeface="宋体" panose="02010600030101010101" pitchFamily="2" charset="-122"/>
            </a:endParaRPr>
          </a:p>
          <a:p>
            <a:pPr marL="342900" indent="-342900">
              <a:lnSpc>
                <a:spcPct val="120000"/>
              </a:lnSpc>
              <a:buClr>
                <a:srgbClr val="0033CC"/>
              </a:buClr>
              <a:buSzPct val="80000"/>
            </a:pPr>
            <a:r>
              <a:rPr lang="zh-CN" altLang="en-US" sz="2400" dirty="0">
                <a:latin typeface="华文楷体" panose="02010600040101010101" pitchFamily="2" charset="-122"/>
                <a:ea typeface="宋体" panose="02010600030101010101" pitchFamily="2" charset="-122"/>
              </a:rPr>
              <a:t>              </a:t>
            </a:r>
            <a:r>
              <a:rPr lang="en-US" altLang="zh-CN" sz="2400" dirty="0">
                <a:latin typeface="华文楷体" panose="02010600040101010101" pitchFamily="2" charset="-122"/>
                <a:ea typeface="宋体" panose="02010600030101010101" pitchFamily="2" charset="-122"/>
              </a:rPr>
              <a:t>[ , ... ] } </a:t>
            </a:r>
            <a:endParaRPr lang="en-US" altLang="zh-CN" sz="2400" dirty="0">
              <a:latin typeface="华文楷体" panose="02010600040101010101" pitchFamily="2" charset="-122"/>
              <a:ea typeface="宋体" panose="02010600030101010101" pitchFamily="2" charset="-122"/>
            </a:endParaRPr>
          </a:p>
          <a:p>
            <a:pPr marL="342900" indent="-342900">
              <a:lnSpc>
                <a:spcPct val="120000"/>
              </a:lnSpc>
              <a:buClr>
                <a:srgbClr val="0033CC"/>
              </a:buClr>
              <a:buSzPct val="80000"/>
            </a:pPr>
            <a:r>
              <a:rPr lang="en-US" altLang="zh-CN" sz="2400" dirty="0">
                <a:latin typeface="华文楷体" panose="02010600040101010101" pitchFamily="2" charset="-122"/>
                <a:ea typeface="宋体" panose="02010600030101010101" pitchFamily="2" charset="-122"/>
              </a:rPr>
              <a:t> | { ENABLE | DISABLE } TRIGGER  { ALL | </a:t>
            </a:r>
            <a:r>
              <a:rPr lang="zh-CN" altLang="en-US" sz="2400" dirty="0">
                <a:latin typeface="华文楷体" panose="02010600040101010101" pitchFamily="2" charset="-122"/>
                <a:ea typeface="宋体" panose="02010600030101010101" pitchFamily="2" charset="-122"/>
              </a:rPr>
              <a:t>触发器名 </a:t>
            </a:r>
            <a:r>
              <a:rPr lang="en-US" altLang="zh-CN" sz="2400" dirty="0">
                <a:latin typeface="华文楷体" panose="02010600040101010101" pitchFamily="2" charset="-122"/>
                <a:ea typeface="宋体" panose="02010600030101010101" pitchFamily="2" charset="-122"/>
              </a:rPr>
              <a:t>[ ,...n ] } }</a:t>
            </a:r>
            <a:endParaRPr lang="en-US" altLang="zh-CN" sz="2400" dirty="0">
              <a:latin typeface="华文楷体" panose="02010600040101010101" pitchFamily="2" charset="-122"/>
              <a:ea typeface="宋体" panose="02010600030101010101" pitchFamily="2" charset="-122"/>
            </a:endParaRPr>
          </a:p>
        </p:txBody>
      </p:sp>
      <p:sp>
        <p:nvSpPr>
          <p:cNvPr id="21509" name="Rectangle 3"/>
          <p:cNvSpPr/>
          <p:nvPr/>
        </p:nvSpPr>
        <p:spPr>
          <a:xfrm>
            <a:off x="1044575" y="3762375"/>
            <a:ext cx="2819400" cy="323850"/>
          </a:xfrm>
          <a:prstGeom prst="rect">
            <a:avLst/>
          </a:prstGeom>
          <a:solidFill>
            <a:srgbClr val="FF6600">
              <a:alpha val="50000"/>
            </a:srgbClr>
          </a:solidFill>
          <a:ln w="9525">
            <a:noFill/>
          </a:ln>
        </p:spPr>
        <p:txBody>
          <a:bodyPr wrap="none" anchor="ctr" anchorCtr="0"/>
          <a:p>
            <a:pPr>
              <a:lnSpc>
                <a:spcPct val="135000"/>
              </a:lnSpc>
              <a:buFont typeface="Arial" panose="020B0604020202020204" pitchFamily="34" charset="0"/>
              <a:buChar char="•"/>
            </a:pPr>
            <a:endParaRPr lang="zh-CN" altLang="en-US" dirty="0">
              <a:latin typeface="Arial" panose="020B0604020202020204" pitchFamily="34" charset="0"/>
              <a:ea typeface="宋体" panose="02010600030101010101" pitchFamily="2" charset="-122"/>
            </a:endParaRPr>
          </a:p>
        </p:txBody>
      </p:sp>
      <p:sp>
        <p:nvSpPr>
          <p:cNvPr id="21510" name="Rectangle 4"/>
          <p:cNvSpPr/>
          <p:nvPr/>
        </p:nvSpPr>
        <p:spPr>
          <a:xfrm>
            <a:off x="1069975" y="2435225"/>
            <a:ext cx="2819400" cy="322263"/>
          </a:xfrm>
          <a:prstGeom prst="rect">
            <a:avLst/>
          </a:prstGeom>
          <a:solidFill>
            <a:srgbClr val="FF6600">
              <a:alpha val="50000"/>
            </a:srgbClr>
          </a:solidFill>
          <a:ln w="9525">
            <a:noFill/>
          </a:ln>
        </p:spPr>
        <p:txBody>
          <a:bodyPr wrap="none" anchor="ctr" anchorCtr="0"/>
          <a:p>
            <a:pPr>
              <a:lnSpc>
                <a:spcPct val="135000"/>
              </a:lnSpc>
              <a:buFont typeface="Arial" panose="020B0604020202020204" pitchFamily="34" charset="0"/>
              <a:buChar char="•"/>
            </a:pPr>
            <a:endParaRPr lang="zh-CN" altLang="en-US" dirty="0">
              <a:latin typeface="Arial" panose="020B0604020202020204" pitchFamily="34" charset="0"/>
              <a:ea typeface="宋体" panose="02010600030101010101" pitchFamily="2" charset="-122"/>
            </a:endParaRPr>
          </a:p>
        </p:txBody>
      </p:sp>
      <p:sp>
        <p:nvSpPr>
          <p:cNvPr id="21511" name="Rectangle 5"/>
          <p:cNvSpPr/>
          <p:nvPr/>
        </p:nvSpPr>
        <p:spPr>
          <a:xfrm>
            <a:off x="885825" y="2035175"/>
            <a:ext cx="2971800" cy="258763"/>
          </a:xfrm>
          <a:prstGeom prst="rect">
            <a:avLst/>
          </a:prstGeom>
          <a:solidFill>
            <a:srgbClr val="FF6600">
              <a:alpha val="50000"/>
            </a:srgbClr>
          </a:solidFill>
          <a:ln w="9525">
            <a:noFill/>
          </a:ln>
        </p:spPr>
        <p:txBody>
          <a:bodyPr wrap="none" anchor="ctr" anchorCtr="0"/>
          <a:p>
            <a:pPr>
              <a:lnSpc>
                <a:spcPct val="135000"/>
              </a:lnSpc>
              <a:buFont typeface="Arial" panose="020B0604020202020204" pitchFamily="34" charset="0"/>
              <a:buChar char="•"/>
            </a:pPr>
            <a:endParaRPr lang="zh-CN" altLang="en-US" dirty="0">
              <a:latin typeface="Arial" panose="020B0604020202020204" pitchFamily="34" charset="0"/>
              <a:ea typeface="宋体" panose="02010600030101010101" pitchFamily="2" charset="-122"/>
            </a:endParaRPr>
          </a:p>
        </p:txBody>
      </p:sp>
      <p:sp>
        <p:nvSpPr>
          <p:cNvPr id="19461" name="AutoShape 3"/>
          <p:cNvSpPr/>
          <p:nvPr/>
        </p:nvSpPr>
        <p:spPr>
          <a:xfrm>
            <a:off x="5010785" y="954405"/>
            <a:ext cx="3676015" cy="798195"/>
          </a:xfrm>
          <a:prstGeom prst="wedgeRoundRectCallout">
            <a:avLst>
              <a:gd name="adj1" fmla="val -77258"/>
              <a:gd name="adj2" fmla="val 182299"/>
              <a:gd name="adj3" fmla="val 16667"/>
            </a:avLst>
          </a:prstGeom>
          <a:solidFill>
            <a:srgbClr val="FEDCEB"/>
          </a:solidFill>
          <a:ln w="9525" cap="flat" cmpd="sng">
            <a:solidFill>
              <a:srgbClr val="336600"/>
            </a:solidFill>
            <a:prstDash val="solid"/>
            <a:miter/>
            <a:headEnd type="none" w="med" len="med"/>
            <a:tailEnd type="none" w="med" len="med"/>
          </a:ln>
        </p:spPr>
        <p:txBody>
          <a:bodyPr anchor="t" anchorCtr="0"/>
          <a:p>
            <a:r>
              <a:rPr lang="zh-CN" altLang="en-US" sz="2400" dirty="0">
                <a:solidFill>
                  <a:srgbClr val="000099"/>
                </a:solidFill>
                <a:latin typeface="宋体" panose="02010600030101010101" pitchFamily="2" charset="-122"/>
                <a:ea typeface="宋体" panose="02010600030101010101" pitchFamily="2" charset="-122"/>
              </a:rPr>
              <a:t>在修改表的同时是否对表中的数据同时进行</a:t>
            </a:r>
            <a:r>
              <a:rPr lang="zh-CN" altLang="en-US" sz="2400" dirty="0">
                <a:solidFill>
                  <a:srgbClr val="000099"/>
                </a:solidFill>
                <a:latin typeface="宋体" panose="02010600030101010101" pitchFamily="2" charset="-122"/>
                <a:ea typeface="宋体" panose="02010600030101010101" pitchFamily="2" charset="-122"/>
              </a:rPr>
              <a:t>检查</a:t>
            </a:r>
            <a:endParaRPr lang="zh-CN" altLang="en-US" sz="2400" dirty="0">
              <a:solidFill>
                <a:srgbClr val="000099"/>
              </a:solidFill>
              <a:latin typeface="宋体" panose="02010600030101010101" pitchFamily="2" charset="-122"/>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2" fill="hold" grpId="0" nodeType="clickEffect">
                                  <p:stCondLst>
                                    <p:cond delay="0"/>
                                  </p:stCondLst>
                                  <p:childTnLst>
                                    <p:set>
                                      <p:cBhvr>
                                        <p:cTn id="6" dur="1" fill="hold">
                                          <p:stCondLst>
                                            <p:cond delay="0"/>
                                          </p:stCondLst>
                                        </p:cTn>
                                        <p:tgtEl>
                                          <p:spTgt spid="21511"/>
                                        </p:tgtEl>
                                        <p:attrNameLst>
                                          <p:attrName>style.visibility</p:attrName>
                                        </p:attrNameLst>
                                      </p:cBhvr>
                                      <p:to>
                                        <p:strVal val="visible"/>
                                      </p:to>
                                    </p:set>
                                    <p:anim calcmode="lin" valueType="num">
                                      <p:cBhvr additive="base">
                                        <p:cTn id="7" dur="500" fill="hold"/>
                                        <p:tgtEl>
                                          <p:spTgt spid="21511"/>
                                        </p:tgtEl>
                                        <p:attrNameLst>
                                          <p:attrName>ppt_x</p:attrName>
                                        </p:attrNameLst>
                                      </p:cBhvr>
                                      <p:tavLst>
                                        <p:tav tm="0">
                                          <p:val>
                                            <p:strVal val="0-#ppt_w/2"/>
                                          </p:val>
                                        </p:tav>
                                        <p:tav tm="100000">
                                          <p:val>
                                            <p:strVal val="#ppt_x"/>
                                          </p:val>
                                        </p:tav>
                                      </p:tavLst>
                                    </p:anim>
                                    <p:anim calcmode="lin" valueType="num">
                                      <p:cBhvr additive="base">
                                        <p:cTn id="8" dur="500" fill="hold"/>
                                        <p:tgtEl>
                                          <p:spTgt spid="215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2" fill="hold" grpId="0" nodeType="clickEffect">
                                  <p:stCondLst>
                                    <p:cond delay="0"/>
                                  </p:stCondLst>
                                  <p:childTnLst>
                                    <p:set>
                                      <p:cBhvr>
                                        <p:cTn id="12" dur="1" fill="hold">
                                          <p:stCondLst>
                                            <p:cond delay="0"/>
                                          </p:stCondLst>
                                        </p:cTn>
                                        <p:tgtEl>
                                          <p:spTgt spid="21510"/>
                                        </p:tgtEl>
                                        <p:attrNameLst>
                                          <p:attrName>style.visibility</p:attrName>
                                        </p:attrNameLst>
                                      </p:cBhvr>
                                      <p:to>
                                        <p:strVal val="visible"/>
                                      </p:to>
                                    </p:set>
                                    <p:anim calcmode="lin" valueType="num">
                                      <p:cBhvr additive="base">
                                        <p:cTn id="13" dur="500" fill="hold"/>
                                        <p:tgtEl>
                                          <p:spTgt spid="21510"/>
                                        </p:tgtEl>
                                        <p:attrNameLst>
                                          <p:attrName>ppt_x</p:attrName>
                                        </p:attrNameLst>
                                      </p:cBhvr>
                                      <p:tavLst>
                                        <p:tav tm="0">
                                          <p:val>
                                            <p:strVal val="0-#ppt_w/2"/>
                                          </p:val>
                                        </p:tav>
                                        <p:tav tm="100000">
                                          <p:val>
                                            <p:strVal val="#ppt_x"/>
                                          </p:val>
                                        </p:tav>
                                      </p:tavLst>
                                    </p:anim>
                                    <p:anim calcmode="lin" valueType="num">
                                      <p:cBhvr additive="base">
                                        <p:cTn id="14" dur="500" fill="hold"/>
                                        <p:tgtEl>
                                          <p:spTgt spid="2151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12" fill="hold" grpId="0" nodeType="clickEffect">
                                  <p:stCondLst>
                                    <p:cond delay="0"/>
                                  </p:stCondLst>
                                  <p:childTnLst>
                                    <p:set>
                                      <p:cBhvr>
                                        <p:cTn id="18" dur="1" fill="hold">
                                          <p:stCondLst>
                                            <p:cond delay="0"/>
                                          </p:stCondLst>
                                        </p:cTn>
                                        <p:tgtEl>
                                          <p:spTgt spid="21509"/>
                                        </p:tgtEl>
                                        <p:attrNameLst>
                                          <p:attrName>style.visibility</p:attrName>
                                        </p:attrNameLst>
                                      </p:cBhvr>
                                      <p:to>
                                        <p:strVal val="visible"/>
                                      </p:to>
                                    </p:set>
                                    <p:anim calcmode="lin" valueType="num">
                                      <p:cBhvr additive="base">
                                        <p:cTn id="19" dur="500" fill="hold"/>
                                        <p:tgtEl>
                                          <p:spTgt spid="21509"/>
                                        </p:tgtEl>
                                        <p:attrNameLst>
                                          <p:attrName>ppt_x</p:attrName>
                                        </p:attrNameLst>
                                      </p:cBhvr>
                                      <p:tavLst>
                                        <p:tav tm="0">
                                          <p:val>
                                            <p:strVal val="0-#ppt_w/2"/>
                                          </p:val>
                                        </p:tav>
                                        <p:tav tm="100000">
                                          <p:val>
                                            <p:strVal val="#ppt_x"/>
                                          </p:val>
                                        </p:tav>
                                      </p:tavLst>
                                    </p:anim>
                                    <p:anim calcmode="lin" valueType="num">
                                      <p:cBhvr additive="base">
                                        <p:cTn id="20" dur="500" fill="hold"/>
                                        <p:tgtEl>
                                          <p:spTgt spid="2150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 presetClass="entr" presetSubtype="16" fill="hold" grpId="0" nodeType="clickEffect">
                                  <p:stCondLst>
                                    <p:cond delay="0"/>
                                  </p:stCondLst>
                                  <p:childTnLst>
                                    <p:set>
                                      <p:cBhvr>
                                        <p:cTn id="24" dur="1" fill="hold">
                                          <p:stCondLst>
                                            <p:cond delay="0"/>
                                          </p:stCondLst>
                                        </p:cTn>
                                        <p:tgtEl>
                                          <p:spTgt spid="19461"/>
                                        </p:tgtEl>
                                        <p:attrNameLst>
                                          <p:attrName>style.visibility</p:attrName>
                                        </p:attrNameLst>
                                      </p:cBhvr>
                                      <p:to>
                                        <p:strVal val="visible"/>
                                      </p:to>
                                    </p:set>
                                    <p:animEffect transition="in" filter="box(in)">
                                      <p:cBhvr>
                                        <p:cTn id="25" dur="500"/>
                                        <p:tgtEl>
                                          <p:spTgt spid="194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9" grpId="0" animBg="1"/>
      <p:bldP spid="21510" grpId="0" animBg="1"/>
      <p:bldP spid="21511" grpId="0" animBg="1"/>
      <p:bldP spid="19461" grpId="0" bldLvl="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27650" name="矩形 2"/>
          <p:cNvSpPr/>
          <p:nvPr/>
        </p:nvSpPr>
        <p:spPr>
          <a:xfrm>
            <a:off x="542925" y="881063"/>
            <a:ext cx="3248025" cy="944562"/>
          </a:xfrm>
          <a:prstGeom prst="rect">
            <a:avLst/>
          </a:prstGeom>
          <a:noFill/>
          <a:ln w="9525">
            <a:noFill/>
          </a:ln>
        </p:spPr>
        <p:txBody>
          <a:bodyPr wrap="none" anchor="t" anchorCtr="0">
            <a:spAutoFit/>
          </a:bodyPr>
          <a:p>
            <a:r>
              <a:rPr lang="en-US" altLang="zh-CN" sz="2800" dirty="0">
                <a:solidFill>
                  <a:srgbClr val="0033CC"/>
                </a:solidFill>
                <a:latin typeface="黑体" panose="02010609060101010101" pitchFamily="1" charset="-122"/>
                <a:ea typeface="黑体" panose="02010609060101010101" pitchFamily="1" charset="-122"/>
              </a:rPr>
              <a:t>4.</a:t>
            </a:r>
            <a:r>
              <a:rPr lang="zh-CN" altLang="en-US" sz="2800" dirty="0">
                <a:solidFill>
                  <a:srgbClr val="0033CC"/>
                </a:solidFill>
                <a:latin typeface="黑体" panose="02010609060101010101" pitchFamily="1" charset="-122"/>
                <a:ea typeface="黑体" panose="02010609060101010101" pitchFamily="1" charset="-122"/>
              </a:rPr>
              <a:t>定义数据表</a:t>
            </a:r>
            <a:r>
              <a:rPr lang="en-US" altLang="zh-CN" sz="2400" dirty="0">
                <a:solidFill>
                  <a:srgbClr val="FF0000"/>
                </a:solidFill>
                <a:latin typeface="黑体" panose="02010609060101010101" pitchFamily="1" charset="-122"/>
                <a:ea typeface="宋体" panose="02010600030101010101" pitchFamily="2" charset="-122"/>
              </a:rPr>
              <a:t>—</a:t>
            </a:r>
            <a:r>
              <a:rPr lang="zh-CN" altLang="en-US" sz="2400" dirty="0">
                <a:solidFill>
                  <a:srgbClr val="FF0000"/>
                </a:solidFill>
                <a:latin typeface="黑体" panose="02010609060101010101" pitchFamily="1" charset="-122"/>
                <a:ea typeface="宋体" panose="02010600030101010101" pitchFamily="2" charset="-122"/>
              </a:rPr>
              <a:t>修改</a:t>
            </a:r>
            <a:endParaRPr lang="zh-CN" altLang="en-US" sz="2400" dirty="0">
              <a:solidFill>
                <a:srgbClr val="FF0000"/>
              </a:solidFill>
              <a:latin typeface="黑体" panose="02010609060101010101" pitchFamily="1" charset="-122"/>
              <a:ea typeface="宋体" panose="02010600030101010101" pitchFamily="2" charset="-122"/>
            </a:endParaRPr>
          </a:p>
          <a:p>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27651" name="矩形 4"/>
          <p:cNvSpPr/>
          <p:nvPr/>
        </p:nvSpPr>
        <p:spPr>
          <a:xfrm>
            <a:off x="663575" y="1901825"/>
            <a:ext cx="7986713" cy="1771650"/>
          </a:xfrm>
          <a:prstGeom prst="rect">
            <a:avLst/>
          </a:prstGeom>
          <a:noFill/>
          <a:ln w="9525">
            <a:noFill/>
          </a:ln>
        </p:spPr>
        <p:txBody>
          <a:bodyPr anchor="t" anchorCtr="0">
            <a:spAutoFit/>
          </a:bodyPr>
          <a:p>
            <a:pPr marL="285750" lvl="1" indent="-95250" defTabSz="914400" eaLnBrk="1" hangingPunct="1">
              <a:lnSpc>
                <a:spcPct val="110000"/>
              </a:lnSpc>
              <a:buClr>
                <a:schemeClr val="accent2"/>
              </a:buClr>
              <a:buSzPct val="70000"/>
              <a:tabLst>
                <a:tab pos="190500" algn="l"/>
              </a:tabLst>
            </a:pPr>
            <a:r>
              <a:rPr lang="en-US" altLang="zh-CN" sz="2000" dirty="0">
                <a:latin typeface="华文楷体" panose="02010600040101010101" pitchFamily="2" charset="-122"/>
                <a:ea typeface="宋体" panose="02010600030101010101" pitchFamily="2" charset="-122"/>
              </a:rPr>
              <a:t>CREATE TABLE  department</a:t>
            </a:r>
            <a:endParaRPr lang="en-US" altLang="zh-CN" sz="2000" dirty="0">
              <a:latin typeface="华文楷体" panose="02010600040101010101" pitchFamily="2" charset="-122"/>
              <a:ea typeface="宋体" panose="02010600030101010101" pitchFamily="2" charset="-122"/>
            </a:endParaRPr>
          </a:p>
          <a:p>
            <a:pPr marL="285750" lvl="1" indent="-95250" defTabSz="914400" eaLnBrk="1" hangingPunct="1">
              <a:lnSpc>
                <a:spcPct val="110000"/>
              </a:lnSpc>
              <a:buClr>
                <a:schemeClr val="accent2"/>
              </a:buClr>
              <a:buSzPct val="70000"/>
              <a:tabLst>
                <a:tab pos="190500" algn="l"/>
              </a:tabLst>
            </a:pPr>
            <a:r>
              <a:rPr lang="en-US" altLang="zh-CN" sz="2000" dirty="0">
                <a:latin typeface="华文楷体" panose="02010600040101010101" pitchFamily="2" charset="-122"/>
                <a:ea typeface="宋体" panose="02010600030101010101" pitchFamily="2" charset="-122"/>
              </a:rPr>
              <a:t> ( depname   varchar(20)   PRIMARY  KEY,</a:t>
            </a:r>
            <a:endParaRPr lang="en-US" altLang="zh-CN" sz="2000" dirty="0">
              <a:latin typeface="华文楷体" panose="02010600040101010101" pitchFamily="2" charset="-122"/>
              <a:ea typeface="宋体" panose="02010600030101010101" pitchFamily="2" charset="-122"/>
            </a:endParaRPr>
          </a:p>
          <a:p>
            <a:pPr marL="285750" lvl="1" indent="-95250" defTabSz="914400" eaLnBrk="1" hangingPunct="1">
              <a:lnSpc>
                <a:spcPct val="110000"/>
              </a:lnSpc>
              <a:buClr>
                <a:schemeClr val="accent2"/>
              </a:buClr>
              <a:buSzPct val="70000"/>
              <a:tabLst>
                <a:tab pos="190500" algn="l"/>
              </a:tabLst>
            </a:pPr>
            <a:r>
              <a:rPr lang="en-US" altLang="zh-CN" sz="2000" dirty="0">
                <a:latin typeface="华文楷体" panose="02010600040101010101" pitchFamily="2" charset="-122"/>
                <a:ea typeface="宋体" panose="02010600030101010101" pitchFamily="2" charset="-122"/>
              </a:rPr>
              <a:t>     adress  varchar(40)   NOT NULL,</a:t>
            </a:r>
            <a:endParaRPr lang="en-US" altLang="zh-CN" sz="2000" dirty="0">
              <a:latin typeface="华文楷体" panose="02010600040101010101" pitchFamily="2" charset="-122"/>
              <a:ea typeface="宋体" panose="02010600030101010101" pitchFamily="2" charset="-122"/>
            </a:endParaRPr>
          </a:p>
          <a:p>
            <a:pPr marL="285750" lvl="1" indent="-95250" defTabSz="914400" eaLnBrk="1" hangingPunct="1">
              <a:lnSpc>
                <a:spcPct val="110000"/>
              </a:lnSpc>
              <a:buClr>
                <a:schemeClr val="accent2"/>
              </a:buClr>
              <a:buSzPct val="70000"/>
              <a:tabLst>
                <a:tab pos="190500" algn="l"/>
              </a:tabLst>
            </a:pPr>
            <a:r>
              <a:rPr lang="en-US" altLang="zh-CN" sz="2000" dirty="0">
                <a:latin typeface="华文楷体" panose="02010600040101010101" pitchFamily="2" charset="-122"/>
                <a:ea typeface="宋体" panose="02010600030101010101" pitchFamily="2" charset="-122"/>
              </a:rPr>
              <a:t>     telephone  char(11) constraint tele_check check(telephone like '[0-9][0-9][0-9][0-9][0-9][0-9][0-9][0-9][0-9][0-9][0-9]'))</a:t>
            </a:r>
            <a:endParaRPr lang="en-US" altLang="zh-CN" sz="2000" dirty="0">
              <a:latin typeface="华文楷体" panose="02010600040101010101" pitchFamily="2" charset="-122"/>
              <a:ea typeface="宋体" panose="02010600030101010101" pitchFamily="2" charset="-122"/>
            </a:endParaRPr>
          </a:p>
        </p:txBody>
      </p:sp>
      <p:sp>
        <p:nvSpPr>
          <p:cNvPr id="27652" name="矩形 5"/>
          <p:cNvSpPr/>
          <p:nvPr/>
        </p:nvSpPr>
        <p:spPr>
          <a:xfrm>
            <a:off x="719138" y="1444625"/>
            <a:ext cx="3862387" cy="461963"/>
          </a:xfrm>
          <a:prstGeom prst="rect">
            <a:avLst/>
          </a:prstGeom>
          <a:noFill/>
          <a:ln w="9525">
            <a:noFill/>
          </a:ln>
        </p:spPr>
        <p:txBody>
          <a:bodyPr wrap="none" anchor="t" anchorCtr="0">
            <a:spAutoFit/>
          </a:bodyPr>
          <a:p>
            <a:pPr>
              <a:buFont typeface="Wingdings" panose="05000000000000000000" pitchFamily="2" charset="2"/>
              <a:buChar char="p"/>
            </a:pPr>
            <a:r>
              <a:rPr lang="zh-CN" altLang="en-US" sz="2400" dirty="0">
                <a:solidFill>
                  <a:srgbClr val="FF0000"/>
                </a:solidFill>
                <a:latin typeface="Arial" panose="020B0604020202020204" pitchFamily="34" charset="0"/>
                <a:ea typeface="宋体" panose="02010600030101010101" pitchFamily="2" charset="-122"/>
              </a:rPr>
              <a:t>系（</a:t>
            </a:r>
            <a:r>
              <a:rPr lang="zh-CN" altLang="en-US" sz="2400" u="sng" dirty="0">
                <a:solidFill>
                  <a:srgbClr val="FF0000"/>
                </a:solidFill>
                <a:latin typeface="Arial" panose="020B0604020202020204" pitchFamily="34" charset="0"/>
                <a:ea typeface="宋体" panose="02010600030101010101" pitchFamily="2" charset="-122"/>
              </a:rPr>
              <a:t>系名</a:t>
            </a:r>
            <a:r>
              <a:rPr lang="zh-CN" altLang="en-US" sz="2400" dirty="0">
                <a:solidFill>
                  <a:srgbClr val="FF0000"/>
                </a:solidFill>
                <a:latin typeface="Arial" panose="020B0604020202020204" pitchFamily="34" charset="0"/>
                <a:ea typeface="宋体" panose="02010600030101010101" pitchFamily="2" charset="-122"/>
              </a:rPr>
              <a:t>，地址，电话）</a:t>
            </a:r>
            <a:endParaRPr lang="zh-CN" altLang="en-US" sz="2400" dirty="0">
              <a:solidFill>
                <a:srgbClr val="FF0000"/>
              </a:solidFill>
              <a:latin typeface="Arial" panose="020B0604020202020204" pitchFamily="34" charset="0"/>
              <a:ea typeface="宋体" panose="02010600030101010101" pitchFamily="2" charset="-122"/>
            </a:endParaRPr>
          </a:p>
        </p:txBody>
      </p:sp>
      <p:sp>
        <p:nvSpPr>
          <p:cNvPr id="27653" name="矩形 6"/>
          <p:cNvSpPr/>
          <p:nvPr/>
        </p:nvSpPr>
        <p:spPr>
          <a:xfrm>
            <a:off x="4941888" y="987425"/>
            <a:ext cx="3862387" cy="461963"/>
          </a:xfrm>
          <a:prstGeom prst="rect">
            <a:avLst/>
          </a:prstGeom>
          <a:noFill/>
          <a:ln w="9525">
            <a:noFill/>
          </a:ln>
        </p:spPr>
        <p:txBody>
          <a:bodyPr wrap="none" anchor="t" anchorCtr="0">
            <a:spAutoFit/>
          </a:bodyPr>
          <a:p>
            <a:pPr>
              <a:buFont typeface="Wingdings" panose="05000000000000000000" pitchFamily="2" charset="2"/>
              <a:buChar char="p"/>
            </a:pPr>
            <a:r>
              <a:rPr lang="zh-CN" altLang="en-US" sz="2400" dirty="0">
                <a:solidFill>
                  <a:srgbClr val="FF0000"/>
                </a:solidFill>
                <a:latin typeface="Arial" panose="020B0604020202020204" pitchFamily="34" charset="0"/>
                <a:ea typeface="宋体" panose="02010600030101010101" pitchFamily="2" charset="-122"/>
              </a:rPr>
              <a:t>为系增加“主任”的属性</a:t>
            </a:r>
            <a:endParaRPr lang="zh-CN" altLang="en-US" sz="2400" dirty="0">
              <a:solidFill>
                <a:srgbClr val="FF0000"/>
              </a:solidFill>
              <a:latin typeface="Arial" panose="020B0604020202020204" pitchFamily="34" charset="0"/>
              <a:ea typeface="宋体" panose="02010600030101010101" pitchFamily="2" charset="-122"/>
            </a:endParaRPr>
          </a:p>
        </p:txBody>
      </p:sp>
      <p:sp>
        <p:nvSpPr>
          <p:cNvPr id="27654" name="矩形 7"/>
          <p:cNvSpPr/>
          <p:nvPr/>
        </p:nvSpPr>
        <p:spPr>
          <a:xfrm>
            <a:off x="5213350" y="1385888"/>
            <a:ext cx="3741738" cy="831850"/>
          </a:xfrm>
          <a:prstGeom prst="rect">
            <a:avLst/>
          </a:prstGeom>
          <a:noFill/>
          <a:ln w="9525">
            <a:noFill/>
          </a:ln>
        </p:spPr>
        <p:txBody>
          <a:bodyPr anchor="t" anchorCtr="0">
            <a:spAutoFit/>
          </a:bodyPr>
          <a:p>
            <a:pPr marL="285750" lvl="1" indent="-95250" defTabSz="914400" eaLnBrk="1" hangingPunct="1">
              <a:buClr>
                <a:schemeClr val="accent2"/>
              </a:buClr>
              <a:buSzPct val="70000"/>
              <a:tabLst>
                <a:tab pos="190500" algn="l"/>
              </a:tabLst>
            </a:pPr>
            <a:r>
              <a:rPr lang="en-US" altLang="zh-CN" sz="2400" dirty="0">
                <a:latin typeface="华文楷体" panose="02010600040101010101" pitchFamily="2" charset="-122"/>
                <a:ea typeface="宋体" panose="02010600030101010101" pitchFamily="2" charset="-122"/>
              </a:rPr>
              <a:t>Alter  table  department</a:t>
            </a:r>
            <a:endParaRPr lang="en-US" altLang="zh-CN" sz="2400" dirty="0">
              <a:latin typeface="华文楷体" panose="02010600040101010101" pitchFamily="2" charset="-122"/>
              <a:ea typeface="宋体" panose="02010600030101010101" pitchFamily="2" charset="-122"/>
            </a:endParaRPr>
          </a:p>
          <a:p>
            <a:pPr marL="285750" lvl="1" indent="-95250" defTabSz="914400" eaLnBrk="1" hangingPunct="1">
              <a:buClr>
                <a:schemeClr val="accent2"/>
              </a:buClr>
              <a:buSzPct val="70000"/>
              <a:tabLst>
                <a:tab pos="190500" algn="l"/>
              </a:tabLst>
            </a:pPr>
            <a:r>
              <a:rPr lang="en-US" altLang="zh-CN" sz="2400" dirty="0">
                <a:latin typeface="华文楷体" panose="02010600040101010101" pitchFamily="2" charset="-122"/>
                <a:ea typeface="宋体" panose="02010600030101010101" pitchFamily="2" charset="-122"/>
              </a:rPr>
              <a:t>Add director varchar(10)</a:t>
            </a:r>
            <a:endParaRPr lang="en-US" altLang="zh-CN" sz="2400" dirty="0">
              <a:latin typeface="华文楷体" panose="02010600040101010101" pitchFamily="2" charset="-122"/>
              <a:ea typeface="宋体" panose="02010600030101010101" pitchFamily="2" charset="-122"/>
            </a:endParaRPr>
          </a:p>
        </p:txBody>
      </p:sp>
      <p:sp>
        <p:nvSpPr>
          <p:cNvPr id="27655" name="矩形 8"/>
          <p:cNvSpPr/>
          <p:nvPr/>
        </p:nvSpPr>
        <p:spPr>
          <a:xfrm>
            <a:off x="588963" y="3751263"/>
            <a:ext cx="3328987" cy="461962"/>
          </a:xfrm>
          <a:prstGeom prst="rect">
            <a:avLst/>
          </a:prstGeom>
          <a:noFill/>
          <a:ln w="9525">
            <a:noFill/>
          </a:ln>
        </p:spPr>
        <p:txBody>
          <a:bodyPr wrap="none" anchor="t" anchorCtr="0">
            <a:spAutoFit/>
          </a:bodyPr>
          <a:p>
            <a:pPr>
              <a:buFont typeface="Wingdings" panose="05000000000000000000" pitchFamily="2" charset="2"/>
              <a:buChar char="p"/>
            </a:pPr>
            <a:r>
              <a:rPr lang="en-US" altLang="zh-CN" sz="2400" dirty="0">
                <a:solidFill>
                  <a:srgbClr val="FF0000"/>
                </a:solidFill>
                <a:latin typeface="Arial" panose="020B0604020202020204" pitchFamily="34" charset="0"/>
                <a:ea typeface="宋体" panose="02010600030101010101" pitchFamily="2" charset="-122"/>
              </a:rPr>
              <a:t> </a:t>
            </a:r>
            <a:r>
              <a:rPr lang="zh-CN" altLang="en-US" sz="2400" dirty="0">
                <a:solidFill>
                  <a:srgbClr val="FF0000"/>
                </a:solidFill>
                <a:latin typeface="Arial" panose="020B0604020202020204" pitchFamily="34" charset="0"/>
                <a:ea typeface="宋体" panose="02010600030101010101" pitchFamily="2" charset="-122"/>
              </a:rPr>
              <a:t>修改关系的地址属性</a:t>
            </a:r>
            <a:endParaRPr lang="zh-CN" altLang="en-US" sz="2400" dirty="0">
              <a:solidFill>
                <a:srgbClr val="FF0000"/>
              </a:solidFill>
              <a:latin typeface="Arial" panose="020B0604020202020204" pitchFamily="34" charset="0"/>
              <a:ea typeface="宋体" panose="02010600030101010101" pitchFamily="2" charset="-122"/>
            </a:endParaRPr>
          </a:p>
        </p:txBody>
      </p:sp>
      <p:sp>
        <p:nvSpPr>
          <p:cNvPr id="27656" name="矩形 9"/>
          <p:cNvSpPr/>
          <p:nvPr/>
        </p:nvSpPr>
        <p:spPr>
          <a:xfrm>
            <a:off x="449263" y="4151313"/>
            <a:ext cx="4187825" cy="830262"/>
          </a:xfrm>
          <a:prstGeom prst="rect">
            <a:avLst/>
          </a:prstGeom>
          <a:noFill/>
          <a:ln w="9525">
            <a:noFill/>
          </a:ln>
        </p:spPr>
        <p:txBody>
          <a:bodyPr anchor="t" anchorCtr="0">
            <a:spAutoFit/>
          </a:bodyPr>
          <a:p>
            <a:pPr marL="285750" lvl="1" indent="-95250" defTabSz="914400" eaLnBrk="1" hangingPunct="1">
              <a:buClr>
                <a:schemeClr val="accent2"/>
              </a:buClr>
              <a:buSzPct val="70000"/>
              <a:tabLst>
                <a:tab pos="190500" algn="l"/>
              </a:tabLst>
            </a:pPr>
            <a:r>
              <a:rPr lang="en-US" altLang="zh-CN" sz="2400" dirty="0">
                <a:latin typeface="华文楷体" panose="02010600040101010101" pitchFamily="2" charset="-122"/>
                <a:ea typeface="宋体" panose="02010600030101010101" pitchFamily="2" charset="-122"/>
              </a:rPr>
              <a:t>Alter  table  department</a:t>
            </a:r>
            <a:endParaRPr lang="en-US" altLang="zh-CN" sz="2400" dirty="0">
              <a:latin typeface="华文楷体" panose="02010600040101010101" pitchFamily="2" charset="-122"/>
              <a:ea typeface="宋体" panose="02010600030101010101" pitchFamily="2" charset="-122"/>
            </a:endParaRPr>
          </a:p>
          <a:p>
            <a:pPr marL="285750" lvl="1" indent="-95250" defTabSz="914400" eaLnBrk="1" hangingPunct="1">
              <a:buClr>
                <a:schemeClr val="accent2"/>
              </a:buClr>
              <a:buSzPct val="70000"/>
              <a:tabLst>
                <a:tab pos="190500" algn="l"/>
              </a:tabLst>
            </a:pPr>
            <a:r>
              <a:rPr lang="en-US" altLang="zh-CN" sz="2400" dirty="0">
                <a:latin typeface="华文楷体" panose="02010600040101010101" pitchFamily="2" charset="-122"/>
                <a:ea typeface="宋体" panose="02010600030101010101" pitchFamily="2" charset="-122"/>
              </a:rPr>
              <a:t>alter  column adress varchar(50)</a:t>
            </a:r>
            <a:endParaRPr lang="en-US" altLang="zh-CN" sz="2400" dirty="0">
              <a:latin typeface="华文楷体" panose="02010600040101010101" pitchFamily="2" charset="-122"/>
              <a:ea typeface="宋体" panose="02010600030101010101" pitchFamily="2" charset="-122"/>
            </a:endParaRPr>
          </a:p>
        </p:txBody>
      </p:sp>
      <p:sp>
        <p:nvSpPr>
          <p:cNvPr id="27657" name="矩形 10"/>
          <p:cNvSpPr/>
          <p:nvPr/>
        </p:nvSpPr>
        <p:spPr>
          <a:xfrm>
            <a:off x="4572000" y="4208463"/>
            <a:ext cx="4572000" cy="831850"/>
          </a:xfrm>
          <a:prstGeom prst="rect">
            <a:avLst/>
          </a:prstGeom>
          <a:noFill/>
          <a:ln w="9525">
            <a:noFill/>
          </a:ln>
        </p:spPr>
        <p:txBody>
          <a:bodyPr anchor="t" anchorCtr="0">
            <a:spAutoFit/>
          </a:bodyPr>
          <a:p>
            <a:r>
              <a:rPr lang="en-US" altLang="zh-CN" sz="2400" b="0" dirty="0">
                <a:latin typeface="Arial" panose="020B0604020202020204" pitchFamily="34" charset="0"/>
                <a:ea typeface="宋体" panose="02010600030101010101" pitchFamily="2" charset="-122"/>
              </a:rPr>
              <a:t>alter table department </a:t>
            </a:r>
            <a:endParaRPr lang="en-US" altLang="zh-CN" sz="2400" b="0" dirty="0">
              <a:latin typeface="Arial" panose="020B0604020202020204" pitchFamily="34" charset="0"/>
              <a:ea typeface="宋体" panose="02010600030101010101" pitchFamily="2" charset="-122"/>
            </a:endParaRPr>
          </a:p>
          <a:p>
            <a:r>
              <a:rPr lang="en-US" altLang="zh-CN" sz="2400" b="0" dirty="0">
                <a:latin typeface="Arial" panose="020B0604020202020204" pitchFamily="34" charset="0"/>
                <a:ea typeface="宋体" panose="02010600030101010101" pitchFamily="2" charset="-122"/>
              </a:rPr>
              <a:t> drop constraint tele_check</a:t>
            </a:r>
            <a:endParaRPr lang="zh-CN" altLang="en-US" sz="2400" b="0" dirty="0">
              <a:latin typeface="Arial" panose="020B0604020202020204" pitchFamily="34" charset="0"/>
              <a:ea typeface="宋体" panose="02010600030101010101" pitchFamily="2" charset="-122"/>
            </a:endParaRPr>
          </a:p>
        </p:txBody>
      </p:sp>
      <p:sp>
        <p:nvSpPr>
          <p:cNvPr id="27658" name="矩形 11"/>
          <p:cNvSpPr/>
          <p:nvPr/>
        </p:nvSpPr>
        <p:spPr>
          <a:xfrm>
            <a:off x="4549775" y="3810000"/>
            <a:ext cx="4594225" cy="461963"/>
          </a:xfrm>
          <a:prstGeom prst="rect">
            <a:avLst/>
          </a:prstGeom>
          <a:noFill/>
          <a:ln w="9525">
            <a:noFill/>
          </a:ln>
        </p:spPr>
        <p:txBody>
          <a:bodyPr wrap="none" anchor="t" anchorCtr="0">
            <a:spAutoFit/>
          </a:bodyPr>
          <a:p>
            <a:pPr>
              <a:buFont typeface="Wingdings" panose="05000000000000000000" pitchFamily="2" charset="2"/>
              <a:buChar char="p"/>
            </a:pPr>
            <a:r>
              <a:rPr lang="zh-CN" altLang="en-US" sz="2400" dirty="0">
                <a:solidFill>
                  <a:srgbClr val="FF0000"/>
                </a:solidFill>
                <a:latin typeface="Arial" panose="020B0604020202020204" pitchFamily="34" charset="0"/>
                <a:ea typeface="宋体" panose="02010600030101010101" pitchFamily="2" charset="-122"/>
              </a:rPr>
              <a:t>为系关系</a:t>
            </a:r>
            <a:r>
              <a:rPr lang="en-US" altLang="zh-CN" sz="2400" dirty="0">
                <a:solidFill>
                  <a:srgbClr val="FF0000"/>
                </a:solidFill>
                <a:latin typeface="Arial" panose="020B0604020202020204" pitchFamily="34" charset="0"/>
                <a:ea typeface="宋体" panose="02010600030101010101" pitchFamily="2" charset="-122"/>
              </a:rPr>
              <a:t> </a:t>
            </a:r>
            <a:r>
              <a:rPr lang="zh-CN" altLang="en-US" sz="2400" dirty="0">
                <a:solidFill>
                  <a:srgbClr val="FF0000"/>
                </a:solidFill>
                <a:latin typeface="Arial" panose="020B0604020202020204" pitchFamily="34" charset="0"/>
                <a:ea typeface="宋体" panose="02010600030101010101" pitchFamily="2" charset="-122"/>
              </a:rPr>
              <a:t>删除</a:t>
            </a:r>
            <a:r>
              <a:rPr lang="en-US" altLang="zh-CN" sz="2400" dirty="0">
                <a:solidFill>
                  <a:srgbClr val="FF0000"/>
                </a:solidFill>
                <a:latin typeface="Arial" panose="020B0604020202020204" pitchFamily="34" charset="0"/>
                <a:ea typeface="宋体" panose="02010600030101010101" pitchFamily="2" charset="-122"/>
              </a:rPr>
              <a:t>tele_check</a:t>
            </a:r>
            <a:r>
              <a:rPr lang="zh-CN" altLang="en-US" sz="2400" dirty="0">
                <a:solidFill>
                  <a:srgbClr val="FF0000"/>
                </a:solidFill>
                <a:latin typeface="Arial" panose="020B0604020202020204" pitchFamily="34" charset="0"/>
                <a:ea typeface="宋体" panose="02010600030101010101" pitchFamily="2" charset="-122"/>
              </a:rPr>
              <a:t>检查</a:t>
            </a:r>
            <a:endParaRPr lang="zh-CN" altLang="en-US" sz="2400" dirty="0">
              <a:solidFill>
                <a:srgbClr val="FF0000"/>
              </a:solidFill>
              <a:latin typeface="Arial" panose="020B0604020202020204" pitchFamily="34" charset="0"/>
              <a:ea typeface="宋体" panose="02010600030101010101" pitchFamily="2" charset="-122"/>
            </a:endParaRPr>
          </a:p>
        </p:txBody>
      </p:sp>
      <p:sp>
        <p:nvSpPr>
          <p:cNvPr id="27659" name="矩形 12"/>
          <p:cNvSpPr/>
          <p:nvPr/>
        </p:nvSpPr>
        <p:spPr>
          <a:xfrm>
            <a:off x="668338" y="5281613"/>
            <a:ext cx="8243887" cy="1108075"/>
          </a:xfrm>
          <a:prstGeom prst="rect">
            <a:avLst/>
          </a:prstGeom>
          <a:noFill/>
          <a:ln w="9525">
            <a:noFill/>
          </a:ln>
        </p:spPr>
        <p:txBody>
          <a:bodyPr anchor="t" anchorCtr="0">
            <a:spAutoFit/>
          </a:bodyPr>
          <a:p>
            <a:r>
              <a:rPr lang="en-US" altLang="zh-CN" sz="2200" b="0" dirty="0">
                <a:latin typeface="Arial" panose="020B0604020202020204" pitchFamily="34" charset="0"/>
                <a:ea typeface="宋体" panose="02010600030101010101" pitchFamily="2" charset="-122"/>
              </a:rPr>
              <a:t>alter table department</a:t>
            </a:r>
            <a:endParaRPr lang="en-US" altLang="zh-CN" sz="2200" b="0" dirty="0">
              <a:latin typeface="Arial" panose="020B0604020202020204" pitchFamily="34" charset="0"/>
              <a:ea typeface="宋体" panose="02010600030101010101" pitchFamily="2" charset="-122"/>
            </a:endParaRPr>
          </a:p>
          <a:p>
            <a:r>
              <a:rPr lang="en-US" altLang="zh-CN" sz="2200" b="0" dirty="0">
                <a:latin typeface="Arial" panose="020B0604020202020204" pitchFamily="34" charset="0"/>
                <a:ea typeface="宋体" panose="02010600030101010101" pitchFamily="2" charset="-122"/>
              </a:rPr>
              <a:t>add constraint tele_check check(telephone like '[0-9][0-9][0-9][0-9][0-9][0-9][0-9][0-9][0-9][0-9][0-9]')</a:t>
            </a:r>
            <a:endParaRPr lang="zh-CN" altLang="en-US" sz="2200" b="0" dirty="0">
              <a:latin typeface="Arial" panose="020B0604020202020204" pitchFamily="34" charset="0"/>
              <a:ea typeface="宋体" panose="02010600030101010101" pitchFamily="2" charset="-122"/>
            </a:endParaRPr>
          </a:p>
        </p:txBody>
      </p:sp>
      <p:sp>
        <p:nvSpPr>
          <p:cNvPr id="27660" name="矩形 13"/>
          <p:cNvSpPr/>
          <p:nvPr/>
        </p:nvSpPr>
        <p:spPr>
          <a:xfrm>
            <a:off x="552450" y="4862513"/>
            <a:ext cx="3852863" cy="461962"/>
          </a:xfrm>
          <a:prstGeom prst="rect">
            <a:avLst/>
          </a:prstGeom>
          <a:noFill/>
          <a:ln w="9525">
            <a:noFill/>
          </a:ln>
        </p:spPr>
        <p:txBody>
          <a:bodyPr wrap="none" anchor="t" anchorCtr="0">
            <a:spAutoFit/>
          </a:bodyPr>
          <a:p>
            <a:pPr>
              <a:buFont typeface="Wingdings" panose="05000000000000000000" pitchFamily="2" charset="2"/>
              <a:buChar char="p"/>
            </a:pPr>
            <a:r>
              <a:rPr lang="en-US" altLang="zh-CN" sz="2400" dirty="0">
                <a:solidFill>
                  <a:srgbClr val="FF0000"/>
                </a:solidFill>
                <a:latin typeface="Arial" panose="020B0604020202020204" pitchFamily="34" charset="0"/>
                <a:ea typeface="宋体" panose="02010600030101010101" pitchFamily="2" charset="-122"/>
              </a:rPr>
              <a:t> </a:t>
            </a:r>
            <a:r>
              <a:rPr lang="zh-CN" altLang="en-US" sz="2400" dirty="0">
                <a:solidFill>
                  <a:srgbClr val="FF0000"/>
                </a:solidFill>
                <a:latin typeface="Arial" panose="020B0604020202020204" pitchFamily="34" charset="0"/>
                <a:ea typeface="宋体" panose="02010600030101010101" pitchFamily="2" charset="-122"/>
              </a:rPr>
              <a:t>为</a:t>
            </a:r>
            <a:r>
              <a:rPr lang="en-US" altLang="zh-CN" sz="2400" dirty="0">
                <a:solidFill>
                  <a:srgbClr val="FF0000"/>
                </a:solidFill>
                <a:latin typeface="Arial" panose="020B0604020202020204" pitchFamily="34" charset="0"/>
                <a:ea typeface="宋体" panose="02010600030101010101" pitchFamily="2" charset="-122"/>
              </a:rPr>
              <a:t>telephone</a:t>
            </a:r>
            <a:r>
              <a:rPr lang="zh-CN" altLang="en-US" sz="2400" dirty="0">
                <a:solidFill>
                  <a:srgbClr val="FF0000"/>
                </a:solidFill>
                <a:latin typeface="Arial" panose="020B0604020202020204" pitchFamily="34" charset="0"/>
                <a:ea typeface="宋体" panose="02010600030101010101" pitchFamily="2" charset="-122"/>
              </a:rPr>
              <a:t>列添加约束</a:t>
            </a:r>
            <a:endParaRPr lang="zh-CN" altLang="en-US" sz="2400" dirty="0">
              <a:solidFill>
                <a:srgbClr val="FF0000"/>
              </a:solidFill>
              <a:latin typeface="Arial" panose="020B0604020202020204" pitchFamily="34" charset="0"/>
              <a:ea typeface="宋体" panose="02010600030101010101" pitchFamily="2" charset="-122"/>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28674" name="矩形 2"/>
          <p:cNvSpPr/>
          <p:nvPr/>
        </p:nvSpPr>
        <p:spPr>
          <a:xfrm>
            <a:off x="542925" y="881063"/>
            <a:ext cx="4165600" cy="944562"/>
          </a:xfrm>
          <a:prstGeom prst="rect">
            <a:avLst/>
          </a:prstGeom>
          <a:noFill/>
          <a:ln w="9525">
            <a:noFill/>
          </a:ln>
        </p:spPr>
        <p:txBody>
          <a:bodyPr wrap="none" anchor="t" anchorCtr="0">
            <a:spAutoFit/>
          </a:bodyPr>
          <a:p>
            <a:r>
              <a:rPr lang="en-US" altLang="zh-CN" sz="2800" dirty="0">
                <a:solidFill>
                  <a:srgbClr val="0033CC"/>
                </a:solidFill>
                <a:latin typeface="黑体" panose="02010609060101010101" pitchFamily="1" charset="-122"/>
                <a:ea typeface="黑体" panose="02010609060101010101" pitchFamily="1" charset="-122"/>
              </a:rPr>
              <a:t>4.</a:t>
            </a:r>
            <a:r>
              <a:rPr lang="zh-CN" altLang="en-US" sz="2800" dirty="0">
                <a:solidFill>
                  <a:srgbClr val="0033CC"/>
                </a:solidFill>
                <a:latin typeface="黑体" panose="02010609060101010101" pitchFamily="1" charset="-122"/>
                <a:ea typeface="黑体" panose="02010609060101010101" pitchFamily="1" charset="-122"/>
              </a:rPr>
              <a:t>定义数据表</a:t>
            </a:r>
            <a:r>
              <a:rPr lang="en-US" altLang="zh-CN" sz="2400" dirty="0">
                <a:solidFill>
                  <a:srgbClr val="FF0000"/>
                </a:solidFill>
                <a:latin typeface="黑体" panose="02010609060101010101" pitchFamily="1" charset="-122"/>
                <a:ea typeface="宋体" panose="02010600030101010101" pitchFamily="2" charset="-122"/>
              </a:rPr>
              <a:t>—</a:t>
            </a:r>
            <a:r>
              <a:rPr lang="zh-CN" altLang="en-US" sz="2400" dirty="0">
                <a:solidFill>
                  <a:srgbClr val="FF0000"/>
                </a:solidFill>
                <a:latin typeface="黑体" panose="02010609060101010101" pitchFamily="1" charset="-122"/>
                <a:ea typeface="宋体" panose="02010600030101010101" pitchFamily="2" charset="-122"/>
              </a:rPr>
              <a:t>修改与删除</a:t>
            </a:r>
            <a:endParaRPr lang="zh-CN" altLang="en-US" sz="2400" dirty="0">
              <a:solidFill>
                <a:srgbClr val="FF0000"/>
              </a:solidFill>
              <a:latin typeface="黑体" panose="02010609060101010101" pitchFamily="1" charset="-122"/>
              <a:ea typeface="宋体" panose="02010600030101010101" pitchFamily="2" charset="-122"/>
            </a:endParaRPr>
          </a:p>
          <a:p>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28675" name="Rectangle 3"/>
          <p:cNvSpPr txBox="1"/>
          <p:nvPr/>
        </p:nvSpPr>
        <p:spPr>
          <a:xfrm>
            <a:off x="619125" y="1870075"/>
            <a:ext cx="7905750" cy="2063750"/>
          </a:xfrm>
          <a:prstGeom prst="rect">
            <a:avLst/>
          </a:prstGeom>
          <a:noFill/>
          <a:ln w="9525">
            <a:noFill/>
          </a:ln>
        </p:spPr>
        <p:txBody>
          <a:bodyPr anchor="t" anchorCtr="0"/>
          <a:p>
            <a:pPr marL="342900" indent="-342900">
              <a:lnSpc>
                <a:spcPct val="110000"/>
              </a:lnSpc>
              <a:spcBef>
                <a:spcPts val="300"/>
              </a:spcBef>
              <a:buClr>
                <a:srgbClr val="0033CC"/>
              </a:buClr>
              <a:buSzPct val="80000"/>
              <a:buFont typeface="Wingdings" panose="05000000000000000000" pitchFamily="2" charset="2"/>
              <a:buChar char="u"/>
            </a:pPr>
            <a:r>
              <a:rPr lang="zh-CN" altLang="en-US" sz="2300" b="0" dirty="0">
                <a:latin typeface="楷体" panose="02010609060101010101" pitchFamily="1" charset="-122"/>
                <a:ea typeface="楷体" panose="02010609060101010101" pitchFamily="1" charset="-122"/>
              </a:rPr>
              <a:t>一般不能修改数据类型为</a:t>
            </a:r>
            <a:r>
              <a:rPr lang="en-US" altLang="zh-CN" sz="2300" b="0" dirty="0">
                <a:latin typeface="楷体" panose="02010609060101010101" pitchFamily="1" charset="-122"/>
                <a:ea typeface="楷体" panose="02010609060101010101" pitchFamily="1" charset="-122"/>
              </a:rPr>
              <a:t>Text, nText, Image大对象</a:t>
            </a:r>
            <a:r>
              <a:rPr lang="zh-CN" altLang="en-US" sz="2300" b="0" dirty="0">
                <a:latin typeface="楷体" panose="02010609060101010101" pitchFamily="1" charset="-122"/>
                <a:ea typeface="楷体" panose="02010609060101010101" pitchFamily="1" charset="-122"/>
              </a:rPr>
              <a:t>类型</a:t>
            </a:r>
            <a:r>
              <a:rPr lang="zh-CN" altLang="en-US" sz="2300" b="0" dirty="0">
                <a:latin typeface="楷体" panose="02010609060101010101" pitchFamily="1" charset="-122"/>
                <a:ea typeface="楷体" panose="02010609060101010101" pitchFamily="1" charset="-122"/>
              </a:rPr>
              <a:t>属性。</a:t>
            </a:r>
            <a:endParaRPr lang="zh-CN" altLang="en-US" sz="2300" b="0" dirty="0">
              <a:latin typeface="楷体" panose="02010609060101010101" pitchFamily="1" charset="-122"/>
              <a:ea typeface="楷体" panose="02010609060101010101" pitchFamily="1" charset="-122"/>
            </a:endParaRPr>
          </a:p>
          <a:p>
            <a:pPr marL="342900" indent="-342900">
              <a:lnSpc>
                <a:spcPct val="110000"/>
              </a:lnSpc>
              <a:spcBef>
                <a:spcPts val="300"/>
              </a:spcBef>
              <a:buClr>
                <a:srgbClr val="0033CC"/>
              </a:buClr>
              <a:buSzPct val="80000"/>
              <a:buFont typeface="Wingdings" panose="05000000000000000000" pitchFamily="2" charset="2"/>
              <a:buChar char="u"/>
            </a:pPr>
            <a:r>
              <a:rPr lang="zh-CN" altLang="en-US" sz="2300" b="0" dirty="0">
                <a:latin typeface="楷体" panose="02010609060101010101" pitchFamily="1" charset="-122"/>
                <a:ea typeface="楷体" panose="02010609060101010101" pitchFamily="1" charset="-122"/>
              </a:rPr>
              <a:t>不能修改计算列、约束、默认值或者索引中引用的列。</a:t>
            </a:r>
            <a:endParaRPr lang="zh-CN" altLang="en-US" sz="2300" b="0" dirty="0">
              <a:latin typeface="楷体" panose="02010609060101010101" pitchFamily="1" charset="-122"/>
              <a:ea typeface="楷体" panose="02010609060101010101" pitchFamily="1" charset="-122"/>
            </a:endParaRPr>
          </a:p>
          <a:p>
            <a:pPr marL="342900" indent="-342900">
              <a:lnSpc>
                <a:spcPct val="110000"/>
              </a:lnSpc>
              <a:spcBef>
                <a:spcPts val="300"/>
              </a:spcBef>
              <a:buClr>
                <a:srgbClr val="0033CC"/>
              </a:buClr>
              <a:buSzPct val="80000"/>
              <a:buFont typeface="Wingdings" panose="05000000000000000000" pitchFamily="2" charset="2"/>
              <a:buChar char="u"/>
            </a:pPr>
            <a:r>
              <a:rPr lang="zh-CN" altLang="en-US" sz="2300" b="0" dirty="0">
                <a:latin typeface="楷体" panose="02010609060101010101" pitchFamily="1" charset="-122"/>
                <a:ea typeface="楷体" panose="02010609060101010101" pitchFamily="1" charset="-122"/>
              </a:rPr>
              <a:t>不能对已有空值的列设为</a:t>
            </a:r>
            <a:r>
              <a:rPr lang="en-US" altLang="zh-CN" sz="2300" b="0" dirty="0">
                <a:latin typeface="楷体" panose="02010609060101010101" pitchFamily="1" charset="-122"/>
                <a:ea typeface="楷体" panose="02010609060101010101" pitchFamily="1" charset="-122"/>
              </a:rPr>
              <a:t>NOT NULL.</a:t>
            </a:r>
            <a:endParaRPr lang="en-US" altLang="zh-CN" sz="2300" b="0" dirty="0">
              <a:latin typeface="楷体" panose="02010609060101010101" pitchFamily="1" charset="-122"/>
              <a:ea typeface="楷体" panose="02010609060101010101" pitchFamily="1" charset="-122"/>
            </a:endParaRPr>
          </a:p>
          <a:p>
            <a:pPr marL="342900" indent="-342900">
              <a:lnSpc>
                <a:spcPct val="110000"/>
              </a:lnSpc>
              <a:spcBef>
                <a:spcPts val="300"/>
              </a:spcBef>
              <a:buClr>
                <a:srgbClr val="0033CC"/>
              </a:buClr>
              <a:buSzPct val="80000"/>
              <a:buFont typeface="Wingdings" panose="05000000000000000000" pitchFamily="2" charset="2"/>
              <a:buChar char="u"/>
            </a:pPr>
            <a:r>
              <a:rPr lang="zh-CN" altLang="en-US" sz="2300" b="0" dirty="0">
                <a:latin typeface="楷体" panose="02010609060101010101" pitchFamily="1" charset="-122"/>
                <a:ea typeface="楷体" panose="02010609060101010101" pitchFamily="1" charset="-122"/>
              </a:rPr>
              <a:t>新增加的列不能定义为“</a:t>
            </a:r>
            <a:r>
              <a:rPr lang="en-US" altLang="zh-CN" sz="2300" b="0" dirty="0">
                <a:latin typeface="楷体" panose="02010609060101010101" pitchFamily="1" charset="-122"/>
                <a:ea typeface="楷体" panose="02010609060101010101" pitchFamily="1" charset="-122"/>
              </a:rPr>
              <a:t>NOT NULL”</a:t>
            </a:r>
            <a:r>
              <a:rPr lang="zh-CN" altLang="en-US" sz="2300" b="0" dirty="0">
                <a:latin typeface="楷体" panose="02010609060101010101" pitchFamily="1" charset="-122"/>
                <a:ea typeface="楷体" panose="02010609060101010101" pitchFamily="1" charset="-122"/>
              </a:rPr>
              <a:t>。因为基本表在增加一列后，原有元组在增加的列上的值都被定义为空值。</a:t>
            </a:r>
            <a:endParaRPr lang="zh-CN" altLang="en-US" sz="2300" b="0" dirty="0">
              <a:latin typeface="楷体" panose="02010609060101010101" pitchFamily="1" charset="-122"/>
              <a:ea typeface="楷体" panose="02010609060101010101" pitchFamily="1" charset="-122"/>
            </a:endParaRPr>
          </a:p>
        </p:txBody>
      </p:sp>
      <p:sp>
        <p:nvSpPr>
          <p:cNvPr id="28676" name="矩形 4"/>
          <p:cNvSpPr/>
          <p:nvPr/>
        </p:nvSpPr>
        <p:spPr>
          <a:xfrm>
            <a:off x="638175" y="1255713"/>
            <a:ext cx="3254375" cy="569912"/>
          </a:xfrm>
          <a:prstGeom prst="rect">
            <a:avLst/>
          </a:prstGeom>
          <a:noFill/>
          <a:ln w="9525">
            <a:noFill/>
          </a:ln>
        </p:spPr>
        <p:txBody>
          <a:bodyPr wrap="none" anchor="t" anchorCtr="0">
            <a:spAutoFit/>
          </a:bodyPr>
          <a:p>
            <a:pPr>
              <a:lnSpc>
                <a:spcPct val="135000"/>
              </a:lnSpc>
              <a:buFont typeface="Wingdings" panose="05000000000000000000" pitchFamily="2" charset="2"/>
              <a:buChar char="p"/>
            </a:pPr>
            <a:r>
              <a:rPr lang="zh-CN" altLang="en-US" sz="2600" dirty="0">
                <a:solidFill>
                  <a:srgbClr val="FF0000"/>
                </a:solidFill>
                <a:latin typeface="Arial" panose="020B0604020202020204" pitchFamily="34" charset="0"/>
                <a:ea typeface="宋体" panose="02010600030101010101" pitchFamily="2" charset="-122"/>
              </a:rPr>
              <a:t> 表修改的注意事项</a:t>
            </a:r>
            <a:endParaRPr lang="zh-CN" altLang="en-US" sz="2600" dirty="0">
              <a:solidFill>
                <a:srgbClr val="FF0000"/>
              </a:solidFill>
              <a:latin typeface="Arial" panose="020B0604020202020204" pitchFamily="34" charset="0"/>
              <a:ea typeface="宋体" panose="02010600030101010101" pitchFamily="2" charset="-122"/>
            </a:endParaRPr>
          </a:p>
        </p:txBody>
      </p:sp>
      <p:sp>
        <p:nvSpPr>
          <p:cNvPr id="23558" name="AutoShape 2"/>
          <p:cNvSpPr/>
          <p:nvPr/>
        </p:nvSpPr>
        <p:spPr>
          <a:xfrm>
            <a:off x="642938" y="1825625"/>
            <a:ext cx="7997825" cy="2601913"/>
          </a:xfrm>
          <a:prstGeom prst="roundRect">
            <a:avLst>
              <a:gd name="adj" fmla="val 10375"/>
            </a:avLst>
          </a:prstGeom>
          <a:noFill/>
          <a:ln w="19050" cap="rnd" cmpd="sng">
            <a:solidFill>
              <a:schemeClr val="accent2"/>
            </a:solidFill>
            <a:prstDash val="sysDot"/>
            <a:headEnd type="none" w="med" len="med"/>
            <a:tailEnd type="none" w="med" len="med"/>
          </a:ln>
        </p:spPr>
        <p:txBody>
          <a:bodyPr wrap="none" anchor="ctr"/>
          <a:p>
            <a:pPr lvl="0" eaLnBrk="1" fontAlgn="base" hangingPunct="1">
              <a:lnSpc>
                <a:spcPct val="135000"/>
              </a:lnSpc>
              <a:buChar char="•"/>
            </a:pPr>
            <a:endParaRPr lang="zh-CN" altLang="en-US" strike="noStrike" noProof="1" dirty="0">
              <a:effectLst>
                <a:outerShdw blurRad="38100" dist="38100" dir="2700000">
                  <a:srgbClr val="C0C0C0"/>
                </a:outerShdw>
              </a:effectLst>
              <a:latin typeface="Arial" panose="020B0604020202020204" pitchFamily="34" charset="0"/>
              <a:ea typeface="宋体" panose="02010600030101010101" pitchFamily="2" charset="-122"/>
            </a:endParaRPr>
          </a:p>
        </p:txBody>
      </p:sp>
      <p:sp>
        <p:nvSpPr>
          <p:cNvPr id="28678" name="Rectangle 3"/>
          <p:cNvSpPr txBox="1"/>
          <p:nvPr/>
        </p:nvSpPr>
        <p:spPr>
          <a:xfrm>
            <a:off x="642938" y="5197475"/>
            <a:ext cx="8137525" cy="927100"/>
          </a:xfrm>
          <a:prstGeom prst="rect">
            <a:avLst/>
          </a:prstGeom>
          <a:noFill/>
          <a:ln w="9525">
            <a:noFill/>
          </a:ln>
        </p:spPr>
        <p:txBody>
          <a:bodyPr anchor="t" anchorCtr="0"/>
          <a:p>
            <a:pPr marL="342900" indent="-342900">
              <a:lnSpc>
                <a:spcPct val="120000"/>
              </a:lnSpc>
              <a:buClr>
                <a:srgbClr val="0033CC"/>
              </a:buClr>
              <a:buSzPct val="80000"/>
            </a:pPr>
            <a:r>
              <a:rPr lang="zh-CN" altLang="en-US" sz="2400" dirty="0">
                <a:latin typeface="华文楷体" panose="02010600040101010101" pitchFamily="2" charset="-122"/>
                <a:ea typeface="宋体" panose="02010600030101010101" pitchFamily="2" charset="-122"/>
              </a:rPr>
              <a:t>语法：</a:t>
            </a:r>
            <a:r>
              <a:rPr lang="en-US" altLang="zh-CN" sz="2400" dirty="0">
                <a:latin typeface="华文楷体" panose="02010600040101010101" pitchFamily="2" charset="-122"/>
                <a:ea typeface="宋体" panose="02010600030101010101" pitchFamily="2" charset="-122"/>
              </a:rPr>
              <a:t>DROP  TABLE  </a:t>
            </a:r>
            <a:r>
              <a:rPr lang="zh-CN" altLang="en-US" sz="2400" dirty="0">
                <a:latin typeface="华文楷体" panose="02010600040101010101" pitchFamily="2" charset="-122"/>
                <a:ea typeface="宋体" panose="02010600030101010101" pitchFamily="2" charset="-122"/>
              </a:rPr>
              <a:t>表名 </a:t>
            </a:r>
            <a:r>
              <a:rPr lang="en-US" altLang="zh-CN" sz="2400" dirty="0">
                <a:latin typeface="华文楷体" panose="02010600040101010101" pitchFamily="2" charset="-122"/>
                <a:ea typeface="宋体" panose="02010600030101010101" pitchFamily="2" charset="-122"/>
              </a:rPr>
              <a:t>[CASCADE|RESTRICT]</a:t>
            </a:r>
            <a:endParaRPr lang="en-US" altLang="zh-CN" sz="2400" dirty="0">
              <a:latin typeface="华文楷体" panose="02010600040101010101" pitchFamily="2" charset="-122"/>
              <a:ea typeface="宋体" panose="02010600030101010101" pitchFamily="2" charset="-122"/>
            </a:endParaRPr>
          </a:p>
          <a:p>
            <a:pPr marL="342900" indent="-342900">
              <a:lnSpc>
                <a:spcPct val="120000"/>
              </a:lnSpc>
              <a:buClr>
                <a:srgbClr val="0033CC"/>
              </a:buClr>
              <a:buSzPct val="80000"/>
            </a:pPr>
            <a:r>
              <a:rPr lang="zh-CN" altLang="en-US" sz="2400" dirty="0">
                <a:latin typeface="华文楷体" panose="02010600040101010101" pitchFamily="2" charset="-122"/>
                <a:ea typeface="宋体" panose="02010600030101010101" pitchFamily="2" charset="-122"/>
              </a:rPr>
              <a:t>一个基本表撤销后，所有的数据也就丢失了。</a:t>
            </a:r>
            <a:endParaRPr lang="zh-CN" altLang="en-US" sz="2400" dirty="0">
              <a:latin typeface="华文楷体" panose="02010600040101010101" pitchFamily="2" charset="-122"/>
              <a:ea typeface="宋体" panose="02010600030101010101" pitchFamily="2" charset="-122"/>
            </a:endParaRPr>
          </a:p>
        </p:txBody>
      </p:sp>
      <p:sp>
        <p:nvSpPr>
          <p:cNvPr id="28679" name="矩形 4"/>
          <p:cNvSpPr/>
          <p:nvPr/>
        </p:nvSpPr>
        <p:spPr>
          <a:xfrm>
            <a:off x="619125" y="4565650"/>
            <a:ext cx="1914525" cy="631825"/>
          </a:xfrm>
          <a:prstGeom prst="rect">
            <a:avLst/>
          </a:prstGeom>
          <a:noFill/>
          <a:ln w="9525">
            <a:noFill/>
          </a:ln>
        </p:spPr>
        <p:txBody>
          <a:bodyPr wrap="none" anchor="t" anchorCtr="0">
            <a:spAutoFit/>
          </a:bodyPr>
          <a:p>
            <a:pPr>
              <a:lnSpc>
                <a:spcPct val="135000"/>
              </a:lnSpc>
              <a:buFont typeface="Wingdings" panose="05000000000000000000" pitchFamily="2" charset="2"/>
              <a:buChar char="p"/>
            </a:pPr>
            <a:r>
              <a:rPr lang="zh-CN" altLang="en-US" sz="2600" dirty="0">
                <a:solidFill>
                  <a:srgbClr val="FF0000"/>
                </a:solidFill>
                <a:latin typeface="Arial" panose="020B0604020202020204" pitchFamily="34" charset="0"/>
                <a:ea typeface="宋体" panose="02010600030101010101" pitchFamily="2" charset="-122"/>
              </a:rPr>
              <a:t> 表的删除</a:t>
            </a:r>
            <a:endParaRPr lang="zh-CN" altLang="en-US" sz="2600" dirty="0">
              <a:solidFill>
                <a:srgbClr val="FF0000"/>
              </a:solidFill>
              <a:latin typeface="Arial" panose="020B0604020202020204" pitchFamily="34" charset="0"/>
              <a:ea typeface="宋体" panose="02010600030101010101" pitchFamily="2" charset="-122"/>
            </a:endParaRPr>
          </a:p>
        </p:txBody>
      </p:sp>
      <p:sp>
        <p:nvSpPr>
          <p:cNvPr id="28680" name="文本框 1"/>
          <p:cNvSpPr txBox="1"/>
          <p:nvPr/>
        </p:nvSpPr>
        <p:spPr>
          <a:xfrm>
            <a:off x="5357813" y="4543425"/>
            <a:ext cx="3167062" cy="644525"/>
          </a:xfrm>
          <a:prstGeom prst="rect">
            <a:avLst/>
          </a:prstGeom>
          <a:noFill/>
          <a:ln w="9525">
            <a:noFill/>
          </a:ln>
        </p:spPr>
        <p:txBody>
          <a:bodyPr wrap="square" anchor="t" anchorCtr="0">
            <a:spAutoFit/>
          </a:bodyPr>
          <a:p>
            <a:r>
              <a:rPr lang="zh-CN" altLang="en-US">
                <a:latin typeface="Arial" panose="020B0604020202020204" pitchFamily="34" charset="0"/>
                <a:ea typeface="宋体" panose="02010600030101010101" pitchFamily="2" charset="-122"/>
              </a:rPr>
              <a:t>确保只有不存在相关视图和完整性约束的表才能删除</a:t>
            </a:r>
            <a:endParaRPr lang="zh-CN" altLang="en-US">
              <a:latin typeface="Arial" panose="020B0604020202020204" pitchFamily="34" charset="0"/>
              <a:ea typeface="宋体" panose="02010600030101010101" pitchFamily="2" charset="-122"/>
            </a:endParaRPr>
          </a:p>
        </p:txBody>
      </p:sp>
      <p:sp>
        <p:nvSpPr>
          <p:cNvPr id="3" name="上箭头 2"/>
          <p:cNvSpPr/>
          <p:nvPr/>
        </p:nvSpPr>
        <p:spPr>
          <a:xfrm rot="21000000">
            <a:off x="6605588" y="5057775"/>
            <a:ext cx="288925" cy="317500"/>
          </a:xfrm>
          <a:prstGeom prst="upArrow">
            <a:avLst/>
          </a:prstGeom>
          <a:solidFill>
            <a:srgbClr val="0033CC"/>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 name="文本框 44"/>
          <p:cNvSpPr txBox="1"/>
          <p:nvPr/>
        </p:nvSpPr>
        <p:spPr>
          <a:xfrm>
            <a:off x="465138" y="-19050"/>
            <a:ext cx="2681288" cy="830263"/>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问题研讨：</a:t>
            </a:r>
            <a:endParaRPr kumimoji="0" lang="zh-CN" altLang="en-US" sz="3200" kern="1200" cap="none" spc="0" normalizeH="0" baseline="0" noProof="0" dirty="0">
              <a:latin typeface="Arial" panose="020B0604020202020204" pitchFamily="34" charset="0"/>
              <a:ea typeface="宋体" panose="02010600030101010101" pitchFamily="2" charset="-122"/>
              <a:cs typeface="+mn-cs"/>
            </a:endParaRPr>
          </a:p>
        </p:txBody>
      </p:sp>
      <p:sp>
        <p:nvSpPr>
          <p:cNvPr id="27651" name="文本框 1"/>
          <p:cNvSpPr txBox="1"/>
          <p:nvPr/>
        </p:nvSpPr>
        <p:spPr>
          <a:xfrm>
            <a:off x="628650" y="958850"/>
            <a:ext cx="7921625" cy="491013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1800" dirty="0"/>
              <a:t>1</a:t>
            </a:r>
            <a:r>
              <a:rPr lang="zh-CN" altLang="en-US" sz="1800" dirty="0"/>
              <a:t>、进入要操作的数据库TEST用以下哪一项（     ）</a:t>
            </a:r>
            <a:endParaRPr lang="zh-CN" altLang="en-US" sz="1800" dirty="0"/>
          </a:p>
          <a:p>
            <a:pPr marL="0" lvl="0" indent="0" eaLnBrk="1" hangingPunct="1">
              <a:lnSpc>
                <a:spcPct val="135000"/>
              </a:lnSpc>
              <a:spcBef>
                <a:spcPct val="0"/>
              </a:spcBef>
              <a:buClrTx/>
              <a:buSzTx/>
              <a:buFont typeface="Arial" panose="020B0604020202020204" pitchFamily="34" charset="0"/>
              <a:buNone/>
            </a:pPr>
            <a:r>
              <a:rPr lang="zh-CN" altLang="en-US" sz="1800" dirty="0"/>
              <a:t>A．IN TEST       B．SHOW TEST        C．USER TEST        D．USE TEST</a:t>
            </a:r>
            <a:endParaRPr lang="zh-CN" altLang="en-US" sz="1800" dirty="0"/>
          </a:p>
          <a:p>
            <a:pPr marL="0" lvl="0" indent="0" eaLnBrk="1" hangingPunct="1">
              <a:lnSpc>
                <a:spcPct val="135000"/>
              </a:lnSpc>
              <a:spcBef>
                <a:spcPct val="0"/>
              </a:spcBef>
              <a:buClrTx/>
              <a:buSzTx/>
              <a:buFont typeface="Arial" panose="020B0604020202020204" pitchFamily="34" charset="0"/>
              <a:buNone/>
            </a:pPr>
            <a:r>
              <a:rPr lang="en-US" altLang="zh-CN" sz="1800" dirty="0"/>
              <a:t>2</a:t>
            </a:r>
            <a:r>
              <a:rPr lang="zh-CN" altLang="en-US" sz="1800" dirty="0"/>
              <a:t>、以下删除数据库正确的（       ）</a:t>
            </a:r>
            <a:endParaRPr lang="zh-CN" altLang="en-US" sz="1800" dirty="0"/>
          </a:p>
          <a:p>
            <a:pPr marL="0" lvl="0" indent="0" eaLnBrk="1" hangingPunct="1">
              <a:lnSpc>
                <a:spcPct val="135000"/>
              </a:lnSpc>
              <a:spcBef>
                <a:spcPct val="0"/>
              </a:spcBef>
              <a:buClrTx/>
              <a:buSzTx/>
              <a:buFont typeface="Arial" panose="020B0604020202020204" pitchFamily="34" charset="0"/>
              <a:buNone/>
            </a:pPr>
            <a:r>
              <a:rPr lang="zh-CN" altLang="en-US" sz="1800" dirty="0"/>
              <a:t>A．Delete * from emp       B．Drop database emp</a:t>
            </a:r>
            <a:endParaRPr lang="zh-CN" altLang="en-US" sz="1800" dirty="0"/>
          </a:p>
          <a:p>
            <a:pPr marL="0" lvl="0" indent="0" eaLnBrk="1" hangingPunct="1">
              <a:lnSpc>
                <a:spcPct val="135000"/>
              </a:lnSpc>
              <a:spcBef>
                <a:spcPct val="0"/>
              </a:spcBef>
              <a:buClrTx/>
              <a:buSzTx/>
              <a:buFont typeface="Arial" panose="020B0604020202020204" pitchFamily="34" charset="0"/>
              <a:buNone/>
            </a:pPr>
            <a:r>
              <a:rPr lang="zh-CN" altLang="en-US" sz="1800" dirty="0"/>
              <a:t>C．Drop * from emp         D．delete database emp</a:t>
            </a:r>
            <a:endParaRPr lang="zh-CN" altLang="en-US" sz="1800" dirty="0"/>
          </a:p>
          <a:p>
            <a:pPr marL="0" lvl="0" indent="0" eaLnBrk="1" hangingPunct="1">
              <a:lnSpc>
                <a:spcPct val="135000"/>
              </a:lnSpc>
              <a:spcBef>
                <a:spcPct val="0"/>
              </a:spcBef>
              <a:buClrTx/>
              <a:buSzTx/>
              <a:buFont typeface="Arial" panose="020B0604020202020204" pitchFamily="34" charset="0"/>
              <a:buNone/>
            </a:pPr>
            <a:r>
              <a:rPr lang="en-US" altLang="zh-CN" sz="1800" dirty="0"/>
              <a:t>3</a:t>
            </a:r>
            <a:r>
              <a:rPr lang="zh-CN" altLang="en-US" sz="1800" dirty="0"/>
              <a:t>、学生关系模式 S（ </a:t>
            </a:r>
            <a:r>
              <a:rPr lang="zh-CN" altLang="en-US" sz="1800" u="sng" dirty="0"/>
              <a:t>S</a:t>
            </a:r>
            <a:r>
              <a:rPr lang="en-US" altLang="zh-CN" sz="1800" u="sng" dirty="0"/>
              <a:t>ID</a:t>
            </a:r>
            <a:r>
              <a:rPr lang="zh-CN" altLang="en-US" sz="1800" dirty="0"/>
              <a:t>，Sname，Sex，Age），S的属性分别表示学生的学号、姓名、性别、年龄。要在表S中删除一个属性“年龄”，可选用的SQL语句是（      ）</a:t>
            </a:r>
            <a:endParaRPr lang="zh-CN" altLang="en-US" sz="1800" dirty="0"/>
          </a:p>
          <a:p>
            <a:pPr marL="0" lvl="0" indent="0" eaLnBrk="1" hangingPunct="1">
              <a:lnSpc>
                <a:spcPct val="135000"/>
              </a:lnSpc>
              <a:spcBef>
                <a:spcPct val="0"/>
              </a:spcBef>
              <a:buClrTx/>
              <a:buSzTx/>
              <a:buFont typeface="Arial" panose="020B0604020202020204" pitchFamily="34" charset="0"/>
              <a:buNone/>
            </a:pPr>
            <a:r>
              <a:rPr lang="zh-CN" altLang="en-US" sz="1800" dirty="0"/>
              <a:t>A． UPDATE S Age                    B．DELETE Age from S</a:t>
            </a:r>
            <a:endParaRPr lang="zh-CN" altLang="en-US" sz="1800" dirty="0"/>
          </a:p>
          <a:p>
            <a:pPr marL="0" lvl="0" indent="0" eaLnBrk="1" hangingPunct="1">
              <a:lnSpc>
                <a:spcPct val="135000"/>
              </a:lnSpc>
              <a:spcBef>
                <a:spcPct val="0"/>
              </a:spcBef>
              <a:buClrTx/>
              <a:buSzTx/>
              <a:buFont typeface="Arial" panose="020B0604020202020204" pitchFamily="34" charset="0"/>
              <a:buNone/>
            </a:pPr>
            <a:r>
              <a:rPr lang="zh-CN" altLang="en-US" sz="1800" dirty="0"/>
              <a:t>C．ALTER TABLE S ‘Age’    D． ALTER TABLE S DROP Age</a:t>
            </a:r>
            <a:endParaRPr lang="zh-CN" altLang="en-US" sz="1800" dirty="0"/>
          </a:p>
          <a:p>
            <a:pPr marL="0" lvl="0" indent="0" eaLnBrk="1" hangingPunct="1">
              <a:lnSpc>
                <a:spcPct val="135000"/>
              </a:lnSpc>
              <a:spcBef>
                <a:spcPct val="0"/>
              </a:spcBef>
              <a:buClrTx/>
              <a:buSzTx/>
              <a:buFont typeface="Arial" panose="020B0604020202020204" pitchFamily="34" charset="0"/>
              <a:buNone/>
            </a:pPr>
            <a:r>
              <a:rPr lang="en-US" altLang="zh-CN" sz="1800" dirty="0"/>
              <a:t>4</a:t>
            </a:r>
            <a:r>
              <a:rPr lang="zh-CN" altLang="en-US" sz="1800" dirty="0"/>
              <a:t>、若要撤销数据库中已经存在的表S，可用（        ）</a:t>
            </a:r>
            <a:endParaRPr lang="zh-CN" altLang="en-US" sz="1800" dirty="0"/>
          </a:p>
          <a:p>
            <a:pPr marL="0" lvl="0" indent="0" eaLnBrk="1" hangingPunct="1">
              <a:lnSpc>
                <a:spcPct val="135000"/>
              </a:lnSpc>
              <a:spcBef>
                <a:spcPct val="0"/>
              </a:spcBef>
              <a:buClrTx/>
              <a:buSzTx/>
              <a:buFont typeface="Arial" panose="020B0604020202020204" pitchFamily="34" charset="0"/>
              <a:buNone/>
            </a:pPr>
            <a:r>
              <a:rPr lang="zh-CN" altLang="en-US" sz="1800" dirty="0"/>
              <a:t>A．DELETE TABLE S                B．DELETE S</a:t>
            </a:r>
            <a:endParaRPr lang="zh-CN" altLang="en-US" sz="1800" dirty="0"/>
          </a:p>
          <a:p>
            <a:pPr marL="0" lvl="0" indent="0" eaLnBrk="1" hangingPunct="1">
              <a:lnSpc>
                <a:spcPct val="135000"/>
              </a:lnSpc>
              <a:spcBef>
                <a:spcPct val="0"/>
              </a:spcBef>
              <a:buClrTx/>
              <a:buSzTx/>
              <a:buFont typeface="Arial" panose="020B0604020202020204" pitchFamily="34" charset="0"/>
              <a:buNone/>
            </a:pPr>
            <a:r>
              <a:rPr lang="zh-CN" altLang="en-US" sz="1800" dirty="0"/>
              <a:t>C．DROP S                                 D．DROP TABLE S</a:t>
            </a:r>
            <a:endParaRPr lang="zh-CN" altLang="en-US" sz="1800" dirty="0"/>
          </a:p>
        </p:txBody>
      </p:sp>
      <p:sp>
        <p:nvSpPr>
          <p:cNvPr id="3" name="文本框 2"/>
          <p:cNvSpPr txBox="1"/>
          <p:nvPr/>
        </p:nvSpPr>
        <p:spPr>
          <a:xfrm>
            <a:off x="5297488" y="958850"/>
            <a:ext cx="376238" cy="590550"/>
          </a:xfrm>
          <a:prstGeom prst="rect">
            <a:avLst/>
          </a:prstGeom>
          <a:noFill/>
        </p:spPr>
        <p:txBody>
          <a:bodyPr wrap="none">
            <a:spAutoFit/>
          </a:bodyPr>
          <a:lstStyle/>
          <a:p>
            <a:pPr marR="0" defTabSz="914400" eaLnBrk="1" hangingPunct="1">
              <a:buClrTx/>
              <a:buSzTx/>
              <a:buFont typeface="Arial" panose="020B0604020202020204" pitchFamily="34" charset="0"/>
              <a:buNone/>
              <a:defRPr/>
            </a:pPr>
            <a:r>
              <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D</a:t>
            </a:r>
            <a:endParaRPr kumimoji="0" lang="en-US" altLang="zh-CN" sz="2400" kern="1200" cap="none" spc="0" normalizeH="0" baseline="0" noProof="0">
              <a:latin typeface="Arial" panose="020B0604020202020204" pitchFamily="34" charset="0"/>
              <a:ea typeface="宋体" panose="02010600030101010101" pitchFamily="2" charset="-122"/>
              <a:cs typeface="+mn-cs"/>
            </a:endParaRPr>
          </a:p>
        </p:txBody>
      </p:sp>
      <p:sp>
        <p:nvSpPr>
          <p:cNvPr id="4" name="文本框 3"/>
          <p:cNvSpPr txBox="1"/>
          <p:nvPr/>
        </p:nvSpPr>
        <p:spPr>
          <a:xfrm>
            <a:off x="3624263" y="1685925"/>
            <a:ext cx="354013" cy="590550"/>
          </a:xfrm>
          <a:prstGeom prst="rect">
            <a:avLst/>
          </a:prstGeom>
          <a:noFill/>
        </p:spPr>
        <p:txBody>
          <a:bodyPr wrap="none">
            <a:spAutoFit/>
          </a:bodyPr>
          <a:lstStyle/>
          <a:p>
            <a:pPr marR="0" defTabSz="914400" eaLnBrk="1" hangingPunct="1">
              <a:buClrTx/>
              <a:buSzTx/>
              <a:buFont typeface="Arial" panose="020B0604020202020204" pitchFamily="34" charset="0"/>
              <a:buNone/>
              <a:defRPr/>
            </a:pPr>
            <a:r>
              <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B</a:t>
            </a:r>
            <a:endParaRPr kumimoji="0" lang="en-US" altLang="zh-CN" sz="2400" kern="1200" cap="none" spc="0" normalizeH="0" baseline="0" noProof="0">
              <a:latin typeface="Arial" panose="020B0604020202020204" pitchFamily="34" charset="0"/>
              <a:ea typeface="宋体" panose="02010600030101010101" pitchFamily="2" charset="-122"/>
              <a:cs typeface="+mn-cs"/>
            </a:endParaRPr>
          </a:p>
        </p:txBody>
      </p:sp>
      <p:sp>
        <p:nvSpPr>
          <p:cNvPr id="5" name="文本框 4"/>
          <p:cNvSpPr txBox="1"/>
          <p:nvPr/>
        </p:nvSpPr>
        <p:spPr>
          <a:xfrm>
            <a:off x="2076450" y="3543300"/>
            <a:ext cx="374650" cy="588963"/>
          </a:xfrm>
          <a:prstGeom prst="rect">
            <a:avLst/>
          </a:prstGeom>
          <a:noFill/>
        </p:spPr>
        <p:txBody>
          <a:bodyPr wrap="none">
            <a:spAutoFit/>
          </a:bodyPr>
          <a:lstStyle/>
          <a:p>
            <a:pPr marR="0" defTabSz="914400" eaLnBrk="1" hangingPunct="1">
              <a:buClrTx/>
              <a:buSzTx/>
              <a:buFont typeface="Arial" panose="020B0604020202020204" pitchFamily="34" charset="0"/>
              <a:buNone/>
              <a:defRPr/>
            </a:pPr>
            <a:r>
              <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D</a:t>
            </a:r>
            <a:endPar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endParaRPr>
          </a:p>
        </p:txBody>
      </p:sp>
      <p:sp>
        <p:nvSpPr>
          <p:cNvPr id="6" name="文本框 5"/>
          <p:cNvSpPr txBox="1"/>
          <p:nvPr/>
        </p:nvSpPr>
        <p:spPr>
          <a:xfrm>
            <a:off x="5399088" y="4656138"/>
            <a:ext cx="376238" cy="588963"/>
          </a:xfrm>
          <a:prstGeom prst="rect">
            <a:avLst/>
          </a:prstGeom>
          <a:noFill/>
        </p:spPr>
        <p:txBody>
          <a:bodyPr wrap="none">
            <a:spAutoFit/>
          </a:bodyPr>
          <a:lstStyle/>
          <a:p>
            <a:pPr marR="0" defTabSz="914400" eaLnBrk="1" hangingPunct="1">
              <a:buClrTx/>
              <a:buSzTx/>
              <a:buFont typeface="Arial" panose="020B0604020202020204" pitchFamily="34" charset="0"/>
              <a:buNone/>
              <a:defRPr/>
            </a:pPr>
            <a:r>
              <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D</a:t>
            </a:r>
            <a:endPar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ppt_x"/>
                                          </p:val>
                                        </p:tav>
                                        <p:tav tm="100000">
                                          <p:val>
                                            <p:strVal val="#ppt_x"/>
                                          </p:val>
                                        </p:tav>
                                      </p:tavLst>
                                    </p:anim>
                                    <p:anim calcmode="lin" valueType="num">
                                      <p:cBhvr additive="base">
                                        <p:cTn id="2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矩形 4"/>
          <p:cNvSpPr/>
          <p:nvPr/>
        </p:nvSpPr>
        <p:spPr>
          <a:xfrm>
            <a:off x="528638" y="1430338"/>
            <a:ext cx="7986712" cy="24003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00" lvl="1" indent="0" defTabSz="914400" eaLnBrk="1" hangingPunct="1">
              <a:lnSpc>
                <a:spcPct val="125000"/>
              </a:lnSpc>
              <a:spcBef>
                <a:spcPct val="0"/>
              </a:spcBef>
              <a:buFont typeface="Arial" panose="020B0604020202020204" pitchFamily="34" charset="0"/>
              <a:buNone/>
              <a:tabLst>
                <a:tab pos="190500" algn="l"/>
              </a:tabLst>
            </a:pPr>
            <a:r>
              <a:rPr lang="en-US" altLang="zh-CN" sz="2000" dirty="0">
                <a:latin typeface="华文楷体" panose="02010600040101010101" pitchFamily="2" charset="-122"/>
              </a:rPr>
              <a:t>CREATE TABLE  Student</a:t>
            </a:r>
            <a:endParaRPr lang="en-US" altLang="zh-CN" sz="2000" dirty="0">
              <a:latin typeface="华文楷体" panose="02010600040101010101" pitchFamily="2" charset="-122"/>
            </a:endParaRPr>
          </a:p>
          <a:p>
            <a:pPr marL="190500" lvl="1" indent="0" defTabSz="914400" eaLnBrk="1" hangingPunct="1">
              <a:lnSpc>
                <a:spcPct val="125000"/>
              </a:lnSpc>
              <a:spcBef>
                <a:spcPct val="0"/>
              </a:spcBef>
              <a:buFont typeface="Arial" panose="020B0604020202020204" pitchFamily="34" charset="0"/>
              <a:buNone/>
              <a:tabLst>
                <a:tab pos="190500" algn="l"/>
              </a:tabLst>
            </a:pPr>
            <a:r>
              <a:rPr lang="en-US" altLang="zh-CN" sz="2000" dirty="0">
                <a:latin typeface="华文楷体" panose="02010600040101010101" pitchFamily="2" charset="-122"/>
              </a:rPr>
              <a:t>(   SNo   char(10)   PRIMARY  KEY,    SName  varchar(20)   NOT NULL,</a:t>
            </a:r>
            <a:endParaRPr lang="en-US" altLang="zh-CN" sz="2000" dirty="0">
              <a:latin typeface="华文楷体" panose="02010600040101010101" pitchFamily="2" charset="-122"/>
            </a:endParaRPr>
          </a:p>
          <a:p>
            <a:pPr marL="190500" lvl="1" indent="0" defTabSz="914400" eaLnBrk="1" hangingPunct="1">
              <a:lnSpc>
                <a:spcPct val="125000"/>
              </a:lnSpc>
              <a:spcBef>
                <a:spcPct val="0"/>
              </a:spcBef>
              <a:buFont typeface="Arial" panose="020B0604020202020204" pitchFamily="34" charset="0"/>
              <a:buNone/>
              <a:tabLst>
                <a:tab pos="190500" algn="l"/>
              </a:tabLst>
            </a:pPr>
            <a:r>
              <a:rPr lang="en-US" altLang="zh-CN" sz="2000" dirty="0">
                <a:latin typeface="华文楷体" panose="02010600040101010101" pitchFamily="2" charset="-122"/>
              </a:rPr>
              <a:t>    SGender char(2),   SAge tinyint    )</a:t>
            </a:r>
            <a:endParaRPr lang="en-US" altLang="zh-CN" sz="2000" dirty="0">
              <a:latin typeface="华文楷体" panose="02010600040101010101" pitchFamily="2" charset="-122"/>
            </a:endParaRPr>
          </a:p>
          <a:p>
            <a:pPr marL="190500" lvl="1" indent="0" defTabSz="914400" eaLnBrk="1" hangingPunct="1">
              <a:lnSpc>
                <a:spcPct val="125000"/>
              </a:lnSpc>
              <a:spcBef>
                <a:spcPct val="0"/>
              </a:spcBef>
              <a:buFont typeface="Arial" panose="020B0604020202020204" pitchFamily="34" charset="0"/>
              <a:buNone/>
              <a:tabLst>
                <a:tab pos="190500" algn="l"/>
              </a:tabLst>
            </a:pPr>
            <a:r>
              <a:rPr lang="zh-CN" altLang="en-US" sz="2000" dirty="0">
                <a:latin typeface="华文楷体" panose="02010600040101010101" pitchFamily="2" charset="-122"/>
              </a:rPr>
              <a:t>（</a:t>
            </a:r>
            <a:r>
              <a:rPr lang="en-US" altLang="zh-CN" sz="2000" dirty="0">
                <a:latin typeface="华文楷体" panose="02010600040101010101" pitchFamily="2" charset="-122"/>
              </a:rPr>
              <a:t>1</a:t>
            </a:r>
            <a:r>
              <a:rPr lang="zh-CN" altLang="en-US" sz="2000" dirty="0">
                <a:latin typeface="华文楷体" panose="02010600040101010101" pitchFamily="2" charset="-122"/>
              </a:rPr>
              <a:t>）为学生表添加专业</a:t>
            </a:r>
            <a:r>
              <a:rPr lang="en-US" altLang="zh-CN" sz="2000" dirty="0">
                <a:latin typeface="华文楷体" panose="02010600040101010101" pitchFamily="2" charset="-122"/>
              </a:rPr>
              <a:t>Major</a:t>
            </a:r>
            <a:r>
              <a:rPr lang="zh-CN" altLang="en-US" sz="2000" dirty="0">
                <a:latin typeface="华文楷体" panose="02010600040101010101" pitchFamily="2" charset="-122"/>
              </a:rPr>
              <a:t>属性并设置为非空</a:t>
            </a:r>
            <a:endParaRPr lang="zh-CN" altLang="en-US" sz="2000" dirty="0">
              <a:latin typeface="华文楷体" panose="02010600040101010101" pitchFamily="2" charset="-122"/>
            </a:endParaRPr>
          </a:p>
          <a:p>
            <a:pPr marL="190500" lvl="1" indent="0" defTabSz="914400" eaLnBrk="1" hangingPunct="1">
              <a:lnSpc>
                <a:spcPct val="125000"/>
              </a:lnSpc>
              <a:spcBef>
                <a:spcPct val="0"/>
              </a:spcBef>
              <a:buFont typeface="Arial" panose="020B0604020202020204" pitchFamily="34" charset="0"/>
              <a:buNone/>
              <a:tabLst>
                <a:tab pos="190500" algn="l"/>
              </a:tabLst>
            </a:pPr>
            <a:r>
              <a:rPr lang="zh-CN" altLang="en-US" sz="2000" dirty="0">
                <a:latin typeface="华文楷体" panose="02010600040101010101" pitchFamily="2" charset="-122"/>
              </a:rPr>
              <a:t>（</a:t>
            </a:r>
            <a:r>
              <a:rPr lang="en-US" altLang="zh-CN" sz="2000" dirty="0">
                <a:latin typeface="华文楷体" panose="02010600040101010101" pitchFamily="2" charset="-122"/>
              </a:rPr>
              <a:t>2</a:t>
            </a:r>
            <a:r>
              <a:rPr lang="zh-CN" altLang="en-US" sz="2000" dirty="0">
                <a:latin typeface="华文楷体" panose="02010600040101010101" pitchFamily="2" charset="-122"/>
              </a:rPr>
              <a:t>）为</a:t>
            </a:r>
            <a:r>
              <a:rPr lang="en-US" altLang="zh-CN" sz="2000" dirty="0">
                <a:latin typeface="华文楷体" panose="02010600040101010101" pitchFamily="2" charset="-122"/>
              </a:rPr>
              <a:t>SName</a:t>
            </a:r>
            <a:r>
              <a:rPr lang="zh-CN" altLang="en-US" sz="2000" dirty="0">
                <a:latin typeface="华文楷体" panose="02010600040101010101" pitchFamily="2" charset="-122"/>
              </a:rPr>
              <a:t>列添加唯一约束</a:t>
            </a:r>
            <a:endParaRPr lang="zh-CN" altLang="en-US" sz="2000" dirty="0">
              <a:latin typeface="华文楷体" panose="02010600040101010101" pitchFamily="2" charset="-122"/>
            </a:endParaRPr>
          </a:p>
          <a:p>
            <a:pPr marL="190500" lvl="1" indent="0" defTabSz="914400" eaLnBrk="1" hangingPunct="1">
              <a:lnSpc>
                <a:spcPct val="125000"/>
              </a:lnSpc>
              <a:spcBef>
                <a:spcPct val="0"/>
              </a:spcBef>
              <a:buFont typeface="Arial" panose="020B0604020202020204" pitchFamily="34" charset="0"/>
              <a:buNone/>
              <a:tabLst>
                <a:tab pos="190500" algn="l"/>
              </a:tabLst>
            </a:pPr>
            <a:r>
              <a:rPr lang="zh-CN" altLang="en-US" sz="2000" dirty="0">
                <a:latin typeface="华文楷体" panose="02010600040101010101" pitchFamily="2" charset="-122"/>
              </a:rPr>
              <a:t>（</a:t>
            </a:r>
            <a:r>
              <a:rPr lang="en-US" altLang="zh-CN" sz="2000" dirty="0">
                <a:latin typeface="华文楷体" panose="02010600040101010101" pitchFamily="2" charset="-122"/>
              </a:rPr>
              <a:t>2</a:t>
            </a:r>
            <a:r>
              <a:rPr lang="zh-CN" altLang="en-US" sz="2000" dirty="0">
                <a:latin typeface="华文楷体" panose="02010600040101010101" pitchFamily="2" charset="-122"/>
              </a:rPr>
              <a:t>）为</a:t>
            </a:r>
            <a:r>
              <a:rPr lang="en-US" altLang="zh-CN" sz="2000" dirty="0">
                <a:latin typeface="华文楷体" panose="02010600040101010101" pitchFamily="2" charset="-122"/>
                <a:sym typeface="+mn-ea"/>
              </a:rPr>
              <a:t>SGender</a:t>
            </a:r>
            <a:r>
              <a:rPr lang="zh-CN" altLang="en-US" sz="2000" dirty="0">
                <a:latin typeface="华文楷体" panose="02010600040101010101" pitchFamily="2" charset="-122"/>
                <a:sym typeface="+mn-ea"/>
              </a:rPr>
              <a:t>添加检查约束</a:t>
            </a:r>
            <a:endParaRPr lang="zh-CN" altLang="en-US" sz="2000" dirty="0">
              <a:latin typeface="华文楷体" panose="02010600040101010101" pitchFamily="2" charset="-122"/>
              <a:sym typeface="+mn-ea"/>
            </a:endParaRPr>
          </a:p>
        </p:txBody>
      </p:sp>
      <p:sp>
        <p:nvSpPr>
          <p:cNvPr id="28675" name="矩形 5"/>
          <p:cNvSpPr/>
          <p:nvPr/>
        </p:nvSpPr>
        <p:spPr>
          <a:xfrm>
            <a:off x="584200" y="963613"/>
            <a:ext cx="5684838" cy="5064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en-US" altLang="zh-CN" dirty="0"/>
              <a:t>5</a:t>
            </a:r>
            <a:r>
              <a:rPr lang="zh-CN" altLang="en-US" dirty="0"/>
              <a:t>、有如下关系学生（</a:t>
            </a:r>
            <a:r>
              <a:rPr lang="zh-CN" altLang="en-US" u="sng" dirty="0"/>
              <a:t>学号</a:t>
            </a:r>
            <a:r>
              <a:rPr lang="zh-CN" altLang="en-US" dirty="0"/>
              <a:t>，姓名，性别，年龄）</a:t>
            </a:r>
            <a:endParaRPr lang="zh-CN" altLang="en-US" dirty="0"/>
          </a:p>
        </p:txBody>
      </p:sp>
      <p:sp>
        <p:nvSpPr>
          <p:cNvPr id="45" name="文本框 44"/>
          <p:cNvSpPr txBox="1"/>
          <p:nvPr/>
        </p:nvSpPr>
        <p:spPr>
          <a:xfrm>
            <a:off x="484188" y="33338"/>
            <a:ext cx="2681288" cy="828675"/>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问题研讨：</a:t>
            </a:r>
            <a:endParaRPr kumimoji="0" lang="zh-CN" altLang="en-US" sz="3200" kern="1200" cap="none" spc="0" normalizeH="0" baseline="0" noProof="0" dirty="0">
              <a:latin typeface="Arial" panose="020B0604020202020204" pitchFamily="34" charset="0"/>
              <a:ea typeface="宋体" panose="02010600030101010101" pitchFamily="2" charset="-122"/>
              <a:cs typeface="+mn-cs"/>
            </a:endParaRPr>
          </a:p>
        </p:txBody>
      </p:sp>
      <p:sp>
        <p:nvSpPr>
          <p:cNvPr id="26630" name="矩形 7"/>
          <p:cNvSpPr/>
          <p:nvPr/>
        </p:nvSpPr>
        <p:spPr>
          <a:xfrm>
            <a:off x="484188" y="3957638"/>
            <a:ext cx="8450262" cy="144621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00" lvl="1" indent="0" defTabSz="914400" eaLnBrk="1" hangingPunct="1">
              <a:spcBef>
                <a:spcPct val="0"/>
              </a:spcBef>
              <a:buFont typeface="Arial" panose="020B0604020202020204" pitchFamily="34" charset="0"/>
              <a:buNone/>
              <a:tabLst>
                <a:tab pos="190500" algn="l"/>
              </a:tabLst>
            </a:pPr>
            <a:r>
              <a:rPr lang="zh-CN" altLang="en-US" sz="2200" dirty="0">
                <a:solidFill>
                  <a:srgbClr val="C00000"/>
                </a:solidFill>
                <a:latin typeface="华文楷体" panose="02010600040101010101" pitchFamily="2" charset="-122"/>
              </a:rPr>
              <a:t>（</a:t>
            </a:r>
            <a:r>
              <a:rPr lang="en-US" altLang="zh-CN" sz="2200" dirty="0">
                <a:solidFill>
                  <a:srgbClr val="C00000"/>
                </a:solidFill>
                <a:latin typeface="华文楷体" panose="02010600040101010101" pitchFamily="2" charset="-122"/>
              </a:rPr>
              <a:t>1</a:t>
            </a:r>
            <a:r>
              <a:rPr lang="zh-CN" altLang="en-US" sz="2200" dirty="0">
                <a:solidFill>
                  <a:srgbClr val="C00000"/>
                </a:solidFill>
                <a:latin typeface="华文楷体" panose="02010600040101010101" pitchFamily="2" charset="-122"/>
              </a:rPr>
              <a:t>）</a:t>
            </a:r>
            <a:r>
              <a:rPr lang="en-US" altLang="zh-CN" sz="2200" dirty="0">
                <a:solidFill>
                  <a:srgbClr val="C00000"/>
                </a:solidFill>
                <a:latin typeface="华文楷体" panose="02010600040101010101" pitchFamily="2" charset="-122"/>
              </a:rPr>
              <a:t>Alter  table  Student Add Major varchar(20)  NOT  NULL</a:t>
            </a:r>
            <a:endParaRPr lang="en-US" altLang="zh-CN" sz="2200" dirty="0">
              <a:solidFill>
                <a:srgbClr val="C00000"/>
              </a:solidFill>
              <a:latin typeface="华文楷体" panose="02010600040101010101" pitchFamily="2" charset="-122"/>
            </a:endParaRPr>
          </a:p>
          <a:p>
            <a:pPr marL="190500" lvl="1" indent="0" defTabSz="914400" eaLnBrk="1" hangingPunct="1">
              <a:spcBef>
                <a:spcPct val="0"/>
              </a:spcBef>
              <a:buFont typeface="Arial" panose="020B0604020202020204" pitchFamily="34" charset="0"/>
              <a:buNone/>
              <a:tabLst>
                <a:tab pos="190500" algn="l"/>
              </a:tabLst>
            </a:pPr>
            <a:r>
              <a:rPr lang="zh-CN" altLang="en-US" sz="2200" dirty="0">
                <a:solidFill>
                  <a:srgbClr val="C00000"/>
                </a:solidFill>
                <a:latin typeface="华文楷体" panose="02010600040101010101" pitchFamily="2" charset="-122"/>
              </a:rPr>
              <a:t>（</a:t>
            </a:r>
            <a:r>
              <a:rPr lang="en-US" altLang="zh-CN" sz="2200" dirty="0">
                <a:solidFill>
                  <a:srgbClr val="C00000"/>
                </a:solidFill>
                <a:latin typeface="华文楷体" panose="02010600040101010101" pitchFamily="2" charset="-122"/>
              </a:rPr>
              <a:t>2</a:t>
            </a:r>
            <a:r>
              <a:rPr lang="zh-CN" altLang="en-US" sz="2200" dirty="0">
                <a:solidFill>
                  <a:srgbClr val="C00000"/>
                </a:solidFill>
                <a:latin typeface="华文楷体" panose="02010600040101010101" pitchFamily="2" charset="-122"/>
              </a:rPr>
              <a:t>）</a:t>
            </a:r>
            <a:r>
              <a:rPr lang="en-US" altLang="zh-CN" sz="2200" dirty="0">
                <a:solidFill>
                  <a:srgbClr val="C00000"/>
                </a:solidFill>
                <a:latin typeface="华文楷体" panose="02010600040101010101" pitchFamily="2" charset="-122"/>
                <a:sym typeface="+mn-ea"/>
              </a:rPr>
              <a:t>Alter  table  Student add constraint SName_Unique unique(SName)</a:t>
            </a:r>
            <a:endParaRPr lang="en-US" altLang="zh-CN" sz="2200" dirty="0">
              <a:solidFill>
                <a:srgbClr val="C00000"/>
              </a:solidFill>
              <a:latin typeface="华文楷体" panose="02010600040101010101" pitchFamily="2" charset="-122"/>
              <a:sym typeface="+mn-ea"/>
            </a:endParaRPr>
          </a:p>
          <a:p>
            <a:pPr marL="190500" lvl="1" indent="0" defTabSz="914400" eaLnBrk="1" hangingPunct="1">
              <a:spcBef>
                <a:spcPct val="0"/>
              </a:spcBef>
              <a:buFont typeface="Arial" panose="020B0604020202020204" pitchFamily="34" charset="0"/>
              <a:buNone/>
              <a:tabLst>
                <a:tab pos="190500" algn="l"/>
              </a:tabLst>
            </a:pPr>
            <a:r>
              <a:rPr lang="zh-CN" altLang="en-US" sz="2200" dirty="0">
                <a:solidFill>
                  <a:srgbClr val="C00000"/>
                </a:solidFill>
                <a:latin typeface="华文楷体" panose="02010600040101010101" pitchFamily="2" charset="-122"/>
              </a:rPr>
              <a:t>（</a:t>
            </a:r>
            <a:r>
              <a:rPr lang="en-US" altLang="zh-CN" sz="2200" dirty="0">
                <a:solidFill>
                  <a:srgbClr val="C00000"/>
                </a:solidFill>
                <a:latin typeface="华文楷体" panose="02010600040101010101" pitchFamily="2" charset="-122"/>
              </a:rPr>
              <a:t>3</a:t>
            </a:r>
            <a:r>
              <a:rPr lang="zh-CN" altLang="en-US" sz="2200" dirty="0">
                <a:solidFill>
                  <a:srgbClr val="C00000"/>
                </a:solidFill>
                <a:latin typeface="华文楷体" panose="02010600040101010101" pitchFamily="2" charset="-122"/>
              </a:rPr>
              <a:t>）</a:t>
            </a:r>
            <a:r>
              <a:rPr lang="en-US" altLang="zh-CN" sz="2200" b="0" dirty="0">
                <a:solidFill>
                  <a:srgbClr val="C00000"/>
                </a:solidFill>
                <a:sym typeface="+mn-ea"/>
              </a:rPr>
              <a:t>alter table </a:t>
            </a:r>
            <a:r>
              <a:rPr lang="en-US" altLang="zh-CN" sz="2200" dirty="0">
                <a:solidFill>
                  <a:srgbClr val="C00000"/>
                </a:solidFill>
                <a:latin typeface="华文楷体" panose="02010600040101010101" pitchFamily="2" charset="-122"/>
                <a:sym typeface="+mn-ea"/>
              </a:rPr>
              <a:t>Student </a:t>
            </a:r>
            <a:r>
              <a:rPr lang="en-US" altLang="zh-CN" sz="2200" b="0" dirty="0">
                <a:solidFill>
                  <a:srgbClr val="C00000"/>
                </a:solidFill>
                <a:sym typeface="+mn-ea"/>
              </a:rPr>
              <a:t>add constraint </a:t>
            </a:r>
            <a:endParaRPr lang="en-US" altLang="zh-CN" sz="2200" b="0" dirty="0">
              <a:solidFill>
                <a:srgbClr val="C00000"/>
              </a:solidFill>
              <a:sym typeface="+mn-ea"/>
            </a:endParaRPr>
          </a:p>
          <a:p>
            <a:pPr marL="190500" lvl="1" indent="0" defTabSz="914400" eaLnBrk="1" hangingPunct="1">
              <a:spcBef>
                <a:spcPct val="0"/>
              </a:spcBef>
              <a:buFont typeface="Arial" panose="020B0604020202020204" pitchFamily="34" charset="0"/>
              <a:buNone/>
              <a:tabLst>
                <a:tab pos="190500" algn="l"/>
              </a:tabLst>
            </a:pPr>
            <a:r>
              <a:rPr lang="en-US" altLang="zh-CN" sz="2200" b="0" dirty="0">
                <a:solidFill>
                  <a:srgbClr val="C00000"/>
                </a:solidFill>
                <a:sym typeface="+mn-ea"/>
              </a:rPr>
              <a:t>      Gender_check check(Gender in ('</a:t>
            </a:r>
            <a:r>
              <a:rPr lang="zh-CN" altLang="en-US" sz="2200" b="0" dirty="0">
                <a:solidFill>
                  <a:srgbClr val="C00000"/>
                </a:solidFill>
                <a:sym typeface="+mn-ea"/>
              </a:rPr>
              <a:t>男</a:t>
            </a:r>
            <a:r>
              <a:rPr lang="en-US" altLang="zh-CN" sz="2200" b="0" dirty="0">
                <a:solidFill>
                  <a:srgbClr val="C00000"/>
                </a:solidFill>
                <a:sym typeface="+mn-ea"/>
              </a:rPr>
              <a:t>','</a:t>
            </a:r>
            <a:r>
              <a:rPr lang="zh-CN" altLang="en-US" sz="2200" b="0" dirty="0">
                <a:solidFill>
                  <a:srgbClr val="C00000"/>
                </a:solidFill>
                <a:sym typeface="+mn-ea"/>
              </a:rPr>
              <a:t>女</a:t>
            </a:r>
            <a:r>
              <a:rPr lang="en-US" altLang="zh-CN" sz="2200" b="0" dirty="0">
                <a:solidFill>
                  <a:srgbClr val="C00000"/>
                </a:solidFill>
                <a:sym typeface="+mn-ea"/>
              </a:rPr>
              <a:t>'))</a:t>
            </a:r>
            <a:endParaRPr lang="zh-CN" altLang="en-US" sz="2200" b="0" dirty="0">
              <a:solidFill>
                <a:srgbClr val="C0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6630"/>
                                        </p:tgtEl>
                                        <p:attrNameLst>
                                          <p:attrName>style.visibility</p:attrName>
                                        </p:attrNameLst>
                                      </p:cBhvr>
                                      <p:to>
                                        <p:strVal val="visible"/>
                                      </p:to>
                                    </p:set>
                                    <p:anim calcmode="lin" valueType="num">
                                      <p:cBhvr additive="base">
                                        <p:cTn id="7" dur="500" fill="hold"/>
                                        <p:tgtEl>
                                          <p:spTgt spid="26630"/>
                                        </p:tgtEl>
                                        <p:attrNameLst>
                                          <p:attrName>ppt_x</p:attrName>
                                        </p:attrNameLst>
                                      </p:cBhvr>
                                      <p:tavLst>
                                        <p:tav tm="0">
                                          <p:val>
                                            <p:strVal val="#ppt_x"/>
                                          </p:val>
                                        </p:tav>
                                        <p:tav tm="100000">
                                          <p:val>
                                            <p:strVal val="#ppt_x"/>
                                          </p:val>
                                        </p:tav>
                                      </p:tavLst>
                                    </p:anim>
                                    <p:anim calcmode="lin" valueType="num">
                                      <p:cBhvr additive="base">
                                        <p:cTn id="8" dur="500" fill="hold"/>
                                        <p:tgtEl>
                                          <p:spTgt spid="266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3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矩形 3"/>
          <p:cNvSpPr/>
          <p:nvPr/>
        </p:nvSpPr>
        <p:spPr>
          <a:xfrm>
            <a:off x="652463" y="1303338"/>
            <a:ext cx="7991475" cy="18732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0"/>
              </a:spcBef>
              <a:buClrTx/>
              <a:buSzTx/>
              <a:buFont typeface="Arial" panose="020B0604020202020204" pitchFamily="34" charset="0"/>
              <a:buNone/>
            </a:pPr>
            <a:r>
              <a:rPr lang="en-US" altLang="zh-CN" sz="2200" dirty="0"/>
              <a:t>6</a:t>
            </a:r>
            <a:r>
              <a:rPr lang="zh-CN" altLang="en-US" sz="2200" dirty="0"/>
              <a:t>、创建雇员工资发放表</a:t>
            </a:r>
            <a:r>
              <a:rPr lang="en-US" altLang="zh-CN" sz="2200" dirty="0"/>
              <a:t>ESalary(</a:t>
            </a:r>
            <a:r>
              <a:rPr lang="en-US" altLang="zh-CN" sz="2200" u="sng" dirty="0"/>
              <a:t>EID</a:t>
            </a:r>
            <a:r>
              <a:rPr lang="en-US" altLang="zh-CN" sz="2200" dirty="0"/>
              <a:t>,</a:t>
            </a:r>
            <a:r>
              <a:rPr lang="en-US" altLang="zh-CN" sz="2200" u="sng" dirty="0"/>
              <a:t>Month</a:t>
            </a:r>
            <a:r>
              <a:rPr lang="en-US" altLang="zh-CN" sz="2200" dirty="0"/>
              <a:t>,BSalary,PSalary,ESalary,ASalary)</a:t>
            </a:r>
            <a:endParaRPr lang="en-US" altLang="zh-CN" sz="2200" dirty="0"/>
          </a:p>
          <a:p>
            <a:pPr marL="0" lvl="0" indent="0" eaLnBrk="1" hangingPunct="1">
              <a:spcBef>
                <a:spcPct val="0"/>
              </a:spcBef>
              <a:buClrTx/>
              <a:buSzTx/>
              <a:buNone/>
            </a:pPr>
            <a:r>
              <a:rPr lang="zh-CN" altLang="zh-CN" sz="2100" b="0" dirty="0">
                <a:latin typeface="楷体" panose="02010609060101010101" pitchFamily="1" charset="-122"/>
                <a:ea typeface="楷体" panose="02010609060101010101" pitchFamily="1" charset="-122"/>
              </a:rPr>
              <a:t>其中：</a:t>
            </a:r>
            <a:r>
              <a:rPr lang="en-US" altLang="zh-CN" sz="2100" b="0" dirty="0">
                <a:latin typeface="楷体" panose="02010609060101010101" pitchFamily="1" charset="-122"/>
                <a:ea typeface="楷体" panose="02010609060101010101" pitchFamily="1" charset="-122"/>
              </a:rPr>
              <a:t>EID</a:t>
            </a:r>
            <a:r>
              <a:rPr lang="zh-CN" altLang="zh-CN" sz="2100" b="0" dirty="0">
                <a:latin typeface="楷体" panose="02010609060101010101" pitchFamily="1" charset="-122"/>
                <a:ea typeface="楷体" panose="02010609060101010101" pitchFamily="1" charset="-122"/>
              </a:rPr>
              <a:t>为员工编号为外键（主表</a:t>
            </a:r>
            <a:r>
              <a:rPr lang="en-US" altLang="zh-CN" sz="2100" b="0" dirty="0">
                <a:latin typeface="楷体" panose="02010609060101010101" pitchFamily="1" charset="-122"/>
                <a:ea typeface="楷体" panose="02010609060101010101" pitchFamily="1" charset="-122"/>
              </a:rPr>
              <a:t>Employee(EID))</a:t>
            </a:r>
            <a:r>
              <a:rPr lang="zh-CN" altLang="zh-CN" sz="2100" b="0" dirty="0">
                <a:latin typeface="楷体" panose="02010609060101010101" pitchFamily="1" charset="-122"/>
                <a:ea typeface="楷体" panose="02010609060101010101" pitchFamily="1" charset="-122"/>
              </a:rPr>
              <a:t>，Month为年月，</a:t>
            </a:r>
            <a:r>
              <a:rPr lang="en-US" altLang="zh-CN" sz="2100" b="0" dirty="0">
                <a:latin typeface="楷体" panose="02010609060101010101" pitchFamily="1" charset="-122"/>
                <a:ea typeface="楷体" panose="02010609060101010101" pitchFamily="1" charset="-122"/>
              </a:rPr>
              <a:t>BSalary</a:t>
            </a:r>
            <a:r>
              <a:rPr lang="zh-CN" altLang="en-US" sz="2100" b="0" dirty="0">
                <a:latin typeface="楷体" panose="02010609060101010101" pitchFamily="1" charset="-122"/>
                <a:ea typeface="楷体" panose="02010609060101010101" pitchFamily="1" charset="-122"/>
              </a:rPr>
              <a:t>为基础工资、</a:t>
            </a:r>
            <a:r>
              <a:rPr lang="en-US" altLang="zh-CN" sz="2100" b="0" dirty="0">
                <a:latin typeface="楷体" panose="02010609060101010101" pitchFamily="1" charset="-122"/>
                <a:ea typeface="楷体" panose="02010609060101010101" pitchFamily="1" charset="-122"/>
              </a:rPr>
              <a:t>BSalary</a:t>
            </a:r>
            <a:r>
              <a:rPr lang="zh-CN" altLang="en-US" sz="2100" b="0" dirty="0">
                <a:latin typeface="楷体" panose="02010609060101010101" pitchFamily="1" charset="-122"/>
                <a:ea typeface="楷体" panose="02010609060101010101" pitchFamily="1" charset="-122"/>
              </a:rPr>
              <a:t>为岗位工资、</a:t>
            </a:r>
            <a:r>
              <a:rPr lang="en-US" altLang="zh-CN" sz="2100" b="0" dirty="0">
                <a:latin typeface="楷体" panose="02010609060101010101" pitchFamily="1" charset="-122"/>
                <a:ea typeface="楷体" panose="02010609060101010101" pitchFamily="1" charset="-122"/>
              </a:rPr>
              <a:t>ESalary</a:t>
            </a:r>
            <a:r>
              <a:rPr lang="zh-CN" altLang="en-US" sz="2100" b="0" dirty="0">
                <a:latin typeface="楷体" panose="02010609060101010101" pitchFamily="1" charset="-122"/>
                <a:ea typeface="楷体" panose="02010609060101010101" pitchFamily="1" charset="-122"/>
              </a:rPr>
              <a:t>为考核津贴，</a:t>
            </a:r>
            <a:r>
              <a:rPr lang="en-US" altLang="zh-CN" sz="2100" b="0" dirty="0">
                <a:latin typeface="楷体" panose="02010609060101010101" pitchFamily="1" charset="-122"/>
                <a:ea typeface="楷体" panose="02010609060101010101" pitchFamily="1" charset="-122"/>
              </a:rPr>
              <a:t>A</a:t>
            </a:r>
            <a:r>
              <a:rPr lang="en-US" altLang="zh-CN" sz="2100" b="0" dirty="0">
                <a:latin typeface="楷体" panose="02010609060101010101" pitchFamily="1" charset="-122"/>
                <a:ea typeface="楷体" panose="02010609060101010101" pitchFamily="1" charset="-122"/>
                <a:sym typeface="宋体" panose="02010600030101010101" pitchFamily="2" charset="-122"/>
              </a:rPr>
              <a:t>Salary</a:t>
            </a:r>
            <a:r>
              <a:rPr lang="zh-CN" altLang="en-US" sz="2100" b="0" dirty="0">
                <a:latin typeface="楷体" panose="02010609060101010101" pitchFamily="1" charset="-122"/>
                <a:ea typeface="楷体" panose="02010609060101010101" pitchFamily="1" charset="-122"/>
                <a:sym typeface="宋体" panose="02010600030101010101" pitchFamily="2" charset="-122"/>
              </a:rPr>
              <a:t>为实发工资</a:t>
            </a:r>
            <a:endParaRPr lang="zh-CN" altLang="en-US" sz="2100" b="0" dirty="0">
              <a:latin typeface="楷体" panose="02010609060101010101" pitchFamily="1" charset="-122"/>
              <a:ea typeface="楷体" panose="02010609060101010101" pitchFamily="1" charset="-122"/>
              <a:sym typeface="宋体" panose="02010600030101010101" pitchFamily="2" charset="-122"/>
            </a:endParaRPr>
          </a:p>
        </p:txBody>
      </p:sp>
      <p:sp>
        <p:nvSpPr>
          <p:cNvPr id="29699"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1" charset="-122"/>
              </a:rPr>
              <a:t>二、数据库定义子语言及其操作</a:t>
            </a:r>
            <a:endParaRPr lang="en-US" altLang="zh-CN" sz="3200" dirty="0">
              <a:solidFill>
                <a:srgbClr val="FF0000"/>
              </a:solidFill>
              <a:ea typeface="黑体" panose="02010609060101010101" pitchFamily="1" charset="-122"/>
            </a:endParaRPr>
          </a:p>
        </p:txBody>
      </p:sp>
      <p:sp>
        <p:nvSpPr>
          <p:cNvPr id="21507" name="Rectangle 3"/>
          <p:cNvSpPr txBox="1"/>
          <p:nvPr/>
        </p:nvSpPr>
        <p:spPr>
          <a:xfrm>
            <a:off x="679450" y="3294063"/>
            <a:ext cx="7783513" cy="2774950"/>
          </a:xfrm>
          <a:prstGeom prst="rect">
            <a:avLst/>
          </a:prstGeom>
          <a:noFill/>
          <a:ln w="9525" cap="flat" cmpd="sng">
            <a:solidFill>
              <a:schemeClr val="accent2"/>
            </a:solidFill>
            <a:prstDash val="dash"/>
            <a:miter/>
            <a:headEnd type="none" w="med" len="med"/>
            <a:tailEnd type="none" w="med" len="med"/>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00" lvl="1" indent="0" defTabSz="0" eaLnBrk="1" hangingPunct="1">
              <a:lnSpc>
                <a:spcPct val="80000"/>
              </a:lnSpc>
              <a:buClr>
                <a:srgbClr val="FF0000"/>
              </a:buClr>
              <a:buSzTx/>
              <a:buNone/>
              <a:tabLst>
                <a:tab pos="190500" algn="l"/>
              </a:tabLst>
            </a:pPr>
            <a:r>
              <a:rPr lang="en-US" altLang="zh-CN" sz="2200" dirty="0">
                <a:latin typeface="华文楷体" panose="02010600040101010101" pitchFamily="2" charset="-122"/>
              </a:rPr>
              <a:t>CREATE TABLE  </a:t>
            </a:r>
            <a:r>
              <a:rPr lang="en-US" altLang="zh-CN" sz="2200" dirty="0">
                <a:sym typeface="+mn-ea"/>
              </a:rPr>
              <a:t>ESalary</a:t>
            </a:r>
            <a:endParaRPr lang="en-US" altLang="zh-CN" sz="2200" dirty="0">
              <a:sym typeface="+mn-ea"/>
            </a:endParaRPr>
          </a:p>
          <a:p>
            <a:pPr marL="190500" lvl="1" indent="0" defTabSz="0" eaLnBrk="1" hangingPunct="1">
              <a:lnSpc>
                <a:spcPct val="80000"/>
              </a:lnSpc>
              <a:buFont typeface="Arial" panose="020B0604020202020204" pitchFamily="34" charset="0"/>
              <a:buNone/>
              <a:tabLst>
                <a:tab pos="190500" algn="l"/>
              </a:tabLst>
            </a:pPr>
            <a:r>
              <a:rPr lang="en-US" altLang="zh-CN" sz="2200" dirty="0">
                <a:latin typeface="华文楷体" panose="02010600040101010101" pitchFamily="2" charset="-122"/>
              </a:rPr>
              <a:t> ( EID char(8) </a:t>
            </a:r>
            <a:r>
              <a:rPr lang="en-US" altLang="zh-CN" sz="2200" dirty="0">
                <a:solidFill>
                  <a:srgbClr val="FF0000"/>
                </a:solidFill>
                <a:latin typeface="华文楷体" panose="02010600040101010101" pitchFamily="2" charset="-122"/>
                <a:sym typeface="+mn-ea"/>
              </a:rPr>
              <a:t>foreign key references Employee(EID))</a:t>
            </a:r>
            <a:r>
              <a:rPr lang="en-US" altLang="zh-CN" sz="2200" dirty="0">
                <a:latin typeface="华文楷体" panose="02010600040101010101" pitchFamily="2" charset="-122"/>
              </a:rPr>
              <a:t>,</a:t>
            </a:r>
            <a:endParaRPr lang="en-US" altLang="zh-CN" sz="2200" dirty="0">
              <a:latin typeface="华文楷体" panose="02010600040101010101" pitchFamily="2" charset="-122"/>
            </a:endParaRPr>
          </a:p>
          <a:p>
            <a:pPr marL="190500" lvl="1" indent="0" defTabSz="0" eaLnBrk="1" hangingPunct="1">
              <a:lnSpc>
                <a:spcPct val="80000"/>
              </a:lnSpc>
              <a:buFont typeface="Arial" panose="020B0604020202020204" pitchFamily="34" charset="0"/>
              <a:buNone/>
              <a:tabLst>
                <a:tab pos="190500" algn="l"/>
              </a:tabLst>
            </a:pPr>
            <a:r>
              <a:rPr lang="en-US" altLang="zh-CN" sz="2200" dirty="0">
                <a:latin typeface="华文楷体" panose="02010600040101010101" pitchFamily="2" charset="-122"/>
              </a:rPr>
              <a:t>   Month </a:t>
            </a:r>
            <a:r>
              <a:rPr lang="en-US" altLang="zh-CN" sz="2200" dirty="0">
                <a:latin typeface="华文楷体" panose="02010600040101010101" pitchFamily="2" charset="-122"/>
                <a:sym typeface="+mn-ea"/>
              </a:rPr>
              <a:t>char(10) NOT NULL,</a:t>
            </a:r>
            <a:endParaRPr lang="en-US" altLang="zh-CN" sz="2200" dirty="0">
              <a:latin typeface="华文楷体" panose="02010600040101010101" pitchFamily="2" charset="-122"/>
              <a:sym typeface="+mn-ea"/>
            </a:endParaRPr>
          </a:p>
          <a:p>
            <a:pPr marL="190500" lvl="1" indent="0" defTabSz="0" eaLnBrk="1" hangingPunct="1">
              <a:lnSpc>
                <a:spcPct val="80000"/>
              </a:lnSpc>
              <a:buFont typeface="Arial" panose="020B0604020202020204" pitchFamily="34" charset="0"/>
              <a:buNone/>
              <a:tabLst>
                <a:tab pos="190500" algn="l"/>
              </a:tabLst>
            </a:pPr>
            <a:r>
              <a:rPr lang="en-US" altLang="zh-CN" sz="2200" dirty="0">
                <a:latin typeface="华文楷体" panose="02010600040101010101" pitchFamily="2" charset="-122"/>
                <a:sym typeface="+mn-ea"/>
              </a:rPr>
              <a:t>      BSalary smallmoney,</a:t>
            </a:r>
            <a:endParaRPr lang="en-US" altLang="zh-CN" sz="2200" dirty="0">
              <a:latin typeface="华文楷体" panose="02010600040101010101" pitchFamily="2" charset="-122"/>
            </a:endParaRPr>
          </a:p>
          <a:p>
            <a:pPr marL="190500" lvl="1" indent="0" defTabSz="0" eaLnBrk="1" hangingPunct="1">
              <a:lnSpc>
                <a:spcPct val="80000"/>
              </a:lnSpc>
              <a:buFont typeface="Arial" panose="020B0604020202020204" pitchFamily="34" charset="0"/>
              <a:buNone/>
              <a:tabLst>
                <a:tab pos="190500" algn="l"/>
              </a:tabLst>
            </a:pPr>
            <a:r>
              <a:rPr lang="en-US" altLang="zh-CN" sz="2200" dirty="0">
                <a:latin typeface="华文楷体" panose="02010600040101010101" pitchFamily="2" charset="-122"/>
              </a:rPr>
              <a:t>      </a:t>
            </a:r>
            <a:r>
              <a:rPr lang="en-US" altLang="zh-CN" sz="2200" dirty="0">
                <a:latin typeface="华文楷体" panose="02010600040101010101" pitchFamily="2" charset="-122"/>
                <a:sym typeface="+mn-ea"/>
              </a:rPr>
              <a:t>PSalary smallmoney</a:t>
            </a:r>
            <a:r>
              <a:rPr lang="en-US" altLang="zh-CN" sz="2200" dirty="0">
                <a:latin typeface="华文楷体" panose="02010600040101010101" pitchFamily="2" charset="-122"/>
              </a:rPr>
              <a:t>,</a:t>
            </a:r>
            <a:endParaRPr lang="en-US" altLang="zh-CN" sz="2200" dirty="0">
              <a:latin typeface="华文楷体" panose="02010600040101010101" pitchFamily="2" charset="-122"/>
            </a:endParaRPr>
          </a:p>
          <a:p>
            <a:pPr marL="190500" lvl="1" indent="0" defTabSz="0" eaLnBrk="1" hangingPunct="1">
              <a:lnSpc>
                <a:spcPct val="80000"/>
              </a:lnSpc>
              <a:buFont typeface="Arial" panose="020B0604020202020204" pitchFamily="34" charset="0"/>
              <a:buNone/>
              <a:tabLst>
                <a:tab pos="190500" algn="l"/>
              </a:tabLst>
            </a:pPr>
            <a:r>
              <a:rPr lang="en-US" altLang="zh-CN" sz="2200" dirty="0">
                <a:latin typeface="华文楷体" panose="02010600040101010101" pitchFamily="2" charset="-122"/>
              </a:rPr>
              <a:t>      </a:t>
            </a:r>
            <a:r>
              <a:rPr lang="en-US" altLang="zh-CN" sz="2200" dirty="0">
                <a:latin typeface="华文楷体" panose="02010600040101010101" pitchFamily="2" charset="-122"/>
                <a:sym typeface="+mn-ea"/>
              </a:rPr>
              <a:t>ESalary smallmoney,</a:t>
            </a:r>
            <a:r>
              <a:rPr lang="en-US" altLang="zh-CN" sz="2200" dirty="0">
                <a:latin typeface="华文楷体" panose="02010600040101010101" pitchFamily="2" charset="-122"/>
              </a:rPr>
              <a:t>   </a:t>
            </a:r>
            <a:endParaRPr lang="en-US" altLang="zh-CN" sz="2200" dirty="0">
              <a:latin typeface="华文楷体" panose="02010600040101010101" pitchFamily="2" charset="-122"/>
            </a:endParaRPr>
          </a:p>
          <a:p>
            <a:pPr marL="190500" lvl="1" indent="0" defTabSz="0" eaLnBrk="1" hangingPunct="1">
              <a:lnSpc>
                <a:spcPct val="80000"/>
              </a:lnSpc>
              <a:buFont typeface="Arial" panose="020B0604020202020204" pitchFamily="34" charset="0"/>
              <a:buNone/>
              <a:tabLst>
                <a:tab pos="190500" algn="l"/>
              </a:tabLst>
            </a:pPr>
            <a:r>
              <a:rPr lang="en-US" altLang="zh-CN" sz="2200" dirty="0">
                <a:latin typeface="华文楷体" panose="02010600040101010101" pitchFamily="2" charset="-122"/>
              </a:rPr>
              <a:t>      </a:t>
            </a:r>
            <a:r>
              <a:rPr lang="en-US" altLang="zh-CN" sz="2200" dirty="0">
                <a:solidFill>
                  <a:srgbClr val="0033CC"/>
                </a:solidFill>
                <a:latin typeface="华文楷体" panose="02010600040101010101" pitchFamily="2" charset="-122"/>
              </a:rPr>
              <a:t>ASalary as </a:t>
            </a:r>
            <a:r>
              <a:rPr lang="en-US" altLang="zh-CN" sz="2200" dirty="0">
                <a:solidFill>
                  <a:srgbClr val="0033CC"/>
                </a:solidFill>
                <a:latin typeface="华文楷体" panose="02010600040101010101" pitchFamily="2" charset="-122"/>
                <a:sym typeface="+mn-ea"/>
              </a:rPr>
              <a:t>BSalary+PSalary+ESalary</a:t>
            </a:r>
            <a:r>
              <a:rPr lang="en-US" altLang="en-US" sz="2200" dirty="0">
                <a:solidFill>
                  <a:srgbClr val="0033CC"/>
                </a:solidFill>
                <a:latin typeface="华文楷体" panose="02010600040101010101" pitchFamily="2" charset="-122"/>
                <a:sym typeface="+mn-ea"/>
              </a:rPr>
              <a:t>，</a:t>
            </a:r>
            <a:endParaRPr lang="en-US" altLang="en-US" sz="2200" dirty="0">
              <a:solidFill>
                <a:srgbClr val="0033CC"/>
              </a:solidFill>
              <a:latin typeface="华文楷体" panose="02010600040101010101" pitchFamily="2" charset="-122"/>
              <a:sym typeface="+mn-ea"/>
            </a:endParaRPr>
          </a:p>
          <a:p>
            <a:pPr marL="190500" lvl="1" indent="0" defTabSz="0" eaLnBrk="1" hangingPunct="1">
              <a:lnSpc>
                <a:spcPct val="80000"/>
              </a:lnSpc>
              <a:buFont typeface="Arial" panose="020B0604020202020204" pitchFamily="34" charset="0"/>
              <a:buNone/>
              <a:tabLst>
                <a:tab pos="190500" algn="l"/>
              </a:tabLst>
            </a:pPr>
            <a:r>
              <a:rPr lang="en-US" altLang="en-US" sz="2200" dirty="0">
                <a:solidFill>
                  <a:srgbClr val="0033CC"/>
                </a:solidFill>
                <a:latin typeface="华文楷体" panose="02010600040101010101" pitchFamily="2" charset="-122"/>
                <a:sym typeface="+mn-ea"/>
              </a:rPr>
              <a:t>      </a:t>
            </a:r>
            <a:r>
              <a:rPr lang="en-US" altLang="zh-CN" sz="2200" dirty="0">
                <a:solidFill>
                  <a:srgbClr val="0033CC"/>
                </a:solidFill>
                <a:latin typeface="华文楷体" panose="02010600040101010101" pitchFamily="2" charset="-122"/>
                <a:sym typeface="+mn-ea"/>
              </a:rPr>
              <a:t>Primary key(EID,Month) </a:t>
            </a:r>
            <a:r>
              <a:rPr lang="en-US" altLang="zh-CN" sz="2200" dirty="0">
                <a:latin typeface="华文楷体" panose="02010600040101010101" pitchFamily="2" charset="-122"/>
              </a:rPr>
              <a:t>)</a:t>
            </a:r>
            <a:endParaRPr lang="en-US" altLang="zh-CN" sz="2200" dirty="0">
              <a:latin typeface="华文楷体" panose="02010600040101010101" pitchFamily="2" charset="-122"/>
            </a:endParaRPr>
          </a:p>
        </p:txBody>
      </p:sp>
      <p:sp>
        <p:nvSpPr>
          <p:cNvPr id="6" name="文本框 5"/>
          <p:cNvSpPr txBox="1"/>
          <p:nvPr/>
        </p:nvSpPr>
        <p:spPr>
          <a:xfrm>
            <a:off x="484188" y="615950"/>
            <a:ext cx="2681288" cy="828675"/>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问题研讨：</a:t>
            </a:r>
            <a:endParaRPr kumimoji="0" lang="zh-CN" altLang="en-US" sz="3200" kern="1200" cap="none" spc="0" normalizeH="0" baseline="0" noProof="0" dirty="0">
              <a:latin typeface="Arial" panose="020B0604020202020204" pitchFamily="34" charset="0"/>
              <a:ea typeface="宋体" panose="02010600030101010101" pitchFamily="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507"/>
                                        </p:tgtEl>
                                        <p:attrNameLst>
                                          <p:attrName>style.visibility</p:attrName>
                                        </p:attrNameLst>
                                      </p:cBhvr>
                                      <p:to>
                                        <p:strVal val="visible"/>
                                      </p:to>
                                    </p:set>
                                    <p:anim calcmode="lin" valueType="num">
                                      <p:cBhvr>
                                        <p:cTn id="7" dur="500" fill="hold"/>
                                        <p:tgtEl>
                                          <p:spTgt spid="21507"/>
                                        </p:tgtEl>
                                        <p:attrNameLst>
                                          <p:attrName>ppt_x</p:attrName>
                                        </p:attrNameLst>
                                      </p:cBhvr>
                                      <p:tavLst>
                                        <p:tav tm="0">
                                          <p:val>
                                            <p:strVal val="#ppt_x"/>
                                          </p:val>
                                        </p:tav>
                                        <p:tav tm="100000">
                                          <p:val>
                                            <p:strVal val="#ppt_x"/>
                                          </p:val>
                                        </p:tav>
                                      </p:tavLst>
                                    </p:anim>
                                    <p:anim calcmode="lin" valueType="num">
                                      <p:cBhvr>
                                        <p:cTn id="8" dur="500" fill="hold"/>
                                        <p:tgtEl>
                                          <p:spTgt spid="2150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bldLvl="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9697" name="组合 85"/>
          <p:cNvGrpSpPr/>
          <p:nvPr/>
        </p:nvGrpSpPr>
        <p:grpSpPr>
          <a:xfrm>
            <a:off x="350838" y="1539875"/>
            <a:ext cx="8474075" cy="4443413"/>
            <a:chOff x="0" y="0"/>
            <a:chExt cx="8686800" cy="5068888"/>
          </a:xfrm>
        </p:grpSpPr>
        <p:grpSp>
          <p:nvGrpSpPr>
            <p:cNvPr id="29698" name="Group 4"/>
            <p:cNvGrpSpPr/>
            <p:nvPr/>
          </p:nvGrpSpPr>
          <p:grpSpPr>
            <a:xfrm>
              <a:off x="3962400" y="1371600"/>
              <a:ext cx="1181100" cy="2225675"/>
              <a:chOff x="0" y="0"/>
              <a:chExt cx="744" cy="1402"/>
            </a:xfrm>
          </p:grpSpPr>
          <p:sp>
            <p:nvSpPr>
              <p:cNvPr id="29699" name="AutoShape 5"/>
              <p:cNvSpPr/>
              <p:nvPr/>
            </p:nvSpPr>
            <p:spPr>
              <a:xfrm>
                <a:off x="0" y="528"/>
                <a:ext cx="720" cy="384"/>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nchorCtr="0"/>
              <a:p>
                <a:pPr algn="ctr">
                  <a:lnSpc>
                    <a:spcPct val="135000"/>
                  </a:lnSpc>
                </a:pPr>
                <a:r>
                  <a:rPr lang="zh-CN" altLang="en-US" sz="1600" dirty="0">
                    <a:solidFill>
                      <a:srgbClr val="0000CC"/>
                    </a:solidFill>
                    <a:latin typeface="宋体" panose="02010600030101010101" pitchFamily="2" charset="-122"/>
                    <a:ea typeface="宋体" panose="02010600030101010101" pitchFamily="2" charset="-122"/>
                  </a:rPr>
                  <a:t>组成</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29700" name="Text Box 6"/>
              <p:cNvSpPr txBox="1"/>
              <p:nvPr/>
            </p:nvSpPr>
            <p:spPr>
              <a:xfrm>
                <a:off x="240" y="0"/>
                <a:ext cx="220" cy="372"/>
              </a:xfrm>
              <a:prstGeom prst="rect">
                <a:avLst/>
              </a:prstGeom>
              <a:noFill/>
              <a:ln w="9525">
                <a:noFill/>
              </a:ln>
            </p:spPr>
            <p:txBody>
              <a:bodyPr wrap="none" anchor="t" anchorCtr="0">
                <a:spAutoFit/>
              </a:bodyPr>
              <a:p>
                <a:pPr>
                  <a:lnSpc>
                    <a:spcPct val="135000"/>
                  </a:lnSpc>
                </a:pPr>
                <a:r>
                  <a:rPr lang="en-US" altLang="zh-CN" sz="2400" dirty="0">
                    <a:solidFill>
                      <a:srgbClr val="0033CC"/>
                    </a:solidFill>
                    <a:latin typeface="宋体" panose="02010600030101010101" pitchFamily="2" charset="-122"/>
                    <a:ea typeface="宋体" panose="02010600030101010101" pitchFamily="2" charset="-122"/>
                  </a:rPr>
                  <a:t>1</a:t>
                </a:r>
                <a:endParaRPr lang="de-DE" altLang="en-US" sz="2400" dirty="0">
                  <a:solidFill>
                    <a:srgbClr val="0033CC"/>
                  </a:solidFill>
                  <a:latin typeface="宋体" panose="02010600030101010101" pitchFamily="2" charset="-122"/>
                  <a:ea typeface="宋体" panose="02010600030101010101" pitchFamily="2" charset="-122"/>
                </a:endParaRPr>
              </a:p>
            </p:txBody>
          </p:sp>
          <p:sp>
            <p:nvSpPr>
              <p:cNvPr id="29701" name="Line 7"/>
              <p:cNvSpPr/>
              <p:nvPr/>
            </p:nvSpPr>
            <p:spPr>
              <a:xfrm flipH="1" flipV="1">
                <a:off x="264" y="0"/>
                <a:ext cx="72" cy="528"/>
              </a:xfrm>
              <a:prstGeom prst="line">
                <a:avLst/>
              </a:prstGeom>
              <a:ln w="50800" cap="flat" cmpd="sng">
                <a:solidFill>
                  <a:srgbClr val="CC0000"/>
                </a:solidFill>
                <a:prstDash val="solid"/>
                <a:round/>
                <a:headEnd type="none" w="med" len="med"/>
                <a:tailEnd type="none" w="med" len="med"/>
              </a:ln>
            </p:spPr>
          </p:sp>
          <p:sp>
            <p:nvSpPr>
              <p:cNvPr id="29702" name="Line 8"/>
              <p:cNvSpPr/>
              <p:nvPr/>
            </p:nvSpPr>
            <p:spPr>
              <a:xfrm flipH="1" flipV="1">
                <a:off x="384" y="912"/>
                <a:ext cx="48" cy="490"/>
              </a:xfrm>
              <a:prstGeom prst="line">
                <a:avLst/>
              </a:prstGeom>
              <a:ln w="50800" cap="flat" cmpd="sng">
                <a:solidFill>
                  <a:srgbClr val="CC0000"/>
                </a:solidFill>
                <a:prstDash val="solid"/>
                <a:round/>
                <a:headEnd type="none" w="med" len="med"/>
                <a:tailEnd type="triangle" w="med" len="med"/>
              </a:ln>
            </p:spPr>
          </p:sp>
          <p:sp>
            <p:nvSpPr>
              <p:cNvPr id="29703" name="Text Box 9"/>
              <p:cNvSpPr txBox="1"/>
              <p:nvPr/>
            </p:nvSpPr>
            <p:spPr>
              <a:xfrm>
                <a:off x="456" y="1008"/>
                <a:ext cx="288" cy="372"/>
              </a:xfrm>
              <a:prstGeom prst="rect">
                <a:avLst/>
              </a:prstGeom>
              <a:noFill/>
              <a:ln w="9525">
                <a:noFill/>
              </a:ln>
            </p:spPr>
            <p:txBody>
              <a:bodyPr anchor="t" anchorCtr="0">
                <a:spAutoFit/>
              </a:bodyPr>
              <a:p>
                <a:pPr>
                  <a:lnSpc>
                    <a:spcPct val="135000"/>
                  </a:lnSpc>
                </a:pPr>
                <a:r>
                  <a:rPr lang="en-US" altLang="zh-CN" sz="2400" dirty="0">
                    <a:solidFill>
                      <a:srgbClr val="0033CC"/>
                    </a:solidFill>
                    <a:latin typeface="宋体" panose="02010600030101010101" pitchFamily="2" charset="-122"/>
                    <a:ea typeface="宋体" panose="02010600030101010101" pitchFamily="2" charset="-122"/>
                  </a:rPr>
                  <a:t>n</a:t>
                </a:r>
                <a:endParaRPr lang="de-DE" altLang="en-US" sz="2400" dirty="0">
                  <a:solidFill>
                    <a:srgbClr val="0033CC"/>
                  </a:solidFill>
                  <a:latin typeface="宋体" panose="02010600030101010101" pitchFamily="2" charset="-122"/>
                  <a:ea typeface="宋体" panose="02010600030101010101" pitchFamily="2" charset="-122"/>
                </a:endParaRPr>
              </a:p>
            </p:txBody>
          </p:sp>
        </p:grpSp>
        <p:grpSp>
          <p:nvGrpSpPr>
            <p:cNvPr id="29704" name="Group 10"/>
            <p:cNvGrpSpPr/>
            <p:nvPr/>
          </p:nvGrpSpPr>
          <p:grpSpPr>
            <a:xfrm>
              <a:off x="179389" y="134939"/>
              <a:ext cx="2128838" cy="1655764"/>
              <a:chOff x="0" y="0"/>
              <a:chExt cx="1341" cy="1043"/>
            </a:xfrm>
          </p:grpSpPr>
          <p:sp>
            <p:nvSpPr>
              <p:cNvPr id="29705" name="Rectangle 11"/>
              <p:cNvSpPr/>
              <p:nvPr/>
            </p:nvSpPr>
            <p:spPr>
              <a:xfrm>
                <a:off x="765" y="624"/>
                <a:ext cx="576" cy="240"/>
              </a:xfrm>
              <a:prstGeom prst="rect">
                <a:avLst/>
              </a:prstGeom>
              <a:solidFill>
                <a:srgbClr val="FECF70"/>
              </a:solidFill>
              <a:ln w="9525" cap="flat" cmpd="sng">
                <a:solidFill>
                  <a:srgbClr val="000000"/>
                </a:solidFill>
                <a:prstDash val="solid"/>
                <a:miter/>
                <a:headEnd type="none" w="med" len="med"/>
                <a:tailEnd type="none" w="med" len="med"/>
              </a:ln>
            </p:spPr>
            <p:txBody>
              <a:bodyPr anchor="t" anchorCtr="0"/>
              <a:p>
                <a:pPr algn="ctr"/>
                <a:r>
                  <a:rPr lang="zh-CN" altLang="en-US" sz="2000" dirty="0">
                    <a:solidFill>
                      <a:srgbClr val="000000"/>
                    </a:solidFill>
                    <a:latin typeface="宋体" panose="02010600030101010101" pitchFamily="2" charset="-122"/>
                    <a:ea typeface="宋体" panose="02010600030101010101" pitchFamily="2" charset="-122"/>
                  </a:rPr>
                  <a:t>系</a:t>
                </a:r>
                <a:endParaRPr lang="zh-CN" altLang="en-US" sz="2000" dirty="0">
                  <a:solidFill>
                    <a:srgbClr val="000000"/>
                  </a:solidFill>
                  <a:latin typeface="宋体" panose="02010600030101010101" pitchFamily="2" charset="-122"/>
                  <a:ea typeface="宋体" panose="02010600030101010101" pitchFamily="2" charset="-122"/>
                </a:endParaRPr>
              </a:p>
            </p:txBody>
          </p:sp>
          <p:sp>
            <p:nvSpPr>
              <p:cNvPr id="29706" name="Oval 12"/>
              <p:cNvSpPr/>
              <p:nvPr/>
            </p:nvSpPr>
            <p:spPr>
              <a:xfrm>
                <a:off x="0" y="725"/>
                <a:ext cx="508" cy="318"/>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p>
                <a:pPr algn="ctr">
                  <a:lnSpc>
                    <a:spcPct val="135000"/>
                  </a:lnSpc>
                </a:pPr>
                <a:r>
                  <a:rPr lang="zh-CN" altLang="en-US" sz="1600" dirty="0">
                    <a:solidFill>
                      <a:srgbClr val="0000CC"/>
                    </a:solidFill>
                    <a:latin typeface="宋体" panose="02010600030101010101" pitchFamily="2" charset="-122"/>
                    <a:ea typeface="宋体" panose="02010600030101010101" pitchFamily="2" charset="-122"/>
                  </a:rPr>
                  <a:t>电话</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29707" name="Line 13"/>
              <p:cNvSpPr/>
              <p:nvPr/>
            </p:nvSpPr>
            <p:spPr>
              <a:xfrm flipH="1">
                <a:off x="499" y="771"/>
                <a:ext cx="272" cy="90"/>
              </a:xfrm>
              <a:prstGeom prst="line">
                <a:avLst/>
              </a:prstGeom>
              <a:ln w="25400" cap="flat" cmpd="sng">
                <a:solidFill>
                  <a:srgbClr val="000000"/>
                </a:solidFill>
                <a:prstDash val="solid"/>
                <a:round/>
                <a:headEnd type="none" w="med" len="med"/>
                <a:tailEnd type="none" w="med" len="med"/>
              </a:ln>
            </p:spPr>
          </p:sp>
          <p:sp>
            <p:nvSpPr>
              <p:cNvPr id="29708" name="Oval 14"/>
              <p:cNvSpPr/>
              <p:nvPr/>
            </p:nvSpPr>
            <p:spPr>
              <a:xfrm>
                <a:off x="285" y="0"/>
                <a:ext cx="713" cy="432"/>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p>
                <a:pPr algn="ctr">
                  <a:lnSpc>
                    <a:spcPct val="135000"/>
                  </a:lnSpc>
                </a:pPr>
                <a:r>
                  <a:rPr lang="zh-CN" altLang="en-US" sz="1600" u="sng" dirty="0">
                    <a:solidFill>
                      <a:srgbClr val="0000CC"/>
                    </a:solidFill>
                    <a:latin typeface="宋体" panose="02010600030101010101" pitchFamily="2" charset="-122"/>
                    <a:ea typeface="宋体" panose="02010600030101010101" pitchFamily="2" charset="-122"/>
                  </a:rPr>
                  <a:t>系名</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29709" name="Oval 15"/>
              <p:cNvSpPr/>
              <p:nvPr/>
            </p:nvSpPr>
            <p:spPr>
              <a:xfrm>
                <a:off x="0" y="408"/>
                <a:ext cx="476" cy="29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p>
                <a:pPr algn="ctr">
                  <a:lnSpc>
                    <a:spcPct val="135000"/>
                  </a:lnSpc>
                </a:pPr>
                <a:r>
                  <a:rPr lang="zh-CN" altLang="en-US" sz="1600" dirty="0">
                    <a:solidFill>
                      <a:srgbClr val="0000CC"/>
                    </a:solidFill>
                    <a:latin typeface="宋体" panose="02010600030101010101" pitchFamily="2" charset="-122"/>
                    <a:ea typeface="宋体" panose="02010600030101010101" pitchFamily="2" charset="-122"/>
                  </a:rPr>
                  <a:t>地址</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29710" name="Line 16"/>
              <p:cNvSpPr/>
              <p:nvPr/>
            </p:nvSpPr>
            <p:spPr>
              <a:xfrm>
                <a:off x="817" y="408"/>
                <a:ext cx="90" cy="227"/>
              </a:xfrm>
              <a:prstGeom prst="line">
                <a:avLst/>
              </a:prstGeom>
              <a:ln w="25400" cap="flat" cmpd="sng">
                <a:solidFill>
                  <a:srgbClr val="000000"/>
                </a:solidFill>
                <a:prstDash val="solid"/>
                <a:round/>
                <a:headEnd type="none" w="med" len="med"/>
                <a:tailEnd type="none" w="med" len="med"/>
              </a:ln>
            </p:spPr>
          </p:sp>
          <p:sp>
            <p:nvSpPr>
              <p:cNvPr id="29711" name="Line 17"/>
              <p:cNvSpPr/>
              <p:nvPr/>
            </p:nvSpPr>
            <p:spPr>
              <a:xfrm flipH="1" flipV="1">
                <a:off x="454" y="589"/>
                <a:ext cx="317" cy="136"/>
              </a:xfrm>
              <a:prstGeom prst="line">
                <a:avLst/>
              </a:prstGeom>
              <a:ln w="25400" cap="flat" cmpd="sng">
                <a:solidFill>
                  <a:srgbClr val="000000"/>
                </a:solidFill>
                <a:prstDash val="solid"/>
                <a:round/>
                <a:headEnd type="none" w="med" len="med"/>
                <a:tailEnd type="none" w="med" len="med"/>
              </a:ln>
            </p:spPr>
          </p:sp>
        </p:grpSp>
        <p:grpSp>
          <p:nvGrpSpPr>
            <p:cNvPr id="29712" name="Group 18"/>
            <p:cNvGrpSpPr/>
            <p:nvPr/>
          </p:nvGrpSpPr>
          <p:grpSpPr>
            <a:xfrm>
              <a:off x="6248402" y="0"/>
              <a:ext cx="2335213" cy="1604964"/>
              <a:chOff x="0" y="0"/>
              <a:chExt cx="1471" cy="1011"/>
            </a:xfrm>
          </p:grpSpPr>
          <p:sp>
            <p:nvSpPr>
              <p:cNvPr id="29713" name="Rectangle 19"/>
              <p:cNvSpPr/>
              <p:nvPr/>
            </p:nvSpPr>
            <p:spPr>
              <a:xfrm>
                <a:off x="96" y="723"/>
                <a:ext cx="576" cy="288"/>
              </a:xfrm>
              <a:prstGeom prst="rect">
                <a:avLst/>
              </a:prstGeom>
              <a:solidFill>
                <a:srgbClr val="FECF70"/>
              </a:solidFill>
              <a:ln w="9525" cap="flat" cmpd="sng">
                <a:solidFill>
                  <a:srgbClr val="000000"/>
                </a:solidFill>
                <a:prstDash val="solid"/>
                <a:miter/>
                <a:headEnd type="none" w="med" len="med"/>
                <a:tailEnd type="none" w="med" len="med"/>
              </a:ln>
            </p:spPr>
            <p:txBody>
              <a:bodyPr anchor="t" anchorCtr="0"/>
              <a:p>
                <a:pPr algn="ctr">
                  <a:lnSpc>
                    <a:spcPct val="135000"/>
                  </a:lnSpc>
                </a:pPr>
                <a:r>
                  <a:rPr lang="zh-CN" altLang="en-US" dirty="0">
                    <a:solidFill>
                      <a:srgbClr val="000000"/>
                    </a:solidFill>
                    <a:latin typeface="宋体" panose="02010600030101010101" pitchFamily="2" charset="-122"/>
                    <a:ea typeface="宋体" panose="02010600030101010101" pitchFamily="2" charset="-122"/>
                  </a:rPr>
                  <a:t>辅导员</a:t>
                </a:r>
                <a:endParaRPr lang="de-DE" altLang="en-US" dirty="0">
                  <a:solidFill>
                    <a:srgbClr val="000000"/>
                  </a:solidFill>
                  <a:latin typeface="宋体" panose="02010600030101010101" pitchFamily="2" charset="-122"/>
                  <a:ea typeface="宋体" panose="02010600030101010101" pitchFamily="2" charset="-122"/>
                </a:endParaRPr>
              </a:p>
            </p:txBody>
          </p:sp>
          <p:sp>
            <p:nvSpPr>
              <p:cNvPr id="29714" name="Oval 20"/>
              <p:cNvSpPr/>
              <p:nvPr/>
            </p:nvSpPr>
            <p:spPr>
              <a:xfrm>
                <a:off x="927" y="408"/>
                <a:ext cx="454" cy="272"/>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p>
                <a:pPr algn="ctr">
                  <a:lnSpc>
                    <a:spcPct val="135000"/>
                  </a:lnSpc>
                </a:pPr>
                <a:r>
                  <a:rPr lang="zh-CN" altLang="en-US" sz="1600" dirty="0">
                    <a:solidFill>
                      <a:srgbClr val="0000CC"/>
                    </a:solidFill>
                    <a:latin typeface="宋体" panose="02010600030101010101" pitchFamily="2" charset="-122"/>
                    <a:ea typeface="宋体" panose="02010600030101010101" pitchFamily="2" charset="-122"/>
                  </a:rPr>
                  <a:t>性别</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29715" name="Oval 21"/>
              <p:cNvSpPr/>
              <p:nvPr/>
            </p:nvSpPr>
            <p:spPr>
              <a:xfrm>
                <a:off x="0" y="99"/>
                <a:ext cx="72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p>
                <a:pPr algn="ctr">
                  <a:lnSpc>
                    <a:spcPct val="135000"/>
                  </a:lnSpc>
                </a:pPr>
                <a:r>
                  <a:rPr lang="zh-CN" altLang="en-US" sz="1600" u="sng" dirty="0">
                    <a:solidFill>
                      <a:srgbClr val="0000CC"/>
                    </a:solidFill>
                    <a:latin typeface="宋体" panose="02010600030101010101" pitchFamily="2" charset="-122"/>
                    <a:ea typeface="宋体" panose="02010600030101010101" pitchFamily="2" charset="-122"/>
                  </a:rPr>
                  <a:t>工作证号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29716" name="Line 22"/>
              <p:cNvSpPr/>
              <p:nvPr/>
            </p:nvSpPr>
            <p:spPr>
              <a:xfrm>
                <a:off x="288" y="483"/>
                <a:ext cx="96" cy="240"/>
              </a:xfrm>
              <a:prstGeom prst="line">
                <a:avLst/>
              </a:prstGeom>
              <a:ln w="25400" cap="flat" cmpd="sng">
                <a:solidFill>
                  <a:srgbClr val="000000"/>
                </a:solidFill>
                <a:prstDash val="solid"/>
                <a:round/>
                <a:headEnd type="none" w="med" len="med"/>
                <a:tailEnd type="none" w="med" len="med"/>
              </a:ln>
            </p:spPr>
          </p:sp>
          <p:sp>
            <p:nvSpPr>
              <p:cNvPr id="29717" name="Line 23"/>
              <p:cNvSpPr/>
              <p:nvPr/>
            </p:nvSpPr>
            <p:spPr>
              <a:xfrm flipH="1">
                <a:off x="672" y="544"/>
                <a:ext cx="255" cy="272"/>
              </a:xfrm>
              <a:prstGeom prst="line">
                <a:avLst/>
              </a:prstGeom>
              <a:ln w="25400" cap="flat" cmpd="sng">
                <a:solidFill>
                  <a:srgbClr val="000000"/>
                </a:solidFill>
                <a:prstDash val="solid"/>
                <a:round/>
                <a:headEnd type="none" w="med" len="med"/>
                <a:tailEnd type="none" w="med" len="med"/>
              </a:ln>
            </p:spPr>
          </p:sp>
          <p:sp>
            <p:nvSpPr>
              <p:cNvPr id="29718" name="Oval 24"/>
              <p:cNvSpPr/>
              <p:nvPr/>
            </p:nvSpPr>
            <p:spPr>
              <a:xfrm>
                <a:off x="768" y="0"/>
                <a:ext cx="604"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p>
                <a:pPr algn="ctr">
                  <a:lnSpc>
                    <a:spcPct val="135000"/>
                  </a:lnSpc>
                </a:pPr>
                <a:r>
                  <a:rPr lang="zh-CN" altLang="en-US" sz="1600" dirty="0">
                    <a:solidFill>
                      <a:srgbClr val="0000CC"/>
                    </a:solidFill>
                    <a:latin typeface="宋体" panose="02010600030101010101" pitchFamily="2" charset="-122"/>
                    <a:ea typeface="宋体" panose="02010600030101010101" pitchFamily="2" charset="-122"/>
                  </a:rPr>
                  <a:t>姓名</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29719" name="Oval 25"/>
              <p:cNvSpPr/>
              <p:nvPr/>
            </p:nvSpPr>
            <p:spPr>
              <a:xfrm>
                <a:off x="1017" y="725"/>
                <a:ext cx="454" cy="272"/>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p>
                <a:pPr algn="ctr">
                  <a:lnSpc>
                    <a:spcPct val="135000"/>
                  </a:lnSpc>
                </a:pPr>
                <a:r>
                  <a:rPr lang="zh-CN" altLang="en-US" sz="1600" dirty="0">
                    <a:solidFill>
                      <a:srgbClr val="0000CC"/>
                    </a:solidFill>
                    <a:latin typeface="宋体" panose="02010600030101010101" pitchFamily="2" charset="-122"/>
                    <a:ea typeface="宋体" panose="02010600030101010101" pitchFamily="2" charset="-122"/>
                  </a:rPr>
                  <a:t>电话</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29720" name="Line 26"/>
              <p:cNvSpPr/>
              <p:nvPr/>
            </p:nvSpPr>
            <p:spPr>
              <a:xfrm flipH="1">
                <a:off x="528" y="317"/>
                <a:ext cx="308" cy="403"/>
              </a:xfrm>
              <a:prstGeom prst="line">
                <a:avLst/>
              </a:prstGeom>
              <a:ln w="25400" cap="flat" cmpd="sng">
                <a:solidFill>
                  <a:srgbClr val="000000"/>
                </a:solidFill>
                <a:prstDash val="solid"/>
                <a:round/>
                <a:headEnd type="none" w="med" len="med"/>
                <a:tailEnd type="none" w="med" len="med"/>
              </a:ln>
            </p:spPr>
          </p:sp>
          <p:sp>
            <p:nvSpPr>
              <p:cNvPr id="29721" name="Line 27"/>
              <p:cNvSpPr/>
              <p:nvPr/>
            </p:nvSpPr>
            <p:spPr>
              <a:xfrm flipH="1">
                <a:off x="672" y="861"/>
                <a:ext cx="345" cy="51"/>
              </a:xfrm>
              <a:prstGeom prst="line">
                <a:avLst/>
              </a:prstGeom>
              <a:ln w="25400" cap="flat" cmpd="sng">
                <a:solidFill>
                  <a:srgbClr val="000000"/>
                </a:solidFill>
                <a:prstDash val="solid"/>
                <a:round/>
                <a:headEnd type="none" w="med" len="med"/>
                <a:tailEnd type="none" w="med" len="med"/>
              </a:ln>
            </p:spPr>
          </p:sp>
        </p:grpSp>
        <p:grpSp>
          <p:nvGrpSpPr>
            <p:cNvPr id="29722" name="Group 28"/>
            <p:cNvGrpSpPr/>
            <p:nvPr/>
          </p:nvGrpSpPr>
          <p:grpSpPr>
            <a:xfrm>
              <a:off x="3935416" y="7939"/>
              <a:ext cx="1703388" cy="1363663"/>
              <a:chOff x="0" y="0"/>
              <a:chExt cx="1073" cy="859"/>
            </a:xfrm>
          </p:grpSpPr>
          <p:sp>
            <p:nvSpPr>
              <p:cNvPr id="29723" name="Line 29"/>
              <p:cNvSpPr/>
              <p:nvPr/>
            </p:nvSpPr>
            <p:spPr>
              <a:xfrm flipV="1">
                <a:off x="449" y="379"/>
                <a:ext cx="144" cy="192"/>
              </a:xfrm>
              <a:prstGeom prst="line">
                <a:avLst/>
              </a:prstGeom>
              <a:ln w="25400" cap="flat" cmpd="sng">
                <a:solidFill>
                  <a:srgbClr val="000000"/>
                </a:solidFill>
                <a:prstDash val="solid"/>
                <a:round/>
                <a:headEnd type="none" w="med" len="med"/>
                <a:tailEnd type="none" w="med" len="med"/>
              </a:ln>
            </p:spPr>
          </p:sp>
          <p:sp>
            <p:nvSpPr>
              <p:cNvPr id="29724" name="Line 30"/>
              <p:cNvSpPr/>
              <p:nvPr/>
            </p:nvSpPr>
            <p:spPr>
              <a:xfrm flipH="1" flipV="1">
                <a:off x="227" y="273"/>
                <a:ext cx="78" cy="298"/>
              </a:xfrm>
              <a:prstGeom prst="line">
                <a:avLst/>
              </a:prstGeom>
              <a:ln w="25400" cap="flat" cmpd="sng">
                <a:solidFill>
                  <a:srgbClr val="000000"/>
                </a:solidFill>
                <a:prstDash val="solid"/>
                <a:round/>
                <a:headEnd type="none" w="med" len="med"/>
                <a:tailEnd type="none" w="med" len="med"/>
              </a:ln>
            </p:spPr>
          </p:sp>
          <p:sp>
            <p:nvSpPr>
              <p:cNvPr id="29725" name="Oval 31"/>
              <p:cNvSpPr/>
              <p:nvPr/>
            </p:nvSpPr>
            <p:spPr>
              <a:xfrm>
                <a:off x="545" y="139"/>
                <a:ext cx="528" cy="331"/>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p>
                <a:pPr algn="ctr">
                  <a:lnSpc>
                    <a:spcPct val="135000"/>
                  </a:lnSpc>
                </a:pPr>
                <a:r>
                  <a:rPr lang="zh-CN" altLang="en-US" sz="1600" dirty="0">
                    <a:solidFill>
                      <a:srgbClr val="0000CC"/>
                    </a:solidFill>
                    <a:latin typeface="宋体" panose="02010600030101010101" pitchFamily="2" charset="-122"/>
                    <a:ea typeface="宋体" panose="02010600030101010101" pitchFamily="2" charset="-122"/>
                  </a:rPr>
                  <a:t>班名</a:t>
                </a:r>
                <a:endParaRPr lang="de-DE" altLang="en-US" sz="1600" dirty="0">
                  <a:solidFill>
                    <a:srgbClr val="0000CC"/>
                  </a:solidFill>
                  <a:latin typeface="宋体" panose="02010600030101010101" pitchFamily="2" charset="-122"/>
                  <a:ea typeface="宋体" panose="02010600030101010101" pitchFamily="2" charset="-122"/>
                </a:endParaRPr>
              </a:p>
            </p:txBody>
          </p:sp>
          <p:sp>
            <p:nvSpPr>
              <p:cNvPr id="29726" name="Oval 32"/>
              <p:cNvSpPr/>
              <p:nvPr/>
            </p:nvSpPr>
            <p:spPr>
              <a:xfrm>
                <a:off x="0" y="0"/>
                <a:ext cx="576" cy="288"/>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p>
                <a:pPr algn="ctr">
                  <a:lnSpc>
                    <a:spcPct val="135000"/>
                  </a:lnSpc>
                </a:pPr>
                <a:r>
                  <a:rPr lang="zh-CN" altLang="en-US" sz="1600" u="sng" dirty="0">
                    <a:solidFill>
                      <a:srgbClr val="0000CC"/>
                    </a:solidFill>
                    <a:latin typeface="宋体" panose="02010600030101010101" pitchFamily="2" charset="-122"/>
                    <a:ea typeface="宋体" panose="02010600030101010101" pitchFamily="2" charset="-122"/>
                  </a:rPr>
                  <a:t>班号</a:t>
                </a:r>
                <a:endParaRPr lang="de-DE" altLang="en-US" sz="1600" u="sng" dirty="0">
                  <a:solidFill>
                    <a:srgbClr val="0000CC"/>
                  </a:solidFill>
                  <a:latin typeface="宋体" panose="02010600030101010101" pitchFamily="2" charset="-122"/>
                  <a:ea typeface="宋体" panose="02010600030101010101" pitchFamily="2" charset="-122"/>
                </a:endParaRPr>
              </a:p>
            </p:txBody>
          </p:sp>
          <p:sp>
            <p:nvSpPr>
              <p:cNvPr id="29727" name="Rectangle 33"/>
              <p:cNvSpPr/>
              <p:nvPr/>
            </p:nvSpPr>
            <p:spPr>
              <a:xfrm>
                <a:off x="17" y="571"/>
                <a:ext cx="576" cy="288"/>
              </a:xfrm>
              <a:prstGeom prst="rect">
                <a:avLst/>
              </a:prstGeom>
              <a:solidFill>
                <a:srgbClr val="FECF70"/>
              </a:solidFill>
              <a:ln w="9525" cap="flat" cmpd="sng">
                <a:solidFill>
                  <a:srgbClr val="000000"/>
                </a:solidFill>
                <a:prstDash val="solid"/>
                <a:miter/>
                <a:headEnd type="none" w="med" len="med"/>
                <a:tailEnd type="none" w="med" len="med"/>
              </a:ln>
            </p:spPr>
            <p:txBody>
              <a:bodyPr anchor="t" anchorCtr="0"/>
              <a:p>
                <a:pPr algn="ctr">
                  <a:lnSpc>
                    <a:spcPct val="135000"/>
                  </a:lnSpc>
                </a:pPr>
                <a:r>
                  <a:rPr lang="zh-CN" altLang="en-US" dirty="0">
                    <a:solidFill>
                      <a:srgbClr val="000000"/>
                    </a:solidFill>
                    <a:latin typeface="宋体" panose="02010600030101010101" pitchFamily="2" charset="-122"/>
                    <a:ea typeface="宋体" panose="02010600030101010101" pitchFamily="2" charset="-122"/>
                  </a:rPr>
                  <a:t>班级</a:t>
                </a:r>
                <a:endParaRPr lang="de-DE" altLang="en-US" dirty="0">
                  <a:solidFill>
                    <a:srgbClr val="000000"/>
                  </a:solidFill>
                  <a:latin typeface="宋体" panose="02010600030101010101" pitchFamily="2" charset="-122"/>
                  <a:ea typeface="宋体" panose="02010600030101010101" pitchFamily="2" charset="-122"/>
                </a:endParaRPr>
              </a:p>
            </p:txBody>
          </p:sp>
        </p:grpSp>
        <p:grpSp>
          <p:nvGrpSpPr>
            <p:cNvPr id="29728" name="Group 34"/>
            <p:cNvGrpSpPr/>
            <p:nvPr/>
          </p:nvGrpSpPr>
          <p:grpSpPr>
            <a:xfrm>
              <a:off x="3429000" y="3505200"/>
              <a:ext cx="3348038" cy="1563688"/>
              <a:chOff x="0" y="0"/>
              <a:chExt cx="2109" cy="985"/>
            </a:xfrm>
          </p:grpSpPr>
          <p:sp>
            <p:nvSpPr>
              <p:cNvPr id="29729" name="Rectangle 35"/>
              <p:cNvSpPr/>
              <p:nvPr/>
            </p:nvSpPr>
            <p:spPr>
              <a:xfrm>
                <a:off x="414" y="0"/>
                <a:ext cx="576" cy="288"/>
              </a:xfrm>
              <a:prstGeom prst="rect">
                <a:avLst/>
              </a:prstGeom>
              <a:solidFill>
                <a:srgbClr val="FECF70"/>
              </a:solidFill>
              <a:ln w="9525" cap="flat" cmpd="sng">
                <a:solidFill>
                  <a:srgbClr val="000000"/>
                </a:solidFill>
                <a:prstDash val="solid"/>
                <a:miter/>
                <a:headEnd type="none" w="med" len="med"/>
                <a:tailEnd type="none" w="med" len="med"/>
              </a:ln>
            </p:spPr>
            <p:txBody>
              <a:bodyPr anchor="t" anchorCtr="0"/>
              <a:p>
                <a:pPr algn="ctr">
                  <a:lnSpc>
                    <a:spcPct val="135000"/>
                  </a:lnSpc>
                </a:pPr>
                <a:r>
                  <a:rPr lang="zh-CN" altLang="en-US" dirty="0">
                    <a:solidFill>
                      <a:srgbClr val="000000"/>
                    </a:solidFill>
                    <a:latin typeface="宋体" panose="02010600030101010101" pitchFamily="2" charset="-122"/>
                    <a:ea typeface="宋体" panose="02010600030101010101" pitchFamily="2" charset="-122"/>
                  </a:rPr>
                  <a:t>学生</a:t>
                </a:r>
                <a:endParaRPr lang="zh-CN" altLang="en-US" dirty="0">
                  <a:solidFill>
                    <a:srgbClr val="000000"/>
                  </a:solidFill>
                  <a:latin typeface="宋体" panose="02010600030101010101" pitchFamily="2" charset="-122"/>
                  <a:ea typeface="宋体" panose="02010600030101010101" pitchFamily="2" charset="-122"/>
                </a:endParaRPr>
              </a:p>
            </p:txBody>
          </p:sp>
          <p:sp>
            <p:nvSpPr>
              <p:cNvPr id="29730" name="Oval 36"/>
              <p:cNvSpPr/>
              <p:nvPr/>
            </p:nvSpPr>
            <p:spPr>
              <a:xfrm>
                <a:off x="1389" y="283"/>
                <a:ext cx="72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p>
                <a:pPr algn="ctr">
                  <a:lnSpc>
                    <a:spcPct val="135000"/>
                  </a:lnSpc>
                </a:pPr>
                <a:r>
                  <a:rPr lang="zh-CN" altLang="en-US" sz="1600" dirty="0">
                    <a:solidFill>
                      <a:srgbClr val="0000CC"/>
                    </a:solidFill>
                    <a:latin typeface="宋体" panose="02010600030101010101" pitchFamily="2" charset="-122"/>
                    <a:ea typeface="宋体" panose="02010600030101010101" pitchFamily="2" charset="-122"/>
                  </a:rPr>
                  <a:t>出生年月</a:t>
                </a:r>
                <a:endParaRPr lang="de-DE" altLang="en-US" sz="1600" dirty="0">
                  <a:solidFill>
                    <a:srgbClr val="0000CC"/>
                  </a:solidFill>
                  <a:latin typeface="宋体" panose="02010600030101010101" pitchFamily="2" charset="-122"/>
                  <a:ea typeface="宋体" panose="02010600030101010101" pitchFamily="2" charset="-122"/>
                </a:endParaRPr>
              </a:p>
            </p:txBody>
          </p:sp>
          <p:sp>
            <p:nvSpPr>
              <p:cNvPr id="29731" name="Oval 37"/>
              <p:cNvSpPr/>
              <p:nvPr/>
            </p:nvSpPr>
            <p:spPr>
              <a:xfrm>
                <a:off x="0" y="601"/>
                <a:ext cx="72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p>
                <a:pPr algn="ctr">
                  <a:lnSpc>
                    <a:spcPct val="135000"/>
                  </a:lnSpc>
                </a:pPr>
                <a:r>
                  <a:rPr lang="zh-CN" altLang="en-US" sz="1600" u="sng" dirty="0">
                    <a:solidFill>
                      <a:srgbClr val="0000CC"/>
                    </a:solidFill>
                    <a:latin typeface="宋体" panose="02010600030101010101" pitchFamily="2" charset="-122"/>
                    <a:ea typeface="宋体" panose="02010600030101010101" pitchFamily="2" charset="-122"/>
                  </a:rPr>
                  <a:t>学号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29732" name="Line 38"/>
              <p:cNvSpPr/>
              <p:nvPr/>
            </p:nvSpPr>
            <p:spPr>
              <a:xfrm>
                <a:off x="998" y="238"/>
                <a:ext cx="408" cy="181"/>
              </a:xfrm>
              <a:prstGeom prst="line">
                <a:avLst/>
              </a:prstGeom>
              <a:ln w="25400" cap="flat" cmpd="sng">
                <a:solidFill>
                  <a:srgbClr val="000000"/>
                </a:solidFill>
                <a:prstDash val="solid"/>
                <a:round/>
                <a:headEnd type="none" w="med" len="med"/>
                <a:tailEnd type="none" w="med" len="med"/>
              </a:ln>
            </p:spPr>
          </p:sp>
          <p:sp>
            <p:nvSpPr>
              <p:cNvPr id="29733" name="Oval 39"/>
              <p:cNvSpPr/>
              <p:nvPr/>
            </p:nvSpPr>
            <p:spPr>
              <a:xfrm>
                <a:off x="726" y="646"/>
                <a:ext cx="454" cy="339"/>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p>
                <a:pPr algn="ctr">
                  <a:lnSpc>
                    <a:spcPct val="135000"/>
                  </a:lnSpc>
                </a:pPr>
                <a:r>
                  <a:rPr lang="zh-CN" altLang="en-US" sz="1600" dirty="0">
                    <a:solidFill>
                      <a:srgbClr val="0000CC"/>
                    </a:solidFill>
                    <a:latin typeface="宋体" panose="02010600030101010101" pitchFamily="2" charset="-122"/>
                    <a:ea typeface="宋体" panose="02010600030101010101" pitchFamily="2" charset="-122"/>
                  </a:rPr>
                  <a:t>姓名</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29734" name="Oval 40"/>
              <p:cNvSpPr/>
              <p:nvPr/>
            </p:nvSpPr>
            <p:spPr>
              <a:xfrm>
                <a:off x="1179" y="646"/>
                <a:ext cx="454" cy="339"/>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p>
                <a:pPr algn="ctr">
                  <a:lnSpc>
                    <a:spcPct val="135000"/>
                  </a:lnSpc>
                </a:pPr>
                <a:r>
                  <a:rPr lang="zh-CN" altLang="en-US" sz="1600" dirty="0">
                    <a:solidFill>
                      <a:srgbClr val="0000CC"/>
                    </a:solidFill>
                    <a:latin typeface="宋体" panose="02010600030101010101" pitchFamily="2" charset="-122"/>
                    <a:ea typeface="宋体" panose="02010600030101010101" pitchFamily="2" charset="-122"/>
                  </a:rPr>
                  <a:t>性别</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29735" name="Line 41"/>
              <p:cNvSpPr/>
              <p:nvPr/>
            </p:nvSpPr>
            <p:spPr>
              <a:xfrm>
                <a:off x="726" y="283"/>
                <a:ext cx="227" cy="363"/>
              </a:xfrm>
              <a:prstGeom prst="line">
                <a:avLst/>
              </a:prstGeom>
              <a:ln w="25400" cap="flat" cmpd="sng">
                <a:solidFill>
                  <a:srgbClr val="000000"/>
                </a:solidFill>
                <a:prstDash val="solid"/>
                <a:round/>
                <a:headEnd type="none" w="med" len="med"/>
                <a:tailEnd type="none" w="med" len="med"/>
              </a:ln>
            </p:spPr>
          </p:sp>
          <p:sp>
            <p:nvSpPr>
              <p:cNvPr id="29736" name="Line 42"/>
              <p:cNvSpPr/>
              <p:nvPr/>
            </p:nvSpPr>
            <p:spPr>
              <a:xfrm>
                <a:off x="817" y="283"/>
                <a:ext cx="544" cy="363"/>
              </a:xfrm>
              <a:prstGeom prst="line">
                <a:avLst/>
              </a:prstGeom>
              <a:ln w="25400" cap="flat" cmpd="sng">
                <a:solidFill>
                  <a:srgbClr val="000000"/>
                </a:solidFill>
                <a:prstDash val="solid"/>
                <a:round/>
                <a:headEnd type="none" w="med" len="med"/>
                <a:tailEnd type="none" w="med" len="med"/>
              </a:ln>
            </p:spPr>
          </p:sp>
          <p:sp>
            <p:nvSpPr>
              <p:cNvPr id="29737" name="Line 43"/>
              <p:cNvSpPr/>
              <p:nvPr/>
            </p:nvSpPr>
            <p:spPr>
              <a:xfrm flipH="1">
                <a:off x="336" y="298"/>
                <a:ext cx="192" cy="318"/>
              </a:xfrm>
              <a:prstGeom prst="line">
                <a:avLst/>
              </a:prstGeom>
              <a:ln w="25400" cap="flat" cmpd="sng">
                <a:solidFill>
                  <a:srgbClr val="000000"/>
                </a:solidFill>
                <a:prstDash val="solid"/>
                <a:round/>
                <a:headEnd type="none" w="med" len="med"/>
                <a:tailEnd type="none" w="med" len="med"/>
              </a:ln>
            </p:spPr>
          </p:sp>
        </p:grpSp>
        <p:grpSp>
          <p:nvGrpSpPr>
            <p:cNvPr id="29738" name="Group 44"/>
            <p:cNvGrpSpPr/>
            <p:nvPr/>
          </p:nvGrpSpPr>
          <p:grpSpPr>
            <a:xfrm>
              <a:off x="7620000" y="3589341"/>
              <a:ext cx="1066800" cy="1363663"/>
              <a:chOff x="0" y="0"/>
              <a:chExt cx="672" cy="859"/>
            </a:xfrm>
          </p:grpSpPr>
          <p:sp>
            <p:nvSpPr>
              <p:cNvPr id="29739" name="Line 45"/>
              <p:cNvSpPr/>
              <p:nvPr/>
            </p:nvSpPr>
            <p:spPr>
              <a:xfrm flipV="1">
                <a:off x="288" y="293"/>
                <a:ext cx="48" cy="278"/>
              </a:xfrm>
              <a:prstGeom prst="line">
                <a:avLst/>
              </a:prstGeom>
              <a:ln w="25400" cap="flat" cmpd="sng">
                <a:solidFill>
                  <a:srgbClr val="000000"/>
                </a:solidFill>
                <a:prstDash val="solid"/>
                <a:round/>
                <a:headEnd type="none" w="med" len="med"/>
                <a:tailEnd type="none" w="med" len="med"/>
              </a:ln>
            </p:spPr>
          </p:sp>
          <p:sp>
            <p:nvSpPr>
              <p:cNvPr id="29740" name="Oval 46"/>
              <p:cNvSpPr/>
              <p:nvPr/>
            </p:nvSpPr>
            <p:spPr>
              <a:xfrm>
                <a:off x="0" y="571"/>
                <a:ext cx="576" cy="288"/>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p>
                <a:pPr algn="ctr">
                  <a:lnSpc>
                    <a:spcPct val="135000"/>
                  </a:lnSpc>
                </a:pPr>
                <a:r>
                  <a:rPr lang="zh-CN" altLang="en-US" sz="1600" u="sng" dirty="0">
                    <a:solidFill>
                      <a:srgbClr val="0000CC"/>
                    </a:solidFill>
                    <a:latin typeface="宋体" panose="02010600030101010101" pitchFamily="2" charset="-122"/>
                    <a:ea typeface="宋体" panose="02010600030101010101" pitchFamily="2" charset="-122"/>
                  </a:rPr>
                  <a:t>宿舍号</a:t>
                </a:r>
                <a:endParaRPr lang="de-DE" altLang="en-US" sz="1600" u="sng" dirty="0">
                  <a:solidFill>
                    <a:srgbClr val="0000CC"/>
                  </a:solidFill>
                  <a:latin typeface="宋体" panose="02010600030101010101" pitchFamily="2" charset="-122"/>
                  <a:ea typeface="宋体" panose="02010600030101010101" pitchFamily="2" charset="-122"/>
                </a:endParaRPr>
              </a:p>
            </p:txBody>
          </p:sp>
          <p:sp>
            <p:nvSpPr>
              <p:cNvPr id="29741" name="Rectangle 47"/>
              <p:cNvSpPr/>
              <p:nvPr/>
            </p:nvSpPr>
            <p:spPr>
              <a:xfrm>
                <a:off x="96" y="0"/>
                <a:ext cx="576" cy="288"/>
              </a:xfrm>
              <a:prstGeom prst="rect">
                <a:avLst/>
              </a:prstGeom>
              <a:solidFill>
                <a:srgbClr val="FECF70"/>
              </a:solidFill>
              <a:ln w="9525" cap="flat" cmpd="sng">
                <a:solidFill>
                  <a:srgbClr val="000000"/>
                </a:solidFill>
                <a:prstDash val="solid"/>
                <a:miter/>
                <a:headEnd type="none" w="med" len="med"/>
                <a:tailEnd type="none" w="med" len="med"/>
              </a:ln>
            </p:spPr>
            <p:txBody>
              <a:bodyPr anchor="t" anchorCtr="0"/>
              <a:p>
                <a:pPr algn="ctr">
                  <a:lnSpc>
                    <a:spcPct val="135000"/>
                  </a:lnSpc>
                </a:pPr>
                <a:r>
                  <a:rPr lang="zh-CN" altLang="en-US" dirty="0">
                    <a:solidFill>
                      <a:srgbClr val="000000"/>
                    </a:solidFill>
                    <a:latin typeface="宋体" panose="02010600030101010101" pitchFamily="2" charset="-122"/>
                    <a:ea typeface="宋体" panose="02010600030101010101" pitchFamily="2" charset="-122"/>
                  </a:rPr>
                  <a:t>宿舍</a:t>
                </a:r>
                <a:endParaRPr lang="de-DE" altLang="en-US" dirty="0">
                  <a:solidFill>
                    <a:srgbClr val="000000"/>
                  </a:solidFill>
                  <a:latin typeface="宋体" panose="02010600030101010101" pitchFamily="2" charset="-122"/>
                  <a:ea typeface="宋体" panose="02010600030101010101" pitchFamily="2" charset="-122"/>
                </a:endParaRPr>
              </a:p>
            </p:txBody>
          </p:sp>
        </p:grpSp>
        <p:grpSp>
          <p:nvGrpSpPr>
            <p:cNvPr id="29742" name="Group 48"/>
            <p:cNvGrpSpPr/>
            <p:nvPr/>
          </p:nvGrpSpPr>
          <p:grpSpPr>
            <a:xfrm>
              <a:off x="2286000" y="914400"/>
              <a:ext cx="1676400" cy="990600"/>
              <a:chOff x="0" y="0"/>
              <a:chExt cx="1056" cy="624"/>
            </a:xfrm>
          </p:grpSpPr>
          <p:sp>
            <p:nvSpPr>
              <p:cNvPr id="29743" name="AutoShape 49"/>
              <p:cNvSpPr/>
              <p:nvPr/>
            </p:nvSpPr>
            <p:spPr>
              <a:xfrm>
                <a:off x="144" y="288"/>
                <a:ext cx="768" cy="336"/>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nchorCtr="0"/>
              <a:p>
                <a:pPr algn="ctr">
                  <a:lnSpc>
                    <a:spcPct val="135000"/>
                  </a:lnSpc>
                </a:pPr>
                <a:r>
                  <a:rPr lang="zh-CN" altLang="en-US" sz="1600" dirty="0">
                    <a:solidFill>
                      <a:srgbClr val="0000CC"/>
                    </a:solidFill>
                    <a:latin typeface="宋体" panose="02010600030101010101" pitchFamily="2" charset="-122"/>
                    <a:ea typeface="宋体" panose="02010600030101010101" pitchFamily="2" charset="-122"/>
                  </a:rPr>
                  <a:t>有</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29744" name="Line 50"/>
              <p:cNvSpPr/>
              <p:nvPr/>
            </p:nvSpPr>
            <p:spPr>
              <a:xfrm>
                <a:off x="0" y="240"/>
                <a:ext cx="192" cy="192"/>
              </a:xfrm>
              <a:prstGeom prst="line">
                <a:avLst/>
              </a:prstGeom>
              <a:ln w="50800" cap="flat" cmpd="sng">
                <a:solidFill>
                  <a:srgbClr val="CC0000"/>
                </a:solidFill>
                <a:prstDash val="solid"/>
                <a:round/>
                <a:headEnd type="none" w="med" len="med"/>
                <a:tailEnd type="none" w="med" len="med"/>
              </a:ln>
            </p:spPr>
          </p:sp>
          <p:sp>
            <p:nvSpPr>
              <p:cNvPr id="29745" name="Line 51"/>
              <p:cNvSpPr/>
              <p:nvPr/>
            </p:nvSpPr>
            <p:spPr>
              <a:xfrm flipH="1">
                <a:off x="864" y="144"/>
                <a:ext cx="192" cy="336"/>
              </a:xfrm>
              <a:prstGeom prst="line">
                <a:avLst/>
              </a:prstGeom>
              <a:ln w="50800" cap="flat" cmpd="sng">
                <a:solidFill>
                  <a:srgbClr val="CC0000"/>
                </a:solidFill>
                <a:prstDash val="solid"/>
                <a:round/>
                <a:headEnd type="none" w="med" len="med"/>
                <a:tailEnd type="triangle" w="med" len="med"/>
              </a:ln>
            </p:spPr>
          </p:sp>
          <p:sp>
            <p:nvSpPr>
              <p:cNvPr id="29746" name="Text Box 52"/>
              <p:cNvSpPr txBox="1"/>
              <p:nvPr/>
            </p:nvSpPr>
            <p:spPr>
              <a:xfrm>
                <a:off x="96" y="0"/>
                <a:ext cx="220" cy="372"/>
              </a:xfrm>
              <a:prstGeom prst="rect">
                <a:avLst/>
              </a:prstGeom>
              <a:noFill/>
              <a:ln w="9525">
                <a:noFill/>
              </a:ln>
            </p:spPr>
            <p:txBody>
              <a:bodyPr wrap="none" anchor="t" anchorCtr="0">
                <a:spAutoFit/>
              </a:bodyPr>
              <a:p>
                <a:pPr>
                  <a:lnSpc>
                    <a:spcPct val="135000"/>
                  </a:lnSpc>
                </a:pPr>
                <a:r>
                  <a:rPr lang="en-US" altLang="zh-CN" sz="2400" dirty="0">
                    <a:solidFill>
                      <a:srgbClr val="0033CC"/>
                    </a:solidFill>
                    <a:latin typeface="宋体" panose="02010600030101010101" pitchFamily="2" charset="-122"/>
                    <a:ea typeface="宋体" panose="02010600030101010101" pitchFamily="2" charset="-122"/>
                  </a:rPr>
                  <a:t>1</a:t>
                </a:r>
                <a:endParaRPr lang="de-DE" altLang="en-US" sz="2400" dirty="0">
                  <a:solidFill>
                    <a:srgbClr val="0033CC"/>
                  </a:solidFill>
                  <a:latin typeface="宋体" panose="02010600030101010101" pitchFamily="2" charset="-122"/>
                  <a:ea typeface="宋体" panose="02010600030101010101" pitchFamily="2" charset="-122"/>
                </a:endParaRPr>
              </a:p>
            </p:txBody>
          </p:sp>
          <p:sp>
            <p:nvSpPr>
              <p:cNvPr id="29747" name="Text Box 53"/>
              <p:cNvSpPr txBox="1"/>
              <p:nvPr/>
            </p:nvSpPr>
            <p:spPr>
              <a:xfrm>
                <a:off x="768" y="0"/>
                <a:ext cx="220" cy="372"/>
              </a:xfrm>
              <a:prstGeom prst="rect">
                <a:avLst/>
              </a:prstGeom>
              <a:noFill/>
              <a:ln w="9525">
                <a:noFill/>
              </a:ln>
            </p:spPr>
            <p:txBody>
              <a:bodyPr wrap="none" anchor="t" anchorCtr="0">
                <a:spAutoFit/>
              </a:bodyPr>
              <a:p>
                <a:pPr>
                  <a:lnSpc>
                    <a:spcPct val="135000"/>
                  </a:lnSpc>
                </a:pPr>
                <a:r>
                  <a:rPr lang="de-DE" altLang="en-US" sz="2400" dirty="0">
                    <a:solidFill>
                      <a:srgbClr val="0033CC"/>
                    </a:solidFill>
                    <a:latin typeface="宋体" panose="02010600030101010101" pitchFamily="2" charset="-122"/>
                    <a:ea typeface="宋体" panose="02010600030101010101" pitchFamily="2" charset="-122"/>
                  </a:rPr>
                  <a:t>n</a:t>
                </a:r>
                <a:endParaRPr lang="de-DE" altLang="en-US" sz="2400" dirty="0">
                  <a:solidFill>
                    <a:srgbClr val="0033CC"/>
                  </a:solidFill>
                  <a:latin typeface="宋体" panose="02010600030101010101" pitchFamily="2" charset="-122"/>
                  <a:ea typeface="宋体" panose="02010600030101010101" pitchFamily="2" charset="-122"/>
                </a:endParaRPr>
              </a:p>
            </p:txBody>
          </p:sp>
        </p:grpSp>
        <p:grpSp>
          <p:nvGrpSpPr>
            <p:cNvPr id="29748" name="Group 54"/>
            <p:cNvGrpSpPr/>
            <p:nvPr/>
          </p:nvGrpSpPr>
          <p:grpSpPr>
            <a:xfrm>
              <a:off x="4876800" y="990600"/>
              <a:ext cx="1524000" cy="1066800"/>
              <a:chOff x="0" y="0"/>
              <a:chExt cx="960" cy="672"/>
            </a:xfrm>
          </p:grpSpPr>
          <p:sp>
            <p:nvSpPr>
              <p:cNvPr id="29749" name="Line 55"/>
              <p:cNvSpPr/>
              <p:nvPr/>
            </p:nvSpPr>
            <p:spPr>
              <a:xfrm flipH="1">
                <a:off x="864" y="240"/>
                <a:ext cx="96" cy="288"/>
              </a:xfrm>
              <a:prstGeom prst="line">
                <a:avLst/>
              </a:prstGeom>
              <a:ln w="50800" cap="flat" cmpd="sng">
                <a:solidFill>
                  <a:srgbClr val="CC0000"/>
                </a:solidFill>
                <a:prstDash val="solid"/>
                <a:round/>
                <a:headEnd type="none" w="med" len="med"/>
                <a:tailEnd type="none" w="med" len="med"/>
              </a:ln>
            </p:spPr>
          </p:sp>
          <p:sp>
            <p:nvSpPr>
              <p:cNvPr id="29750" name="AutoShape 56"/>
              <p:cNvSpPr/>
              <p:nvPr/>
            </p:nvSpPr>
            <p:spPr>
              <a:xfrm>
                <a:off x="144" y="336"/>
                <a:ext cx="720" cy="336"/>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nchorCtr="0"/>
              <a:p>
                <a:pPr algn="ctr">
                  <a:lnSpc>
                    <a:spcPct val="135000"/>
                  </a:lnSpc>
                  <a:buFont typeface="Arial" panose="020B0604020202020204" pitchFamily="34" charset="0"/>
                  <a:buChar char="•"/>
                </a:pPr>
                <a:r>
                  <a:rPr lang="zh-CN" altLang="en-US" sz="1600" dirty="0">
                    <a:solidFill>
                      <a:srgbClr val="0000CC"/>
                    </a:solidFill>
                    <a:latin typeface="宋体" panose="02010600030101010101" pitchFamily="2" charset="-122"/>
                    <a:ea typeface="宋体" panose="02010600030101010101" pitchFamily="2" charset="-122"/>
                  </a:rPr>
                  <a:t>管理</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29751" name="Line 57"/>
              <p:cNvSpPr/>
              <p:nvPr/>
            </p:nvSpPr>
            <p:spPr>
              <a:xfrm>
                <a:off x="0" y="144"/>
                <a:ext cx="192" cy="384"/>
              </a:xfrm>
              <a:prstGeom prst="line">
                <a:avLst/>
              </a:prstGeom>
              <a:ln w="50800" cap="flat" cmpd="sng">
                <a:solidFill>
                  <a:srgbClr val="CC0000"/>
                </a:solidFill>
                <a:prstDash val="solid"/>
                <a:round/>
                <a:headEnd type="none" w="med" len="med"/>
                <a:tailEnd type="triangle" w="med" len="med"/>
              </a:ln>
            </p:spPr>
          </p:sp>
          <p:sp>
            <p:nvSpPr>
              <p:cNvPr id="29752" name="Text Box 58"/>
              <p:cNvSpPr txBox="1"/>
              <p:nvPr/>
            </p:nvSpPr>
            <p:spPr>
              <a:xfrm>
                <a:off x="720" y="96"/>
                <a:ext cx="220" cy="372"/>
              </a:xfrm>
              <a:prstGeom prst="rect">
                <a:avLst/>
              </a:prstGeom>
              <a:noFill/>
              <a:ln w="9525">
                <a:noFill/>
              </a:ln>
            </p:spPr>
            <p:txBody>
              <a:bodyPr wrap="none" anchor="t" anchorCtr="0">
                <a:spAutoFit/>
              </a:bodyPr>
              <a:p>
                <a:pPr>
                  <a:lnSpc>
                    <a:spcPct val="135000"/>
                  </a:lnSpc>
                </a:pPr>
                <a:r>
                  <a:rPr lang="en-US" altLang="zh-CN" sz="2400" dirty="0">
                    <a:solidFill>
                      <a:srgbClr val="0033CC"/>
                    </a:solidFill>
                    <a:latin typeface="宋体" panose="02010600030101010101" pitchFamily="2" charset="-122"/>
                    <a:ea typeface="宋体" panose="02010600030101010101" pitchFamily="2" charset="-122"/>
                  </a:rPr>
                  <a:t>1</a:t>
                </a:r>
                <a:endParaRPr lang="de-DE" altLang="en-US" sz="2400" dirty="0">
                  <a:solidFill>
                    <a:srgbClr val="0033CC"/>
                  </a:solidFill>
                  <a:latin typeface="宋体" panose="02010600030101010101" pitchFamily="2" charset="-122"/>
                  <a:ea typeface="宋体" panose="02010600030101010101" pitchFamily="2" charset="-122"/>
                </a:endParaRPr>
              </a:p>
            </p:txBody>
          </p:sp>
          <p:sp>
            <p:nvSpPr>
              <p:cNvPr id="29753" name="Text Box 59"/>
              <p:cNvSpPr txBox="1"/>
              <p:nvPr/>
            </p:nvSpPr>
            <p:spPr>
              <a:xfrm>
                <a:off x="96" y="0"/>
                <a:ext cx="220" cy="372"/>
              </a:xfrm>
              <a:prstGeom prst="rect">
                <a:avLst/>
              </a:prstGeom>
              <a:noFill/>
              <a:ln w="9525">
                <a:noFill/>
              </a:ln>
            </p:spPr>
            <p:txBody>
              <a:bodyPr wrap="none" anchor="t" anchorCtr="0">
                <a:spAutoFit/>
              </a:bodyPr>
              <a:p>
                <a:pPr>
                  <a:lnSpc>
                    <a:spcPct val="135000"/>
                  </a:lnSpc>
                </a:pPr>
                <a:r>
                  <a:rPr lang="de-DE" altLang="en-US" sz="2400" dirty="0">
                    <a:solidFill>
                      <a:srgbClr val="0033CC"/>
                    </a:solidFill>
                    <a:latin typeface="宋体" panose="02010600030101010101" pitchFamily="2" charset="-122"/>
                    <a:ea typeface="宋体" panose="02010600030101010101" pitchFamily="2" charset="-122"/>
                  </a:rPr>
                  <a:t>n</a:t>
                </a:r>
                <a:endParaRPr lang="de-DE" altLang="en-US" sz="2400" dirty="0">
                  <a:solidFill>
                    <a:srgbClr val="0033CC"/>
                  </a:solidFill>
                  <a:latin typeface="宋体" panose="02010600030101010101" pitchFamily="2" charset="-122"/>
                  <a:ea typeface="宋体" panose="02010600030101010101" pitchFamily="2" charset="-122"/>
                </a:endParaRPr>
              </a:p>
            </p:txBody>
          </p:sp>
        </p:grpSp>
        <p:grpSp>
          <p:nvGrpSpPr>
            <p:cNvPr id="29754" name="Group 60"/>
            <p:cNvGrpSpPr/>
            <p:nvPr/>
          </p:nvGrpSpPr>
          <p:grpSpPr>
            <a:xfrm>
              <a:off x="4995859" y="2747964"/>
              <a:ext cx="3157535" cy="866776"/>
              <a:chOff x="0" y="0"/>
              <a:chExt cx="1989" cy="546"/>
            </a:xfrm>
          </p:grpSpPr>
          <p:sp>
            <p:nvSpPr>
              <p:cNvPr id="29755" name="Line 61"/>
              <p:cNvSpPr/>
              <p:nvPr/>
            </p:nvSpPr>
            <p:spPr>
              <a:xfrm flipV="1">
                <a:off x="0" y="307"/>
                <a:ext cx="635" cy="182"/>
              </a:xfrm>
              <a:prstGeom prst="line">
                <a:avLst/>
              </a:prstGeom>
              <a:ln w="28575" cap="flat" cmpd="sng">
                <a:solidFill>
                  <a:schemeClr val="tx1"/>
                </a:solidFill>
                <a:prstDash val="solid"/>
                <a:round/>
                <a:headEnd type="none" w="med" len="med"/>
                <a:tailEnd type="triangle" w="med" len="med"/>
              </a:ln>
            </p:spPr>
          </p:sp>
          <p:sp>
            <p:nvSpPr>
              <p:cNvPr id="29756" name="AutoShape 62"/>
              <p:cNvSpPr/>
              <p:nvPr/>
            </p:nvSpPr>
            <p:spPr>
              <a:xfrm>
                <a:off x="645" y="114"/>
                <a:ext cx="768" cy="336"/>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nchorCtr="0"/>
              <a:p>
                <a:pPr algn="ctr">
                  <a:lnSpc>
                    <a:spcPct val="135000"/>
                  </a:lnSpc>
                  <a:buFont typeface="Arial" panose="020B0604020202020204" pitchFamily="34" charset="0"/>
                  <a:buChar char="•"/>
                </a:pPr>
                <a:r>
                  <a:rPr lang="zh-CN" altLang="en-US" sz="1600" dirty="0">
                    <a:solidFill>
                      <a:srgbClr val="0000CC"/>
                    </a:solidFill>
                    <a:latin typeface="宋体" panose="02010600030101010101" pitchFamily="2" charset="-122"/>
                    <a:ea typeface="宋体" panose="02010600030101010101" pitchFamily="2" charset="-122"/>
                  </a:rPr>
                  <a:t>住宿</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29757" name="Line 63"/>
              <p:cNvSpPr/>
              <p:nvPr/>
            </p:nvSpPr>
            <p:spPr>
              <a:xfrm>
                <a:off x="1413" y="295"/>
                <a:ext cx="576" cy="251"/>
              </a:xfrm>
              <a:prstGeom prst="line">
                <a:avLst/>
              </a:prstGeom>
              <a:ln w="57150" cap="flat" cmpd="sng">
                <a:solidFill>
                  <a:srgbClr val="CC0000"/>
                </a:solidFill>
                <a:prstDash val="solid"/>
                <a:round/>
                <a:headEnd type="none" w="med" len="med"/>
                <a:tailEnd type="none" w="med" len="med"/>
              </a:ln>
            </p:spPr>
          </p:sp>
          <p:sp>
            <p:nvSpPr>
              <p:cNvPr id="29758" name="Text Box 64"/>
              <p:cNvSpPr txBox="1"/>
              <p:nvPr/>
            </p:nvSpPr>
            <p:spPr>
              <a:xfrm>
                <a:off x="357" y="0"/>
                <a:ext cx="212" cy="372"/>
              </a:xfrm>
              <a:prstGeom prst="rect">
                <a:avLst/>
              </a:prstGeom>
              <a:noFill/>
              <a:ln w="9525">
                <a:noFill/>
              </a:ln>
            </p:spPr>
            <p:txBody>
              <a:bodyPr anchor="t" anchorCtr="0">
                <a:spAutoFit/>
              </a:bodyPr>
              <a:p>
                <a:pPr>
                  <a:lnSpc>
                    <a:spcPct val="135000"/>
                  </a:lnSpc>
                </a:pPr>
                <a:r>
                  <a:rPr lang="de-DE" altLang="en-US" sz="2400" dirty="0">
                    <a:solidFill>
                      <a:srgbClr val="0033CC"/>
                    </a:solidFill>
                    <a:latin typeface="宋体" panose="02010600030101010101" pitchFamily="2" charset="-122"/>
                    <a:ea typeface="宋体" panose="02010600030101010101" pitchFamily="2" charset="-122"/>
                  </a:rPr>
                  <a:t>n</a:t>
                </a:r>
                <a:endParaRPr lang="de-DE" altLang="en-US" sz="2400" dirty="0">
                  <a:solidFill>
                    <a:srgbClr val="0033CC"/>
                  </a:solidFill>
                  <a:latin typeface="宋体" panose="02010600030101010101" pitchFamily="2" charset="-122"/>
                  <a:ea typeface="宋体" panose="02010600030101010101" pitchFamily="2" charset="-122"/>
                </a:endParaRPr>
              </a:p>
            </p:txBody>
          </p:sp>
          <p:sp>
            <p:nvSpPr>
              <p:cNvPr id="29759" name="Text Box 65"/>
              <p:cNvSpPr txBox="1"/>
              <p:nvPr/>
            </p:nvSpPr>
            <p:spPr>
              <a:xfrm>
                <a:off x="1605" y="59"/>
                <a:ext cx="220" cy="372"/>
              </a:xfrm>
              <a:prstGeom prst="rect">
                <a:avLst/>
              </a:prstGeom>
              <a:noFill/>
              <a:ln w="9525">
                <a:noFill/>
              </a:ln>
            </p:spPr>
            <p:txBody>
              <a:bodyPr wrap="none" anchor="t" anchorCtr="0">
                <a:spAutoFit/>
              </a:bodyPr>
              <a:p>
                <a:pPr>
                  <a:lnSpc>
                    <a:spcPct val="135000"/>
                  </a:lnSpc>
                </a:pPr>
                <a:r>
                  <a:rPr lang="de-DE" altLang="en-US" sz="2400" dirty="0">
                    <a:solidFill>
                      <a:srgbClr val="0033CC"/>
                    </a:solidFill>
                    <a:latin typeface="宋体" panose="02010600030101010101" pitchFamily="2" charset="-122"/>
                    <a:ea typeface="宋体" panose="02010600030101010101" pitchFamily="2" charset="-122"/>
                  </a:rPr>
                  <a:t>1</a:t>
                </a:r>
                <a:endParaRPr lang="de-DE" altLang="en-US" sz="2400" dirty="0">
                  <a:solidFill>
                    <a:srgbClr val="0033CC"/>
                  </a:solidFill>
                  <a:latin typeface="宋体" panose="02010600030101010101" pitchFamily="2" charset="-122"/>
                  <a:ea typeface="宋体" panose="02010600030101010101" pitchFamily="2" charset="-122"/>
                </a:endParaRPr>
              </a:p>
            </p:txBody>
          </p:sp>
        </p:grpSp>
        <p:grpSp>
          <p:nvGrpSpPr>
            <p:cNvPr id="29760" name="Group 66"/>
            <p:cNvGrpSpPr/>
            <p:nvPr/>
          </p:nvGrpSpPr>
          <p:grpSpPr>
            <a:xfrm>
              <a:off x="2286000" y="2720986"/>
              <a:ext cx="1860550" cy="952503"/>
              <a:chOff x="0" y="0"/>
              <a:chExt cx="1172" cy="600"/>
            </a:xfrm>
          </p:grpSpPr>
          <p:sp>
            <p:nvSpPr>
              <p:cNvPr id="29761" name="Text Box 67"/>
              <p:cNvSpPr txBox="1"/>
              <p:nvPr/>
            </p:nvSpPr>
            <p:spPr>
              <a:xfrm>
                <a:off x="18" y="0"/>
                <a:ext cx="226" cy="372"/>
              </a:xfrm>
              <a:prstGeom prst="rect">
                <a:avLst/>
              </a:prstGeom>
              <a:noFill/>
              <a:ln w="9525">
                <a:noFill/>
              </a:ln>
            </p:spPr>
            <p:txBody>
              <a:bodyPr anchor="t" anchorCtr="0">
                <a:spAutoFit/>
              </a:bodyPr>
              <a:p>
                <a:pPr>
                  <a:lnSpc>
                    <a:spcPct val="135000"/>
                  </a:lnSpc>
                </a:pPr>
                <a:r>
                  <a:rPr lang="en-US" altLang="zh-CN" sz="2400" dirty="0">
                    <a:solidFill>
                      <a:srgbClr val="0033CC"/>
                    </a:solidFill>
                    <a:latin typeface="宋体" panose="02010600030101010101" pitchFamily="2" charset="-122"/>
                    <a:ea typeface="宋体" panose="02010600030101010101" pitchFamily="2" charset="-122"/>
                  </a:rPr>
                  <a:t>n</a:t>
                </a:r>
                <a:endParaRPr lang="de-DE" altLang="en-US" sz="2400" dirty="0">
                  <a:solidFill>
                    <a:srgbClr val="0033CC"/>
                  </a:solidFill>
                  <a:latin typeface="宋体" panose="02010600030101010101" pitchFamily="2" charset="-122"/>
                  <a:ea typeface="宋体" panose="02010600030101010101" pitchFamily="2" charset="-122"/>
                </a:endParaRPr>
              </a:p>
            </p:txBody>
          </p:sp>
          <p:sp>
            <p:nvSpPr>
              <p:cNvPr id="29762" name="AutoShape 68"/>
              <p:cNvSpPr/>
              <p:nvPr/>
            </p:nvSpPr>
            <p:spPr>
              <a:xfrm>
                <a:off x="240" y="120"/>
                <a:ext cx="640" cy="336"/>
              </a:xfrm>
              <a:prstGeom prst="diamond">
                <a:avLst/>
              </a:prstGeom>
              <a:solidFill>
                <a:schemeClr val="folHlink"/>
              </a:solidFill>
              <a:ln w="50800" cap="flat" cmpd="sng">
                <a:solidFill>
                  <a:srgbClr val="CC0000"/>
                </a:solidFill>
                <a:prstDash val="solid"/>
                <a:miter/>
                <a:headEnd type="none" w="med" len="med"/>
                <a:tailEnd type="none" w="med" len="med"/>
              </a:ln>
            </p:spPr>
            <p:txBody>
              <a:bodyPr wrap="none" anchor="ctr" anchorCtr="0"/>
              <a:p>
                <a:pPr algn="ctr">
                  <a:lnSpc>
                    <a:spcPct val="135000"/>
                  </a:lnSpc>
                </a:pPr>
                <a:r>
                  <a:rPr lang="zh-CN" altLang="en-US" sz="1600" dirty="0">
                    <a:solidFill>
                      <a:srgbClr val="0000CC"/>
                    </a:solidFill>
                    <a:latin typeface="宋体" panose="02010600030101010101" pitchFamily="2" charset="-122"/>
                    <a:ea typeface="宋体" panose="02010600030101010101" pitchFamily="2" charset="-122"/>
                  </a:rPr>
                  <a:t>有</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29763" name="Line 69"/>
              <p:cNvSpPr/>
              <p:nvPr/>
            </p:nvSpPr>
            <p:spPr>
              <a:xfrm>
                <a:off x="864" y="302"/>
                <a:ext cx="288" cy="298"/>
              </a:xfrm>
              <a:prstGeom prst="line">
                <a:avLst/>
              </a:prstGeom>
              <a:ln w="50800" cap="flat" cmpd="sng">
                <a:solidFill>
                  <a:srgbClr val="CC0000"/>
                </a:solidFill>
                <a:prstDash val="solid"/>
                <a:round/>
                <a:headEnd type="none" w="med" len="med"/>
                <a:tailEnd type="none" w="med" len="med"/>
              </a:ln>
            </p:spPr>
          </p:sp>
          <p:sp>
            <p:nvSpPr>
              <p:cNvPr id="29764" name="Line 70"/>
              <p:cNvSpPr/>
              <p:nvPr/>
            </p:nvSpPr>
            <p:spPr>
              <a:xfrm flipH="1">
                <a:off x="0" y="302"/>
                <a:ext cx="288" cy="154"/>
              </a:xfrm>
              <a:prstGeom prst="line">
                <a:avLst/>
              </a:prstGeom>
              <a:ln w="50800" cap="flat" cmpd="sng">
                <a:solidFill>
                  <a:srgbClr val="CC0000"/>
                </a:solidFill>
                <a:prstDash val="solid"/>
                <a:round/>
                <a:headEnd type="none" w="med" len="med"/>
                <a:tailEnd type="none" w="med" len="med"/>
              </a:ln>
            </p:spPr>
          </p:sp>
          <p:sp>
            <p:nvSpPr>
              <p:cNvPr id="29765" name="Text Box 71"/>
              <p:cNvSpPr txBox="1"/>
              <p:nvPr/>
            </p:nvSpPr>
            <p:spPr>
              <a:xfrm>
                <a:off x="960" y="161"/>
                <a:ext cx="212" cy="372"/>
              </a:xfrm>
              <a:prstGeom prst="rect">
                <a:avLst/>
              </a:prstGeom>
              <a:noFill/>
              <a:ln w="9525">
                <a:noFill/>
              </a:ln>
            </p:spPr>
            <p:txBody>
              <a:bodyPr anchor="t" anchorCtr="0">
                <a:spAutoFit/>
              </a:bodyPr>
              <a:p>
                <a:pPr>
                  <a:lnSpc>
                    <a:spcPct val="135000"/>
                  </a:lnSpc>
                </a:pPr>
                <a:r>
                  <a:rPr lang="en-US" altLang="zh-CN" sz="2400" dirty="0">
                    <a:solidFill>
                      <a:srgbClr val="0033CC"/>
                    </a:solidFill>
                    <a:latin typeface="宋体" panose="02010600030101010101" pitchFamily="2" charset="-122"/>
                    <a:ea typeface="宋体" panose="02010600030101010101" pitchFamily="2" charset="-122"/>
                  </a:rPr>
                  <a:t>1</a:t>
                </a:r>
                <a:endParaRPr lang="de-DE" altLang="en-US" sz="2400" dirty="0">
                  <a:solidFill>
                    <a:srgbClr val="0033CC"/>
                  </a:solidFill>
                  <a:latin typeface="宋体" panose="02010600030101010101" pitchFamily="2" charset="-122"/>
                  <a:ea typeface="宋体" panose="02010600030101010101" pitchFamily="2" charset="-122"/>
                </a:endParaRPr>
              </a:p>
            </p:txBody>
          </p:sp>
        </p:grpSp>
        <p:grpSp>
          <p:nvGrpSpPr>
            <p:cNvPr id="29766" name="Group 72"/>
            <p:cNvGrpSpPr/>
            <p:nvPr/>
          </p:nvGrpSpPr>
          <p:grpSpPr>
            <a:xfrm>
              <a:off x="0" y="2378075"/>
              <a:ext cx="2519363" cy="2393950"/>
              <a:chOff x="0" y="0"/>
              <a:chExt cx="1587" cy="1508"/>
            </a:xfrm>
          </p:grpSpPr>
          <p:sp>
            <p:nvSpPr>
              <p:cNvPr id="29767" name="Rectangle 73"/>
              <p:cNvSpPr/>
              <p:nvPr/>
            </p:nvSpPr>
            <p:spPr>
              <a:xfrm>
                <a:off x="720" y="672"/>
                <a:ext cx="867" cy="422"/>
              </a:xfrm>
              <a:prstGeom prst="rect">
                <a:avLst/>
              </a:prstGeom>
              <a:solidFill>
                <a:srgbClr val="FECF70"/>
              </a:solidFill>
              <a:ln w="50800" cap="flat" cmpd="sng">
                <a:solidFill>
                  <a:srgbClr val="CC0000"/>
                </a:solidFill>
                <a:prstDash val="solid"/>
                <a:miter/>
                <a:headEnd type="none" w="med" len="med"/>
                <a:tailEnd type="none" w="med" len="med"/>
              </a:ln>
            </p:spPr>
            <p:txBody>
              <a:bodyPr anchor="t" anchorCtr="0"/>
              <a:p>
                <a:pPr algn="ctr">
                  <a:lnSpc>
                    <a:spcPct val="135000"/>
                  </a:lnSpc>
                </a:pPr>
                <a:r>
                  <a:rPr lang="zh-CN" altLang="en-US" sz="2000" dirty="0">
                    <a:solidFill>
                      <a:srgbClr val="000000"/>
                    </a:solidFill>
                    <a:latin typeface="宋体" panose="02010600030101010101" pitchFamily="2" charset="-122"/>
                    <a:ea typeface="宋体" panose="02010600030101010101" pitchFamily="2" charset="-122"/>
                  </a:rPr>
                  <a:t>学生家长 </a:t>
                </a:r>
                <a:endParaRPr lang="zh-CN" altLang="en-US" sz="2000" dirty="0">
                  <a:solidFill>
                    <a:srgbClr val="000000"/>
                  </a:solidFill>
                  <a:latin typeface="宋体" panose="02010600030101010101" pitchFamily="2" charset="-122"/>
                  <a:ea typeface="宋体" panose="02010600030101010101" pitchFamily="2" charset="-122"/>
                </a:endParaRPr>
              </a:p>
            </p:txBody>
          </p:sp>
          <p:sp>
            <p:nvSpPr>
              <p:cNvPr id="29768" name="Oval 74"/>
              <p:cNvSpPr/>
              <p:nvPr/>
            </p:nvSpPr>
            <p:spPr>
              <a:xfrm>
                <a:off x="96" y="1190"/>
                <a:ext cx="508" cy="318"/>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p>
                <a:pPr algn="ctr">
                  <a:lnSpc>
                    <a:spcPct val="135000"/>
                  </a:lnSpc>
                </a:pPr>
                <a:r>
                  <a:rPr lang="zh-CN" altLang="en-US" sz="1600" dirty="0">
                    <a:solidFill>
                      <a:srgbClr val="0000CC"/>
                    </a:solidFill>
                    <a:latin typeface="宋体" panose="02010600030101010101" pitchFamily="2" charset="-122"/>
                    <a:ea typeface="宋体" panose="02010600030101010101" pitchFamily="2" charset="-122"/>
                  </a:rPr>
                  <a:t>电话</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29769" name="Oval 75"/>
              <p:cNvSpPr/>
              <p:nvPr/>
            </p:nvSpPr>
            <p:spPr>
              <a:xfrm>
                <a:off x="192" y="0"/>
                <a:ext cx="576" cy="336"/>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p>
                <a:pPr algn="ctr">
                  <a:lnSpc>
                    <a:spcPct val="135000"/>
                  </a:lnSpc>
                </a:pPr>
                <a:r>
                  <a:rPr lang="zh-CN" altLang="en-US" sz="1600" dirty="0">
                    <a:solidFill>
                      <a:srgbClr val="0000CC"/>
                    </a:solidFill>
                    <a:latin typeface="宋体" panose="02010600030101010101" pitchFamily="2" charset="-122"/>
                    <a:ea typeface="宋体" panose="02010600030101010101" pitchFamily="2" charset="-122"/>
                  </a:rPr>
                  <a:t>姓名</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29770" name="Oval 76"/>
              <p:cNvSpPr/>
              <p:nvPr/>
            </p:nvSpPr>
            <p:spPr>
              <a:xfrm>
                <a:off x="0" y="854"/>
                <a:ext cx="476" cy="29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p>
                <a:pPr algn="ctr">
                  <a:lnSpc>
                    <a:spcPct val="135000"/>
                  </a:lnSpc>
                </a:pPr>
                <a:r>
                  <a:rPr lang="zh-CN" altLang="en-US" sz="1600" dirty="0">
                    <a:solidFill>
                      <a:srgbClr val="0000CC"/>
                    </a:solidFill>
                    <a:latin typeface="宋体" panose="02010600030101010101" pitchFamily="2" charset="-122"/>
                    <a:ea typeface="宋体" panose="02010600030101010101" pitchFamily="2" charset="-122"/>
                  </a:rPr>
                  <a:t>地址</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29771" name="Line 77"/>
              <p:cNvSpPr/>
              <p:nvPr/>
            </p:nvSpPr>
            <p:spPr>
              <a:xfrm flipH="1">
                <a:off x="960" y="336"/>
                <a:ext cx="240" cy="336"/>
              </a:xfrm>
              <a:prstGeom prst="line">
                <a:avLst/>
              </a:prstGeom>
              <a:ln w="25400" cap="flat" cmpd="sng">
                <a:solidFill>
                  <a:srgbClr val="000000"/>
                </a:solidFill>
                <a:prstDash val="solid"/>
                <a:round/>
                <a:headEnd type="none" w="med" len="med"/>
                <a:tailEnd type="none" w="med" len="med"/>
              </a:ln>
            </p:spPr>
          </p:sp>
          <p:sp>
            <p:nvSpPr>
              <p:cNvPr id="29772" name="Line 78"/>
              <p:cNvSpPr/>
              <p:nvPr/>
            </p:nvSpPr>
            <p:spPr>
              <a:xfrm flipH="1" flipV="1">
                <a:off x="480" y="672"/>
                <a:ext cx="240" cy="144"/>
              </a:xfrm>
              <a:prstGeom prst="line">
                <a:avLst/>
              </a:prstGeom>
              <a:ln w="25400" cap="flat" cmpd="sng">
                <a:solidFill>
                  <a:srgbClr val="000000"/>
                </a:solidFill>
                <a:prstDash val="solid"/>
                <a:round/>
                <a:headEnd type="none" w="med" len="med"/>
                <a:tailEnd type="none" w="med" len="med"/>
              </a:ln>
            </p:spPr>
          </p:sp>
          <p:sp>
            <p:nvSpPr>
              <p:cNvPr id="29773" name="Oval 79"/>
              <p:cNvSpPr/>
              <p:nvPr/>
            </p:nvSpPr>
            <p:spPr>
              <a:xfrm>
                <a:off x="0" y="374"/>
                <a:ext cx="576" cy="336"/>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p>
                <a:pPr algn="ctr">
                  <a:lnSpc>
                    <a:spcPct val="135000"/>
                  </a:lnSpc>
                </a:pPr>
                <a:r>
                  <a:rPr lang="zh-CN" altLang="en-US" sz="1600" dirty="0">
                    <a:solidFill>
                      <a:srgbClr val="0000CC"/>
                    </a:solidFill>
                    <a:latin typeface="宋体" panose="02010600030101010101" pitchFamily="2" charset="-122"/>
                    <a:ea typeface="宋体" panose="02010600030101010101" pitchFamily="2" charset="-122"/>
                  </a:rPr>
                  <a:t>性别</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29774" name="Oval 80"/>
              <p:cNvSpPr/>
              <p:nvPr/>
            </p:nvSpPr>
            <p:spPr>
              <a:xfrm>
                <a:off x="942" y="12"/>
                <a:ext cx="576" cy="336"/>
              </a:xfrm>
              <a:prstGeom prst="ellipse">
                <a:avLst/>
              </a:prstGeom>
              <a:solidFill>
                <a:srgbClr val="FFCCFF"/>
              </a:solidFill>
              <a:ln w="12700" cap="flat" cmpd="sng">
                <a:solidFill>
                  <a:schemeClr val="tx1"/>
                </a:solidFill>
                <a:prstDash val="solid"/>
                <a:round/>
                <a:headEnd type="none" w="med" len="med"/>
                <a:tailEnd type="none" w="med" len="med"/>
              </a:ln>
            </p:spPr>
            <p:txBody>
              <a:bodyPr wrap="none" tIns="108000" anchor="ctr" anchorCtr="0"/>
              <a:p>
                <a:pPr algn="ctr">
                  <a:spcBef>
                    <a:spcPts val="1200"/>
                  </a:spcBef>
                </a:pPr>
                <a:r>
                  <a:rPr lang="zh-CN" altLang="en-US" sz="1600" dirty="0">
                    <a:solidFill>
                      <a:srgbClr val="0000CC"/>
                    </a:solidFill>
                    <a:latin typeface="宋体" panose="02010600030101010101" pitchFamily="2" charset="-122"/>
                    <a:ea typeface="宋体" panose="02010600030101010101" pitchFamily="2" charset="-122"/>
                  </a:rPr>
                  <a:t>称谓</a:t>
                </a:r>
                <a:endParaRPr lang="zh-CN" altLang="en-US" sz="1600" dirty="0">
                  <a:solidFill>
                    <a:srgbClr val="0000CC"/>
                  </a:solidFill>
                  <a:latin typeface="宋体" panose="02010600030101010101" pitchFamily="2" charset="-122"/>
                  <a:ea typeface="宋体" panose="02010600030101010101" pitchFamily="2" charset="-122"/>
                </a:endParaRPr>
              </a:p>
              <a:p>
                <a:pPr algn="ctr">
                  <a:lnSpc>
                    <a:spcPct val="135000"/>
                  </a:lnSpc>
                  <a:buFont typeface="Arial" panose="020B0604020202020204" pitchFamily="34" charset="0"/>
                  <a:buChar char="•"/>
                </a:pP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29775" name="Line 81"/>
              <p:cNvSpPr/>
              <p:nvPr/>
            </p:nvSpPr>
            <p:spPr>
              <a:xfrm flipH="1">
                <a:off x="480" y="998"/>
                <a:ext cx="240" cy="240"/>
              </a:xfrm>
              <a:prstGeom prst="line">
                <a:avLst/>
              </a:prstGeom>
              <a:ln w="25400" cap="flat" cmpd="sng">
                <a:solidFill>
                  <a:srgbClr val="000000"/>
                </a:solidFill>
                <a:prstDash val="solid"/>
                <a:round/>
                <a:headEnd type="none" w="med" len="med"/>
                <a:tailEnd type="none" w="med" len="med"/>
              </a:ln>
            </p:spPr>
          </p:sp>
          <p:sp>
            <p:nvSpPr>
              <p:cNvPr id="29776" name="Line 82"/>
              <p:cNvSpPr/>
              <p:nvPr/>
            </p:nvSpPr>
            <p:spPr>
              <a:xfrm>
                <a:off x="672" y="288"/>
                <a:ext cx="144" cy="384"/>
              </a:xfrm>
              <a:prstGeom prst="line">
                <a:avLst/>
              </a:prstGeom>
              <a:ln w="25400" cap="flat" cmpd="sng">
                <a:solidFill>
                  <a:srgbClr val="000000"/>
                </a:solidFill>
                <a:prstDash val="solid"/>
                <a:round/>
                <a:headEnd type="none" w="med" len="med"/>
                <a:tailEnd type="none" w="med" len="med"/>
              </a:ln>
            </p:spPr>
          </p:sp>
          <p:sp>
            <p:nvSpPr>
              <p:cNvPr id="29777" name="Line 83"/>
              <p:cNvSpPr/>
              <p:nvPr/>
            </p:nvSpPr>
            <p:spPr>
              <a:xfrm flipV="1">
                <a:off x="480" y="950"/>
                <a:ext cx="240" cy="48"/>
              </a:xfrm>
              <a:prstGeom prst="line">
                <a:avLst/>
              </a:prstGeom>
              <a:ln w="25400" cap="flat" cmpd="sng">
                <a:solidFill>
                  <a:srgbClr val="000000"/>
                </a:solidFill>
                <a:prstDash val="solid"/>
                <a:round/>
                <a:headEnd type="none" w="med" len="med"/>
                <a:tailEnd type="none" w="med" len="med"/>
              </a:ln>
            </p:spPr>
          </p:sp>
          <p:sp>
            <p:nvSpPr>
              <p:cNvPr id="29778" name="Line 84"/>
              <p:cNvSpPr/>
              <p:nvPr/>
            </p:nvSpPr>
            <p:spPr>
              <a:xfrm>
                <a:off x="1008" y="230"/>
                <a:ext cx="432" cy="0"/>
              </a:xfrm>
              <a:prstGeom prst="line">
                <a:avLst/>
              </a:prstGeom>
              <a:ln w="28575" cap="flat" cmpd="sng">
                <a:solidFill>
                  <a:schemeClr val="tx1"/>
                </a:solidFill>
                <a:prstDash val="dash"/>
                <a:round/>
                <a:headEnd type="none" w="med" len="med"/>
                <a:tailEnd type="none" w="med" len="med"/>
              </a:ln>
            </p:spPr>
          </p:sp>
        </p:grpSp>
      </p:grpSp>
      <p:sp>
        <p:nvSpPr>
          <p:cNvPr id="29779" name="Oval 46"/>
          <p:cNvSpPr/>
          <p:nvPr/>
        </p:nvSpPr>
        <p:spPr>
          <a:xfrm>
            <a:off x="6905625" y="5689600"/>
            <a:ext cx="976313" cy="417513"/>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p>
            <a:pPr algn="ctr">
              <a:lnSpc>
                <a:spcPct val="135000"/>
              </a:lnSpc>
            </a:pPr>
            <a:r>
              <a:rPr lang="zh-CN" altLang="en-US" sz="1600" dirty="0">
                <a:solidFill>
                  <a:srgbClr val="0000CC"/>
                </a:solidFill>
                <a:latin typeface="宋体" panose="02010600030101010101" pitchFamily="2" charset="-122"/>
                <a:ea typeface="宋体" panose="02010600030101010101" pitchFamily="2" charset="-122"/>
              </a:rPr>
              <a:t>宿舍名</a:t>
            </a:r>
            <a:endParaRPr lang="de-DE" altLang="en-US" sz="1600" dirty="0">
              <a:solidFill>
                <a:srgbClr val="0000CC"/>
              </a:solidFill>
              <a:latin typeface="宋体" panose="02010600030101010101" pitchFamily="2" charset="-122"/>
              <a:ea typeface="宋体" panose="02010600030101010101" pitchFamily="2" charset="-122"/>
            </a:endParaRPr>
          </a:p>
        </p:txBody>
      </p:sp>
      <p:sp>
        <p:nvSpPr>
          <p:cNvPr id="29780" name="Line 45"/>
          <p:cNvSpPr/>
          <p:nvPr/>
        </p:nvSpPr>
        <p:spPr>
          <a:xfrm flipV="1">
            <a:off x="7591425" y="5100638"/>
            <a:ext cx="531813" cy="603250"/>
          </a:xfrm>
          <a:prstGeom prst="line">
            <a:avLst/>
          </a:prstGeom>
          <a:ln w="25400" cap="flat" cmpd="sng">
            <a:solidFill>
              <a:srgbClr val="000000"/>
            </a:solidFill>
            <a:prstDash val="solid"/>
            <a:round/>
            <a:headEnd type="none" w="med" len="med"/>
            <a:tailEnd type="none" w="med" len="med"/>
          </a:ln>
        </p:spPr>
      </p:sp>
      <p:sp>
        <p:nvSpPr>
          <p:cNvPr id="29781" name="Oval 46"/>
          <p:cNvSpPr/>
          <p:nvPr/>
        </p:nvSpPr>
        <p:spPr>
          <a:xfrm>
            <a:off x="8169275" y="3925888"/>
            <a:ext cx="974725" cy="417512"/>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p>
            <a:pPr algn="ctr">
              <a:lnSpc>
                <a:spcPct val="135000"/>
              </a:lnSpc>
            </a:pPr>
            <a:r>
              <a:rPr lang="zh-CN" altLang="en-US" sz="1600" dirty="0">
                <a:solidFill>
                  <a:srgbClr val="0000CC"/>
                </a:solidFill>
                <a:latin typeface="宋体" panose="02010600030101010101" pitchFamily="2" charset="-122"/>
                <a:ea typeface="宋体" panose="02010600030101010101" pitchFamily="2" charset="-122"/>
              </a:rPr>
              <a:t>地址</a:t>
            </a:r>
            <a:endParaRPr lang="de-DE" altLang="en-US" sz="1600" dirty="0">
              <a:solidFill>
                <a:srgbClr val="0000CC"/>
              </a:solidFill>
              <a:latin typeface="宋体" panose="02010600030101010101" pitchFamily="2" charset="-122"/>
              <a:ea typeface="宋体" panose="02010600030101010101" pitchFamily="2" charset="-122"/>
            </a:endParaRPr>
          </a:p>
        </p:txBody>
      </p:sp>
      <p:sp>
        <p:nvSpPr>
          <p:cNvPr id="29782" name="Line 45"/>
          <p:cNvSpPr/>
          <p:nvPr/>
        </p:nvSpPr>
        <p:spPr>
          <a:xfrm flipV="1">
            <a:off x="8483600" y="4332288"/>
            <a:ext cx="74613" cy="387350"/>
          </a:xfrm>
          <a:prstGeom prst="line">
            <a:avLst/>
          </a:prstGeom>
          <a:ln w="25400" cap="flat" cmpd="sng">
            <a:solidFill>
              <a:srgbClr val="000000"/>
            </a:solidFill>
            <a:prstDash val="solid"/>
            <a:round/>
            <a:headEnd type="none" w="med" len="med"/>
            <a:tailEnd type="none" w="med" len="med"/>
          </a:ln>
        </p:spPr>
      </p:sp>
      <p:sp>
        <p:nvSpPr>
          <p:cNvPr id="29783"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29784" name="矩形 91"/>
          <p:cNvSpPr/>
          <p:nvPr/>
        </p:nvSpPr>
        <p:spPr>
          <a:xfrm>
            <a:off x="542925" y="881063"/>
            <a:ext cx="3790950" cy="523875"/>
          </a:xfrm>
          <a:prstGeom prst="rect">
            <a:avLst/>
          </a:prstGeom>
          <a:noFill/>
          <a:ln w="9525">
            <a:noFill/>
          </a:ln>
        </p:spPr>
        <p:txBody>
          <a:bodyPr wrap="none" anchor="t" anchorCtr="0">
            <a:spAutoFit/>
          </a:bodyPr>
          <a:p>
            <a:r>
              <a:rPr lang="zh-CN" altLang="en-US" sz="2800" dirty="0">
                <a:solidFill>
                  <a:srgbClr val="0033CC"/>
                </a:solidFill>
                <a:latin typeface="黑体" panose="02010609060101010101" pitchFamily="1" charset="-122"/>
                <a:ea typeface="黑体" panose="02010609060101010101" pitchFamily="1" charset="-122"/>
              </a:rPr>
              <a:t>例：学生信息管理系统</a:t>
            </a:r>
            <a:endParaRPr lang="zh-CN" altLang="en-US" sz="2800" dirty="0">
              <a:solidFill>
                <a:srgbClr val="0033CC"/>
              </a:solidFill>
              <a:latin typeface="黑体" panose="02010609060101010101" pitchFamily="1" charset="-122"/>
              <a:ea typeface="黑体" panose="02010609060101010101" pitchFamily="1" charset="-122"/>
            </a:endParaRP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30722" name="矩形 2"/>
          <p:cNvSpPr/>
          <p:nvPr/>
        </p:nvSpPr>
        <p:spPr>
          <a:xfrm>
            <a:off x="542925" y="881063"/>
            <a:ext cx="3790950" cy="523875"/>
          </a:xfrm>
          <a:prstGeom prst="rect">
            <a:avLst/>
          </a:prstGeom>
          <a:noFill/>
          <a:ln w="9525">
            <a:noFill/>
          </a:ln>
        </p:spPr>
        <p:txBody>
          <a:bodyPr wrap="none" anchor="t" anchorCtr="0">
            <a:spAutoFit/>
          </a:bodyPr>
          <a:p>
            <a:r>
              <a:rPr lang="zh-CN" altLang="en-US" sz="2800" dirty="0">
                <a:solidFill>
                  <a:srgbClr val="0033CC"/>
                </a:solidFill>
                <a:latin typeface="黑体" panose="02010609060101010101" pitchFamily="1" charset="-122"/>
                <a:ea typeface="黑体" panose="02010609060101010101" pitchFamily="1" charset="-122"/>
              </a:rPr>
              <a:t>例：学生信息管理系统</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30723" name="Rectangle 3"/>
          <p:cNvSpPr txBox="1"/>
          <p:nvPr/>
        </p:nvSpPr>
        <p:spPr>
          <a:xfrm>
            <a:off x="706438" y="2625725"/>
            <a:ext cx="8047037" cy="3165475"/>
          </a:xfrm>
          <a:prstGeom prst="rect">
            <a:avLst/>
          </a:prstGeom>
          <a:solidFill>
            <a:srgbClr val="F3F8FF"/>
          </a:solidFill>
          <a:ln w="9525" cap="flat" cmpd="sng">
            <a:solidFill>
              <a:srgbClr val="0070C0"/>
            </a:solidFill>
            <a:prstDash val="dash"/>
            <a:miter/>
            <a:headEnd type="none" w="med" len="med"/>
            <a:tailEnd type="none" w="med" len="med"/>
          </a:ln>
        </p:spPr>
        <p:txBody>
          <a:bodyPr anchor="t" anchorCtr="0"/>
          <a:p>
            <a:pPr marL="342900" indent="-342900">
              <a:lnSpc>
                <a:spcPct val="125000"/>
              </a:lnSpc>
              <a:spcBef>
                <a:spcPct val="20000"/>
              </a:spcBef>
              <a:buClr>
                <a:srgbClr val="0033CC"/>
              </a:buClr>
              <a:buSzPct val="80000"/>
              <a:buFont typeface="Wingdings" panose="05000000000000000000" pitchFamily="2" charset="2"/>
              <a:buChar char="u"/>
            </a:pPr>
            <a:r>
              <a:rPr lang="zh-CN" altLang="en-US" sz="2000" dirty="0">
                <a:solidFill>
                  <a:srgbClr val="A50021"/>
                </a:solidFill>
                <a:latin typeface="Arial" panose="020B0604020202020204" pitchFamily="34" charset="0"/>
                <a:ea typeface="宋体" panose="02010600030101010101" pitchFamily="2" charset="-122"/>
              </a:rPr>
              <a:t>系</a:t>
            </a:r>
            <a:r>
              <a:rPr lang="zh-CN" altLang="en-US" sz="2000" dirty="0">
                <a:latin typeface="Arial" panose="020B0604020202020204" pitchFamily="34" charset="0"/>
                <a:ea typeface="宋体" panose="02010600030101010101" pitchFamily="2" charset="-122"/>
              </a:rPr>
              <a:t>（</a:t>
            </a:r>
            <a:r>
              <a:rPr lang="zh-CN" altLang="en-US" sz="2000" u="sng" dirty="0">
                <a:latin typeface="Arial" panose="020B0604020202020204" pitchFamily="34" charset="0"/>
                <a:ea typeface="宋体" panose="02010600030101010101" pitchFamily="2" charset="-122"/>
              </a:rPr>
              <a:t>系名</a:t>
            </a:r>
            <a:r>
              <a:rPr lang="zh-CN" altLang="en-US" sz="2000" dirty="0">
                <a:latin typeface="Arial" panose="020B0604020202020204" pitchFamily="34" charset="0"/>
                <a:ea typeface="宋体" panose="02010600030101010101" pitchFamily="2" charset="-122"/>
              </a:rPr>
              <a:t>，地址，电话）。</a:t>
            </a:r>
            <a:endParaRPr lang="zh-CN" altLang="en-US" sz="2000" dirty="0">
              <a:latin typeface="Arial" panose="020B0604020202020204" pitchFamily="34" charset="0"/>
              <a:ea typeface="宋体" panose="02010600030101010101" pitchFamily="2" charset="-122"/>
            </a:endParaRPr>
          </a:p>
          <a:p>
            <a:pPr marL="342900" indent="-342900">
              <a:lnSpc>
                <a:spcPct val="125000"/>
              </a:lnSpc>
              <a:spcBef>
                <a:spcPct val="20000"/>
              </a:spcBef>
              <a:buClr>
                <a:srgbClr val="0033CC"/>
              </a:buClr>
              <a:buSzPct val="80000"/>
              <a:buFont typeface="Wingdings" panose="05000000000000000000" pitchFamily="2" charset="2"/>
              <a:buChar char="u"/>
            </a:pPr>
            <a:r>
              <a:rPr lang="zh-CN" altLang="en-US" sz="2000" dirty="0">
                <a:solidFill>
                  <a:srgbClr val="A50021"/>
                </a:solidFill>
                <a:latin typeface="Arial" panose="020B0604020202020204" pitchFamily="34" charset="0"/>
                <a:ea typeface="宋体" panose="02010600030101010101" pitchFamily="2" charset="-122"/>
              </a:rPr>
              <a:t>班级</a:t>
            </a:r>
            <a:r>
              <a:rPr lang="zh-CN" altLang="en-US" sz="2000" dirty="0">
                <a:latin typeface="Arial" panose="020B0604020202020204" pitchFamily="34" charset="0"/>
                <a:ea typeface="宋体" panose="02010600030101010101" pitchFamily="2" charset="-122"/>
              </a:rPr>
              <a:t>（</a:t>
            </a:r>
            <a:r>
              <a:rPr lang="zh-CN" altLang="en-US" sz="2000" u="sng" dirty="0">
                <a:latin typeface="Arial" panose="020B0604020202020204" pitchFamily="34" charset="0"/>
                <a:ea typeface="宋体" panose="02010600030101010101" pitchFamily="2" charset="-122"/>
              </a:rPr>
              <a:t>班号</a:t>
            </a:r>
            <a:r>
              <a:rPr lang="zh-CN" altLang="en-US" sz="2000" dirty="0">
                <a:latin typeface="Arial" panose="020B0604020202020204" pitchFamily="34" charset="0"/>
                <a:ea typeface="宋体" panose="02010600030101010101" pitchFamily="2" charset="-122"/>
              </a:rPr>
              <a:t>，班名，</a:t>
            </a:r>
            <a:r>
              <a:rPr lang="zh-CN" altLang="en-US" sz="2000" dirty="0">
                <a:solidFill>
                  <a:srgbClr val="0033CC"/>
                </a:solidFill>
                <a:latin typeface="Arial" panose="020B0604020202020204" pitchFamily="34" charset="0"/>
                <a:ea typeface="宋体" panose="02010600030101010101" pitchFamily="2" charset="-122"/>
              </a:rPr>
              <a:t>系名，工作证号</a:t>
            </a:r>
            <a:r>
              <a:rPr lang="zh-CN" altLang="en-US" sz="2000" dirty="0">
                <a:latin typeface="Arial" panose="020B0604020202020204" pitchFamily="34" charset="0"/>
                <a:ea typeface="宋体" panose="02010600030101010101" pitchFamily="2" charset="-122"/>
              </a:rPr>
              <a:t>），系名，工作证号为外键。</a:t>
            </a:r>
            <a:endParaRPr lang="zh-CN" altLang="en-US" sz="2000" dirty="0">
              <a:latin typeface="Arial" panose="020B0604020202020204" pitchFamily="34" charset="0"/>
              <a:ea typeface="宋体" panose="02010600030101010101" pitchFamily="2" charset="-122"/>
            </a:endParaRPr>
          </a:p>
          <a:p>
            <a:pPr marL="342900" indent="-342900">
              <a:lnSpc>
                <a:spcPct val="125000"/>
              </a:lnSpc>
              <a:spcBef>
                <a:spcPct val="20000"/>
              </a:spcBef>
              <a:buClr>
                <a:srgbClr val="0033CC"/>
              </a:buClr>
              <a:buSzPct val="80000"/>
              <a:buFont typeface="Wingdings" panose="05000000000000000000" pitchFamily="2" charset="2"/>
              <a:buChar char="u"/>
            </a:pPr>
            <a:r>
              <a:rPr lang="zh-CN" altLang="en-US" sz="2000" dirty="0">
                <a:solidFill>
                  <a:srgbClr val="A50021"/>
                </a:solidFill>
                <a:latin typeface="Arial" panose="020B0604020202020204" pitchFamily="34" charset="0"/>
                <a:ea typeface="宋体" panose="02010600030101010101" pitchFamily="2" charset="-122"/>
              </a:rPr>
              <a:t>辅导员</a:t>
            </a:r>
            <a:r>
              <a:rPr lang="zh-CN" altLang="en-US" sz="2000" dirty="0">
                <a:latin typeface="Arial" panose="020B0604020202020204" pitchFamily="34" charset="0"/>
                <a:ea typeface="宋体" panose="02010600030101010101" pitchFamily="2" charset="-122"/>
              </a:rPr>
              <a:t>（</a:t>
            </a:r>
            <a:r>
              <a:rPr lang="zh-CN" altLang="en-US" sz="2000" u="sng" dirty="0">
                <a:latin typeface="Arial" panose="020B0604020202020204" pitchFamily="34" charset="0"/>
                <a:ea typeface="宋体" panose="02010600030101010101" pitchFamily="2" charset="-122"/>
              </a:rPr>
              <a:t>工作证号</a:t>
            </a:r>
            <a:r>
              <a:rPr lang="zh-CN" altLang="en-US" sz="2000" dirty="0">
                <a:latin typeface="Arial" panose="020B0604020202020204" pitchFamily="34" charset="0"/>
                <a:ea typeface="宋体" panose="02010600030101010101" pitchFamily="2" charset="-122"/>
              </a:rPr>
              <a:t>，姓名，性别，电话）。</a:t>
            </a:r>
            <a:endParaRPr lang="zh-CN" altLang="en-US" sz="2000" dirty="0">
              <a:latin typeface="Arial" panose="020B0604020202020204" pitchFamily="34" charset="0"/>
              <a:ea typeface="宋体" panose="02010600030101010101" pitchFamily="2" charset="-122"/>
            </a:endParaRPr>
          </a:p>
          <a:p>
            <a:pPr marL="342900" indent="-342900">
              <a:lnSpc>
                <a:spcPct val="125000"/>
              </a:lnSpc>
              <a:spcBef>
                <a:spcPct val="20000"/>
              </a:spcBef>
              <a:buClr>
                <a:srgbClr val="0033CC"/>
              </a:buClr>
              <a:buSzPct val="80000"/>
              <a:buFont typeface="Wingdings" panose="05000000000000000000" pitchFamily="2" charset="2"/>
              <a:buChar char="u"/>
            </a:pPr>
            <a:r>
              <a:rPr lang="zh-CN" altLang="en-US" sz="2000" dirty="0">
                <a:solidFill>
                  <a:srgbClr val="A50021"/>
                </a:solidFill>
                <a:latin typeface="Arial" panose="020B0604020202020204" pitchFamily="34" charset="0"/>
                <a:ea typeface="宋体" panose="02010600030101010101" pitchFamily="2" charset="-122"/>
              </a:rPr>
              <a:t>学生</a:t>
            </a:r>
            <a:r>
              <a:rPr lang="zh-CN" altLang="en-US" sz="2000" dirty="0">
                <a:latin typeface="Arial" panose="020B0604020202020204" pitchFamily="34" charset="0"/>
                <a:ea typeface="宋体" panose="02010600030101010101" pitchFamily="2" charset="-122"/>
              </a:rPr>
              <a:t>（</a:t>
            </a:r>
            <a:r>
              <a:rPr lang="zh-CN" altLang="en-US" sz="2000" u="sng" dirty="0">
                <a:latin typeface="Arial" panose="020B0604020202020204" pitchFamily="34" charset="0"/>
                <a:ea typeface="宋体" panose="02010600030101010101" pitchFamily="2" charset="-122"/>
              </a:rPr>
              <a:t>学号</a:t>
            </a:r>
            <a:r>
              <a:rPr lang="zh-CN" altLang="en-US" sz="2000" dirty="0">
                <a:latin typeface="Arial" panose="020B0604020202020204" pitchFamily="34" charset="0"/>
                <a:ea typeface="宋体" panose="02010600030101010101" pitchFamily="2" charset="-122"/>
              </a:rPr>
              <a:t>，姓名，性别，出生年月，</a:t>
            </a:r>
            <a:r>
              <a:rPr lang="zh-CN" altLang="en-US" sz="2000" dirty="0">
                <a:solidFill>
                  <a:srgbClr val="0033CC"/>
                </a:solidFill>
                <a:latin typeface="Arial" panose="020B0604020202020204" pitchFamily="34" charset="0"/>
                <a:ea typeface="宋体" panose="02010600030101010101" pitchFamily="2" charset="-122"/>
              </a:rPr>
              <a:t>班号，宿舍号</a:t>
            </a:r>
            <a:r>
              <a:rPr lang="zh-CN" altLang="en-US" sz="2000" dirty="0">
                <a:latin typeface="Arial" panose="020B0604020202020204" pitchFamily="34" charset="0"/>
                <a:ea typeface="宋体" panose="02010600030101010101" pitchFamily="2" charset="-122"/>
              </a:rPr>
              <a:t>），班号，宿舍号为外键。</a:t>
            </a:r>
            <a:endParaRPr lang="zh-CN" altLang="en-US" sz="2000" dirty="0">
              <a:latin typeface="Arial" panose="020B0604020202020204" pitchFamily="34" charset="0"/>
              <a:ea typeface="宋体" panose="02010600030101010101" pitchFamily="2" charset="-122"/>
            </a:endParaRPr>
          </a:p>
          <a:p>
            <a:pPr marL="342900" indent="-342900">
              <a:lnSpc>
                <a:spcPct val="125000"/>
              </a:lnSpc>
              <a:spcBef>
                <a:spcPct val="20000"/>
              </a:spcBef>
              <a:buClr>
                <a:srgbClr val="0033CC"/>
              </a:buClr>
              <a:buSzPct val="80000"/>
              <a:buFont typeface="Wingdings" panose="05000000000000000000" pitchFamily="2" charset="2"/>
              <a:buChar char="u"/>
            </a:pPr>
            <a:r>
              <a:rPr lang="zh-CN" altLang="en-US" sz="2000" dirty="0">
                <a:solidFill>
                  <a:srgbClr val="A50021"/>
                </a:solidFill>
                <a:latin typeface="Arial" panose="020B0604020202020204" pitchFamily="34" charset="0"/>
                <a:ea typeface="宋体" panose="02010600030101010101" pitchFamily="2" charset="-122"/>
              </a:rPr>
              <a:t>宿舍</a:t>
            </a:r>
            <a:r>
              <a:rPr lang="zh-CN" altLang="en-US" sz="2000" dirty="0">
                <a:latin typeface="Arial" panose="020B0604020202020204" pitchFamily="34" charset="0"/>
                <a:ea typeface="宋体" panose="02010600030101010101" pitchFamily="2" charset="-122"/>
              </a:rPr>
              <a:t>（</a:t>
            </a:r>
            <a:r>
              <a:rPr lang="zh-CN" altLang="en-US" sz="2000" u="sng" dirty="0">
                <a:latin typeface="Arial" panose="020B0604020202020204" pitchFamily="34" charset="0"/>
                <a:ea typeface="宋体" panose="02010600030101010101" pitchFamily="2" charset="-122"/>
              </a:rPr>
              <a:t>宿舍号</a:t>
            </a:r>
            <a:r>
              <a:rPr lang="zh-CN" altLang="en-US" sz="2000" dirty="0">
                <a:latin typeface="Arial" panose="020B0604020202020204" pitchFamily="34" charset="0"/>
                <a:ea typeface="宋体" panose="02010600030101010101" pitchFamily="2" charset="-122"/>
              </a:rPr>
              <a:t>，宿舍名，地址）。</a:t>
            </a:r>
            <a:endParaRPr lang="zh-CN" altLang="en-US" sz="2000" dirty="0">
              <a:latin typeface="Arial" panose="020B0604020202020204" pitchFamily="34" charset="0"/>
              <a:ea typeface="宋体" panose="02010600030101010101" pitchFamily="2" charset="-122"/>
            </a:endParaRPr>
          </a:p>
          <a:p>
            <a:pPr marL="342900" indent="-342900">
              <a:lnSpc>
                <a:spcPct val="125000"/>
              </a:lnSpc>
              <a:spcBef>
                <a:spcPct val="20000"/>
              </a:spcBef>
              <a:buClr>
                <a:srgbClr val="0033CC"/>
              </a:buClr>
              <a:buSzPct val="80000"/>
              <a:buFont typeface="Wingdings" panose="05000000000000000000" pitchFamily="2" charset="2"/>
              <a:buChar char="u"/>
            </a:pPr>
            <a:r>
              <a:rPr lang="zh-CN" altLang="en-US" sz="2000" dirty="0">
                <a:solidFill>
                  <a:srgbClr val="A50021"/>
                </a:solidFill>
                <a:latin typeface="Arial" panose="020B0604020202020204" pitchFamily="34" charset="0"/>
                <a:ea typeface="宋体" panose="02010600030101010101" pitchFamily="2" charset="-122"/>
              </a:rPr>
              <a:t>学生家长</a:t>
            </a:r>
            <a:r>
              <a:rPr lang="zh-CN" altLang="en-US" sz="2000" dirty="0">
                <a:latin typeface="Arial" panose="020B0604020202020204" pitchFamily="34" charset="0"/>
                <a:ea typeface="宋体" panose="02010600030101010101" pitchFamily="2" charset="-122"/>
              </a:rPr>
              <a:t>（</a:t>
            </a:r>
            <a:r>
              <a:rPr lang="zh-CN" altLang="en-US" sz="2000" u="sng" dirty="0">
                <a:latin typeface="Arial" panose="020B0604020202020204" pitchFamily="34" charset="0"/>
                <a:ea typeface="宋体" panose="02010600030101010101" pitchFamily="2" charset="-122"/>
              </a:rPr>
              <a:t>学号，称谓，姓名</a:t>
            </a:r>
            <a:r>
              <a:rPr lang="zh-CN" altLang="en-US" sz="2000" dirty="0">
                <a:latin typeface="Arial" panose="020B0604020202020204" pitchFamily="34" charset="0"/>
                <a:ea typeface="宋体" panose="02010600030101010101" pitchFamily="2" charset="-122"/>
              </a:rPr>
              <a:t>，性别，地址，电话），学号为外键。</a:t>
            </a:r>
            <a:endParaRPr lang="zh-CN" altLang="en-US" sz="2000" dirty="0">
              <a:latin typeface="Arial" panose="020B0604020202020204" pitchFamily="34" charset="0"/>
              <a:ea typeface="宋体" panose="02010600030101010101" pitchFamily="2" charset="-122"/>
            </a:endParaRPr>
          </a:p>
        </p:txBody>
      </p:sp>
      <p:sp>
        <p:nvSpPr>
          <p:cNvPr id="30724" name="Rectangle 2"/>
          <p:cNvSpPr txBox="1"/>
          <p:nvPr/>
        </p:nvSpPr>
        <p:spPr>
          <a:xfrm>
            <a:off x="682625" y="1450975"/>
            <a:ext cx="7939088" cy="1008063"/>
          </a:xfrm>
          <a:prstGeom prst="rect">
            <a:avLst/>
          </a:prstGeom>
          <a:noFill/>
          <a:ln w="9525">
            <a:noFill/>
          </a:ln>
        </p:spPr>
        <p:txBody>
          <a:bodyPr anchor="t" anchorCtr="0"/>
          <a:p>
            <a:pPr>
              <a:lnSpc>
                <a:spcPct val="125000"/>
              </a:lnSpc>
            </a:pPr>
            <a:r>
              <a:rPr lang="zh-CN" altLang="en-US" sz="2400" dirty="0">
                <a:latin typeface="宋体" panose="02010600030101010101" pitchFamily="2" charset="-122"/>
                <a:ea typeface="宋体" panose="02010600030101010101" pitchFamily="2" charset="-122"/>
              </a:rPr>
              <a:t>    将ER图转换为关系模型，要求标出各关系的主键，如果存在的话还应指明外键。 </a:t>
            </a:r>
            <a:endParaRPr lang="zh-CN" altLang="en-US" sz="2400" dirty="0">
              <a:latin typeface="宋体" panose="02010600030101010101" pitchFamily="2" charset="-122"/>
              <a:ea typeface="宋体" panose="02010600030101010101" pitchFamily="2" charset="-122"/>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5"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31746" name="矩形 2"/>
          <p:cNvSpPr/>
          <p:nvPr/>
        </p:nvSpPr>
        <p:spPr>
          <a:xfrm>
            <a:off x="542925" y="838200"/>
            <a:ext cx="3790950" cy="522288"/>
          </a:xfrm>
          <a:prstGeom prst="rect">
            <a:avLst/>
          </a:prstGeom>
          <a:noFill/>
          <a:ln w="9525">
            <a:noFill/>
          </a:ln>
        </p:spPr>
        <p:txBody>
          <a:bodyPr wrap="none" anchor="t" anchorCtr="0">
            <a:spAutoFit/>
          </a:bodyPr>
          <a:p>
            <a:r>
              <a:rPr lang="zh-CN" altLang="en-US" sz="2800" dirty="0">
                <a:solidFill>
                  <a:srgbClr val="0033CC"/>
                </a:solidFill>
                <a:latin typeface="黑体" panose="02010609060101010101" pitchFamily="1" charset="-122"/>
                <a:ea typeface="黑体" panose="02010609060101010101" pitchFamily="1" charset="-122"/>
              </a:rPr>
              <a:t>例：学生信息管理系统</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31747" name="矩形 3"/>
          <p:cNvSpPr/>
          <p:nvPr/>
        </p:nvSpPr>
        <p:spPr>
          <a:xfrm>
            <a:off x="676275" y="1371600"/>
            <a:ext cx="3252788" cy="400050"/>
          </a:xfrm>
          <a:prstGeom prst="rect">
            <a:avLst/>
          </a:prstGeom>
          <a:noFill/>
          <a:ln w="9525">
            <a:noFill/>
          </a:ln>
        </p:spPr>
        <p:txBody>
          <a:bodyPr wrap="none" anchor="t" anchorCtr="0">
            <a:spAutoFit/>
          </a:bodyPr>
          <a:p>
            <a:pPr>
              <a:buFont typeface="Wingdings" panose="05000000000000000000" pitchFamily="2" charset="2"/>
              <a:buChar char="p"/>
            </a:pPr>
            <a:r>
              <a:rPr lang="zh-CN" altLang="en-US" sz="2000" dirty="0">
                <a:solidFill>
                  <a:srgbClr val="A50021"/>
                </a:solidFill>
                <a:latin typeface="Arial" panose="020B0604020202020204" pitchFamily="34" charset="0"/>
                <a:ea typeface="宋体" panose="02010600030101010101" pitchFamily="2" charset="-122"/>
              </a:rPr>
              <a:t>系</a:t>
            </a:r>
            <a:r>
              <a:rPr lang="zh-CN" altLang="en-US" sz="2000" dirty="0">
                <a:latin typeface="Arial" panose="020B0604020202020204" pitchFamily="34" charset="0"/>
                <a:ea typeface="宋体" panose="02010600030101010101" pitchFamily="2" charset="-122"/>
              </a:rPr>
              <a:t>（</a:t>
            </a:r>
            <a:r>
              <a:rPr lang="zh-CN" altLang="en-US" sz="2000" u="sng" dirty="0">
                <a:latin typeface="Arial" panose="020B0604020202020204" pitchFamily="34" charset="0"/>
                <a:ea typeface="宋体" panose="02010600030101010101" pitchFamily="2" charset="-122"/>
              </a:rPr>
              <a:t>系名</a:t>
            </a:r>
            <a:r>
              <a:rPr lang="zh-CN" altLang="en-US" sz="2000" dirty="0">
                <a:latin typeface="Arial" panose="020B0604020202020204" pitchFamily="34" charset="0"/>
                <a:ea typeface="宋体" panose="02010600030101010101" pitchFamily="2" charset="-122"/>
              </a:rPr>
              <a:t>，地址，电话）</a:t>
            </a:r>
            <a:endParaRPr lang="zh-CN" altLang="en-US" sz="2000" dirty="0">
              <a:latin typeface="Arial" panose="020B0604020202020204" pitchFamily="34" charset="0"/>
              <a:ea typeface="宋体" panose="02010600030101010101" pitchFamily="2" charset="-122"/>
            </a:endParaRPr>
          </a:p>
        </p:txBody>
      </p:sp>
      <p:sp>
        <p:nvSpPr>
          <p:cNvPr id="31748" name="矩形 4"/>
          <p:cNvSpPr/>
          <p:nvPr/>
        </p:nvSpPr>
        <p:spPr>
          <a:xfrm>
            <a:off x="663575" y="1828800"/>
            <a:ext cx="7986713" cy="1771650"/>
          </a:xfrm>
          <a:prstGeom prst="rect">
            <a:avLst/>
          </a:prstGeom>
          <a:noFill/>
          <a:ln w="9525">
            <a:noFill/>
          </a:ln>
        </p:spPr>
        <p:txBody>
          <a:bodyPr anchor="t" anchorCtr="0">
            <a:spAutoFit/>
          </a:bodyPr>
          <a:p>
            <a:pPr marL="285750" lvl="1" indent="-95250" defTabSz="914400" eaLnBrk="1" hangingPunct="1">
              <a:lnSpc>
                <a:spcPct val="110000"/>
              </a:lnSpc>
              <a:buClr>
                <a:schemeClr val="accent2"/>
              </a:buClr>
              <a:buSzPct val="70000"/>
              <a:tabLst>
                <a:tab pos="190500" algn="l"/>
              </a:tabLst>
            </a:pPr>
            <a:r>
              <a:rPr lang="en-US" altLang="zh-CN" sz="2000" dirty="0">
                <a:latin typeface="华文楷体" panose="02010600040101010101" pitchFamily="2" charset="-122"/>
                <a:ea typeface="宋体" panose="02010600030101010101" pitchFamily="2" charset="-122"/>
              </a:rPr>
              <a:t>CREATE TABLE  department</a:t>
            </a:r>
            <a:endParaRPr lang="en-US" altLang="zh-CN" sz="2000" dirty="0">
              <a:latin typeface="华文楷体" panose="02010600040101010101" pitchFamily="2" charset="-122"/>
              <a:ea typeface="宋体" panose="02010600030101010101" pitchFamily="2" charset="-122"/>
            </a:endParaRPr>
          </a:p>
          <a:p>
            <a:pPr marL="285750" lvl="1" indent="-95250" defTabSz="914400" eaLnBrk="1" hangingPunct="1">
              <a:lnSpc>
                <a:spcPct val="110000"/>
              </a:lnSpc>
              <a:buClr>
                <a:schemeClr val="accent2"/>
              </a:buClr>
              <a:buSzPct val="70000"/>
              <a:tabLst>
                <a:tab pos="190500" algn="l"/>
              </a:tabLst>
            </a:pPr>
            <a:r>
              <a:rPr lang="en-US" altLang="zh-CN" sz="2000" dirty="0">
                <a:latin typeface="华文楷体" panose="02010600040101010101" pitchFamily="2" charset="-122"/>
                <a:ea typeface="宋体" panose="02010600030101010101" pitchFamily="2" charset="-122"/>
              </a:rPr>
              <a:t> ( depname   varchar(20)   PRIMARY  KEY,</a:t>
            </a:r>
            <a:endParaRPr lang="en-US" altLang="zh-CN" sz="2000" dirty="0">
              <a:latin typeface="华文楷体" panose="02010600040101010101" pitchFamily="2" charset="-122"/>
              <a:ea typeface="宋体" panose="02010600030101010101" pitchFamily="2" charset="-122"/>
            </a:endParaRPr>
          </a:p>
          <a:p>
            <a:pPr marL="285750" lvl="1" indent="-95250" defTabSz="914400" eaLnBrk="1" hangingPunct="1">
              <a:lnSpc>
                <a:spcPct val="110000"/>
              </a:lnSpc>
              <a:buClr>
                <a:schemeClr val="accent2"/>
              </a:buClr>
              <a:buSzPct val="70000"/>
              <a:tabLst>
                <a:tab pos="190500" algn="l"/>
              </a:tabLst>
            </a:pPr>
            <a:r>
              <a:rPr lang="en-US" altLang="zh-CN" sz="2000" dirty="0">
                <a:latin typeface="华文楷体" panose="02010600040101010101" pitchFamily="2" charset="-122"/>
                <a:ea typeface="宋体" panose="02010600030101010101" pitchFamily="2" charset="-122"/>
              </a:rPr>
              <a:t>     adress  varchar(40)   NOT NULL,</a:t>
            </a:r>
            <a:endParaRPr lang="en-US" altLang="zh-CN" sz="2000" dirty="0">
              <a:latin typeface="华文楷体" panose="02010600040101010101" pitchFamily="2" charset="-122"/>
              <a:ea typeface="宋体" panose="02010600030101010101" pitchFamily="2" charset="-122"/>
            </a:endParaRPr>
          </a:p>
          <a:p>
            <a:pPr marL="285750" lvl="1" indent="-95250" defTabSz="914400" eaLnBrk="1" hangingPunct="1">
              <a:lnSpc>
                <a:spcPct val="110000"/>
              </a:lnSpc>
              <a:buClr>
                <a:schemeClr val="accent2"/>
              </a:buClr>
              <a:buSzPct val="70000"/>
              <a:tabLst>
                <a:tab pos="190500" algn="l"/>
              </a:tabLst>
            </a:pPr>
            <a:r>
              <a:rPr lang="en-US" altLang="zh-CN" sz="2000" dirty="0">
                <a:latin typeface="华文楷体" panose="02010600040101010101" pitchFamily="2" charset="-122"/>
                <a:ea typeface="宋体" panose="02010600030101010101" pitchFamily="2" charset="-122"/>
              </a:rPr>
              <a:t>     telephone  char(11) check(telephone like '[0-9][0-9][0-9][0-9][0-9][0-9][0-9][0-9][0-9][0-9][0-9]'))</a:t>
            </a:r>
            <a:endParaRPr lang="en-US" altLang="zh-CN" sz="2000" dirty="0">
              <a:latin typeface="华文楷体" panose="02010600040101010101" pitchFamily="2" charset="-122"/>
              <a:ea typeface="宋体" panose="02010600030101010101" pitchFamily="2" charset="-122"/>
            </a:endParaRPr>
          </a:p>
        </p:txBody>
      </p:sp>
      <p:sp>
        <p:nvSpPr>
          <p:cNvPr id="31749" name="矩形 6"/>
          <p:cNvSpPr/>
          <p:nvPr/>
        </p:nvSpPr>
        <p:spPr>
          <a:xfrm>
            <a:off x="728663" y="4100513"/>
            <a:ext cx="7921625" cy="2109787"/>
          </a:xfrm>
          <a:prstGeom prst="rect">
            <a:avLst/>
          </a:prstGeom>
          <a:noFill/>
          <a:ln w="9525">
            <a:noFill/>
          </a:ln>
        </p:spPr>
        <p:txBody>
          <a:bodyPr anchor="t" anchorCtr="0">
            <a:spAutoFit/>
          </a:bodyPr>
          <a:p>
            <a:pPr marL="285750" lvl="1" indent="-95250" defTabSz="914400" eaLnBrk="1" hangingPunct="1">
              <a:lnSpc>
                <a:spcPct val="110000"/>
              </a:lnSpc>
              <a:buClr>
                <a:schemeClr val="accent2"/>
              </a:buClr>
              <a:buSzPct val="70000"/>
              <a:tabLst>
                <a:tab pos="190500" algn="l"/>
              </a:tabLst>
            </a:pPr>
            <a:r>
              <a:rPr lang="en-US" altLang="zh-CN" sz="2000" dirty="0">
                <a:latin typeface="华文楷体" panose="02010600040101010101" pitchFamily="2" charset="-122"/>
                <a:ea typeface="宋体" panose="02010600030101010101" pitchFamily="2" charset="-122"/>
              </a:rPr>
              <a:t>CREATE TABLE  instructor</a:t>
            </a:r>
            <a:endParaRPr lang="en-US" altLang="zh-CN" sz="2000" dirty="0">
              <a:latin typeface="华文楷体" panose="02010600040101010101" pitchFamily="2" charset="-122"/>
              <a:ea typeface="宋体" panose="02010600030101010101" pitchFamily="2" charset="-122"/>
            </a:endParaRPr>
          </a:p>
          <a:p>
            <a:pPr marL="285750" lvl="1" indent="-95250" defTabSz="914400" eaLnBrk="1" hangingPunct="1">
              <a:lnSpc>
                <a:spcPct val="110000"/>
              </a:lnSpc>
              <a:buClr>
                <a:schemeClr val="accent2"/>
              </a:buClr>
              <a:buSzPct val="70000"/>
              <a:tabLst>
                <a:tab pos="190500" algn="l"/>
              </a:tabLst>
            </a:pPr>
            <a:r>
              <a:rPr lang="en-US" altLang="zh-CN" sz="2000" dirty="0">
                <a:latin typeface="华文楷体" panose="02010600040101010101" pitchFamily="2" charset="-122"/>
                <a:ea typeface="宋体" panose="02010600030101010101" pitchFamily="2" charset="-122"/>
              </a:rPr>
              <a:t>  ( IDnumer  int  IDENTITY(1,1)  PRIMARY  KEY,</a:t>
            </a:r>
            <a:endParaRPr lang="en-US" altLang="zh-CN" sz="2000" dirty="0">
              <a:latin typeface="华文楷体" panose="02010600040101010101" pitchFamily="2" charset="-122"/>
              <a:ea typeface="宋体" panose="02010600030101010101" pitchFamily="2" charset="-122"/>
            </a:endParaRPr>
          </a:p>
          <a:p>
            <a:pPr marL="285750" lvl="1" indent="-95250" defTabSz="914400" eaLnBrk="1" hangingPunct="1">
              <a:lnSpc>
                <a:spcPct val="110000"/>
              </a:lnSpc>
              <a:buClr>
                <a:schemeClr val="accent2"/>
              </a:buClr>
              <a:buSzPct val="70000"/>
              <a:tabLst>
                <a:tab pos="190500" algn="l"/>
              </a:tabLst>
            </a:pPr>
            <a:r>
              <a:rPr lang="en-US" altLang="zh-CN" sz="2000" dirty="0">
                <a:latin typeface="华文楷体" panose="02010600040101010101" pitchFamily="2" charset="-122"/>
                <a:ea typeface="宋体" panose="02010600030101010101" pitchFamily="2" charset="-122"/>
              </a:rPr>
              <a:t>      Iname  varchar(20)   NOT NULL,</a:t>
            </a:r>
            <a:endParaRPr lang="en-US" altLang="zh-CN" sz="2000" dirty="0">
              <a:latin typeface="华文楷体" panose="02010600040101010101" pitchFamily="2" charset="-122"/>
              <a:ea typeface="宋体" panose="02010600030101010101" pitchFamily="2" charset="-122"/>
            </a:endParaRPr>
          </a:p>
          <a:p>
            <a:pPr marL="285750" lvl="1" indent="-95250" defTabSz="914400" eaLnBrk="1" hangingPunct="1">
              <a:lnSpc>
                <a:spcPct val="110000"/>
              </a:lnSpc>
              <a:buClr>
                <a:schemeClr val="accent2"/>
              </a:buClr>
              <a:buSzPct val="70000"/>
              <a:tabLst>
                <a:tab pos="190500" algn="l"/>
              </a:tabLst>
            </a:pPr>
            <a:r>
              <a:rPr lang="en-US" altLang="zh-CN" sz="2000" dirty="0">
                <a:latin typeface="华文楷体" panose="02010600040101010101" pitchFamily="2" charset="-122"/>
                <a:ea typeface="宋体" panose="02010600030101010101" pitchFamily="2" charset="-122"/>
              </a:rPr>
              <a:t>      Isex char(5) NOT NULL,</a:t>
            </a:r>
            <a:endParaRPr lang="en-US" altLang="zh-CN" sz="2000" dirty="0">
              <a:latin typeface="华文楷体" panose="02010600040101010101" pitchFamily="2" charset="-122"/>
              <a:ea typeface="宋体" panose="02010600030101010101" pitchFamily="2" charset="-122"/>
            </a:endParaRPr>
          </a:p>
          <a:p>
            <a:pPr marL="285750" lvl="1" indent="-95250" defTabSz="914400" eaLnBrk="1" hangingPunct="1">
              <a:lnSpc>
                <a:spcPct val="110000"/>
              </a:lnSpc>
              <a:buClr>
                <a:schemeClr val="accent2"/>
              </a:buClr>
              <a:buSzPct val="70000"/>
              <a:tabLst>
                <a:tab pos="190500" algn="l"/>
              </a:tabLst>
            </a:pPr>
            <a:r>
              <a:rPr lang="en-US" altLang="zh-CN" sz="2000" dirty="0">
                <a:latin typeface="华文楷体" panose="02010600040101010101" pitchFamily="2" charset="-122"/>
                <a:ea typeface="宋体" panose="02010600030101010101" pitchFamily="2" charset="-122"/>
              </a:rPr>
              <a:t>     telephone  char(11) check(telephone like '[0-9][0-9][0-9][0-9][0-9][0-9][0-9][0-9][0-9][0-9][0-9]'))</a:t>
            </a:r>
            <a:endParaRPr lang="en-US" altLang="zh-CN" sz="2000" dirty="0">
              <a:latin typeface="华文楷体" panose="02010600040101010101" pitchFamily="2" charset="-122"/>
              <a:ea typeface="宋体" panose="02010600030101010101" pitchFamily="2" charset="-122"/>
            </a:endParaRPr>
          </a:p>
        </p:txBody>
      </p:sp>
      <p:sp>
        <p:nvSpPr>
          <p:cNvPr id="31750" name="矩形 7"/>
          <p:cNvSpPr/>
          <p:nvPr/>
        </p:nvSpPr>
        <p:spPr>
          <a:xfrm>
            <a:off x="727075" y="3686175"/>
            <a:ext cx="5129213" cy="400050"/>
          </a:xfrm>
          <a:prstGeom prst="rect">
            <a:avLst/>
          </a:prstGeom>
          <a:noFill/>
          <a:ln w="9525">
            <a:noFill/>
          </a:ln>
        </p:spPr>
        <p:txBody>
          <a:bodyPr wrap="none" anchor="t" anchorCtr="0">
            <a:spAutoFit/>
          </a:bodyPr>
          <a:p>
            <a:pPr>
              <a:buFont typeface="Wingdings" panose="05000000000000000000" pitchFamily="2" charset="2"/>
              <a:buChar char="p"/>
            </a:pPr>
            <a:r>
              <a:rPr lang="en-US" altLang="zh-CN" sz="2000" dirty="0">
                <a:solidFill>
                  <a:srgbClr val="A50021"/>
                </a:solidFill>
                <a:latin typeface="Arial" panose="020B0604020202020204" pitchFamily="34" charset="0"/>
                <a:ea typeface="宋体" panose="02010600030101010101" pitchFamily="2" charset="-122"/>
              </a:rPr>
              <a:t> </a:t>
            </a:r>
            <a:r>
              <a:rPr lang="zh-CN" altLang="en-US" sz="2000" dirty="0">
                <a:solidFill>
                  <a:srgbClr val="A50021"/>
                </a:solidFill>
                <a:latin typeface="Arial" panose="020B0604020202020204" pitchFamily="34" charset="0"/>
                <a:ea typeface="宋体" panose="02010600030101010101" pitchFamily="2" charset="-122"/>
              </a:rPr>
              <a:t>辅导员</a:t>
            </a:r>
            <a:r>
              <a:rPr lang="zh-CN" altLang="en-US" sz="2000" dirty="0">
                <a:latin typeface="Arial" panose="020B0604020202020204" pitchFamily="34" charset="0"/>
                <a:ea typeface="宋体" panose="02010600030101010101" pitchFamily="2" charset="-122"/>
              </a:rPr>
              <a:t>（</a:t>
            </a:r>
            <a:r>
              <a:rPr lang="zh-CN" altLang="en-US" sz="2000" u="sng" dirty="0">
                <a:latin typeface="Arial" panose="020B0604020202020204" pitchFamily="34" charset="0"/>
                <a:ea typeface="宋体" panose="02010600030101010101" pitchFamily="2" charset="-122"/>
              </a:rPr>
              <a:t>工作证号</a:t>
            </a:r>
            <a:r>
              <a:rPr lang="zh-CN" altLang="en-US" sz="2000" dirty="0">
                <a:latin typeface="Arial" panose="020B0604020202020204" pitchFamily="34" charset="0"/>
                <a:ea typeface="宋体" panose="02010600030101010101" pitchFamily="2" charset="-122"/>
              </a:rPr>
              <a:t>，姓名，性别，电话）</a:t>
            </a:r>
            <a:endParaRPr lang="zh-CN" altLang="en-US" sz="2000" dirty="0">
              <a:latin typeface="Arial" panose="020B0604020202020204" pitchFamily="34" charset="0"/>
              <a:ea typeface="宋体" panose="02010600030101010101" pitchFamily="2" charset="-122"/>
            </a:endParaRP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9" name="矩形 2"/>
          <p:cNvSpPr/>
          <p:nvPr/>
        </p:nvSpPr>
        <p:spPr>
          <a:xfrm>
            <a:off x="654050" y="1408113"/>
            <a:ext cx="4097338" cy="400050"/>
          </a:xfrm>
          <a:prstGeom prst="rect">
            <a:avLst/>
          </a:prstGeom>
          <a:noFill/>
          <a:ln w="9525">
            <a:noFill/>
          </a:ln>
        </p:spPr>
        <p:txBody>
          <a:bodyPr wrap="none" anchor="t" anchorCtr="0">
            <a:spAutoFit/>
          </a:bodyPr>
          <a:p>
            <a:pPr>
              <a:buFont typeface="Wingdings" panose="05000000000000000000" pitchFamily="2" charset="2"/>
              <a:buChar char="p"/>
            </a:pPr>
            <a:r>
              <a:rPr lang="en-US" altLang="zh-CN" sz="2000" dirty="0">
                <a:solidFill>
                  <a:srgbClr val="A50021"/>
                </a:solidFill>
                <a:latin typeface="Arial" panose="020B0604020202020204" pitchFamily="34" charset="0"/>
                <a:ea typeface="宋体" panose="02010600030101010101" pitchFamily="2" charset="-122"/>
              </a:rPr>
              <a:t> </a:t>
            </a:r>
            <a:r>
              <a:rPr lang="zh-CN" altLang="en-US" sz="2000" dirty="0">
                <a:solidFill>
                  <a:srgbClr val="A50021"/>
                </a:solidFill>
                <a:latin typeface="Arial" panose="020B0604020202020204" pitchFamily="34" charset="0"/>
                <a:ea typeface="宋体" panose="02010600030101010101" pitchFamily="2" charset="-122"/>
              </a:rPr>
              <a:t>宿舍</a:t>
            </a:r>
            <a:r>
              <a:rPr lang="zh-CN" altLang="en-US" sz="2000" dirty="0">
                <a:latin typeface="Arial" panose="020B0604020202020204" pitchFamily="34" charset="0"/>
                <a:ea typeface="宋体" panose="02010600030101010101" pitchFamily="2" charset="-122"/>
              </a:rPr>
              <a:t>（</a:t>
            </a:r>
            <a:r>
              <a:rPr lang="zh-CN" altLang="en-US" sz="2000" u="sng" dirty="0">
                <a:latin typeface="Arial" panose="020B0604020202020204" pitchFamily="34" charset="0"/>
                <a:ea typeface="宋体" panose="02010600030101010101" pitchFamily="2" charset="-122"/>
              </a:rPr>
              <a:t>宿舍号</a:t>
            </a:r>
            <a:r>
              <a:rPr lang="zh-CN" altLang="en-US" sz="2000" dirty="0">
                <a:latin typeface="Arial" panose="020B0604020202020204" pitchFamily="34" charset="0"/>
                <a:ea typeface="宋体" panose="02010600030101010101" pitchFamily="2" charset="-122"/>
              </a:rPr>
              <a:t>，宿舍名，地址）</a:t>
            </a:r>
            <a:endParaRPr lang="zh-CN" altLang="en-US" sz="2000" dirty="0">
              <a:latin typeface="Arial" panose="020B0604020202020204" pitchFamily="34" charset="0"/>
              <a:ea typeface="宋体" panose="02010600030101010101" pitchFamily="2" charset="-122"/>
            </a:endParaRPr>
          </a:p>
        </p:txBody>
      </p:sp>
      <p:sp>
        <p:nvSpPr>
          <p:cNvPr id="32770" name="矩形 3"/>
          <p:cNvSpPr/>
          <p:nvPr/>
        </p:nvSpPr>
        <p:spPr>
          <a:xfrm>
            <a:off x="663575" y="1828800"/>
            <a:ext cx="7986713" cy="1446213"/>
          </a:xfrm>
          <a:prstGeom prst="rect">
            <a:avLst/>
          </a:prstGeom>
          <a:noFill/>
          <a:ln w="9525">
            <a:noFill/>
          </a:ln>
        </p:spPr>
        <p:txBody>
          <a:bodyPr anchor="t" anchorCtr="0">
            <a:spAutoFit/>
          </a:bodyPr>
          <a:p>
            <a:pPr marL="285750" lvl="1" indent="-95250" defTabSz="914400" eaLnBrk="1" hangingPunct="1">
              <a:lnSpc>
                <a:spcPct val="110000"/>
              </a:lnSpc>
              <a:buClr>
                <a:schemeClr val="accent2"/>
              </a:buClr>
              <a:buSzPct val="70000"/>
              <a:tabLst>
                <a:tab pos="190500" algn="l"/>
              </a:tabLst>
            </a:pPr>
            <a:r>
              <a:rPr lang="en-US" altLang="zh-CN" sz="2000" dirty="0">
                <a:latin typeface="华文楷体" panose="02010600040101010101" pitchFamily="2" charset="-122"/>
                <a:ea typeface="宋体" panose="02010600030101010101" pitchFamily="2" charset="-122"/>
              </a:rPr>
              <a:t>CREATE TABLE dormitory</a:t>
            </a:r>
            <a:endParaRPr lang="en-US" altLang="zh-CN" sz="2000" dirty="0">
              <a:latin typeface="华文楷体" panose="02010600040101010101" pitchFamily="2" charset="-122"/>
              <a:ea typeface="宋体" panose="02010600030101010101" pitchFamily="2" charset="-122"/>
            </a:endParaRPr>
          </a:p>
          <a:p>
            <a:pPr marL="285750" lvl="1" indent="-95250" defTabSz="914400" eaLnBrk="1" hangingPunct="1">
              <a:lnSpc>
                <a:spcPct val="110000"/>
              </a:lnSpc>
              <a:buClr>
                <a:schemeClr val="accent2"/>
              </a:buClr>
              <a:buSzPct val="70000"/>
              <a:tabLst>
                <a:tab pos="190500" algn="l"/>
              </a:tabLst>
            </a:pPr>
            <a:r>
              <a:rPr lang="en-US" altLang="zh-CN" sz="2000" dirty="0">
                <a:latin typeface="华文楷体" panose="02010600040101010101" pitchFamily="2" charset="-122"/>
                <a:ea typeface="宋体" panose="02010600030101010101" pitchFamily="2" charset="-122"/>
              </a:rPr>
              <a:t> ( dnumber  int   identity(1,1) PRIMARY  KEY,</a:t>
            </a:r>
            <a:endParaRPr lang="en-US" altLang="zh-CN" sz="2000" dirty="0">
              <a:latin typeface="华文楷体" panose="02010600040101010101" pitchFamily="2" charset="-122"/>
              <a:ea typeface="宋体" panose="02010600030101010101" pitchFamily="2" charset="-122"/>
            </a:endParaRPr>
          </a:p>
          <a:p>
            <a:pPr marL="285750" lvl="1" indent="-95250" defTabSz="914400" eaLnBrk="1" hangingPunct="1">
              <a:lnSpc>
                <a:spcPct val="110000"/>
              </a:lnSpc>
              <a:buClr>
                <a:schemeClr val="accent2"/>
              </a:buClr>
              <a:buSzPct val="70000"/>
              <a:tabLst>
                <a:tab pos="190500" algn="l"/>
              </a:tabLst>
            </a:pPr>
            <a:r>
              <a:rPr lang="en-US" altLang="zh-CN" sz="2000" dirty="0">
                <a:latin typeface="华文楷体" panose="02010600040101010101" pitchFamily="2" charset="-122"/>
                <a:ea typeface="宋体" panose="02010600030101010101" pitchFamily="2" charset="-122"/>
              </a:rPr>
              <a:t>     dname varchar(20)   NOT NULL,</a:t>
            </a:r>
            <a:endParaRPr lang="en-US" altLang="zh-CN" sz="2000" dirty="0">
              <a:latin typeface="华文楷体" panose="02010600040101010101" pitchFamily="2" charset="-122"/>
              <a:ea typeface="宋体" panose="02010600030101010101" pitchFamily="2" charset="-122"/>
            </a:endParaRPr>
          </a:p>
          <a:p>
            <a:pPr marL="285750" lvl="1" indent="-95250" defTabSz="914400" eaLnBrk="1" hangingPunct="1">
              <a:lnSpc>
                <a:spcPct val="110000"/>
              </a:lnSpc>
              <a:buClr>
                <a:schemeClr val="accent2"/>
              </a:buClr>
              <a:buSzPct val="70000"/>
              <a:tabLst>
                <a:tab pos="190500" algn="l"/>
              </a:tabLst>
            </a:pPr>
            <a:r>
              <a:rPr lang="en-US" altLang="zh-CN" sz="2000" dirty="0">
                <a:latin typeface="华文楷体" panose="02010600040101010101" pitchFamily="2" charset="-122"/>
                <a:ea typeface="宋体" panose="02010600030101010101" pitchFamily="2" charset="-122"/>
              </a:rPr>
              <a:t>     daddress varchar(20)   NOT NULL)</a:t>
            </a:r>
            <a:endParaRPr lang="en-US" altLang="zh-CN" sz="2000" dirty="0">
              <a:latin typeface="华文楷体" panose="02010600040101010101" pitchFamily="2" charset="-122"/>
              <a:ea typeface="宋体" panose="02010600030101010101" pitchFamily="2" charset="-122"/>
            </a:endParaRPr>
          </a:p>
        </p:txBody>
      </p:sp>
      <p:sp>
        <p:nvSpPr>
          <p:cNvPr id="32771"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32772" name="矩形 5"/>
          <p:cNvSpPr/>
          <p:nvPr/>
        </p:nvSpPr>
        <p:spPr>
          <a:xfrm>
            <a:off x="542925" y="838200"/>
            <a:ext cx="3790950" cy="522288"/>
          </a:xfrm>
          <a:prstGeom prst="rect">
            <a:avLst/>
          </a:prstGeom>
          <a:noFill/>
          <a:ln w="9525">
            <a:noFill/>
          </a:ln>
        </p:spPr>
        <p:txBody>
          <a:bodyPr wrap="none" anchor="t" anchorCtr="0">
            <a:spAutoFit/>
          </a:bodyPr>
          <a:p>
            <a:r>
              <a:rPr lang="zh-CN" altLang="en-US" sz="2800" dirty="0">
                <a:solidFill>
                  <a:srgbClr val="0033CC"/>
                </a:solidFill>
                <a:latin typeface="黑体" panose="02010609060101010101" pitchFamily="1" charset="-122"/>
                <a:ea typeface="黑体" panose="02010609060101010101" pitchFamily="1" charset="-122"/>
              </a:rPr>
              <a:t>例：学生信息管理系统</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32773" name="矩形 6"/>
          <p:cNvSpPr/>
          <p:nvPr/>
        </p:nvSpPr>
        <p:spPr>
          <a:xfrm>
            <a:off x="690563" y="3273425"/>
            <a:ext cx="4872037" cy="400050"/>
          </a:xfrm>
          <a:prstGeom prst="rect">
            <a:avLst/>
          </a:prstGeom>
          <a:noFill/>
          <a:ln w="9525">
            <a:noFill/>
          </a:ln>
        </p:spPr>
        <p:txBody>
          <a:bodyPr wrap="none" anchor="t" anchorCtr="0">
            <a:spAutoFit/>
          </a:bodyPr>
          <a:p>
            <a:pPr>
              <a:buFont typeface="Wingdings" panose="05000000000000000000" pitchFamily="2" charset="2"/>
              <a:buChar char="p"/>
            </a:pPr>
            <a:r>
              <a:rPr lang="zh-CN" altLang="en-US" sz="2000" dirty="0">
                <a:solidFill>
                  <a:srgbClr val="A50021"/>
                </a:solidFill>
                <a:latin typeface="Arial" panose="020B0604020202020204" pitchFamily="34" charset="0"/>
                <a:ea typeface="宋体" panose="02010600030101010101" pitchFamily="2" charset="-122"/>
              </a:rPr>
              <a:t> 班级</a:t>
            </a:r>
            <a:r>
              <a:rPr lang="zh-CN" altLang="en-US" sz="2000" dirty="0">
                <a:latin typeface="Arial" panose="020B0604020202020204" pitchFamily="34" charset="0"/>
                <a:ea typeface="宋体" panose="02010600030101010101" pitchFamily="2" charset="-122"/>
              </a:rPr>
              <a:t>（</a:t>
            </a:r>
            <a:r>
              <a:rPr lang="zh-CN" altLang="en-US" sz="2000" u="sng" dirty="0">
                <a:latin typeface="Arial" panose="020B0604020202020204" pitchFamily="34" charset="0"/>
                <a:ea typeface="宋体" panose="02010600030101010101" pitchFamily="2" charset="-122"/>
              </a:rPr>
              <a:t>班号</a:t>
            </a:r>
            <a:r>
              <a:rPr lang="zh-CN" altLang="en-US" sz="2000" dirty="0">
                <a:latin typeface="Arial" panose="020B0604020202020204" pitchFamily="34" charset="0"/>
                <a:ea typeface="宋体" panose="02010600030101010101" pitchFamily="2" charset="-122"/>
              </a:rPr>
              <a:t>，班名，</a:t>
            </a:r>
            <a:r>
              <a:rPr lang="zh-CN" altLang="en-US" sz="2000" dirty="0">
                <a:solidFill>
                  <a:srgbClr val="0033CC"/>
                </a:solidFill>
                <a:latin typeface="Arial" panose="020B0604020202020204" pitchFamily="34" charset="0"/>
                <a:ea typeface="宋体" panose="02010600030101010101" pitchFamily="2" charset="-122"/>
              </a:rPr>
              <a:t>系名，工作证号</a:t>
            </a:r>
            <a:r>
              <a:rPr lang="zh-CN" altLang="en-US" sz="2000" dirty="0">
                <a:latin typeface="Arial" panose="020B0604020202020204" pitchFamily="34" charset="0"/>
                <a:ea typeface="宋体" panose="02010600030101010101" pitchFamily="2" charset="-122"/>
              </a:rPr>
              <a:t>）</a:t>
            </a:r>
            <a:endParaRPr lang="zh-CN" altLang="en-US" sz="2000" dirty="0">
              <a:latin typeface="Arial" panose="020B0604020202020204" pitchFamily="34" charset="0"/>
              <a:ea typeface="宋体" panose="02010600030101010101" pitchFamily="2" charset="-122"/>
            </a:endParaRPr>
          </a:p>
        </p:txBody>
      </p:sp>
      <p:sp>
        <p:nvSpPr>
          <p:cNvPr id="32774" name="矩形 7"/>
          <p:cNvSpPr/>
          <p:nvPr/>
        </p:nvSpPr>
        <p:spPr>
          <a:xfrm>
            <a:off x="671513" y="3679825"/>
            <a:ext cx="7986712" cy="2462213"/>
          </a:xfrm>
          <a:prstGeom prst="rect">
            <a:avLst/>
          </a:prstGeom>
          <a:noFill/>
          <a:ln w="9525">
            <a:noFill/>
          </a:ln>
        </p:spPr>
        <p:txBody>
          <a:bodyPr anchor="t" anchorCtr="0">
            <a:spAutoFit/>
          </a:bodyPr>
          <a:p>
            <a:pPr marL="285750" lvl="1" indent="-95250" defTabSz="914400" eaLnBrk="1" hangingPunct="1">
              <a:lnSpc>
                <a:spcPct val="110000"/>
              </a:lnSpc>
              <a:buClr>
                <a:schemeClr val="accent2"/>
              </a:buClr>
              <a:buSzPct val="70000"/>
              <a:tabLst>
                <a:tab pos="190500" algn="l"/>
              </a:tabLst>
            </a:pPr>
            <a:r>
              <a:rPr lang="en-US" altLang="zh-CN" sz="2000" dirty="0">
                <a:latin typeface="华文楷体" panose="02010600040101010101" pitchFamily="2" charset="-122"/>
                <a:ea typeface="宋体" panose="02010600030101010101" pitchFamily="2" charset="-122"/>
              </a:rPr>
              <a:t>CREATE TABLE classes</a:t>
            </a:r>
            <a:endParaRPr lang="en-US" altLang="zh-CN" sz="2000" dirty="0">
              <a:latin typeface="华文楷体" panose="02010600040101010101" pitchFamily="2" charset="-122"/>
              <a:ea typeface="宋体" panose="02010600030101010101" pitchFamily="2" charset="-122"/>
            </a:endParaRPr>
          </a:p>
          <a:p>
            <a:pPr marL="285750" lvl="1" indent="-95250" defTabSz="914400" eaLnBrk="1" hangingPunct="1">
              <a:lnSpc>
                <a:spcPct val="110000"/>
              </a:lnSpc>
              <a:buClr>
                <a:schemeClr val="accent2"/>
              </a:buClr>
              <a:buSzPct val="70000"/>
              <a:tabLst>
                <a:tab pos="190500" algn="l"/>
              </a:tabLst>
            </a:pPr>
            <a:r>
              <a:rPr lang="en-US" altLang="zh-CN" sz="2000" dirty="0">
                <a:latin typeface="华文楷体" panose="02010600040101010101" pitchFamily="2" charset="-122"/>
                <a:ea typeface="宋体" panose="02010600030101010101" pitchFamily="2" charset="-122"/>
              </a:rPr>
              <a:t> ( Cnumber  int   identity(1,1) PRIMARY  KEY,</a:t>
            </a:r>
            <a:endParaRPr lang="en-US" altLang="zh-CN" sz="2000" dirty="0">
              <a:latin typeface="华文楷体" panose="02010600040101010101" pitchFamily="2" charset="-122"/>
              <a:ea typeface="宋体" panose="02010600030101010101" pitchFamily="2" charset="-122"/>
            </a:endParaRPr>
          </a:p>
          <a:p>
            <a:pPr marL="285750" lvl="1" indent="-95250" defTabSz="914400" eaLnBrk="1" hangingPunct="1">
              <a:lnSpc>
                <a:spcPct val="110000"/>
              </a:lnSpc>
              <a:buClr>
                <a:schemeClr val="accent2"/>
              </a:buClr>
              <a:buSzPct val="70000"/>
              <a:tabLst>
                <a:tab pos="190500" algn="l"/>
              </a:tabLst>
            </a:pPr>
            <a:r>
              <a:rPr lang="en-US" altLang="zh-CN" sz="2000" dirty="0">
                <a:latin typeface="华文楷体" panose="02010600040101010101" pitchFamily="2" charset="-122"/>
                <a:ea typeface="宋体" panose="02010600030101010101" pitchFamily="2" charset="-122"/>
              </a:rPr>
              <a:t>     Cname varchar(20)   NOT NULL,</a:t>
            </a:r>
            <a:endParaRPr lang="en-US" altLang="zh-CN" sz="2000" dirty="0">
              <a:latin typeface="华文楷体" panose="02010600040101010101" pitchFamily="2" charset="-122"/>
              <a:ea typeface="宋体" panose="02010600030101010101" pitchFamily="2" charset="-122"/>
            </a:endParaRPr>
          </a:p>
          <a:p>
            <a:pPr marL="285750" lvl="1" indent="-95250" defTabSz="914400" eaLnBrk="1" hangingPunct="1">
              <a:lnSpc>
                <a:spcPct val="110000"/>
              </a:lnSpc>
              <a:buClr>
                <a:schemeClr val="accent2"/>
              </a:buClr>
              <a:buSzPct val="70000"/>
              <a:tabLst>
                <a:tab pos="190500" algn="l"/>
              </a:tabLst>
            </a:pPr>
            <a:r>
              <a:rPr lang="en-US" altLang="zh-CN" sz="2000" dirty="0">
                <a:latin typeface="华文楷体" panose="02010600040101010101" pitchFamily="2" charset="-122"/>
                <a:ea typeface="宋体" panose="02010600030101010101" pitchFamily="2" charset="-122"/>
              </a:rPr>
              <a:t>     depname  varchar(20)  FOREIGN KEY REFERENCES department(depname ),</a:t>
            </a:r>
            <a:endParaRPr lang="en-US" altLang="zh-CN" sz="2000" dirty="0">
              <a:latin typeface="华文楷体" panose="02010600040101010101" pitchFamily="2" charset="-122"/>
              <a:ea typeface="宋体" panose="02010600030101010101" pitchFamily="2" charset="-122"/>
            </a:endParaRPr>
          </a:p>
          <a:p>
            <a:pPr marL="285750" lvl="1" indent="-95250" defTabSz="914400" eaLnBrk="1" hangingPunct="1">
              <a:lnSpc>
                <a:spcPct val="110000"/>
              </a:lnSpc>
              <a:buClr>
                <a:schemeClr val="accent2"/>
              </a:buClr>
              <a:buSzPct val="70000"/>
              <a:tabLst>
                <a:tab pos="190500" algn="l"/>
              </a:tabLst>
            </a:pPr>
            <a:r>
              <a:rPr lang="en-US" altLang="zh-CN" sz="2000" dirty="0">
                <a:latin typeface="华文楷体" panose="02010600040101010101" pitchFamily="2" charset="-122"/>
                <a:ea typeface="宋体" panose="02010600030101010101" pitchFamily="2" charset="-122"/>
              </a:rPr>
              <a:t>    IDnumer  int  FOREIGN KEY REFERENCES instructor(Idnumer )</a:t>
            </a:r>
            <a:endParaRPr lang="en-US" altLang="zh-CN" sz="2000" dirty="0">
              <a:latin typeface="华文楷体" panose="02010600040101010101" pitchFamily="2" charset="-122"/>
              <a:ea typeface="宋体" panose="02010600030101010101" pitchFamily="2" charset="-122"/>
            </a:endParaRPr>
          </a:p>
          <a:p>
            <a:pPr marL="285750" lvl="1" indent="-95250" defTabSz="914400" eaLnBrk="1" hangingPunct="1">
              <a:lnSpc>
                <a:spcPct val="110000"/>
              </a:lnSpc>
              <a:buClr>
                <a:schemeClr val="accent2"/>
              </a:buClr>
              <a:buSzPct val="70000"/>
              <a:tabLst>
                <a:tab pos="190500" algn="l"/>
              </a:tabLst>
            </a:pPr>
            <a:r>
              <a:rPr lang="en-US" altLang="zh-CN" sz="2000" dirty="0">
                <a:latin typeface="华文楷体" panose="02010600040101010101" pitchFamily="2" charset="-122"/>
                <a:ea typeface="宋体" panose="02010600030101010101" pitchFamily="2" charset="-122"/>
              </a:rPr>
              <a:t> )</a:t>
            </a:r>
            <a:endParaRPr lang="en-US" altLang="zh-CN" sz="2000" dirty="0">
              <a:latin typeface="华文楷体" panose="02010600040101010101" pitchFamily="2" charset="-122"/>
              <a:ea typeface="宋体" panose="02010600030101010101" pitchFamily="2" charset="-122"/>
            </a:endParaRP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矩形 1"/>
          <p:cNvSpPr/>
          <p:nvPr/>
        </p:nvSpPr>
        <p:spPr>
          <a:xfrm>
            <a:off x="735013" y="1400175"/>
            <a:ext cx="6677025" cy="400050"/>
          </a:xfrm>
          <a:prstGeom prst="rect">
            <a:avLst/>
          </a:prstGeom>
          <a:noFill/>
          <a:ln w="9525">
            <a:noFill/>
          </a:ln>
        </p:spPr>
        <p:txBody>
          <a:bodyPr wrap="none" anchor="t" anchorCtr="0">
            <a:spAutoFit/>
          </a:bodyPr>
          <a:p>
            <a:pPr>
              <a:buFont typeface="Wingdings" panose="05000000000000000000" pitchFamily="2" charset="2"/>
              <a:buChar char="p"/>
            </a:pPr>
            <a:r>
              <a:rPr lang="zh-CN" altLang="en-US" sz="2000" dirty="0">
                <a:solidFill>
                  <a:srgbClr val="A50021"/>
                </a:solidFill>
                <a:latin typeface="Arial" panose="020B0604020202020204" pitchFamily="34" charset="0"/>
                <a:ea typeface="宋体" panose="02010600030101010101" pitchFamily="2" charset="-122"/>
              </a:rPr>
              <a:t> 学生</a:t>
            </a:r>
            <a:r>
              <a:rPr lang="zh-CN" altLang="en-US" sz="2000" dirty="0">
                <a:latin typeface="Arial" panose="020B0604020202020204" pitchFamily="34" charset="0"/>
                <a:ea typeface="宋体" panose="02010600030101010101" pitchFamily="2" charset="-122"/>
              </a:rPr>
              <a:t>（</a:t>
            </a:r>
            <a:r>
              <a:rPr lang="zh-CN" altLang="en-US" sz="2000" u="sng" dirty="0">
                <a:latin typeface="Arial" panose="020B0604020202020204" pitchFamily="34" charset="0"/>
                <a:ea typeface="宋体" panose="02010600030101010101" pitchFamily="2" charset="-122"/>
              </a:rPr>
              <a:t>学号</a:t>
            </a:r>
            <a:r>
              <a:rPr lang="zh-CN" altLang="en-US" sz="2000" dirty="0">
                <a:latin typeface="Arial" panose="020B0604020202020204" pitchFamily="34" charset="0"/>
                <a:ea typeface="宋体" panose="02010600030101010101" pitchFamily="2" charset="-122"/>
              </a:rPr>
              <a:t>，姓名，性别，出生年月，</a:t>
            </a:r>
            <a:r>
              <a:rPr lang="zh-CN" altLang="en-US" sz="2000" dirty="0">
                <a:solidFill>
                  <a:srgbClr val="0033CC"/>
                </a:solidFill>
                <a:latin typeface="Arial" panose="020B0604020202020204" pitchFamily="34" charset="0"/>
                <a:ea typeface="宋体" panose="02010600030101010101" pitchFamily="2" charset="-122"/>
              </a:rPr>
              <a:t>班号，宿舍号</a:t>
            </a:r>
            <a:r>
              <a:rPr lang="zh-CN" altLang="en-US" sz="2000" dirty="0">
                <a:latin typeface="Arial" panose="020B0604020202020204" pitchFamily="34" charset="0"/>
                <a:ea typeface="宋体" panose="02010600030101010101" pitchFamily="2" charset="-122"/>
              </a:rPr>
              <a:t>）</a:t>
            </a:r>
            <a:endParaRPr lang="zh-CN" altLang="en-US" sz="2000" dirty="0">
              <a:latin typeface="Arial" panose="020B0604020202020204" pitchFamily="34" charset="0"/>
              <a:ea typeface="宋体" panose="02010600030101010101" pitchFamily="2" charset="-122"/>
            </a:endParaRPr>
          </a:p>
        </p:txBody>
      </p:sp>
      <p:sp>
        <p:nvSpPr>
          <p:cNvPr id="33794"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33795" name="矩形 3"/>
          <p:cNvSpPr/>
          <p:nvPr/>
        </p:nvSpPr>
        <p:spPr>
          <a:xfrm>
            <a:off x="542925" y="838200"/>
            <a:ext cx="3790950" cy="522288"/>
          </a:xfrm>
          <a:prstGeom prst="rect">
            <a:avLst/>
          </a:prstGeom>
          <a:noFill/>
          <a:ln w="9525">
            <a:noFill/>
          </a:ln>
        </p:spPr>
        <p:txBody>
          <a:bodyPr wrap="none" anchor="t" anchorCtr="0">
            <a:spAutoFit/>
          </a:bodyPr>
          <a:p>
            <a:r>
              <a:rPr lang="zh-CN" altLang="en-US" sz="2800" dirty="0">
                <a:solidFill>
                  <a:srgbClr val="0033CC"/>
                </a:solidFill>
                <a:latin typeface="黑体" panose="02010609060101010101" pitchFamily="1" charset="-122"/>
                <a:ea typeface="黑体" panose="02010609060101010101" pitchFamily="1" charset="-122"/>
              </a:rPr>
              <a:t>例：学生信息管理系统</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33796" name="矩形 4"/>
          <p:cNvSpPr/>
          <p:nvPr/>
        </p:nvSpPr>
        <p:spPr>
          <a:xfrm>
            <a:off x="457200" y="1828800"/>
            <a:ext cx="8410575" cy="1768475"/>
          </a:xfrm>
          <a:prstGeom prst="rect">
            <a:avLst/>
          </a:prstGeom>
          <a:noFill/>
          <a:ln w="9525">
            <a:noFill/>
          </a:ln>
        </p:spPr>
        <p:txBody>
          <a:bodyPr wrap="square" anchor="t" anchorCtr="0">
            <a:spAutoFit/>
          </a:bodyPr>
          <a:p>
            <a:pPr marL="285750" lvl="1" indent="-95250" defTabSz="914400" eaLnBrk="1" hangingPunct="1">
              <a:lnSpc>
                <a:spcPct val="110000"/>
              </a:lnSpc>
              <a:buClr>
                <a:schemeClr val="accent2"/>
              </a:buClr>
              <a:buSzPct val="70000"/>
              <a:tabLst>
                <a:tab pos="190500" algn="l"/>
              </a:tabLst>
            </a:pPr>
            <a:r>
              <a:rPr lang="en-US" altLang="zh-CN" sz="2000" dirty="0">
                <a:latin typeface="华文楷体" panose="02010600040101010101" pitchFamily="2" charset="-122"/>
                <a:ea typeface="宋体" panose="02010600030101010101" pitchFamily="2" charset="-122"/>
              </a:rPr>
              <a:t>CREATE TABLE  students</a:t>
            </a:r>
            <a:endParaRPr lang="en-US" altLang="zh-CN" sz="2000" dirty="0">
              <a:latin typeface="华文楷体" panose="02010600040101010101" pitchFamily="2" charset="-122"/>
              <a:ea typeface="宋体" panose="02010600030101010101" pitchFamily="2" charset="-122"/>
            </a:endParaRPr>
          </a:p>
          <a:p>
            <a:pPr marL="285750" lvl="1" indent="-95250" defTabSz="914400" eaLnBrk="1" hangingPunct="1">
              <a:lnSpc>
                <a:spcPct val="110000"/>
              </a:lnSpc>
              <a:buClr>
                <a:schemeClr val="accent2"/>
              </a:buClr>
              <a:buSzPct val="70000"/>
              <a:tabLst>
                <a:tab pos="190500" algn="l"/>
              </a:tabLst>
            </a:pPr>
            <a:r>
              <a:rPr lang="en-US" altLang="zh-CN" sz="2000" dirty="0">
                <a:latin typeface="华文楷体" panose="02010600040101010101" pitchFamily="2" charset="-122"/>
                <a:ea typeface="宋体" panose="02010600030101010101" pitchFamily="2" charset="-122"/>
              </a:rPr>
              <a:t> (   SID  int   identity(1,1) PRIMARY  KEY,  Sname varchar(20)   NOT NULL,</a:t>
            </a:r>
            <a:endParaRPr lang="en-US" altLang="zh-CN" sz="2000" dirty="0">
              <a:latin typeface="华文楷体" panose="02010600040101010101" pitchFamily="2" charset="-122"/>
              <a:ea typeface="宋体" panose="02010600030101010101" pitchFamily="2" charset="-122"/>
            </a:endParaRPr>
          </a:p>
          <a:p>
            <a:pPr marL="285750" lvl="1" indent="-95250" defTabSz="914400" eaLnBrk="1" hangingPunct="1">
              <a:lnSpc>
                <a:spcPct val="110000"/>
              </a:lnSpc>
              <a:buClr>
                <a:schemeClr val="accent2"/>
              </a:buClr>
              <a:buSzPct val="70000"/>
              <a:tabLst>
                <a:tab pos="190500" algn="l"/>
              </a:tabLst>
            </a:pPr>
            <a:r>
              <a:rPr lang="en-US" altLang="zh-CN" sz="2000" dirty="0">
                <a:latin typeface="华文楷体" panose="02010600040101010101" pitchFamily="2" charset="-122"/>
                <a:ea typeface="宋体" panose="02010600030101010101" pitchFamily="2" charset="-122"/>
              </a:rPr>
              <a:t>     Ssex char(6) NOT NULL,   Sbirthday smalldatetime NOT NULL,</a:t>
            </a:r>
            <a:endParaRPr lang="en-US" altLang="zh-CN" sz="2000" dirty="0">
              <a:latin typeface="华文楷体" panose="02010600040101010101" pitchFamily="2" charset="-122"/>
              <a:ea typeface="宋体" panose="02010600030101010101" pitchFamily="2" charset="-122"/>
            </a:endParaRPr>
          </a:p>
          <a:p>
            <a:pPr marL="285750" lvl="1" indent="-95250" defTabSz="914400" eaLnBrk="1" hangingPunct="1">
              <a:lnSpc>
                <a:spcPct val="110000"/>
              </a:lnSpc>
              <a:buClr>
                <a:schemeClr val="accent2"/>
              </a:buClr>
              <a:buSzPct val="70000"/>
              <a:tabLst>
                <a:tab pos="190500" algn="l"/>
              </a:tabLst>
            </a:pPr>
            <a:r>
              <a:rPr lang="en-US" altLang="zh-CN" sz="2000" dirty="0">
                <a:latin typeface="华文楷体" panose="02010600040101010101" pitchFamily="2" charset="-122"/>
                <a:ea typeface="宋体" panose="02010600030101010101" pitchFamily="2" charset="-122"/>
              </a:rPr>
              <a:t>    Cnumber  int FOREIGN KEY REFERENCES classes(Cnumber ),</a:t>
            </a:r>
            <a:endParaRPr lang="en-US" altLang="zh-CN" sz="2000" dirty="0">
              <a:latin typeface="华文楷体" panose="02010600040101010101" pitchFamily="2" charset="-122"/>
              <a:ea typeface="宋体" panose="02010600030101010101" pitchFamily="2" charset="-122"/>
            </a:endParaRPr>
          </a:p>
          <a:p>
            <a:pPr marL="285750" lvl="1" indent="-95250" defTabSz="914400" eaLnBrk="1" hangingPunct="1">
              <a:lnSpc>
                <a:spcPct val="110000"/>
              </a:lnSpc>
              <a:buClr>
                <a:schemeClr val="accent2"/>
              </a:buClr>
              <a:buSzPct val="70000"/>
              <a:tabLst>
                <a:tab pos="190500" algn="l"/>
              </a:tabLst>
            </a:pPr>
            <a:r>
              <a:rPr lang="en-US" altLang="zh-CN" sz="2000" dirty="0">
                <a:latin typeface="华文楷体" panose="02010600040101010101" pitchFamily="2" charset="-122"/>
                <a:ea typeface="宋体" panose="02010600030101010101" pitchFamily="2" charset="-122"/>
              </a:rPr>
              <a:t>    dnumber  int FOREIGN KEY REFERENCES dormitory(dnumber))</a:t>
            </a:r>
            <a:endParaRPr lang="en-US" altLang="zh-CN" sz="2000" dirty="0">
              <a:latin typeface="华文楷体" panose="02010600040101010101" pitchFamily="2" charset="-122"/>
              <a:ea typeface="宋体" panose="02010600030101010101" pitchFamily="2" charset="-122"/>
            </a:endParaRPr>
          </a:p>
        </p:txBody>
      </p:sp>
      <p:sp>
        <p:nvSpPr>
          <p:cNvPr id="33797" name="矩形 5"/>
          <p:cNvSpPr/>
          <p:nvPr/>
        </p:nvSpPr>
        <p:spPr>
          <a:xfrm>
            <a:off x="814388" y="3629025"/>
            <a:ext cx="6419850" cy="400050"/>
          </a:xfrm>
          <a:prstGeom prst="rect">
            <a:avLst/>
          </a:prstGeom>
          <a:noFill/>
          <a:ln w="9525">
            <a:noFill/>
          </a:ln>
        </p:spPr>
        <p:txBody>
          <a:bodyPr wrap="none" anchor="t" anchorCtr="0">
            <a:spAutoFit/>
          </a:bodyPr>
          <a:p>
            <a:pPr>
              <a:buFont typeface="Wingdings" panose="05000000000000000000" pitchFamily="2" charset="2"/>
              <a:buChar char="p"/>
            </a:pPr>
            <a:r>
              <a:rPr lang="zh-CN" altLang="en-US" sz="2000" dirty="0">
                <a:solidFill>
                  <a:srgbClr val="A50021"/>
                </a:solidFill>
                <a:latin typeface="Arial" panose="020B0604020202020204" pitchFamily="34" charset="0"/>
                <a:ea typeface="宋体" panose="02010600030101010101" pitchFamily="2" charset="-122"/>
              </a:rPr>
              <a:t> 学生家长</a:t>
            </a:r>
            <a:r>
              <a:rPr lang="zh-CN" altLang="en-US" sz="2000" dirty="0">
                <a:latin typeface="Arial" panose="020B0604020202020204" pitchFamily="34" charset="0"/>
                <a:ea typeface="宋体" panose="02010600030101010101" pitchFamily="2" charset="-122"/>
              </a:rPr>
              <a:t>（</a:t>
            </a:r>
            <a:r>
              <a:rPr lang="zh-CN" altLang="en-US" sz="2000" u="sng" dirty="0">
                <a:latin typeface="Arial" panose="020B0604020202020204" pitchFamily="34" charset="0"/>
                <a:ea typeface="宋体" panose="02010600030101010101" pitchFamily="2" charset="-122"/>
              </a:rPr>
              <a:t>学号，称谓，姓名</a:t>
            </a:r>
            <a:r>
              <a:rPr lang="zh-CN" altLang="en-US" sz="2000" dirty="0">
                <a:latin typeface="Arial" panose="020B0604020202020204" pitchFamily="34" charset="0"/>
                <a:ea typeface="宋体" panose="02010600030101010101" pitchFamily="2" charset="-122"/>
              </a:rPr>
              <a:t>，性别，地址，电话）</a:t>
            </a:r>
            <a:endParaRPr lang="zh-CN" altLang="en-US" sz="2000" dirty="0">
              <a:latin typeface="Arial" panose="020B0604020202020204" pitchFamily="34" charset="0"/>
              <a:ea typeface="宋体" panose="02010600030101010101" pitchFamily="2" charset="-122"/>
            </a:endParaRPr>
          </a:p>
        </p:txBody>
      </p:sp>
      <p:sp>
        <p:nvSpPr>
          <p:cNvPr id="33798" name="矩形 6"/>
          <p:cNvSpPr/>
          <p:nvPr/>
        </p:nvSpPr>
        <p:spPr>
          <a:xfrm>
            <a:off x="661988" y="4041775"/>
            <a:ext cx="8205787" cy="2124075"/>
          </a:xfrm>
          <a:prstGeom prst="rect">
            <a:avLst/>
          </a:prstGeom>
          <a:noFill/>
          <a:ln w="9525">
            <a:noFill/>
          </a:ln>
        </p:spPr>
        <p:txBody>
          <a:bodyPr anchor="t" anchorCtr="0">
            <a:spAutoFit/>
          </a:bodyPr>
          <a:p>
            <a:pPr marL="285750" lvl="1" indent="-95250" defTabSz="914400" eaLnBrk="1" hangingPunct="1">
              <a:lnSpc>
                <a:spcPct val="110000"/>
              </a:lnSpc>
              <a:buClr>
                <a:schemeClr val="accent2"/>
              </a:buClr>
              <a:buSzPct val="70000"/>
              <a:tabLst>
                <a:tab pos="190500" algn="l"/>
              </a:tabLst>
            </a:pPr>
            <a:r>
              <a:rPr lang="en-US" altLang="zh-CN" sz="2000" dirty="0">
                <a:latin typeface="华文楷体" panose="02010600040101010101" pitchFamily="2" charset="-122"/>
                <a:ea typeface="宋体" panose="02010600030101010101" pitchFamily="2" charset="-122"/>
              </a:rPr>
              <a:t>CREATE TABLE  parents</a:t>
            </a:r>
            <a:endParaRPr lang="en-US" altLang="zh-CN" sz="2000" dirty="0">
              <a:latin typeface="华文楷体" panose="02010600040101010101" pitchFamily="2" charset="-122"/>
              <a:ea typeface="宋体" panose="02010600030101010101" pitchFamily="2" charset="-122"/>
            </a:endParaRPr>
          </a:p>
          <a:p>
            <a:pPr marL="285750" lvl="1" indent="-95250" defTabSz="914400" eaLnBrk="1" hangingPunct="1">
              <a:lnSpc>
                <a:spcPct val="110000"/>
              </a:lnSpc>
              <a:buClr>
                <a:schemeClr val="accent2"/>
              </a:buClr>
              <a:buSzPct val="70000"/>
              <a:tabLst>
                <a:tab pos="190500" algn="l"/>
              </a:tabLst>
            </a:pPr>
            <a:r>
              <a:rPr lang="en-US" altLang="zh-CN" sz="2000" dirty="0">
                <a:latin typeface="华文楷体" panose="02010600040101010101" pitchFamily="2" charset="-122"/>
                <a:ea typeface="宋体" panose="02010600030101010101" pitchFamily="2" charset="-122"/>
              </a:rPr>
              <a:t> (   SID  int FOREIGN KEY REFERENCES students(SID),</a:t>
            </a:r>
            <a:endParaRPr lang="en-US" altLang="zh-CN" sz="2000" dirty="0">
              <a:latin typeface="华文楷体" panose="02010600040101010101" pitchFamily="2" charset="-122"/>
              <a:ea typeface="宋体" panose="02010600030101010101" pitchFamily="2" charset="-122"/>
            </a:endParaRPr>
          </a:p>
          <a:p>
            <a:pPr marL="285750" lvl="1" indent="-95250" defTabSz="914400" eaLnBrk="1" hangingPunct="1">
              <a:lnSpc>
                <a:spcPct val="110000"/>
              </a:lnSpc>
              <a:buClr>
                <a:schemeClr val="accent2"/>
              </a:buClr>
              <a:buSzPct val="70000"/>
              <a:tabLst>
                <a:tab pos="190500" algn="l"/>
              </a:tabLst>
            </a:pPr>
            <a:r>
              <a:rPr lang="en-US" altLang="zh-CN" sz="2000" dirty="0">
                <a:latin typeface="华文楷体" panose="02010600040101010101" pitchFamily="2" charset="-122"/>
                <a:ea typeface="宋体" panose="02010600030101010101" pitchFamily="2" charset="-122"/>
              </a:rPr>
              <a:t>      ptitle char(10) NOT NULL,  pname varchar(20) NOT NULL,</a:t>
            </a:r>
            <a:endParaRPr lang="en-US" altLang="zh-CN" sz="2000" dirty="0">
              <a:latin typeface="华文楷体" panose="02010600040101010101" pitchFamily="2" charset="-122"/>
              <a:ea typeface="宋体" panose="02010600030101010101" pitchFamily="2" charset="-122"/>
            </a:endParaRPr>
          </a:p>
          <a:p>
            <a:pPr marL="285750" lvl="1" indent="-95250" defTabSz="914400" eaLnBrk="1" hangingPunct="1">
              <a:lnSpc>
                <a:spcPct val="110000"/>
              </a:lnSpc>
              <a:buClr>
                <a:schemeClr val="accent2"/>
              </a:buClr>
              <a:buSzPct val="70000"/>
              <a:tabLst>
                <a:tab pos="190500" algn="l"/>
              </a:tabLst>
            </a:pPr>
            <a:r>
              <a:rPr lang="en-US" altLang="zh-CN" sz="2000" dirty="0">
                <a:latin typeface="华文楷体" panose="02010600040101010101" pitchFamily="2" charset="-122"/>
                <a:ea typeface="宋体" panose="02010600030101010101" pitchFamily="2" charset="-122"/>
              </a:rPr>
              <a:t>      psex char(6) NOT NULL, paddress varchar(50) NOT NULL,</a:t>
            </a:r>
            <a:endParaRPr lang="en-US" altLang="zh-CN" sz="2000" dirty="0">
              <a:latin typeface="华文楷体" panose="02010600040101010101" pitchFamily="2" charset="-122"/>
              <a:ea typeface="宋体" panose="02010600030101010101" pitchFamily="2" charset="-122"/>
            </a:endParaRPr>
          </a:p>
          <a:p>
            <a:pPr marL="285750" lvl="1" indent="-95250" defTabSz="914400" eaLnBrk="1" hangingPunct="1">
              <a:lnSpc>
                <a:spcPct val="110000"/>
              </a:lnSpc>
              <a:buClr>
                <a:schemeClr val="accent2"/>
              </a:buClr>
              <a:buSzPct val="70000"/>
              <a:tabLst>
                <a:tab pos="190500" algn="l"/>
              </a:tabLst>
            </a:pPr>
            <a:r>
              <a:rPr lang="en-US" altLang="zh-CN" sz="2000" dirty="0">
                <a:latin typeface="华文楷体" panose="02010600040101010101" pitchFamily="2" charset="-122"/>
                <a:ea typeface="宋体" panose="02010600030101010101" pitchFamily="2" charset="-122"/>
              </a:rPr>
              <a:t>      CONSTRAINT  stu_p PRIMARY KEY (SID,ptitle,pname)</a:t>
            </a:r>
            <a:endParaRPr lang="en-US" altLang="zh-CN" sz="2000" dirty="0">
              <a:latin typeface="华文楷体" panose="02010600040101010101" pitchFamily="2" charset="-122"/>
              <a:ea typeface="宋体" panose="02010600030101010101" pitchFamily="2" charset="-122"/>
            </a:endParaRPr>
          </a:p>
          <a:p>
            <a:pPr marL="285750" lvl="1" indent="-95250" defTabSz="914400" eaLnBrk="1" hangingPunct="1">
              <a:lnSpc>
                <a:spcPct val="110000"/>
              </a:lnSpc>
              <a:buClr>
                <a:schemeClr val="accent2"/>
              </a:buClr>
              <a:buSzPct val="70000"/>
              <a:tabLst>
                <a:tab pos="190500" algn="l"/>
              </a:tabLst>
            </a:pPr>
            <a:r>
              <a:rPr lang="en-US" altLang="zh-CN" sz="2000" dirty="0">
                <a:latin typeface="华文楷体" panose="02010600040101010101" pitchFamily="2" charset="-122"/>
                <a:ea typeface="宋体" panose="02010600030101010101" pitchFamily="2" charset="-122"/>
              </a:rPr>
              <a:t>     )</a:t>
            </a:r>
            <a:endParaRPr lang="en-US" altLang="zh-CN" sz="2000" dirty="0">
              <a:latin typeface="华文楷体" panose="02010600040101010101" pitchFamily="2" charset="-122"/>
              <a:ea typeface="宋体" panose="02010600030101010101" pitchFamily="2" charset="-122"/>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7" name="文本框 1"/>
          <p:cNvSpPr txBox="1"/>
          <p:nvPr/>
        </p:nvSpPr>
        <p:spPr>
          <a:xfrm>
            <a:off x="603250" y="873125"/>
            <a:ext cx="7772400" cy="922338"/>
          </a:xfrm>
          <a:prstGeom prst="rect">
            <a:avLst/>
          </a:prstGeom>
          <a:noFill/>
          <a:ln w="9525">
            <a:noFill/>
          </a:ln>
        </p:spPr>
        <p:txBody>
          <a:bodyPr wrap="square" anchor="t" anchorCtr="0">
            <a:spAutoFit/>
          </a:bodyPr>
          <a:p>
            <a:r>
              <a:rPr lang="zh-CN" altLang="en-US">
                <a:latin typeface="Arial" panose="020B0604020202020204" pitchFamily="34" charset="0"/>
                <a:ea typeface="宋体" panose="02010600030101010101" pitchFamily="2" charset="-122"/>
              </a:rPr>
              <a:t>insert department values('计算机','犀浦九教','13001660213')</a:t>
            </a:r>
            <a:endParaRPr lang="zh-CN" altLang="en-US">
              <a:latin typeface="Arial" panose="020B0604020202020204" pitchFamily="34" charset="0"/>
              <a:ea typeface="宋体" panose="02010600030101010101" pitchFamily="2" charset="-122"/>
            </a:endParaRPr>
          </a:p>
          <a:p>
            <a:r>
              <a:rPr lang="zh-CN" altLang="en-US">
                <a:latin typeface="Arial" panose="020B0604020202020204" pitchFamily="34" charset="0"/>
                <a:ea typeface="宋体" panose="02010600030101010101" pitchFamily="2" charset="-122"/>
              </a:rPr>
              <a:t>insert department values('软件工程','犀浦九教','13001660214')</a:t>
            </a:r>
            <a:endParaRPr lang="zh-CN" altLang="en-US">
              <a:latin typeface="Arial" panose="020B0604020202020204" pitchFamily="34" charset="0"/>
              <a:ea typeface="宋体" panose="02010600030101010101" pitchFamily="2" charset="-122"/>
            </a:endParaRPr>
          </a:p>
          <a:p>
            <a:r>
              <a:rPr lang="zh-CN" altLang="en-US">
                <a:latin typeface="Arial" panose="020B0604020202020204" pitchFamily="34" charset="0"/>
                <a:ea typeface="宋体" panose="02010600030101010101" pitchFamily="2" charset="-122"/>
              </a:rPr>
              <a:t>insert department values('物联网','犀浦九教','13001660215')</a:t>
            </a:r>
            <a:endParaRPr lang="zh-CN" altLang="en-US">
              <a:latin typeface="Arial" panose="020B0604020202020204" pitchFamily="34" charset="0"/>
              <a:ea typeface="宋体" panose="02010600030101010101" pitchFamily="2" charset="-122"/>
            </a:endParaRPr>
          </a:p>
        </p:txBody>
      </p:sp>
      <p:sp>
        <p:nvSpPr>
          <p:cNvPr id="34818"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34819" name="文本框 2"/>
          <p:cNvSpPr txBox="1"/>
          <p:nvPr/>
        </p:nvSpPr>
        <p:spPr>
          <a:xfrm>
            <a:off x="603250" y="1716088"/>
            <a:ext cx="6850063" cy="922337"/>
          </a:xfrm>
          <a:prstGeom prst="rect">
            <a:avLst/>
          </a:prstGeom>
          <a:noFill/>
          <a:ln w="9525">
            <a:noFill/>
          </a:ln>
        </p:spPr>
        <p:txBody>
          <a:bodyPr wrap="square" anchor="t" anchorCtr="0">
            <a:spAutoFit/>
          </a:bodyPr>
          <a:p>
            <a:r>
              <a:rPr lang="zh-CN" altLang="en-US">
                <a:latin typeface="Arial" panose="020B0604020202020204" pitchFamily="34" charset="0"/>
                <a:ea typeface="宋体" panose="02010600030101010101" pitchFamily="2" charset="-122"/>
              </a:rPr>
              <a:t>insert instructor values('王唯一','男','13540166431')</a:t>
            </a:r>
            <a:endParaRPr lang="zh-CN" altLang="en-US">
              <a:latin typeface="Arial" panose="020B0604020202020204" pitchFamily="34" charset="0"/>
              <a:ea typeface="宋体" panose="02010600030101010101" pitchFamily="2" charset="-122"/>
            </a:endParaRPr>
          </a:p>
          <a:p>
            <a:r>
              <a:rPr lang="zh-CN" altLang="en-US">
                <a:latin typeface="Arial" panose="020B0604020202020204" pitchFamily="34" charset="0"/>
                <a:ea typeface="宋体" panose="02010600030101010101" pitchFamily="2" charset="-122"/>
              </a:rPr>
              <a:t>insert instructor values('李礼','男','13540166432')</a:t>
            </a:r>
            <a:endParaRPr lang="zh-CN" altLang="en-US">
              <a:latin typeface="Arial" panose="020B0604020202020204" pitchFamily="34" charset="0"/>
              <a:ea typeface="宋体" panose="02010600030101010101" pitchFamily="2" charset="-122"/>
            </a:endParaRPr>
          </a:p>
          <a:p>
            <a:r>
              <a:rPr lang="zh-CN" altLang="en-US">
                <a:latin typeface="Arial" panose="020B0604020202020204" pitchFamily="34" charset="0"/>
                <a:ea typeface="宋体" panose="02010600030101010101" pitchFamily="2" charset="-122"/>
              </a:rPr>
              <a:t>insert instructor values('赵红玉','女','13540166433')</a:t>
            </a:r>
            <a:endParaRPr lang="zh-CN" altLang="en-US">
              <a:latin typeface="Arial" panose="020B0604020202020204" pitchFamily="34" charset="0"/>
              <a:ea typeface="宋体" panose="02010600030101010101" pitchFamily="2" charset="-122"/>
            </a:endParaRPr>
          </a:p>
        </p:txBody>
      </p:sp>
      <p:sp>
        <p:nvSpPr>
          <p:cNvPr id="34820" name="文本框 3"/>
          <p:cNvSpPr txBox="1"/>
          <p:nvPr/>
        </p:nvSpPr>
        <p:spPr>
          <a:xfrm>
            <a:off x="612775" y="2530475"/>
            <a:ext cx="6146800" cy="922338"/>
          </a:xfrm>
          <a:prstGeom prst="rect">
            <a:avLst/>
          </a:prstGeom>
          <a:noFill/>
          <a:ln w="9525">
            <a:noFill/>
          </a:ln>
        </p:spPr>
        <p:txBody>
          <a:bodyPr wrap="square" anchor="t" anchorCtr="0">
            <a:spAutoFit/>
          </a:bodyPr>
          <a:p>
            <a:r>
              <a:rPr lang="zh-CN" altLang="en-US">
                <a:latin typeface="Arial" panose="020B0604020202020204" pitchFamily="34" charset="0"/>
                <a:ea typeface="宋体" panose="02010600030101010101" pitchFamily="2" charset="-122"/>
              </a:rPr>
              <a:t>insert dormitory values('眷诚斋1号','犀浦1-1')</a:t>
            </a:r>
            <a:endParaRPr lang="zh-CN" altLang="en-US">
              <a:latin typeface="Arial" panose="020B0604020202020204" pitchFamily="34" charset="0"/>
              <a:ea typeface="宋体" panose="02010600030101010101" pitchFamily="2" charset="-122"/>
            </a:endParaRPr>
          </a:p>
          <a:p>
            <a:r>
              <a:rPr lang="zh-CN" altLang="en-US">
                <a:latin typeface="Arial" panose="020B0604020202020204" pitchFamily="34" charset="0"/>
                <a:ea typeface="宋体" panose="02010600030101010101" pitchFamily="2" charset="-122"/>
              </a:rPr>
              <a:t>insert dormitory values('眷诚斋2号','犀浦2-1')</a:t>
            </a:r>
            <a:endParaRPr lang="zh-CN" altLang="en-US">
              <a:latin typeface="Arial" panose="020B0604020202020204" pitchFamily="34" charset="0"/>
              <a:ea typeface="宋体" panose="02010600030101010101" pitchFamily="2" charset="-122"/>
            </a:endParaRPr>
          </a:p>
          <a:p>
            <a:r>
              <a:rPr lang="zh-CN" altLang="en-US">
                <a:latin typeface="Arial" panose="020B0604020202020204" pitchFamily="34" charset="0"/>
                <a:ea typeface="宋体" panose="02010600030101010101" pitchFamily="2" charset="-122"/>
              </a:rPr>
              <a:t>insert dormitory values('杨华斋1号','犀浦3-1')</a:t>
            </a:r>
            <a:endParaRPr lang="zh-CN" altLang="en-US">
              <a:latin typeface="Arial" panose="020B0604020202020204" pitchFamily="34" charset="0"/>
              <a:ea typeface="宋体" panose="02010600030101010101" pitchFamily="2" charset="-122"/>
            </a:endParaRPr>
          </a:p>
        </p:txBody>
      </p:sp>
      <p:sp>
        <p:nvSpPr>
          <p:cNvPr id="34821" name="文本框 4"/>
          <p:cNvSpPr txBox="1"/>
          <p:nvPr/>
        </p:nvSpPr>
        <p:spPr>
          <a:xfrm>
            <a:off x="612775" y="3359150"/>
            <a:ext cx="6615113" cy="922338"/>
          </a:xfrm>
          <a:prstGeom prst="rect">
            <a:avLst/>
          </a:prstGeom>
          <a:noFill/>
          <a:ln w="9525">
            <a:noFill/>
          </a:ln>
        </p:spPr>
        <p:txBody>
          <a:bodyPr wrap="square" anchor="t" anchorCtr="0">
            <a:spAutoFit/>
          </a:bodyPr>
          <a:p>
            <a:r>
              <a:rPr lang="zh-CN" altLang="en-US">
                <a:latin typeface="Arial" panose="020B0604020202020204" pitchFamily="34" charset="0"/>
                <a:ea typeface="宋体" panose="02010600030101010101" pitchFamily="2" charset="-122"/>
              </a:rPr>
              <a:t>insert classes values('物联网1班','物联网',1)</a:t>
            </a:r>
            <a:endParaRPr lang="zh-CN" altLang="en-US">
              <a:latin typeface="Arial" panose="020B0604020202020204" pitchFamily="34" charset="0"/>
              <a:ea typeface="宋体" panose="02010600030101010101" pitchFamily="2" charset="-122"/>
            </a:endParaRPr>
          </a:p>
          <a:p>
            <a:r>
              <a:rPr lang="zh-CN" altLang="en-US">
                <a:latin typeface="Arial" panose="020B0604020202020204" pitchFamily="34" charset="0"/>
                <a:ea typeface="宋体" panose="02010600030101010101" pitchFamily="2" charset="-122"/>
              </a:rPr>
              <a:t>insert classes values('物联网2班','物联网',2)</a:t>
            </a:r>
            <a:endParaRPr lang="zh-CN" altLang="en-US">
              <a:latin typeface="Arial" panose="020B0604020202020204" pitchFamily="34" charset="0"/>
              <a:ea typeface="宋体" panose="02010600030101010101" pitchFamily="2" charset="-122"/>
            </a:endParaRPr>
          </a:p>
          <a:p>
            <a:r>
              <a:rPr lang="zh-CN" altLang="en-US">
                <a:latin typeface="Arial" panose="020B0604020202020204" pitchFamily="34" charset="0"/>
                <a:ea typeface="宋体" panose="02010600030101010101" pitchFamily="2" charset="-122"/>
              </a:rPr>
              <a:t>insert classes values('软件工程1班','软件工程',2)</a:t>
            </a:r>
            <a:endParaRPr lang="zh-CN" altLang="en-US">
              <a:latin typeface="Arial" panose="020B0604020202020204" pitchFamily="34" charset="0"/>
              <a:ea typeface="宋体" panose="02010600030101010101" pitchFamily="2" charset="-122"/>
            </a:endParaRPr>
          </a:p>
        </p:txBody>
      </p:sp>
      <p:sp>
        <p:nvSpPr>
          <p:cNvPr id="34822" name="文本框 5"/>
          <p:cNvSpPr txBox="1"/>
          <p:nvPr/>
        </p:nvSpPr>
        <p:spPr>
          <a:xfrm>
            <a:off x="628650" y="4202113"/>
            <a:ext cx="7594600" cy="1476375"/>
          </a:xfrm>
          <a:prstGeom prst="rect">
            <a:avLst/>
          </a:prstGeom>
          <a:noFill/>
          <a:ln w="9525">
            <a:noFill/>
          </a:ln>
        </p:spPr>
        <p:txBody>
          <a:bodyPr wrap="square" anchor="t" anchorCtr="0">
            <a:spAutoFit/>
          </a:bodyPr>
          <a:p>
            <a:r>
              <a:rPr lang="zh-CN" altLang="en-US">
                <a:latin typeface="Arial" panose="020B0604020202020204" pitchFamily="34" charset="0"/>
                <a:ea typeface="宋体" panose="02010600030101010101" pitchFamily="2" charset="-122"/>
              </a:rPr>
              <a:t>insert students values('王依依','女','1999-04-15',1,1)</a:t>
            </a:r>
            <a:endParaRPr lang="zh-CN" altLang="en-US">
              <a:latin typeface="Arial" panose="020B0604020202020204" pitchFamily="34" charset="0"/>
              <a:ea typeface="宋体" panose="02010600030101010101" pitchFamily="2" charset="-122"/>
            </a:endParaRPr>
          </a:p>
          <a:p>
            <a:r>
              <a:rPr lang="zh-CN" altLang="en-US">
                <a:latin typeface="Arial" panose="020B0604020202020204" pitchFamily="34" charset="0"/>
                <a:ea typeface="宋体" panose="02010600030101010101" pitchFamily="2" charset="-122"/>
              </a:rPr>
              <a:t>insert students values('张易初','男','1998-04-24',1,1)</a:t>
            </a:r>
            <a:endParaRPr lang="zh-CN" altLang="en-US">
              <a:latin typeface="Arial" panose="020B0604020202020204" pitchFamily="34" charset="0"/>
              <a:ea typeface="宋体" panose="02010600030101010101" pitchFamily="2" charset="-122"/>
            </a:endParaRPr>
          </a:p>
          <a:p>
            <a:r>
              <a:rPr lang="zh-CN" altLang="en-US">
                <a:latin typeface="Arial" panose="020B0604020202020204" pitchFamily="34" charset="0"/>
                <a:ea typeface="宋体" panose="02010600030101010101" pitchFamily="2" charset="-122"/>
              </a:rPr>
              <a:t>insert students values('赵思','女','1999-09-20',1,2)</a:t>
            </a:r>
            <a:endParaRPr lang="zh-CN" altLang="en-US">
              <a:latin typeface="Arial" panose="020B0604020202020204" pitchFamily="34" charset="0"/>
              <a:ea typeface="宋体" panose="02010600030101010101" pitchFamily="2" charset="-122"/>
            </a:endParaRPr>
          </a:p>
          <a:p>
            <a:r>
              <a:rPr lang="zh-CN" altLang="en-US">
                <a:latin typeface="Arial" panose="020B0604020202020204" pitchFamily="34" charset="0"/>
                <a:ea typeface="宋体" panose="02010600030101010101" pitchFamily="2" charset="-122"/>
              </a:rPr>
              <a:t>insert students values('汪至志','男','2000-07-24',2,2)</a:t>
            </a:r>
            <a:endParaRPr lang="zh-CN" altLang="en-US">
              <a:latin typeface="Arial" panose="020B0604020202020204" pitchFamily="34" charset="0"/>
              <a:ea typeface="宋体" panose="02010600030101010101" pitchFamily="2" charset="-122"/>
            </a:endParaRPr>
          </a:p>
          <a:p>
            <a:r>
              <a:rPr lang="zh-CN" altLang="en-US">
                <a:latin typeface="Arial" panose="020B0604020202020204" pitchFamily="34" charset="0"/>
                <a:ea typeface="宋体" panose="02010600030101010101" pitchFamily="2" charset="-122"/>
              </a:rPr>
              <a:t>insert students values('李玉山','男','2000-09-20',2,2)</a:t>
            </a:r>
            <a:endParaRPr lang="zh-CN" altLang="en-US">
              <a:latin typeface="Arial" panose="020B0604020202020204" pitchFamily="34" charset="0"/>
              <a:ea typeface="宋体" panose="02010600030101010101" pitchFamily="2" charset="-122"/>
            </a:endParaRPr>
          </a:p>
        </p:txBody>
      </p:sp>
      <p:sp>
        <p:nvSpPr>
          <p:cNvPr id="34823" name="文本框 6"/>
          <p:cNvSpPr txBox="1"/>
          <p:nvPr/>
        </p:nvSpPr>
        <p:spPr>
          <a:xfrm>
            <a:off x="612775" y="5565775"/>
            <a:ext cx="6959600" cy="922338"/>
          </a:xfrm>
          <a:prstGeom prst="rect">
            <a:avLst/>
          </a:prstGeom>
          <a:noFill/>
          <a:ln w="9525">
            <a:noFill/>
          </a:ln>
        </p:spPr>
        <p:txBody>
          <a:bodyPr wrap="square" anchor="t" anchorCtr="0">
            <a:spAutoFit/>
          </a:bodyPr>
          <a:p>
            <a:r>
              <a:rPr lang="zh-CN" altLang="en-US">
                <a:latin typeface="Arial" panose="020B0604020202020204" pitchFamily="34" charset="0"/>
                <a:ea typeface="宋体" panose="02010600030101010101" pitchFamily="2" charset="-122"/>
              </a:rPr>
              <a:t>insert parents values(1,'父亲','王大志','男','天津101')</a:t>
            </a:r>
            <a:endParaRPr lang="zh-CN" altLang="en-US">
              <a:latin typeface="Arial" panose="020B0604020202020204" pitchFamily="34" charset="0"/>
              <a:ea typeface="宋体" panose="02010600030101010101" pitchFamily="2" charset="-122"/>
            </a:endParaRPr>
          </a:p>
          <a:p>
            <a:r>
              <a:rPr lang="zh-CN" altLang="en-US">
                <a:latin typeface="Arial" panose="020B0604020202020204" pitchFamily="34" charset="0"/>
                <a:ea typeface="宋体" panose="02010600030101010101" pitchFamily="2" charset="-122"/>
              </a:rPr>
              <a:t>insert parents values(1,'母亲','张英','女','天津101')</a:t>
            </a:r>
            <a:endParaRPr lang="zh-CN" altLang="en-US">
              <a:latin typeface="Arial" panose="020B0604020202020204" pitchFamily="34" charset="0"/>
              <a:ea typeface="宋体" panose="02010600030101010101" pitchFamily="2" charset="-122"/>
            </a:endParaRPr>
          </a:p>
          <a:p>
            <a:r>
              <a:rPr lang="zh-CN" altLang="en-US">
                <a:latin typeface="Arial" panose="020B0604020202020204" pitchFamily="34" charset="0"/>
                <a:ea typeface="宋体" panose="02010600030101010101" pitchFamily="2" charset="-122"/>
              </a:rPr>
              <a:t>insert parents values(2,'母亲','李小平','女','南京101')</a:t>
            </a:r>
            <a:endParaRPr lang="zh-CN" altLang="en-US">
              <a:latin typeface="Arial" panose="020B0604020202020204" pitchFamily="34" charset="0"/>
              <a:ea typeface="宋体" panose="02010600030101010101" pitchFamily="2" charset="-122"/>
            </a:endParaRP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2"/>
          <p:cNvSpPr/>
          <p:nvPr/>
        </p:nvSpPr>
        <p:spPr>
          <a:xfrm>
            <a:off x="394335" y="706120"/>
            <a:ext cx="8375650" cy="755650"/>
          </a:xfrm>
          <a:prstGeom prst="rect">
            <a:avLst/>
          </a:prstGeom>
          <a:noFill/>
          <a:ln w="9525">
            <a:noFill/>
          </a:ln>
        </p:spPr>
        <p:txBody>
          <a:bodyPr anchor="t">
            <a:spAutoFit/>
          </a:bodyPr>
          <a:p>
            <a:pPr algn="l" fontAlgn="base">
              <a:lnSpc>
                <a:spcPct val="135000"/>
              </a:lnSpc>
              <a:buClrTx/>
              <a:buSzTx/>
              <a:buFont typeface="Wingdings" panose="05000000000000000000" charset="0"/>
              <a:buChar char="p"/>
            </a:pPr>
            <a:r>
              <a:rPr lang="zh-CN" altLang="en-US" sz="3200" strike="noStrike" noProof="1" dirty="0">
                <a:gradFill>
                  <a:gsLst>
                    <a:gs pos="0">
                      <a:srgbClr val="E30000"/>
                    </a:gs>
                    <a:gs pos="100000">
                      <a:srgbClr val="760303"/>
                    </a:gs>
                  </a:gsLst>
                  <a:lin scaled="0"/>
                </a:gradFill>
                <a:latin typeface="黑体" panose="02010609060101010101" pitchFamily="1" charset="-122"/>
                <a:ea typeface="黑体" panose="02010609060101010101" pitchFamily="1" charset="-122"/>
                <a:cs typeface="+mn-cs"/>
              </a:rPr>
              <a:t>知识点：</a:t>
            </a:r>
            <a:r>
              <a:rPr lang="zh-CN" altLang="en-US" sz="2800" strike="noStrike" noProof="1" dirty="0">
                <a:solidFill>
                  <a:srgbClr val="0033CC"/>
                </a:solidFill>
                <a:latin typeface="黑体" panose="02010609060101010101" pitchFamily="1" charset="-122"/>
                <a:ea typeface="黑体" panose="02010609060101010101" pitchFamily="1" charset="-122"/>
                <a:cs typeface="+mn-ea"/>
              </a:rPr>
              <a:t>视图的概念及特点</a:t>
            </a:r>
            <a:endParaRPr lang="zh-CN" altLang="en-US" sz="2800" strike="noStrike" noProof="1" dirty="0">
              <a:solidFill>
                <a:srgbClr val="0033CC"/>
              </a:solidFill>
              <a:latin typeface="黑体" panose="02010609060101010101" pitchFamily="1" charset="-122"/>
              <a:ea typeface="黑体" panose="02010609060101010101" pitchFamily="1" charset="-122"/>
              <a:cs typeface="+mn-ea"/>
            </a:endParaRPr>
          </a:p>
        </p:txBody>
      </p:sp>
      <p:sp>
        <p:nvSpPr>
          <p:cNvPr id="36866" name="Text Box 3"/>
          <p:cNvSpPr txBox="1"/>
          <p:nvPr/>
        </p:nvSpPr>
        <p:spPr>
          <a:xfrm>
            <a:off x="666750" y="1922463"/>
            <a:ext cx="7958138" cy="1483995"/>
          </a:xfrm>
          <a:prstGeom prst="rect">
            <a:avLst/>
          </a:prstGeom>
          <a:noFill/>
          <a:ln w="9525" cap="flat" cmpd="sng">
            <a:solidFill>
              <a:schemeClr val="accent1"/>
            </a:solidFill>
            <a:prstDash val="solid"/>
            <a:round/>
            <a:headEnd type="none" w="med" len="med"/>
            <a:tailEnd type="none" w="med" len="med"/>
          </a:ln>
        </p:spPr>
        <p:txBody>
          <a:bodyPr anchor="t" anchorCtr="0">
            <a:spAutoFit/>
          </a:bodyPr>
          <a:p>
            <a:pPr>
              <a:spcBef>
                <a:spcPts val="300"/>
              </a:spcBef>
              <a:buFont typeface="Wingdings" panose="05000000000000000000" charset="0"/>
              <a:buChar char="ü"/>
            </a:pPr>
            <a:r>
              <a:rPr lang="zh-CN" altLang="en-US" sz="2200" dirty="0">
                <a:latin typeface="楷体" panose="02010609060101010101" pitchFamily="1" charset="-122"/>
                <a:ea typeface="楷体" panose="02010609060101010101" pitchFamily="1" charset="-122"/>
              </a:rPr>
              <a:t>视图是一种数据库对象，它由多个字段列和数据行构成，这些列和行来自于一个或多个物理数据表。</a:t>
            </a:r>
            <a:endParaRPr lang="zh-CN" altLang="en-US" sz="2200" dirty="0">
              <a:latin typeface="楷体" panose="02010609060101010101" pitchFamily="1" charset="-122"/>
              <a:ea typeface="楷体" panose="02010609060101010101" pitchFamily="1" charset="-122"/>
            </a:endParaRPr>
          </a:p>
          <a:p>
            <a:pPr>
              <a:spcBef>
                <a:spcPts val="300"/>
              </a:spcBef>
              <a:buFont typeface="Wingdings" panose="05000000000000000000" charset="0"/>
              <a:buChar char="ü"/>
            </a:pPr>
            <a:r>
              <a:rPr lang="zh-CN" altLang="en-US" sz="2200" u="sng" dirty="0">
                <a:solidFill>
                  <a:srgbClr val="FF0000"/>
                </a:solidFill>
                <a:latin typeface="楷体" panose="02010609060101010101" pitchFamily="1" charset="-122"/>
                <a:ea typeface="楷体" panose="02010609060101010101" pitchFamily="1" charset="-122"/>
              </a:rPr>
              <a:t>视图是一个虚拟表</a:t>
            </a:r>
            <a:r>
              <a:rPr lang="zh-CN" altLang="en-US" sz="2200" dirty="0">
                <a:latin typeface="楷体" panose="02010609060101010101" pitchFamily="1" charset="-122"/>
                <a:ea typeface="楷体" panose="02010609060101010101" pitchFamily="1" charset="-122"/>
              </a:rPr>
              <a:t>，所对应的数据是存储在所引用的数据表中，被引用的表称为</a:t>
            </a:r>
            <a:r>
              <a:rPr lang="zh-CN" altLang="en-US" sz="2200" u="sng" dirty="0">
                <a:solidFill>
                  <a:srgbClr val="0033CC"/>
                </a:solidFill>
                <a:latin typeface="楷体" panose="02010609060101010101" pitchFamily="1" charset="-122"/>
                <a:ea typeface="楷体" panose="02010609060101010101" pitchFamily="1" charset="-122"/>
              </a:rPr>
              <a:t>基表</a:t>
            </a:r>
            <a:r>
              <a:rPr lang="zh-CN" altLang="en-US" sz="2200" dirty="0">
                <a:latin typeface="楷体" panose="02010609060101010101" pitchFamily="1" charset="-122"/>
                <a:ea typeface="楷体" panose="02010609060101010101" pitchFamily="1" charset="-122"/>
              </a:rPr>
              <a:t>。</a:t>
            </a:r>
            <a:endParaRPr lang="zh-CN" altLang="en-US" sz="2200" dirty="0">
              <a:latin typeface="楷体" panose="02010609060101010101" pitchFamily="1" charset="-122"/>
              <a:ea typeface="楷体" panose="02010609060101010101" pitchFamily="1" charset="-122"/>
            </a:endParaRPr>
          </a:p>
        </p:txBody>
      </p:sp>
      <p:sp>
        <p:nvSpPr>
          <p:cNvPr id="36867" name="文本框 4"/>
          <p:cNvSpPr txBox="1"/>
          <p:nvPr/>
        </p:nvSpPr>
        <p:spPr>
          <a:xfrm>
            <a:off x="604838" y="1430338"/>
            <a:ext cx="2597150" cy="588962"/>
          </a:xfrm>
          <a:prstGeom prst="rect">
            <a:avLst/>
          </a:prstGeom>
          <a:noFill/>
          <a:ln w="9525">
            <a:noFill/>
          </a:ln>
        </p:spPr>
        <p:txBody>
          <a:bodyPr wrap="none" anchor="t" anchorCtr="0">
            <a:spAutoFit/>
          </a:bodyPr>
          <a:p>
            <a:pPr>
              <a:buFont typeface="Wingdings" panose="05000000000000000000" charset="0"/>
              <a:buChar char="Ø"/>
            </a:pPr>
            <a:r>
              <a:rPr lang="zh-CN" altLang="en-US" sz="2400" dirty="0">
                <a:solidFill>
                  <a:srgbClr val="CC3300"/>
                </a:solidFill>
                <a:latin typeface="宋体" panose="02010600030101010101" pitchFamily="2" charset="-122"/>
                <a:ea typeface="宋体" panose="02010600030101010101" pitchFamily="2" charset="-122"/>
                <a:sym typeface="宋体" panose="02010600030101010101" pitchFamily="2" charset="-122"/>
              </a:rPr>
              <a:t>视图相关的概念</a:t>
            </a:r>
            <a:endParaRPr lang="zh-CN" altLang="en-US" sz="2400">
              <a:latin typeface="Arial" panose="020B0604020202020204" pitchFamily="34" charset="0"/>
              <a:ea typeface="宋体" panose="02010600030101010101" pitchFamily="2" charset="-122"/>
            </a:endParaRPr>
          </a:p>
        </p:txBody>
      </p:sp>
      <p:sp>
        <p:nvSpPr>
          <p:cNvPr id="7" name="Text Box 3"/>
          <p:cNvSpPr txBox="1"/>
          <p:nvPr/>
        </p:nvSpPr>
        <p:spPr>
          <a:xfrm>
            <a:off x="666750" y="3938588"/>
            <a:ext cx="7958138" cy="835025"/>
          </a:xfrm>
          <a:prstGeom prst="rect">
            <a:avLst/>
          </a:prstGeom>
          <a:noFill/>
          <a:ln w="9525" cap="flat" cmpd="sng">
            <a:solidFill>
              <a:schemeClr val="accent1"/>
            </a:solidFill>
            <a:prstDash val="solid"/>
            <a:round/>
            <a:headEnd type="none" w="med" len="med"/>
            <a:tailEnd type="none" w="med" len="med"/>
          </a:ln>
        </p:spPr>
        <p:txBody>
          <a:bodyPr anchor="t" anchorCtr="0">
            <a:spAutoFit/>
          </a:bodyPr>
          <a:p>
            <a:pPr>
              <a:lnSpc>
                <a:spcPct val="110000"/>
              </a:lnSpc>
              <a:spcBef>
                <a:spcPts val="300"/>
              </a:spcBef>
              <a:buFont typeface="Wingdings" panose="05000000000000000000" charset="0"/>
              <a:buChar char="ü"/>
            </a:pPr>
            <a:r>
              <a:rPr lang="zh-CN" altLang="en-US" sz="2200" dirty="0">
                <a:latin typeface="楷体" panose="02010609060101010101" pitchFamily="1" charset="-122"/>
                <a:ea typeface="楷体" panose="02010609060101010101" pitchFamily="1" charset="-122"/>
              </a:rPr>
              <a:t>视图是由基表（实表）产生的表（虚表），视图的列可以来自不同的表。</a:t>
            </a:r>
            <a:endParaRPr lang="zh-CN" altLang="en-US" sz="2200" dirty="0">
              <a:latin typeface="楷体" panose="02010609060101010101" pitchFamily="1" charset="-122"/>
              <a:ea typeface="楷体" panose="02010609060101010101" pitchFamily="1" charset="-122"/>
            </a:endParaRPr>
          </a:p>
        </p:txBody>
      </p:sp>
      <p:sp>
        <p:nvSpPr>
          <p:cNvPr id="8" name="文本框 7"/>
          <p:cNvSpPr txBox="1"/>
          <p:nvPr/>
        </p:nvSpPr>
        <p:spPr>
          <a:xfrm>
            <a:off x="605155" y="3501390"/>
            <a:ext cx="1955800" cy="342900"/>
          </a:xfrm>
          <a:prstGeom prst="rect">
            <a:avLst/>
          </a:prstGeom>
          <a:noFill/>
          <a:ln w="9525">
            <a:noFill/>
          </a:ln>
        </p:spPr>
        <p:txBody>
          <a:bodyPr wrap="none" anchor="t" anchorCtr="0">
            <a:noAutofit/>
          </a:bodyPr>
          <a:p>
            <a:pPr>
              <a:buFont typeface="Wingdings" panose="05000000000000000000" charset="0"/>
              <a:buChar char="Ø"/>
            </a:pPr>
            <a:r>
              <a:rPr lang="zh-CN" altLang="en-US" sz="2400" dirty="0">
                <a:solidFill>
                  <a:srgbClr val="CC3300"/>
                </a:solidFill>
                <a:latin typeface="宋体" panose="02010600030101010101" pitchFamily="2" charset="-122"/>
                <a:ea typeface="宋体" panose="02010600030101010101" pitchFamily="2" charset="-122"/>
                <a:sym typeface="宋体" panose="02010600030101010101" pitchFamily="2" charset="-122"/>
              </a:rPr>
              <a:t>视图的特点</a:t>
            </a:r>
            <a:endParaRPr lang="zh-CN" altLang="en-US" sz="2400" dirty="0">
              <a:solidFill>
                <a:srgbClr val="CC3300"/>
              </a:solidFill>
              <a:latin typeface="宋体" panose="02010600030101010101" pitchFamily="2" charset="-122"/>
              <a:ea typeface="宋体" panose="02010600030101010101" pitchFamily="2" charset="-122"/>
              <a:sym typeface="宋体" panose="02010600030101010101" pitchFamily="2" charset="-122"/>
            </a:endParaRPr>
          </a:p>
        </p:txBody>
      </p:sp>
      <p:sp>
        <p:nvSpPr>
          <p:cNvPr id="9" name="Text Box 3"/>
          <p:cNvSpPr txBox="1"/>
          <p:nvPr/>
        </p:nvSpPr>
        <p:spPr>
          <a:xfrm>
            <a:off x="666750" y="4805363"/>
            <a:ext cx="7958138" cy="462915"/>
          </a:xfrm>
          <a:prstGeom prst="rect">
            <a:avLst/>
          </a:prstGeom>
          <a:noFill/>
          <a:ln w="9525" cap="flat" cmpd="sng">
            <a:solidFill>
              <a:schemeClr val="accent1"/>
            </a:solidFill>
            <a:prstDash val="solid"/>
            <a:round/>
            <a:headEnd type="none" w="med" len="med"/>
            <a:tailEnd type="none" w="med" len="med"/>
          </a:ln>
        </p:spPr>
        <p:txBody>
          <a:bodyPr anchor="t" anchorCtr="0">
            <a:spAutoFit/>
          </a:bodyPr>
          <a:p>
            <a:pPr>
              <a:lnSpc>
                <a:spcPct val="110000"/>
              </a:lnSpc>
              <a:spcBef>
                <a:spcPts val="300"/>
              </a:spcBef>
              <a:buFont typeface="Wingdings" panose="05000000000000000000" charset="0"/>
              <a:buChar char="ü"/>
            </a:pPr>
            <a:r>
              <a:rPr lang="zh-CN" altLang="en-US" sz="2200" dirty="0">
                <a:latin typeface="楷体" panose="02010609060101010101" pitchFamily="1" charset="-122"/>
                <a:ea typeface="楷体" panose="02010609060101010101" pitchFamily="1" charset="-122"/>
              </a:rPr>
              <a:t>视图的建立和</a:t>
            </a:r>
            <a:r>
              <a:rPr lang="zh-CN" altLang="en-US" sz="2200" dirty="0">
                <a:latin typeface="楷体" panose="02010609060101010101" pitchFamily="1" charset="-122"/>
                <a:ea typeface="楷体" panose="02010609060101010101" pitchFamily="1" charset="-122"/>
              </a:rPr>
              <a:t>修改不影响基表。</a:t>
            </a:r>
            <a:endParaRPr lang="zh-CN" altLang="en-US" sz="2200" dirty="0">
              <a:latin typeface="楷体" panose="02010609060101010101" pitchFamily="1" charset="-122"/>
              <a:ea typeface="楷体" panose="02010609060101010101" pitchFamily="1" charset="-122"/>
            </a:endParaRPr>
          </a:p>
        </p:txBody>
      </p:sp>
      <p:sp>
        <p:nvSpPr>
          <p:cNvPr id="10" name="Text Box 3"/>
          <p:cNvSpPr txBox="1"/>
          <p:nvPr/>
        </p:nvSpPr>
        <p:spPr>
          <a:xfrm>
            <a:off x="666750" y="5305425"/>
            <a:ext cx="7958138" cy="806450"/>
          </a:xfrm>
          <a:prstGeom prst="rect">
            <a:avLst/>
          </a:prstGeom>
          <a:noFill/>
          <a:ln w="9525" cap="flat" cmpd="sng">
            <a:solidFill>
              <a:schemeClr val="accent1"/>
            </a:solidFill>
            <a:prstDash val="solid"/>
            <a:round/>
            <a:headEnd type="none" w="med" len="med"/>
            <a:tailEnd type="none" w="med" len="med"/>
          </a:ln>
        </p:spPr>
        <p:txBody>
          <a:bodyPr anchor="t" anchorCtr="0">
            <a:spAutoFit/>
          </a:bodyPr>
          <a:p>
            <a:pPr>
              <a:spcBef>
                <a:spcPts val="300"/>
              </a:spcBef>
              <a:buFont typeface="Wingdings" panose="05000000000000000000" charset="0"/>
              <a:buChar char="ü"/>
            </a:pPr>
            <a:r>
              <a:rPr lang="zh-CN" altLang="en-US" sz="2200" dirty="0">
                <a:latin typeface="楷体" panose="02010609060101010101" pitchFamily="1" charset="-122"/>
                <a:ea typeface="楷体" panose="02010609060101010101" pitchFamily="1" charset="-122"/>
              </a:rPr>
              <a:t>对视图内容的更新（添加、删除和修改）直接影响基表。</a:t>
            </a:r>
            <a:endParaRPr lang="zh-CN" altLang="en-US" sz="2200" dirty="0">
              <a:latin typeface="楷体" panose="02010609060101010101" pitchFamily="1" charset="-122"/>
              <a:ea typeface="楷体" panose="02010609060101010101" pitchFamily="1" charset="-122"/>
            </a:endParaRPr>
          </a:p>
          <a:p>
            <a:pPr>
              <a:spcBef>
                <a:spcPts val="300"/>
              </a:spcBef>
              <a:buFont typeface="Wingdings" panose="05000000000000000000" charset="0"/>
              <a:buChar char="ü"/>
            </a:pPr>
            <a:r>
              <a:rPr lang="zh-CN" altLang="en-US" sz="2200" dirty="0">
                <a:latin typeface="楷体" panose="02010609060101010101" pitchFamily="1" charset="-122"/>
                <a:ea typeface="楷体" panose="02010609060101010101" pitchFamily="1" charset="-122"/>
              </a:rPr>
              <a:t>当视图来自多个基表时，不允许添加和修改数据。</a:t>
            </a:r>
            <a:endParaRPr lang="zh-CN" altLang="en-US" sz="2200" dirty="0">
              <a:latin typeface="楷体" panose="02010609060101010101" pitchFamily="1" charset="-122"/>
              <a:ea typeface="楷体" panose="02010609060101010101" pitchFamily="1" charset="-122"/>
            </a:endParaRPr>
          </a:p>
        </p:txBody>
      </p:sp>
      <p:sp>
        <p:nvSpPr>
          <p:cNvPr id="36872"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ppt_x</p:attrName>
                                        </p:attrNameLst>
                                      </p:cBhvr>
                                      <p:tavLst>
                                        <p:tav tm="0">
                                          <p:val>
                                            <p:strVal val="#ppt_x"/>
                                          </p:val>
                                        </p:tav>
                                        <p:tav tm="100000">
                                          <p:val>
                                            <p:strVal val="#ppt_x"/>
                                          </p:val>
                                        </p:tav>
                                      </p:tavLst>
                                    </p:anim>
                                    <p:anim calcmode="lin" valueType="num">
                                      <p:cBhvr>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ppt_x</p:attrName>
                                        </p:attrNameLst>
                                      </p:cBhvr>
                                      <p:tavLst>
                                        <p:tav tm="0">
                                          <p:val>
                                            <p:strVal val="#ppt_x"/>
                                          </p:val>
                                        </p:tav>
                                        <p:tav tm="100000">
                                          <p:val>
                                            <p:strVal val="#ppt_x"/>
                                          </p:val>
                                        </p:tav>
                                      </p:tavLst>
                                    </p:anim>
                                    <p:anim calcmode="lin" valueType="num">
                                      <p:cBhvr>
                                        <p:cTn id="12" dur="500" fill="hold"/>
                                        <p:tgtEl>
                                          <p:spTgt spid="9"/>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p:cTn id="15" dur="500" fill="hold"/>
                                        <p:tgtEl>
                                          <p:spTgt spid="10"/>
                                        </p:tgtEl>
                                        <p:attrNameLst>
                                          <p:attrName>ppt_x</p:attrName>
                                        </p:attrNameLst>
                                      </p:cBhvr>
                                      <p:tavLst>
                                        <p:tav tm="0">
                                          <p:val>
                                            <p:strVal val="#ppt_x"/>
                                          </p:val>
                                        </p:tav>
                                        <p:tav tm="100000">
                                          <p:val>
                                            <p:strVal val="#ppt_x"/>
                                          </p:val>
                                        </p:tav>
                                      </p:tavLst>
                                    </p:anim>
                                    <p:anim calcmode="lin" valueType="num">
                                      <p:cBhvr>
                                        <p:cTn id="16" dur="500" fill="hold"/>
                                        <p:tgtEl>
                                          <p:spTgt spid="10"/>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p:cTn id="19" dur="500" fill="hold"/>
                                        <p:tgtEl>
                                          <p:spTgt spid="8"/>
                                        </p:tgtEl>
                                        <p:attrNameLst>
                                          <p:attrName>ppt_x</p:attrName>
                                        </p:attrNameLst>
                                      </p:cBhvr>
                                      <p:tavLst>
                                        <p:tav tm="0">
                                          <p:val>
                                            <p:strVal val="#ppt_x"/>
                                          </p:val>
                                        </p:tav>
                                        <p:tav tm="100000">
                                          <p:val>
                                            <p:strVal val="#ppt_x"/>
                                          </p:val>
                                        </p:tav>
                                      </p:tavLst>
                                    </p:anim>
                                    <p:anim calcmode="lin" valueType="num">
                                      <p:cBhvr>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9" grpId="0" bldLvl="0" animBg="1"/>
      <p:bldP spid="10" grpId="0" bldLvl="0" animBg="1"/>
      <p:bldP spid="8"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2"/>
          <p:cNvSpPr/>
          <p:nvPr/>
        </p:nvSpPr>
        <p:spPr>
          <a:xfrm>
            <a:off x="394335" y="706120"/>
            <a:ext cx="8375650" cy="755650"/>
          </a:xfrm>
          <a:prstGeom prst="rect">
            <a:avLst/>
          </a:prstGeom>
          <a:noFill/>
          <a:ln w="9525">
            <a:noFill/>
          </a:ln>
        </p:spPr>
        <p:txBody>
          <a:bodyPr anchor="t">
            <a:spAutoFit/>
          </a:bodyPr>
          <a:p>
            <a:pPr algn="l" fontAlgn="base">
              <a:lnSpc>
                <a:spcPct val="135000"/>
              </a:lnSpc>
              <a:buClrTx/>
              <a:buSzTx/>
              <a:buFont typeface="Wingdings" panose="05000000000000000000" charset="0"/>
              <a:buChar char="p"/>
            </a:pPr>
            <a:r>
              <a:rPr lang="zh-CN" altLang="en-US" sz="3200" strike="noStrike" noProof="1" dirty="0">
                <a:gradFill>
                  <a:gsLst>
                    <a:gs pos="0">
                      <a:srgbClr val="E30000"/>
                    </a:gs>
                    <a:gs pos="100000">
                      <a:srgbClr val="760303"/>
                    </a:gs>
                  </a:gsLst>
                  <a:lin scaled="0"/>
                </a:gradFill>
                <a:latin typeface="黑体" panose="02010609060101010101" pitchFamily="1" charset="-122"/>
                <a:ea typeface="黑体" panose="02010609060101010101" pitchFamily="1" charset="-122"/>
                <a:cs typeface="+mn-cs"/>
              </a:rPr>
              <a:t>知识点：</a:t>
            </a:r>
            <a:r>
              <a:rPr lang="zh-CN" altLang="en-US" sz="2800" strike="noStrike" noProof="1" dirty="0">
                <a:solidFill>
                  <a:srgbClr val="0033CC"/>
                </a:solidFill>
                <a:latin typeface="黑体" panose="02010609060101010101" pitchFamily="1" charset="-122"/>
                <a:ea typeface="黑体" panose="02010609060101010101" pitchFamily="1" charset="-122"/>
                <a:cs typeface="+mn-ea"/>
              </a:rPr>
              <a:t>视图的优点与注意事项</a:t>
            </a:r>
            <a:endParaRPr lang="zh-CN" altLang="en-US" sz="2800" strike="noStrike" noProof="1" dirty="0">
              <a:solidFill>
                <a:srgbClr val="0033CC"/>
              </a:solidFill>
              <a:latin typeface="黑体" panose="02010609060101010101" pitchFamily="1" charset="-122"/>
              <a:ea typeface="黑体" panose="02010609060101010101" pitchFamily="1" charset="-122"/>
              <a:cs typeface="+mn-ea"/>
            </a:endParaRPr>
          </a:p>
        </p:txBody>
      </p:sp>
      <p:sp>
        <p:nvSpPr>
          <p:cNvPr id="38914" name="Text Box 3"/>
          <p:cNvSpPr txBox="1"/>
          <p:nvPr/>
        </p:nvSpPr>
        <p:spPr>
          <a:xfrm>
            <a:off x="666750" y="1922780"/>
            <a:ext cx="8102600" cy="1560830"/>
          </a:xfrm>
          <a:prstGeom prst="rect">
            <a:avLst/>
          </a:prstGeom>
          <a:noFill/>
          <a:ln w="9525" cap="flat" cmpd="sng">
            <a:solidFill>
              <a:schemeClr val="accent1"/>
            </a:solidFill>
            <a:prstDash val="solid"/>
            <a:round/>
            <a:headEnd type="none" w="med" len="med"/>
            <a:tailEnd type="none" w="med" len="med"/>
          </a:ln>
        </p:spPr>
        <p:txBody>
          <a:bodyPr wrap="square" anchor="t" anchorCtr="0">
            <a:spAutoFit/>
          </a:bodyPr>
          <a:p>
            <a:pPr>
              <a:spcBef>
                <a:spcPts val="300"/>
              </a:spcBef>
              <a:buFont typeface="Wingdings" panose="05000000000000000000" charset="0"/>
              <a:buChar char="ü"/>
            </a:pPr>
            <a:r>
              <a:rPr lang="zh-CN" altLang="en-US" sz="2200" dirty="0">
                <a:latin typeface="楷体" panose="02010609060101010101" pitchFamily="1" charset="-122"/>
                <a:ea typeface="楷体" panose="02010609060101010101" pitchFamily="1" charset="-122"/>
              </a:rPr>
              <a:t>可对应外模式，保证数据的逻辑独立性。</a:t>
            </a:r>
            <a:endParaRPr lang="zh-CN" altLang="en-US" sz="2200" dirty="0">
              <a:latin typeface="楷体" panose="02010609060101010101" pitchFamily="1" charset="-122"/>
              <a:ea typeface="楷体" panose="02010609060101010101" pitchFamily="1" charset="-122"/>
            </a:endParaRPr>
          </a:p>
          <a:p>
            <a:pPr>
              <a:spcBef>
                <a:spcPts val="300"/>
              </a:spcBef>
              <a:buFont typeface="Wingdings" panose="05000000000000000000" charset="0"/>
              <a:buChar char="ü"/>
            </a:pPr>
            <a:r>
              <a:rPr lang="zh-CN" altLang="en-US" sz="2200" u="sng" dirty="0">
                <a:solidFill>
                  <a:srgbClr val="FF0000"/>
                </a:solidFill>
                <a:latin typeface="楷体" panose="02010609060101010101" pitchFamily="1" charset="-122"/>
                <a:ea typeface="楷体" panose="02010609060101010101" pitchFamily="1" charset="-122"/>
              </a:rPr>
              <a:t>提供一种数据安全访问机制</a:t>
            </a:r>
            <a:r>
              <a:rPr lang="zh-CN" altLang="en-US" sz="2200" dirty="0">
                <a:latin typeface="楷体" panose="02010609060101010101" pitchFamily="1" charset="-122"/>
                <a:ea typeface="楷体" panose="02010609060101010101" pitchFamily="1" charset="-122"/>
              </a:rPr>
              <a:t>。</a:t>
            </a:r>
            <a:endParaRPr lang="zh-CN" altLang="en-US" sz="2200" dirty="0">
              <a:latin typeface="楷体" panose="02010609060101010101" pitchFamily="1" charset="-122"/>
              <a:ea typeface="楷体" panose="02010609060101010101" pitchFamily="1" charset="-122"/>
            </a:endParaRPr>
          </a:p>
          <a:p>
            <a:pPr>
              <a:spcBef>
                <a:spcPts val="300"/>
              </a:spcBef>
              <a:buFont typeface="Wingdings" panose="05000000000000000000" charset="0"/>
              <a:buChar char="ü"/>
            </a:pPr>
            <a:r>
              <a:rPr lang="zh-CN" altLang="en-US" sz="2200" dirty="0">
                <a:latin typeface="楷体" panose="02010609060101010101" pitchFamily="1" charset="-122"/>
                <a:ea typeface="楷体" panose="02010609060101010101" pitchFamily="1" charset="-122"/>
              </a:rPr>
              <a:t>可自定义所需的数据，增加可读性。</a:t>
            </a:r>
            <a:endParaRPr lang="zh-CN" altLang="en-US" sz="2200" dirty="0">
              <a:latin typeface="楷体" panose="02010609060101010101" pitchFamily="1" charset="-122"/>
              <a:ea typeface="楷体" panose="02010609060101010101" pitchFamily="1" charset="-122"/>
            </a:endParaRPr>
          </a:p>
          <a:p>
            <a:pPr>
              <a:spcBef>
                <a:spcPts val="300"/>
              </a:spcBef>
              <a:buFont typeface="Wingdings" panose="05000000000000000000" charset="0"/>
              <a:buChar char="ü"/>
            </a:pPr>
            <a:r>
              <a:rPr lang="zh-CN" altLang="en-US" sz="2200" dirty="0">
                <a:latin typeface="楷体" panose="02010609060101010101" pitchFamily="1" charset="-122"/>
                <a:ea typeface="楷体" panose="02010609060101010101" pitchFamily="1" charset="-122"/>
              </a:rPr>
              <a:t>可通过多张表汇总数据。</a:t>
            </a:r>
            <a:endParaRPr lang="zh-CN" altLang="en-US" sz="2200" dirty="0">
              <a:latin typeface="楷体" panose="02010609060101010101" pitchFamily="1" charset="-122"/>
              <a:ea typeface="楷体" panose="02010609060101010101" pitchFamily="1" charset="-122"/>
            </a:endParaRPr>
          </a:p>
        </p:txBody>
      </p:sp>
      <p:sp>
        <p:nvSpPr>
          <p:cNvPr id="38915" name="文本框 4"/>
          <p:cNvSpPr txBox="1"/>
          <p:nvPr/>
        </p:nvSpPr>
        <p:spPr>
          <a:xfrm>
            <a:off x="605155" y="1430655"/>
            <a:ext cx="1955800" cy="454025"/>
          </a:xfrm>
          <a:prstGeom prst="rect">
            <a:avLst/>
          </a:prstGeom>
          <a:noFill/>
          <a:ln w="9525">
            <a:noFill/>
          </a:ln>
        </p:spPr>
        <p:txBody>
          <a:bodyPr wrap="none" anchor="t" anchorCtr="0">
            <a:noAutofit/>
          </a:bodyPr>
          <a:p>
            <a:pPr>
              <a:buFont typeface="Wingdings" panose="05000000000000000000" charset="0"/>
              <a:buChar char="Ø"/>
            </a:pPr>
            <a:r>
              <a:rPr lang="zh-CN" altLang="en-US" sz="2400" dirty="0">
                <a:solidFill>
                  <a:srgbClr val="FF0000"/>
                </a:solidFill>
                <a:latin typeface="宋体" panose="02010600030101010101" pitchFamily="2" charset="-122"/>
                <a:ea typeface="宋体" panose="02010600030101010101" pitchFamily="2" charset="-122"/>
                <a:sym typeface="宋体" panose="02010600030101010101" pitchFamily="2" charset="-122"/>
              </a:rPr>
              <a:t>视图的优点</a:t>
            </a:r>
            <a:endParaRPr lang="zh-CN" altLang="en-US" sz="2400" dirty="0">
              <a:solidFill>
                <a:srgbClr val="FF0000"/>
              </a:solidFill>
              <a:latin typeface="宋体" panose="02010600030101010101" pitchFamily="2" charset="-122"/>
              <a:ea typeface="宋体" panose="02010600030101010101" pitchFamily="2" charset="-122"/>
              <a:sym typeface="宋体" panose="02010600030101010101" pitchFamily="2" charset="-122"/>
            </a:endParaRPr>
          </a:p>
        </p:txBody>
      </p:sp>
      <p:sp>
        <p:nvSpPr>
          <p:cNvPr id="3" name="Text Box 3"/>
          <p:cNvSpPr txBox="1"/>
          <p:nvPr/>
        </p:nvSpPr>
        <p:spPr>
          <a:xfrm>
            <a:off x="666750" y="4110355"/>
            <a:ext cx="8102600" cy="1899285"/>
          </a:xfrm>
          <a:prstGeom prst="rect">
            <a:avLst/>
          </a:prstGeom>
          <a:noFill/>
          <a:ln w="9525" cap="flat" cmpd="sng">
            <a:solidFill>
              <a:schemeClr val="accent1"/>
            </a:solidFill>
            <a:prstDash val="solid"/>
            <a:round/>
            <a:headEnd type="none" w="med" len="med"/>
            <a:tailEnd type="none" w="med" len="med"/>
          </a:ln>
        </p:spPr>
        <p:txBody>
          <a:bodyPr wrap="square" anchor="t" anchorCtr="0">
            <a:spAutoFit/>
          </a:bodyPr>
          <a:p>
            <a:pPr>
              <a:spcBef>
                <a:spcPts val="300"/>
              </a:spcBef>
              <a:buFont typeface="Wingdings" panose="05000000000000000000" charset="0"/>
              <a:buChar char="ü"/>
            </a:pPr>
            <a:r>
              <a:rPr lang="zh-CN" altLang="en-US" sz="2200" dirty="0">
                <a:latin typeface="楷体" panose="02010609060101010101" pitchFamily="1" charset="-122"/>
                <a:ea typeface="楷体" panose="02010609060101010101" pitchFamily="1" charset="-122"/>
              </a:rPr>
              <a:t>只能在当前数据库中创建视图；</a:t>
            </a:r>
            <a:endParaRPr lang="zh-CN" altLang="en-US" sz="2200" dirty="0">
              <a:latin typeface="楷体" panose="02010609060101010101" pitchFamily="1" charset="-122"/>
              <a:ea typeface="楷体" panose="02010609060101010101" pitchFamily="1" charset="-122"/>
            </a:endParaRPr>
          </a:p>
          <a:p>
            <a:pPr>
              <a:spcBef>
                <a:spcPts val="300"/>
              </a:spcBef>
              <a:buFont typeface="Wingdings" panose="05000000000000000000" charset="0"/>
              <a:buChar char="ü"/>
            </a:pPr>
            <a:r>
              <a:rPr lang="zh-CN" altLang="en-US" sz="2200" dirty="0">
                <a:latin typeface="楷体" panose="02010609060101010101" pitchFamily="1" charset="-122"/>
                <a:ea typeface="楷体" panose="02010609060101010101" pitchFamily="1" charset="-122"/>
              </a:rPr>
              <a:t>不能将规则或</a:t>
            </a:r>
            <a:r>
              <a:rPr lang="en-US" altLang="zh-CN" sz="2200" dirty="0">
                <a:latin typeface="楷体" panose="02010609060101010101" pitchFamily="1" charset="-122"/>
                <a:ea typeface="楷体" panose="02010609060101010101" pitchFamily="1" charset="-122"/>
              </a:rPr>
              <a:t>default</a:t>
            </a:r>
            <a:r>
              <a:rPr lang="zh-CN" altLang="en-US" sz="2200" dirty="0">
                <a:latin typeface="楷体" panose="02010609060101010101" pitchFamily="1" charset="-122"/>
                <a:ea typeface="楷体" panose="02010609060101010101" pitchFamily="1" charset="-122"/>
              </a:rPr>
              <a:t>定义与视图相关联；</a:t>
            </a:r>
            <a:endParaRPr lang="zh-CN" altLang="en-US" sz="2200" dirty="0">
              <a:latin typeface="楷体" panose="02010609060101010101" pitchFamily="1" charset="-122"/>
              <a:ea typeface="楷体" panose="02010609060101010101" pitchFamily="1" charset="-122"/>
            </a:endParaRPr>
          </a:p>
          <a:p>
            <a:pPr>
              <a:spcBef>
                <a:spcPts val="300"/>
              </a:spcBef>
              <a:buFont typeface="Wingdings" panose="05000000000000000000" charset="0"/>
              <a:buChar char="ü"/>
            </a:pPr>
            <a:r>
              <a:rPr lang="zh-CN" altLang="en-US" sz="2200" dirty="0">
                <a:latin typeface="楷体" panose="02010609060101010101" pitchFamily="1" charset="-122"/>
                <a:ea typeface="楷体" panose="02010609060101010101" pitchFamily="1" charset="-122"/>
              </a:rPr>
              <a:t>在定义视图的</a:t>
            </a:r>
            <a:r>
              <a:rPr lang="en-US" altLang="zh-CN" sz="2200" dirty="0">
                <a:latin typeface="楷体" panose="02010609060101010101" pitchFamily="1" charset="-122"/>
                <a:ea typeface="楷体" panose="02010609060101010101" pitchFamily="1" charset="-122"/>
              </a:rPr>
              <a:t>Select</a:t>
            </a:r>
            <a:r>
              <a:rPr lang="zh-CN" altLang="en-US" sz="2200" dirty="0">
                <a:latin typeface="楷体" panose="02010609060101010101" pitchFamily="1" charset="-122"/>
                <a:ea typeface="楷体" panose="02010609060101010101" pitchFamily="1" charset="-122"/>
              </a:rPr>
              <a:t>语句中不可以包含</a:t>
            </a:r>
            <a:r>
              <a:rPr lang="en-US" altLang="zh-CN" sz="2200" dirty="0">
                <a:latin typeface="楷体" panose="02010609060101010101" pitchFamily="1" charset="-122"/>
                <a:ea typeface="楷体" panose="02010609060101010101" pitchFamily="1" charset="-122"/>
              </a:rPr>
              <a:t>Order by</a:t>
            </a:r>
            <a:r>
              <a:rPr lang="zh-CN" altLang="en-US" sz="2200" dirty="0">
                <a:latin typeface="楷体" panose="02010609060101010101" pitchFamily="1" charset="-122"/>
                <a:ea typeface="楷体" panose="02010609060101010101" pitchFamily="1" charset="-122"/>
              </a:rPr>
              <a:t>、</a:t>
            </a:r>
            <a:r>
              <a:rPr lang="en-US" altLang="zh-CN" sz="2200" dirty="0">
                <a:latin typeface="楷体" panose="02010609060101010101" pitchFamily="1" charset="-122"/>
                <a:ea typeface="楷体" panose="02010609060101010101" pitchFamily="1" charset="-122"/>
              </a:rPr>
              <a:t>Compute</a:t>
            </a:r>
            <a:r>
              <a:rPr lang="zh-CN" altLang="en-US" sz="2200" dirty="0">
                <a:latin typeface="楷体" panose="02010609060101010101" pitchFamily="1" charset="-122"/>
                <a:ea typeface="楷体" panose="02010609060101010101" pitchFamily="1" charset="-122"/>
              </a:rPr>
              <a:t>或</a:t>
            </a:r>
            <a:r>
              <a:rPr lang="en-US" altLang="zh-CN" sz="2200" dirty="0">
                <a:latin typeface="楷体" panose="02010609060101010101" pitchFamily="1" charset="-122"/>
                <a:ea typeface="楷体" panose="02010609060101010101" pitchFamily="1" charset="-122"/>
              </a:rPr>
              <a:t>Compute by</a:t>
            </a:r>
            <a:r>
              <a:rPr lang="zh-CN" altLang="en-US" sz="2200" dirty="0">
                <a:latin typeface="楷体" panose="02010609060101010101" pitchFamily="1" charset="-122"/>
                <a:ea typeface="楷体" panose="02010609060101010101" pitchFamily="1" charset="-122"/>
              </a:rPr>
              <a:t>子句或</a:t>
            </a:r>
            <a:r>
              <a:rPr lang="en-US" altLang="zh-CN" sz="2200" dirty="0">
                <a:latin typeface="楷体" panose="02010609060101010101" pitchFamily="1" charset="-122"/>
                <a:ea typeface="楷体" panose="02010609060101010101" pitchFamily="1" charset="-122"/>
              </a:rPr>
              <a:t>into</a:t>
            </a:r>
            <a:r>
              <a:rPr lang="zh-CN" altLang="en-US" sz="2200" dirty="0">
                <a:latin typeface="楷体" panose="02010609060101010101" pitchFamily="1" charset="-122"/>
                <a:ea typeface="楷体" panose="02010609060101010101" pitchFamily="1" charset="-122"/>
              </a:rPr>
              <a:t>关键字。</a:t>
            </a:r>
            <a:endParaRPr lang="zh-CN" altLang="en-US" sz="2200" dirty="0">
              <a:latin typeface="楷体" panose="02010609060101010101" pitchFamily="1" charset="-122"/>
              <a:ea typeface="楷体" panose="02010609060101010101" pitchFamily="1" charset="-122"/>
            </a:endParaRPr>
          </a:p>
          <a:p>
            <a:pPr>
              <a:spcBef>
                <a:spcPts val="300"/>
              </a:spcBef>
              <a:buFont typeface="Wingdings" panose="05000000000000000000" charset="0"/>
              <a:buChar char="ü"/>
            </a:pPr>
            <a:r>
              <a:rPr lang="zh-CN" altLang="en-US" sz="2200" dirty="0">
                <a:latin typeface="楷体" panose="02010609060101010101" pitchFamily="1" charset="-122"/>
                <a:ea typeface="楷体" panose="02010609060101010101" pitchFamily="1" charset="-122"/>
              </a:rPr>
              <a:t>在某些情况下视图创建者必须为视图中的列重新命名。</a:t>
            </a:r>
            <a:endParaRPr lang="zh-CN" altLang="en-US" sz="2200" dirty="0">
              <a:latin typeface="楷体" panose="02010609060101010101" pitchFamily="1" charset="-122"/>
              <a:ea typeface="楷体" panose="02010609060101010101" pitchFamily="1" charset="-122"/>
            </a:endParaRPr>
          </a:p>
        </p:txBody>
      </p:sp>
      <p:sp>
        <p:nvSpPr>
          <p:cNvPr id="6" name="文本框 5"/>
          <p:cNvSpPr txBox="1"/>
          <p:nvPr/>
        </p:nvSpPr>
        <p:spPr>
          <a:xfrm>
            <a:off x="605155" y="3651885"/>
            <a:ext cx="3179445" cy="458470"/>
          </a:xfrm>
          <a:prstGeom prst="rect">
            <a:avLst/>
          </a:prstGeom>
          <a:noFill/>
          <a:ln w="9525">
            <a:noFill/>
          </a:ln>
        </p:spPr>
        <p:txBody>
          <a:bodyPr wrap="none" anchor="t" anchorCtr="0">
            <a:noAutofit/>
          </a:bodyPr>
          <a:p>
            <a:pPr>
              <a:buFont typeface="Wingdings" panose="05000000000000000000" charset="0"/>
              <a:buChar char="Ø"/>
            </a:pPr>
            <a:r>
              <a:rPr lang="zh-CN" altLang="en-US" sz="2400" dirty="0">
                <a:solidFill>
                  <a:srgbClr val="FF0000"/>
                </a:solidFill>
                <a:latin typeface="宋体" panose="02010600030101010101" pitchFamily="2" charset="-122"/>
                <a:ea typeface="宋体" panose="02010600030101010101" pitchFamily="2" charset="-122"/>
                <a:sym typeface="宋体" panose="02010600030101010101" pitchFamily="2" charset="-122"/>
              </a:rPr>
              <a:t>创建视图的注意事项</a:t>
            </a:r>
            <a:endParaRPr lang="zh-CN" altLang="en-US" sz="2400" dirty="0">
              <a:solidFill>
                <a:srgbClr val="FF0000"/>
              </a:solidFill>
              <a:latin typeface="宋体" panose="02010600030101010101" pitchFamily="2" charset="-122"/>
              <a:ea typeface="宋体" panose="02010600030101010101" pitchFamily="2" charset="-122"/>
              <a:sym typeface="宋体" panose="02010600030101010101" pitchFamily="2" charset="-122"/>
            </a:endParaRPr>
          </a:p>
        </p:txBody>
      </p:sp>
      <p:sp>
        <p:nvSpPr>
          <p:cNvPr id="38918"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ppt_x</p:attrName>
                                        </p:attrNameLst>
                                      </p:cBhvr>
                                      <p:tavLst>
                                        <p:tav tm="0">
                                          <p:val>
                                            <p:strVal val="#ppt_x"/>
                                          </p:val>
                                        </p:tav>
                                        <p:tav tm="100000">
                                          <p:val>
                                            <p:strVal val="#ppt_x"/>
                                          </p:val>
                                        </p:tav>
                                      </p:tavLst>
                                    </p:anim>
                                    <p:anim calcmode="lin" valueType="num">
                                      <p:cBhvr>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ppt_x</p:attrName>
                                        </p:attrNameLst>
                                      </p:cBhvr>
                                      <p:tavLst>
                                        <p:tav tm="0">
                                          <p:val>
                                            <p:strVal val="#ppt_x"/>
                                          </p:val>
                                        </p:tav>
                                        <p:tav tm="100000">
                                          <p:val>
                                            <p:strVal val="#ppt_x"/>
                                          </p:val>
                                        </p:tav>
                                      </p:tavLst>
                                    </p:anim>
                                    <p:anim calcmode="lin" valueType="num">
                                      <p:cBhvr>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31" name="Rectangle 10"/>
          <p:cNvSpPr txBox="1"/>
          <p:nvPr/>
        </p:nvSpPr>
        <p:spPr>
          <a:xfrm>
            <a:off x="493713" y="1911350"/>
            <a:ext cx="8385175" cy="1416050"/>
          </a:xfrm>
          <a:prstGeom prst="rect">
            <a:avLst/>
          </a:prstGeom>
          <a:noFill/>
          <a:ln w="9525">
            <a:noFill/>
          </a:ln>
        </p:spPr>
        <p:txBody>
          <a:bodyPr anchor="t" anchorCtr="0"/>
          <a:p>
            <a:pPr>
              <a:buClr>
                <a:srgbClr val="0033CC"/>
              </a:buClr>
              <a:buSzPct val="80000"/>
            </a:pPr>
            <a:r>
              <a:rPr lang="zh-CN" altLang="en-US" sz="3200" dirty="0">
                <a:latin typeface="华文楷体" panose="02010600040101010101" pitchFamily="2" charset="-122"/>
                <a:ea typeface="宋体" panose="02010600030101010101" pitchFamily="2" charset="-122"/>
              </a:rPr>
              <a:t> </a:t>
            </a:r>
            <a:r>
              <a:rPr lang="en-US" altLang="zh-CN" sz="2400" dirty="0">
                <a:latin typeface="华文楷体" panose="02010600040101010101" pitchFamily="2" charset="-122"/>
                <a:ea typeface="宋体" panose="02010600030101010101" pitchFamily="2" charset="-122"/>
              </a:rPr>
              <a:t>CREATE/ALTER  VIEW [ [</a:t>
            </a:r>
            <a:r>
              <a:rPr lang="zh-CN" altLang="en-US" sz="2400" dirty="0">
                <a:latin typeface="华文楷体" panose="02010600040101010101" pitchFamily="2" charset="-122"/>
                <a:ea typeface="宋体" panose="02010600030101010101" pitchFamily="2" charset="-122"/>
              </a:rPr>
              <a:t>拥有者</a:t>
            </a:r>
            <a:r>
              <a:rPr lang="en-US" altLang="zh-CN" sz="2400" dirty="0">
                <a:latin typeface="华文楷体" panose="02010600040101010101" pitchFamily="2" charset="-122"/>
                <a:ea typeface="宋体" panose="02010600030101010101" pitchFamily="2" charset="-122"/>
              </a:rPr>
              <a:t>.]</a:t>
            </a:r>
            <a:r>
              <a:rPr lang="zh-CN" altLang="en-US" sz="2400" dirty="0">
                <a:latin typeface="华文楷体" panose="02010600040101010101" pitchFamily="2" charset="-122"/>
                <a:ea typeface="宋体" panose="02010600030101010101" pitchFamily="2" charset="-122"/>
              </a:rPr>
              <a:t>视图名 </a:t>
            </a:r>
            <a:r>
              <a:rPr lang="en-US" altLang="zh-CN" sz="2400" dirty="0">
                <a:latin typeface="华文楷体" panose="02010600040101010101" pitchFamily="2" charset="-122"/>
                <a:ea typeface="宋体" panose="02010600030101010101" pitchFamily="2" charset="-122"/>
              </a:rPr>
              <a:t>[ (</a:t>
            </a:r>
            <a:r>
              <a:rPr lang="zh-CN" altLang="en-US" sz="2400" dirty="0">
                <a:latin typeface="华文楷体" panose="02010600040101010101" pitchFamily="2" charset="-122"/>
                <a:ea typeface="宋体" panose="02010600030101010101" pitchFamily="2" charset="-122"/>
              </a:rPr>
              <a:t>视图属性名表</a:t>
            </a:r>
            <a:r>
              <a:rPr lang="en-US" altLang="zh-CN" sz="2400" dirty="0">
                <a:latin typeface="华文楷体" panose="02010600040101010101" pitchFamily="2" charset="-122"/>
                <a:ea typeface="宋体" panose="02010600030101010101" pitchFamily="2" charset="-122"/>
              </a:rPr>
              <a:t>) ]</a:t>
            </a:r>
            <a:endParaRPr lang="en-US" altLang="zh-CN" sz="2400" dirty="0">
              <a:latin typeface="华文楷体" panose="02010600040101010101" pitchFamily="2" charset="-122"/>
              <a:ea typeface="宋体" panose="02010600030101010101" pitchFamily="2" charset="-122"/>
            </a:endParaRPr>
          </a:p>
          <a:p>
            <a:pPr>
              <a:buClr>
                <a:srgbClr val="0033CC"/>
              </a:buClr>
              <a:buSzPct val="80000"/>
            </a:pPr>
            <a:r>
              <a:rPr lang="en-US" altLang="zh-CN" sz="2400" dirty="0">
                <a:latin typeface="华文楷体" panose="02010600040101010101" pitchFamily="2" charset="-122"/>
                <a:ea typeface="宋体" panose="02010600030101010101" pitchFamily="2" charset="-122"/>
              </a:rPr>
              <a:t>  AS   </a:t>
            </a:r>
            <a:r>
              <a:rPr lang="en-US" altLang="zh-CN" sz="2400" dirty="0">
                <a:solidFill>
                  <a:srgbClr val="A50021"/>
                </a:solidFill>
                <a:latin typeface="华文楷体" panose="02010600040101010101" pitchFamily="2" charset="-122"/>
                <a:ea typeface="宋体" panose="02010600030101010101" pitchFamily="2" charset="-122"/>
              </a:rPr>
              <a:t>SQL </a:t>
            </a:r>
            <a:r>
              <a:rPr lang="zh-CN" altLang="en-US" sz="2400" dirty="0">
                <a:solidFill>
                  <a:srgbClr val="A50021"/>
                </a:solidFill>
                <a:latin typeface="华文楷体" panose="02010600040101010101" pitchFamily="2" charset="-122"/>
                <a:ea typeface="宋体" panose="02010600030101010101" pitchFamily="2" charset="-122"/>
              </a:rPr>
              <a:t>查询语句</a:t>
            </a:r>
            <a:endParaRPr lang="zh-CN" altLang="en-US" sz="2400" dirty="0">
              <a:solidFill>
                <a:srgbClr val="A50021"/>
              </a:solidFill>
              <a:latin typeface="华文楷体" panose="02010600040101010101" pitchFamily="2" charset="-122"/>
              <a:ea typeface="宋体" panose="02010600030101010101" pitchFamily="2" charset="-122"/>
            </a:endParaRPr>
          </a:p>
          <a:p>
            <a:pPr>
              <a:buClr>
                <a:srgbClr val="0033CC"/>
              </a:buClr>
              <a:buSzPct val="80000"/>
            </a:pPr>
            <a:r>
              <a:rPr lang="zh-CN" altLang="en-US" sz="2400" dirty="0">
                <a:latin typeface="华文楷体" panose="02010600040101010101" pitchFamily="2" charset="-122"/>
                <a:ea typeface="宋体" panose="02010600030101010101" pitchFamily="2" charset="-122"/>
              </a:rPr>
              <a:t>  </a:t>
            </a:r>
            <a:r>
              <a:rPr lang="en-US" altLang="zh-CN" sz="2400" dirty="0">
                <a:latin typeface="华文楷体" panose="02010600040101010101" pitchFamily="2" charset="-122"/>
                <a:ea typeface="宋体" panose="02010600030101010101" pitchFamily="2" charset="-122"/>
              </a:rPr>
              <a:t>[ WITH CHECK OPTION ] </a:t>
            </a:r>
            <a:endParaRPr lang="en-US" altLang="zh-CN" sz="2400" dirty="0">
              <a:latin typeface="华文楷体" panose="02010600040101010101" pitchFamily="2" charset="-122"/>
              <a:ea typeface="宋体" panose="02010600030101010101" pitchFamily="2" charset="-122"/>
            </a:endParaRPr>
          </a:p>
        </p:txBody>
      </p:sp>
      <p:sp>
        <p:nvSpPr>
          <p:cNvPr id="4" name="矩形 2"/>
          <p:cNvSpPr/>
          <p:nvPr/>
        </p:nvSpPr>
        <p:spPr>
          <a:xfrm>
            <a:off x="394335" y="706120"/>
            <a:ext cx="8375650" cy="755650"/>
          </a:xfrm>
          <a:prstGeom prst="rect">
            <a:avLst/>
          </a:prstGeom>
          <a:noFill/>
          <a:ln w="9525">
            <a:noFill/>
          </a:ln>
        </p:spPr>
        <p:txBody>
          <a:bodyPr anchor="t">
            <a:spAutoFit/>
          </a:bodyPr>
          <a:p>
            <a:pPr algn="l" fontAlgn="base">
              <a:lnSpc>
                <a:spcPct val="135000"/>
              </a:lnSpc>
              <a:buClrTx/>
              <a:buSzTx/>
              <a:buFont typeface="Wingdings" panose="05000000000000000000" charset="0"/>
              <a:buChar char="p"/>
            </a:pPr>
            <a:r>
              <a:rPr lang="zh-CN" altLang="en-US" sz="3200" strike="noStrike" noProof="1" dirty="0">
                <a:gradFill>
                  <a:gsLst>
                    <a:gs pos="0">
                      <a:srgbClr val="E30000"/>
                    </a:gs>
                    <a:gs pos="100000">
                      <a:srgbClr val="760303"/>
                    </a:gs>
                  </a:gsLst>
                  <a:lin scaled="0"/>
                </a:gradFill>
                <a:latin typeface="黑体" panose="02010609060101010101" pitchFamily="1" charset="-122"/>
                <a:ea typeface="黑体" panose="02010609060101010101" pitchFamily="1" charset="-122"/>
                <a:cs typeface="+mn-cs"/>
              </a:rPr>
              <a:t>知识点：</a:t>
            </a:r>
            <a:r>
              <a:rPr lang="zh-CN" altLang="en-US" sz="2800" strike="noStrike" noProof="1" dirty="0">
                <a:solidFill>
                  <a:srgbClr val="0033CC"/>
                </a:solidFill>
                <a:latin typeface="黑体" panose="02010609060101010101" pitchFamily="1" charset="-122"/>
                <a:ea typeface="黑体" panose="02010609060101010101" pitchFamily="1" charset="-122"/>
                <a:cs typeface="+mn-ea"/>
              </a:rPr>
              <a:t>创建与修改视图</a:t>
            </a:r>
            <a:endParaRPr lang="zh-CN" altLang="en-US" sz="2800" strike="noStrike" noProof="1" dirty="0">
              <a:solidFill>
                <a:srgbClr val="0033CC"/>
              </a:solidFill>
              <a:latin typeface="黑体" panose="02010609060101010101" pitchFamily="1" charset="-122"/>
              <a:ea typeface="黑体" panose="02010609060101010101" pitchFamily="1" charset="-122"/>
              <a:cs typeface="+mn-ea"/>
            </a:endParaRPr>
          </a:p>
        </p:txBody>
      </p:sp>
      <p:sp>
        <p:nvSpPr>
          <p:cNvPr id="30724" name="Rectangle 3"/>
          <p:cNvSpPr/>
          <p:nvPr/>
        </p:nvSpPr>
        <p:spPr>
          <a:xfrm>
            <a:off x="6356350" y="2049463"/>
            <a:ext cx="2232025" cy="431800"/>
          </a:xfrm>
          <a:prstGeom prst="rect">
            <a:avLst/>
          </a:prstGeom>
          <a:solidFill>
            <a:srgbClr val="FF6600">
              <a:alpha val="50000"/>
            </a:srgbClr>
          </a:solidFill>
          <a:ln w="9525">
            <a:noFill/>
          </a:ln>
        </p:spPr>
        <p:txBody>
          <a:bodyPr wrap="none" anchor="ctr" anchorCtr="0"/>
          <a:p>
            <a:pPr>
              <a:lnSpc>
                <a:spcPct val="135000"/>
              </a:lnSpc>
              <a:buFont typeface="Arial" panose="020B0604020202020204" pitchFamily="34" charset="0"/>
              <a:buChar char="•"/>
            </a:pPr>
            <a:endParaRPr lang="zh-CN" altLang="en-US" dirty="0">
              <a:latin typeface="Arial" panose="020B0604020202020204" pitchFamily="34" charset="0"/>
              <a:ea typeface="宋体" panose="02010600030101010101" pitchFamily="2" charset="-122"/>
            </a:endParaRPr>
          </a:p>
        </p:txBody>
      </p:sp>
      <p:sp>
        <p:nvSpPr>
          <p:cNvPr id="2" name="Rectangle 3"/>
          <p:cNvSpPr/>
          <p:nvPr/>
        </p:nvSpPr>
        <p:spPr>
          <a:xfrm>
            <a:off x="1249363" y="2403475"/>
            <a:ext cx="2232025" cy="431800"/>
          </a:xfrm>
          <a:prstGeom prst="rect">
            <a:avLst/>
          </a:prstGeom>
          <a:solidFill>
            <a:srgbClr val="FF6600">
              <a:alpha val="50000"/>
            </a:srgbClr>
          </a:solidFill>
          <a:ln w="9525">
            <a:noFill/>
          </a:ln>
        </p:spPr>
        <p:txBody>
          <a:bodyPr wrap="none" anchor="ctr" anchorCtr="0"/>
          <a:p>
            <a:pPr>
              <a:lnSpc>
                <a:spcPct val="135000"/>
              </a:lnSpc>
              <a:buFont typeface="Arial" panose="020B0604020202020204" pitchFamily="34" charset="0"/>
              <a:buChar char="•"/>
            </a:pPr>
            <a:endParaRPr lang="zh-CN" altLang="en-US" dirty="0">
              <a:latin typeface="Arial" panose="020B0604020202020204" pitchFamily="34" charset="0"/>
              <a:ea typeface="宋体" panose="02010600030101010101" pitchFamily="2" charset="-122"/>
            </a:endParaRPr>
          </a:p>
        </p:txBody>
      </p:sp>
      <p:sp>
        <p:nvSpPr>
          <p:cNvPr id="5" name="椭圆形标注 4"/>
          <p:cNvSpPr/>
          <p:nvPr/>
        </p:nvSpPr>
        <p:spPr>
          <a:xfrm>
            <a:off x="4710113" y="2654300"/>
            <a:ext cx="4170363" cy="982663"/>
          </a:xfrm>
          <a:prstGeom prst="wedgeEllipseCallout">
            <a:avLst>
              <a:gd name="adj1" fmla="val -61718"/>
              <a:gd name="adj2" fmla="val -18863"/>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p>
            <a:pPr algn="ctr" fontAlgn="base">
              <a:lnSpc>
                <a:spcPct val="100000"/>
              </a:lnSpc>
              <a:buNone/>
            </a:pPr>
            <a:r>
              <a:rPr lang="zh-CN" altLang="en-US" strike="noStrike" noProof="1">
                <a:solidFill>
                  <a:schemeClr val="tx1"/>
                </a:solidFill>
              </a:rPr>
              <a:t>用于强制视图上执行的所有数据修改语句都必须符合</a:t>
            </a:r>
            <a:r>
              <a:rPr lang="en-US" altLang="zh-CN" strike="noStrike" noProof="1">
                <a:solidFill>
                  <a:schemeClr val="tx1"/>
                </a:solidFill>
              </a:rPr>
              <a:t>SQL</a:t>
            </a:r>
            <a:r>
              <a:rPr lang="zh-CN" altLang="en-US" strike="noStrike" noProof="1">
                <a:solidFill>
                  <a:schemeClr val="tx1"/>
                </a:solidFill>
              </a:rPr>
              <a:t>查询语句</a:t>
            </a:r>
            <a:r>
              <a:rPr lang="en-US" altLang="zh-CN" strike="noStrike" noProof="1">
                <a:solidFill>
                  <a:schemeClr val="tx1"/>
                </a:solidFill>
              </a:rPr>
              <a:t>WHERE</a:t>
            </a:r>
            <a:r>
              <a:rPr lang="zh-CN" altLang="en-US" strike="noStrike" noProof="1">
                <a:solidFill>
                  <a:schemeClr val="tx1"/>
                </a:solidFill>
              </a:rPr>
              <a:t>的条件</a:t>
            </a:r>
            <a:endParaRPr lang="zh-CN" altLang="en-US" strike="noStrike" noProof="1">
              <a:solidFill>
                <a:schemeClr val="tx1"/>
              </a:solidFill>
            </a:endParaRPr>
          </a:p>
        </p:txBody>
      </p:sp>
      <p:sp>
        <p:nvSpPr>
          <p:cNvPr id="39942" name="文本框 5"/>
          <p:cNvSpPr txBox="1"/>
          <p:nvPr/>
        </p:nvSpPr>
        <p:spPr>
          <a:xfrm>
            <a:off x="604838" y="1384300"/>
            <a:ext cx="3486150" cy="588963"/>
          </a:xfrm>
          <a:prstGeom prst="rect">
            <a:avLst/>
          </a:prstGeom>
          <a:noFill/>
          <a:ln w="9525">
            <a:noFill/>
          </a:ln>
        </p:spPr>
        <p:txBody>
          <a:bodyPr wrap="none" anchor="t" anchorCtr="0">
            <a:spAutoFit/>
          </a:bodyPr>
          <a:p>
            <a:pPr>
              <a:buFont typeface="Wingdings" panose="05000000000000000000" charset="0"/>
              <a:buChar char="Ø"/>
            </a:pPr>
            <a:r>
              <a:rPr lang="zh-CN" altLang="en-US" sz="2400" dirty="0">
                <a:solidFill>
                  <a:srgbClr val="CC3300"/>
                </a:solidFill>
                <a:latin typeface="宋体" panose="02010600030101010101" pitchFamily="2" charset="-122"/>
                <a:ea typeface="宋体" panose="02010600030101010101" pitchFamily="2" charset="-122"/>
                <a:sym typeface="宋体" panose="02010600030101010101" pitchFamily="2" charset="-122"/>
              </a:rPr>
              <a:t>定义和修改视图的语法</a:t>
            </a:r>
            <a:endParaRPr lang="zh-CN" altLang="en-US" sz="2400" dirty="0">
              <a:solidFill>
                <a:srgbClr val="CC3300"/>
              </a:solidFill>
              <a:latin typeface="宋体" panose="02010600030101010101" pitchFamily="2" charset="-122"/>
              <a:ea typeface="宋体" panose="02010600030101010101" pitchFamily="2" charset="-122"/>
              <a:sym typeface="宋体" panose="02010600030101010101" pitchFamily="2" charset="-122"/>
            </a:endParaRPr>
          </a:p>
        </p:txBody>
      </p:sp>
      <p:sp>
        <p:nvSpPr>
          <p:cNvPr id="8" name="文本框 7"/>
          <p:cNvSpPr txBox="1"/>
          <p:nvPr/>
        </p:nvSpPr>
        <p:spPr>
          <a:xfrm>
            <a:off x="623888" y="3783013"/>
            <a:ext cx="4710112" cy="588962"/>
          </a:xfrm>
          <a:prstGeom prst="rect">
            <a:avLst/>
          </a:prstGeom>
          <a:noFill/>
          <a:ln w="9525">
            <a:noFill/>
          </a:ln>
        </p:spPr>
        <p:txBody>
          <a:bodyPr wrap="none" anchor="t" anchorCtr="0">
            <a:spAutoFit/>
          </a:bodyPr>
          <a:p>
            <a:pPr>
              <a:buFont typeface="Wingdings" panose="05000000000000000000" charset="0"/>
              <a:buChar char="Ø"/>
            </a:pPr>
            <a:r>
              <a:rPr lang="zh-CN" altLang="en-US" sz="2400" dirty="0">
                <a:solidFill>
                  <a:srgbClr val="CC3300"/>
                </a:solidFill>
                <a:latin typeface="宋体" panose="02010600030101010101" pitchFamily="2" charset="-122"/>
                <a:ea typeface="宋体" panose="02010600030101010101" pitchFamily="2" charset="-122"/>
                <a:sym typeface="宋体" panose="02010600030101010101" pitchFamily="2" charset="-122"/>
              </a:rPr>
              <a:t>利用系统存储过程查看视图信息</a:t>
            </a:r>
            <a:endParaRPr lang="zh-CN" altLang="en-US" sz="2400" dirty="0">
              <a:solidFill>
                <a:srgbClr val="CC3300"/>
              </a:solidFill>
              <a:latin typeface="宋体" panose="02010600030101010101" pitchFamily="2" charset="-122"/>
              <a:ea typeface="宋体" panose="02010600030101010101" pitchFamily="2" charset="-122"/>
              <a:sym typeface="宋体" panose="02010600030101010101" pitchFamily="2" charset="-122"/>
            </a:endParaRPr>
          </a:p>
        </p:txBody>
      </p:sp>
      <p:sp>
        <p:nvSpPr>
          <p:cNvPr id="9" name="Text Box 3"/>
          <p:cNvSpPr txBox="1"/>
          <p:nvPr/>
        </p:nvSpPr>
        <p:spPr>
          <a:xfrm>
            <a:off x="666750" y="4364038"/>
            <a:ext cx="7958138" cy="1284287"/>
          </a:xfrm>
          <a:prstGeom prst="rect">
            <a:avLst/>
          </a:prstGeom>
          <a:noFill/>
          <a:ln w="9525" cap="flat" cmpd="sng">
            <a:solidFill>
              <a:schemeClr val="accent1"/>
            </a:solidFill>
            <a:prstDash val="solid"/>
            <a:round/>
            <a:headEnd type="none" w="med" len="med"/>
            <a:tailEnd type="none" w="med" len="med"/>
          </a:ln>
        </p:spPr>
        <p:txBody>
          <a:bodyPr wrap="square" anchor="t" anchorCtr="0">
            <a:spAutoFit/>
          </a:bodyPr>
          <a:p>
            <a:pPr>
              <a:lnSpc>
                <a:spcPct val="110000"/>
              </a:lnSpc>
              <a:spcBef>
                <a:spcPts val="300"/>
              </a:spcBef>
              <a:buFont typeface="Wingdings" panose="05000000000000000000" charset="0"/>
              <a:buChar char="ü"/>
            </a:pPr>
            <a:r>
              <a:rPr lang="en-US" altLang="zh-CN" sz="2200" dirty="0">
                <a:latin typeface="楷体" panose="02010609060101010101" pitchFamily="1" charset="-122"/>
                <a:ea typeface="楷体" panose="02010609060101010101" pitchFamily="1" charset="-122"/>
              </a:rPr>
              <a:t>sp_help</a:t>
            </a:r>
            <a:r>
              <a:rPr lang="zh-CN" altLang="en-US" sz="2200" dirty="0">
                <a:latin typeface="楷体" panose="02010609060101010101" pitchFamily="1" charset="-122"/>
                <a:ea typeface="楷体" panose="02010609060101010101" pitchFamily="1" charset="-122"/>
              </a:rPr>
              <a:t>显示数据库对象的特征</a:t>
            </a:r>
            <a:endParaRPr lang="zh-CN" altLang="en-US" sz="2200" dirty="0">
              <a:latin typeface="楷体" panose="02010609060101010101" pitchFamily="1" charset="-122"/>
              <a:ea typeface="楷体" panose="02010609060101010101" pitchFamily="1" charset="-122"/>
            </a:endParaRPr>
          </a:p>
          <a:p>
            <a:pPr>
              <a:lnSpc>
                <a:spcPct val="110000"/>
              </a:lnSpc>
              <a:spcBef>
                <a:spcPts val="300"/>
              </a:spcBef>
              <a:buFont typeface="Wingdings" panose="05000000000000000000" charset="0"/>
              <a:buChar char="ü"/>
            </a:pPr>
            <a:r>
              <a:rPr lang="en-US" altLang="zh-CN" sz="2200" dirty="0">
                <a:latin typeface="楷体" panose="02010609060101010101" pitchFamily="1" charset="-122"/>
                <a:ea typeface="楷体" panose="02010609060101010101" pitchFamily="1" charset="-122"/>
              </a:rPr>
              <a:t>sp_helptext</a:t>
            </a:r>
            <a:r>
              <a:rPr lang="zh-CN" altLang="en-US" sz="2200" dirty="0">
                <a:latin typeface="楷体" panose="02010609060101010101" pitchFamily="1" charset="-122"/>
                <a:ea typeface="楷体" panose="02010609060101010101" pitchFamily="1" charset="-122"/>
              </a:rPr>
              <a:t>查看数据库对象在系统表中的定义</a:t>
            </a:r>
            <a:endParaRPr lang="zh-CN" altLang="en-US" sz="2200" dirty="0">
              <a:latin typeface="楷体" panose="02010609060101010101" pitchFamily="1" charset="-122"/>
              <a:ea typeface="楷体" panose="02010609060101010101" pitchFamily="1" charset="-122"/>
            </a:endParaRPr>
          </a:p>
          <a:p>
            <a:pPr>
              <a:lnSpc>
                <a:spcPct val="110000"/>
              </a:lnSpc>
              <a:spcBef>
                <a:spcPts val="300"/>
              </a:spcBef>
              <a:buFont typeface="Wingdings" panose="05000000000000000000" charset="0"/>
              <a:buChar char="ü"/>
            </a:pPr>
            <a:r>
              <a:rPr lang="en-US" altLang="zh-CN" sz="2200" dirty="0">
                <a:latin typeface="楷体" panose="02010609060101010101" pitchFamily="1" charset="-122"/>
                <a:ea typeface="楷体" panose="02010609060101010101" pitchFamily="1" charset="-122"/>
              </a:rPr>
              <a:t>sp_depends</a:t>
            </a:r>
            <a:r>
              <a:rPr lang="zh-CN" altLang="en-US" sz="2200" dirty="0">
                <a:latin typeface="楷体" panose="02010609060101010101" pitchFamily="1" charset="-122"/>
                <a:ea typeface="楷体" panose="02010609060101010101" pitchFamily="1" charset="-122"/>
              </a:rPr>
              <a:t>显示有关数据库对象相关性的信息</a:t>
            </a:r>
            <a:endParaRPr lang="zh-CN" altLang="en-US" sz="2200" dirty="0">
              <a:latin typeface="楷体" panose="02010609060101010101" pitchFamily="1" charset="-122"/>
              <a:ea typeface="楷体" panose="02010609060101010101" pitchFamily="1" charset="-122"/>
            </a:endParaRPr>
          </a:p>
        </p:txBody>
      </p:sp>
      <p:sp>
        <p:nvSpPr>
          <p:cNvPr id="13" name="椭圆 12"/>
          <p:cNvSpPr/>
          <p:nvPr/>
        </p:nvSpPr>
        <p:spPr>
          <a:xfrm>
            <a:off x="1836738" y="2933700"/>
            <a:ext cx="2119313" cy="293688"/>
          </a:xfrm>
          <a:prstGeom prst="ellipse">
            <a:avLst/>
          </a:prstGeom>
          <a:solidFill>
            <a:schemeClr val="accent1">
              <a:alpha val="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39949"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pic>
        <p:nvPicPr>
          <p:cNvPr id="6" name="图片 5"/>
          <p:cNvPicPr>
            <a:picLocks noChangeAspect="1"/>
          </p:cNvPicPr>
          <p:nvPr/>
        </p:nvPicPr>
        <p:blipFill rotWithShape="1">
          <a:blip r:embed="rId1"/>
          <a:srcRect l="551"/>
          <a:stretch>
            <a:fillRect/>
          </a:stretch>
        </p:blipFill>
        <p:spPr>
          <a:xfrm>
            <a:off x="532130" y="1973580"/>
            <a:ext cx="8348345" cy="2759075"/>
          </a:xfrm>
          <a:prstGeom prst="rect">
            <a:avLst/>
          </a:prstGeom>
          <a:ln>
            <a:solidFill>
              <a:schemeClr val="bg1">
                <a:lumMod val="50000"/>
              </a:schemeClr>
            </a:solidFill>
          </a:ln>
        </p:spPr>
      </p:pic>
      <p:sp>
        <p:nvSpPr>
          <p:cNvPr id="7" name="矩形 6"/>
          <p:cNvSpPr/>
          <p:nvPr/>
        </p:nvSpPr>
        <p:spPr>
          <a:xfrm>
            <a:off x="532130" y="4829810"/>
            <a:ext cx="8316595" cy="1014730"/>
          </a:xfrm>
          <a:prstGeom prst="rect">
            <a:avLst/>
          </a:prstGeom>
          <a:solidFill>
            <a:srgbClr val="FFFF99"/>
          </a:solidFill>
        </p:spPr>
        <p:txBody>
          <a:bodyPr wrap="square">
            <a:spAutoFit/>
          </a:bodyPr>
          <a:p>
            <a:r>
              <a:rPr lang="en-US" altLang="zh-CN" sz="2000" b="1" dirty="0">
                <a:solidFill>
                  <a:srgbClr val="0000FF"/>
                </a:solidFill>
                <a:latin typeface="新宋体" panose="02010609030101010101" charset="-122"/>
                <a:ea typeface="新宋体" panose="02010609030101010101" charset="-122"/>
              </a:rPr>
              <a:t>create</a:t>
            </a:r>
            <a:r>
              <a:rPr lang="en-US" altLang="zh-CN" sz="2000" b="1" dirty="0">
                <a:solidFill>
                  <a:prstClr val="black"/>
                </a:solidFill>
                <a:latin typeface="新宋体" panose="02010609030101010101" charset="-122"/>
                <a:ea typeface="新宋体" panose="02010609030101010101" charset="-122"/>
              </a:rPr>
              <a:t> </a:t>
            </a:r>
            <a:r>
              <a:rPr lang="en-US" altLang="zh-CN" sz="2000" b="1" dirty="0">
                <a:solidFill>
                  <a:srgbClr val="0000FF"/>
                </a:solidFill>
                <a:latin typeface="新宋体" panose="02010609030101010101" charset="-122"/>
                <a:ea typeface="新宋体" panose="02010609030101010101" charset="-122"/>
              </a:rPr>
              <a:t>view</a:t>
            </a:r>
            <a:r>
              <a:rPr lang="en-US" altLang="zh-CN" sz="2000" b="1" dirty="0">
                <a:solidFill>
                  <a:prstClr val="black"/>
                </a:solidFill>
                <a:latin typeface="新宋体" panose="02010609030101010101" charset="-122"/>
                <a:ea typeface="新宋体" panose="02010609030101010101" charset="-122"/>
              </a:rPr>
              <a:t> </a:t>
            </a:r>
            <a:r>
              <a:rPr lang="en-US" altLang="zh-CN" sz="2000" b="1" dirty="0" err="1">
                <a:solidFill>
                  <a:prstClr val="black"/>
                </a:solidFill>
                <a:latin typeface="新宋体" panose="02010609030101010101" charset="-122"/>
                <a:ea typeface="新宋体" panose="02010609030101010101" charset="-122"/>
              </a:rPr>
              <a:t>M_track2018_SV1</a:t>
            </a:r>
            <a:r>
              <a:rPr lang="en-US" altLang="zh-CN" sz="2000" b="1" dirty="0">
                <a:solidFill>
                  <a:srgbClr val="808080"/>
                </a:solidFill>
                <a:latin typeface="新宋体" panose="02010609030101010101" charset="-122"/>
                <a:ea typeface="新宋体" panose="02010609030101010101" charset="-122"/>
              </a:rPr>
              <a:t>(</a:t>
            </a:r>
            <a:r>
              <a:rPr lang="zh-CN" altLang="en-US" sz="2000" b="1" dirty="0">
                <a:solidFill>
                  <a:prstClr val="black"/>
                </a:solidFill>
                <a:latin typeface="新宋体" panose="02010609030101010101" charset="-122"/>
                <a:ea typeface="新宋体" panose="02010609030101010101" charset="-122"/>
              </a:rPr>
              <a:t>学号</a:t>
            </a:r>
            <a:r>
              <a:rPr lang="en-US" altLang="zh-CN" sz="2000" b="1" dirty="0">
                <a:solidFill>
                  <a:srgbClr val="808080"/>
                </a:solidFill>
                <a:latin typeface="新宋体" panose="02010609030101010101" charset="-122"/>
                <a:ea typeface="新宋体" panose="02010609030101010101" charset="-122"/>
              </a:rPr>
              <a:t>,</a:t>
            </a:r>
            <a:r>
              <a:rPr lang="zh-CN" altLang="en-US" sz="2000" b="1" dirty="0">
                <a:solidFill>
                  <a:prstClr val="black"/>
                </a:solidFill>
                <a:latin typeface="新宋体" panose="02010609030101010101" charset="-122"/>
                <a:ea typeface="新宋体" panose="02010609030101010101" charset="-122"/>
              </a:rPr>
              <a:t>姓名</a:t>
            </a:r>
            <a:r>
              <a:rPr lang="en-US" altLang="zh-CN" sz="2000" b="1" dirty="0">
                <a:solidFill>
                  <a:srgbClr val="808080"/>
                </a:solidFill>
                <a:latin typeface="新宋体" panose="02010609030101010101" charset="-122"/>
                <a:ea typeface="新宋体" panose="02010609030101010101" charset="-122"/>
              </a:rPr>
              <a:t>,</a:t>
            </a:r>
            <a:r>
              <a:rPr lang="zh-CN" altLang="en-US" sz="2000" b="1" dirty="0">
                <a:solidFill>
                  <a:prstClr val="black"/>
                </a:solidFill>
                <a:latin typeface="新宋体" panose="02010609030101010101" charset="-122"/>
                <a:ea typeface="新宋体" panose="02010609030101010101" charset="-122"/>
              </a:rPr>
              <a:t>性别</a:t>
            </a:r>
            <a:r>
              <a:rPr lang="en-US" altLang="zh-CN" sz="2000" b="1" dirty="0">
                <a:solidFill>
                  <a:srgbClr val="808080"/>
                </a:solidFill>
                <a:latin typeface="新宋体" panose="02010609030101010101" charset="-122"/>
                <a:ea typeface="新宋体" panose="02010609030101010101" charset="-122"/>
              </a:rPr>
              <a:t>,</a:t>
            </a:r>
            <a:r>
              <a:rPr lang="zh-CN" altLang="en-US" sz="2000" b="1" dirty="0">
                <a:solidFill>
                  <a:prstClr val="black"/>
                </a:solidFill>
                <a:latin typeface="新宋体" panose="02010609030101010101" charset="-122"/>
                <a:ea typeface="新宋体" panose="02010609030101010101" charset="-122"/>
              </a:rPr>
              <a:t>年龄</a:t>
            </a:r>
            <a:r>
              <a:rPr lang="en-US" altLang="zh-CN" sz="2000" b="1" dirty="0">
                <a:solidFill>
                  <a:srgbClr val="808080"/>
                </a:solidFill>
                <a:latin typeface="新宋体" panose="02010609030101010101" charset="-122"/>
                <a:ea typeface="新宋体" panose="02010609030101010101" charset="-122"/>
              </a:rPr>
              <a:t>,</a:t>
            </a:r>
            <a:r>
              <a:rPr lang="zh-CN" altLang="en-US" sz="2000" b="1" dirty="0">
                <a:solidFill>
                  <a:prstClr val="black"/>
                </a:solidFill>
                <a:latin typeface="新宋体" panose="02010609030101010101" charset="-122"/>
                <a:ea typeface="新宋体" panose="02010609030101010101" charset="-122"/>
              </a:rPr>
              <a:t>电话</a:t>
            </a:r>
            <a:r>
              <a:rPr lang="en-US" altLang="zh-CN" sz="2000" b="1" dirty="0">
                <a:solidFill>
                  <a:srgbClr val="808080"/>
                </a:solidFill>
                <a:latin typeface="新宋体" panose="02010609030101010101" charset="-122"/>
                <a:ea typeface="新宋体" panose="02010609030101010101" charset="-122"/>
              </a:rPr>
              <a:t>)</a:t>
            </a:r>
            <a:r>
              <a:rPr lang="zh-CN" altLang="en-US" sz="2000" b="1" dirty="0">
                <a:solidFill>
                  <a:prstClr val="black"/>
                </a:solidFill>
                <a:latin typeface="新宋体" panose="02010609030101010101" charset="-122"/>
                <a:ea typeface="新宋体" panose="02010609030101010101" charset="-122"/>
              </a:rPr>
              <a:t> </a:t>
            </a:r>
            <a:r>
              <a:rPr lang="en-US" altLang="zh-CN" sz="2000" b="1" dirty="0">
                <a:solidFill>
                  <a:srgbClr val="0000FF"/>
                </a:solidFill>
                <a:latin typeface="新宋体" panose="02010609030101010101" charset="-122"/>
                <a:ea typeface="新宋体" panose="02010609030101010101" charset="-122"/>
              </a:rPr>
              <a:t>as</a:t>
            </a:r>
            <a:r>
              <a:rPr lang="en-US" altLang="zh-CN" sz="2000" b="1" dirty="0">
                <a:solidFill>
                  <a:prstClr val="black"/>
                </a:solidFill>
                <a:latin typeface="新宋体" panose="02010609030101010101" charset="-122"/>
                <a:ea typeface="新宋体" panose="02010609030101010101" charset="-122"/>
              </a:rPr>
              <a:t> </a:t>
            </a:r>
            <a:r>
              <a:rPr lang="en-US" altLang="zh-CN" sz="2000" b="1" dirty="0">
                <a:solidFill>
                  <a:srgbClr val="0000FF"/>
                </a:solidFill>
                <a:latin typeface="新宋体" panose="02010609030101010101" charset="-122"/>
                <a:ea typeface="新宋体" panose="02010609030101010101" charset="-122"/>
              </a:rPr>
              <a:t>Select</a:t>
            </a:r>
            <a:r>
              <a:rPr lang="en-US" altLang="zh-CN" sz="2000" b="1" dirty="0">
                <a:solidFill>
                  <a:prstClr val="black"/>
                </a:solidFill>
                <a:latin typeface="新宋体" panose="02010609030101010101" charset="-122"/>
                <a:ea typeface="新宋体" panose="02010609030101010101" charset="-122"/>
              </a:rPr>
              <a:t> </a:t>
            </a:r>
            <a:r>
              <a:rPr lang="en-US" altLang="zh-CN" sz="2000" b="1" dirty="0" err="1">
                <a:solidFill>
                  <a:srgbClr val="0000FF"/>
                </a:solidFill>
                <a:latin typeface="新宋体" panose="02010609030101010101" charset="-122"/>
                <a:ea typeface="新宋体" panose="02010609030101010101" charset="-122"/>
              </a:rPr>
              <a:t>SID</a:t>
            </a:r>
            <a:r>
              <a:rPr lang="en-US" altLang="zh-CN" sz="2000" b="1" dirty="0" err="1">
                <a:solidFill>
                  <a:srgbClr val="808080"/>
                </a:solidFill>
                <a:latin typeface="新宋体" panose="02010609030101010101" charset="-122"/>
                <a:ea typeface="新宋体" panose="02010609030101010101" charset="-122"/>
              </a:rPr>
              <a:t>,</a:t>
            </a:r>
            <a:r>
              <a:rPr lang="en-US" altLang="zh-CN" sz="2000" b="1" dirty="0" err="1">
                <a:solidFill>
                  <a:prstClr val="black"/>
                </a:solidFill>
                <a:latin typeface="新宋体" panose="02010609030101010101" charset="-122"/>
                <a:ea typeface="新宋体" panose="02010609030101010101" charset="-122"/>
              </a:rPr>
              <a:t>SName</a:t>
            </a:r>
            <a:r>
              <a:rPr lang="en-US" altLang="zh-CN" sz="2000" b="1" dirty="0" err="1">
                <a:solidFill>
                  <a:srgbClr val="808080"/>
                </a:solidFill>
                <a:latin typeface="新宋体" panose="02010609030101010101" charset="-122"/>
                <a:ea typeface="新宋体" panose="02010609030101010101" charset="-122"/>
              </a:rPr>
              <a:t>,</a:t>
            </a:r>
            <a:r>
              <a:rPr lang="en-US" altLang="zh-CN" sz="2000" b="1" dirty="0" err="1">
                <a:solidFill>
                  <a:prstClr val="black"/>
                </a:solidFill>
                <a:latin typeface="新宋体" panose="02010609030101010101" charset="-122"/>
                <a:ea typeface="新宋体" panose="02010609030101010101" charset="-122"/>
              </a:rPr>
              <a:t>SGender</a:t>
            </a:r>
            <a:r>
              <a:rPr lang="en-US" altLang="zh-CN" sz="2000" b="1" dirty="0" err="1">
                <a:solidFill>
                  <a:srgbClr val="808080"/>
                </a:solidFill>
                <a:latin typeface="新宋体" panose="02010609030101010101" charset="-122"/>
                <a:ea typeface="新宋体" panose="02010609030101010101" charset="-122"/>
              </a:rPr>
              <a:t>,</a:t>
            </a:r>
            <a:r>
              <a:rPr lang="en-US" altLang="zh-CN" sz="2000" b="1" dirty="0" err="1">
                <a:solidFill>
                  <a:srgbClr val="FF00FF"/>
                </a:solidFill>
                <a:latin typeface="新宋体" panose="02010609030101010101" charset="-122"/>
                <a:ea typeface="新宋体" panose="02010609030101010101" charset="-122"/>
              </a:rPr>
              <a:t>Datepart</a:t>
            </a:r>
            <a:r>
              <a:rPr lang="en-US" altLang="zh-CN" sz="2000" b="1" dirty="0">
                <a:solidFill>
                  <a:srgbClr val="808080"/>
                </a:solidFill>
                <a:latin typeface="新宋体" panose="02010609030101010101" charset="-122"/>
                <a:ea typeface="新宋体" panose="02010609030101010101" charset="-122"/>
              </a:rPr>
              <a:t>(</a:t>
            </a:r>
            <a:r>
              <a:rPr lang="en-US" altLang="zh-CN" sz="2000" b="1" dirty="0" err="1">
                <a:solidFill>
                  <a:prstClr val="black"/>
                </a:solidFill>
                <a:latin typeface="新宋体" panose="02010609030101010101" charset="-122"/>
                <a:ea typeface="新宋体" panose="02010609030101010101" charset="-122"/>
              </a:rPr>
              <a:t>yyyy</a:t>
            </a:r>
            <a:r>
              <a:rPr lang="en-US" altLang="zh-CN" sz="2000" b="1" dirty="0" err="1">
                <a:solidFill>
                  <a:srgbClr val="808080"/>
                </a:solidFill>
                <a:latin typeface="新宋体" panose="02010609030101010101" charset="-122"/>
                <a:ea typeface="新宋体" panose="02010609030101010101" charset="-122"/>
              </a:rPr>
              <a:t>,</a:t>
            </a:r>
            <a:r>
              <a:rPr lang="en-US" altLang="zh-CN" sz="2000" b="1" dirty="0" err="1">
                <a:solidFill>
                  <a:srgbClr val="FF00FF"/>
                </a:solidFill>
                <a:latin typeface="新宋体" panose="02010609030101010101" charset="-122"/>
                <a:ea typeface="新宋体" panose="02010609030101010101" charset="-122"/>
              </a:rPr>
              <a:t>Getdate</a:t>
            </a:r>
            <a:r>
              <a:rPr lang="en-US" altLang="zh-CN" sz="2000" b="1" dirty="0">
                <a:solidFill>
                  <a:srgbClr val="808080"/>
                </a:solidFill>
                <a:latin typeface="新宋体" panose="02010609030101010101" charset="-122"/>
                <a:ea typeface="新宋体" panose="02010609030101010101" charset="-122"/>
              </a:rPr>
              <a:t>())-</a:t>
            </a:r>
            <a:r>
              <a:rPr lang="en-US" altLang="zh-CN" sz="2000" b="1" dirty="0" err="1">
                <a:solidFill>
                  <a:srgbClr val="FF00FF"/>
                </a:solidFill>
                <a:latin typeface="新宋体" panose="02010609030101010101" charset="-122"/>
                <a:ea typeface="新宋体" panose="02010609030101010101" charset="-122"/>
              </a:rPr>
              <a:t>Datepart</a:t>
            </a:r>
            <a:r>
              <a:rPr lang="en-US" altLang="zh-CN" sz="2000" b="1" dirty="0">
                <a:solidFill>
                  <a:srgbClr val="808080"/>
                </a:solidFill>
                <a:latin typeface="新宋体" panose="02010609030101010101" charset="-122"/>
                <a:ea typeface="新宋体" panose="02010609030101010101" charset="-122"/>
              </a:rPr>
              <a:t>(</a:t>
            </a:r>
            <a:r>
              <a:rPr lang="en-US" altLang="zh-CN" sz="2000" b="1" dirty="0" err="1">
                <a:solidFill>
                  <a:prstClr val="black"/>
                </a:solidFill>
                <a:latin typeface="新宋体" panose="02010609030101010101" charset="-122"/>
                <a:ea typeface="新宋体" panose="02010609030101010101" charset="-122"/>
              </a:rPr>
              <a:t>yyyy</a:t>
            </a:r>
            <a:r>
              <a:rPr lang="en-US" altLang="zh-CN" sz="2000" b="1" dirty="0" err="1">
                <a:solidFill>
                  <a:srgbClr val="808080"/>
                </a:solidFill>
                <a:latin typeface="新宋体" panose="02010609030101010101" charset="-122"/>
                <a:ea typeface="新宋体" panose="02010609030101010101" charset="-122"/>
              </a:rPr>
              <a:t>,</a:t>
            </a:r>
            <a:r>
              <a:rPr lang="en-US" altLang="zh-CN" sz="2000" b="1" dirty="0" err="1">
                <a:solidFill>
                  <a:prstClr val="black"/>
                </a:solidFill>
                <a:latin typeface="新宋体" panose="02010609030101010101" charset="-122"/>
                <a:ea typeface="新宋体" panose="02010609030101010101" charset="-122"/>
              </a:rPr>
              <a:t>BirthDate</a:t>
            </a:r>
            <a:r>
              <a:rPr lang="en-US" altLang="zh-CN" sz="2000" b="1" dirty="0">
                <a:solidFill>
                  <a:srgbClr val="808080"/>
                </a:solidFill>
                <a:latin typeface="新宋体" panose="02010609030101010101" charset="-122"/>
                <a:ea typeface="新宋体" panose="02010609030101010101" charset="-122"/>
              </a:rPr>
              <a:t>),</a:t>
            </a:r>
            <a:r>
              <a:rPr lang="en-US" altLang="zh-CN" sz="2000" b="1" dirty="0">
                <a:solidFill>
                  <a:prstClr val="black"/>
                </a:solidFill>
                <a:latin typeface="新宋体" panose="02010609030101010101" charset="-122"/>
                <a:ea typeface="新宋体" panose="02010609030101010101" charset="-122"/>
              </a:rPr>
              <a:t>Telephone </a:t>
            </a:r>
            <a:r>
              <a:rPr lang="en-US" altLang="zh-CN" sz="2000" b="1" dirty="0">
                <a:solidFill>
                  <a:srgbClr val="0000FF"/>
                </a:solidFill>
                <a:latin typeface="新宋体" panose="02010609030101010101" charset="-122"/>
                <a:ea typeface="新宋体" panose="02010609030101010101" charset="-122"/>
              </a:rPr>
              <a:t>from</a:t>
            </a:r>
            <a:r>
              <a:rPr lang="en-US" altLang="zh-CN" sz="2000" b="1" dirty="0">
                <a:solidFill>
                  <a:prstClr val="black"/>
                </a:solidFill>
                <a:latin typeface="新宋体" panose="02010609030101010101" charset="-122"/>
                <a:ea typeface="新宋体" panose="02010609030101010101" charset="-122"/>
              </a:rPr>
              <a:t> </a:t>
            </a:r>
            <a:r>
              <a:rPr lang="en-US" altLang="zh-CN" sz="2000" b="1" dirty="0" err="1">
                <a:solidFill>
                  <a:prstClr val="black"/>
                </a:solidFill>
                <a:latin typeface="新宋体" panose="02010609030101010101" charset="-122"/>
                <a:ea typeface="新宋体" panose="02010609030101010101" charset="-122"/>
              </a:rPr>
              <a:t>stu</a:t>
            </a:r>
            <a:endParaRPr lang="en-US" altLang="zh-CN" sz="2000" b="1" dirty="0">
              <a:solidFill>
                <a:prstClr val="black"/>
              </a:solidFill>
              <a:latin typeface="新宋体" panose="02010609030101010101" charset="-122"/>
              <a:ea typeface="新宋体" panose="02010609030101010101" charset="-122"/>
            </a:endParaRPr>
          </a:p>
        </p:txBody>
      </p:sp>
      <p:pic>
        <p:nvPicPr>
          <p:cNvPr id="10" name="图片 9"/>
          <p:cNvPicPr>
            <a:picLocks noChangeAspect="1"/>
          </p:cNvPicPr>
          <p:nvPr/>
        </p:nvPicPr>
        <p:blipFill>
          <a:blip r:embed="rId2"/>
          <a:stretch>
            <a:fillRect/>
          </a:stretch>
        </p:blipFill>
        <p:spPr>
          <a:xfrm>
            <a:off x="3817620" y="3227705"/>
            <a:ext cx="5135880" cy="3078480"/>
          </a:xfrm>
          <a:prstGeom prst="rect">
            <a:avLst/>
          </a:prstGeom>
          <a:ln>
            <a:solidFill>
              <a:schemeClr val="bg1">
                <a:lumMod val="50000"/>
              </a:schemeClr>
            </a:solid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0731"/>
                                        </p:tgtEl>
                                        <p:attrNameLst>
                                          <p:attrName>style.visibility</p:attrName>
                                        </p:attrNameLst>
                                      </p:cBhvr>
                                      <p:to>
                                        <p:strVal val="visible"/>
                                      </p:to>
                                    </p:set>
                                    <p:animEffect transition="in" filter="dissolve">
                                      <p:cBhvr>
                                        <p:cTn id="7" dur="500"/>
                                        <p:tgtEl>
                                          <p:spTgt spid="30731"/>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ppt_x</p:attrName>
                                        </p:attrNameLst>
                                      </p:cBhvr>
                                      <p:tavLst>
                                        <p:tav tm="0">
                                          <p:val>
                                            <p:strVal val="#ppt_x"/>
                                          </p:val>
                                        </p:tav>
                                        <p:tav tm="100000">
                                          <p:val>
                                            <p:strVal val="#ppt_x"/>
                                          </p:val>
                                        </p:tav>
                                      </p:tavLst>
                                    </p:anim>
                                    <p:anim calcmode="lin" valueType="num">
                                      <p:cBhvr>
                                        <p:cTn id="13" dur="500" fill="hold"/>
                                        <p:tgtEl>
                                          <p:spTgt spid="2"/>
                                        </p:tgtEl>
                                        <p:attrNameLst>
                                          <p:attrName>ppt_y</p:attrName>
                                        </p:attrNameLst>
                                      </p:cBhvr>
                                      <p:tavLst>
                                        <p:tav tm="0">
                                          <p:val>
                                            <p:strVal val="1+#ppt_h/2"/>
                                          </p:val>
                                        </p:tav>
                                        <p:tav tm="100000">
                                          <p:val>
                                            <p:strVal val="#ppt_y"/>
                                          </p:val>
                                        </p:tav>
                                      </p:tavLst>
                                    </p:anim>
                                  </p:childTnLst>
                                </p:cTn>
                              </p:par>
                              <p:par>
                                <p:cTn id="14" presetID="2" presetClass="entr" presetSubtype="4" fill="hold" grpId="0" nodeType="withEffect">
                                  <p:stCondLst>
                                    <p:cond delay="0"/>
                                  </p:stCondLst>
                                  <p:childTnLst>
                                    <p:set>
                                      <p:cBhvr>
                                        <p:cTn id="15" dur="1" fill="hold">
                                          <p:stCondLst>
                                            <p:cond delay="0"/>
                                          </p:stCondLst>
                                        </p:cTn>
                                        <p:tgtEl>
                                          <p:spTgt spid="30724"/>
                                        </p:tgtEl>
                                        <p:attrNameLst>
                                          <p:attrName>style.visibility</p:attrName>
                                        </p:attrNameLst>
                                      </p:cBhvr>
                                      <p:to>
                                        <p:strVal val="visible"/>
                                      </p:to>
                                    </p:set>
                                    <p:anim calcmode="lin" valueType="num">
                                      <p:cBhvr>
                                        <p:cTn id="16" dur="500" fill="hold"/>
                                        <p:tgtEl>
                                          <p:spTgt spid="30724"/>
                                        </p:tgtEl>
                                        <p:attrNameLst>
                                          <p:attrName>ppt_x</p:attrName>
                                        </p:attrNameLst>
                                      </p:cBhvr>
                                      <p:tavLst>
                                        <p:tav tm="0">
                                          <p:val>
                                            <p:strVal val="#ppt_x"/>
                                          </p:val>
                                        </p:tav>
                                        <p:tav tm="100000">
                                          <p:val>
                                            <p:strVal val="#ppt_x"/>
                                          </p:val>
                                        </p:tav>
                                      </p:tavLst>
                                    </p:anim>
                                    <p:anim calcmode="lin" valueType="num">
                                      <p:cBhvr>
                                        <p:cTn id="17" dur="500" fill="hold"/>
                                        <p:tgtEl>
                                          <p:spTgt spid="30724"/>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p:cTn id="22" dur="500" fill="hold"/>
                                        <p:tgtEl>
                                          <p:spTgt spid="5"/>
                                        </p:tgtEl>
                                        <p:attrNameLst>
                                          <p:attrName>ppt_x</p:attrName>
                                        </p:attrNameLst>
                                      </p:cBhvr>
                                      <p:tavLst>
                                        <p:tav tm="0">
                                          <p:val>
                                            <p:strVal val="#ppt_x"/>
                                          </p:val>
                                        </p:tav>
                                        <p:tav tm="100000">
                                          <p:val>
                                            <p:strVal val="#ppt_x"/>
                                          </p:val>
                                        </p:tav>
                                      </p:tavLst>
                                    </p:anim>
                                    <p:anim calcmode="lin" valueType="num">
                                      <p:cBhvr>
                                        <p:cTn id="2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 calcmode="lin" valueType="num">
                                      <p:cBhvr>
                                        <p:cTn id="28" dur="500" fill="hold"/>
                                        <p:tgtEl>
                                          <p:spTgt spid="8"/>
                                        </p:tgtEl>
                                        <p:attrNameLst>
                                          <p:attrName>ppt_x</p:attrName>
                                        </p:attrNameLst>
                                      </p:cBhvr>
                                      <p:tavLst>
                                        <p:tav tm="0">
                                          <p:val>
                                            <p:strVal val="#ppt_x"/>
                                          </p:val>
                                        </p:tav>
                                        <p:tav tm="100000">
                                          <p:val>
                                            <p:strVal val="#ppt_x"/>
                                          </p:val>
                                        </p:tav>
                                      </p:tavLst>
                                    </p:anim>
                                    <p:anim calcmode="lin" valueType="num">
                                      <p:cBhvr>
                                        <p:cTn id="29" dur="500" fill="hold"/>
                                        <p:tgtEl>
                                          <p:spTgt spid="8"/>
                                        </p:tgtEl>
                                        <p:attrNameLst>
                                          <p:attrName>ppt_y</p:attrName>
                                        </p:attrNameLst>
                                      </p:cBhvr>
                                      <p:tavLst>
                                        <p:tav tm="0">
                                          <p:val>
                                            <p:strVal val="1+#ppt_h/2"/>
                                          </p:val>
                                        </p:tav>
                                        <p:tav tm="100000">
                                          <p:val>
                                            <p:strVal val="#ppt_y"/>
                                          </p:val>
                                        </p:tav>
                                      </p:tavLst>
                                    </p:anim>
                                  </p:childTnLst>
                                </p:cTn>
                              </p:par>
                              <p:par>
                                <p:cTn id="30" presetID="2" presetClass="entr" presetSubtype="4"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 calcmode="lin" valueType="num">
                                      <p:cBhvr>
                                        <p:cTn id="32" dur="500" fill="hold"/>
                                        <p:tgtEl>
                                          <p:spTgt spid="9"/>
                                        </p:tgtEl>
                                        <p:attrNameLst>
                                          <p:attrName>ppt_x</p:attrName>
                                        </p:attrNameLst>
                                      </p:cBhvr>
                                      <p:tavLst>
                                        <p:tav tm="0">
                                          <p:val>
                                            <p:strVal val="#ppt_x"/>
                                          </p:val>
                                        </p:tav>
                                        <p:tav tm="100000">
                                          <p:val>
                                            <p:strVal val="#ppt_x"/>
                                          </p:val>
                                        </p:tav>
                                      </p:tavLst>
                                    </p:anim>
                                    <p:anim calcmode="lin" valueType="num">
                                      <p:cBhvr>
                                        <p:cTn id="33"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13"/>
                                        </p:tgtEl>
                                        <p:attrNameLst>
                                          <p:attrName>style.visibility</p:attrName>
                                        </p:attrNameLst>
                                      </p:cBhvr>
                                      <p:to>
                                        <p:strVal val="visible"/>
                                      </p:to>
                                    </p:set>
                                    <p:anim calcmode="lin" valueType="num">
                                      <p:cBhvr>
                                        <p:cTn id="38" dur="500" fill="hold"/>
                                        <p:tgtEl>
                                          <p:spTgt spid="13"/>
                                        </p:tgtEl>
                                        <p:attrNameLst>
                                          <p:attrName>ppt_x</p:attrName>
                                        </p:attrNameLst>
                                      </p:cBhvr>
                                      <p:tavLst>
                                        <p:tav tm="0">
                                          <p:val>
                                            <p:strVal val="#ppt_x"/>
                                          </p:val>
                                        </p:tav>
                                        <p:tav tm="100000">
                                          <p:val>
                                            <p:strVal val="#ppt_x"/>
                                          </p:val>
                                        </p:tav>
                                      </p:tavLst>
                                    </p:anim>
                                    <p:anim calcmode="lin" valueType="num">
                                      <p:cBhvr>
                                        <p:cTn id="39"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nodeType="clickEffect">
                                  <p:stCondLst>
                                    <p:cond delay="0"/>
                                  </p:stCondLst>
                                  <p:childTnLst>
                                    <p:set>
                                      <p:cBhvr>
                                        <p:cTn id="43" dur="1" fill="hold">
                                          <p:stCondLst>
                                            <p:cond delay="0"/>
                                          </p:stCondLst>
                                        </p:cTn>
                                        <p:tgtEl>
                                          <p:spTgt spid="6"/>
                                        </p:tgtEl>
                                        <p:attrNameLst>
                                          <p:attrName>style.visibility</p:attrName>
                                        </p:attrNameLst>
                                      </p:cBhvr>
                                      <p:to>
                                        <p:strVal val="visible"/>
                                      </p:to>
                                    </p:set>
                                    <p:anim calcmode="lin" valueType="num">
                                      <p:cBhvr additive="base">
                                        <p:cTn id="44" dur="500" fill="hold"/>
                                        <p:tgtEl>
                                          <p:spTgt spid="6"/>
                                        </p:tgtEl>
                                        <p:attrNameLst>
                                          <p:attrName>ppt_x</p:attrName>
                                        </p:attrNameLst>
                                      </p:cBhvr>
                                      <p:tavLst>
                                        <p:tav tm="0">
                                          <p:val>
                                            <p:strVal val="#ppt_x"/>
                                          </p:val>
                                        </p:tav>
                                        <p:tav tm="100000">
                                          <p:val>
                                            <p:strVal val="#ppt_x"/>
                                          </p:val>
                                        </p:tav>
                                      </p:tavLst>
                                    </p:anim>
                                    <p:anim calcmode="lin" valueType="num">
                                      <p:cBhvr additive="base">
                                        <p:cTn id="45"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grpId="0" nodeType="clickEffect">
                                  <p:stCondLst>
                                    <p:cond delay="0"/>
                                  </p:stCondLst>
                                  <p:childTnLst>
                                    <p:set>
                                      <p:cBhvr>
                                        <p:cTn id="49" dur="1" fill="hold">
                                          <p:stCondLst>
                                            <p:cond delay="0"/>
                                          </p:stCondLst>
                                        </p:cTn>
                                        <p:tgtEl>
                                          <p:spTgt spid="7"/>
                                        </p:tgtEl>
                                        <p:attrNameLst>
                                          <p:attrName>style.visibility</p:attrName>
                                        </p:attrNameLst>
                                      </p:cBhvr>
                                      <p:to>
                                        <p:strVal val="visible"/>
                                      </p:to>
                                    </p:set>
                                    <p:anim calcmode="lin" valueType="num">
                                      <p:cBhvr additive="base">
                                        <p:cTn id="50" dur="500" fill="hold"/>
                                        <p:tgtEl>
                                          <p:spTgt spid="7"/>
                                        </p:tgtEl>
                                        <p:attrNameLst>
                                          <p:attrName>ppt_x</p:attrName>
                                        </p:attrNameLst>
                                      </p:cBhvr>
                                      <p:tavLst>
                                        <p:tav tm="0">
                                          <p:val>
                                            <p:strVal val="#ppt_x"/>
                                          </p:val>
                                        </p:tav>
                                        <p:tav tm="100000">
                                          <p:val>
                                            <p:strVal val="#ppt_x"/>
                                          </p:val>
                                        </p:tav>
                                      </p:tavLst>
                                    </p:anim>
                                    <p:anim calcmode="lin" valueType="num">
                                      <p:cBhvr additive="base">
                                        <p:cTn id="51"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 presetClass="entr" presetSubtype="4" fill="hold" nodeType="clickEffect">
                                  <p:stCondLst>
                                    <p:cond delay="0"/>
                                  </p:stCondLst>
                                  <p:childTnLst>
                                    <p:set>
                                      <p:cBhvr>
                                        <p:cTn id="55" dur="1" fill="hold">
                                          <p:stCondLst>
                                            <p:cond delay="0"/>
                                          </p:stCondLst>
                                        </p:cTn>
                                        <p:tgtEl>
                                          <p:spTgt spid="10"/>
                                        </p:tgtEl>
                                        <p:attrNameLst>
                                          <p:attrName>style.visibility</p:attrName>
                                        </p:attrNameLst>
                                      </p:cBhvr>
                                      <p:to>
                                        <p:strVal val="visible"/>
                                      </p:to>
                                    </p:set>
                                    <p:anim calcmode="lin" valueType="num">
                                      <p:cBhvr additive="base">
                                        <p:cTn id="56" dur="500" fill="hold"/>
                                        <p:tgtEl>
                                          <p:spTgt spid="10"/>
                                        </p:tgtEl>
                                        <p:attrNameLst>
                                          <p:attrName>ppt_x</p:attrName>
                                        </p:attrNameLst>
                                      </p:cBhvr>
                                      <p:tavLst>
                                        <p:tav tm="0">
                                          <p:val>
                                            <p:strVal val="#ppt_x"/>
                                          </p:val>
                                        </p:tav>
                                        <p:tav tm="100000">
                                          <p:val>
                                            <p:strVal val="#ppt_x"/>
                                          </p:val>
                                        </p:tav>
                                      </p:tavLst>
                                    </p:anim>
                                    <p:anim calcmode="lin" valueType="num">
                                      <p:cBhvr additive="base">
                                        <p:cTn id="57"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31" grpId="0"/>
      <p:bldP spid="2" grpId="0" bldLvl="0" animBg="1"/>
      <p:bldP spid="30724" grpId="0" bldLvl="0" animBg="1"/>
      <p:bldP spid="5" grpId="0" bldLvl="0" animBg="1"/>
      <p:bldP spid="8" grpId="0"/>
      <p:bldP spid="9" grpId="0" bldLvl="0" animBg="1"/>
      <p:bldP spid="13" grpId="0" bldLvl="0" animBg="1"/>
      <p:bldP spid="7" grpId="0" animBg="1"/>
      <p:bldP spid="7" grpId="1"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1"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40962" name="矩形 2"/>
          <p:cNvSpPr/>
          <p:nvPr/>
        </p:nvSpPr>
        <p:spPr>
          <a:xfrm>
            <a:off x="546100" y="798513"/>
            <a:ext cx="2890838" cy="944562"/>
          </a:xfrm>
          <a:prstGeom prst="rect">
            <a:avLst/>
          </a:prstGeom>
          <a:noFill/>
          <a:ln w="9525">
            <a:noFill/>
          </a:ln>
        </p:spPr>
        <p:txBody>
          <a:bodyPr wrap="none" anchor="t" anchorCtr="0">
            <a:spAutoFit/>
          </a:bodyPr>
          <a:p>
            <a:r>
              <a:rPr lang="en-US" altLang="zh-CN" sz="2800" dirty="0">
                <a:solidFill>
                  <a:srgbClr val="0033CC"/>
                </a:solidFill>
                <a:latin typeface="黑体" panose="02010609060101010101" pitchFamily="1" charset="-122"/>
                <a:ea typeface="黑体" panose="02010609060101010101" pitchFamily="1" charset="-122"/>
              </a:rPr>
              <a:t>5.</a:t>
            </a:r>
            <a:r>
              <a:rPr lang="zh-CN" altLang="en-US" sz="2800" dirty="0">
                <a:solidFill>
                  <a:srgbClr val="0033CC"/>
                </a:solidFill>
                <a:latin typeface="黑体" panose="02010609060101010101" pitchFamily="1" charset="-122"/>
                <a:ea typeface="黑体" panose="02010609060101010101" pitchFamily="1" charset="-122"/>
              </a:rPr>
              <a:t>定义视图</a:t>
            </a:r>
            <a:r>
              <a:rPr lang="en-US" altLang="zh-CN" sz="2400" dirty="0">
                <a:solidFill>
                  <a:srgbClr val="FF0000"/>
                </a:solidFill>
                <a:latin typeface="黑体" panose="02010609060101010101" pitchFamily="1" charset="-122"/>
                <a:ea typeface="宋体" panose="02010600030101010101" pitchFamily="2" charset="-122"/>
              </a:rPr>
              <a:t>—</a:t>
            </a:r>
            <a:r>
              <a:rPr lang="zh-CN" altLang="en-US" sz="2400" dirty="0">
                <a:solidFill>
                  <a:srgbClr val="FF0000"/>
                </a:solidFill>
                <a:latin typeface="黑体" panose="02010609060101010101" pitchFamily="1" charset="-122"/>
                <a:ea typeface="宋体" panose="02010600030101010101" pitchFamily="2" charset="-122"/>
              </a:rPr>
              <a:t>创建</a:t>
            </a:r>
            <a:endParaRPr lang="zh-CN" altLang="en-US" sz="2400" dirty="0">
              <a:solidFill>
                <a:srgbClr val="FF0000"/>
              </a:solidFill>
              <a:latin typeface="黑体" panose="02010609060101010101" pitchFamily="1" charset="-122"/>
              <a:ea typeface="宋体" panose="02010600030101010101" pitchFamily="2" charset="-122"/>
            </a:endParaRPr>
          </a:p>
          <a:p>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40963" name="Text Box 2"/>
          <p:cNvSpPr txBox="1"/>
          <p:nvPr/>
        </p:nvSpPr>
        <p:spPr>
          <a:xfrm>
            <a:off x="474663" y="1309688"/>
            <a:ext cx="8624887" cy="4892675"/>
          </a:xfrm>
          <a:prstGeom prst="rect">
            <a:avLst/>
          </a:prstGeom>
          <a:noFill/>
          <a:ln w="9525">
            <a:noFill/>
          </a:ln>
        </p:spPr>
        <p:txBody>
          <a:bodyPr anchor="t" anchorCtr="0">
            <a:spAutoFit/>
          </a:bodyPr>
          <a:p>
            <a:pPr>
              <a:lnSpc>
                <a:spcPct val="130000"/>
              </a:lnSpc>
              <a:spcBef>
                <a:spcPct val="35000"/>
              </a:spcBef>
            </a:pPr>
            <a:r>
              <a:rPr lang="zh-CN" altLang="en-US" sz="2000" dirty="0">
                <a:solidFill>
                  <a:srgbClr val="FF3300"/>
                </a:solidFill>
                <a:latin typeface="Arial" panose="020B0604020202020204" pitchFamily="34" charset="0"/>
                <a:ea typeface="黑体" panose="02010609060101010101" pitchFamily="1" charset="-122"/>
              </a:rPr>
              <a:t>例</a:t>
            </a:r>
            <a:r>
              <a:rPr lang="en-US" altLang="zh-CN" sz="2000" dirty="0">
                <a:solidFill>
                  <a:srgbClr val="FF3300"/>
                </a:solidFill>
                <a:latin typeface="Arial" panose="020B0604020202020204" pitchFamily="34" charset="0"/>
                <a:ea typeface="黑体" panose="02010609060101010101" pitchFamily="1" charset="-122"/>
              </a:rPr>
              <a:t>1</a:t>
            </a:r>
            <a:r>
              <a:rPr lang="zh-CN" altLang="en-US" sz="2000" dirty="0">
                <a:solidFill>
                  <a:srgbClr val="FF3300"/>
                </a:solidFill>
                <a:latin typeface="Arial" panose="020B0604020202020204" pitchFamily="34" charset="0"/>
                <a:ea typeface="黑体" panose="02010609060101010101" pitchFamily="1" charset="-122"/>
              </a:rPr>
              <a:t>：多源表视图</a:t>
            </a:r>
            <a:endParaRPr lang="zh-CN" altLang="en-US" sz="2000" dirty="0">
              <a:solidFill>
                <a:srgbClr val="FF3300"/>
              </a:solidFill>
              <a:latin typeface="Arial" panose="020B0604020202020204" pitchFamily="34" charset="0"/>
              <a:ea typeface="黑体" panose="02010609060101010101" pitchFamily="1" charset="-122"/>
            </a:endParaRPr>
          </a:p>
          <a:p>
            <a:pPr>
              <a:lnSpc>
                <a:spcPct val="130000"/>
              </a:lnSpc>
            </a:pPr>
            <a:r>
              <a:rPr lang="zh-CN" altLang="en-US" sz="2000" dirty="0">
                <a:solidFill>
                  <a:srgbClr val="FF3300"/>
                </a:solidFill>
                <a:latin typeface="Arial" panose="020B0604020202020204" pitchFamily="34" charset="0"/>
                <a:ea typeface="黑体" panose="02010609060101010101" pitchFamily="1" charset="-122"/>
              </a:rPr>
              <a:t>      </a:t>
            </a:r>
            <a:r>
              <a:rPr lang="en-US" altLang="zh-CN" sz="2000" dirty="0">
                <a:latin typeface="Arial" panose="020B0604020202020204" pitchFamily="34" charset="0"/>
                <a:ea typeface="黑体" panose="02010609060101010101" pitchFamily="1" charset="-122"/>
              </a:rPr>
              <a:t>CREATE VIEW V_IS_S1(Sno,Sname,Grade) AS</a:t>
            </a:r>
            <a:endParaRPr lang="en-US" altLang="zh-CN" sz="2000" dirty="0">
              <a:latin typeface="Arial" panose="020B0604020202020204" pitchFamily="34" charset="0"/>
              <a:ea typeface="黑体" panose="02010609060101010101" pitchFamily="1" charset="-122"/>
            </a:endParaRPr>
          </a:p>
          <a:p>
            <a:pPr>
              <a:lnSpc>
                <a:spcPct val="130000"/>
              </a:lnSpc>
            </a:pPr>
            <a:r>
              <a:rPr lang="en-US" altLang="zh-CN" sz="2000" dirty="0">
                <a:latin typeface="Arial" panose="020B0604020202020204" pitchFamily="34" charset="0"/>
                <a:ea typeface="黑体" panose="02010609060101010101" pitchFamily="1" charset="-122"/>
              </a:rPr>
              <a:t>           SELECT Student.Sno,Sname,Grade FROM Student JOIN SC </a:t>
            </a:r>
            <a:endParaRPr lang="en-US" altLang="zh-CN" sz="2000" dirty="0">
              <a:latin typeface="Arial" panose="020B0604020202020204" pitchFamily="34" charset="0"/>
              <a:ea typeface="黑体" panose="02010609060101010101" pitchFamily="1" charset="-122"/>
            </a:endParaRPr>
          </a:p>
          <a:p>
            <a:pPr>
              <a:lnSpc>
                <a:spcPct val="130000"/>
              </a:lnSpc>
            </a:pPr>
            <a:r>
              <a:rPr lang="en-US" altLang="zh-CN" sz="2000" dirty="0">
                <a:latin typeface="Arial" panose="020B0604020202020204" pitchFamily="34" charset="0"/>
                <a:ea typeface="黑体" panose="02010609060101010101" pitchFamily="1" charset="-122"/>
              </a:rPr>
              <a:t>           ON Student.Sno=SC.Sno WHERE Sdept=‘</a:t>
            </a:r>
            <a:r>
              <a:rPr lang="zh-CN" altLang="en-US" sz="2000" dirty="0">
                <a:latin typeface="Arial" panose="020B0604020202020204" pitchFamily="34" charset="0"/>
                <a:ea typeface="黑体" panose="02010609060101010101" pitchFamily="1" charset="-122"/>
              </a:rPr>
              <a:t>信息管理系’ </a:t>
            </a:r>
            <a:r>
              <a:rPr lang="en-US" altLang="zh-CN" sz="2000" dirty="0">
                <a:latin typeface="Arial" panose="020B0604020202020204" pitchFamily="34" charset="0"/>
                <a:ea typeface="黑体" panose="02010609060101010101" pitchFamily="1" charset="-122"/>
              </a:rPr>
              <a:t>AND </a:t>
            </a:r>
            <a:endParaRPr lang="en-US" altLang="zh-CN" sz="2000" dirty="0">
              <a:latin typeface="Arial" panose="020B0604020202020204" pitchFamily="34" charset="0"/>
              <a:ea typeface="黑体" panose="02010609060101010101" pitchFamily="1" charset="-122"/>
            </a:endParaRPr>
          </a:p>
          <a:p>
            <a:pPr>
              <a:lnSpc>
                <a:spcPct val="130000"/>
              </a:lnSpc>
            </a:pPr>
            <a:r>
              <a:rPr lang="en-US" altLang="zh-CN" sz="2000" dirty="0">
                <a:latin typeface="Arial" panose="020B0604020202020204" pitchFamily="34" charset="0"/>
                <a:ea typeface="黑体" panose="02010609060101010101" pitchFamily="1" charset="-122"/>
              </a:rPr>
              <a:t>           SC.Cno=‘C001’</a:t>
            </a:r>
            <a:endParaRPr lang="en-US" altLang="zh-CN" sz="2000" dirty="0">
              <a:latin typeface="Arial" panose="020B0604020202020204" pitchFamily="34" charset="0"/>
              <a:ea typeface="黑体" panose="02010609060101010101" pitchFamily="1" charset="-122"/>
            </a:endParaRPr>
          </a:p>
          <a:p>
            <a:pPr>
              <a:lnSpc>
                <a:spcPct val="130000"/>
              </a:lnSpc>
            </a:pPr>
            <a:r>
              <a:rPr lang="zh-CN" altLang="en-US" sz="2000" dirty="0">
                <a:solidFill>
                  <a:srgbClr val="FF3300"/>
                </a:solidFill>
                <a:latin typeface="Arial" panose="020B0604020202020204" pitchFamily="34" charset="0"/>
                <a:ea typeface="黑体" panose="02010609060101010101" pitchFamily="1" charset="-122"/>
              </a:rPr>
              <a:t>例</a:t>
            </a:r>
            <a:r>
              <a:rPr lang="en-US" altLang="zh-CN" sz="2000" dirty="0">
                <a:solidFill>
                  <a:srgbClr val="FF3300"/>
                </a:solidFill>
                <a:latin typeface="Arial" panose="020B0604020202020204" pitchFamily="34" charset="0"/>
                <a:ea typeface="黑体" panose="02010609060101010101" pitchFamily="1" charset="-122"/>
              </a:rPr>
              <a:t>2</a:t>
            </a:r>
            <a:r>
              <a:rPr lang="zh-CN" altLang="en-US" sz="2000" dirty="0">
                <a:solidFill>
                  <a:srgbClr val="FF3300"/>
                </a:solidFill>
                <a:latin typeface="Arial" panose="020B0604020202020204" pitchFamily="34" charset="0"/>
                <a:ea typeface="黑体" panose="02010609060101010101" pitchFamily="1" charset="-122"/>
              </a:rPr>
              <a:t>：在已有视图上定义新的视图</a:t>
            </a:r>
            <a:endParaRPr lang="zh-CN" altLang="en-US" sz="2000" dirty="0">
              <a:solidFill>
                <a:srgbClr val="FF3300"/>
              </a:solidFill>
              <a:latin typeface="Arial" panose="020B0604020202020204" pitchFamily="34" charset="0"/>
              <a:ea typeface="黑体" panose="02010609060101010101" pitchFamily="1" charset="-122"/>
            </a:endParaRPr>
          </a:p>
          <a:p>
            <a:pPr>
              <a:lnSpc>
                <a:spcPct val="130000"/>
              </a:lnSpc>
            </a:pPr>
            <a:r>
              <a:rPr lang="en-US" altLang="zh-CN" sz="2000" dirty="0">
                <a:latin typeface="Arial" panose="020B0604020202020204" pitchFamily="34" charset="0"/>
                <a:ea typeface="宋体" panose="02010600030101010101" pitchFamily="2" charset="-122"/>
              </a:rPr>
              <a:t>     CREATE VIEW IS_Student_Sage AS</a:t>
            </a:r>
            <a:endParaRPr lang="en-US" altLang="zh-CN" sz="2000" dirty="0">
              <a:latin typeface="Arial" panose="020B0604020202020204" pitchFamily="34" charset="0"/>
              <a:ea typeface="宋体" panose="02010600030101010101" pitchFamily="2" charset="-122"/>
            </a:endParaRPr>
          </a:p>
          <a:p>
            <a:pPr>
              <a:lnSpc>
                <a:spcPct val="130000"/>
              </a:lnSpc>
            </a:pPr>
            <a:r>
              <a:rPr lang="en-US" altLang="zh-CN" sz="2000" dirty="0">
                <a:latin typeface="Arial" panose="020B0604020202020204" pitchFamily="34" charset="0"/>
                <a:ea typeface="宋体" panose="02010600030101010101" pitchFamily="2" charset="-122"/>
              </a:rPr>
              <a:t>           SELECT Sno,Sname,Sage FROM IS_Student WHERE Sage&lt;20</a:t>
            </a:r>
            <a:endParaRPr lang="en-US" altLang="zh-CN" sz="2000" dirty="0">
              <a:latin typeface="Arial" panose="020B0604020202020204" pitchFamily="34" charset="0"/>
              <a:ea typeface="宋体" panose="02010600030101010101" pitchFamily="2" charset="-122"/>
            </a:endParaRPr>
          </a:p>
          <a:p>
            <a:pPr>
              <a:lnSpc>
                <a:spcPct val="130000"/>
              </a:lnSpc>
            </a:pPr>
            <a:r>
              <a:rPr lang="zh-CN" altLang="en-US" sz="2000" dirty="0">
                <a:solidFill>
                  <a:srgbClr val="FF3300"/>
                </a:solidFill>
                <a:latin typeface="Arial" panose="020B0604020202020204" pitchFamily="34" charset="0"/>
                <a:ea typeface="黑体" panose="02010609060101010101" pitchFamily="1" charset="-122"/>
              </a:rPr>
              <a:t>例</a:t>
            </a:r>
            <a:r>
              <a:rPr lang="en-US" altLang="zh-CN" sz="2000" dirty="0">
                <a:solidFill>
                  <a:srgbClr val="FF3300"/>
                </a:solidFill>
                <a:latin typeface="Arial" panose="020B0604020202020204" pitchFamily="34" charset="0"/>
                <a:ea typeface="黑体" panose="02010609060101010101" pitchFamily="1" charset="-122"/>
              </a:rPr>
              <a:t>3</a:t>
            </a:r>
            <a:r>
              <a:rPr lang="zh-CN" altLang="en-US" sz="2000" dirty="0">
                <a:solidFill>
                  <a:srgbClr val="FF3300"/>
                </a:solidFill>
                <a:latin typeface="Arial" panose="020B0604020202020204" pitchFamily="34" charset="0"/>
                <a:ea typeface="黑体" panose="02010609060101010101" pitchFamily="1" charset="-122"/>
              </a:rPr>
              <a:t>：定义带表达式的视图</a:t>
            </a:r>
            <a:endParaRPr lang="zh-CN" altLang="en-US" sz="2000" dirty="0">
              <a:solidFill>
                <a:srgbClr val="FF3300"/>
              </a:solidFill>
              <a:latin typeface="Arial" panose="020B0604020202020204" pitchFamily="34" charset="0"/>
              <a:ea typeface="黑体" panose="02010609060101010101" pitchFamily="1" charset="-122"/>
            </a:endParaRPr>
          </a:p>
          <a:p>
            <a:pPr>
              <a:lnSpc>
                <a:spcPct val="130000"/>
              </a:lnSpc>
            </a:pPr>
            <a:r>
              <a:rPr lang="en-US" altLang="zh-CN" dirty="0">
                <a:latin typeface="Arial" panose="020B0604020202020204" pitchFamily="34" charset="0"/>
                <a:ea typeface="宋体" panose="02010600030101010101" pitchFamily="2" charset="-122"/>
              </a:rPr>
              <a:t>      </a:t>
            </a:r>
            <a:r>
              <a:rPr lang="en-US" altLang="zh-CN" sz="2000" dirty="0">
                <a:latin typeface="Arial" panose="020B0604020202020204" pitchFamily="34" charset="0"/>
                <a:ea typeface="宋体" panose="02010600030101010101" pitchFamily="2" charset="-122"/>
              </a:rPr>
              <a:t>CREATE VIEW BT_S (Sno,Sname,Sbirth) AS</a:t>
            </a:r>
            <a:endParaRPr lang="en-US" altLang="zh-CN" sz="2000" dirty="0">
              <a:latin typeface="Arial" panose="020B0604020202020204" pitchFamily="34" charset="0"/>
              <a:ea typeface="宋体" panose="02010600030101010101" pitchFamily="2" charset="-122"/>
            </a:endParaRPr>
          </a:p>
          <a:p>
            <a:pPr>
              <a:lnSpc>
                <a:spcPct val="130000"/>
              </a:lnSpc>
            </a:pPr>
            <a:r>
              <a:rPr lang="en-US" altLang="zh-CN" sz="2000" dirty="0">
                <a:latin typeface="Arial" panose="020B0604020202020204" pitchFamily="34" charset="0"/>
                <a:ea typeface="宋体" panose="02010600030101010101" pitchFamily="2" charset="-122"/>
              </a:rPr>
              <a:t>           SELECT Sno,Sname,datepart(yyyy,getdate()-Sage FROM Student</a:t>
            </a:r>
            <a:endParaRPr lang="zh-CN" altLang="en-US" sz="2000" dirty="0">
              <a:latin typeface="Arial" panose="020B0604020202020204" pitchFamily="34" charset="0"/>
              <a:ea typeface="宋体" panose="02010600030101010101" pitchFamily="2" charset="-122"/>
            </a:endParaRP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5"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41986" name="矩形 2"/>
          <p:cNvSpPr/>
          <p:nvPr/>
        </p:nvSpPr>
        <p:spPr>
          <a:xfrm>
            <a:off x="542925" y="881063"/>
            <a:ext cx="3808413" cy="944562"/>
          </a:xfrm>
          <a:prstGeom prst="rect">
            <a:avLst/>
          </a:prstGeom>
          <a:noFill/>
          <a:ln w="9525">
            <a:noFill/>
          </a:ln>
        </p:spPr>
        <p:txBody>
          <a:bodyPr wrap="none" anchor="t" anchorCtr="0">
            <a:spAutoFit/>
          </a:bodyPr>
          <a:p>
            <a:r>
              <a:rPr lang="en-US" altLang="zh-CN" sz="2800" dirty="0">
                <a:solidFill>
                  <a:srgbClr val="0033CC"/>
                </a:solidFill>
                <a:latin typeface="黑体" panose="02010609060101010101" pitchFamily="1" charset="-122"/>
                <a:ea typeface="黑体" panose="02010609060101010101" pitchFamily="1" charset="-122"/>
              </a:rPr>
              <a:t>5.</a:t>
            </a:r>
            <a:r>
              <a:rPr lang="zh-CN" altLang="en-US" sz="2800" dirty="0">
                <a:solidFill>
                  <a:srgbClr val="0033CC"/>
                </a:solidFill>
                <a:latin typeface="黑体" panose="02010609060101010101" pitchFamily="1" charset="-122"/>
                <a:ea typeface="黑体" panose="02010609060101010101" pitchFamily="1" charset="-122"/>
              </a:rPr>
              <a:t>定义视图</a:t>
            </a:r>
            <a:r>
              <a:rPr lang="en-US" altLang="zh-CN" sz="2400" dirty="0">
                <a:solidFill>
                  <a:srgbClr val="FF0000"/>
                </a:solidFill>
                <a:latin typeface="黑体" panose="02010609060101010101" pitchFamily="1" charset="-122"/>
                <a:ea typeface="宋体" panose="02010600030101010101" pitchFamily="2" charset="-122"/>
              </a:rPr>
              <a:t>—</a:t>
            </a:r>
            <a:r>
              <a:rPr lang="zh-CN" altLang="en-US" sz="2400" dirty="0">
                <a:solidFill>
                  <a:srgbClr val="FF0000"/>
                </a:solidFill>
                <a:latin typeface="黑体" panose="02010609060101010101" pitchFamily="1" charset="-122"/>
                <a:ea typeface="宋体" panose="02010600030101010101" pitchFamily="2" charset="-122"/>
              </a:rPr>
              <a:t>修改和删除</a:t>
            </a:r>
            <a:endParaRPr lang="zh-CN" altLang="en-US" sz="2400" dirty="0">
              <a:solidFill>
                <a:srgbClr val="FF0000"/>
              </a:solidFill>
              <a:latin typeface="黑体" panose="02010609060101010101" pitchFamily="1" charset="-122"/>
              <a:ea typeface="宋体" panose="02010600030101010101" pitchFamily="2" charset="-122"/>
            </a:endParaRPr>
          </a:p>
          <a:p>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41987" name="Rectangle 3"/>
          <p:cNvSpPr txBox="1"/>
          <p:nvPr/>
        </p:nvSpPr>
        <p:spPr>
          <a:xfrm>
            <a:off x="638175" y="1493838"/>
            <a:ext cx="8077200" cy="4048125"/>
          </a:xfrm>
          <a:prstGeom prst="rect">
            <a:avLst/>
          </a:prstGeom>
          <a:noFill/>
          <a:ln w="9525">
            <a:noFill/>
          </a:ln>
        </p:spPr>
        <p:txBody>
          <a:bodyPr anchor="t" anchorCtr="0"/>
          <a:p>
            <a:pPr marL="457200" indent="-457200">
              <a:lnSpc>
                <a:spcPct val="80000"/>
              </a:lnSpc>
              <a:spcBef>
                <a:spcPct val="50000"/>
              </a:spcBef>
              <a:buClr>
                <a:srgbClr val="0033CC"/>
              </a:buClr>
              <a:buSzPct val="80000"/>
              <a:buFont typeface="Wingdings" panose="05000000000000000000" pitchFamily="2" charset="2"/>
              <a:buChar char="p"/>
            </a:pPr>
            <a:r>
              <a:rPr lang="zh-CN" altLang="en-US" sz="2800" dirty="0">
                <a:solidFill>
                  <a:srgbClr val="0033CC"/>
                </a:solidFill>
                <a:latin typeface="华文楷体" panose="02010600040101010101" pitchFamily="2" charset="-122"/>
                <a:ea typeface="宋体" panose="02010600030101010101" pitchFamily="2" charset="-122"/>
              </a:rPr>
              <a:t>注意：</a:t>
            </a:r>
            <a:endParaRPr lang="zh-CN" altLang="en-US" sz="2800" dirty="0">
              <a:solidFill>
                <a:srgbClr val="0033CC"/>
              </a:solidFill>
              <a:latin typeface="华文楷体" panose="02010600040101010101" pitchFamily="2" charset="-122"/>
              <a:ea typeface="宋体" panose="02010600030101010101" pitchFamily="2" charset="-122"/>
            </a:endParaRPr>
          </a:p>
          <a:p>
            <a:pPr marL="457200" indent="-457200">
              <a:spcBef>
                <a:spcPts val="900"/>
              </a:spcBef>
              <a:buClr>
                <a:srgbClr val="0033CC"/>
              </a:buClr>
              <a:buSzPct val="80000"/>
            </a:pPr>
            <a:r>
              <a:rPr lang="zh-CN" altLang="en-US" sz="2400" b="0" dirty="0">
                <a:latin typeface="楷体" panose="02010609060101010101" pitchFamily="1" charset="-122"/>
                <a:ea typeface="楷体" panose="02010609060101010101" pitchFamily="1" charset="-122"/>
              </a:rPr>
              <a:t> </a:t>
            </a:r>
            <a:r>
              <a:rPr lang="en-US" altLang="zh-CN" sz="2400" b="0" dirty="0">
                <a:latin typeface="楷体" panose="02010609060101010101" pitchFamily="1" charset="-122"/>
                <a:ea typeface="楷体" panose="02010609060101010101" pitchFamily="1" charset="-122"/>
              </a:rPr>
              <a:t>--</a:t>
            </a:r>
            <a:r>
              <a:rPr lang="zh-CN" altLang="en-US" sz="2400" b="0" dirty="0">
                <a:latin typeface="楷体" panose="02010609060101010101" pitchFamily="1" charset="-122"/>
                <a:ea typeface="楷体" panose="02010609060101010101" pitchFamily="1" charset="-122"/>
              </a:rPr>
              <a:t>如果在创建视图时，省略了视图属性名表，则默认</a:t>
            </a:r>
            <a:r>
              <a:rPr lang="en-US" altLang="zh-CN" sz="2400" b="0" dirty="0">
                <a:latin typeface="楷体" panose="02010609060101010101" pitchFamily="1" charset="-122"/>
                <a:ea typeface="楷体" panose="02010609060101010101" pitchFamily="1" charset="-122"/>
              </a:rPr>
              <a:t>SQL</a:t>
            </a:r>
            <a:r>
              <a:rPr lang="zh-CN" altLang="en-US" sz="2400" b="0" dirty="0">
                <a:latin typeface="楷体" panose="02010609060101010101" pitchFamily="1" charset="-122"/>
                <a:ea typeface="楷体" panose="02010609060101010101" pitchFamily="1" charset="-122"/>
              </a:rPr>
              <a:t>查询语句中选出的属性名。</a:t>
            </a:r>
            <a:endParaRPr lang="zh-CN" altLang="en-US" sz="2400" b="0" dirty="0">
              <a:latin typeface="楷体" panose="02010609060101010101" pitchFamily="1" charset="-122"/>
              <a:ea typeface="楷体" panose="02010609060101010101" pitchFamily="1" charset="-122"/>
            </a:endParaRPr>
          </a:p>
          <a:p>
            <a:pPr marL="457200" indent="-457200">
              <a:spcBef>
                <a:spcPts val="900"/>
              </a:spcBef>
              <a:buClr>
                <a:srgbClr val="0033CC"/>
              </a:buClr>
              <a:buSzPct val="80000"/>
            </a:pPr>
            <a:r>
              <a:rPr lang="zh-CN" altLang="en-US" sz="2400" b="0" dirty="0">
                <a:latin typeface="楷体" panose="02010609060101010101" pitchFamily="1" charset="-122"/>
                <a:ea typeface="楷体" panose="02010609060101010101" pitchFamily="1" charset="-122"/>
              </a:rPr>
              <a:t> </a:t>
            </a:r>
            <a:r>
              <a:rPr lang="en-US" altLang="zh-CN" sz="2400" b="0" dirty="0">
                <a:latin typeface="楷体" panose="02010609060101010101" pitchFamily="1" charset="-122"/>
                <a:ea typeface="楷体" panose="02010609060101010101" pitchFamily="1" charset="-122"/>
              </a:rPr>
              <a:t>--</a:t>
            </a:r>
            <a:r>
              <a:rPr lang="zh-CN" altLang="en-US" sz="2400" b="0" dirty="0">
                <a:latin typeface="楷体" panose="02010609060101010101" pitchFamily="1" charset="-122"/>
                <a:ea typeface="楷体" panose="02010609060101010101" pitchFamily="1" charset="-122"/>
              </a:rPr>
              <a:t>视图不能为列指定数据类型和长度，而是默认原表中列的数据类型和长度。</a:t>
            </a:r>
            <a:endParaRPr lang="zh-CN" altLang="en-US" sz="2400" b="0" dirty="0">
              <a:latin typeface="楷体" panose="02010609060101010101" pitchFamily="1" charset="-122"/>
              <a:ea typeface="楷体" panose="02010609060101010101" pitchFamily="1" charset="-122"/>
            </a:endParaRPr>
          </a:p>
          <a:p>
            <a:pPr marL="457200" indent="-457200">
              <a:spcBef>
                <a:spcPts val="900"/>
              </a:spcBef>
              <a:buClr>
                <a:srgbClr val="0033CC"/>
              </a:buClr>
              <a:buSzPct val="80000"/>
            </a:pPr>
            <a:r>
              <a:rPr lang="zh-CN" altLang="en-US" sz="2400" b="0" dirty="0">
                <a:latin typeface="楷体" panose="02010609060101010101" pitchFamily="1" charset="-122"/>
                <a:ea typeface="楷体" panose="02010609060101010101" pitchFamily="1" charset="-122"/>
              </a:rPr>
              <a:t> </a:t>
            </a:r>
            <a:r>
              <a:rPr lang="en-US" altLang="zh-CN" sz="2400" b="0" dirty="0">
                <a:latin typeface="楷体" panose="02010609060101010101" pitchFamily="1" charset="-122"/>
                <a:ea typeface="楷体" panose="02010609060101010101" pitchFamily="1" charset="-122"/>
              </a:rPr>
              <a:t>--SQL92</a:t>
            </a:r>
            <a:r>
              <a:rPr lang="zh-CN" altLang="en-US" sz="2400" b="0" dirty="0">
                <a:latin typeface="楷体" panose="02010609060101010101" pitchFamily="1" charset="-122"/>
                <a:ea typeface="楷体" panose="02010609060101010101" pitchFamily="1" charset="-122"/>
              </a:rPr>
              <a:t>只允许对基于一张表上的视图进行插入、修改和删除。对定义在多个基表之上或视图之上的视图，不允许进行更新操作。</a:t>
            </a:r>
            <a:endParaRPr lang="zh-CN" altLang="en-US" sz="2400" b="0" dirty="0">
              <a:latin typeface="楷体" panose="02010609060101010101" pitchFamily="1" charset="-122"/>
              <a:ea typeface="楷体" panose="02010609060101010101" pitchFamily="1" charset="-122"/>
            </a:endParaRPr>
          </a:p>
          <a:p>
            <a:pPr marL="457200" indent="-457200">
              <a:spcBef>
                <a:spcPts val="1800"/>
              </a:spcBef>
              <a:buClr>
                <a:srgbClr val="0033CC"/>
              </a:buClr>
              <a:buSzPct val="80000"/>
            </a:pPr>
            <a:r>
              <a:rPr lang="zh-CN" altLang="en-US" sz="2400" dirty="0">
                <a:latin typeface="华文楷体" panose="02010600040101010101" pitchFamily="2" charset="-122"/>
                <a:ea typeface="宋体" panose="02010600030101010101" pitchFamily="2" charset="-122"/>
              </a:rPr>
              <a:t>删除视图（</a:t>
            </a:r>
            <a:r>
              <a:rPr lang="en-US" altLang="zh-CN" sz="2400" dirty="0">
                <a:latin typeface="华文楷体" panose="02010600040101010101" pitchFamily="2" charset="-122"/>
                <a:ea typeface="宋体" panose="02010600030101010101" pitchFamily="2" charset="-122"/>
              </a:rPr>
              <a:t>DROP VIEW</a:t>
            </a:r>
            <a:r>
              <a:rPr lang="zh-CN" altLang="en-US" sz="2400" dirty="0">
                <a:latin typeface="华文楷体" panose="02010600040101010101" pitchFamily="2" charset="-122"/>
                <a:ea typeface="宋体" panose="02010600030101010101" pitchFamily="2" charset="-122"/>
              </a:rPr>
              <a:t>）</a:t>
            </a:r>
            <a:endParaRPr lang="zh-CN" altLang="en-US" sz="2400" dirty="0">
              <a:latin typeface="华文楷体" panose="02010600040101010101" pitchFamily="2" charset="-122"/>
              <a:ea typeface="宋体" panose="02010600030101010101" pitchFamily="2" charset="-122"/>
            </a:endParaRPr>
          </a:p>
          <a:p>
            <a:pPr marL="457200" indent="-457200">
              <a:spcBef>
                <a:spcPct val="20000"/>
              </a:spcBef>
              <a:buClr>
                <a:srgbClr val="0033CC"/>
              </a:buClr>
              <a:buSzPct val="80000"/>
            </a:pPr>
            <a:r>
              <a:rPr lang="zh-CN" altLang="en-US" sz="2400" dirty="0">
                <a:latin typeface="华文楷体" panose="02010600040101010101" pitchFamily="2" charset="-122"/>
                <a:ea typeface="宋体" panose="02010600030101010101" pitchFamily="2" charset="-122"/>
              </a:rPr>
              <a:t>        </a:t>
            </a:r>
            <a:r>
              <a:rPr lang="en-US" altLang="zh-CN" sz="2400" dirty="0">
                <a:latin typeface="华文楷体" panose="02010600040101010101" pitchFamily="2" charset="-122"/>
                <a:ea typeface="宋体" panose="02010600030101010101" pitchFamily="2" charset="-122"/>
              </a:rPr>
              <a:t>DROP  VIEW  StuCourse</a:t>
            </a:r>
            <a:r>
              <a:rPr lang="en-US" altLang="zh-CN" sz="2400" dirty="0">
                <a:solidFill>
                  <a:srgbClr val="000099"/>
                </a:solidFill>
                <a:latin typeface="华文楷体" panose="02010600040101010101" pitchFamily="2" charset="-122"/>
                <a:ea typeface="宋体" panose="02010600030101010101" pitchFamily="2" charset="-122"/>
              </a:rPr>
              <a:t> </a:t>
            </a:r>
            <a:endParaRPr lang="en-US" altLang="zh-CN" sz="2400" dirty="0">
              <a:solidFill>
                <a:srgbClr val="000099"/>
              </a:solidFill>
              <a:latin typeface="华文楷体" panose="02010600040101010101" pitchFamily="2" charset="-122"/>
              <a:ea typeface="宋体" panose="02010600030101010101" pitchFamily="2" charset="-122"/>
            </a:endParaRPr>
          </a:p>
        </p:txBody>
      </p:sp>
      <p:sp>
        <p:nvSpPr>
          <p:cNvPr id="32773" name="AutoShape 2"/>
          <p:cNvSpPr/>
          <p:nvPr/>
        </p:nvSpPr>
        <p:spPr>
          <a:xfrm>
            <a:off x="638175" y="1946275"/>
            <a:ext cx="7997825" cy="2916238"/>
          </a:xfrm>
          <a:prstGeom prst="roundRect">
            <a:avLst>
              <a:gd name="adj" fmla="val 10375"/>
            </a:avLst>
          </a:prstGeom>
          <a:noFill/>
          <a:ln w="19050" cap="rnd" cmpd="sng">
            <a:solidFill>
              <a:schemeClr val="accent2"/>
            </a:solidFill>
            <a:prstDash val="sysDot"/>
            <a:headEnd type="none" w="med" len="med"/>
            <a:tailEnd type="none" w="med" len="med"/>
          </a:ln>
        </p:spPr>
        <p:txBody>
          <a:bodyPr wrap="none" anchor="ctr"/>
          <a:p>
            <a:pPr lvl="0" eaLnBrk="1" fontAlgn="base" hangingPunct="1">
              <a:lnSpc>
                <a:spcPct val="135000"/>
              </a:lnSpc>
              <a:buChar char="•"/>
            </a:pPr>
            <a:endParaRPr lang="zh-CN" altLang="en-US" strike="noStrike" noProof="1" dirty="0">
              <a:effectLst>
                <a:outerShdw blurRad="38100" dist="38100" dir="2700000">
                  <a:srgbClr val="C0C0C0"/>
                </a:outerShdw>
              </a:effectLst>
              <a:latin typeface="Arial" panose="020B0604020202020204" pitchFamily="34" charset="0"/>
              <a:ea typeface="宋体" panose="02010600030101010101" pitchFamily="2" charset="-122"/>
            </a:endParaRP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文本框 1"/>
          <p:cNvSpPr txBox="1"/>
          <p:nvPr/>
        </p:nvSpPr>
        <p:spPr>
          <a:xfrm>
            <a:off x="596900" y="969963"/>
            <a:ext cx="7948613" cy="473868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0"/>
              </a:spcBef>
              <a:buClrTx/>
              <a:buSzTx/>
              <a:buFont typeface="Arial" panose="020B0604020202020204" pitchFamily="34" charset="0"/>
              <a:buNone/>
            </a:pPr>
            <a:r>
              <a:rPr lang="zh-CN" altLang="en-US" sz="2100" dirty="0"/>
              <a:t>1．SQL的视图是从（      ）中导出的。</a:t>
            </a:r>
            <a:endParaRPr lang="zh-CN" altLang="en-US" sz="2100" dirty="0"/>
          </a:p>
          <a:p>
            <a:pPr marL="0" lvl="0" indent="0" eaLnBrk="1" hangingPunct="1">
              <a:lnSpc>
                <a:spcPct val="120000"/>
              </a:lnSpc>
              <a:spcBef>
                <a:spcPct val="0"/>
              </a:spcBef>
              <a:buClrTx/>
              <a:buSzTx/>
              <a:buFont typeface="Arial" panose="020B0604020202020204" pitchFamily="34" charset="0"/>
              <a:buNone/>
            </a:pPr>
            <a:r>
              <a:rPr lang="zh-CN" altLang="en-US" sz="2100" dirty="0"/>
              <a:t>    A. 基本表     B. 视图         C. 基本表或视图        D. 数据库</a:t>
            </a:r>
            <a:endParaRPr lang="zh-CN" altLang="en-US" sz="2100" dirty="0"/>
          </a:p>
          <a:p>
            <a:pPr marL="0" lvl="0" indent="0" eaLnBrk="1" hangingPunct="1">
              <a:lnSpc>
                <a:spcPct val="120000"/>
              </a:lnSpc>
              <a:spcBef>
                <a:spcPct val="0"/>
              </a:spcBef>
              <a:buClrTx/>
              <a:buSzTx/>
              <a:buFont typeface="Arial" panose="020B0604020202020204" pitchFamily="34" charset="0"/>
              <a:buNone/>
            </a:pPr>
            <a:r>
              <a:rPr lang="en-US" altLang="zh-CN" sz="2100" dirty="0"/>
              <a:t>2</a:t>
            </a:r>
            <a:r>
              <a:rPr lang="zh-CN" altLang="en-US" sz="2100" dirty="0"/>
              <a:t>．视图中存放（       ）。</a:t>
            </a:r>
            <a:endParaRPr lang="zh-CN" altLang="en-US" sz="2100" dirty="0"/>
          </a:p>
          <a:p>
            <a:pPr marL="0" lvl="0" indent="0" eaLnBrk="1" hangingPunct="1">
              <a:lnSpc>
                <a:spcPct val="120000"/>
              </a:lnSpc>
              <a:spcBef>
                <a:spcPct val="0"/>
              </a:spcBef>
              <a:buClrTx/>
              <a:buSzTx/>
              <a:buFont typeface="Arial" panose="020B0604020202020204" pitchFamily="34" charset="0"/>
              <a:buNone/>
            </a:pPr>
            <a:r>
              <a:rPr lang="zh-CN" altLang="en-US" sz="2100" dirty="0"/>
              <a:t>    A</a:t>
            </a:r>
            <a:r>
              <a:rPr lang="zh-CN" altLang="en-US" sz="2100" dirty="0">
                <a:sym typeface="+mn-ea"/>
              </a:rPr>
              <a:t>. </a:t>
            </a:r>
            <a:r>
              <a:rPr lang="zh-CN" altLang="en-US" sz="2100" dirty="0"/>
              <a:t>表            B</a:t>
            </a:r>
            <a:r>
              <a:rPr lang="zh-CN" altLang="en-US" sz="2100" dirty="0">
                <a:sym typeface="+mn-ea"/>
              </a:rPr>
              <a:t>. </a:t>
            </a:r>
            <a:r>
              <a:rPr lang="zh-CN" altLang="en-US" sz="2100" dirty="0"/>
              <a:t>数据图      C</a:t>
            </a:r>
            <a:r>
              <a:rPr lang="zh-CN" altLang="en-US" sz="2100" dirty="0">
                <a:sym typeface="+mn-ea"/>
              </a:rPr>
              <a:t>. </a:t>
            </a:r>
            <a:r>
              <a:rPr lang="zh-CN" altLang="en-US" sz="2100" dirty="0"/>
              <a:t>数据     D</a:t>
            </a:r>
            <a:r>
              <a:rPr lang="zh-CN" altLang="en-US" sz="2100" dirty="0">
                <a:sym typeface="+mn-ea"/>
              </a:rPr>
              <a:t>. </a:t>
            </a:r>
            <a:r>
              <a:rPr lang="zh-CN" altLang="en-US" sz="2100" dirty="0"/>
              <a:t>查询定义</a:t>
            </a:r>
            <a:endParaRPr lang="zh-CN" altLang="en-US" sz="2100" dirty="0"/>
          </a:p>
          <a:p>
            <a:pPr marL="0" lvl="0" indent="0" eaLnBrk="1" hangingPunct="1">
              <a:lnSpc>
                <a:spcPct val="120000"/>
              </a:lnSpc>
              <a:spcBef>
                <a:spcPct val="0"/>
              </a:spcBef>
              <a:buClrTx/>
              <a:buSzTx/>
              <a:buFont typeface="Arial" panose="020B0604020202020204" pitchFamily="34" charset="0"/>
              <a:buNone/>
            </a:pPr>
            <a:r>
              <a:rPr lang="en-US" altLang="zh-CN" sz="2100" dirty="0"/>
              <a:t>3</a:t>
            </a:r>
            <a:r>
              <a:rPr lang="zh-CN" altLang="en-US" sz="2100" dirty="0"/>
              <a:t>、在视图上不能完成的操作是（    ） </a:t>
            </a:r>
            <a:endParaRPr lang="zh-CN" altLang="en-US" sz="2100" dirty="0"/>
          </a:p>
          <a:p>
            <a:pPr marL="0" lvl="0" indent="0" eaLnBrk="1" hangingPunct="1">
              <a:lnSpc>
                <a:spcPct val="120000"/>
              </a:lnSpc>
              <a:spcBef>
                <a:spcPct val="0"/>
              </a:spcBef>
              <a:buClrTx/>
              <a:buSzTx/>
              <a:buFont typeface="Arial" panose="020B0604020202020204" pitchFamily="34" charset="0"/>
              <a:buNone/>
            </a:pPr>
            <a:r>
              <a:rPr lang="zh-CN" altLang="en-US" sz="2100" dirty="0"/>
              <a:t>    A.更新视图数据                      B．在视图上定义新的基本表    </a:t>
            </a:r>
            <a:endParaRPr lang="zh-CN" altLang="en-US" sz="2100" dirty="0"/>
          </a:p>
          <a:p>
            <a:pPr marL="0" lvl="0" indent="0" eaLnBrk="1" hangingPunct="1">
              <a:lnSpc>
                <a:spcPct val="120000"/>
              </a:lnSpc>
              <a:spcBef>
                <a:spcPct val="0"/>
              </a:spcBef>
              <a:buClrTx/>
              <a:buSzTx/>
              <a:buFont typeface="Arial" panose="020B0604020202020204" pitchFamily="34" charset="0"/>
              <a:buNone/>
            </a:pPr>
            <a:r>
              <a:rPr lang="zh-CN" altLang="en-US" sz="2100" dirty="0"/>
              <a:t>    C.在视图上定义新的视图       D.查询</a:t>
            </a:r>
            <a:endParaRPr lang="zh-CN" altLang="en-US" sz="2100" dirty="0"/>
          </a:p>
          <a:p>
            <a:pPr marL="0" lvl="0" indent="0" eaLnBrk="1" hangingPunct="1">
              <a:lnSpc>
                <a:spcPct val="120000"/>
              </a:lnSpc>
              <a:spcBef>
                <a:spcPct val="0"/>
              </a:spcBef>
              <a:buClrTx/>
              <a:buSzTx/>
              <a:buFont typeface="Arial" panose="020B0604020202020204" pitchFamily="34" charset="0"/>
              <a:buNone/>
            </a:pPr>
            <a:r>
              <a:rPr lang="en-US" altLang="zh-CN" sz="2100" dirty="0"/>
              <a:t>4</a:t>
            </a:r>
            <a:r>
              <a:rPr lang="zh-CN" altLang="en-US" sz="2100" dirty="0"/>
              <a:t>、在SQL语言中视图VIEW对应数据库的（      ）</a:t>
            </a:r>
            <a:endParaRPr lang="zh-CN" altLang="en-US" sz="2100" dirty="0"/>
          </a:p>
          <a:p>
            <a:pPr marL="0" lvl="0" indent="0" eaLnBrk="1" hangingPunct="1">
              <a:lnSpc>
                <a:spcPct val="120000"/>
              </a:lnSpc>
              <a:spcBef>
                <a:spcPct val="0"/>
              </a:spcBef>
              <a:buClrTx/>
              <a:buSzTx/>
              <a:buFont typeface="Arial" panose="020B0604020202020204" pitchFamily="34" charset="0"/>
              <a:buNone/>
            </a:pPr>
            <a:r>
              <a:rPr lang="zh-CN" altLang="en-US" sz="2100" dirty="0"/>
              <a:t>    A. 外模式          B. 存储模式         C.模式          D. 内模式 </a:t>
            </a:r>
            <a:endParaRPr lang="zh-CN" altLang="en-US" sz="2100" dirty="0"/>
          </a:p>
          <a:p>
            <a:pPr marL="0" lvl="0" indent="0" eaLnBrk="1" hangingPunct="1">
              <a:lnSpc>
                <a:spcPct val="120000"/>
              </a:lnSpc>
              <a:spcBef>
                <a:spcPct val="0"/>
              </a:spcBef>
              <a:buClrTx/>
              <a:buSzTx/>
              <a:buFont typeface="Arial" panose="020B0604020202020204" pitchFamily="34" charset="0"/>
              <a:buNone/>
            </a:pPr>
            <a:r>
              <a:rPr lang="en-US" altLang="zh-CN" sz="2100" dirty="0"/>
              <a:t>5</a:t>
            </a:r>
            <a:r>
              <a:rPr lang="zh-CN" altLang="en-US" sz="2100" dirty="0"/>
              <a:t>、下面列出的关于“视图”的条目中，哪一条是不正确的？（     ）</a:t>
            </a:r>
            <a:endParaRPr lang="zh-CN" altLang="en-US" sz="2100" dirty="0"/>
          </a:p>
          <a:p>
            <a:pPr marL="0" lvl="0" indent="0" eaLnBrk="1" hangingPunct="1">
              <a:lnSpc>
                <a:spcPct val="120000"/>
              </a:lnSpc>
              <a:spcBef>
                <a:spcPct val="0"/>
              </a:spcBef>
              <a:buClrTx/>
              <a:buSzTx/>
              <a:buFont typeface="Arial" panose="020B0604020202020204" pitchFamily="34" charset="0"/>
              <a:buNone/>
            </a:pPr>
            <a:r>
              <a:rPr lang="zh-CN" altLang="en-US" sz="2100" dirty="0"/>
              <a:t>A. 视图是外模式         B. 使用视图可以加快查询语句的执行速度</a:t>
            </a:r>
            <a:endParaRPr lang="zh-CN" altLang="en-US" sz="2100" dirty="0"/>
          </a:p>
          <a:p>
            <a:pPr marL="0" lvl="0" indent="0" eaLnBrk="1" hangingPunct="1">
              <a:lnSpc>
                <a:spcPct val="120000"/>
              </a:lnSpc>
              <a:spcBef>
                <a:spcPct val="0"/>
              </a:spcBef>
              <a:buClrTx/>
              <a:buSzTx/>
              <a:buFont typeface="Arial" panose="020B0604020202020204" pitchFamily="34" charset="0"/>
              <a:buNone/>
            </a:pPr>
            <a:r>
              <a:rPr lang="zh-CN" altLang="en-US" sz="2100" dirty="0"/>
              <a:t>C. 视图是虚表            D. 使用视图可以简化查询语句的编写</a:t>
            </a:r>
            <a:endParaRPr lang="zh-CN" altLang="en-US" sz="2100" dirty="0"/>
          </a:p>
        </p:txBody>
      </p:sp>
      <p:sp>
        <p:nvSpPr>
          <p:cNvPr id="45" name="文本框 44"/>
          <p:cNvSpPr txBox="1"/>
          <p:nvPr/>
        </p:nvSpPr>
        <p:spPr>
          <a:xfrm>
            <a:off x="442913" y="-46037"/>
            <a:ext cx="2681288" cy="830263"/>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问题研讨：</a:t>
            </a:r>
            <a:endParaRPr kumimoji="0" lang="zh-CN" altLang="en-US" sz="3200" kern="1200" cap="none" spc="0" normalizeH="0" baseline="0" noProof="0" dirty="0">
              <a:latin typeface="Arial" panose="020B0604020202020204" pitchFamily="34" charset="0"/>
              <a:ea typeface="宋体" panose="02010600030101010101" pitchFamily="2" charset="-122"/>
              <a:cs typeface="+mn-cs"/>
            </a:endParaRPr>
          </a:p>
        </p:txBody>
      </p:sp>
      <p:sp>
        <p:nvSpPr>
          <p:cNvPr id="3" name="文本框 2"/>
          <p:cNvSpPr txBox="1"/>
          <p:nvPr/>
        </p:nvSpPr>
        <p:spPr>
          <a:xfrm>
            <a:off x="3270250" y="963613"/>
            <a:ext cx="403225" cy="58896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400" dirty="0">
                <a:solidFill>
                  <a:srgbClr val="C00000"/>
                </a:solidFill>
              </a:rPr>
              <a:t>C</a:t>
            </a:r>
            <a:endParaRPr lang="en-US" altLang="zh-CN" sz="2400" dirty="0">
              <a:solidFill>
                <a:srgbClr val="C00000"/>
              </a:solidFill>
            </a:endParaRPr>
          </a:p>
        </p:txBody>
      </p:sp>
      <p:sp>
        <p:nvSpPr>
          <p:cNvPr id="4" name="文本框 3"/>
          <p:cNvSpPr txBox="1"/>
          <p:nvPr/>
        </p:nvSpPr>
        <p:spPr>
          <a:xfrm>
            <a:off x="2720975" y="1774825"/>
            <a:ext cx="403225" cy="386715"/>
          </a:xfrm>
          <a:prstGeom prst="rect">
            <a:avLst/>
          </a:prstGeom>
          <a:noFill/>
          <a:ln w="9525">
            <a:noFill/>
          </a:ln>
        </p:spPr>
        <p:txBody>
          <a:bodyPr wrap="none">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400" dirty="0">
                <a:solidFill>
                  <a:srgbClr val="C00000"/>
                </a:solidFill>
              </a:rPr>
              <a:t>D</a:t>
            </a:r>
            <a:endParaRPr lang="en-US" altLang="zh-CN" sz="2400" dirty="0">
              <a:solidFill>
                <a:srgbClr val="C00000"/>
              </a:solidFill>
            </a:endParaRPr>
          </a:p>
        </p:txBody>
      </p:sp>
      <p:sp>
        <p:nvSpPr>
          <p:cNvPr id="5" name="文本框 4"/>
          <p:cNvSpPr txBox="1"/>
          <p:nvPr/>
        </p:nvSpPr>
        <p:spPr>
          <a:xfrm>
            <a:off x="4625975" y="2548255"/>
            <a:ext cx="403225" cy="501650"/>
          </a:xfrm>
          <a:prstGeom prst="rect">
            <a:avLst/>
          </a:prstGeom>
          <a:noFill/>
          <a:ln w="9525">
            <a:noFill/>
          </a:ln>
        </p:spPr>
        <p:txBody>
          <a:bodyPr wrap="none">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400" dirty="0">
                <a:solidFill>
                  <a:srgbClr val="C00000"/>
                </a:solidFill>
              </a:rPr>
              <a:t>B</a:t>
            </a:r>
            <a:endParaRPr lang="en-US" altLang="zh-CN" sz="2400" dirty="0">
              <a:solidFill>
                <a:srgbClr val="C00000"/>
              </a:solidFill>
            </a:endParaRPr>
          </a:p>
        </p:txBody>
      </p:sp>
      <p:sp>
        <p:nvSpPr>
          <p:cNvPr id="6" name="文本框 5"/>
          <p:cNvSpPr txBox="1"/>
          <p:nvPr/>
        </p:nvSpPr>
        <p:spPr>
          <a:xfrm>
            <a:off x="5835650" y="3665538"/>
            <a:ext cx="403225" cy="58896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400" dirty="0">
                <a:solidFill>
                  <a:srgbClr val="C00000"/>
                </a:solidFill>
              </a:rPr>
              <a:t>A</a:t>
            </a:r>
            <a:endParaRPr lang="en-US" altLang="zh-CN" sz="2400" dirty="0">
              <a:solidFill>
                <a:srgbClr val="C00000"/>
              </a:solidFill>
            </a:endParaRPr>
          </a:p>
        </p:txBody>
      </p:sp>
      <p:sp>
        <p:nvSpPr>
          <p:cNvPr id="7" name="文本框 6"/>
          <p:cNvSpPr txBox="1"/>
          <p:nvPr/>
        </p:nvSpPr>
        <p:spPr>
          <a:xfrm>
            <a:off x="8077200" y="4416425"/>
            <a:ext cx="403225" cy="527050"/>
          </a:xfrm>
          <a:prstGeom prst="rect">
            <a:avLst/>
          </a:prstGeom>
          <a:noFill/>
          <a:ln w="9525">
            <a:noFill/>
          </a:ln>
        </p:spPr>
        <p:txBody>
          <a:bodyPr wrap="none">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400" dirty="0">
                <a:solidFill>
                  <a:srgbClr val="C00000"/>
                </a:solidFill>
              </a:rPr>
              <a:t>B</a:t>
            </a:r>
            <a:endParaRPr lang="en-US" altLang="zh-CN" sz="2400" dirty="0">
              <a:solidFill>
                <a:srgbClr val="C0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ppt_x"/>
                                          </p:val>
                                        </p:tav>
                                        <p:tav tm="100000">
                                          <p:val>
                                            <p:strVal val="#ppt_x"/>
                                          </p:val>
                                        </p:tav>
                                      </p:tavLst>
                                    </p:anim>
                                    <p:anim calcmode="lin" valueType="num">
                                      <p:cBhvr additive="base">
                                        <p:cTn id="2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ppt_x"/>
                                          </p:val>
                                        </p:tav>
                                        <p:tav tm="100000">
                                          <p:val>
                                            <p:strVal val="#ppt_x"/>
                                          </p:val>
                                        </p:tav>
                                      </p:tavLst>
                                    </p:anim>
                                    <p:anim calcmode="lin" valueType="num">
                                      <p:cBhvr additive="base">
                                        <p:cTn id="3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 name="文本框 44"/>
          <p:cNvSpPr txBox="1"/>
          <p:nvPr/>
        </p:nvSpPr>
        <p:spPr>
          <a:xfrm>
            <a:off x="469900" y="-19050"/>
            <a:ext cx="2682875" cy="830263"/>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问题研讨：</a:t>
            </a:r>
            <a:endParaRPr kumimoji="0" lang="zh-CN" altLang="en-US" sz="3200" kern="1200" cap="none" spc="0" normalizeH="0" baseline="0" noProof="0" dirty="0">
              <a:latin typeface="Arial" panose="020B0604020202020204" pitchFamily="34" charset="0"/>
              <a:ea typeface="宋体" panose="02010600030101010101" pitchFamily="2" charset="-122"/>
              <a:cs typeface="+mn-cs"/>
            </a:endParaRPr>
          </a:p>
        </p:txBody>
      </p:sp>
      <p:sp>
        <p:nvSpPr>
          <p:cNvPr id="2" name="矩形 1"/>
          <p:cNvSpPr/>
          <p:nvPr/>
        </p:nvSpPr>
        <p:spPr>
          <a:xfrm>
            <a:off x="544513" y="1001713"/>
            <a:ext cx="8383588" cy="3935413"/>
          </a:xfrm>
          <a:prstGeom prst="rect">
            <a:avLst/>
          </a:prstGeom>
        </p:spPr>
        <p:txBody>
          <a:bodyPr>
            <a:spAutoFit/>
          </a:bodyPr>
          <a:lstStyle/>
          <a:p>
            <a:pPr marL="0" marR="0" lvl="0" indent="0" algn="just" defTabSz="914400" rtl="0" eaLnBrk="1" fontAlgn="base" latinLnBrk="0" hangingPunct="1">
              <a:lnSpc>
                <a:spcPct val="110000"/>
              </a:lnSpc>
              <a:spcBef>
                <a:spcPts val="0"/>
              </a:spcBef>
              <a:spcAft>
                <a:spcPts val="0"/>
              </a:spcAft>
              <a:buClrTx/>
              <a:buSzTx/>
              <a:buFont typeface="Arial" panose="020B0604020202020204" pitchFamily="34" charset="0"/>
              <a:buNone/>
              <a:defRPr/>
            </a:pPr>
            <a:r>
              <a:rPr kumimoji="0" lang="en-US" altLang="zh-CN" sz="21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rPr>
              <a:t>6</a:t>
            </a:r>
            <a:r>
              <a:rPr kumimoji="0" lang="zh-CN" altLang="en-US" sz="21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rPr>
              <a:t>、请在下列表的基础上创建视图。</a:t>
            </a:r>
            <a:endParaRPr kumimoji="0" lang="zh-CN" altLang="en-US" sz="21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endParaRPr>
          </a:p>
          <a:p>
            <a:pPr marL="0" marR="0" lvl="0" indent="0" algn="just" defTabSz="914400" rtl="0" eaLnBrk="1" fontAlgn="base" latinLnBrk="0" hangingPunct="1">
              <a:lnSpc>
                <a:spcPct val="110000"/>
              </a:lnSpc>
              <a:spcBef>
                <a:spcPts val="0"/>
              </a:spcBef>
              <a:spcAft>
                <a:spcPts val="0"/>
              </a:spcAft>
              <a:buClrTx/>
              <a:buSzTx/>
              <a:buFont typeface="Arial" panose="020B0604020202020204" pitchFamily="34" charset="0"/>
              <a:buNone/>
              <a:defRPr/>
            </a:pPr>
            <a:r>
              <a:rPr kumimoji="0" lang="zh-CN" altLang="en-US" sz="21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rPr>
              <a:t>学生表   </a:t>
            </a:r>
            <a:r>
              <a:rPr kumimoji="0" lang="en-US" altLang="zh-CN" sz="21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rPr>
              <a:t>S(SID,SName,SGender,BirthDate,Telephone,Major,EntryYear)</a:t>
            </a:r>
            <a:endParaRPr kumimoji="0" lang="en-US" altLang="zh-CN" sz="21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endParaRPr>
          </a:p>
          <a:p>
            <a:pPr marL="0" marR="0" lvl="0" indent="0" algn="just" defTabSz="914400" rtl="0" eaLnBrk="1" fontAlgn="base" latinLnBrk="0" hangingPunct="1">
              <a:lnSpc>
                <a:spcPct val="110000"/>
              </a:lnSpc>
              <a:spcBef>
                <a:spcPts val="0"/>
              </a:spcBef>
              <a:spcAft>
                <a:spcPts val="0"/>
              </a:spcAft>
              <a:buClrTx/>
              <a:buSzTx/>
              <a:buFont typeface="Arial" panose="020B0604020202020204" pitchFamily="34" charset="0"/>
              <a:buNone/>
              <a:defRPr/>
            </a:pPr>
            <a:r>
              <a:rPr kumimoji="0" lang="zh-CN" altLang="en-US" sz="21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rPr>
              <a:t>课程表   </a:t>
            </a:r>
            <a:r>
              <a:rPr kumimoji="0" lang="en-US" altLang="zh-CN" sz="21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rPr>
              <a:t>C(CID,CName,Credit)</a:t>
            </a:r>
            <a:endParaRPr kumimoji="0" lang="en-US" altLang="zh-CN" sz="21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endParaRPr>
          </a:p>
          <a:p>
            <a:pPr marL="0" marR="0" lvl="0" indent="0" algn="just" defTabSz="914400" rtl="0" eaLnBrk="1" fontAlgn="base" latinLnBrk="0" hangingPunct="1">
              <a:lnSpc>
                <a:spcPct val="110000"/>
              </a:lnSpc>
              <a:spcBef>
                <a:spcPts val="0"/>
              </a:spcBef>
              <a:spcAft>
                <a:spcPts val="0"/>
              </a:spcAft>
              <a:buClrTx/>
              <a:buSzTx/>
              <a:buFont typeface="Arial" panose="020B0604020202020204" pitchFamily="34" charset="0"/>
              <a:buNone/>
              <a:defRPr/>
            </a:pPr>
            <a:r>
              <a:rPr kumimoji="0" lang="zh-CN" altLang="en-US" sz="21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sym typeface="+mn-ea"/>
              </a:rPr>
              <a:t>选课表 </a:t>
            </a:r>
            <a:r>
              <a:rPr kumimoji="0" lang="en-US" altLang="zh-CN" sz="21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sym typeface="+mn-ea"/>
              </a:rPr>
              <a:t>SC(SID,CID,Score)</a:t>
            </a:r>
            <a:endParaRPr kumimoji="0" lang="en-US" altLang="zh-CN" sz="21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sym typeface="+mn-ea"/>
            </a:endParaRPr>
          </a:p>
          <a:p>
            <a:pPr marL="0" marR="0" lvl="0" indent="0" algn="just" defTabSz="914400" rtl="0" eaLnBrk="1" fontAlgn="base" latinLnBrk="0" hangingPunct="1">
              <a:lnSpc>
                <a:spcPct val="110000"/>
              </a:lnSpc>
              <a:spcBef>
                <a:spcPts val="0"/>
              </a:spcBef>
              <a:spcAft>
                <a:spcPts val="0"/>
              </a:spcAft>
              <a:buClrTx/>
              <a:buSzTx/>
              <a:buFont typeface="Arial" panose="020B0604020202020204" pitchFamily="34" charset="0"/>
              <a:buNone/>
              <a:defRPr/>
            </a:pPr>
            <a:r>
              <a:rPr kumimoji="0" lang="en-US" altLang="zh-CN" sz="21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sym typeface="+mn-ea"/>
              </a:rPr>
              <a:t>   </a:t>
            </a:r>
            <a:r>
              <a:rPr kumimoji="0" lang="zh-CN" altLang="en-US" sz="21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sym typeface="+mn-ea"/>
              </a:rPr>
              <a:t>（</a:t>
            </a:r>
            <a:r>
              <a:rPr kumimoji="0" lang="en-US" altLang="zh-CN" sz="21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sym typeface="+mn-ea"/>
              </a:rPr>
              <a:t>1</a:t>
            </a:r>
            <a:r>
              <a:rPr kumimoji="0" lang="zh-CN" altLang="en-US" sz="21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sym typeface="+mn-ea"/>
              </a:rPr>
              <a:t>）创建查询轨道专业</a:t>
            </a:r>
            <a:r>
              <a:rPr kumimoji="0" lang="en-US" altLang="zh-CN" sz="21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sym typeface="+mn-ea"/>
              </a:rPr>
              <a:t>2018</a:t>
            </a:r>
            <a:r>
              <a:rPr kumimoji="0" lang="zh-CN" altLang="en-US" sz="21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sym typeface="+mn-ea"/>
              </a:rPr>
              <a:t>级学生的视图</a:t>
            </a:r>
            <a:r>
              <a:rPr kumimoji="0" lang="en-US" altLang="zh-CN" sz="21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sym typeface="+mn-ea"/>
              </a:rPr>
              <a:t>M_Track2018_SV</a:t>
            </a:r>
            <a:r>
              <a:rPr kumimoji="0" lang="zh-CN" altLang="en-US" sz="21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sym typeface="+mn-ea"/>
              </a:rPr>
              <a:t>，包括学号、姓名、性别、年龄、电话。</a:t>
            </a:r>
            <a:endParaRPr kumimoji="0" lang="zh-CN" altLang="en-US" sz="21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sym typeface="+mn-ea"/>
            </a:endParaRPr>
          </a:p>
          <a:p>
            <a:pPr marL="0" marR="0" lvl="0" indent="0" algn="just" defTabSz="914400" rtl="0" eaLnBrk="1" fontAlgn="base" latinLnBrk="0" hangingPunct="1">
              <a:lnSpc>
                <a:spcPct val="110000"/>
              </a:lnSpc>
              <a:spcBef>
                <a:spcPts val="0"/>
              </a:spcBef>
              <a:spcAft>
                <a:spcPts val="0"/>
              </a:spcAft>
              <a:buClrTx/>
              <a:buSzTx/>
              <a:buFont typeface="Arial" panose="020B0604020202020204" pitchFamily="34" charset="0"/>
              <a:buNone/>
              <a:defRPr/>
            </a:pPr>
            <a:endParaRPr kumimoji="0" lang="zh-CN" altLang="en-US" sz="21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sym typeface="+mn-ea"/>
            </a:endParaRPr>
          </a:p>
          <a:p>
            <a:pPr marL="0" marR="0" lvl="0" indent="0" algn="just" defTabSz="914400" rtl="0" eaLnBrk="1" fontAlgn="base" latinLnBrk="0" hangingPunct="1">
              <a:lnSpc>
                <a:spcPct val="110000"/>
              </a:lnSpc>
              <a:spcBef>
                <a:spcPts val="0"/>
              </a:spcBef>
              <a:spcAft>
                <a:spcPts val="0"/>
              </a:spcAft>
              <a:buClrTx/>
              <a:buSzTx/>
              <a:buFont typeface="Arial" panose="020B0604020202020204" pitchFamily="34" charset="0"/>
              <a:buNone/>
              <a:defRPr/>
            </a:pPr>
            <a:r>
              <a:rPr kumimoji="0" lang="en-US" altLang="zh-CN" sz="21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sym typeface="+mn-ea"/>
              </a:rPr>
              <a:t> </a:t>
            </a:r>
            <a:endParaRPr kumimoji="0" lang="zh-CN" altLang="en-US" sz="21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sym typeface="+mn-ea"/>
            </a:endParaRPr>
          </a:p>
          <a:p>
            <a:pPr marL="0" marR="0" lvl="0" indent="0" algn="just" defTabSz="914400" rtl="0" eaLnBrk="1" fontAlgn="base" latinLnBrk="0" hangingPunct="1">
              <a:lnSpc>
                <a:spcPct val="110000"/>
              </a:lnSpc>
              <a:spcBef>
                <a:spcPts val="0"/>
              </a:spcBef>
              <a:spcAft>
                <a:spcPts val="0"/>
              </a:spcAft>
              <a:buClrTx/>
              <a:buSzTx/>
              <a:buFont typeface="Arial" panose="020B0604020202020204" pitchFamily="34" charset="0"/>
              <a:buNone/>
              <a:defRPr/>
            </a:pPr>
            <a:endParaRPr kumimoji="0" lang="zh-CN" altLang="en-US" sz="21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sym typeface="+mn-ea"/>
            </a:endParaRPr>
          </a:p>
          <a:p>
            <a:pPr marL="0" marR="0" lvl="0" indent="0" algn="just" defTabSz="914400" rtl="0" eaLnBrk="1" fontAlgn="base" latinLnBrk="0" hangingPunct="1">
              <a:lnSpc>
                <a:spcPct val="100000"/>
              </a:lnSpc>
              <a:spcBef>
                <a:spcPts val="0"/>
              </a:spcBef>
              <a:spcAft>
                <a:spcPts val="0"/>
              </a:spcAft>
              <a:buClrTx/>
              <a:buSzTx/>
              <a:buFont typeface="Arial" panose="020B0604020202020204" pitchFamily="34" charset="0"/>
              <a:buNone/>
              <a:defRPr/>
            </a:pPr>
            <a:r>
              <a:rPr kumimoji="0" lang="zh-CN" altLang="en-US" sz="21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sym typeface="+mn-ea"/>
              </a:rPr>
              <a:t>    （</a:t>
            </a:r>
            <a:r>
              <a:rPr kumimoji="0" lang="en-US" altLang="zh-CN" sz="21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sym typeface="+mn-ea"/>
              </a:rPr>
              <a:t>2</a:t>
            </a:r>
            <a:r>
              <a:rPr kumimoji="0" lang="zh-CN" altLang="en-US" sz="21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sym typeface="+mn-ea"/>
              </a:rPr>
              <a:t>）创建计算机系学生选课的视图</a:t>
            </a:r>
            <a:r>
              <a:rPr kumimoji="0" lang="en-US" altLang="zh-CN" sz="21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sym typeface="+mn-ea"/>
              </a:rPr>
              <a:t>M_Compter_V</a:t>
            </a:r>
            <a:r>
              <a:rPr kumimoji="0" lang="zh-CN" altLang="en-US" sz="21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sym typeface="+mn-ea"/>
              </a:rPr>
              <a:t>，包括各位学生学号、姓名、课程编码、课程名称和成绩。</a:t>
            </a:r>
            <a:endParaRPr kumimoji="0" lang="zh-CN" altLang="en-US" sz="21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sym typeface="+mn-ea"/>
            </a:endParaRPr>
          </a:p>
        </p:txBody>
      </p:sp>
      <p:sp>
        <p:nvSpPr>
          <p:cNvPr id="3" name="Rectangle 3"/>
          <p:cNvSpPr>
            <a:spLocks noGrp="1"/>
          </p:cNvSpPr>
          <p:nvPr/>
        </p:nvSpPr>
        <p:spPr>
          <a:xfrm>
            <a:off x="691515" y="4936784"/>
            <a:ext cx="7914640" cy="979170"/>
          </a:xfrm>
          <a:prstGeom prst="rect">
            <a:avLst/>
          </a:prstGeom>
          <a:solidFill>
            <a:schemeClr val="accent2">
              <a:lumMod val="20000"/>
              <a:lumOff val="80000"/>
              <a:alpha val="28000"/>
            </a:schemeClr>
          </a:solidFill>
          <a:ln w="9525">
            <a:noFill/>
          </a:ln>
        </p:spPr>
        <p:txBody>
          <a:bodyPr/>
          <a:lstStyle/>
          <a:p>
            <a:pPr marL="0" marR="0" lvl="0" indent="0" algn="l" defTabSz="914400" rtl="0" eaLnBrk="1" fontAlgn="base" latinLnBrk="0" hangingPunct="1">
              <a:lnSpc>
                <a:spcPct val="100000"/>
              </a:lnSpc>
              <a:spcBef>
                <a:spcPts val="0"/>
              </a:spcBef>
              <a:spcAft>
                <a:spcPct val="0"/>
              </a:spcAft>
              <a:buClr>
                <a:srgbClr val="0033CC"/>
              </a:buClr>
              <a:buSzPct val="80000"/>
              <a:buFont typeface="Wingdings" panose="05000000000000000000" pitchFamily="2" charset="2"/>
              <a:buNone/>
              <a:defRPr/>
            </a:pPr>
            <a:r>
              <a:rPr kumimoji="0" sz="2000" b="1" i="0" u="none" strike="noStrike" kern="1200" cap="none" spc="0" normalizeH="0" baseline="0" noProof="1">
                <a:ln>
                  <a:noFill/>
                </a:ln>
                <a:solidFill>
                  <a:srgbClr val="FF0000"/>
                </a:solidFill>
                <a:effectLst/>
                <a:uLnTx/>
                <a:uFillTx/>
                <a:latin typeface="Arial" panose="020B0604020202020204" pitchFamily="34" charset="0"/>
                <a:ea typeface="宋体" panose="02010600030101010101" pitchFamily="2" charset="-122"/>
                <a:cs typeface="+mn-cs"/>
              </a:rPr>
              <a:t>Create view</a:t>
            </a:r>
            <a:r>
              <a:rPr kumimoji="0" sz="20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 M_Compter_V(学号,姓名,课程编码,课程名称,成绩) </a:t>
            </a:r>
            <a:r>
              <a:rPr kumimoji="0" sz="2000" b="1" i="0" u="none" strike="noStrike" kern="1200" cap="none" spc="0" normalizeH="0" baseline="0" noProof="1">
                <a:ln>
                  <a:noFill/>
                </a:ln>
                <a:solidFill>
                  <a:srgbClr val="FF0000"/>
                </a:solidFill>
                <a:effectLst/>
                <a:uLnTx/>
                <a:uFillTx/>
                <a:latin typeface="Arial" panose="020B0604020202020204" pitchFamily="34" charset="0"/>
                <a:ea typeface="宋体" panose="02010600030101010101" pitchFamily="2" charset="-122"/>
                <a:cs typeface="+mn-cs"/>
              </a:rPr>
              <a:t>as</a:t>
            </a:r>
            <a:endParaRPr kumimoji="0" sz="20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ts val="0"/>
              </a:spcBef>
              <a:spcAft>
                <a:spcPct val="0"/>
              </a:spcAft>
              <a:buClr>
                <a:srgbClr val="0033CC"/>
              </a:buClr>
              <a:buSzPct val="80000"/>
              <a:buFont typeface="Wingdings" panose="05000000000000000000" pitchFamily="2" charset="2"/>
              <a:buNone/>
              <a:defRPr/>
            </a:pPr>
            <a:r>
              <a:rPr kumimoji="0" sz="20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 </a:t>
            </a:r>
            <a:r>
              <a:rPr kumimoji="0" sz="18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 Select S.SID,SName,C.CID,CName,mark from Stu S left outer join Ctake SC on S.SID=SC.SID and Major='计算机系' left outer join Course C on SC.CID=C.CID</a:t>
            </a:r>
            <a:r>
              <a:rPr kumimoji="0" lang="en-US" altLang="zh-CN" sz="1800" b="1" i="0" u="none" strike="noStrike" kern="1200" cap="none" spc="0" normalizeH="0" baseline="0" noProof="1">
                <a:ln>
                  <a:noFill/>
                </a:ln>
                <a:gradFill>
                  <a:gsLst>
                    <a:gs pos="0">
                      <a:srgbClr val="E30000"/>
                    </a:gs>
                    <a:gs pos="100000">
                      <a:srgbClr val="760303"/>
                    </a:gs>
                  </a:gsLst>
                  <a:lin scaled="0"/>
                </a:gradFill>
                <a:effectLst>
                  <a:outerShdw blurRad="38100" dist="38100" dir="2700000">
                    <a:srgbClr val="C0C0C0"/>
                  </a:outerShdw>
                </a:effectLst>
                <a:uLnTx/>
                <a:uFillTx/>
                <a:latin typeface="Arial" panose="020B0604020202020204" pitchFamily="34" charset="0"/>
                <a:ea typeface="宋体" panose="02010600030101010101" pitchFamily="2" charset="-122"/>
                <a:cs typeface="+mn-cs"/>
                <a:sym typeface="Arial" panose="020B0604020202020204" pitchFamily="34" charset="0"/>
              </a:rPr>
              <a:t>   </a:t>
            </a:r>
            <a:endParaRPr kumimoji="0" lang="en-US" altLang="zh-CN" sz="1800" b="1" i="0" u="none" strike="noStrike" kern="1200" cap="none" spc="0" normalizeH="0" baseline="0" noProof="1">
              <a:ln>
                <a:noFill/>
              </a:ln>
              <a:gradFill>
                <a:gsLst>
                  <a:gs pos="0">
                    <a:srgbClr val="E30000"/>
                  </a:gs>
                  <a:gs pos="100000">
                    <a:srgbClr val="760303"/>
                  </a:gs>
                </a:gsLst>
                <a:lin scaled="0"/>
              </a:gradFill>
              <a:effectLst>
                <a:outerShdw blurRad="38100" dist="38100" dir="2700000">
                  <a:srgbClr val="C0C0C0"/>
                </a:outerShdw>
              </a:effectLst>
              <a:uLnTx/>
              <a:uFillTx/>
              <a:latin typeface="Arial" panose="020B0604020202020204" pitchFamily="34" charset="0"/>
              <a:ea typeface="宋体" panose="02010600030101010101" pitchFamily="2" charset="-122"/>
              <a:cs typeface="+mn-cs"/>
              <a:sym typeface="Arial" panose="020B0604020202020204" pitchFamily="34" charset="0"/>
            </a:endParaRPr>
          </a:p>
        </p:txBody>
      </p:sp>
      <p:sp>
        <p:nvSpPr>
          <p:cNvPr id="4" name="Rectangle 3"/>
          <p:cNvSpPr>
            <a:spLocks noGrp="1"/>
          </p:cNvSpPr>
          <p:nvPr/>
        </p:nvSpPr>
        <p:spPr>
          <a:xfrm>
            <a:off x="778510" y="3181009"/>
            <a:ext cx="7914640" cy="979170"/>
          </a:xfrm>
          <a:prstGeom prst="rect">
            <a:avLst/>
          </a:prstGeom>
          <a:solidFill>
            <a:schemeClr val="accent2">
              <a:lumMod val="20000"/>
              <a:lumOff val="80000"/>
              <a:alpha val="28000"/>
            </a:schemeClr>
          </a:solidFill>
          <a:ln w="9525">
            <a:noFill/>
          </a:ln>
        </p:spPr>
        <p:txBody>
          <a:bodyPr/>
          <a:lstStyle/>
          <a:p>
            <a:pPr marL="0" marR="0" lvl="0" indent="0" algn="l" defTabSz="914400" rtl="0" eaLnBrk="1" fontAlgn="base" latinLnBrk="0" hangingPunct="1">
              <a:lnSpc>
                <a:spcPct val="100000"/>
              </a:lnSpc>
              <a:spcBef>
                <a:spcPts val="0"/>
              </a:spcBef>
              <a:spcAft>
                <a:spcPct val="0"/>
              </a:spcAft>
              <a:buClr>
                <a:srgbClr val="0033CC"/>
              </a:buClr>
              <a:buSzPct val="80000"/>
              <a:buFont typeface="Wingdings" panose="05000000000000000000" pitchFamily="2" charset="2"/>
              <a:buNone/>
              <a:defRPr/>
            </a:pPr>
            <a:r>
              <a:rPr kumimoji="0" lang="en-US" altLang="zh-CN" sz="2000" b="1" i="0" u="none" strike="noStrike" kern="1200" cap="none" spc="0" normalizeH="0" baseline="0" noProof="1">
                <a:ln>
                  <a:noFill/>
                </a:ln>
                <a:gradFill>
                  <a:gsLst>
                    <a:gs pos="0">
                      <a:srgbClr val="E30000"/>
                    </a:gs>
                    <a:gs pos="100000">
                      <a:srgbClr val="760303"/>
                    </a:gs>
                  </a:gsLst>
                  <a:lin scaled="0"/>
                </a:gradFill>
                <a:effectLst>
                  <a:outerShdw blurRad="38100" dist="38100" dir="2700000">
                    <a:srgbClr val="C0C0C0"/>
                  </a:outerShdw>
                </a:effectLst>
                <a:uLnTx/>
                <a:uFillTx/>
                <a:latin typeface="Arial" panose="020B0604020202020204" pitchFamily="34" charset="0"/>
                <a:ea typeface="宋体" panose="02010600030101010101" pitchFamily="2" charset="-122"/>
                <a:cs typeface="+mn-cs"/>
                <a:sym typeface="Arial" panose="020B0604020202020204" pitchFamily="34" charset="0"/>
              </a:rPr>
              <a:t>Create view </a:t>
            </a:r>
            <a:r>
              <a:rPr kumimoji="0" lang="en-US" altLang="zh-CN" sz="20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sym typeface="+mn-ea"/>
              </a:rPr>
              <a:t>M_Track2018_SV(</a:t>
            </a:r>
            <a:r>
              <a:rPr kumimoji="0" lang="zh-CN" altLang="en-US" sz="20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sym typeface="+mn-ea"/>
              </a:rPr>
              <a:t>学号</a:t>
            </a:r>
            <a:r>
              <a:rPr kumimoji="0" lang="en-US" altLang="zh-CN" sz="20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sym typeface="+mn-ea"/>
              </a:rPr>
              <a:t>,</a:t>
            </a:r>
            <a:r>
              <a:rPr kumimoji="0" lang="zh-CN" altLang="en-US" sz="20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sym typeface="+mn-ea"/>
              </a:rPr>
              <a:t>姓名</a:t>
            </a:r>
            <a:r>
              <a:rPr kumimoji="0" lang="en-US" altLang="zh-CN" sz="20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sym typeface="+mn-ea"/>
              </a:rPr>
              <a:t>,</a:t>
            </a:r>
            <a:r>
              <a:rPr kumimoji="0" lang="zh-CN" altLang="en-US" sz="20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sym typeface="+mn-ea"/>
              </a:rPr>
              <a:t>性别</a:t>
            </a:r>
            <a:r>
              <a:rPr kumimoji="0" lang="en-US" altLang="zh-CN" sz="20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sym typeface="+mn-ea"/>
              </a:rPr>
              <a:t>,</a:t>
            </a:r>
            <a:r>
              <a:rPr kumimoji="0" lang="zh-CN" altLang="en-US" sz="20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sym typeface="+mn-ea"/>
              </a:rPr>
              <a:t>年龄</a:t>
            </a:r>
            <a:r>
              <a:rPr kumimoji="0" lang="en-US" altLang="zh-CN" sz="20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sym typeface="+mn-ea"/>
              </a:rPr>
              <a:t>,</a:t>
            </a:r>
            <a:r>
              <a:rPr kumimoji="0" lang="zh-CN" altLang="en-US" sz="20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sym typeface="+mn-ea"/>
              </a:rPr>
              <a:t>电话</a:t>
            </a:r>
            <a:r>
              <a:rPr kumimoji="0" lang="en-US" altLang="zh-CN" sz="20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sym typeface="+mn-ea"/>
              </a:rPr>
              <a:t>) </a:t>
            </a:r>
            <a:r>
              <a:rPr kumimoji="0" lang="en-US" altLang="zh-CN" sz="2000" b="1" i="0" u="none" strike="noStrike" kern="1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Times New Roman" panose="02020603050405020304" pitchFamily="2" charset="0"/>
                <a:sym typeface="+mn-ea"/>
              </a:rPr>
              <a:t>as </a:t>
            </a:r>
            <a:r>
              <a:rPr kumimoji="0" lang="en-US" altLang="zh-CN" sz="2000" b="1" i="0" u="none" strike="noStrike" kern="100" cap="none" spc="0" normalizeH="0" baseline="0" noProof="0" dirty="0">
                <a:ln>
                  <a:noFill/>
                </a:ln>
                <a:solidFill>
                  <a:srgbClr val="0033CC"/>
                </a:solidFill>
                <a:effectLst/>
                <a:uLnTx/>
                <a:uFillTx/>
                <a:latin typeface="Calibri" panose="020F0502020204030204" pitchFamily="34" charset="0"/>
                <a:ea typeface="宋体" panose="02010600030101010101" pitchFamily="2" charset="-122"/>
                <a:cs typeface="Times New Roman" panose="02020603050405020304" pitchFamily="2" charset="0"/>
                <a:sym typeface="+mn-ea"/>
              </a:rPr>
              <a:t>Select SID,</a:t>
            </a:r>
            <a:endParaRPr kumimoji="0" lang="en-US" altLang="zh-CN" sz="2000" b="1" i="0" u="none" strike="noStrike" kern="1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Times New Roman" panose="02020603050405020304" pitchFamily="2" charset="0"/>
              <a:sym typeface="+mn-ea"/>
            </a:endParaRPr>
          </a:p>
          <a:p>
            <a:pPr marL="0" marR="0" lvl="0" indent="0" algn="l" defTabSz="914400" rtl="0" eaLnBrk="1" fontAlgn="base" latinLnBrk="0" hangingPunct="1">
              <a:lnSpc>
                <a:spcPct val="100000"/>
              </a:lnSpc>
              <a:spcBef>
                <a:spcPts val="0"/>
              </a:spcBef>
              <a:spcAft>
                <a:spcPct val="0"/>
              </a:spcAft>
              <a:buClr>
                <a:srgbClr val="0033CC"/>
              </a:buClr>
              <a:buSzPct val="80000"/>
              <a:buFont typeface="Wingdings" panose="05000000000000000000" pitchFamily="2" charset="2"/>
              <a:buNone/>
              <a:defRPr/>
            </a:pPr>
            <a:r>
              <a:rPr kumimoji="0" lang="en-US" altLang="zh-CN" sz="2000" b="1" i="0" u="none" strike="noStrike" kern="100" cap="none" spc="0" normalizeH="0" baseline="0" noProof="0" dirty="0">
                <a:ln>
                  <a:noFill/>
                </a:ln>
                <a:solidFill>
                  <a:srgbClr val="0033CC"/>
                </a:solidFill>
                <a:effectLst/>
                <a:uLnTx/>
                <a:uFillTx/>
                <a:latin typeface="Calibri" panose="020F0502020204030204" pitchFamily="34" charset="0"/>
                <a:ea typeface="宋体" panose="02010600030101010101" pitchFamily="2" charset="-122"/>
                <a:cs typeface="Times New Roman" panose="02020603050405020304" pitchFamily="2" charset="0"/>
                <a:sym typeface="+mn-ea"/>
              </a:rPr>
              <a:t>    SName,</a:t>
            </a:r>
            <a:r>
              <a:rPr kumimoji="0" lang="en-US" altLang="zh-CN" sz="20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sym typeface="+mn-ea"/>
              </a:rPr>
              <a:t>SGender</a:t>
            </a:r>
            <a:r>
              <a:rPr kumimoji="0" lang="en-US" altLang="zh-CN" sz="2000" b="1" i="0" u="none" strike="noStrike" kern="100" cap="none" spc="0" normalizeH="0" baseline="0" noProof="0" dirty="0">
                <a:ln>
                  <a:noFill/>
                </a:ln>
                <a:solidFill>
                  <a:srgbClr val="0033CC"/>
                </a:solidFill>
                <a:effectLst/>
                <a:uLnTx/>
                <a:uFillTx/>
                <a:latin typeface="Calibri" panose="020F0502020204030204" pitchFamily="34" charset="0"/>
                <a:ea typeface="宋体" panose="02010600030101010101" pitchFamily="2" charset="-122"/>
                <a:cs typeface="Times New Roman" panose="02020603050405020304" pitchFamily="2" charset="0"/>
                <a:sym typeface="+mn-ea"/>
              </a:rPr>
              <a:t>,Datepart(yyyy,GetDate())-Datepart(yyyy,BirthDate),   </a:t>
            </a:r>
            <a:r>
              <a:rPr kumimoji="0" lang="en-US" altLang="zh-CN" sz="20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sym typeface="+mn-ea"/>
              </a:rPr>
              <a:t>Telephone </a:t>
            </a:r>
            <a:r>
              <a:rPr kumimoji="0" lang="en-US" altLang="zh-CN" sz="2000" b="1" i="0" u="none" strike="noStrike" kern="100" cap="none" spc="0" normalizeH="0" baseline="0" noProof="0" dirty="0">
                <a:ln>
                  <a:noFill/>
                </a:ln>
                <a:solidFill>
                  <a:srgbClr val="0033CC"/>
                </a:solidFill>
                <a:effectLst/>
                <a:uLnTx/>
                <a:uFillTx/>
                <a:latin typeface="Calibri" panose="020F0502020204030204" pitchFamily="34" charset="0"/>
                <a:ea typeface="宋体" panose="02010600030101010101" pitchFamily="2" charset="-122"/>
                <a:cs typeface="Times New Roman" panose="02020603050405020304" pitchFamily="2" charset="0"/>
                <a:sym typeface="+mn-ea"/>
              </a:rPr>
              <a:t>from Stu S </a:t>
            </a:r>
            <a:r>
              <a:rPr kumimoji="0" lang="en-US" altLang="zh-CN" sz="2000" b="1" i="0" u="none" strike="noStrike" kern="1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Times New Roman" panose="02020603050405020304" pitchFamily="2" charset="0"/>
                <a:sym typeface="+mn-ea"/>
              </a:rPr>
              <a:t>where Major='</a:t>
            </a:r>
            <a:r>
              <a:rPr kumimoji="0" lang="zh-CN" altLang="en-US" sz="2000" b="1" i="0" u="none" strike="noStrike" kern="1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Times New Roman" panose="02020603050405020304" pitchFamily="2" charset="0"/>
                <a:sym typeface="+mn-ea"/>
              </a:rPr>
              <a:t>轨道专业</a:t>
            </a:r>
            <a:r>
              <a:rPr kumimoji="0" lang="en-US" altLang="zh-CN" sz="2000" b="1" i="0" u="none" strike="noStrike" kern="1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Times New Roman" panose="02020603050405020304" pitchFamily="2" charset="0"/>
                <a:sym typeface="+mn-ea"/>
              </a:rPr>
              <a:t>' and</a:t>
            </a:r>
            <a:r>
              <a:rPr kumimoji="0" lang="en-US" altLang="zh-CN" sz="2000" b="1" i="0" u="none" strike="noStrike" kern="100" cap="none" spc="0" normalizeH="0" baseline="0" noProof="0" dirty="0">
                <a:ln>
                  <a:noFill/>
                </a:ln>
                <a:solidFill>
                  <a:srgbClr val="0033CC"/>
                </a:solidFill>
                <a:effectLst/>
                <a:uLnTx/>
                <a:uFillTx/>
                <a:latin typeface="Calibri" panose="020F0502020204030204" pitchFamily="34" charset="0"/>
                <a:ea typeface="宋体" panose="02010600030101010101" pitchFamily="2" charset="-122"/>
                <a:cs typeface="Times New Roman" panose="02020603050405020304" pitchFamily="2" charset="0"/>
                <a:sym typeface="+mn-ea"/>
              </a:rPr>
              <a:t> </a:t>
            </a:r>
            <a:r>
              <a:rPr kumimoji="0" lang="en-US" altLang="zh-CN" sz="2000" b="1" i="0" u="none" strike="noStrike" kern="1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Times New Roman" panose="02020603050405020304" pitchFamily="2" charset="0"/>
                <a:sym typeface="+mn-ea"/>
              </a:rPr>
              <a:t>EntryYear=2018</a:t>
            </a:r>
            <a:endParaRPr kumimoji="0" lang="en-US" altLang="zh-CN" sz="2000" b="1" i="0" u="none" strike="noStrike" kern="1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Times New Roman" panose="02020603050405020304" pitchFamily="2" charset="0"/>
              <a:sym typeface="+mn-ea"/>
            </a:endParaRPr>
          </a:p>
          <a:p>
            <a:pPr marL="0" marR="0" lvl="0" indent="0" algn="l" defTabSz="914400" rtl="0" eaLnBrk="1" fontAlgn="base" latinLnBrk="0" hangingPunct="1">
              <a:lnSpc>
                <a:spcPct val="100000"/>
              </a:lnSpc>
              <a:spcBef>
                <a:spcPts val="20"/>
              </a:spcBef>
              <a:spcAft>
                <a:spcPts val="0"/>
              </a:spcAft>
              <a:buClr>
                <a:srgbClr val="0033CC"/>
              </a:buClr>
              <a:buSzPct val="80000"/>
              <a:buFont typeface="Wingdings" panose="05000000000000000000" pitchFamily="2" charset="2"/>
              <a:buNone/>
              <a:defRPr/>
            </a:pPr>
            <a:r>
              <a:rPr kumimoji="0" lang="en-US" altLang="zh-CN" sz="2200" b="1" i="0" u="none" strike="noStrike" kern="1200" cap="none" spc="0" normalizeH="0" baseline="0" noProof="1">
                <a:ln>
                  <a:noFill/>
                </a:ln>
                <a:gradFill>
                  <a:gsLst>
                    <a:gs pos="0">
                      <a:srgbClr val="E30000"/>
                    </a:gs>
                    <a:gs pos="100000">
                      <a:srgbClr val="760303"/>
                    </a:gs>
                  </a:gsLst>
                  <a:lin scaled="0"/>
                </a:gradFill>
                <a:effectLst>
                  <a:outerShdw blurRad="38100" dist="38100" dir="2700000">
                    <a:srgbClr val="C0C0C0"/>
                  </a:outerShdw>
                </a:effectLst>
                <a:uLnTx/>
                <a:uFillTx/>
                <a:latin typeface="Arial" panose="020B0604020202020204" pitchFamily="34" charset="0"/>
                <a:ea typeface="宋体" panose="02010600030101010101" pitchFamily="2" charset="-122"/>
                <a:cs typeface="+mn-cs"/>
                <a:sym typeface="Arial" panose="020B0604020202020204" pitchFamily="34" charset="0"/>
              </a:rPr>
              <a:t>   </a:t>
            </a:r>
            <a:endParaRPr kumimoji="0" lang="en-US" altLang="zh-CN" sz="2200" b="1" i="0" u="none" strike="noStrike" kern="1200" cap="none" spc="0" normalizeH="0" baseline="0" noProof="1">
              <a:ln>
                <a:noFill/>
              </a:ln>
              <a:gradFill>
                <a:gsLst>
                  <a:gs pos="0">
                    <a:srgbClr val="E30000"/>
                  </a:gs>
                  <a:gs pos="100000">
                    <a:srgbClr val="760303"/>
                  </a:gs>
                </a:gsLst>
                <a:lin scaled="0"/>
              </a:gradFill>
              <a:effectLst>
                <a:outerShdw blurRad="38100" dist="38100" dir="2700000">
                  <a:srgbClr val="C0C0C0"/>
                </a:outerShdw>
              </a:effectLst>
              <a:uLnTx/>
              <a:uFillTx/>
              <a:latin typeface="Arial" panose="020B0604020202020204" pitchFamily="34" charset="0"/>
              <a:ea typeface="宋体" panose="02010600030101010101" pitchFamily="2" charset="-122"/>
              <a:cs typeface="+mn-cs"/>
              <a:sym typeface="Arial" panose="020B0604020202020204" pitchFamily="34" charset="0"/>
            </a:endParaRPr>
          </a:p>
        </p:txBody>
      </p:sp>
      <p:pic>
        <p:nvPicPr>
          <p:cNvPr id="5" name="图片 4"/>
          <p:cNvPicPr>
            <a:picLocks noChangeAspect="1"/>
          </p:cNvPicPr>
          <p:nvPr/>
        </p:nvPicPr>
        <p:blipFill>
          <a:blip r:embed="rId1"/>
          <a:stretch>
            <a:fillRect/>
          </a:stretch>
        </p:blipFill>
        <p:spPr>
          <a:xfrm>
            <a:off x="4535488" y="1001713"/>
            <a:ext cx="4157662" cy="4471987"/>
          </a:xfrm>
          <a:prstGeom prst="rect">
            <a:avLst/>
          </a:prstGeom>
          <a:noFill/>
          <a:ln w="9525">
            <a:noFill/>
          </a:ln>
        </p:spPr>
      </p:pic>
      <p:pic>
        <p:nvPicPr>
          <p:cNvPr id="7" name="图片 6"/>
          <p:cNvPicPr>
            <a:picLocks noChangeAspect="1"/>
          </p:cNvPicPr>
          <p:nvPr/>
        </p:nvPicPr>
        <p:blipFill>
          <a:blip r:embed="rId2"/>
          <a:stretch>
            <a:fillRect/>
          </a:stretch>
        </p:blipFill>
        <p:spPr>
          <a:xfrm>
            <a:off x="544513" y="1131888"/>
            <a:ext cx="3662362" cy="3249612"/>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3"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44034" name="矩形 2"/>
          <p:cNvSpPr/>
          <p:nvPr/>
        </p:nvSpPr>
        <p:spPr>
          <a:xfrm>
            <a:off x="542925" y="881063"/>
            <a:ext cx="2890838" cy="944562"/>
          </a:xfrm>
          <a:prstGeom prst="rect">
            <a:avLst/>
          </a:prstGeom>
          <a:noFill/>
          <a:ln w="9525">
            <a:noFill/>
          </a:ln>
        </p:spPr>
        <p:txBody>
          <a:bodyPr wrap="none" anchor="t" anchorCtr="0">
            <a:spAutoFit/>
          </a:bodyPr>
          <a:p>
            <a:r>
              <a:rPr lang="en-US" altLang="zh-CN" sz="2800" dirty="0">
                <a:solidFill>
                  <a:srgbClr val="0033CC"/>
                </a:solidFill>
                <a:latin typeface="黑体" panose="02010609060101010101" pitchFamily="1" charset="-122"/>
                <a:ea typeface="黑体" panose="02010609060101010101" pitchFamily="1" charset="-122"/>
              </a:rPr>
              <a:t>5.</a:t>
            </a:r>
            <a:r>
              <a:rPr lang="zh-CN" altLang="en-US" sz="2800" dirty="0">
                <a:solidFill>
                  <a:srgbClr val="0033CC"/>
                </a:solidFill>
                <a:latin typeface="黑体" panose="02010609060101010101" pitchFamily="1" charset="-122"/>
                <a:ea typeface="黑体" panose="02010609060101010101" pitchFamily="1" charset="-122"/>
              </a:rPr>
              <a:t>定义索引</a:t>
            </a:r>
            <a:r>
              <a:rPr lang="en-US" altLang="zh-CN" sz="2400" dirty="0">
                <a:solidFill>
                  <a:srgbClr val="FF0000"/>
                </a:solidFill>
                <a:latin typeface="黑体" panose="02010609060101010101" pitchFamily="1" charset="-122"/>
                <a:ea typeface="黑体" panose="02010609060101010101" pitchFamily="1" charset="-122"/>
              </a:rPr>
              <a:t>—</a:t>
            </a:r>
            <a:r>
              <a:rPr lang="zh-CN" altLang="en-US" sz="2400" dirty="0">
                <a:solidFill>
                  <a:srgbClr val="FF0000"/>
                </a:solidFill>
                <a:latin typeface="黑体" panose="02010609060101010101" pitchFamily="1" charset="-122"/>
                <a:ea typeface="黑体" panose="02010609060101010101" pitchFamily="1" charset="-122"/>
              </a:rPr>
              <a:t>概念</a:t>
            </a:r>
            <a:endParaRPr lang="zh-CN" altLang="en-US" sz="2400" dirty="0">
              <a:solidFill>
                <a:srgbClr val="FF0000"/>
              </a:solidFill>
              <a:latin typeface="黑体" panose="02010609060101010101" pitchFamily="1" charset="-122"/>
              <a:ea typeface="宋体" panose="02010600030101010101" pitchFamily="2" charset="-122"/>
            </a:endParaRPr>
          </a:p>
          <a:p>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44035" name="Text Box 3"/>
          <p:cNvSpPr txBox="1"/>
          <p:nvPr/>
        </p:nvSpPr>
        <p:spPr>
          <a:xfrm>
            <a:off x="635000" y="1465263"/>
            <a:ext cx="7958138" cy="933450"/>
          </a:xfrm>
          <a:prstGeom prst="rect">
            <a:avLst/>
          </a:prstGeom>
          <a:noFill/>
          <a:ln w="9525">
            <a:noFill/>
          </a:ln>
        </p:spPr>
        <p:txBody>
          <a:bodyPr anchor="t" anchorCtr="0">
            <a:spAutoFit/>
          </a:bodyPr>
          <a:p>
            <a:pPr>
              <a:lnSpc>
                <a:spcPct val="110000"/>
              </a:lnSpc>
              <a:spcBef>
                <a:spcPts val="300"/>
              </a:spcBef>
              <a:buFont typeface="Wingdings" panose="05000000000000000000" pitchFamily="2" charset="2"/>
              <a:buChar char="p"/>
            </a:pPr>
            <a:r>
              <a:rPr lang="zh-CN" altLang="en-US" sz="2400" u="sng" dirty="0">
                <a:solidFill>
                  <a:srgbClr val="CC3300"/>
                </a:solidFill>
                <a:latin typeface="宋体" panose="02010600030101010101" pitchFamily="2" charset="-122"/>
                <a:ea typeface="宋体" panose="02010600030101010101" pitchFamily="2" charset="-122"/>
              </a:rPr>
              <a:t>概念</a:t>
            </a:r>
            <a:r>
              <a:rPr lang="en-US" altLang="zh-CN" sz="2400" u="sng" dirty="0">
                <a:solidFill>
                  <a:srgbClr val="CC3300"/>
                </a:solidFill>
                <a:latin typeface="宋体" panose="02010600030101010101" pitchFamily="2" charset="-122"/>
                <a:ea typeface="宋体" panose="02010600030101010101" pitchFamily="2" charset="-122"/>
              </a:rPr>
              <a:t>:</a:t>
            </a:r>
            <a:r>
              <a:rPr lang="zh-CN" altLang="en-US" sz="2400" dirty="0">
                <a:latin typeface="华文楷体" panose="02010600040101010101" pitchFamily="2" charset="-122"/>
                <a:ea typeface="华文楷体" panose="02010600040101010101" pitchFamily="2" charset="-122"/>
              </a:rPr>
              <a:t>索引是关于数据位置信息的关键字表。</a:t>
            </a:r>
            <a:endParaRPr lang="zh-CN" altLang="en-US" sz="2400" dirty="0">
              <a:latin typeface="华文楷体" panose="02010600040101010101" pitchFamily="2" charset="-122"/>
              <a:ea typeface="华文楷体" panose="02010600040101010101" pitchFamily="2" charset="-122"/>
            </a:endParaRPr>
          </a:p>
          <a:p>
            <a:pPr>
              <a:lnSpc>
                <a:spcPct val="110000"/>
              </a:lnSpc>
              <a:spcBef>
                <a:spcPts val="300"/>
              </a:spcBef>
              <a:buFont typeface="Wingdings" panose="05000000000000000000" pitchFamily="2" charset="2"/>
              <a:buChar char="p"/>
            </a:pPr>
            <a:r>
              <a:rPr lang="zh-CN" altLang="en-US" sz="2400" u="sng" dirty="0">
                <a:solidFill>
                  <a:srgbClr val="CC3300"/>
                </a:solidFill>
                <a:latin typeface="宋体" panose="02010600030101010101" pitchFamily="2" charset="-122"/>
                <a:ea typeface="宋体" panose="02010600030101010101" pitchFamily="2" charset="-122"/>
              </a:rPr>
              <a:t>目的</a:t>
            </a:r>
            <a:r>
              <a:rPr lang="en-US" altLang="zh-CN" sz="2400" u="sng" dirty="0">
                <a:solidFill>
                  <a:srgbClr val="CC3300"/>
                </a:solidFill>
                <a:latin typeface="宋体" panose="02010600030101010101" pitchFamily="2" charset="-122"/>
                <a:ea typeface="宋体" panose="02010600030101010101" pitchFamily="2" charset="-122"/>
              </a:rPr>
              <a:t>:</a:t>
            </a:r>
            <a:r>
              <a:rPr lang="zh-CN" altLang="en-US" sz="2400" dirty="0">
                <a:latin typeface="华文楷体" panose="02010600040101010101" pitchFamily="2" charset="-122"/>
                <a:ea typeface="华文楷体" panose="02010600040101010101" pitchFamily="2" charset="-122"/>
              </a:rPr>
              <a:t>快速在磁盘上定位所需数据，加快查询速度。</a:t>
            </a:r>
            <a:endParaRPr lang="zh-CN" altLang="en-US" sz="2400" dirty="0">
              <a:latin typeface="华文楷体" panose="02010600040101010101" pitchFamily="2" charset="-122"/>
              <a:ea typeface="华文楷体" panose="02010600040101010101" pitchFamily="2" charset="-122"/>
            </a:endParaRPr>
          </a:p>
        </p:txBody>
      </p:sp>
      <p:sp>
        <p:nvSpPr>
          <p:cNvPr id="44036" name="内容占位符 2"/>
          <p:cNvSpPr/>
          <p:nvPr/>
        </p:nvSpPr>
        <p:spPr>
          <a:xfrm>
            <a:off x="142875" y="3036888"/>
            <a:ext cx="8583613" cy="2465387"/>
          </a:xfrm>
          <a:prstGeom prst="rect">
            <a:avLst/>
          </a:prstGeom>
          <a:noFill/>
          <a:ln w="9525">
            <a:noFill/>
          </a:ln>
        </p:spPr>
        <p:txBody>
          <a:bodyPr anchor="t" anchorCtr="0"/>
          <a:p>
            <a:pPr marL="342900" indent="-342900">
              <a:lnSpc>
                <a:spcPct val="110000"/>
              </a:lnSpc>
              <a:buClr>
                <a:srgbClr val="0033CC"/>
              </a:buClr>
              <a:buSzPct val="80000"/>
              <a:buFont typeface="Wingdings" panose="05000000000000000000" pitchFamily="2" charset="2"/>
            </a:pPr>
            <a:r>
              <a:rPr lang="zh-CN" altLang="en-US" dirty="0">
                <a:latin typeface="Arial" panose="020B0604020202020204" pitchFamily="34" charset="0"/>
                <a:ea typeface="宋体" panose="02010600030101010101" pitchFamily="2" charset="-122"/>
              </a:rPr>
              <a:t>    </a:t>
            </a:r>
            <a:endParaRPr lang="zh-CN" altLang="en-US" sz="2000" dirty="0">
              <a:latin typeface="Arial" panose="020B0604020202020204" pitchFamily="34" charset="0"/>
              <a:ea typeface="宋体" panose="02010600030101010101" pitchFamily="2" charset="-122"/>
            </a:endParaRPr>
          </a:p>
        </p:txBody>
      </p:sp>
      <p:grpSp>
        <p:nvGrpSpPr>
          <p:cNvPr id="44037" name="Group 3"/>
          <p:cNvGrpSpPr/>
          <p:nvPr/>
        </p:nvGrpSpPr>
        <p:grpSpPr>
          <a:xfrm>
            <a:off x="4756150" y="2574925"/>
            <a:ext cx="3648075" cy="2760663"/>
            <a:chOff x="0" y="0"/>
            <a:chExt cx="2298" cy="1739"/>
          </a:xfrm>
        </p:grpSpPr>
        <p:sp>
          <p:nvSpPr>
            <p:cNvPr id="44038" name="Rectangle 4"/>
            <p:cNvSpPr/>
            <p:nvPr/>
          </p:nvSpPr>
          <p:spPr>
            <a:xfrm>
              <a:off x="0" y="0"/>
              <a:ext cx="1103" cy="292"/>
            </a:xfrm>
            <a:prstGeom prst="rect">
              <a:avLst/>
            </a:prstGeom>
            <a:noFill/>
            <a:ln w="9525">
              <a:noFill/>
            </a:ln>
            <a:effectLst>
              <a:prstShdw prst="shdw17" dist="17961" dir="2699999">
                <a:srgbClr val="708688"/>
              </a:prstShdw>
            </a:effectLst>
          </p:spPr>
          <p:txBody>
            <a:bodyPr anchor="ctr" anchorCtr="0">
              <a:spAutoFit/>
            </a:bodyPr>
            <a:p>
              <a:pPr marL="262255" indent="-262255">
                <a:lnSpc>
                  <a:spcPct val="135000"/>
                </a:lnSpc>
              </a:pPr>
              <a:r>
                <a:rPr lang="en-US" altLang="zh-CN" dirty="0">
                  <a:solidFill>
                    <a:srgbClr val="0033CC"/>
                  </a:solidFill>
                  <a:latin typeface="Arial" panose="020B0604020202020204" pitchFamily="34" charset="0"/>
                  <a:ea typeface="宋体" panose="02010600030101010101" pitchFamily="2" charset="-122"/>
                </a:rPr>
                <a:t>Student</a:t>
              </a:r>
              <a:r>
                <a:rPr lang="zh-CN" altLang="en-US" dirty="0">
                  <a:solidFill>
                    <a:srgbClr val="0033CC"/>
                  </a:solidFill>
                  <a:latin typeface="Arial" panose="020B0604020202020204" pitchFamily="34" charset="0"/>
                  <a:ea typeface="宋体" panose="02010600030101010101" pitchFamily="2" charset="-122"/>
                </a:rPr>
                <a:t>表</a:t>
              </a:r>
              <a:endParaRPr lang="zh-CN" altLang="en-US" dirty="0">
                <a:solidFill>
                  <a:srgbClr val="0033CC"/>
                </a:solidFill>
                <a:latin typeface="Arial" panose="020B0604020202020204" pitchFamily="34" charset="0"/>
                <a:ea typeface="宋体" panose="02010600030101010101" pitchFamily="2" charset="-122"/>
              </a:endParaRPr>
            </a:p>
          </p:txBody>
        </p:sp>
        <p:sp>
          <p:nvSpPr>
            <p:cNvPr id="44039" name="Rectangle 5"/>
            <p:cNvSpPr/>
            <p:nvPr/>
          </p:nvSpPr>
          <p:spPr>
            <a:xfrm>
              <a:off x="764" y="1535"/>
              <a:ext cx="624" cy="204"/>
            </a:xfrm>
            <a:prstGeom prst="rect">
              <a:avLst/>
            </a:prstGeom>
            <a:solidFill>
              <a:srgbClr val="E1E8FF">
                <a:alpha val="50000"/>
              </a:srgbClr>
            </a:solidFill>
            <a:ln w="9525">
              <a:noFill/>
            </a:ln>
          </p:spPr>
          <p:txBody>
            <a:bodyPr anchor="t" anchorCtr="0"/>
            <a:p>
              <a:pPr eaLnBrk="0" hangingPunct="0">
                <a:lnSpc>
                  <a:spcPct val="85000"/>
                </a:lnSpc>
                <a:buClr>
                  <a:srgbClr val="0033CC"/>
                </a:buClr>
                <a:buSzPct val="80000"/>
                <a:buFont typeface="Wingdings" panose="05000000000000000000" pitchFamily="2" charset="2"/>
              </a:pPr>
              <a:r>
                <a:rPr lang="en-US" altLang="zh-CN" dirty="0">
                  <a:latin typeface="Arial" panose="020B0604020202020204" pitchFamily="34" charset="0"/>
                  <a:ea typeface="宋体" panose="02010600030101010101" pitchFamily="2" charset="-122"/>
                </a:rPr>
                <a:t>…</a:t>
              </a:r>
              <a:endParaRPr lang="en-US" altLang="zh-CN" dirty="0">
                <a:latin typeface="Arial" panose="020B0604020202020204" pitchFamily="34" charset="0"/>
                <a:ea typeface="宋体" panose="02010600030101010101" pitchFamily="2" charset="-122"/>
              </a:endParaRPr>
            </a:p>
          </p:txBody>
        </p:sp>
        <p:sp>
          <p:nvSpPr>
            <p:cNvPr id="44040" name="Rectangle 6"/>
            <p:cNvSpPr/>
            <p:nvPr/>
          </p:nvSpPr>
          <p:spPr>
            <a:xfrm>
              <a:off x="764" y="1331"/>
              <a:ext cx="624" cy="204"/>
            </a:xfrm>
            <a:prstGeom prst="rect">
              <a:avLst/>
            </a:prstGeom>
            <a:solidFill>
              <a:srgbClr val="E1E8FF">
                <a:alpha val="50000"/>
              </a:srgbClr>
            </a:solidFill>
            <a:ln w="9525">
              <a:noFill/>
            </a:ln>
          </p:spPr>
          <p:txBody>
            <a:bodyPr anchor="t" anchorCtr="0"/>
            <a:p>
              <a:pPr eaLnBrk="0" hangingPunct="0">
                <a:lnSpc>
                  <a:spcPct val="85000"/>
                </a:lnSpc>
                <a:buClr>
                  <a:srgbClr val="0033CC"/>
                </a:buClr>
                <a:buSzPct val="80000"/>
                <a:buFont typeface="Wingdings" panose="05000000000000000000" pitchFamily="2" charset="2"/>
              </a:pPr>
              <a:r>
                <a:rPr lang="zh-CN" altLang="en-US" dirty="0">
                  <a:latin typeface="Arial" panose="020B0604020202020204" pitchFamily="34" charset="0"/>
                  <a:ea typeface="宋体" panose="02010600030101010101" pitchFamily="2" charset="-122"/>
                </a:rPr>
                <a:t>刘晨</a:t>
              </a:r>
              <a:endParaRPr lang="zh-CN" altLang="en-US" dirty="0">
                <a:latin typeface="Arial" panose="020B0604020202020204" pitchFamily="34" charset="0"/>
                <a:ea typeface="宋体" panose="02010600030101010101" pitchFamily="2" charset="-122"/>
              </a:endParaRPr>
            </a:p>
          </p:txBody>
        </p:sp>
        <p:sp>
          <p:nvSpPr>
            <p:cNvPr id="44041" name="Rectangle 7"/>
            <p:cNvSpPr/>
            <p:nvPr/>
          </p:nvSpPr>
          <p:spPr>
            <a:xfrm>
              <a:off x="764" y="1127"/>
              <a:ext cx="624" cy="204"/>
            </a:xfrm>
            <a:prstGeom prst="rect">
              <a:avLst/>
            </a:prstGeom>
            <a:solidFill>
              <a:srgbClr val="E1E8FF">
                <a:alpha val="50000"/>
              </a:srgbClr>
            </a:solidFill>
            <a:ln w="9525">
              <a:noFill/>
            </a:ln>
          </p:spPr>
          <p:txBody>
            <a:bodyPr anchor="t" anchorCtr="0"/>
            <a:p>
              <a:pPr eaLnBrk="0" hangingPunct="0">
                <a:lnSpc>
                  <a:spcPct val="85000"/>
                </a:lnSpc>
                <a:buClr>
                  <a:srgbClr val="0033CC"/>
                </a:buClr>
                <a:buSzPct val="80000"/>
                <a:buFont typeface="Wingdings" panose="05000000000000000000" pitchFamily="2" charset="2"/>
              </a:pPr>
              <a:r>
                <a:rPr lang="zh-CN" altLang="en-US" dirty="0">
                  <a:latin typeface="Arial" panose="020B0604020202020204" pitchFamily="34" charset="0"/>
                  <a:ea typeface="宋体" panose="02010600030101010101" pitchFamily="2" charset="-122"/>
                </a:rPr>
                <a:t>张立</a:t>
              </a:r>
              <a:endParaRPr lang="zh-CN" altLang="en-US" dirty="0">
                <a:latin typeface="Arial" panose="020B0604020202020204" pitchFamily="34" charset="0"/>
                <a:ea typeface="宋体" panose="02010600030101010101" pitchFamily="2" charset="-122"/>
              </a:endParaRPr>
            </a:p>
          </p:txBody>
        </p:sp>
        <p:sp>
          <p:nvSpPr>
            <p:cNvPr id="44042" name="Rectangle 8"/>
            <p:cNvSpPr/>
            <p:nvPr/>
          </p:nvSpPr>
          <p:spPr>
            <a:xfrm>
              <a:off x="764" y="923"/>
              <a:ext cx="624" cy="204"/>
            </a:xfrm>
            <a:prstGeom prst="rect">
              <a:avLst/>
            </a:prstGeom>
            <a:solidFill>
              <a:srgbClr val="E1E8FF">
                <a:alpha val="50000"/>
              </a:srgbClr>
            </a:solidFill>
            <a:ln w="9525">
              <a:noFill/>
            </a:ln>
          </p:spPr>
          <p:txBody>
            <a:bodyPr anchor="t" anchorCtr="0"/>
            <a:p>
              <a:pPr eaLnBrk="0" hangingPunct="0">
                <a:lnSpc>
                  <a:spcPct val="85000"/>
                </a:lnSpc>
                <a:buClr>
                  <a:srgbClr val="0033CC"/>
                </a:buClr>
                <a:buSzPct val="80000"/>
                <a:buFont typeface="Wingdings" panose="05000000000000000000" pitchFamily="2" charset="2"/>
              </a:pPr>
              <a:r>
                <a:rPr lang="zh-CN" altLang="en-US" dirty="0">
                  <a:latin typeface="Arial" panose="020B0604020202020204" pitchFamily="34" charset="0"/>
                  <a:ea typeface="宋体" panose="02010600030101010101" pitchFamily="2" charset="-122"/>
                </a:rPr>
                <a:t>钱小平</a:t>
              </a:r>
              <a:endParaRPr lang="zh-CN" altLang="en-US" dirty="0">
                <a:latin typeface="Arial" panose="020B0604020202020204" pitchFamily="34" charset="0"/>
                <a:ea typeface="宋体" panose="02010600030101010101" pitchFamily="2" charset="-122"/>
              </a:endParaRPr>
            </a:p>
          </p:txBody>
        </p:sp>
        <p:sp>
          <p:nvSpPr>
            <p:cNvPr id="44043" name="Rectangle 9"/>
            <p:cNvSpPr/>
            <p:nvPr/>
          </p:nvSpPr>
          <p:spPr>
            <a:xfrm>
              <a:off x="764" y="719"/>
              <a:ext cx="624" cy="204"/>
            </a:xfrm>
            <a:prstGeom prst="rect">
              <a:avLst/>
            </a:prstGeom>
            <a:solidFill>
              <a:srgbClr val="E1E8FF">
                <a:alpha val="50000"/>
              </a:srgbClr>
            </a:solidFill>
            <a:ln w="9525">
              <a:noFill/>
            </a:ln>
          </p:spPr>
          <p:txBody>
            <a:bodyPr anchor="t" anchorCtr="0"/>
            <a:p>
              <a:pPr eaLnBrk="0" hangingPunct="0">
                <a:lnSpc>
                  <a:spcPct val="85000"/>
                </a:lnSpc>
                <a:buClr>
                  <a:srgbClr val="0033CC"/>
                </a:buClr>
                <a:buSzPct val="80000"/>
                <a:buFont typeface="Wingdings" panose="05000000000000000000" pitchFamily="2" charset="2"/>
              </a:pPr>
              <a:r>
                <a:rPr lang="zh-CN" altLang="en-US" dirty="0">
                  <a:latin typeface="Arial" panose="020B0604020202020204" pitchFamily="34" charset="0"/>
                  <a:ea typeface="宋体" panose="02010600030101010101" pitchFamily="2" charset="-122"/>
                </a:rPr>
                <a:t>李勇</a:t>
              </a:r>
              <a:endParaRPr lang="zh-CN" altLang="en-US" dirty="0">
                <a:latin typeface="Arial" panose="020B0604020202020204" pitchFamily="34" charset="0"/>
                <a:ea typeface="宋体" panose="02010600030101010101" pitchFamily="2" charset="-122"/>
              </a:endParaRPr>
            </a:p>
          </p:txBody>
        </p:sp>
        <p:sp>
          <p:nvSpPr>
            <p:cNvPr id="44044" name="Rectangle 10"/>
            <p:cNvSpPr/>
            <p:nvPr/>
          </p:nvSpPr>
          <p:spPr>
            <a:xfrm>
              <a:off x="764" y="515"/>
              <a:ext cx="624" cy="204"/>
            </a:xfrm>
            <a:prstGeom prst="rect">
              <a:avLst/>
            </a:prstGeom>
            <a:solidFill>
              <a:srgbClr val="E1E8FF">
                <a:alpha val="50000"/>
              </a:srgbClr>
            </a:solidFill>
            <a:ln w="9525">
              <a:noFill/>
            </a:ln>
          </p:spPr>
          <p:txBody>
            <a:bodyPr anchor="t" anchorCtr="0"/>
            <a:p>
              <a:pPr eaLnBrk="0" hangingPunct="0">
                <a:lnSpc>
                  <a:spcPct val="85000"/>
                </a:lnSpc>
                <a:buClr>
                  <a:srgbClr val="0033CC"/>
                </a:buClr>
                <a:buSzPct val="80000"/>
                <a:buFont typeface="Wingdings" panose="05000000000000000000" pitchFamily="2" charset="2"/>
              </a:pPr>
              <a:r>
                <a:rPr lang="en-US" altLang="zh-CN" dirty="0">
                  <a:latin typeface="Arial" panose="020B0604020202020204" pitchFamily="34" charset="0"/>
                  <a:ea typeface="宋体" panose="02010600030101010101" pitchFamily="2" charset="-122"/>
                </a:rPr>
                <a:t>…</a:t>
              </a:r>
              <a:endParaRPr lang="en-US" altLang="zh-CN" dirty="0">
                <a:latin typeface="Arial" panose="020B0604020202020204" pitchFamily="34" charset="0"/>
                <a:ea typeface="宋体" panose="02010600030101010101" pitchFamily="2" charset="-122"/>
              </a:endParaRPr>
            </a:p>
          </p:txBody>
        </p:sp>
        <p:sp>
          <p:nvSpPr>
            <p:cNvPr id="44045" name="Rectangle 11"/>
            <p:cNvSpPr/>
            <p:nvPr/>
          </p:nvSpPr>
          <p:spPr>
            <a:xfrm>
              <a:off x="764" y="291"/>
              <a:ext cx="624" cy="224"/>
            </a:xfrm>
            <a:prstGeom prst="rect">
              <a:avLst/>
            </a:prstGeom>
            <a:solidFill>
              <a:srgbClr val="E1E8FF">
                <a:alpha val="50000"/>
              </a:srgbClr>
            </a:solidFill>
            <a:ln w="9525">
              <a:noFill/>
            </a:ln>
          </p:spPr>
          <p:txBody>
            <a:bodyPr anchor="t" anchorCtr="0"/>
            <a:p>
              <a:pPr eaLnBrk="0" hangingPunct="0">
                <a:lnSpc>
                  <a:spcPct val="85000"/>
                </a:lnSpc>
                <a:buClr>
                  <a:srgbClr val="0033CC"/>
                </a:buClr>
                <a:buSzPct val="80000"/>
                <a:buFont typeface="Wingdings" panose="05000000000000000000" pitchFamily="2" charset="2"/>
              </a:pPr>
              <a:r>
                <a:rPr lang="en-US" altLang="zh-CN" dirty="0">
                  <a:latin typeface="Arial" panose="020B0604020202020204" pitchFamily="34" charset="0"/>
                  <a:ea typeface="宋体" panose="02010600030101010101" pitchFamily="2" charset="-122"/>
                </a:rPr>
                <a:t>Sname</a:t>
              </a:r>
              <a:endParaRPr lang="en-US" altLang="zh-CN" dirty="0">
                <a:latin typeface="Arial" panose="020B0604020202020204" pitchFamily="34" charset="0"/>
                <a:ea typeface="宋体" panose="02010600030101010101" pitchFamily="2" charset="-122"/>
              </a:endParaRPr>
            </a:p>
          </p:txBody>
        </p:sp>
        <p:sp>
          <p:nvSpPr>
            <p:cNvPr id="44046" name="Rectangle 12"/>
            <p:cNvSpPr/>
            <p:nvPr/>
          </p:nvSpPr>
          <p:spPr>
            <a:xfrm>
              <a:off x="1388" y="1535"/>
              <a:ext cx="464" cy="204"/>
            </a:xfrm>
            <a:prstGeom prst="rect">
              <a:avLst/>
            </a:prstGeom>
            <a:solidFill>
              <a:srgbClr val="E1E8FF">
                <a:alpha val="50000"/>
              </a:srgbClr>
            </a:solidFill>
            <a:ln w="9525">
              <a:noFill/>
            </a:ln>
          </p:spPr>
          <p:txBody>
            <a:bodyPr anchor="t" anchorCtr="0"/>
            <a:p>
              <a:pPr eaLnBrk="0" hangingPunct="0">
                <a:lnSpc>
                  <a:spcPct val="85000"/>
                </a:lnSpc>
                <a:buClr>
                  <a:srgbClr val="0033CC"/>
                </a:buClr>
                <a:buSzPct val="80000"/>
                <a:buFont typeface="Wingdings" panose="05000000000000000000" pitchFamily="2" charset="2"/>
              </a:pPr>
              <a:r>
                <a:rPr lang="en-US" altLang="zh-CN" dirty="0">
                  <a:latin typeface="Arial" panose="020B0604020202020204" pitchFamily="34" charset="0"/>
                  <a:ea typeface="宋体" panose="02010600030101010101" pitchFamily="2" charset="-122"/>
                </a:rPr>
                <a:t>…</a:t>
              </a:r>
              <a:endParaRPr lang="en-US" altLang="zh-CN" dirty="0">
                <a:latin typeface="Arial" panose="020B0604020202020204" pitchFamily="34" charset="0"/>
                <a:ea typeface="宋体" panose="02010600030101010101" pitchFamily="2" charset="-122"/>
              </a:endParaRPr>
            </a:p>
          </p:txBody>
        </p:sp>
        <p:sp>
          <p:nvSpPr>
            <p:cNvPr id="44047" name="Rectangle 13"/>
            <p:cNvSpPr/>
            <p:nvPr/>
          </p:nvSpPr>
          <p:spPr>
            <a:xfrm>
              <a:off x="1388" y="1331"/>
              <a:ext cx="464" cy="204"/>
            </a:xfrm>
            <a:prstGeom prst="rect">
              <a:avLst/>
            </a:prstGeom>
            <a:solidFill>
              <a:srgbClr val="E1E8FF">
                <a:alpha val="50000"/>
              </a:srgbClr>
            </a:solidFill>
            <a:ln w="9525">
              <a:noFill/>
            </a:ln>
          </p:spPr>
          <p:txBody>
            <a:bodyPr anchor="t" anchorCtr="0"/>
            <a:p>
              <a:pPr eaLnBrk="0" hangingPunct="0">
                <a:lnSpc>
                  <a:spcPct val="85000"/>
                </a:lnSpc>
                <a:buClr>
                  <a:srgbClr val="0033CC"/>
                </a:buClr>
                <a:buSzPct val="80000"/>
                <a:buFont typeface="Wingdings" panose="05000000000000000000" pitchFamily="2" charset="2"/>
              </a:pPr>
              <a:r>
                <a:rPr lang="zh-CN" altLang="en-US" dirty="0">
                  <a:latin typeface="Arial" panose="020B0604020202020204" pitchFamily="34" charset="0"/>
                  <a:ea typeface="宋体" panose="02010600030101010101" pitchFamily="2" charset="-122"/>
                </a:rPr>
                <a:t>男</a:t>
              </a:r>
              <a:endParaRPr lang="zh-CN" altLang="en-US" dirty="0">
                <a:latin typeface="Arial" panose="020B0604020202020204" pitchFamily="34" charset="0"/>
                <a:ea typeface="宋体" panose="02010600030101010101" pitchFamily="2" charset="-122"/>
              </a:endParaRPr>
            </a:p>
          </p:txBody>
        </p:sp>
        <p:sp>
          <p:nvSpPr>
            <p:cNvPr id="44048" name="Rectangle 14"/>
            <p:cNvSpPr/>
            <p:nvPr/>
          </p:nvSpPr>
          <p:spPr>
            <a:xfrm>
              <a:off x="1388" y="1127"/>
              <a:ext cx="464" cy="204"/>
            </a:xfrm>
            <a:prstGeom prst="rect">
              <a:avLst/>
            </a:prstGeom>
            <a:solidFill>
              <a:srgbClr val="E1E8FF">
                <a:alpha val="50000"/>
              </a:srgbClr>
            </a:solidFill>
            <a:ln w="9525">
              <a:noFill/>
            </a:ln>
          </p:spPr>
          <p:txBody>
            <a:bodyPr anchor="t" anchorCtr="0"/>
            <a:p>
              <a:pPr eaLnBrk="0" hangingPunct="0">
                <a:lnSpc>
                  <a:spcPct val="85000"/>
                </a:lnSpc>
                <a:buClr>
                  <a:srgbClr val="0033CC"/>
                </a:buClr>
                <a:buSzPct val="80000"/>
                <a:buFont typeface="Wingdings" panose="05000000000000000000" pitchFamily="2" charset="2"/>
              </a:pPr>
              <a:r>
                <a:rPr lang="zh-CN" altLang="en-US" dirty="0">
                  <a:latin typeface="Arial" panose="020B0604020202020204" pitchFamily="34" charset="0"/>
                  <a:ea typeface="宋体" panose="02010600030101010101" pitchFamily="2" charset="-122"/>
                </a:rPr>
                <a:t>男</a:t>
              </a:r>
              <a:endParaRPr lang="zh-CN" altLang="en-US" dirty="0">
                <a:latin typeface="Arial" panose="020B0604020202020204" pitchFamily="34" charset="0"/>
                <a:ea typeface="宋体" panose="02010600030101010101" pitchFamily="2" charset="-122"/>
              </a:endParaRPr>
            </a:p>
          </p:txBody>
        </p:sp>
        <p:sp>
          <p:nvSpPr>
            <p:cNvPr id="44049" name="Rectangle 15"/>
            <p:cNvSpPr/>
            <p:nvPr/>
          </p:nvSpPr>
          <p:spPr>
            <a:xfrm>
              <a:off x="1388" y="923"/>
              <a:ext cx="464" cy="204"/>
            </a:xfrm>
            <a:prstGeom prst="rect">
              <a:avLst/>
            </a:prstGeom>
            <a:solidFill>
              <a:srgbClr val="E1E8FF">
                <a:alpha val="50000"/>
              </a:srgbClr>
            </a:solidFill>
            <a:ln w="9525">
              <a:noFill/>
            </a:ln>
          </p:spPr>
          <p:txBody>
            <a:bodyPr anchor="t" anchorCtr="0"/>
            <a:p>
              <a:pPr eaLnBrk="0" hangingPunct="0">
                <a:lnSpc>
                  <a:spcPct val="85000"/>
                </a:lnSpc>
                <a:buClr>
                  <a:srgbClr val="0033CC"/>
                </a:buClr>
                <a:buSzPct val="80000"/>
                <a:buFont typeface="Wingdings" panose="05000000000000000000" pitchFamily="2" charset="2"/>
              </a:pPr>
              <a:r>
                <a:rPr lang="zh-CN" altLang="en-US" dirty="0">
                  <a:latin typeface="Arial" panose="020B0604020202020204" pitchFamily="34" charset="0"/>
                  <a:ea typeface="宋体" panose="02010600030101010101" pitchFamily="2" charset="-122"/>
                </a:rPr>
                <a:t>女</a:t>
              </a:r>
              <a:endParaRPr lang="zh-CN" altLang="en-US" dirty="0">
                <a:latin typeface="Arial" panose="020B0604020202020204" pitchFamily="34" charset="0"/>
                <a:ea typeface="宋体" panose="02010600030101010101" pitchFamily="2" charset="-122"/>
              </a:endParaRPr>
            </a:p>
          </p:txBody>
        </p:sp>
        <p:sp>
          <p:nvSpPr>
            <p:cNvPr id="44050" name="Rectangle 16"/>
            <p:cNvSpPr/>
            <p:nvPr/>
          </p:nvSpPr>
          <p:spPr>
            <a:xfrm>
              <a:off x="1388" y="719"/>
              <a:ext cx="464" cy="204"/>
            </a:xfrm>
            <a:prstGeom prst="rect">
              <a:avLst/>
            </a:prstGeom>
            <a:solidFill>
              <a:srgbClr val="E1E8FF">
                <a:alpha val="50000"/>
              </a:srgbClr>
            </a:solidFill>
            <a:ln w="9525">
              <a:noFill/>
            </a:ln>
          </p:spPr>
          <p:txBody>
            <a:bodyPr anchor="t" anchorCtr="0"/>
            <a:p>
              <a:pPr eaLnBrk="0" hangingPunct="0">
                <a:lnSpc>
                  <a:spcPct val="85000"/>
                </a:lnSpc>
                <a:buClr>
                  <a:srgbClr val="0033CC"/>
                </a:buClr>
                <a:buSzPct val="80000"/>
                <a:buFont typeface="Wingdings" panose="05000000000000000000" pitchFamily="2" charset="2"/>
              </a:pPr>
              <a:r>
                <a:rPr lang="zh-CN" altLang="en-US" dirty="0">
                  <a:latin typeface="Arial" panose="020B0604020202020204" pitchFamily="34" charset="0"/>
                  <a:ea typeface="宋体" panose="02010600030101010101" pitchFamily="2" charset="-122"/>
                </a:rPr>
                <a:t>男</a:t>
              </a:r>
              <a:endParaRPr lang="zh-CN" altLang="en-US" dirty="0">
                <a:latin typeface="Arial" panose="020B0604020202020204" pitchFamily="34" charset="0"/>
                <a:ea typeface="宋体" panose="02010600030101010101" pitchFamily="2" charset="-122"/>
              </a:endParaRPr>
            </a:p>
          </p:txBody>
        </p:sp>
        <p:sp>
          <p:nvSpPr>
            <p:cNvPr id="44051" name="Rectangle 17"/>
            <p:cNvSpPr/>
            <p:nvPr/>
          </p:nvSpPr>
          <p:spPr>
            <a:xfrm>
              <a:off x="1388" y="515"/>
              <a:ext cx="464" cy="204"/>
            </a:xfrm>
            <a:prstGeom prst="rect">
              <a:avLst/>
            </a:prstGeom>
            <a:solidFill>
              <a:srgbClr val="E1E8FF">
                <a:alpha val="50000"/>
              </a:srgbClr>
            </a:solidFill>
            <a:ln w="9525">
              <a:noFill/>
            </a:ln>
          </p:spPr>
          <p:txBody>
            <a:bodyPr anchor="t" anchorCtr="0"/>
            <a:p>
              <a:pPr eaLnBrk="0" hangingPunct="0">
                <a:lnSpc>
                  <a:spcPct val="85000"/>
                </a:lnSpc>
                <a:buClr>
                  <a:srgbClr val="0033CC"/>
                </a:buClr>
                <a:buSzPct val="80000"/>
                <a:buFont typeface="Wingdings" panose="05000000000000000000" pitchFamily="2" charset="2"/>
              </a:pPr>
              <a:r>
                <a:rPr lang="en-US" altLang="zh-CN" dirty="0">
                  <a:latin typeface="Arial" panose="020B0604020202020204" pitchFamily="34" charset="0"/>
                  <a:ea typeface="宋体" panose="02010600030101010101" pitchFamily="2" charset="-122"/>
                </a:rPr>
                <a:t>…</a:t>
              </a:r>
              <a:endParaRPr lang="en-US" altLang="zh-CN" dirty="0">
                <a:latin typeface="Arial" panose="020B0604020202020204" pitchFamily="34" charset="0"/>
                <a:ea typeface="宋体" panose="02010600030101010101" pitchFamily="2" charset="-122"/>
              </a:endParaRPr>
            </a:p>
          </p:txBody>
        </p:sp>
        <p:sp>
          <p:nvSpPr>
            <p:cNvPr id="44052" name="Rectangle 18"/>
            <p:cNvSpPr/>
            <p:nvPr/>
          </p:nvSpPr>
          <p:spPr>
            <a:xfrm>
              <a:off x="1388" y="291"/>
              <a:ext cx="464" cy="224"/>
            </a:xfrm>
            <a:prstGeom prst="rect">
              <a:avLst/>
            </a:prstGeom>
            <a:solidFill>
              <a:srgbClr val="E1E8FF">
                <a:alpha val="50000"/>
              </a:srgbClr>
            </a:solidFill>
            <a:ln w="9525">
              <a:noFill/>
            </a:ln>
          </p:spPr>
          <p:txBody>
            <a:bodyPr anchor="t" anchorCtr="0"/>
            <a:p>
              <a:pPr eaLnBrk="0" hangingPunct="0">
                <a:lnSpc>
                  <a:spcPct val="85000"/>
                </a:lnSpc>
                <a:buClr>
                  <a:srgbClr val="0033CC"/>
                </a:buClr>
                <a:buSzPct val="80000"/>
                <a:buFont typeface="Wingdings" panose="05000000000000000000" pitchFamily="2" charset="2"/>
              </a:pPr>
              <a:r>
                <a:rPr lang="en-US" altLang="zh-CN" dirty="0">
                  <a:latin typeface="Arial" panose="020B0604020202020204" pitchFamily="34" charset="0"/>
                  <a:ea typeface="宋体" panose="02010600030101010101" pitchFamily="2" charset="-122"/>
                </a:rPr>
                <a:t>Ssex</a:t>
              </a:r>
              <a:endParaRPr lang="en-US" altLang="zh-CN" dirty="0">
                <a:latin typeface="Arial" panose="020B0604020202020204" pitchFamily="34" charset="0"/>
                <a:ea typeface="宋体" panose="02010600030101010101" pitchFamily="2" charset="-122"/>
              </a:endParaRPr>
            </a:p>
          </p:txBody>
        </p:sp>
        <p:sp>
          <p:nvSpPr>
            <p:cNvPr id="44053" name="Rectangle 19"/>
            <p:cNvSpPr/>
            <p:nvPr/>
          </p:nvSpPr>
          <p:spPr>
            <a:xfrm>
              <a:off x="1852" y="1331"/>
              <a:ext cx="446" cy="204"/>
            </a:xfrm>
            <a:prstGeom prst="rect">
              <a:avLst/>
            </a:prstGeom>
            <a:solidFill>
              <a:srgbClr val="E1E8FF">
                <a:alpha val="50000"/>
              </a:srgbClr>
            </a:solidFill>
            <a:ln w="9525">
              <a:noFill/>
            </a:ln>
          </p:spPr>
          <p:txBody>
            <a:bodyPr anchor="t" anchorCtr="0"/>
            <a:p>
              <a:pPr eaLnBrk="0" hangingPunct="0">
                <a:lnSpc>
                  <a:spcPct val="85000"/>
                </a:lnSpc>
                <a:buClr>
                  <a:srgbClr val="0033CC"/>
                </a:buClr>
                <a:buSzPct val="80000"/>
                <a:buFont typeface="Wingdings" panose="05000000000000000000" pitchFamily="2" charset="2"/>
              </a:pPr>
              <a:endParaRPr lang="en-US" altLang="x-none" dirty="0">
                <a:latin typeface="Arial" panose="020B0604020202020204" pitchFamily="34" charset="0"/>
                <a:ea typeface="宋体" panose="02010600030101010101" pitchFamily="2" charset="-122"/>
              </a:endParaRPr>
            </a:p>
          </p:txBody>
        </p:sp>
        <p:sp>
          <p:nvSpPr>
            <p:cNvPr id="44054" name="Rectangle 20"/>
            <p:cNvSpPr/>
            <p:nvPr/>
          </p:nvSpPr>
          <p:spPr>
            <a:xfrm>
              <a:off x="37" y="1331"/>
              <a:ext cx="727" cy="204"/>
            </a:xfrm>
            <a:prstGeom prst="rect">
              <a:avLst/>
            </a:prstGeom>
            <a:solidFill>
              <a:srgbClr val="E1E8FF">
                <a:alpha val="50000"/>
              </a:srgbClr>
            </a:solidFill>
            <a:ln w="9525">
              <a:noFill/>
            </a:ln>
          </p:spPr>
          <p:txBody>
            <a:bodyPr anchor="t" anchorCtr="0"/>
            <a:p>
              <a:pPr eaLnBrk="0" hangingPunct="0">
                <a:lnSpc>
                  <a:spcPct val="85000"/>
                </a:lnSpc>
                <a:buClr>
                  <a:srgbClr val="0033CC"/>
                </a:buClr>
                <a:buSzPct val="80000"/>
                <a:buFont typeface="Wingdings" panose="05000000000000000000" pitchFamily="2" charset="2"/>
              </a:pPr>
              <a:r>
                <a:rPr lang="en-US" altLang="zh-CN" dirty="0">
                  <a:latin typeface="Arial" panose="020B0604020202020204" pitchFamily="34" charset="0"/>
                  <a:ea typeface="宋体" panose="02010600030101010101" pitchFamily="2" charset="-122"/>
                </a:rPr>
                <a:t>0811102</a:t>
              </a:r>
              <a:endParaRPr lang="en-US" altLang="zh-CN" dirty="0">
                <a:latin typeface="Arial" panose="020B0604020202020204" pitchFamily="34" charset="0"/>
                <a:ea typeface="宋体" panose="02010600030101010101" pitchFamily="2" charset="-122"/>
              </a:endParaRPr>
            </a:p>
          </p:txBody>
        </p:sp>
        <p:sp>
          <p:nvSpPr>
            <p:cNvPr id="44055" name="Rectangle 21"/>
            <p:cNvSpPr/>
            <p:nvPr/>
          </p:nvSpPr>
          <p:spPr>
            <a:xfrm>
              <a:off x="1852" y="923"/>
              <a:ext cx="446" cy="204"/>
            </a:xfrm>
            <a:prstGeom prst="rect">
              <a:avLst/>
            </a:prstGeom>
            <a:solidFill>
              <a:srgbClr val="E1E8FF">
                <a:alpha val="50000"/>
              </a:srgbClr>
            </a:solidFill>
            <a:ln w="9525">
              <a:noFill/>
            </a:ln>
          </p:spPr>
          <p:txBody>
            <a:bodyPr anchor="t" anchorCtr="0"/>
            <a:p>
              <a:pPr eaLnBrk="0" hangingPunct="0">
                <a:lnSpc>
                  <a:spcPct val="85000"/>
                </a:lnSpc>
                <a:buClr>
                  <a:srgbClr val="0033CC"/>
                </a:buClr>
                <a:buSzPct val="80000"/>
                <a:buFont typeface="Wingdings" panose="05000000000000000000" pitchFamily="2" charset="2"/>
              </a:pPr>
              <a:endParaRPr lang="en-US" altLang="x-none" dirty="0">
                <a:latin typeface="Arial" panose="020B0604020202020204" pitchFamily="34" charset="0"/>
                <a:ea typeface="宋体" panose="02010600030101010101" pitchFamily="2" charset="-122"/>
              </a:endParaRPr>
            </a:p>
          </p:txBody>
        </p:sp>
        <p:sp>
          <p:nvSpPr>
            <p:cNvPr id="44056" name="Rectangle 22"/>
            <p:cNvSpPr/>
            <p:nvPr/>
          </p:nvSpPr>
          <p:spPr>
            <a:xfrm>
              <a:off x="37" y="923"/>
              <a:ext cx="727" cy="204"/>
            </a:xfrm>
            <a:prstGeom prst="rect">
              <a:avLst/>
            </a:prstGeom>
            <a:solidFill>
              <a:srgbClr val="E1E8FF">
                <a:alpha val="50000"/>
              </a:srgbClr>
            </a:solidFill>
            <a:ln w="9525">
              <a:noFill/>
            </a:ln>
          </p:spPr>
          <p:txBody>
            <a:bodyPr anchor="t" anchorCtr="0"/>
            <a:p>
              <a:pPr eaLnBrk="0" hangingPunct="0">
                <a:lnSpc>
                  <a:spcPct val="85000"/>
                </a:lnSpc>
                <a:buClr>
                  <a:srgbClr val="0033CC"/>
                </a:buClr>
                <a:buSzPct val="80000"/>
                <a:buFont typeface="Wingdings" panose="05000000000000000000" pitchFamily="2" charset="2"/>
              </a:pPr>
              <a:r>
                <a:rPr lang="en-US" altLang="zh-CN" dirty="0">
                  <a:latin typeface="Arial" panose="020B0604020202020204" pitchFamily="34" charset="0"/>
                  <a:ea typeface="宋体" panose="02010600030101010101" pitchFamily="2" charset="-122"/>
                </a:rPr>
                <a:t>0831101</a:t>
              </a:r>
              <a:endParaRPr lang="en-US" altLang="zh-CN" dirty="0">
                <a:latin typeface="Arial" panose="020B0604020202020204" pitchFamily="34" charset="0"/>
                <a:ea typeface="宋体" panose="02010600030101010101" pitchFamily="2" charset="-122"/>
              </a:endParaRPr>
            </a:p>
          </p:txBody>
        </p:sp>
        <p:sp>
          <p:nvSpPr>
            <p:cNvPr id="44057" name="Rectangle 23"/>
            <p:cNvSpPr/>
            <p:nvPr/>
          </p:nvSpPr>
          <p:spPr>
            <a:xfrm>
              <a:off x="1852" y="1127"/>
              <a:ext cx="446" cy="204"/>
            </a:xfrm>
            <a:prstGeom prst="rect">
              <a:avLst/>
            </a:prstGeom>
            <a:solidFill>
              <a:srgbClr val="E1E8FF">
                <a:alpha val="50000"/>
              </a:srgbClr>
            </a:solidFill>
            <a:ln w="9525">
              <a:noFill/>
            </a:ln>
          </p:spPr>
          <p:txBody>
            <a:bodyPr anchor="t" anchorCtr="0"/>
            <a:p>
              <a:pPr eaLnBrk="0" hangingPunct="0">
                <a:lnSpc>
                  <a:spcPct val="85000"/>
                </a:lnSpc>
                <a:buClr>
                  <a:srgbClr val="0033CC"/>
                </a:buClr>
                <a:buSzPct val="80000"/>
                <a:buFont typeface="Wingdings" panose="05000000000000000000" pitchFamily="2" charset="2"/>
              </a:pPr>
              <a:endParaRPr lang="en-US" altLang="x-none" dirty="0">
                <a:latin typeface="Arial" panose="020B0604020202020204" pitchFamily="34" charset="0"/>
                <a:ea typeface="宋体" panose="02010600030101010101" pitchFamily="2" charset="-122"/>
              </a:endParaRPr>
            </a:p>
          </p:txBody>
        </p:sp>
        <p:sp>
          <p:nvSpPr>
            <p:cNvPr id="44058" name="Rectangle 24"/>
            <p:cNvSpPr/>
            <p:nvPr/>
          </p:nvSpPr>
          <p:spPr>
            <a:xfrm>
              <a:off x="37" y="1127"/>
              <a:ext cx="727" cy="204"/>
            </a:xfrm>
            <a:prstGeom prst="rect">
              <a:avLst/>
            </a:prstGeom>
            <a:solidFill>
              <a:srgbClr val="E1E8FF">
                <a:alpha val="50000"/>
              </a:srgbClr>
            </a:solidFill>
            <a:ln w="9525">
              <a:noFill/>
            </a:ln>
          </p:spPr>
          <p:txBody>
            <a:bodyPr anchor="t" anchorCtr="0"/>
            <a:p>
              <a:pPr eaLnBrk="0" hangingPunct="0">
                <a:lnSpc>
                  <a:spcPct val="85000"/>
                </a:lnSpc>
                <a:buClr>
                  <a:srgbClr val="0033CC"/>
                </a:buClr>
                <a:buSzPct val="80000"/>
                <a:buFont typeface="Wingdings" panose="05000000000000000000" pitchFamily="2" charset="2"/>
              </a:pPr>
              <a:r>
                <a:rPr lang="en-US" altLang="zh-CN" dirty="0">
                  <a:latin typeface="Arial" panose="020B0604020202020204" pitchFamily="34" charset="0"/>
                  <a:ea typeface="宋体" panose="02010600030101010101" pitchFamily="2" charset="-122"/>
                </a:rPr>
                <a:t>0821101</a:t>
              </a:r>
              <a:endParaRPr lang="en-US" altLang="zh-CN" dirty="0">
                <a:latin typeface="Arial" panose="020B0604020202020204" pitchFamily="34" charset="0"/>
                <a:ea typeface="宋体" panose="02010600030101010101" pitchFamily="2" charset="-122"/>
              </a:endParaRPr>
            </a:p>
          </p:txBody>
        </p:sp>
        <p:sp>
          <p:nvSpPr>
            <p:cNvPr id="44059" name="Rectangle 25"/>
            <p:cNvSpPr/>
            <p:nvPr/>
          </p:nvSpPr>
          <p:spPr>
            <a:xfrm>
              <a:off x="1852" y="515"/>
              <a:ext cx="446" cy="204"/>
            </a:xfrm>
            <a:prstGeom prst="rect">
              <a:avLst/>
            </a:prstGeom>
            <a:solidFill>
              <a:srgbClr val="E1E8FF">
                <a:alpha val="50000"/>
              </a:srgbClr>
            </a:solidFill>
            <a:ln w="9525">
              <a:noFill/>
            </a:ln>
          </p:spPr>
          <p:txBody>
            <a:bodyPr anchor="t" anchorCtr="0"/>
            <a:p>
              <a:pPr eaLnBrk="0" hangingPunct="0">
                <a:lnSpc>
                  <a:spcPct val="85000"/>
                </a:lnSpc>
                <a:buClr>
                  <a:srgbClr val="0033CC"/>
                </a:buClr>
                <a:buSzPct val="80000"/>
                <a:buFont typeface="Wingdings" panose="05000000000000000000" pitchFamily="2" charset="2"/>
              </a:pPr>
              <a:endParaRPr lang="en-US" altLang="x-none" dirty="0">
                <a:latin typeface="Arial" panose="020B0604020202020204" pitchFamily="34" charset="0"/>
                <a:ea typeface="宋体" panose="02010600030101010101" pitchFamily="2" charset="-122"/>
              </a:endParaRPr>
            </a:p>
          </p:txBody>
        </p:sp>
        <p:sp>
          <p:nvSpPr>
            <p:cNvPr id="44060" name="Rectangle 26"/>
            <p:cNvSpPr/>
            <p:nvPr/>
          </p:nvSpPr>
          <p:spPr>
            <a:xfrm>
              <a:off x="37" y="515"/>
              <a:ext cx="727" cy="204"/>
            </a:xfrm>
            <a:prstGeom prst="rect">
              <a:avLst/>
            </a:prstGeom>
            <a:solidFill>
              <a:srgbClr val="E1E8FF">
                <a:alpha val="50000"/>
              </a:srgbClr>
            </a:solidFill>
            <a:ln w="9525">
              <a:noFill/>
            </a:ln>
          </p:spPr>
          <p:txBody>
            <a:bodyPr anchor="t" anchorCtr="0"/>
            <a:p>
              <a:pPr eaLnBrk="0" hangingPunct="0">
                <a:lnSpc>
                  <a:spcPct val="85000"/>
                </a:lnSpc>
                <a:buClr>
                  <a:srgbClr val="0033CC"/>
                </a:buClr>
                <a:buSzPct val="80000"/>
                <a:buFont typeface="Wingdings" panose="05000000000000000000" pitchFamily="2" charset="2"/>
              </a:pPr>
              <a:r>
                <a:rPr lang="en-US" altLang="zh-CN" dirty="0">
                  <a:latin typeface="Arial" panose="020B0604020202020204" pitchFamily="34" charset="0"/>
                  <a:ea typeface="宋体" panose="02010600030101010101" pitchFamily="2" charset="-122"/>
                </a:rPr>
                <a:t>…</a:t>
              </a:r>
              <a:endParaRPr lang="en-US" altLang="zh-CN" dirty="0">
                <a:latin typeface="Arial" panose="020B0604020202020204" pitchFamily="34" charset="0"/>
                <a:ea typeface="宋体" panose="02010600030101010101" pitchFamily="2" charset="-122"/>
              </a:endParaRPr>
            </a:p>
          </p:txBody>
        </p:sp>
        <p:sp>
          <p:nvSpPr>
            <p:cNvPr id="44061" name="Rectangle 27"/>
            <p:cNvSpPr/>
            <p:nvPr/>
          </p:nvSpPr>
          <p:spPr>
            <a:xfrm>
              <a:off x="1852" y="719"/>
              <a:ext cx="446" cy="204"/>
            </a:xfrm>
            <a:prstGeom prst="rect">
              <a:avLst/>
            </a:prstGeom>
            <a:solidFill>
              <a:srgbClr val="E1E8FF">
                <a:alpha val="50000"/>
              </a:srgbClr>
            </a:solidFill>
            <a:ln w="9525">
              <a:noFill/>
            </a:ln>
          </p:spPr>
          <p:txBody>
            <a:bodyPr anchor="t" anchorCtr="0"/>
            <a:p>
              <a:pPr eaLnBrk="0" hangingPunct="0">
                <a:lnSpc>
                  <a:spcPct val="85000"/>
                </a:lnSpc>
                <a:buClr>
                  <a:srgbClr val="0033CC"/>
                </a:buClr>
                <a:buSzPct val="80000"/>
                <a:buFont typeface="Wingdings" panose="05000000000000000000" pitchFamily="2" charset="2"/>
              </a:pPr>
              <a:endParaRPr lang="en-US" altLang="x-none" dirty="0">
                <a:latin typeface="Arial" panose="020B0604020202020204" pitchFamily="34" charset="0"/>
                <a:ea typeface="宋体" panose="02010600030101010101" pitchFamily="2" charset="-122"/>
              </a:endParaRPr>
            </a:p>
          </p:txBody>
        </p:sp>
        <p:sp>
          <p:nvSpPr>
            <p:cNvPr id="44062" name="Rectangle 28"/>
            <p:cNvSpPr/>
            <p:nvPr/>
          </p:nvSpPr>
          <p:spPr>
            <a:xfrm>
              <a:off x="37" y="719"/>
              <a:ext cx="727" cy="204"/>
            </a:xfrm>
            <a:prstGeom prst="rect">
              <a:avLst/>
            </a:prstGeom>
            <a:solidFill>
              <a:srgbClr val="E1E8FF">
                <a:alpha val="50000"/>
              </a:srgbClr>
            </a:solidFill>
            <a:ln w="9525">
              <a:noFill/>
            </a:ln>
          </p:spPr>
          <p:txBody>
            <a:bodyPr anchor="t" anchorCtr="0"/>
            <a:p>
              <a:pPr eaLnBrk="0" hangingPunct="0">
                <a:lnSpc>
                  <a:spcPct val="85000"/>
                </a:lnSpc>
                <a:buClr>
                  <a:srgbClr val="0033CC"/>
                </a:buClr>
                <a:buSzPct val="80000"/>
                <a:buFont typeface="Wingdings" panose="05000000000000000000" pitchFamily="2" charset="2"/>
              </a:pPr>
              <a:r>
                <a:rPr lang="en-US" altLang="zh-CN" dirty="0">
                  <a:latin typeface="Arial" panose="020B0604020202020204" pitchFamily="34" charset="0"/>
                  <a:ea typeface="宋体" panose="02010600030101010101" pitchFamily="2" charset="-122"/>
                </a:rPr>
                <a:t>0811101</a:t>
              </a:r>
              <a:endParaRPr lang="en-US" altLang="zh-CN" dirty="0">
                <a:latin typeface="Arial" panose="020B0604020202020204" pitchFamily="34" charset="0"/>
                <a:ea typeface="宋体" panose="02010600030101010101" pitchFamily="2" charset="-122"/>
              </a:endParaRPr>
            </a:p>
          </p:txBody>
        </p:sp>
        <p:sp>
          <p:nvSpPr>
            <p:cNvPr id="44063" name="Rectangle 29"/>
            <p:cNvSpPr/>
            <p:nvPr/>
          </p:nvSpPr>
          <p:spPr>
            <a:xfrm>
              <a:off x="1852" y="1535"/>
              <a:ext cx="446" cy="204"/>
            </a:xfrm>
            <a:prstGeom prst="rect">
              <a:avLst/>
            </a:prstGeom>
            <a:solidFill>
              <a:srgbClr val="E1E8FF">
                <a:alpha val="50000"/>
              </a:srgbClr>
            </a:solidFill>
            <a:ln w="9525">
              <a:noFill/>
            </a:ln>
          </p:spPr>
          <p:txBody>
            <a:bodyPr anchor="t" anchorCtr="0"/>
            <a:p>
              <a:pPr eaLnBrk="0" hangingPunct="0">
                <a:lnSpc>
                  <a:spcPct val="85000"/>
                </a:lnSpc>
                <a:buClr>
                  <a:srgbClr val="0033CC"/>
                </a:buClr>
                <a:buSzPct val="80000"/>
                <a:buFont typeface="Wingdings" panose="05000000000000000000" pitchFamily="2" charset="2"/>
              </a:pPr>
              <a:endParaRPr lang="en-US" altLang="x-none" dirty="0">
                <a:latin typeface="Arial" panose="020B0604020202020204" pitchFamily="34" charset="0"/>
                <a:ea typeface="宋体" panose="02010600030101010101" pitchFamily="2" charset="-122"/>
              </a:endParaRPr>
            </a:p>
          </p:txBody>
        </p:sp>
        <p:sp>
          <p:nvSpPr>
            <p:cNvPr id="44064" name="Rectangle 30"/>
            <p:cNvSpPr/>
            <p:nvPr/>
          </p:nvSpPr>
          <p:spPr>
            <a:xfrm>
              <a:off x="37" y="1535"/>
              <a:ext cx="727" cy="204"/>
            </a:xfrm>
            <a:prstGeom prst="rect">
              <a:avLst/>
            </a:prstGeom>
            <a:solidFill>
              <a:srgbClr val="E1E8FF">
                <a:alpha val="50000"/>
              </a:srgbClr>
            </a:solidFill>
            <a:ln w="9525">
              <a:noFill/>
            </a:ln>
          </p:spPr>
          <p:txBody>
            <a:bodyPr anchor="t" anchorCtr="0"/>
            <a:p>
              <a:pPr eaLnBrk="0" hangingPunct="0">
                <a:lnSpc>
                  <a:spcPct val="85000"/>
                </a:lnSpc>
                <a:buClr>
                  <a:srgbClr val="0033CC"/>
                </a:buClr>
                <a:buSzPct val="80000"/>
                <a:buFont typeface="Wingdings" panose="05000000000000000000" pitchFamily="2" charset="2"/>
              </a:pPr>
              <a:r>
                <a:rPr lang="en-US" altLang="zh-CN" dirty="0">
                  <a:latin typeface="Arial" panose="020B0604020202020204" pitchFamily="34" charset="0"/>
                  <a:ea typeface="宋体" panose="02010600030101010101" pitchFamily="2" charset="-122"/>
                </a:rPr>
                <a:t>…</a:t>
              </a:r>
              <a:endParaRPr lang="zh-CN" altLang="en-US" dirty="0">
                <a:latin typeface="Arial" panose="020B0604020202020204" pitchFamily="34" charset="0"/>
                <a:ea typeface="宋体" panose="02010600030101010101" pitchFamily="2" charset="-122"/>
              </a:endParaRPr>
            </a:p>
          </p:txBody>
        </p:sp>
        <p:sp>
          <p:nvSpPr>
            <p:cNvPr id="44065" name="Rectangle 31"/>
            <p:cNvSpPr/>
            <p:nvPr/>
          </p:nvSpPr>
          <p:spPr>
            <a:xfrm>
              <a:off x="1852" y="291"/>
              <a:ext cx="446" cy="224"/>
            </a:xfrm>
            <a:prstGeom prst="rect">
              <a:avLst/>
            </a:prstGeom>
            <a:solidFill>
              <a:srgbClr val="E1E8FF">
                <a:alpha val="50000"/>
              </a:srgbClr>
            </a:solidFill>
            <a:ln w="9525">
              <a:noFill/>
            </a:ln>
          </p:spPr>
          <p:txBody>
            <a:bodyPr anchor="t" anchorCtr="0"/>
            <a:p>
              <a:pPr eaLnBrk="0" hangingPunct="0">
                <a:lnSpc>
                  <a:spcPct val="85000"/>
                </a:lnSpc>
                <a:buClr>
                  <a:srgbClr val="0033CC"/>
                </a:buClr>
                <a:buSzPct val="80000"/>
                <a:buFont typeface="Wingdings" panose="05000000000000000000" pitchFamily="2" charset="2"/>
              </a:pPr>
              <a:r>
                <a:rPr lang="en-US" altLang="zh-CN" dirty="0">
                  <a:latin typeface="Arial" panose="020B0604020202020204" pitchFamily="34" charset="0"/>
                  <a:ea typeface="宋体" panose="02010600030101010101" pitchFamily="2" charset="-122"/>
                </a:rPr>
                <a:t>…</a:t>
              </a:r>
              <a:endParaRPr lang="en-US" altLang="zh-CN" dirty="0">
                <a:latin typeface="Arial" panose="020B0604020202020204" pitchFamily="34" charset="0"/>
                <a:ea typeface="宋体" panose="02010600030101010101" pitchFamily="2" charset="-122"/>
              </a:endParaRPr>
            </a:p>
          </p:txBody>
        </p:sp>
        <p:sp>
          <p:nvSpPr>
            <p:cNvPr id="44066" name="Rectangle 32"/>
            <p:cNvSpPr/>
            <p:nvPr/>
          </p:nvSpPr>
          <p:spPr>
            <a:xfrm>
              <a:off x="37" y="291"/>
              <a:ext cx="727" cy="224"/>
            </a:xfrm>
            <a:prstGeom prst="rect">
              <a:avLst/>
            </a:prstGeom>
            <a:solidFill>
              <a:srgbClr val="E1E8FF">
                <a:alpha val="50000"/>
              </a:srgbClr>
            </a:solidFill>
            <a:ln w="9525">
              <a:noFill/>
            </a:ln>
          </p:spPr>
          <p:txBody>
            <a:bodyPr anchor="t" anchorCtr="0"/>
            <a:p>
              <a:pPr eaLnBrk="0" hangingPunct="0">
                <a:lnSpc>
                  <a:spcPct val="85000"/>
                </a:lnSpc>
                <a:buClr>
                  <a:srgbClr val="0033CC"/>
                </a:buClr>
                <a:buSzPct val="80000"/>
                <a:buFont typeface="Wingdings" panose="05000000000000000000" pitchFamily="2" charset="2"/>
              </a:pPr>
              <a:r>
                <a:rPr lang="en-US" altLang="zh-CN" dirty="0">
                  <a:latin typeface="Arial" panose="020B0604020202020204" pitchFamily="34" charset="0"/>
                  <a:ea typeface="宋体" panose="02010600030101010101" pitchFamily="2" charset="-122"/>
                </a:rPr>
                <a:t>Sno</a:t>
              </a:r>
              <a:endParaRPr lang="en-US" altLang="zh-CN" dirty="0">
                <a:latin typeface="Arial" panose="020B0604020202020204" pitchFamily="34" charset="0"/>
                <a:ea typeface="宋体" panose="02010600030101010101" pitchFamily="2" charset="-122"/>
              </a:endParaRPr>
            </a:p>
          </p:txBody>
        </p:sp>
        <p:sp>
          <p:nvSpPr>
            <p:cNvPr id="44067" name="Line 33"/>
            <p:cNvSpPr/>
            <p:nvPr/>
          </p:nvSpPr>
          <p:spPr>
            <a:xfrm>
              <a:off x="37" y="291"/>
              <a:ext cx="2261" cy="0"/>
            </a:xfrm>
            <a:prstGeom prst="line">
              <a:avLst/>
            </a:prstGeom>
            <a:ln w="28575" cap="sq" cmpd="sng">
              <a:solidFill>
                <a:schemeClr val="tx1"/>
              </a:solidFill>
              <a:prstDash val="solid"/>
              <a:round/>
              <a:headEnd type="none" w="med" len="med"/>
              <a:tailEnd type="none" w="med" len="med"/>
            </a:ln>
          </p:spPr>
        </p:sp>
        <p:sp>
          <p:nvSpPr>
            <p:cNvPr id="44068" name="Line 34"/>
            <p:cNvSpPr/>
            <p:nvPr/>
          </p:nvSpPr>
          <p:spPr>
            <a:xfrm>
              <a:off x="37" y="515"/>
              <a:ext cx="2261" cy="0"/>
            </a:xfrm>
            <a:prstGeom prst="line">
              <a:avLst/>
            </a:prstGeom>
            <a:ln w="12700" cap="rnd" cmpd="sng">
              <a:solidFill>
                <a:schemeClr val="tx1"/>
              </a:solidFill>
              <a:prstDash val="solid"/>
              <a:round/>
              <a:headEnd type="none" w="med" len="med"/>
              <a:tailEnd type="none" w="med" len="med"/>
            </a:ln>
          </p:spPr>
        </p:sp>
        <p:sp>
          <p:nvSpPr>
            <p:cNvPr id="44069" name="Line 35"/>
            <p:cNvSpPr/>
            <p:nvPr/>
          </p:nvSpPr>
          <p:spPr>
            <a:xfrm>
              <a:off x="37" y="1739"/>
              <a:ext cx="2261" cy="0"/>
            </a:xfrm>
            <a:prstGeom prst="line">
              <a:avLst/>
            </a:prstGeom>
            <a:ln w="28575" cap="sq" cmpd="sng">
              <a:solidFill>
                <a:schemeClr val="tx1"/>
              </a:solidFill>
              <a:prstDash val="solid"/>
              <a:round/>
              <a:headEnd type="none" w="med" len="med"/>
              <a:tailEnd type="none" w="med" len="med"/>
            </a:ln>
          </p:spPr>
        </p:sp>
        <p:sp>
          <p:nvSpPr>
            <p:cNvPr id="44070" name="Line 36"/>
            <p:cNvSpPr/>
            <p:nvPr/>
          </p:nvSpPr>
          <p:spPr>
            <a:xfrm>
              <a:off x="764" y="291"/>
              <a:ext cx="0" cy="224"/>
            </a:xfrm>
            <a:prstGeom prst="line">
              <a:avLst/>
            </a:prstGeom>
            <a:ln w="12700" cap="flat" cmpd="sng">
              <a:solidFill>
                <a:schemeClr val="tx1"/>
              </a:solidFill>
              <a:prstDash val="solid"/>
              <a:round/>
              <a:headEnd type="none" w="med" len="med"/>
              <a:tailEnd type="none" w="med" len="med"/>
            </a:ln>
          </p:spPr>
        </p:sp>
        <p:sp>
          <p:nvSpPr>
            <p:cNvPr id="44071" name="Line 37"/>
            <p:cNvSpPr/>
            <p:nvPr/>
          </p:nvSpPr>
          <p:spPr>
            <a:xfrm>
              <a:off x="37" y="923"/>
              <a:ext cx="2261" cy="0"/>
            </a:xfrm>
            <a:prstGeom prst="line">
              <a:avLst/>
            </a:prstGeom>
            <a:ln w="12700" cap="flat" cmpd="sng">
              <a:solidFill>
                <a:schemeClr val="tx1"/>
              </a:solidFill>
              <a:prstDash val="solid"/>
              <a:round/>
              <a:headEnd type="none" w="med" len="med"/>
              <a:tailEnd type="none" w="med" len="med"/>
            </a:ln>
          </p:spPr>
        </p:sp>
        <p:sp>
          <p:nvSpPr>
            <p:cNvPr id="44072" name="Line 38"/>
            <p:cNvSpPr/>
            <p:nvPr/>
          </p:nvSpPr>
          <p:spPr>
            <a:xfrm>
              <a:off x="37" y="719"/>
              <a:ext cx="2261" cy="0"/>
            </a:xfrm>
            <a:prstGeom prst="line">
              <a:avLst/>
            </a:prstGeom>
            <a:ln w="28575" cap="rnd" cmpd="sng">
              <a:solidFill>
                <a:schemeClr val="tx1"/>
              </a:solidFill>
              <a:prstDash val="solid"/>
              <a:round/>
              <a:headEnd type="none" w="med" len="med"/>
              <a:tailEnd type="none" w="med" len="med"/>
            </a:ln>
          </p:spPr>
        </p:sp>
        <p:sp>
          <p:nvSpPr>
            <p:cNvPr id="44073" name="Line 39"/>
            <p:cNvSpPr/>
            <p:nvPr/>
          </p:nvSpPr>
          <p:spPr>
            <a:xfrm>
              <a:off x="37" y="515"/>
              <a:ext cx="0" cy="204"/>
            </a:xfrm>
            <a:prstGeom prst="line">
              <a:avLst/>
            </a:prstGeom>
            <a:ln w="28575" cap="rnd" cmpd="sng">
              <a:solidFill>
                <a:schemeClr val="tx1"/>
              </a:solidFill>
              <a:prstDash val="solid"/>
              <a:round/>
              <a:headEnd type="none" w="med" len="med"/>
              <a:tailEnd type="none" w="med" len="med"/>
            </a:ln>
          </p:spPr>
        </p:sp>
        <p:sp>
          <p:nvSpPr>
            <p:cNvPr id="44074" name="Line 40"/>
            <p:cNvSpPr/>
            <p:nvPr/>
          </p:nvSpPr>
          <p:spPr>
            <a:xfrm>
              <a:off x="37" y="291"/>
              <a:ext cx="0" cy="224"/>
            </a:xfrm>
            <a:prstGeom prst="line">
              <a:avLst/>
            </a:prstGeom>
            <a:ln w="28575" cap="sq" cmpd="sng">
              <a:solidFill>
                <a:schemeClr val="tx1"/>
              </a:solidFill>
              <a:prstDash val="solid"/>
              <a:round/>
              <a:headEnd type="none" w="med" len="med"/>
              <a:tailEnd type="none" w="med" len="med"/>
            </a:ln>
          </p:spPr>
        </p:sp>
        <p:sp>
          <p:nvSpPr>
            <p:cNvPr id="44075" name="Line 41"/>
            <p:cNvSpPr/>
            <p:nvPr/>
          </p:nvSpPr>
          <p:spPr>
            <a:xfrm>
              <a:off x="764" y="515"/>
              <a:ext cx="0" cy="204"/>
            </a:xfrm>
            <a:prstGeom prst="line">
              <a:avLst/>
            </a:prstGeom>
            <a:ln w="12700" cap="rnd" cmpd="sng">
              <a:solidFill>
                <a:schemeClr val="tx1"/>
              </a:solidFill>
              <a:prstDash val="solid"/>
              <a:round/>
              <a:headEnd type="none" w="med" len="med"/>
              <a:tailEnd type="none" w="med" len="med"/>
            </a:ln>
          </p:spPr>
        </p:sp>
        <p:sp>
          <p:nvSpPr>
            <p:cNvPr id="44076" name="Line 42"/>
            <p:cNvSpPr/>
            <p:nvPr/>
          </p:nvSpPr>
          <p:spPr>
            <a:xfrm>
              <a:off x="764" y="719"/>
              <a:ext cx="0" cy="612"/>
            </a:xfrm>
            <a:prstGeom prst="line">
              <a:avLst/>
            </a:prstGeom>
            <a:ln w="12700" cap="flat" cmpd="sng">
              <a:solidFill>
                <a:schemeClr val="tx1"/>
              </a:solidFill>
              <a:prstDash val="solid"/>
              <a:round/>
              <a:headEnd type="none" w="med" len="med"/>
              <a:tailEnd type="none" w="med" len="med"/>
            </a:ln>
          </p:spPr>
        </p:sp>
        <p:sp>
          <p:nvSpPr>
            <p:cNvPr id="44077" name="Line 43"/>
            <p:cNvSpPr/>
            <p:nvPr/>
          </p:nvSpPr>
          <p:spPr>
            <a:xfrm>
              <a:off x="2298" y="515"/>
              <a:ext cx="0" cy="204"/>
            </a:xfrm>
            <a:prstGeom prst="line">
              <a:avLst/>
            </a:prstGeom>
            <a:ln w="28575" cap="rnd" cmpd="sng">
              <a:solidFill>
                <a:schemeClr val="tx1"/>
              </a:solidFill>
              <a:prstDash val="solid"/>
              <a:round/>
              <a:headEnd type="none" w="med" len="med"/>
              <a:tailEnd type="none" w="med" len="med"/>
            </a:ln>
          </p:spPr>
        </p:sp>
        <p:sp>
          <p:nvSpPr>
            <p:cNvPr id="44078" name="Line 44"/>
            <p:cNvSpPr/>
            <p:nvPr/>
          </p:nvSpPr>
          <p:spPr>
            <a:xfrm>
              <a:off x="2298" y="291"/>
              <a:ext cx="0" cy="224"/>
            </a:xfrm>
            <a:prstGeom prst="line">
              <a:avLst/>
            </a:prstGeom>
            <a:ln w="28575" cap="sq" cmpd="sng">
              <a:solidFill>
                <a:schemeClr val="tx1"/>
              </a:solidFill>
              <a:prstDash val="solid"/>
              <a:round/>
              <a:headEnd type="none" w="med" len="med"/>
              <a:tailEnd type="none" w="med" len="med"/>
            </a:ln>
          </p:spPr>
        </p:sp>
        <p:sp>
          <p:nvSpPr>
            <p:cNvPr id="44079" name="Line 45"/>
            <p:cNvSpPr/>
            <p:nvPr/>
          </p:nvSpPr>
          <p:spPr>
            <a:xfrm>
              <a:off x="37" y="1331"/>
              <a:ext cx="2261" cy="0"/>
            </a:xfrm>
            <a:prstGeom prst="line">
              <a:avLst/>
            </a:prstGeom>
            <a:ln w="12700" cap="rnd" cmpd="sng">
              <a:solidFill>
                <a:schemeClr val="tx1"/>
              </a:solidFill>
              <a:prstDash val="solid"/>
              <a:round/>
              <a:headEnd type="none" w="med" len="med"/>
              <a:tailEnd type="none" w="med" len="med"/>
            </a:ln>
          </p:spPr>
        </p:sp>
        <p:sp>
          <p:nvSpPr>
            <p:cNvPr id="44080" name="Line 46"/>
            <p:cNvSpPr/>
            <p:nvPr/>
          </p:nvSpPr>
          <p:spPr>
            <a:xfrm>
              <a:off x="37" y="1127"/>
              <a:ext cx="2261" cy="0"/>
            </a:xfrm>
            <a:prstGeom prst="line">
              <a:avLst/>
            </a:prstGeom>
            <a:ln w="12700" cap="flat" cmpd="sng">
              <a:solidFill>
                <a:schemeClr val="tx1"/>
              </a:solidFill>
              <a:prstDash val="solid"/>
              <a:round/>
              <a:headEnd type="none" w="med" len="med"/>
              <a:tailEnd type="none" w="med" len="med"/>
            </a:ln>
          </p:spPr>
        </p:sp>
        <p:sp>
          <p:nvSpPr>
            <p:cNvPr id="44081" name="Line 47"/>
            <p:cNvSpPr/>
            <p:nvPr/>
          </p:nvSpPr>
          <p:spPr>
            <a:xfrm>
              <a:off x="37" y="1535"/>
              <a:ext cx="2261" cy="0"/>
            </a:xfrm>
            <a:prstGeom prst="line">
              <a:avLst/>
            </a:prstGeom>
            <a:ln w="28575" cap="rnd" cmpd="sng">
              <a:solidFill>
                <a:schemeClr val="tx1"/>
              </a:solidFill>
              <a:prstDash val="solid"/>
              <a:round/>
              <a:headEnd type="none" w="med" len="med"/>
              <a:tailEnd type="none" w="med" len="med"/>
            </a:ln>
          </p:spPr>
        </p:sp>
        <p:sp>
          <p:nvSpPr>
            <p:cNvPr id="44082" name="Line 48"/>
            <p:cNvSpPr/>
            <p:nvPr/>
          </p:nvSpPr>
          <p:spPr>
            <a:xfrm>
              <a:off x="37" y="1331"/>
              <a:ext cx="0" cy="204"/>
            </a:xfrm>
            <a:prstGeom prst="line">
              <a:avLst/>
            </a:prstGeom>
            <a:ln w="28575" cap="rnd" cmpd="sng">
              <a:solidFill>
                <a:schemeClr val="tx1"/>
              </a:solidFill>
              <a:prstDash val="solid"/>
              <a:round/>
              <a:headEnd type="none" w="med" len="med"/>
              <a:tailEnd type="none" w="med" len="med"/>
            </a:ln>
          </p:spPr>
        </p:sp>
        <p:sp>
          <p:nvSpPr>
            <p:cNvPr id="44083" name="Line 49"/>
            <p:cNvSpPr/>
            <p:nvPr/>
          </p:nvSpPr>
          <p:spPr>
            <a:xfrm>
              <a:off x="37" y="719"/>
              <a:ext cx="0" cy="612"/>
            </a:xfrm>
            <a:prstGeom prst="line">
              <a:avLst/>
            </a:prstGeom>
            <a:ln w="28575" cap="sq" cmpd="sng">
              <a:solidFill>
                <a:schemeClr val="tx1"/>
              </a:solidFill>
              <a:prstDash val="solid"/>
              <a:round/>
              <a:headEnd type="none" w="med" len="med"/>
              <a:tailEnd type="none" w="med" len="med"/>
            </a:ln>
          </p:spPr>
        </p:sp>
        <p:sp>
          <p:nvSpPr>
            <p:cNvPr id="44084" name="Line 50"/>
            <p:cNvSpPr/>
            <p:nvPr/>
          </p:nvSpPr>
          <p:spPr>
            <a:xfrm>
              <a:off x="37" y="1535"/>
              <a:ext cx="0" cy="204"/>
            </a:xfrm>
            <a:prstGeom prst="line">
              <a:avLst/>
            </a:prstGeom>
            <a:ln w="28575" cap="sq" cmpd="sng">
              <a:solidFill>
                <a:schemeClr val="tx1"/>
              </a:solidFill>
              <a:prstDash val="solid"/>
              <a:round/>
              <a:headEnd type="none" w="med" len="med"/>
              <a:tailEnd type="none" w="med" len="med"/>
            </a:ln>
          </p:spPr>
        </p:sp>
        <p:sp>
          <p:nvSpPr>
            <p:cNvPr id="44085" name="Line 51"/>
            <p:cNvSpPr/>
            <p:nvPr/>
          </p:nvSpPr>
          <p:spPr>
            <a:xfrm>
              <a:off x="764" y="1331"/>
              <a:ext cx="0" cy="204"/>
            </a:xfrm>
            <a:prstGeom prst="line">
              <a:avLst/>
            </a:prstGeom>
            <a:ln w="12700" cap="rnd" cmpd="sng">
              <a:solidFill>
                <a:schemeClr val="tx1"/>
              </a:solidFill>
              <a:prstDash val="solid"/>
              <a:round/>
              <a:headEnd type="none" w="med" len="med"/>
              <a:tailEnd type="none" w="med" len="med"/>
            </a:ln>
          </p:spPr>
        </p:sp>
        <p:sp>
          <p:nvSpPr>
            <p:cNvPr id="44086" name="Line 52"/>
            <p:cNvSpPr/>
            <p:nvPr/>
          </p:nvSpPr>
          <p:spPr>
            <a:xfrm>
              <a:off x="764" y="1535"/>
              <a:ext cx="0" cy="204"/>
            </a:xfrm>
            <a:prstGeom prst="line">
              <a:avLst/>
            </a:prstGeom>
            <a:ln w="12700" cap="flat" cmpd="sng">
              <a:solidFill>
                <a:schemeClr val="tx1"/>
              </a:solidFill>
              <a:prstDash val="solid"/>
              <a:round/>
              <a:headEnd type="none" w="med" len="med"/>
              <a:tailEnd type="none" w="med" len="med"/>
            </a:ln>
          </p:spPr>
        </p:sp>
        <p:sp>
          <p:nvSpPr>
            <p:cNvPr id="44087" name="Line 53"/>
            <p:cNvSpPr/>
            <p:nvPr/>
          </p:nvSpPr>
          <p:spPr>
            <a:xfrm>
              <a:off x="2298" y="1331"/>
              <a:ext cx="0" cy="204"/>
            </a:xfrm>
            <a:prstGeom prst="line">
              <a:avLst/>
            </a:prstGeom>
            <a:ln w="28575" cap="rnd" cmpd="sng">
              <a:solidFill>
                <a:schemeClr val="tx1"/>
              </a:solidFill>
              <a:prstDash val="solid"/>
              <a:round/>
              <a:headEnd type="none" w="med" len="med"/>
              <a:tailEnd type="none" w="med" len="med"/>
            </a:ln>
          </p:spPr>
        </p:sp>
        <p:sp>
          <p:nvSpPr>
            <p:cNvPr id="44088" name="Line 54"/>
            <p:cNvSpPr/>
            <p:nvPr/>
          </p:nvSpPr>
          <p:spPr>
            <a:xfrm>
              <a:off x="2298" y="719"/>
              <a:ext cx="0" cy="612"/>
            </a:xfrm>
            <a:prstGeom prst="line">
              <a:avLst/>
            </a:prstGeom>
            <a:ln w="28575" cap="sq" cmpd="sng">
              <a:solidFill>
                <a:schemeClr val="tx1"/>
              </a:solidFill>
              <a:prstDash val="solid"/>
              <a:round/>
              <a:headEnd type="none" w="med" len="med"/>
              <a:tailEnd type="none" w="med" len="med"/>
            </a:ln>
          </p:spPr>
        </p:sp>
        <p:sp>
          <p:nvSpPr>
            <p:cNvPr id="44089" name="Line 55"/>
            <p:cNvSpPr/>
            <p:nvPr/>
          </p:nvSpPr>
          <p:spPr>
            <a:xfrm>
              <a:off x="2298" y="1535"/>
              <a:ext cx="0" cy="204"/>
            </a:xfrm>
            <a:prstGeom prst="line">
              <a:avLst/>
            </a:prstGeom>
            <a:ln w="28575" cap="sq" cmpd="sng">
              <a:solidFill>
                <a:schemeClr val="tx1"/>
              </a:solidFill>
              <a:prstDash val="solid"/>
              <a:round/>
              <a:headEnd type="none" w="med" len="med"/>
              <a:tailEnd type="none" w="med" len="med"/>
            </a:ln>
          </p:spPr>
        </p:sp>
        <p:sp>
          <p:nvSpPr>
            <p:cNvPr id="44090" name="Line 56"/>
            <p:cNvSpPr/>
            <p:nvPr/>
          </p:nvSpPr>
          <p:spPr>
            <a:xfrm>
              <a:off x="1852" y="291"/>
              <a:ext cx="0" cy="1448"/>
            </a:xfrm>
            <a:prstGeom prst="line">
              <a:avLst/>
            </a:prstGeom>
            <a:ln w="12700" cap="flat" cmpd="sng">
              <a:solidFill>
                <a:schemeClr val="tx1"/>
              </a:solidFill>
              <a:prstDash val="solid"/>
              <a:round/>
              <a:headEnd type="none" w="med" len="med"/>
              <a:tailEnd type="none" w="med" len="med"/>
            </a:ln>
          </p:spPr>
        </p:sp>
        <p:sp>
          <p:nvSpPr>
            <p:cNvPr id="44091" name="Line 57"/>
            <p:cNvSpPr/>
            <p:nvPr/>
          </p:nvSpPr>
          <p:spPr>
            <a:xfrm>
              <a:off x="1388" y="291"/>
              <a:ext cx="0" cy="1448"/>
            </a:xfrm>
            <a:prstGeom prst="line">
              <a:avLst/>
            </a:prstGeom>
            <a:ln w="12700" cap="flat" cmpd="sng">
              <a:solidFill>
                <a:schemeClr val="tx1"/>
              </a:solidFill>
              <a:prstDash val="solid"/>
              <a:round/>
              <a:headEnd type="none" w="med" len="med"/>
              <a:tailEnd type="none" w="med" len="med"/>
            </a:ln>
          </p:spPr>
        </p:sp>
      </p:grpSp>
      <p:graphicFrame>
        <p:nvGraphicFramePr>
          <p:cNvPr id="33853" name="表格 33852"/>
          <p:cNvGraphicFramePr/>
          <p:nvPr/>
        </p:nvGraphicFramePr>
        <p:xfrm>
          <a:off x="1778000" y="4170363"/>
          <a:ext cx="1546225" cy="1990725"/>
        </p:xfrm>
        <a:graphic>
          <a:graphicData uri="http://schemas.openxmlformats.org/drawingml/2006/table">
            <a:tbl>
              <a:tblPr/>
              <a:tblGrid>
                <a:gridCol w="1546225"/>
              </a:tblGrid>
              <a:tr h="334963">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85000"/>
                        </a:lnSpc>
                        <a:spcBef>
                          <a:spcPct val="0"/>
                        </a:spcBef>
                        <a:buClr>
                          <a:srgbClr val="0033CC"/>
                        </a:buClr>
                        <a:buSzPct val="80000"/>
                        <a:buFont typeface="Wingdings" panose="05000000000000000000" pitchFamily="2" charset="2"/>
                        <a:buNone/>
                      </a:pPr>
                      <a:r>
                        <a:rPr lang="en-US" altLang="x-none" sz="1800" dirty="0"/>
                        <a:t>…</a:t>
                      </a:r>
                      <a:endParaRPr lang="en-US" altLang="x-none" dirty="0"/>
                    </a:p>
                  </a:txBody>
                  <a:tcPr marT="45721" marB="45721" vert="horz" anchor="t">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1E8FF">
                        <a:alpha val="50000"/>
                      </a:srgbClr>
                    </a:solidFill>
                  </a:tcPr>
                </a:tc>
              </a:tr>
              <a:tr h="341312">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85000"/>
                        </a:lnSpc>
                        <a:spcBef>
                          <a:spcPct val="0"/>
                        </a:spcBef>
                        <a:buClr>
                          <a:srgbClr val="0033CC"/>
                        </a:buClr>
                        <a:buSzPct val="80000"/>
                        <a:buFont typeface="Wingdings" panose="05000000000000000000" pitchFamily="2" charset="2"/>
                        <a:buNone/>
                      </a:pPr>
                      <a:r>
                        <a:rPr lang="en-US" altLang="x-none" sz="1800" dirty="0"/>
                        <a:t>0811101</a:t>
                      </a:r>
                      <a:endParaRPr lang="en-US" altLang="x-none" dirty="0"/>
                    </a:p>
                  </a:txBody>
                  <a:tcPr marT="45721" marB="45721" vert="horz" anchor="t">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E1E8FF">
                        <a:alpha val="50000"/>
                      </a:srgbClr>
                    </a:solidFill>
                  </a:tcPr>
                </a:tc>
              </a:tr>
              <a:tr h="327025">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85000"/>
                        </a:lnSpc>
                        <a:spcBef>
                          <a:spcPct val="0"/>
                        </a:spcBef>
                        <a:buClr>
                          <a:srgbClr val="0033CC"/>
                        </a:buClr>
                        <a:buSzPct val="80000"/>
                        <a:buFont typeface="Wingdings" panose="05000000000000000000" pitchFamily="2" charset="2"/>
                        <a:buNone/>
                      </a:pPr>
                      <a:r>
                        <a:rPr lang="en-US" altLang="x-none" sz="1800" dirty="0"/>
                        <a:t>0811102</a:t>
                      </a:r>
                      <a:endParaRPr lang="en-US" altLang="x-none" dirty="0"/>
                    </a:p>
                  </a:txBody>
                  <a:tcPr marT="45721" marB="45721" vert="horz" anchor="t">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1E8FF">
                        <a:alpha val="50000"/>
                      </a:srgbClr>
                    </a:solidFill>
                  </a:tcPr>
                </a:tc>
              </a:tr>
              <a:tr h="336550">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85000"/>
                        </a:lnSpc>
                        <a:spcBef>
                          <a:spcPct val="0"/>
                        </a:spcBef>
                        <a:buClr>
                          <a:srgbClr val="0033CC"/>
                        </a:buClr>
                        <a:buSzPct val="80000"/>
                        <a:buFont typeface="Wingdings" panose="05000000000000000000" pitchFamily="2" charset="2"/>
                        <a:buNone/>
                      </a:pPr>
                      <a:r>
                        <a:rPr lang="en-US" altLang="x-none" sz="1800" dirty="0"/>
                        <a:t>…</a:t>
                      </a:r>
                      <a:endParaRPr lang="en-US" altLang="x-none" dirty="0"/>
                    </a:p>
                  </a:txBody>
                  <a:tcPr marT="45721" marB="45721" vert="horz" anchor="t">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1E8FF">
                        <a:alpha val="50000"/>
                      </a:srgbClr>
                    </a:solidFill>
                  </a:tcPr>
                </a:tc>
              </a:tr>
              <a:tr h="325438">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85000"/>
                        </a:lnSpc>
                        <a:spcBef>
                          <a:spcPct val="0"/>
                        </a:spcBef>
                        <a:buClr>
                          <a:srgbClr val="0033CC"/>
                        </a:buClr>
                        <a:buSzPct val="80000"/>
                        <a:buFont typeface="Wingdings" panose="05000000000000000000" pitchFamily="2" charset="2"/>
                        <a:buNone/>
                      </a:pPr>
                      <a:r>
                        <a:rPr lang="en-US" altLang="x-none" sz="1800" dirty="0"/>
                        <a:t>0821101</a:t>
                      </a:r>
                      <a:endParaRPr lang="en-US" altLang="x-none" dirty="0"/>
                    </a:p>
                  </a:txBody>
                  <a:tcPr marT="45721" marB="45721" vert="horz" anchor="t">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1E8FF">
                        <a:alpha val="50000"/>
                      </a:srgbClr>
                    </a:solidFill>
                  </a:tcPr>
                </a:tc>
              </a:tr>
              <a:tr h="323850">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85000"/>
                        </a:lnSpc>
                        <a:spcBef>
                          <a:spcPct val="0"/>
                        </a:spcBef>
                        <a:buClr>
                          <a:srgbClr val="0033CC"/>
                        </a:buClr>
                        <a:buSzPct val="80000"/>
                        <a:buFont typeface="Wingdings" panose="05000000000000000000" pitchFamily="2" charset="2"/>
                        <a:buNone/>
                      </a:pPr>
                      <a:r>
                        <a:rPr lang="en-US" altLang="x-none" sz="1800" dirty="0"/>
                        <a:t>…</a:t>
                      </a:r>
                      <a:endParaRPr lang="en-US" altLang="x-none" dirty="0"/>
                    </a:p>
                  </a:txBody>
                  <a:tcPr marT="45721" marB="45721" vert="horz" anchor="t">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E1E8FF">
                        <a:alpha val="50000"/>
                      </a:srgbClr>
                    </a:solidFill>
                  </a:tcPr>
                </a:tc>
              </a:tr>
            </a:tbl>
          </a:graphicData>
        </a:graphic>
      </p:graphicFrame>
      <p:sp>
        <p:nvSpPr>
          <p:cNvPr id="44108" name="Rectangle 81"/>
          <p:cNvSpPr/>
          <p:nvPr/>
        </p:nvSpPr>
        <p:spPr>
          <a:xfrm>
            <a:off x="1757363" y="3716338"/>
            <a:ext cx="1047750" cy="463550"/>
          </a:xfrm>
          <a:prstGeom prst="rect">
            <a:avLst/>
          </a:prstGeom>
          <a:noFill/>
          <a:ln w="9525">
            <a:noFill/>
          </a:ln>
          <a:effectLst>
            <a:prstShdw prst="shdw17" dist="17961" dir="2699999">
              <a:srgbClr val="708688"/>
            </a:prstShdw>
          </a:effectLst>
        </p:spPr>
        <p:txBody>
          <a:bodyPr wrap="none" anchor="ctr" anchorCtr="0">
            <a:spAutoFit/>
          </a:bodyPr>
          <a:p>
            <a:pPr marL="262255" indent="-262255" algn="ctr">
              <a:lnSpc>
                <a:spcPct val="135000"/>
              </a:lnSpc>
            </a:pPr>
            <a:r>
              <a:rPr lang="en-US" altLang="zh-CN" dirty="0">
                <a:solidFill>
                  <a:srgbClr val="0033CC"/>
                </a:solidFill>
                <a:latin typeface="Arial" panose="020B0604020202020204" pitchFamily="34" charset="0"/>
                <a:ea typeface="黑体" panose="02010609060101010101" pitchFamily="1" charset="-122"/>
              </a:rPr>
              <a:t>Sno</a:t>
            </a:r>
            <a:r>
              <a:rPr lang="zh-CN" altLang="en-US" dirty="0">
                <a:solidFill>
                  <a:srgbClr val="0033CC"/>
                </a:solidFill>
                <a:latin typeface="Arial" panose="020B0604020202020204" pitchFamily="34" charset="0"/>
                <a:ea typeface="黑体" panose="02010609060101010101" pitchFamily="1" charset="-122"/>
              </a:rPr>
              <a:t>索引</a:t>
            </a:r>
            <a:endParaRPr lang="zh-CN" altLang="en-US" dirty="0">
              <a:solidFill>
                <a:srgbClr val="0033CC"/>
              </a:solidFill>
              <a:latin typeface="Arial" panose="020B0604020202020204" pitchFamily="34" charset="0"/>
              <a:ea typeface="黑体" panose="02010609060101010101" pitchFamily="1" charset="-122"/>
            </a:endParaRPr>
          </a:p>
        </p:txBody>
      </p:sp>
      <p:sp>
        <p:nvSpPr>
          <p:cNvPr id="44109" name="Line 82"/>
          <p:cNvSpPr/>
          <p:nvPr/>
        </p:nvSpPr>
        <p:spPr>
          <a:xfrm>
            <a:off x="3340100" y="4592638"/>
            <a:ext cx="304800" cy="0"/>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44110" name="Line 83"/>
          <p:cNvSpPr/>
          <p:nvPr/>
        </p:nvSpPr>
        <p:spPr>
          <a:xfrm flipH="1" flipV="1">
            <a:off x="3632200" y="3830638"/>
            <a:ext cx="0" cy="749300"/>
          </a:xfrm>
          <a:prstGeom prst="line">
            <a:avLst/>
          </a:prstGeom>
          <a:ln w="9525" cap="flat" cmpd="sng">
            <a:solidFill>
              <a:srgbClr val="0033CC"/>
            </a:solidFill>
            <a:prstDash val="solid"/>
            <a:round/>
            <a:headEnd type="none" w="med" len="med"/>
            <a:tailEnd type="none" w="med" len="med"/>
          </a:ln>
          <a:effectLst>
            <a:prstShdw prst="shdw17" dist="17961" dir="2699999">
              <a:srgbClr val="001F7A"/>
            </a:prstShdw>
          </a:effectLst>
        </p:spPr>
      </p:sp>
      <p:sp>
        <p:nvSpPr>
          <p:cNvPr id="44111" name="Line 84"/>
          <p:cNvSpPr/>
          <p:nvPr/>
        </p:nvSpPr>
        <p:spPr>
          <a:xfrm flipV="1">
            <a:off x="3644900" y="3843338"/>
            <a:ext cx="1168400" cy="0"/>
          </a:xfrm>
          <a:prstGeom prst="line">
            <a:avLst/>
          </a:prstGeom>
          <a:ln w="9525" cap="flat" cmpd="sng">
            <a:solidFill>
              <a:srgbClr val="0033CC"/>
            </a:solidFill>
            <a:prstDash val="solid"/>
            <a:round/>
            <a:headEnd type="none" w="med" len="med"/>
            <a:tailEnd type="triangle" w="sm" len="lg"/>
          </a:ln>
          <a:effectLst>
            <a:prstShdw prst="shdw17" dist="17961" dir="2699999">
              <a:srgbClr val="001F7A"/>
            </a:prstShdw>
          </a:effectLst>
        </p:spPr>
      </p:sp>
      <p:sp>
        <p:nvSpPr>
          <p:cNvPr id="44112" name="Line 85"/>
          <p:cNvSpPr/>
          <p:nvPr/>
        </p:nvSpPr>
        <p:spPr>
          <a:xfrm>
            <a:off x="3314700" y="4973638"/>
            <a:ext cx="736600" cy="0"/>
          </a:xfrm>
          <a:prstGeom prst="line">
            <a:avLst/>
          </a:prstGeom>
          <a:ln w="9525">
            <a:noFill/>
          </a:ln>
          <a:effectLst>
            <a:prstShdw prst="shdw17" dist="17961" dir="2699999">
              <a:srgbClr val="999999"/>
            </a:prstShdw>
          </a:effectLst>
        </p:spPr>
      </p:sp>
      <p:sp>
        <p:nvSpPr>
          <p:cNvPr id="44113" name="Line 86"/>
          <p:cNvSpPr/>
          <p:nvPr/>
        </p:nvSpPr>
        <p:spPr>
          <a:xfrm>
            <a:off x="3327400" y="4986338"/>
            <a:ext cx="660400" cy="0"/>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44114" name="Line 87"/>
          <p:cNvSpPr/>
          <p:nvPr/>
        </p:nvSpPr>
        <p:spPr>
          <a:xfrm flipV="1">
            <a:off x="4000500" y="4783138"/>
            <a:ext cx="0" cy="203200"/>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44115" name="Line 88"/>
          <p:cNvSpPr/>
          <p:nvPr/>
        </p:nvSpPr>
        <p:spPr>
          <a:xfrm>
            <a:off x="4000500" y="4783138"/>
            <a:ext cx="863600" cy="0"/>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44116" name="Line 89"/>
          <p:cNvSpPr/>
          <p:nvPr/>
        </p:nvSpPr>
        <p:spPr>
          <a:xfrm flipV="1">
            <a:off x="3314700" y="5621338"/>
            <a:ext cx="571500" cy="0"/>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44117" name="Line 90"/>
          <p:cNvSpPr/>
          <p:nvPr/>
        </p:nvSpPr>
        <p:spPr>
          <a:xfrm flipV="1">
            <a:off x="3860800" y="4529138"/>
            <a:ext cx="0" cy="1092200"/>
          </a:xfrm>
          <a:prstGeom prst="line">
            <a:avLst/>
          </a:prstGeom>
          <a:ln w="9525" cap="flat" cmpd="sng">
            <a:solidFill>
              <a:srgbClr val="0033CC"/>
            </a:solidFill>
            <a:prstDash val="solid"/>
            <a:round/>
            <a:headEnd type="none" w="med" len="med"/>
            <a:tailEnd type="none" w="med" len="med"/>
          </a:ln>
          <a:effectLst>
            <a:prstShdw prst="shdw17" dist="17961" dir="2699999">
              <a:srgbClr val="001F7A"/>
            </a:prstShdw>
          </a:effectLst>
        </p:spPr>
      </p:sp>
      <p:sp>
        <p:nvSpPr>
          <p:cNvPr id="44118" name="Line 91"/>
          <p:cNvSpPr/>
          <p:nvPr/>
        </p:nvSpPr>
        <p:spPr>
          <a:xfrm>
            <a:off x="3860800" y="4516438"/>
            <a:ext cx="952500" cy="0"/>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44119" name="Rectangle 92"/>
          <p:cNvSpPr/>
          <p:nvPr/>
        </p:nvSpPr>
        <p:spPr>
          <a:xfrm>
            <a:off x="4056063" y="5643563"/>
            <a:ext cx="4002087" cy="503237"/>
          </a:xfrm>
          <a:prstGeom prst="rect">
            <a:avLst/>
          </a:prstGeom>
          <a:noFill/>
          <a:ln w="9525">
            <a:noFill/>
          </a:ln>
          <a:effectLst>
            <a:prstShdw prst="shdw17" dist="17961" dir="2699999">
              <a:srgbClr val="708688"/>
            </a:prstShdw>
          </a:effectLst>
        </p:spPr>
        <p:txBody>
          <a:bodyPr wrap="none" anchor="ctr" anchorCtr="0">
            <a:spAutoFit/>
          </a:bodyPr>
          <a:p>
            <a:pPr marL="262255" indent="-262255" algn="ctr">
              <a:lnSpc>
                <a:spcPct val="135000"/>
              </a:lnSpc>
              <a:buBlip>
                <a:blip r:embed="rId1"/>
              </a:buBlip>
            </a:pPr>
            <a:r>
              <a:rPr lang="zh-CN" altLang="en-US" sz="2000" dirty="0">
                <a:solidFill>
                  <a:srgbClr val="FF3300"/>
                </a:solidFill>
                <a:latin typeface="Arial" panose="020B0604020202020204" pitchFamily="34" charset="0"/>
                <a:ea typeface="黑体" panose="02010609060101010101" pitchFamily="1" charset="-122"/>
              </a:rPr>
              <a:t>索引及数据间的对应关系示意图</a:t>
            </a:r>
            <a:endParaRPr lang="zh-CN" altLang="en-US" sz="2000" dirty="0">
              <a:solidFill>
                <a:srgbClr val="FF3300"/>
              </a:solidFill>
              <a:latin typeface="Arial" panose="020B0604020202020204" pitchFamily="34" charset="0"/>
              <a:ea typeface="黑体" panose="02010609060101010101" pitchFamily="1" charset="-122"/>
            </a:endParaRPr>
          </a:p>
        </p:txBody>
      </p:sp>
      <p:sp>
        <p:nvSpPr>
          <p:cNvPr id="44120" name="矩形 73"/>
          <p:cNvSpPr/>
          <p:nvPr/>
        </p:nvSpPr>
        <p:spPr>
          <a:xfrm>
            <a:off x="582613" y="2444750"/>
            <a:ext cx="4129087" cy="1163638"/>
          </a:xfrm>
          <a:prstGeom prst="rect">
            <a:avLst/>
          </a:prstGeom>
          <a:noFill/>
          <a:ln w="9525">
            <a:noFill/>
          </a:ln>
        </p:spPr>
        <p:txBody>
          <a:bodyPr anchor="t" anchorCtr="0">
            <a:spAutoFit/>
          </a:bodyPr>
          <a:p>
            <a:pPr>
              <a:lnSpc>
                <a:spcPct val="120000"/>
              </a:lnSpc>
            </a:pPr>
            <a:r>
              <a:rPr lang="zh-CN" altLang="en-US" sz="2000" dirty="0">
                <a:solidFill>
                  <a:srgbClr val="0033CC"/>
                </a:solidFill>
                <a:latin typeface="黑体" panose="02010609060101010101" pitchFamily="1" charset="-122"/>
                <a:ea typeface="黑体" panose="02010609060101010101" pitchFamily="1" charset="-122"/>
              </a:rPr>
              <a:t>首先在索引部分查找该学号，然后根据找到的学号所指向的数据的存储位置，直接检索出需要的信息。</a:t>
            </a:r>
            <a:endParaRPr lang="zh-CN" altLang="en-US" sz="2000" dirty="0">
              <a:latin typeface="Arial" panose="020B0604020202020204" pitchFamily="34" charset="0"/>
              <a:ea typeface="宋体" panose="02010600030101010101" pitchFamily="2" charset="-122"/>
            </a:endParaRP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7"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45058" name="矩形 2"/>
          <p:cNvSpPr/>
          <p:nvPr/>
        </p:nvSpPr>
        <p:spPr>
          <a:xfrm>
            <a:off x="542925" y="881063"/>
            <a:ext cx="2890838" cy="944562"/>
          </a:xfrm>
          <a:prstGeom prst="rect">
            <a:avLst/>
          </a:prstGeom>
          <a:noFill/>
          <a:ln w="9525">
            <a:noFill/>
          </a:ln>
        </p:spPr>
        <p:txBody>
          <a:bodyPr wrap="none" anchor="t" anchorCtr="0">
            <a:spAutoFit/>
          </a:bodyPr>
          <a:p>
            <a:r>
              <a:rPr lang="en-US" altLang="zh-CN" sz="2800" dirty="0">
                <a:solidFill>
                  <a:srgbClr val="0033CC"/>
                </a:solidFill>
                <a:latin typeface="黑体" panose="02010609060101010101" pitchFamily="1" charset="-122"/>
                <a:ea typeface="黑体" panose="02010609060101010101" pitchFamily="1" charset="-122"/>
              </a:rPr>
              <a:t>5.</a:t>
            </a:r>
            <a:r>
              <a:rPr lang="zh-CN" altLang="en-US" sz="2800" dirty="0">
                <a:solidFill>
                  <a:srgbClr val="0033CC"/>
                </a:solidFill>
                <a:latin typeface="黑体" panose="02010609060101010101" pitchFamily="1" charset="-122"/>
                <a:ea typeface="黑体" panose="02010609060101010101" pitchFamily="1" charset="-122"/>
              </a:rPr>
              <a:t>定义索引</a:t>
            </a:r>
            <a:r>
              <a:rPr lang="en-US" altLang="zh-CN" sz="2400" dirty="0">
                <a:solidFill>
                  <a:srgbClr val="FF0000"/>
                </a:solidFill>
                <a:latin typeface="黑体" panose="02010609060101010101" pitchFamily="1" charset="-122"/>
                <a:ea typeface="黑体" panose="02010609060101010101" pitchFamily="1" charset="-122"/>
              </a:rPr>
              <a:t>—</a:t>
            </a:r>
            <a:r>
              <a:rPr lang="zh-CN" altLang="en-US" sz="2400" dirty="0">
                <a:solidFill>
                  <a:srgbClr val="FF0000"/>
                </a:solidFill>
                <a:latin typeface="黑体" panose="02010609060101010101" pitchFamily="1" charset="-122"/>
                <a:ea typeface="黑体" panose="02010609060101010101" pitchFamily="1" charset="-122"/>
              </a:rPr>
              <a:t>概念</a:t>
            </a:r>
            <a:endParaRPr lang="zh-CN" altLang="en-US" sz="2400" dirty="0">
              <a:solidFill>
                <a:srgbClr val="FF0000"/>
              </a:solidFill>
              <a:latin typeface="黑体" panose="02010609060101010101" pitchFamily="1" charset="-122"/>
              <a:ea typeface="宋体" panose="02010600030101010101" pitchFamily="2" charset="-122"/>
            </a:endParaRPr>
          </a:p>
          <a:p>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34820" name="Text Box 3"/>
          <p:cNvSpPr txBox="1"/>
          <p:nvPr/>
        </p:nvSpPr>
        <p:spPr>
          <a:xfrm>
            <a:off x="635000" y="1465263"/>
            <a:ext cx="7958138" cy="3754437"/>
          </a:xfrm>
          <a:prstGeom prst="rect">
            <a:avLst/>
          </a:prstGeom>
          <a:noFill/>
          <a:ln w="9525">
            <a:noFill/>
          </a:ln>
        </p:spPr>
        <p:txBody>
          <a:bodyPr anchor="t" anchorCtr="0">
            <a:spAutoFit/>
          </a:bodyPr>
          <a:p>
            <a:pPr>
              <a:lnSpc>
                <a:spcPct val="120000"/>
              </a:lnSpc>
              <a:spcBef>
                <a:spcPts val="600"/>
              </a:spcBef>
            </a:pPr>
            <a:r>
              <a:rPr lang="zh-CN" altLang="en-US" sz="2400" dirty="0">
                <a:solidFill>
                  <a:srgbClr val="CC3300"/>
                </a:solidFill>
                <a:latin typeface="宋体" panose="02010600030101010101" pitchFamily="2" charset="-122"/>
                <a:ea typeface="宋体" panose="02010600030101010101" pitchFamily="2" charset="-122"/>
              </a:rPr>
              <a:t>    </a:t>
            </a:r>
            <a:r>
              <a:rPr lang="zh-CN" altLang="en-US" sz="2400" u="sng" dirty="0">
                <a:solidFill>
                  <a:srgbClr val="CC3300"/>
                </a:solidFill>
                <a:latin typeface="宋体" panose="02010600030101010101" pitchFamily="2" charset="-122"/>
                <a:ea typeface="宋体" panose="02010600030101010101" pitchFamily="2" charset="-122"/>
              </a:rPr>
              <a:t>类型</a:t>
            </a:r>
            <a:r>
              <a:rPr lang="en-US" altLang="zh-CN" sz="2400" u="sng" dirty="0">
                <a:solidFill>
                  <a:srgbClr val="CC3300"/>
                </a:solidFill>
                <a:latin typeface="宋体" panose="02010600030101010101" pitchFamily="2" charset="-122"/>
                <a:ea typeface="宋体" panose="02010600030101010101" pitchFamily="2" charset="-122"/>
              </a:rPr>
              <a:t>: </a:t>
            </a:r>
            <a:r>
              <a:rPr lang="zh-CN" altLang="en-US" sz="2400" dirty="0">
                <a:solidFill>
                  <a:srgbClr val="000099"/>
                </a:solidFill>
                <a:latin typeface="华文楷体" panose="02010600040101010101" pitchFamily="2" charset="-122"/>
                <a:ea typeface="华文楷体" panose="02010600040101010101" pitchFamily="2" charset="-122"/>
              </a:rPr>
              <a:t>聚簇</a:t>
            </a:r>
            <a:r>
              <a:rPr lang="en-US" altLang="zh-CN" sz="2400" dirty="0">
                <a:solidFill>
                  <a:srgbClr val="000099"/>
                </a:solidFill>
                <a:latin typeface="华文楷体" panose="02010600040101010101" pitchFamily="2" charset="-122"/>
                <a:ea typeface="华文楷体" panose="02010600040101010101" pitchFamily="2" charset="-122"/>
              </a:rPr>
              <a:t>(Clustered)</a:t>
            </a:r>
            <a:r>
              <a:rPr lang="zh-CN" altLang="en-US" sz="2400" dirty="0">
                <a:solidFill>
                  <a:srgbClr val="000099"/>
                </a:solidFill>
                <a:latin typeface="华文楷体" panose="02010600040101010101" pitchFamily="2" charset="-122"/>
                <a:ea typeface="华文楷体" panose="02010600040101010101" pitchFamily="2" charset="-122"/>
              </a:rPr>
              <a:t>索引、非聚簇</a:t>
            </a:r>
            <a:r>
              <a:rPr lang="en-US" altLang="zh-CN" sz="2400" dirty="0">
                <a:solidFill>
                  <a:srgbClr val="000099"/>
                </a:solidFill>
                <a:latin typeface="华文楷体" panose="02010600040101010101" pitchFamily="2" charset="-122"/>
                <a:ea typeface="华文楷体" panose="02010600040101010101" pitchFamily="2" charset="-122"/>
              </a:rPr>
              <a:t>(Nonclustered)</a:t>
            </a:r>
            <a:r>
              <a:rPr lang="zh-CN" altLang="en-US" sz="2400" dirty="0">
                <a:solidFill>
                  <a:srgbClr val="000099"/>
                </a:solidFill>
                <a:latin typeface="华文楷体" panose="02010600040101010101" pitchFamily="2" charset="-122"/>
                <a:ea typeface="华文楷体" panose="02010600040101010101" pitchFamily="2" charset="-122"/>
              </a:rPr>
              <a:t>索引和唯一</a:t>
            </a:r>
            <a:r>
              <a:rPr lang="en-US" altLang="zh-CN" sz="2400" dirty="0">
                <a:solidFill>
                  <a:srgbClr val="000099"/>
                </a:solidFill>
                <a:latin typeface="华文楷体" panose="02010600040101010101" pitchFamily="2" charset="-122"/>
                <a:ea typeface="华文楷体" panose="02010600040101010101" pitchFamily="2" charset="-122"/>
              </a:rPr>
              <a:t>(Unique)</a:t>
            </a:r>
            <a:r>
              <a:rPr lang="zh-CN" altLang="en-US" sz="2400" dirty="0">
                <a:solidFill>
                  <a:srgbClr val="000099"/>
                </a:solidFill>
                <a:latin typeface="华文楷体" panose="02010600040101010101" pitchFamily="2" charset="-122"/>
                <a:ea typeface="华文楷体" panose="02010600040101010101" pitchFamily="2" charset="-122"/>
              </a:rPr>
              <a:t>索引。</a:t>
            </a:r>
            <a:endParaRPr lang="zh-CN" altLang="en-US" sz="2400" dirty="0">
              <a:solidFill>
                <a:srgbClr val="000099"/>
              </a:solidFill>
              <a:latin typeface="华文楷体" panose="02010600040101010101" pitchFamily="2" charset="-122"/>
              <a:ea typeface="华文楷体" panose="02010600040101010101" pitchFamily="2" charset="-122"/>
            </a:endParaRPr>
          </a:p>
          <a:p>
            <a:pPr>
              <a:lnSpc>
                <a:spcPct val="120000"/>
              </a:lnSpc>
              <a:spcBef>
                <a:spcPts val="600"/>
              </a:spcBef>
              <a:buFont typeface="Wingdings" panose="05000000000000000000" pitchFamily="2" charset="2"/>
              <a:buChar char="p"/>
            </a:pPr>
            <a:r>
              <a:rPr lang="zh-CN" altLang="en-US" sz="2400" u="sng" dirty="0">
                <a:solidFill>
                  <a:srgbClr val="CC3300"/>
                </a:solidFill>
                <a:latin typeface="宋体" panose="02010600030101010101" pitchFamily="2" charset="-122"/>
                <a:ea typeface="宋体" panose="02010600030101010101" pitchFamily="2" charset="-122"/>
              </a:rPr>
              <a:t>聚簇索引：</a:t>
            </a:r>
            <a:r>
              <a:rPr lang="zh-CN" altLang="en-US" sz="2400" dirty="0">
                <a:latin typeface="华文楷体" panose="02010600040101010101" pitchFamily="2" charset="-122"/>
                <a:ea typeface="华文楷体" panose="02010600040101010101" pitchFamily="2" charset="-122"/>
              </a:rPr>
              <a:t>给某列或多个（组合）列建索引时，</a:t>
            </a:r>
            <a:r>
              <a:rPr lang="zh-CN" altLang="en-US" sz="2400" dirty="0">
                <a:solidFill>
                  <a:srgbClr val="0033CC"/>
                </a:solidFill>
                <a:latin typeface="华文楷体" panose="02010600040101010101" pitchFamily="2" charset="-122"/>
                <a:ea typeface="华文楷体" panose="02010600040101010101" pitchFamily="2" charset="-122"/>
              </a:rPr>
              <a:t>重组磁盘上的表的数据，使得表的数据按照索引的顺序存储，表中数据与索引存储在相邻物理空间。</a:t>
            </a:r>
            <a:r>
              <a:rPr lang="zh-CN" altLang="en-US" sz="2400" dirty="0">
                <a:latin typeface="华文楷体" panose="02010600040101010101" pitchFamily="2" charset="-122"/>
                <a:ea typeface="华文楷体" panose="02010600040101010101" pitchFamily="2" charset="-122"/>
              </a:rPr>
              <a:t>每张表最多只能建一个聚簇索引。</a:t>
            </a:r>
            <a:endParaRPr lang="zh-CN" altLang="en-US" sz="2400" dirty="0">
              <a:latin typeface="华文楷体" panose="02010600040101010101" pitchFamily="2" charset="-122"/>
              <a:ea typeface="华文楷体" panose="02010600040101010101" pitchFamily="2" charset="-122"/>
            </a:endParaRPr>
          </a:p>
          <a:p>
            <a:pPr>
              <a:lnSpc>
                <a:spcPct val="120000"/>
              </a:lnSpc>
              <a:spcBef>
                <a:spcPts val="600"/>
              </a:spcBef>
              <a:buFont typeface="Wingdings" panose="05000000000000000000" pitchFamily="2" charset="2"/>
              <a:buChar char="p"/>
            </a:pPr>
            <a:r>
              <a:rPr lang="zh-CN" altLang="en-US" sz="2400" u="sng" dirty="0">
                <a:solidFill>
                  <a:srgbClr val="CC0000"/>
                </a:solidFill>
                <a:latin typeface="宋体" panose="02010600030101010101" pitchFamily="2" charset="-122"/>
                <a:ea typeface="宋体" panose="02010600030101010101" pitchFamily="2" charset="-122"/>
              </a:rPr>
              <a:t>非聚簇索引</a:t>
            </a:r>
            <a:r>
              <a:rPr lang="zh-CN" altLang="en-US" sz="2400" u="sng" dirty="0">
                <a:solidFill>
                  <a:srgbClr val="CC3300"/>
                </a:solidFill>
                <a:latin typeface="宋体" panose="02010600030101010101" pitchFamily="2" charset="-122"/>
                <a:ea typeface="宋体" panose="02010600030101010101" pitchFamily="2" charset="-122"/>
              </a:rPr>
              <a:t>：</a:t>
            </a:r>
            <a:r>
              <a:rPr lang="zh-CN" altLang="en-US" sz="2400" dirty="0">
                <a:latin typeface="华文楷体" panose="02010600040101010101" pitchFamily="2" charset="-122"/>
                <a:ea typeface="华文楷体" panose="02010600040101010101" pitchFamily="2" charset="-122"/>
              </a:rPr>
              <a:t>不要求表数据的物理存储顺序与索引顺序保持一致。</a:t>
            </a:r>
            <a:endParaRPr lang="zh-CN" altLang="en-US" sz="2400" dirty="0">
              <a:latin typeface="华文楷体" panose="02010600040101010101" pitchFamily="2" charset="-122"/>
              <a:ea typeface="华文楷体" panose="02010600040101010101" pitchFamily="2" charset="-122"/>
            </a:endParaRPr>
          </a:p>
        </p:txBody>
      </p:sp>
      <p:sp>
        <p:nvSpPr>
          <p:cNvPr id="34821" name="Text Box 7"/>
          <p:cNvSpPr txBox="1"/>
          <p:nvPr/>
        </p:nvSpPr>
        <p:spPr>
          <a:xfrm>
            <a:off x="642938" y="5181600"/>
            <a:ext cx="8153400" cy="1206500"/>
          </a:xfrm>
          <a:prstGeom prst="rect">
            <a:avLst/>
          </a:prstGeom>
          <a:noFill/>
          <a:ln w="9525">
            <a:noFill/>
          </a:ln>
        </p:spPr>
        <p:txBody>
          <a:bodyPr anchor="t" anchorCtr="0">
            <a:spAutoFit/>
          </a:bodyPr>
          <a:p>
            <a:pPr>
              <a:lnSpc>
                <a:spcPct val="120000"/>
              </a:lnSpc>
              <a:spcBef>
                <a:spcPct val="50000"/>
              </a:spcBef>
              <a:buFont typeface="Wingdings" panose="05000000000000000000" pitchFamily="2" charset="2"/>
              <a:buChar char="p"/>
            </a:pPr>
            <a:r>
              <a:rPr lang="zh-CN" altLang="en-US" sz="2400" u="sng" dirty="0">
                <a:solidFill>
                  <a:srgbClr val="FF0000"/>
                </a:solidFill>
                <a:latin typeface="宋体" panose="02010600030101010101" pitchFamily="2" charset="-122"/>
                <a:ea typeface="宋体" panose="02010600030101010101" pitchFamily="2" charset="-122"/>
              </a:rPr>
              <a:t>唯一索引：</a:t>
            </a:r>
            <a:r>
              <a:rPr lang="zh-CN" altLang="en-US" sz="2400" dirty="0">
                <a:latin typeface="华文楷体" panose="02010600040101010101" pitchFamily="2" charset="-122"/>
                <a:ea typeface="华文楷体" panose="02010600040101010101" pitchFamily="2" charset="-122"/>
              </a:rPr>
              <a:t>被索引的列不能有相同值出现。可用来限定聚簇索引和非聚簇索引。</a:t>
            </a:r>
            <a:endParaRPr lang="zh-CN" altLang="en-US" sz="2400" dirty="0">
              <a:latin typeface="华文楷体" panose="02010600040101010101" pitchFamily="2" charset="-122"/>
              <a:ea typeface="华文楷体" panose="02010600040101010101" pitchFamily="2" charset="-122"/>
            </a:endParaRPr>
          </a:p>
          <a:p>
            <a:pPr>
              <a:lnSpc>
                <a:spcPct val="135000"/>
              </a:lnSpc>
              <a:spcBef>
                <a:spcPct val="50000"/>
              </a:spcBef>
              <a:buFont typeface="Arial" panose="020B0604020202020204" pitchFamily="34" charset="0"/>
              <a:buChar char="•"/>
            </a:pPr>
            <a:endParaRPr lang="en-US" altLang="zh-CN" sz="800" dirty="0">
              <a:latin typeface="华文楷体" panose="02010600040101010101" pitchFamily="2" charset="-122"/>
              <a:ea typeface="华文楷体" panose="020106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4820">
                                            <p:txEl>
                                              <p:charRg st="50" end="131"/>
                                            </p:txEl>
                                          </p:spTgt>
                                        </p:tgtEl>
                                        <p:attrNameLst>
                                          <p:attrName>style.visibility</p:attrName>
                                        </p:attrNameLst>
                                      </p:cBhvr>
                                      <p:to>
                                        <p:strVal val="visible"/>
                                      </p:to>
                                    </p:set>
                                    <p:animEffect transition="in" filter="wipe(down)">
                                      <p:cBhvr>
                                        <p:cTn id="7" dur="500"/>
                                        <p:tgtEl>
                                          <p:spTgt spid="34820">
                                            <p:txEl>
                                              <p:charRg st="50" end="13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4820">
                                            <p:txEl>
                                              <p:charRg st="131" end="162"/>
                                            </p:txEl>
                                          </p:spTgt>
                                        </p:tgtEl>
                                        <p:attrNameLst>
                                          <p:attrName>style.visibility</p:attrName>
                                        </p:attrNameLst>
                                      </p:cBhvr>
                                      <p:to>
                                        <p:strVal val="visible"/>
                                      </p:to>
                                    </p:set>
                                    <p:animEffect transition="in" filter="wipe(down)">
                                      <p:cBhvr>
                                        <p:cTn id="10" dur="500"/>
                                        <p:tgtEl>
                                          <p:spTgt spid="34820">
                                            <p:txEl>
                                              <p:charRg st="131" end="16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34821">
                                            <p:txEl>
                                              <p:charRg st="0" end="36"/>
                                            </p:txEl>
                                          </p:spTgt>
                                        </p:tgtEl>
                                        <p:attrNameLst>
                                          <p:attrName>style.visibility</p:attrName>
                                        </p:attrNameLst>
                                      </p:cBhvr>
                                      <p:to>
                                        <p:strVal val="visible"/>
                                      </p:to>
                                    </p:set>
                                    <p:animEffect transition="in" filter="wipe(down)">
                                      <p:cBhvr>
                                        <p:cTn id="15" dur="500"/>
                                        <p:tgtEl>
                                          <p:spTgt spid="34821">
                                            <p:txEl>
                                              <p:charRg st="0" end="3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1"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46082" name="矩形 2"/>
          <p:cNvSpPr/>
          <p:nvPr/>
        </p:nvSpPr>
        <p:spPr>
          <a:xfrm>
            <a:off x="542925" y="881063"/>
            <a:ext cx="2890838" cy="944562"/>
          </a:xfrm>
          <a:prstGeom prst="rect">
            <a:avLst/>
          </a:prstGeom>
          <a:noFill/>
          <a:ln w="9525">
            <a:noFill/>
          </a:ln>
        </p:spPr>
        <p:txBody>
          <a:bodyPr wrap="none" anchor="t" anchorCtr="0">
            <a:spAutoFit/>
          </a:bodyPr>
          <a:p>
            <a:r>
              <a:rPr lang="en-US" altLang="zh-CN" sz="2800" dirty="0">
                <a:solidFill>
                  <a:srgbClr val="0033CC"/>
                </a:solidFill>
                <a:latin typeface="黑体" panose="02010609060101010101" pitchFamily="1" charset="-122"/>
                <a:ea typeface="黑体" panose="02010609060101010101" pitchFamily="1" charset="-122"/>
              </a:rPr>
              <a:t>5.</a:t>
            </a:r>
            <a:r>
              <a:rPr lang="zh-CN" altLang="en-US" sz="2800" dirty="0">
                <a:solidFill>
                  <a:srgbClr val="0033CC"/>
                </a:solidFill>
                <a:latin typeface="黑体" panose="02010609060101010101" pitchFamily="1" charset="-122"/>
                <a:ea typeface="黑体" panose="02010609060101010101" pitchFamily="1" charset="-122"/>
              </a:rPr>
              <a:t>定义索引</a:t>
            </a:r>
            <a:r>
              <a:rPr lang="en-US" altLang="zh-CN" sz="2400" dirty="0">
                <a:solidFill>
                  <a:srgbClr val="FF0000"/>
                </a:solidFill>
                <a:latin typeface="黑体" panose="02010609060101010101" pitchFamily="1" charset="-122"/>
                <a:ea typeface="黑体" panose="02010609060101010101" pitchFamily="1" charset="-122"/>
              </a:rPr>
              <a:t>—</a:t>
            </a:r>
            <a:r>
              <a:rPr lang="zh-CN" altLang="en-US" sz="2400" dirty="0">
                <a:solidFill>
                  <a:srgbClr val="FF0000"/>
                </a:solidFill>
                <a:latin typeface="黑体" panose="02010609060101010101" pitchFamily="1" charset="-122"/>
                <a:ea typeface="黑体" panose="02010609060101010101" pitchFamily="1" charset="-122"/>
              </a:rPr>
              <a:t>概念</a:t>
            </a:r>
            <a:endParaRPr lang="zh-CN" altLang="en-US" sz="2400" dirty="0">
              <a:solidFill>
                <a:srgbClr val="FF0000"/>
              </a:solidFill>
              <a:latin typeface="黑体" panose="02010609060101010101" pitchFamily="1" charset="-122"/>
              <a:ea typeface="宋体" panose="02010600030101010101" pitchFamily="2" charset="-122"/>
            </a:endParaRPr>
          </a:p>
          <a:p>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46083" name="矩形 3"/>
          <p:cNvSpPr/>
          <p:nvPr/>
        </p:nvSpPr>
        <p:spPr>
          <a:xfrm>
            <a:off x="631825" y="1397000"/>
            <a:ext cx="8147050" cy="1292225"/>
          </a:xfrm>
          <a:prstGeom prst="rect">
            <a:avLst/>
          </a:prstGeom>
          <a:noFill/>
          <a:ln w="9525">
            <a:noFill/>
          </a:ln>
        </p:spPr>
        <p:txBody>
          <a:bodyPr wrap="square" anchor="t" anchorCtr="0">
            <a:spAutoFit/>
          </a:bodyPr>
          <a:p>
            <a:pPr>
              <a:lnSpc>
                <a:spcPct val="125000"/>
              </a:lnSpc>
            </a:pPr>
            <a:r>
              <a:rPr lang="zh-CN" altLang="en-US" dirty="0">
                <a:latin typeface="Arial" panose="020B0604020202020204" pitchFamily="34" charset="0"/>
                <a:ea typeface="宋体" panose="02010600030101010101" pitchFamily="2" charset="-122"/>
              </a:rPr>
              <a:t>        </a:t>
            </a:r>
            <a:r>
              <a:rPr lang="zh-CN" altLang="en-US" sz="2100" dirty="0">
                <a:latin typeface="Arial" panose="020B0604020202020204" pitchFamily="34" charset="0"/>
                <a:ea typeface="宋体" panose="02010600030101010101" pitchFamily="2" charset="-122"/>
              </a:rPr>
              <a:t>聚集索引和非聚集索引一般使用</a:t>
            </a:r>
            <a:r>
              <a:rPr lang="en-US" altLang="zh-CN" sz="2100" dirty="0">
                <a:latin typeface="Arial" panose="020B0604020202020204" pitchFamily="34" charset="0"/>
                <a:ea typeface="宋体" panose="02010600030101010101" pitchFamily="2" charset="-122"/>
              </a:rPr>
              <a:t>B</a:t>
            </a:r>
            <a:r>
              <a:rPr lang="zh-CN" altLang="en-US" sz="2100" dirty="0">
                <a:latin typeface="Arial" panose="020B0604020202020204" pitchFamily="34" charset="0"/>
                <a:ea typeface="宋体" panose="02010600030101010101" pitchFamily="2" charset="-122"/>
              </a:rPr>
              <a:t>树结构来存储索引项，而且都包含数据页和索引页，其中索引页用来存放索引项和指向下一层的指针，数据页用来存放数据。</a:t>
            </a:r>
            <a:endParaRPr lang="zh-CN" altLang="en-US" sz="2100" dirty="0">
              <a:latin typeface="Arial" panose="020B0604020202020204" pitchFamily="34" charset="0"/>
              <a:ea typeface="宋体" panose="02010600030101010101" pitchFamily="2" charset="-122"/>
            </a:endParaRPr>
          </a:p>
        </p:txBody>
      </p:sp>
      <p:grpSp>
        <p:nvGrpSpPr>
          <p:cNvPr id="46084" name="Group 3"/>
          <p:cNvGrpSpPr/>
          <p:nvPr/>
        </p:nvGrpSpPr>
        <p:grpSpPr>
          <a:xfrm>
            <a:off x="841375" y="2843213"/>
            <a:ext cx="7196138" cy="2609850"/>
            <a:chOff x="0" y="0"/>
            <a:chExt cx="4042" cy="1644"/>
          </a:xfrm>
        </p:grpSpPr>
        <p:sp>
          <p:nvSpPr>
            <p:cNvPr id="46085" name="Rectangle 4"/>
            <p:cNvSpPr/>
            <p:nvPr/>
          </p:nvSpPr>
          <p:spPr>
            <a:xfrm>
              <a:off x="1744" y="0"/>
              <a:ext cx="554" cy="212"/>
            </a:xfrm>
            <a:prstGeom prst="rect">
              <a:avLst/>
            </a:prstGeom>
            <a:solidFill>
              <a:srgbClr val="E1E8FF"/>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tIns="0" bIns="10800" anchor="ctr" anchorCtr="0">
              <a:spAutoFit/>
            </a:bodyPr>
            <a:p>
              <a:pPr marL="262255" indent="-262255" algn="ctr">
                <a:lnSpc>
                  <a:spcPct val="115000"/>
                </a:lnSpc>
              </a:pPr>
              <a:r>
                <a:rPr lang="zh-CN" altLang="en-US" dirty="0">
                  <a:latin typeface="Arial" panose="020B0604020202020204" pitchFamily="34" charset="0"/>
                  <a:ea typeface="宋体" panose="02010600030101010101" pitchFamily="2" charset="-122"/>
                </a:rPr>
                <a:t>根节点</a:t>
              </a:r>
              <a:endParaRPr lang="zh-CN" altLang="en-US" dirty="0">
                <a:latin typeface="Arial" panose="020B0604020202020204" pitchFamily="34" charset="0"/>
                <a:ea typeface="宋体" panose="02010600030101010101" pitchFamily="2" charset="-122"/>
              </a:endParaRPr>
            </a:p>
          </p:txBody>
        </p:sp>
        <p:sp>
          <p:nvSpPr>
            <p:cNvPr id="46086" name="Rectangle 5"/>
            <p:cNvSpPr/>
            <p:nvPr/>
          </p:nvSpPr>
          <p:spPr>
            <a:xfrm>
              <a:off x="216" y="432"/>
              <a:ext cx="354" cy="212"/>
            </a:xfrm>
            <a:prstGeom prst="rect">
              <a:avLst/>
            </a:prstGeom>
            <a:solidFill>
              <a:srgbClr val="E1E8FF"/>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tIns="0" bIns="10800" anchor="ctr" anchorCtr="0">
              <a:spAutoFit/>
            </a:bodyPr>
            <a:p>
              <a:pPr marL="262255" indent="-262255" algn="ctr">
                <a:lnSpc>
                  <a:spcPct val="115000"/>
                </a:lnSpc>
              </a:pPr>
              <a:endParaRPr lang="zh-CN" altLang="en-US" dirty="0">
                <a:latin typeface="Arial" panose="020B0604020202020204" pitchFamily="34" charset="0"/>
                <a:ea typeface="宋体" panose="02010600030101010101" pitchFamily="2" charset="-122"/>
              </a:endParaRPr>
            </a:p>
          </p:txBody>
        </p:sp>
        <p:sp>
          <p:nvSpPr>
            <p:cNvPr id="46087" name="Rectangle 6"/>
            <p:cNvSpPr/>
            <p:nvPr/>
          </p:nvSpPr>
          <p:spPr>
            <a:xfrm>
              <a:off x="1224" y="416"/>
              <a:ext cx="354" cy="212"/>
            </a:xfrm>
            <a:prstGeom prst="rect">
              <a:avLst/>
            </a:prstGeom>
            <a:solidFill>
              <a:srgbClr val="E1E8FF"/>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tIns="0" bIns="10800" anchor="ctr" anchorCtr="0">
              <a:spAutoFit/>
            </a:bodyPr>
            <a:p>
              <a:pPr marL="262255" indent="-262255" algn="ctr">
                <a:lnSpc>
                  <a:spcPct val="115000"/>
                </a:lnSpc>
              </a:pPr>
              <a:endParaRPr lang="zh-CN" altLang="en-US" dirty="0">
                <a:latin typeface="Arial" panose="020B0604020202020204" pitchFamily="34" charset="0"/>
                <a:ea typeface="宋体" panose="02010600030101010101" pitchFamily="2" charset="-122"/>
              </a:endParaRPr>
            </a:p>
          </p:txBody>
        </p:sp>
        <p:sp>
          <p:nvSpPr>
            <p:cNvPr id="46088" name="Rectangle 7"/>
            <p:cNvSpPr/>
            <p:nvPr/>
          </p:nvSpPr>
          <p:spPr>
            <a:xfrm>
              <a:off x="2384" y="416"/>
              <a:ext cx="354" cy="212"/>
            </a:xfrm>
            <a:prstGeom prst="rect">
              <a:avLst/>
            </a:prstGeom>
            <a:solidFill>
              <a:srgbClr val="E1E8FF"/>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tIns="0" bIns="10800" anchor="ctr" anchorCtr="0">
              <a:spAutoFit/>
            </a:bodyPr>
            <a:p>
              <a:pPr marL="262255" indent="-262255" algn="ctr">
                <a:lnSpc>
                  <a:spcPct val="115000"/>
                </a:lnSpc>
              </a:pPr>
              <a:endParaRPr lang="zh-CN" altLang="en-US" dirty="0">
                <a:latin typeface="Arial" panose="020B0604020202020204" pitchFamily="34" charset="0"/>
                <a:ea typeface="宋体" panose="02010600030101010101" pitchFamily="2" charset="-122"/>
              </a:endParaRPr>
            </a:p>
          </p:txBody>
        </p:sp>
        <p:sp>
          <p:nvSpPr>
            <p:cNvPr id="46089" name="Rectangle 8"/>
            <p:cNvSpPr/>
            <p:nvPr/>
          </p:nvSpPr>
          <p:spPr>
            <a:xfrm>
              <a:off x="3408" y="392"/>
              <a:ext cx="354" cy="212"/>
            </a:xfrm>
            <a:prstGeom prst="rect">
              <a:avLst/>
            </a:prstGeom>
            <a:solidFill>
              <a:srgbClr val="E1E8FF"/>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tIns="0" bIns="10800" anchor="ctr" anchorCtr="0">
              <a:spAutoFit/>
            </a:bodyPr>
            <a:p>
              <a:pPr marL="262255" indent="-262255" algn="ctr">
                <a:lnSpc>
                  <a:spcPct val="115000"/>
                </a:lnSpc>
              </a:pPr>
              <a:endParaRPr lang="zh-CN" altLang="en-US" dirty="0">
                <a:latin typeface="Arial" panose="020B0604020202020204" pitchFamily="34" charset="0"/>
                <a:ea typeface="宋体" panose="02010600030101010101" pitchFamily="2" charset="-122"/>
              </a:endParaRPr>
            </a:p>
          </p:txBody>
        </p:sp>
        <p:sp>
          <p:nvSpPr>
            <p:cNvPr id="46090" name="Rectangle 9"/>
            <p:cNvSpPr/>
            <p:nvPr/>
          </p:nvSpPr>
          <p:spPr>
            <a:xfrm>
              <a:off x="0" y="936"/>
              <a:ext cx="258" cy="212"/>
            </a:xfrm>
            <a:prstGeom prst="rect">
              <a:avLst/>
            </a:prstGeom>
            <a:solidFill>
              <a:srgbClr val="E1E8FF"/>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tIns="0" bIns="10800" anchor="ctr" anchorCtr="0">
              <a:spAutoFit/>
            </a:bodyPr>
            <a:p>
              <a:pPr marL="262255" indent="-262255" algn="ctr">
                <a:lnSpc>
                  <a:spcPct val="115000"/>
                </a:lnSpc>
              </a:pPr>
              <a:endParaRPr lang="zh-CN" altLang="en-US" dirty="0">
                <a:latin typeface="Arial" panose="020B0604020202020204" pitchFamily="34" charset="0"/>
                <a:ea typeface="宋体" panose="02010600030101010101" pitchFamily="2" charset="-122"/>
              </a:endParaRPr>
            </a:p>
          </p:txBody>
        </p:sp>
        <p:sp>
          <p:nvSpPr>
            <p:cNvPr id="46091" name="Rectangle 10"/>
            <p:cNvSpPr/>
            <p:nvPr/>
          </p:nvSpPr>
          <p:spPr>
            <a:xfrm>
              <a:off x="504" y="944"/>
              <a:ext cx="259" cy="212"/>
            </a:xfrm>
            <a:prstGeom prst="rect">
              <a:avLst/>
            </a:prstGeom>
            <a:solidFill>
              <a:srgbClr val="E1E8FF"/>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tIns="0" bIns="10800" anchor="ctr" anchorCtr="0">
              <a:spAutoFit/>
            </a:bodyPr>
            <a:p>
              <a:pPr marL="262255" indent="-262255" algn="ctr">
                <a:lnSpc>
                  <a:spcPct val="115000"/>
                </a:lnSpc>
              </a:pPr>
              <a:endParaRPr lang="zh-CN" altLang="en-US" dirty="0">
                <a:latin typeface="Arial" panose="020B0604020202020204" pitchFamily="34" charset="0"/>
                <a:ea typeface="宋体" panose="02010600030101010101" pitchFamily="2" charset="-122"/>
              </a:endParaRPr>
            </a:p>
          </p:txBody>
        </p:sp>
        <p:sp>
          <p:nvSpPr>
            <p:cNvPr id="46092" name="Rectangle 11"/>
            <p:cNvSpPr/>
            <p:nvPr/>
          </p:nvSpPr>
          <p:spPr>
            <a:xfrm>
              <a:off x="1064" y="912"/>
              <a:ext cx="259" cy="212"/>
            </a:xfrm>
            <a:prstGeom prst="rect">
              <a:avLst/>
            </a:prstGeom>
            <a:solidFill>
              <a:srgbClr val="E1E8FF"/>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tIns="0" bIns="10800" anchor="ctr" anchorCtr="0">
              <a:spAutoFit/>
            </a:bodyPr>
            <a:p>
              <a:pPr marL="262255" indent="-262255" algn="ctr">
                <a:lnSpc>
                  <a:spcPct val="115000"/>
                </a:lnSpc>
              </a:pPr>
              <a:endParaRPr lang="zh-CN" altLang="en-US" dirty="0">
                <a:latin typeface="Arial" panose="020B0604020202020204" pitchFamily="34" charset="0"/>
                <a:ea typeface="宋体" panose="02010600030101010101" pitchFamily="2" charset="-122"/>
              </a:endParaRPr>
            </a:p>
          </p:txBody>
        </p:sp>
        <p:sp>
          <p:nvSpPr>
            <p:cNvPr id="46093" name="Rectangle 12"/>
            <p:cNvSpPr/>
            <p:nvPr/>
          </p:nvSpPr>
          <p:spPr>
            <a:xfrm>
              <a:off x="1568" y="920"/>
              <a:ext cx="259" cy="212"/>
            </a:xfrm>
            <a:prstGeom prst="rect">
              <a:avLst/>
            </a:prstGeom>
            <a:solidFill>
              <a:srgbClr val="E1E8FF"/>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tIns="0" bIns="10800" anchor="ctr" anchorCtr="0">
              <a:spAutoFit/>
            </a:bodyPr>
            <a:p>
              <a:pPr marL="262255" indent="-262255" algn="ctr">
                <a:lnSpc>
                  <a:spcPct val="115000"/>
                </a:lnSpc>
              </a:pPr>
              <a:endParaRPr lang="zh-CN" altLang="en-US" dirty="0">
                <a:latin typeface="Arial" panose="020B0604020202020204" pitchFamily="34" charset="0"/>
                <a:ea typeface="宋体" panose="02010600030101010101" pitchFamily="2" charset="-122"/>
              </a:endParaRPr>
            </a:p>
          </p:txBody>
        </p:sp>
        <p:sp>
          <p:nvSpPr>
            <p:cNvPr id="46094" name="Rectangle 13"/>
            <p:cNvSpPr/>
            <p:nvPr/>
          </p:nvSpPr>
          <p:spPr>
            <a:xfrm>
              <a:off x="2232" y="904"/>
              <a:ext cx="258" cy="212"/>
            </a:xfrm>
            <a:prstGeom prst="rect">
              <a:avLst/>
            </a:prstGeom>
            <a:solidFill>
              <a:srgbClr val="E1E8FF"/>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tIns="0" bIns="10800" anchor="ctr" anchorCtr="0">
              <a:spAutoFit/>
            </a:bodyPr>
            <a:p>
              <a:pPr marL="262255" indent="-262255" algn="ctr">
                <a:lnSpc>
                  <a:spcPct val="115000"/>
                </a:lnSpc>
              </a:pPr>
              <a:endParaRPr lang="zh-CN" altLang="en-US" dirty="0">
                <a:latin typeface="Arial" panose="020B0604020202020204" pitchFamily="34" charset="0"/>
                <a:ea typeface="宋体" panose="02010600030101010101" pitchFamily="2" charset="-122"/>
              </a:endParaRPr>
            </a:p>
          </p:txBody>
        </p:sp>
        <p:sp>
          <p:nvSpPr>
            <p:cNvPr id="46095" name="Rectangle 14"/>
            <p:cNvSpPr/>
            <p:nvPr/>
          </p:nvSpPr>
          <p:spPr>
            <a:xfrm>
              <a:off x="2736" y="896"/>
              <a:ext cx="259" cy="212"/>
            </a:xfrm>
            <a:prstGeom prst="rect">
              <a:avLst/>
            </a:prstGeom>
            <a:solidFill>
              <a:srgbClr val="E1E8FF"/>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tIns="0" bIns="10800" anchor="ctr" anchorCtr="0">
              <a:spAutoFit/>
            </a:bodyPr>
            <a:p>
              <a:pPr marL="262255" indent="-262255" algn="ctr">
                <a:lnSpc>
                  <a:spcPct val="115000"/>
                </a:lnSpc>
              </a:pPr>
              <a:endParaRPr lang="zh-CN" altLang="en-US" dirty="0">
                <a:latin typeface="Arial" panose="020B0604020202020204" pitchFamily="34" charset="0"/>
                <a:ea typeface="宋体" panose="02010600030101010101" pitchFamily="2" charset="-122"/>
              </a:endParaRPr>
            </a:p>
          </p:txBody>
        </p:sp>
        <p:sp>
          <p:nvSpPr>
            <p:cNvPr id="46096" name="Rectangle 15"/>
            <p:cNvSpPr/>
            <p:nvPr/>
          </p:nvSpPr>
          <p:spPr>
            <a:xfrm>
              <a:off x="3280" y="872"/>
              <a:ext cx="259" cy="212"/>
            </a:xfrm>
            <a:prstGeom prst="rect">
              <a:avLst/>
            </a:prstGeom>
            <a:solidFill>
              <a:srgbClr val="E1E8FF"/>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tIns="0" bIns="10800" anchor="ctr" anchorCtr="0">
              <a:spAutoFit/>
            </a:bodyPr>
            <a:p>
              <a:pPr marL="262255" indent="-262255" algn="ctr">
                <a:lnSpc>
                  <a:spcPct val="115000"/>
                </a:lnSpc>
              </a:pPr>
              <a:endParaRPr lang="zh-CN" altLang="en-US" dirty="0">
                <a:latin typeface="Arial" panose="020B0604020202020204" pitchFamily="34" charset="0"/>
                <a:ea typeface="宋体" panose="02010600030101010101" pitchFamily="2" charset="-122"/>
              </a:endParaRPr>
            </a:p>
          </p:txBody>
        </p:sp>
        <p:sp>
          <p:nvSpPr>
            <p:cNvPr id="46097" name="Rectangle 16"/>
            <p:cNvSpPr/>
            <p:nvPr/>
          </p:nvSpPr>
          <p:spPr>
            <a:xfrm>
              <a:off x="3784" y="880"/>
              <a:ext cx="258" cy="212"/>
            </a:xfrm>
            <a:prstGeom prst="rect">
              <a:avLst/>
            </a:prstGeom>
            <a:solidFill>
              <a:srgbClr val="E1E8FF"/>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tIns="0" bIns="10800" anchor="ctr" anchorCtr="0">
              <a:spAutoFit/>
            </a:bodyPr>
            <a:p>
              <a:pPr marL="262255" indent="-262255" algn="ctr">
                <a:lnSpc>
                  <a:spcPct val="115000"/>
                </a:lnSpc>
              </a:pPr>
              <a:endParaRPr lang="zh-CN" altLang="en-US" dirty="0">
                <a:latin typeface="Arial" panose="020B0604020202020204" pitchFamily="34" charset="0"/>
                <a:ea typeface="宋体" panose="02010600030101010101" pitchFamily="2" charset="-122"/>
              </a:endParaRPr>
            </a:p>
          </p:txBody>
        </p:sp>
        <p:sp>
          <p:nvSpPr>
            <p:cNvPr id="46098" name="Line 17"/>
            <p:cNvSpPr/>
            <p:nvPr/>
          </p:nvSpPr>
          <p:spPr>
            <a:xfrm flipH="1">
              <a:off x="422" y="223"/>
              <a:ext cx="1536" cy="200"/>
            </a:xfrm>
            <a:prstGeom prst="line">
              <a:avLst/>
            </a:prstGeom>
            <a:ln w="9525" cap="flat" cmpd="sng">
              <a:solidFill>
                <a:srgbClr val="000000"/>
              </a:solidFill>
              <a:prstDash val="solid"/>
              <a:round/>
              <a:headEnd type="none" w="med" len="med"/>
              <a:tailEnd type="triangle" w="med" len="med"/>
            </a:ln>
            <a:effectLst>
              <a:prstShdw prst="shdw17" dist="17961" dir="2699999">
                <a:srgbClr val="000000"/>
              </a:prstShdw>
            </a:effectLst>
          </p:spPr>
        </p:sp>
        <p:sp>
          <p:nvSpPr>
            <p:cNvPr id="46099" name="Line 18"/>
            <p:cNvSpPr/>
            <p:nvPr/>
          </p:nvSpPr>
          <p:spPr>
            <a:xfrm flipH="1">
              <a:off x="1358" y="231"/>
              <a:ext cx="592" cy="176"/>
            </a:xfrm>
            <a:prstGeom prst="line">
              <a:avLst/>
            </a:prstGeom>
            <a:ln w="9525" cap="flat" cmpd="sng">
              <a:solidFill>
                <a:srgbClr val="000000"/>
              </a:solidFill>
              <a:prstDash val="solid"/>
              <a:round/>
              <a:headEnd type="none" w="med" len="med"/>
              <a:tailEnd type="triangle" w="med" len="med"/>
            </a:ln>
            <a:effectLst>
              <a:prstShdw prst="shdw17" dist="17961" dir="2699999">
                <a:srgbClr val="000000"/>
              </a:prstShdw>
            </a:effectLst>
          </p:spPr>
        </p:sp>
        <p:sp>
          <p:nvSpPr>
            <p:cNvPr id="46100" name="Line 19"/>
            <p:cNvSpPr/>
            <p:nvPr/>
          </p:nvSpPr>
          <p:spPr>
            <a:xfrm>
              <a:off x="1950" y="215"/>
              <a:ext cx="648" cy="192"/>
            </a:xfrm>
            <a:prstGeom prst="line">
              <a:avLst/>
            </a:prstGeom>
            <a:ln w="9525" cap="flat" cmpd="sng">
              <a:solidFill>
                <a:srgbClr val="000000"/>
              </a:solidFill>
              <a:prstDash val="solid"/>
              <a:round/>
              <a:headEnd type="none" w="med" len="med"/>
              <a:tailEnd type="triangle" w="med" len="med"/>
            </a:ln>
            <a:effectLst>
              <a:prstShdw prst="shdw17" dist="17961" dir="2699999">
                <a:srgbClr val="000000"/>
              </a:prstShdw>
            </a:effectLst>
          </p:spPr>
        </p:sp>
        <p:sp>
          <p:nvSpPr>
            <p:cNvPr id="46101" name="Line 20"/>
            <p:cNvSpPr/>
            <p:nvPr/>
          </p:nvSpPr>
          <p:spPr>
            <a:xfrm>
              <a:off x="2022" y="207"/>
              <a:ext cx="1536" cy="176"/>
            </a:xfrm>
            <a:prstGeom prst="line">
              <a:avLst/>
            </a:prstGeom>
            <a:ln w="9525" cap="flat" cmpd="sng">
              <a:solidFill>
                <a:srgbClr val="000000"/>
              </a:solidFill>
              <a:prstDash val="solid"/>
              <a:round/>
              <a:headEnd type="none" w="med" len="med"/>
              <a:tailEnd type="triangle" w="med" len="med"/>
            </a:ln>
            <a:effectLst>
              <a:prstShdw prst="shdw17" dist="17961" dir="2699999">
                <a:srgbClr val="000000"/>
              </a:prstShdw>
            </a:effectLst>
          </p:spPr>
        </p:sp>
        <p:sp>
          <p:nvSpPr>
            <p:cNvPr id="46102" name="Line 21"/>
            <p:cNvSpPr/>
            <p:nvPr/>
          </p:nvSpPr>
          <p:spPr>
            <a:xfrm>
              <a:off x="566" y="527"/>
              <a:ext cx="648" cy="0"/>
            </a:xfrm>
            <a:prstGeom prst="line">
              <a:avLst/>
            </a:prstGeom>
            <a:ln w="9525" cap="flat" cmpd="sng">
              <a:solidFill>
                <a:srgbClr val="000000"/>
              </a:solidFill>
              <a:prstDash val="solid"/>
              <a:round/>
              <a:headEnd type="triangle" w="sm" len="lg"/>
              <a:tailEnd type="triangle" w="sm" len="lg"/>
            </a:ln>
            <a:effectLst>
              <a:prstShdw prst="shdw17" dist="17961" dir="2699999">
                <a:srgbClr val="000000"/>
              </a:prstShdw>
            </a:effectLst>
          </p:spPr>
        </p:sp>
        <p:sp>
          <p:nvSpPr>
            <p:cNvPr id="46103" name="Line 22"/>
            <p:cNvSpPr/>
            <p:nvPr/>
          </p:nvSpPr>
          <p:spPr>
            <a:xfrm flipV="1">
              <a:off x="1598" y="511"/>
              <a:ext cx="768" cy="8"/>
            </a:xfrm>
            <a:prstGeom prst="line">
              <a:avLst/>
            </a:prstGeom>
            <a:ln w="9525" cap="flat" cmpd="sng">
              <a:solidFill>
                <a:srgbClr val="000000"/>
              </a:solidFill>
              <a:prstDash val="solid"/>
              <a:round/>
              <a:headEnd type="triangle" w="sm" len="lg"/>
              <a:tailEnd type="triangle" w="sm" len="lg"/>
            </a:ln>
            <a:effectLst>
              <a:prstShdw prst="shdw17" dist="17961" dir="2699999">
                <a:srgbClr val="000000"/>
              </a:prstShdw>
            </a:effectLst>
          </p:spPr>
        </p:sp>
        <p:sp>
          <p:nvSpPr>
            <p:cNvPr id="46104" name="Line 23"/>
            <p:cNvSpPr/>
            <p:nvPr/>
          </p:nvSpPr>
          <p:spPr>
            <a:xfrm flipV="1">
              <a:off x="2734" y="495"/>
              <a:ext cx="688" cy="0"/>
            </a:xfrm>
            <a:prstGeom prst="line">
              <a:avLst/>
            </a:prstGeom>
            <a:ln w="9525" cap="flat" cmpd="sng">
              <a:solidFill>
                <a:srgbClr val="000000"/>
              </a:solidFill>
              <a:prstDash val="solid"/>
              <a:round/>
              <a:headEnd type="triangle" w="sm" len="lg"/>
              <a:tailEnd type="triangle" w="sm" len="lg"/>
            </a:ln>
            <a:effectLst>
              <a:prstShdw prst="shdw17" dist="17961" dir="2699999">
                <a:srgbClr val="000000"/>
              </a:prstShdw>
            </a:effectLst>
          </p:spPr>
        </p:sp>
        <p:sp>
          <p:nvSpPr>
            <p:cNvPr id="46105" name="Line 24"/>
            <p:cNvSpPr/>
            <p:nvPr/>
          </p:nvSpPr>
          <p:spPr>
            <a:xfrm flipH="1">
              <a:off x="78" y="663"/>
              <a:ext cx="264" cy="264"/>
            </a:xfrm>
            <a:prstGeom prst="line">
              <a:avLst/>
            </a:prstGeom>
            <a:ln w="9525" cap="flat" cmpd="sng">
              <a:solidFill>
                <a:srgbClr val="000000"/>
              </a:solidFill>
              <a:prstDash val="solid"/>
              <a:round/>
              <a:headEnd type="none" w="med" len="med"/>
              <a:tailEnd type="triangle" w="med" len="med"/>
            </a:ln>
            <a:effectLst>
              <a:prstShdw prst="shdw17" dist="17961" dir="2699999">
                <a:srgbClr val="000000"/>
              </a:prstShdw>
            </a:effectLst>
          </p:spPr>
        </p:sp>
        <p:sp>
          <p:nvSpPr>
            <p:cNvPr id="46106" name="Line 25"/>
            <p:cNvSpPr/>
            <p:nvPr/>
          </p:nvSpPr>
          <p:spPr>
            <a:xfrm>
              <a:off x="350" y="647"/>
              <a:ext cx="232" cy="288"/>
            </a:xfrm>
            <a:prstGeom prst="line">
              <a:avLst/>
            </a:prstGeom>
            <a:ln w="9525" cap="flat" cmpd="sng">
              <a:solidFill>
                <a:srgbClr val="000000"/>
              </a:solidFill>
              <a:prstDash val="solid"/>
              <a:round/>
              <a:headEnd type="none" w="med" len="med"/>
              <a:tailEnd type="triangle" w="med" len="med"/>
            </a:ln>
            <a:effectLst>
              <a:prstShdw prst="shdw17" dist="17961" dir="2699999">
                <a:srgbClr val="000000"/>
              </a:prstShdw>
            </a:effectLst>
          </p:spPr>
        </p:sp>
        <p:sp>
          <p:nvSpPr>
            <p:cNvPr id="46107" name="Line 26"/>
            <p:cNvSpPr/>
            <p:nvPr/>
          </p:nvSpPr>
          <p:spPr>
            <a:xfrm flipH="1">
              <a:off x="1134" y="639"/>
              <a:ext cx="264" cy="264"/>
            </a:xfrm>
            <a:prstGeom prst="line">
              <a:avLst/>
            </a:prstGeom>
            <a:ln w="9525" cap="flat" cmpd="sng">
              <a:solidFill>
                <a:srgbClr val="000000"/>
              </a:solidFill>
              <a:prstDash val="solid"/>
              <a:round/>
              <a:headEnd type="none" w="med" len="med"/>
              <a:tailEnd type="triangle" w="med" len="med"/>
            </a:ln>
            <a:effectLst>
              <a:prstShdw prst="shdw17" dist="17961" dir="2699999">
                <a:srgbClr val="000000"/>
              </a:prstShdw>
            </a:effectLst>
          </p:spPr>
        </p:sp>
        <p:sp>
          <p:nvSpPr>
            <p:cNvPr id="46108" name="Line 27"/>
            <p:cNvSpPr/>
            <p:nvPr/>
          </p:nvSpPr>
          <p:spPr>
            <a:xfrm>
              <a:off x="1406" y="623"/>
              <a:ext cx="232" cy="288"/>
            </a:xfrm>
            <a:prstGeom prst="line">
              <a:avLst/>
            </a:prstGeom>
            <a:ln w="9525" cap="flat" cmpd="sng">
              <a:solidFill>
                <a:srgbClr val="000000"/>
              </a:solidFill>
              <a:prstDash val="solid"/>
              <a:round/>
              <a:headEnd type="none" w="med" len="med"/>
              <a:tailEnd type="triangle" w="med" len="med"/>
            </a:ln>
            <a:effectLst>
              <a:prstShdw prst="shdw17" dist="17961" dir="2699999">
                <a:srgbClr val="000000"/>
              </a:prstShdw>
            </a:effectLst>
          </p:spPr>
        </p:sp>
        <p:sp>
          <p:nvSpPr>
            <p:cNvPr id="46109" name="Line 28"/>
            <p:cNvSpPr/>
            <p:nvPr/>
          </p:nvSpPr>
          <p:spPr>
            <a:xfrm flipH="1">
              <a:off x="2318" y="639"/>
              <a:ext cx="264" cy="264"/>
            </a:xfrm>
            <a:prstGeom prst="line">
              <a:avLst/>
            </a:prstGeom>
            <a:ln w="9525" cap="flat" cmpd="sng">
              <a:solidFill>
                <a:srgbClr val="000000"/>
              </a:solidFill>
              <a:prstDash val="solid"/>
              <a:round/>
              <a:headEnd type="none" w="med" len="med"/>
              <a:tailEnd type="triangle" w="med" len="med"/>
            </a:ln>
            <a:effectLst>
              <a:prstShdw prst="shdw17" dist="17961" dir="2699999">
                <a:srgbClr val="000000"/>
              </a:prstShdw>
            </a:effectLst>
          </p:spPr>
        </p:sp>
        <p:sp>
          <p:nvSpPr>
            <p:cNvPr id="46110" name="Line 29"/>
            <p:cNvSpPr/>
            <p:nvPr/>
          </p:nvSpPr>
          <p:spPr>
            <a:xfrm>
              <a:off x="2590" y="623"/>
              <a:ext cx="232" cy="288"/>
            </a:xfrm>
            <a:prstGeom prst="line">
              <a:avLst/>
            </a:prstGeom>
            <a:ln w="9525" cap="flat" cmpd="sng">
              <a:solidFill>
                <a:srgbClr val="000000"/>
              </a:solidFill>
              <a:prstDash val="solid"/>
              <a:round/>
              <a:headEnd type="none" w="med" len="med"/>
              <a:tailEnd type="triangle" w="med" len="med"/>
            </a:ln>
            <a:effectLst>
              <a:prstShdw prst="shdw17" dist="17961" dir="2699999">
                <a:srgbClr val="000000"/>
              </a:prstShdw>
            </a:effectLst>
          </p:spPr>
        </p:sp>
        <p:sp>
          <p:nvSpPr>
            <p:cNvPr id="46111" name="Line 30"/>
            <p:cNvSpPr/>
            <p:nvPr/>
          </p:nvSpPr>
          <p:spPr>
            <a:xfrm flipH="1">
              <a:off x="3350" y="599"/>
              <a:ext cx="264" cy="264"/>
            </a:xfrm>
            <a:prstGeom prst="line">
              <a:avLst/>
            </a:prstGeom>
            <a:ln w="9525" cap="flat" cmpd="sng">
              <a:solidFill>
                <a:srgbClr val="000000"/>
              </a:solidFill>
              <a:prstDash val="solid"/>
              <a:round/>
              <a:headEnd type="none" w="med" len="med"/>
              <a:tailEnd type="triangle" w="med" len="med"/>
            </a:ln>
            <a:effectLst>
              <a:prstShdw prst="shdw17" dist="17961" dir="2699999">
                <a:srgbClr val="000000"/>
              </a:prstShdw>
            </a:effectLst>
          </p:spPr>
        </p:sp>
        <p:sp>
          <p:nvSpPr>
            <p:cNvPr id="46112" name="Line 31"/>
            <p:cNvSpPr/>
            <p:nvPr/>
          </p:nvSpPr>
          <p:spPr>
            <a:xfrm>
              <a:off x="3622" y="583"/>
              <a:ext cx="232" cy="288"/>
            </a:xfrm>
            <a:prstGeom prst="line">
              <a:avLst/>
            </a:prstGeom>
            <a:ln w="9525" cap="flat" cmpd="sng">
              <a:solidFill>
                <a:srgbClr val="000000"/>
              </a:solidFill>
              <a:prstDash val="solid"/>
              <a:round/>
              <a:headEnd type="none" w="med" len="med"/>
              <a:tailEnd type="triangle" w="med" len="med"/>
            </a:ln>
            <a:effectLst>
              <a:prstShdw prst="shdw17" dist="17961" dir="2699999">
                <a:srgbClr val="000000"/>
              </a:prstShdw>
            </a:effectLst>
          </p:spPr>
        </p:sp>
        <p:sp>
          <p:nvSpPr>
            <p:cNvPr id="46113" name="Line 32"/>
            <p:cNvSpPr/>
            <p:nvPr/>
          </p:nvSpPr>
          <p:spPr>
            <a:xfrm flipV="1">
              <a:off x="254" y="1023"/>
              <a:ext cx="256" cy="8"/>
            </a:xfrm>
            <a:prstGeom prst="line">
              <a:avLst/>
            </a:prstGeom>
            <a:ln w="9525" cap="flat" cmpd="sng">
              <a:solidFill>
                <a:srgbClr val="000000"/>
              </a:solidFill>
              <a:prstDash val="solid"/>
              <a:round/>
              <a:headEnd type="triangle" w="sm" len="lg"/>
              <a:tailEnd type="triangle" w="sm" len="lg"/>
            </a:ln>
            <a:effectLst>
              <a:prstShdw prst="shdw17" dist="17961" dir="2699999">
                <a:srgbClr val="000000"/>
              </a:prstShdw>
            </a:effectLst>
          </p:spPr>
        </p:sp>
        <p:sp>
          <p:nvSpPr>
            <p:cNvPr id="46114" name="Line 33"/>
            <p:cNvSpPr/>
            <p:nvPr/>
          </p:nvSpPr>
          <p:spPr>
            <a:xfrm flipV="1">
              <a:off x="1318" y="999"/>
              <a:ext cx="256" cy="8"/>
            </a:xfrm>
            <a:prstGeom prst="line">
              <a:avLst/>
            </a:prstGeom>
            <a:ln w="9525" cap="flat" cmpd="sng">
              <a:solidFill>
                <a:srgbClr val="000000"/>
              </a:solidFill>
              <a:prstDash val="solid"/>
              <a:round/>
              <a:headEnd type="triangle" w="sm" len="lg"/>
              <a:tailEnd type="triangle" w="sm" len="lg"/>
            </a:ln>
            <a:effectLst>
              <a:prstShdw prst="shdw17" dist="17961" dir="2699999">
                <a:srgbClr val="000000"/>
              </a:prstShdw>
            </a:effectLst>
          </p:spPr>
        </p:sp>
        <p:sp>
          <p:nvSpPr>
            <p:cNvPr id="46115" name="Line 34"/>
            <p:cNvSpPr/>
            <p:nvPr/>
          </p:nvSpPr>
          <p:spPr>
            <a:xfrm flipV="1">
              <a:off x="2494" y="983"/>
              <a:ext cx="256" cy="8"/>
            </a:xfrm>
            <a:prstGeom prst="line">
              <a:avLst/>
            </a:prstGeom>
            <a:ln w="9525" cap="flat" cmpd="sng">
              <a:solidFill>
                <a:srgbClr val="000000"/>
              </a:solidFill>
              <a:prstDash val="solid"/>
              <a:round/>
              <a:headEnd type="triangle" w="sm" len="lg"/>
              <a:tailEnd type="triangle" w="sm" len="lg"/>
            </a:ln>
            <a:effectLst>
              <a:prstShdw prst="shdw17" dist="17961" dir="2699999">
                <a:srgbClr val="000000"/>
              </a:prstShdw>
            </a:effectLst>
          </p:spPr>
        </p:sp>
        <p:sp>
          <p:nvSpPr>
            <p:cNvPr id="46116" name="Line 35"/>
            <p:cNvSpPr/>
            <p:nvPr/>
          </p:nvSpPr>
          <p:spPr>
            <a:xfrm flipV="1">
              <a:off x="3542" y="951"/>
              <a:ext cx="256" cy="8"/>
            </a:xfrm>
            <a:prstGeom prst="line">
              <a:avLst/>
            </a:prstGeom>
            <a:ln w="9525" cap="flat" cmpd="sng">
              <a:solidFill>
                <a:srgbClr val="000000"/>
              </a:solidFill>
              <a:prstDash val="solid"/>
              <a:round/>
              <a:headEnd type="triangle" w="sm" len="lg"/>
              <a:tailEnd type="triangle" w="sm" len="lg"/>
            </a:ln>
            <a:effectLst>
              <a:prstShdw prst="shdw17" dist="17961" dir="2699999">
                <a:srgbClr val="000000"/>
              </a:prstShdw>
            </a:effectLst>
          </p:spPr>
        </p:sp>
        <p:sp>
          <p:nvSpPr>
            <p:cNvPr id="46117" name="Rectangle 36"/>
            <p:cNvSpPr/>
            <p:nvPr/>
          </p:nvSpPr>
          <p:spPr>
            <a:xfrm>
              <a:off x="1008" y="1101"/>
              <a:ext cx="361" cy="292"/>
            </a:xfrm>
            <a:prstGeom prst="rect">
              <a:avLst/>
            </a:prstGeom>
            <a:noFill/>
            <a:ln w="9525">
              <a:noFill/>
            </a:ln>
            <a:effectLst>
              <a:prstShdw prst="shdw17" dist="17961" dir="2699999">
                <a:srgbClr val="708688"/>
              </a:prstShdw>
            </a:effectLst>
          </p:spPr>
          <p:txBody>
            <a:bodyPr wrap="none" anchor="ctr" anchorCtr="0">
              <a:spAutoFit/>
            </a:bodyPr>
            <a:p>
              <a:pPr marL="262255" indent="-262255" algn="ctr">
                <a:lnSpc>
                  <a:spcPct val="135000"/>
                </a:lnSpc>
              </a:pPr>
              <a:r>
                <a:rPr lang="en-US" altLang="zh-CN" dirty="0">
                  <a:latin typeface="Arial" panose="020B0604020202020204" pitchFamily="34" charset="0"/>
                  <a:ea typeface="宋体" panose="02010600030101010101" pitchFamily="2" charset="-122"/>
                </a:rPr>
                <a:t>……</a:t>
              </a:r>
              <a:endParaRPr lang="en-US" altLang="zh-CN" dirty="0">
                <a:latin typeface="Arial" panose="020B0604020202020204" pitchFamily="34" charset="0"/>
                <a:ea typeface="宋体" panose="02010600030101010101" pitchFamily="2" charset="-122"/>
              </a:endParaRPr>
            </a:p>
          </p:txBody>
        </p:sp>
        <p:sp>
          <p:nvSpPr>
            <p:cNvPr id="46118" name="Rectangle 37"/>
            <p:cNvSpPr/>
            <p:nvPr/>
          </p:nvSpPr>
          <p:spPr>
            <a:xfrm>
              <a:off x="2553" y="1061"/>
              <a:ext cx="360" cy="292"/>
            </a:xfrm>
            <a:prstGeom prst="rect">
              <a:avLst/>
            </a:prstGeom>
            <a:noFill/>
            <a:ln w="9525">
              <a:noFill/>
            </a:ln>
            <a:effectLst>
              <a:prstShdw prst="shdw17" dist="17961" dir="2699999">
                <a:srgbClr val="708688"/>
              </a:prstShdw>
            </a:effectLst>
          </p:spPr>
          <p:txBody>
            <a:bodyPr wrap="none" anchor="ctr" anchorCtr="0">
              <a:spAutoFit/>
            </a:bodyPr>
            <a:p>
              <a:pPr marL="262255" indent="-262255" algn="ctr">
                <a:lnSpc>
                  <a:spcPct val="135000"/>
                </a:lnSpc>
              </a:pPr>
              <a:r>
                <a:rPr lang="en-US" altLang="zh-CN" dirty="0">
                  <a:latin typeface="Arial" panose="020B0604020202020204" pitchFamily="34" charset="0"/>
                  <a:ea typeface="宋体" panose="02010600030101010101" pitchFamily="2" charset="-122"/>
                </a:rPr>
                <a:t>……</a:t>
              </a:r>
              <a:endParaRPr lang="en-US" altLang="zh-CN" dirty="0">
                <a:latin typeface="Arial" panose="020B0604020202020204" pitchFamily="34" charset="0"/>
                <a:ea typeface="宋体" panose="02010600030101010101" pitchFamily="2" charset="-122"/>
              </a:endParaRPr>
            </a:p>
          </p:txBody>
        </p:sp>
        <p:sp>
          <p:nvSpPr>
            <p:cNvPr id="46119" name="Rectangle 38"/>
            <p:cNvSpPr/>
            <p:nvPr/>
          </p:nvSpPr>
          <p:spPr>
            <a:xfrm>
              <a:off x="8" y="1424"/>
              <a:ext cx="210" cy="212"/>
            </a:xfrm>
            <a:prstGeom prst="rect">
              <a:avLst/>
            </a:prstGeom>
            <a:solidFill>
              <a:srgbClr val="E1E8FF"/>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tIns="0" bIns="10800" anchor="ctr" anchorCtr="0">
              <a:spAutoFit/>
            </a:bodyPr>
            <a:p>
              <a:pPr marL="262255" indent="-262255" algn="ctr">
                <a:lnSpc>
                  <a:spcPct val="115000"/>
                </a:lnSpc>
              </a:pPr>
              <a:endParaRPr lang="zh-CN" altLang="en-US" dirty="0">
                <a:latin typeface="Arial" panose="020B0604020202020204" pitchFamily="34" charset="0"/>
                <a:ea typeface="宋体" panose="02010600030101010101" pitchFamily="2" charset="-122"/>
              </a:endParaRPr>
            </a:p>
          </p:txBody>
        </p:sp>
        <p:sp>
          <p:nvSpPr>
            <p:cNvPr id="46120" name="Rectangle 39"/>
            <p:cNvSpPr/>
            <p:nvPr/>
          </p:nvSpPr>
          <p:spPr>
            <a:xfrm>
              <a:off x="400" y="1432"/>
              <a:ext cx="210" cy="212"/>
            </a:xfrm>
            <a:prstGeom prst="rect">
              <a:avLst/>
            </a:prstGeom>
            <a:solidFill>
              <a:srgbClr val="E1E8FF"/>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tIns="0" bIns="10800" anchor="ctr" anchorCtr="0">
              <a:spAutoFit/>
            </a:bodyPr>
            <a:p>
              <a:pPr marL="262255" indent="-262255" algn="ctr">
                <a:lnSpc>
                  <a:spcPct val="115000"/>
                </a:lnSpc>
              </a:pPr>
              <a:endParaRPr lang="zh-CN" altLang="en-US" dirty="0">
                <a:latin typeface="Arial" panose="020B0604020202020204" pitchFamily="34" charset="0"/>
                <a:ea typeface="宋体" panose="02010600030101010101" pitchFamily="2" charset="-122"/>
              </a:endParaRPr>
            </a:p>
          </p:txBody>
        </p:sp>
        <p:sp>
          <p:nvSpPr>
            <p:cNvPr id="46121" name="Rectangle 40"/>
            <p:cNvSpPr/>
            <p:nvPr/>
          </p:nvSpPr>
          <p:spPr>
            <a:xfrm>
              <a:off x="792" y="1424"/>
              <a:ext cx="210" cy="212"/>
            </a:xfrm>
            <a:prstGeom prst="rect">
              <a:avLst/>
            </a:prstGeom>
            <a:solidFill>
              <a:srgbClr val="E1E8FF"/>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tIns="0" bIns="10800" anchor="ctr" anchorCtr="0">
              <a:spAutoFit/>
            </a:bodyPr>
            <a:p>
              <a:pPr marL="262255" indent="-262255" algn="ctr">
                <a:lnSpc>
                  <a:spcPct val="115000"/>
                </a:lnSpc>
              </a:pPr>
              <a:endParaRPr lang="zh-CN" altLang="en-US" dirty="0">
                <a:latin typeface="Arial" panose="020B0604020202020204" pitchFamily="34" charset="0"/>
                <a:ea typeface="宋体" panose="02010600030101010101" pitchFamily="2" charset="-122"/>
              </a:endParaRPr>
            </a:p>
          </p:txBody>
        </p:sp>
        <p:sp>
          <p:nvSpPr>
            <p:cNvPr id="46122" name="Rectangle 41"/>
            <p:cNvSpPr/>
            <p:nvPr/>
          </p:nvSpPr>
          <p:spPr>
            <a:xfrm>
              <a:off x="1192" y="1432"/>
              <a:ext cx="210" cy="212"/>
            </a:xfrm>
            <a:prstGeom prst="rect">
              <a:avLst/>
            </a:prstGeom>
            <a:solidFill>
              <a:srgbClr val="E1E8FF"/>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tIns="0" bIns="10800" anchor="ctr" anchorCtr="0">
              <a:spAutoFit/>
            </a:bodyPr>
            <a:p>
              <a:pPr marL="262255" indent="-262255" algn="ctr">
                <a:lnSpc>
                  <a:spcPct val="115000"/>
                </a:lnSpc>
              </a:pPr>
              <a:endParaRPr lang="zh-CN" altLang="en-US" dirty="0">
                <a:latin typeface="Arial" panose="020B0604020202020204" pitchFamily="34" charset="0"/>
                <a:ea typeface="宋体" panose="02010600030101010101" pitchFamily="2" charset="-122"/>
              </a:endParaRPr>
            </a:p>
          </p:txBody>
        </p:sp>
        <p:sp>
          <p:nvSpPr>
            <p:cNvPr id="46123" name="Line 42"/>
            <p:cNvSpPr/>
            <p:nvPr/>
          </p:nvSpPr>
          <p:spPr>
            <a:xfrm>
              <a:off x="222" y="1527"/>
              <a:ext cx="192" cy="0"/>
            </a:xfrm>
            <a:prstGeom prst="line">
              <a:avLst/>
            </a:prstGeom>
            <a:ln w="9525" cap="flat" cmpd="sng">
              <a:solidFill>
                <a:srgbClr val="000000"/>
              </a:solidFill>
              <a:prstDash val="solid"/>
              <a:round/>
              <a:headEnd type="triangle" w="sm" len="lg"/>
              <a:tailEnd type="triangle" w="sm" len="lg"/>
            </a:ln>
            <a:effectLst>
              <a:prstShdw prst="shdw17" dist="17961" dir="2699999">
                <a:srgbClr val="000000"/>
              </a:prstShdw>
            </a:effectLst>
          </p:spPr>
        </p:sp>
        <p:sp>
          <p:nvSpPr>
            <p:cNvPr id="46124" name="Line 43"/>
            <p:cNvSpPr/>
            <p:nvPr/>
          </p:nvSpPr>
          <p:spPr>
            <a:xfrm>
              <a:off x="606" y="1527"/>
              <a:ext cx="192" cy="0"/>
            </a:xfrm>
            <a:prstGeom prst="line">
              <a:avLst/>
            </a:prstGeom>
            <a:ln w="9525" cap="flat" cmpd="sng">
              <a:solidFill>
                <a:srgbClr val="000000"/>
              </a:solidFill>
              <a:prstDash val="solid"/>
              <a:round/>
              <a:headEnd type="triangle" w="sm" len="lg"/>
              <a:tailEnd type="triangle" w="sm" len="lg"/>
            </a:ln>
            <a:effectLst>
              <a:prstShdw prst="shdw17" dist="17961" dir="2699999">
                <a:srgbClr val="000000"/>
              </a:prstShdw>
            </a:effectLst>
          </p:spPr>
        </p:sp>
        <p:sp>
          <p:nvSpPr>
            <p:cNvPr id="46125" name="Line 44"/>
            <p:cNvSpPr/>
            <p:nvPr/>
          </p:nvSpPr>
          <p:spPr>
            <a:xfrm>
              <a:off x="998" y="1527"/>
              <a:ext cx="192" cy="0"/>
            </a:xfrm>
            <a:prstGeom prst="line">
              <a:avLst/>
            </a:prstGeom>
            <a:ln w="9525" cap="flat" cmpd="sng">
              <a:solidFill>
                <a:srgbClr val="000000"/>
              </a:solidFill>
              <a:prstDash val="solid"/>
              <a:round/>
              <a:headEnd type="triangle" w="sm" len="lg"/>
              <a:tailEnd type="triangle" w="sm" len="lg"/>
            </a:ln>
            <a:effectLst>
              <a:prstShdw prst="shdw17" dist="17961" dir="2699999">
                <a:srgbClr val="000000"/>
              </a:prstShdw>
            </a:effectLst>
          </p:spPr>
        </p:sp>
        <p:sp>
          <p:nvSpPr>
            <p:cNvPr id="46126" name="Rectangle 45"/>
            <p:cNvSpPr/>
            <p:nvPr/>
          </p:nvSpPr>
          <p:spPr>
            <a:xfrm>
              <a:off x="1856" y="1317"/>
              <a:ext cx="361" cy="292"/>
            </a:xfrm>
            <a:prstGeom prst="rect">
              <a:avLst/>
            </a:prstGeom>
            <a:noFill/>
            <a:ln w="9525">
              <a:noFill/>
            </a:ln>
            <a:effectLst>
              <a:prstShdw prst="shdw17" dist="17961" dir="2699999">
                <a:srgbClr val="708688"/>
              </a:prstShdw>
            </a:effectLst>
          </p:spPr>
          <p:txBody>
            <a:bodyPr wrap="none" anchor="ctr" anchorCtr="0">
              <a:spAutoFit/>
            </a:bodyPr>
            <a:p>
              <a:pPr marL="262255" indent="-262255" algn="ctr">
                <a:lnSpc>
                  <a:spcPct val="135000"/>
                </a:lnSpc>
              </a:pPr>
              <a:r>
                <a:rPr lang="en-US" altLang="zh-CN" dirty="0">
                  <a:latin typeface="Arial" panose="020B0604020202020204" pitchFamily="34" charset="0"/>
                  <a:ea typeface="宋体" panose="02010600030101010101" pitchFamily="2" charset="-122"/>
                </a:rPr>
                <a:t>……</a:t>
              </a:r>
              <a:endParaRPr lang="en-US" altLang="zh-CN" dirty="0">
                <a:latin typeface="Arial" panose="020B0604020202020204" pitchFamily="34" charset="0"/>
                <a:ea typeface="宋体" panose="02010600030101010101" pitchFamily="2" charset="-122"/>
              </a:endParaRPr>
            </a:p>
          </p:txBody>
        </p:sp>
        <p:sp>
          <p:nvSpPr>
            <p:cNvPr id="46127" name="Rectangle 46"/>
            <p:cNvSpPr/>
            <p:nvPr/>
          </p:nvSpPr>
          <p:spPr>
            <a:xfrm>
              <a:off x="2512" y="1400"/>
              <a:ext cx="210" cy="212"/>
            </a:xfrm>
            <a:prstGeom prst="rect">
              <a:avLst/>
            </a:prstGeom>
            <a:solidFill>
              <a:srgbClr val="E1E8FF"/>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tIns="0" bIns="10800" anchor="ctr" anchorCtr="0">
              <a:spAutoFit/>
            </a:bodyPr>
            <a:p>
              <a:pPr marL="262255" indent="-262255" algn="ctr">
                <a:lnSpc>
                  <a:spcPct val="115000"/>
                </a:lnSpc>
              </a:pPr>
              <a:endParaRPr lang="zh-CN" altLang="en-US" dirty="0">
                <a:latin typeface="Arial" panose="020B0604020202020204" pitchFamily="34" charset="0"/>
                <a:ea typeface="宋体" panose="02010600030101010101" pitchFamily="2" charset="-122"/>
              </a:endParaRPr>
            </a:p>
          </p:txBody>
        </p:sp>
        <p:sp>
          <p:nvSpPr>
            <p:cNvPr id="46128" name="Rectangle 47"/>
            <p:cNvSpPr/>
            <p:nvPr/>
          </p:nvSpPr>
          <p:spPr>
            <a:xfrm>
              <a:off x="2904" y="1408"/>
              <a:ext cx="210" cy="212"/>
            </a:xfrm>
            <a:prstGeom prst="rect">
              <a:avLst/>
            </a:prstGeom>
            <a:solidFill>
              <a:srgbClr val="E1E8FF"/>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tIns="0" bIns="10800" anchor="ctr" anchorCtr="0">
              <a:spAutoFit/>
            </a:bodyPr>
            <a:p>
              <a:pPr marL="262255" indent="-262255" algn="ctr">
                <a:lnSpc>
                  <a:spcPct val="115000"/>
                </a:lnSpc>
              </a:pPr>
              <a:endParaRPr lang="zh-CN" altLang="en-US" dirty="0">
                <a:latin typeface="Arial" panose="020B0604020202020204" pitchFamily="34" charset="0"/>
                <a:ea typeface="宋体" panose="02010600030101010101" pitchFamily="2" charset="-122"/>
              </a:endParaRPr>
            </a:p>
          </p:txBody>
        </p:sp>
        <p:sp>
          <p:nvSpPr>
            <p:cNvPr id="46129" name="Rectangle 48"/>
            <p:cNvSpPr/>
            <p:nvPr/>
          </p:nvSpPr>
          <p:spPr>
            <a:xfrm>
              <a:off x="3296" y="1400"/>
              <a:ext cx="210" cy="212"/>
            </a:xfrm>
            <a:prstGeom prst="rect">
              <a:avLst/>
            </a:prstGeom>
            <a:solidFill>
              <a:srgbClr val="E1E8FF"/>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tIns="0" bIns="10800" anchor="ctr" anchorCtr="0">
              <a:spAutoFit/>
            </a:bodyPr>
            <a:p>
              <a:pPr marL="262255" indent="-262255" algn="ctr">
                <a:lnSpc>
                  <a:spcPct val="115000"/>
                </a:lnSpc>
              </a:pPr>
              <a:endParaRPr lang="zh-CN" altLang="en-US" dirty="0">
                <a:latin typeface="Arial" panose="020B0604020202020204" pitchFamily="34" charset="0"/>
                <a:ea typeface="宋体" panose="02010600030101010101" pitchFamily="2" charset="-122"/>
              </a:endParaRPr>
            </a:p>
          </p:txBody>
        </p:sp>
        <p:sp>
          <p:nvSpPr>
            <p:cNvPr id="46130" name="Rectangle 49"/>
            <p:cNvSpPr/>
            <p:nvPr/>
          </p:nvSpPr>
          <p:spPr>
            <a:xfrm>
              <a:off x="3696" y="1408"/>
              <a:ext cx="210" cy="212"/>
            </a:xfrm>
            <a:prstGeom prst="rect">
              <a:avLst/>
            </a:prstGeom>
            <a:solidFill>
              <a:srgbClr val="E1E8FF"/>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tIns="0" bIns="10800" anchor="ctr" anchorCtr="0">
              <a:spAutoFit/>
            </a:bodyPr>
            <a:p>
              <a:pPr marL="262255" indent="-262255" algn="ctr">
                <a:lnSpc>
                  <a:spcPct val="115000"/>
                </a:lnSpc>
              </a:pPr>
              <a:endParaRPr lang="zh-CN" altLang="en-US" dirty="0">
                <a:latin typeface="Arial" panose="020B0604020202020204" pitchFamily="34" charset="0"/>
                <a:ea typeface="宋体" panose="02010600030101010101" pitchFamily="2" charset="-122"/>
              </a:endParaRPr>
            </a:p>
          </p:txBody>
        </p:sp>
        <p:sp>
          <p:nvSpPr>
            <p:cNvPr id="46131" name="Line 50"/>
            <p:cNvSpPr/>
            <p:nvPr/>
          </p:nvSpPr>
          <p:spPr>
            <a:xfrm>
              <a:off x="2726" y="1503"/>
              <a:ext cx="192" cy="0"/>
            </a:xfrm>
            <a:prstGeom prst="line">
              <a:avLst/>
            </a:prstGeom>
            <a:ln w="9525" cap="flat" cmpd="sng">
              <a:solidFill>
                <a:srgbClr val="000000"/>
              </a:solidFill>
              <a:prstDash val="solid"/>
              <a:round/>
              <a:headEnd type="triangle" w="sm" len="lg"/>
              <a:tailEnd type="triangle" w="sm" len="lg"/>
            </a:ln>
            <a:effectLst>
              <a:prstShdw prst="shdw17" dist="17961" dir="2699999">
                <a:srgbClr val="000000"/>
              </a:prstShdw>
            </a:effectLst>
          </p:spPr>
        </p:sp>
        <p:sp>
          <p:nvSpPr>
            <p:cNvPr id="46132" name="Line 51"/>
            <p:cNvSpPr/>
            <p:nvPr/>
          </p:nvSpPr>
          <p:spPr>
            <a:xfrm>
              <a:off x="3110" y="1503"/>
              <a:ext cx="192" cy="0"/>
            </a:xfrm>
            <a:prstGeom prst="line">
              <a:avLst/>
            </a:prstGeom>
            <a:ln w="9525" cap="flat" cmpd="sng">
              <a:solidFill>
                <a:srgbClr val="000000"/>
              </a:solidFill>
              <a:prstDash val="solid"/>
              <a:round/>
              <a:headEnd type="triangle" w="sm" len="lg"/>
              <a:tailEnd type="triangle" w="sm" len="lg"/>
            </a:ln>
            <a:effectLst>
              <a:prstShdw prst="shdw17" dist="17961" dir="2699999">
                <a:srgbClr val="000000"/>
              </a:prstShdw>
            </a:effectLst>
          </p:spPr>
        </p:sp>
        <p:sp>
          <p:nvSpPr>
            <p:cNvPr id="46133" name="Line 52"/>
            <p:cNvSpPr/>
            <p:nvPr/>
          </p:nvSpPr>
          <p:spPr>
            <a:xfrm>
              <a:off x="3502" y="1503"/>
              <a:ext cx="192" cy="0"/>
            </a:xfrm>
            <a:prstGeom prst="line">
              <a:avLst/>
            </a:prstGeom>
            <a:ln w="9525" cap="flat" cmpd="sng">
              <a:solidFill>
                <a:srgbClr val="000000"/>
              </a:solidFill>
              <a:prstDash val="solid"/>
              <a:round/>
              <a:headEnd type="triangle" w="sm" len="lg"/>
              <a:tailEnd type="triangle" w="sm" len="lg"/>
            </a:ln>
            <a:effectLst>
              <a:prstShdw prst="shdw17" dist="17961" dir="2699999">
                <a:srgbClr val="000000"/>
              </a:prstShdw>
            </a:effectLst>
          </p:spPr>
        </p:sp>
      </p:grpSp>
      <p:sp>
        <p:nvSpPr>
          <p:cNvPr id="46134" name="矩形 54"/>
          <p:cNvSpPr/>
          <p:nvPr/>
        </p:nvSpPr>
        <p:spPr>
          <a:xfrm>
            <a:off x="333375" y="5637213"/>
            <a:ext cx="8578850" cy="508000"/>
          </a:xfrm>
          <a:prstGeom prst="rect">
            <a:avLst/>
          </a:prstGeom>
          <a:noFill/>
          <a:ln w="9525">
            <a:noFill/>
          </a:ln>
        </p:spPr>
        <p:txBody>
          <a:bodyPr anchor="t" anchorCtr="0">
            <a:spAutoFit/>
          </a:bodyPr>
          <a:p>
            <a:pPr>
              <a:lnSpc>
                <a:spcPct val="135000"/>
              </a:lnSpc>
            </a:pPr>
            <a:r>
              <a:rPr lang="en-US" altLang="zh-CN" sz="2000" dirty="0">
                <a:latin typeface="Arial" panose="020B0604020202020204" pitchFamily="34" charset="0"/>
                <a:ea typeface="宋体" panose="02010600030101010101" pitchFamily="2" charset="-122"/>
              </a:rPr>
              <a:t>B</a:t>
            </a:r>
            <a:r>
              <a:rPr lang="zh-CN" altLang="en-US" sz="2000" dirty="0">
                <a:latin typeface="Arial" panose="020B0604020202020204" pitchFamily="34" charset="0"/>
                <a:ea typeface="宋体" panose="02010600030101010101" pitchFamily="2" charset="-122"/>
              </a:rPr>
              <a:t>树从根节点开始，以左右平衡的方式存放数据，中间可根据需要分成多层。</a:t>
            </a:r>
            <a:endParaRPr lang="zh-CN" altLang="en-US" sz="2000" dirty="0">
              <a:latin typeface="Arial" panose="020B0604020202020204" pitchFamily="34" charset="0"/>
              <a:ea typeface="宋体" panose="02010600030101010101" pitchFamily="2" charset="-122"/>
            </a:endParaRP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5"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47106" name="矩形 2"/>
          <p:cNvSpPr/>
          <p:nvPr/>
        </p:nvSpPr>
        <p:spPr>
          <a:xfrm>
            <a:off x="542925" y="881063"/>
            <a:ext cx="2890838" cy="944562"/>
          </a:xfrm>
          <a:prstGeom prst="rect">
            <a:avLst/>
          </a:prstGeom>
          <a:noFill/>
          <a:ln w="9525">
            <a:noFill/>
          </a:ln>
        </p:spPr>
        <p:txBody>
          <a:bodyPr wrap="none" anchor="t" anchorCtr="0">
            <a:spAutoFit/>
          </a:bodyPr>
          <a:p>
            <a:r>
              <a:rPr lang="en-US" altLang="zh-CN" sz="2800" dirty="0">
                <a:solidFill>
                  <a:srgbClr val="0033CC"/>
                </a:solidFill>
                <a:latin typeface="黑体" panose="02010609060101010101" pitchFamily="1" charset="-122"/>
                <a:ea typeface="黑体" panose="02010609060101010101" pitchFamily="1" charset="-122"/>
              </a:rPr>
              <a:t>5.</a:t>
            </a:r>
            <a:r>
              <a:rPr lang="zh-CN" altLang="en-US" sz="2800" dirty="0">
                <a:solidFill>
                  <a:srgbClr val="0033CC"/>
                </a:solidFill>
                <a:latin typeface="黑体" panose="02010609060101010101" pitchFamily="1" charset="-122"/>
                <a:ea typeface="黑体" panose="02010609060101010101" pitchFamily="1" charset="-122"/>
              </a:rPr>
              <a:t>定义索引</a:t>
            </a:r>
            <a:r>
              <a:rPr lang="en-US" altLang="zh-CN" sz="2400" dirty="0">
                <a:solidFill>
                  <a:srgbClr val="FF0000"/>
                </a:solidFill>
                <a:latin typeface="黑体" panose="02010609060101010101" pitchFamily="1" charset="-122"/>
                <a:ea typeface="黑体" panose="02010609060101010101" pitchFamily="1" charset="-122"/>
              </a:rPr>
              <a:t>—</a:t>
            </a:r>
            <a:r>
              <a:rPr lang="zh-CN" altLang="en-US" sz="2400" dirty="0">
                <a:solidFill>
                  <a:srgbClr val="FF0000"/>
                </a:solidFill>
                <a:latin typeface="黑体" panose="02010609060101010101" pitchFamily="1" charset="-122"/>
                <a:ea typeface="黑体" panose="02010609060101010101" pitchFamily="1" charset="-122"/>
              </a:rPr>
              <a:t>概念</a:t>
            </a:r>
            <a:endParaRPr lang="zh-CN" altLang="en-US" sz="2400" dirty="0">
              <a:solidFill>
                <a:srgbClr val="FF0000"/>
              </a:solidFill>
              <a:latin typeface="黑体" panose="02010609060101010101" pitchFamily="1" charset="-122"/>
              <a:ea typeface="宋体" panose="02010600030101010101" pitchFamily="2" charset="-122"/>
            </a:endParaRPr>
          </a:p>
          <a:p>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47107" name="Text Box 2"/>
          <p:cNvSpPr txBox="1"/>
          <p:nvPr/>
        </p:nvSpPr>
        <p:spPr>
          <a:xfrm>
            <a:off x="493713" y="1357313"/>
            <a:ext cx="2917825" cy="609600"/>
          </a:xfrm>
          <a:prstGeom prst="rect">
            <a:avLst/>
          </a:prstGeom>
          <a:noFill/>
          <a:ln w="9525">
            <a:noFill/>
          </a:ln>
        </p:spPr>
        <p:txBody>
          <a:bodyPr anchor="t" anchorCtr="0">
            <a:spAutoFit/>
          </a:bodyPr>
          <a:p>
            <a:pPr>
              <a:lnSpc>
                <a:spcPct val="140000"/>
              </a:lnSpc>
              <a:spcBef>
                <a:spcPct val="20000"/>
              </a:spcBef>
            </a:pPr>
            <a:r>
              <a:rPr lang="zh-CN" altLang="en-US" sz="2400" dirty="0">
                <a:solidFill>
                  <a:srgbClr val="FF3300"/>
                </a:solidFill>
                <a:latin typeface="黑体" panose="02010609060101010101" pitchFamily="1" charset="-122"/>
                <a:ea typeface="黑体" panose="02010609060101010101" pitchFamily="1" charset="-122"/>
              </a:rPr>
              <a:t>（</a:t>
            </a:r>
            <a:r>
              <a:rPr lang="en-US" altLang="zh-CN" sz="2400" dirty="0">
                <a:solidFill>
                  <a:srgbClr val="FF3300"/>
                </a:solidFill>
                <a:latin typeface="黑体" panose="02010609060101010101" pitchFamily="1" charset="-122"/>
                <a:ea typeface="黑体" panose="02010609060101010101" pitchFamily="1" charset="-122"/>
              </a:rPr>
              <a:t>1</a:t>
            </a:r>
            <a:r>
              <a:rPr lang="zh-CN" altLang="en-US" sz="2400" dirty="0">
                <a:solidFill>
                  <a:srgbClr val="FF3300"/>
                </a:solidFill>
                <a:latin typeface="黑体" panose="02010609060101010101" pitchFamily="1" charset="-122"/>
                <a:ea typeface="黑体" panose="02010609060101010101" pitchFamily="1" charset="-122"/>
              </a:rPr>
              <a:t>）聚集索引</a:t>
            </a:r>
            <a:endParaRPr lang="en-US" altLang="zh-CN" sz="2400" dirty="0">
              <a:solidFill>
                <a:srgbClr val="FF3300"/>
              </a:solidFill>
              <a:latin typeface="黑体" panose="02010609060101010101" pitchFamily="1" charset="-122"/>
              <a:ea typeface="黑体" panose="02010609060101010101" pitchFamily="1" charset="-122"/>
            </a:endParaRPr>
          </a:p>
        </p:txBody>
      </p:sp>
      <p:sp>
        <p:nvSpPr>
          <p:cNvPr id="47108" name="内容占位符 2"/>
          <p:cNvSpPr/>
          <p:nvPr/>
        </p:nvSpPr>
        <p:spPr>
          <a:xfrm>
            <a:off x="-23812" y="1900238"/>
            <a:ext cx="3659187" cy="1690687"/>
          </a:xfrm>
          <a:prstGeom prst="rect">
            <a:avLst/>
          </a:prstGeom>
          <a:noFill/>
          <a:ln w="9525">
            <a:noFill/>
          </a:ln>
        </p:spPr>
        <p:txBody>
          <a:bodyPr rIns="54000" anchor="t" anchorCtr="0"/>
          <a:p>
            <a:pPr marL="342900" indent="-342900">
              <a:lnSpc>
                <a:spcPct val="110000"/>
              </a:lnSpc>
              <a:buClr>
                <a:srgbClr val="0033CC"/>
              </a:buClr>
              <a:buSzPct val="80000"/>
              <a:buFont typeface="Wingdings" panose="05000000000000000000" pitchFamily="2" charset="2"/>
            </a:pPr>
            <a:r>
              <a:rPr lang="en-US" altLang="zh-CN" sz="2000" dirty="0">
                <a:latin typeface="Arial" panose="020B0604020202020204" pitchFamily="34" charset="0"/>
                <a:ea typeface="宋体" panose="02010600030101010101" pitchFamily="2" charset="-122"/>
              </a:rPr>
              <a:t>           </a:t>
            </a:r>
            <a:r>
              <a:rPr lang="zh-CN" altLang="en-US" sz="2000" dirty="0">
                <a:latin typeface="Arial" panose="020B0604020202020204" pitchFamily="34" charset="0"/>
                <a:ea typeface="宋体" panose="02010600030101010101" pitchFamily="2" charset="-122"/>
              </a:rPr>
              <a:t>聚集索引的</a:t>
            </a:r>
            <a:r>
              <a:rPr lang="en-US" altLang="zh-CN" sz="2000" dirty="0">
                <a:latin typeface="Arial" panose="020B0604020202020204" pitchFamily="34" charset="0"/>
                <a:ea typeface="宋体" panose="02010600030101010101" pitchFamily="2" charset="-122"/>
              </a:rPr>
              <a:t>B</a:t>
            </a:r>
            <a:r>
              <a:rPr lang="zh-CN" altLang="en-US" sz="2000" dirty="0">
                <a:latin typeface="Arial" panose="020B0604020202020204" pitchFamily="34" charset="0"/>
                <a:ea typeface="宋体" panose="02010600030101010101" pitchFamily="2" charset="-122"/>
              </a:rPr>
              <a:t>树最下层的叶节点存放的是数据，因此它</a:t>
            </a:r>
            <a:r>
              <a:rPr lang="zh-CN" altLang="en-US" sz="2000" dirty="0">
                <a:latin typeface="Arial" panose="020B0604020202020204" pitchFamily="34" charset="0"/>
                <a:ea typeface="宋体" panose="02010600030101010101" pitchFamily="2" charset="-122"/>
              </a:rPr>
              <a:t>既是索引页，同时也是数据页。多个数据页生成一个中间层的索引页，数个中间层的节点的索引页合成更上层的索引页，类推，直到生成顶点的根节点的索引页。高一层节点中每个索引项的索引关键字的值是其下层节点中最大或最小索引关键字的值。</a:t>
            </a:r>
            <a:endParaRPr lang="zh-CN" altLang="en-US" sz="2000" dirty="0">
              <a:latin typeface="Arial" panose="020B0604020202020204" pitchFamily="34" charset="0"/>
              <a:ea typeface="宋体" panose="02010600030101010101" pitchFamily="2" charset="-122"/>
            </a:endParaRPr>
          </a:p>
        </p:txBody>
      </p:sp>
      <p:grpSp>
        <p:nvGrpSpPr>
          <p:cNvPr id="47109" name="Group 8"/>
          <p:cNvGrpSpPr/>
          <p:nvPr/>
        </p:nvGrpSpPr>
        <p:grpSpPr>
          <a:xfrm>
            <a:off x="3746500" y="771525"/>
            <a:ext cx="5334000" cy="5473700"/>
            <a:chOff x="0" y="0"/>
            <a:chExt cx="3360" cy="3536"/>
          </a:xfrm>
        </p:grpSpPr>
        <p:grpSp>
          <p:nvGrpSpPr>
            <p:cNvPr id="47110" name="Group 9"/>
            <p:cNvGrpSpPr/>
            <p:nvPr/>
          </p:nvGrpSpPr>
          <p:grpSpPr>
            <a:xfrm>
              <a:off x="1344" y="312"/>
              <a:ext cx="784" cy="832"/>
              <a:chOff x="0" y="0"/>
              <a:chExt cx="848" cy="832"/>
            </a:xfrm>
          </p:grpSpPr>
          <p:sp>
            <p:nvSpPr>
              <p:cNvPr id="47111" name="AutoShape 10"/>
              <p:cNvSpPr/>
              <p:nvPr/>
            </p:nvSpPr>
            <p:spPr>
              <a:xfrm rot="10800000">
                <a:off x="0" y="0"/>
                <a:ext cx="848" cy="832"/>
              </a:xfrm>
              <a:prstGeom prst="foldedCorner">
                <a:avLst>
                  <a:gd name="adj" fmla="val 12500"/>
                </a:avLst>
              </a:prstGeom>
              <a:noFill/>
              <a:ln w="9525" cap="flat" cmpd="sng">
                <a:solidFill>
                  <a:srgbClr val="000000"/>
                </a:solidFill>
                <a:prstDash val="solid"/>
                <a:round/>
                <a:headEnd type="none" w="med" len="med"/>
                <a:tailEnd type="none" w="med" len="med"/>
              </a:ln>
              <a:effectLst>
                <a:prstShdw prst="shdw17" dist="17961" dir="2699999">
                  <a:srgbClr val="000000"/>
                </a:prstShdw>
              </a:effectLst>
            </p:spPr>
            <p:txBody>
              <a:bodyPr anchor="ctr" anchorCtr="0">
                <a:spAutoFit/>
              </a:bodyPr>
              <a:p>
                <a:pPr>
                  <a:lnSpc>
                    <a:spcPct val="135000"/>
                  </a:lnSpc>
                  <a:buFont typeface="Arial" panose="020B0604020202020204" pitchFamily="34" charset="0"/>
                  <a:buChar char="•"/>
                </a:pPr>
                <a:endParaRPr lang="zh-CN" altLang="en-US" dirty="0">
                  <a:latin typeface="Arial" panose="020B0604020202020204" pitchFamily="34" charset="0"/>
                  <a:ea typeface="宋体" panose="02010600030101010101" pitchFamily="2" charset="-122"/>
                </a:endParaRPr>
              </a:p>
            </p:txBody>
          </p:sp>
          <p:sp>
            <p:nvSpPr>
              <p:cNvPr id="47112" name="Rectangle 11"/>
              <p:cNvSpPr/>
              <p:nvPr/>
            </p:nvSpPr>
            <p:spPr>
              <a:xfrm>
                <a:off x="18" y="125"/>
                <a:ext cx="411" cy="183"/>
              </a:xfrm>
              <a:prstGeom prst="rect">
                <a:avLst/>
              </a:prstGeom>
              <a:noFill/>
              <a:ln w="9525" cap="flat" cmpd="sng">
                <a:solidFill>
                  <a:srgbClr val="000000"/>
                </a:solidFill>
                <a:prstDash val="solid"/>
                <a:miter/>
                <a:headEnd type="none" w="med" len="med"/>
                <a:tailEnd type="none" w="med" len="med"/>
              </a:ln>
              <a:effectLst>
                <a:prstShdw prst="shdw17" dist="17961" dir="2699999">
                  <a:srgbClr val="000000"/>
                </a:prstShdw>
              </a:effectLst>
            </p:spPr>
            <p:txBody>
              <a:bodyPr lIns="18000" rIns="18000" anchor="ctr" anchorCtr="0">
                <a:spAutoFit/>
              </a:bodyPr>
              <a:p>
                <a:pPr marL="262255" indent="-262255" algn="ctr"/>
                <a:r>
                  <a:rPr lang="zh-CN" altLang="en-US" sz="1200" dirty="0">
                    <a:latin typeface="Arial" panose="020B0604020202020204" pitchFamily="34" charset="0"/>
                    <a:ea typeface="宋体" panose="02010600030101010101" pitchFamily="2" charset="-122"/>
                  </a:rPr>
                  <a:t>上一个</a:t>
                </a:r>
                <a:endParaRPr lang="zh-CN" altLang="en-US" sz="1200" dirty="0">
                  <a:latin typeface="Arial" panose="020B0604020202020204" pitchFamily="34" charset="0"/>
                  <a:ea typeface="宋体" panose="02010600030101010101" pitchFamily="2" charset="-122"/>
                </a:endParaRPr>
              </a:p>
            </p:txBody>
          </p:sp>
          <p:sp>
            <p:nvSpPr>
              <p:cNvPr id="47113" name="Rectangle 12"/>
              <p:cNvSpPr/>
              <p:nvPr/>
            </p:nvSpPr>
            <p:spPr>
              <a:xfrm>
                <a:off x="434" y="125"/>
                <a:ext cx="411" cy="183"/>
              </a:xfrm>
              <a:prstGeom prst="rect">
                <a:avLst/>
              </a:prstGeom>
              <a:noFill/>
              <a:ln w="9525" cap="flat" cmpd="sng">
                <a:solidFill>
                  <a:srgbClr val="000000"/>
                </a:solidFill>
                <a:prstDash val="solid"/>
                <a:miter/>
                <a:headEnd type="none" w="med" len="med"/>
                <a:tailEnd type="none" w="med" len="med"/>
              </a:ln>
              <a:effectLst>
                <a:prstShdw prst="shdw17" dist="17961" dir="2699999">
                  <a:srgbClr val="000000"/>
                </a:prstShdw>
              </a:effectLst>
            </p:spPr>
            <p:txBody>
              <a:bodyPr lIns="18000" rIns="18000" anchor="ctr" anchorCtr="0">
                <a:spAutoFit/>
              </a:bodyPr>
              <a:p>
                <a:pPr marL="262255" indent="-262255" algn="ctr"/>
                <a:r>
                  <a:rPr lang="zh-CN" altLang="en-US" sz="1200" dirty="0">
                    <a:latin typeface="Arial" panose="020B0604020202020204" pitchFamily="34" charset="0"/>
                    <a:ea typeface="宋体" panose="02010600030101010101" pitchFamily="2" charset="-122"/>
                  </a:rPr>
                  <a:t>下一个</a:t>
                </a:r>
                <a:endParaRPr lang="zh-CN" altLang="en-US" sz="1200" dirty="0">
                  <a:latin typeface="Arial" panose="020B0604020202020204" pitchFamily="34" charset="0"/>
                  <a:ea typeface="宋体" panose="02010600030101010101" pitchFamily="2" charset="-122"/>
                </a:endParaRPr>
              </a:p>
            </p:txBody>
          </p:sp>
          <p:sp>
            <p:nvSpPr>
              <p:cNvPr id="47114" name="Line 13"/>
              <p:cNvSpPr/>
              <p:nvPr/>
            </p:nvSpPr>
            <p:spPr>
              <a:xfrm>
                <a:off x="48" y="336"/>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15" name="Line 14"/>
              <p:cNvSpPr/>
              <p:nvPr/>
            </p:nvSpPr>
            <p:spPr>
              <a:xfrm>
                <a:off x="64" y="368"/>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16" name="Line 15"/>
              <p:cNvSpPr/>
              <p:nvPr/>
            </p:nvSpPr>
            <p:spPr>
              <a:xfrm>
                <a:off x="56" y="416"/>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17" name="Rectangle 16"/>
              <p:cNvSpPr/>
              <p:nvPr/>
            </p:nvSpPr>
            <p:spPr>
              <a:xfrm>
                <a:off x="269" y="396"/>
                <a:ext cx="406" cy="174"/>
              </a:xfrm>
              <a:prstGeom prst="rect">
                <a:avLst/>
              </a:prstGeom>
              <a:noFill/>
              <a:ln w="9525">
                <a:noFill/>
              </a:ln>
              <a:effectLst>
                <a:prstShdw prst="shdw17" dist="17961" dir="2699999">
                  <a:srgbClr val="708688"/>
                </a:prstShdw>
              </a:effectLst>
            </p:spPr>
            <p:txBody>
              <a:bodyPr lIns="18000" rIns="18000" anchor="ctr" anchorCtr="0">
                <a:spAutoFit/>
              </a:bodyPr>
              <a:p>
                <a:pPr marL="262255" indent="-262255" algn="ctr"/>
                <a:r>
                  <a:rPr lang="zh-CN" altLang="en-US" sz="1200" dirty="0">
                    <a:latin typeface="Arial" panose="020B0604020202020204" pitchFamily="34" charset="0"/>
                    <a:ea typeface="宋体" panose="02010600030101010101" pitchFamily="2" charset="-122"/>
                  </a:rPr>
                  <a:t>索引行</a:t>
                </a:r>
                <a:endParaRPr lang="zh-CN" altLang="en-US" sz="1200" dirty="0">
                  <a:latin typeface="Arial" panose="020B0604020202020204" pitchFamily="34" charset="0"/>
                  <a:ea typeface="宋体" panose="02010600030101010101" pitchFamily="2" charset="-122"/>
                </a:endParaRPr>
              </a:p>
            </p:txBody>
          </p:sp>
          <p:sp>
            <p:nvSpPr>
              <p:cNvPr id="47118" name="Line 17"/>
              <p:cNvSpPr/>
              <p:nvPr/>
            </p:nvSpPr>
            <p:spPr>
              <a:xfrm>
                <a:off x="56" y="552"/>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19" name="Line 18"/>
              <p:cNvSpPr/>
              <p:nvPr/>
            </p:nvSpPr>
            <p:spPr>
              <a:xfrm>
                <a:off x="72" y="600"/>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20" name="Line 19"/>
              <p:cNvSpPr/>
              <p:nvPr/>
            </p:nvSpPr>
            <p:spPr>
              <a:xfrm>
                <a:off x="64" y="648"/>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21" name="Line 20"/>
              <p:cNvSpPr/>
              <p:nvPr/>
            </p:nvSpPr>
            <p:spPr>
              <a:xfrm>
                <a:off x="64" y="696"/>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22" name="Line 21"/>
              <p:cNvSpPr/>
              <p:nvPr/>
            </p:nvSpPr>
            <p:spPr>
              <a:xfrm>
                <a:off x="80" y="744"/>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23" name="Line 22"/>
              <p:cNvSpPr/>
              <p:nvPr/>
            </p:nvSpPr>
            <p:spPr>
              <a:xfrm>
                <a:off x="72" y="792"/>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grpSp>
        <p:grpSp>
          <p:nvGrpSpPr>
            <p:cNvPr id="47124" name="Group 23"/>
            <p:cNvGrpSpPr/>
            <p:nvPr/>
          </p:nvGrpSpPr>
          <p:grpSpPr>
            <a:xfrm>
              <a:off x="328" y="1448"/>
              <a:ext cx="784" cy="832"/>
              <a:chOff x="0" y="0"/>
              <a:chExt cx="848" cy="832"/>
            </a:xfrm>
          </p:grpSpPr>
          <p:sp>
            <p:nvSpPr>
              <p:cNvPr id="47125" name="AutoShape 24"/>
              <p:cNvSpPr/>
              <p:nvPr/>
            </p:nvSpPr>
            <p:spPr>
              <a:xfrm rot="10800000">
                <a:off x="0" y="0"/>
                <a:ext cx="848" cy="832"/>
              </a:xfrm>
              <a:prstGeom prst="foldedCorner">
                <a:avLst>
                  <a:gd name="adj" fmla="val 12500"/>
                </a:avLst>
              </a:prstGeom>
              <a:noFill/>
              <a:ln w="9525" cap="flat" cmpd="sng">
                <a:solidFill>
                  <a:srgbClr val="000000"/>
                </a:solidFill>
                <a:prstDash val="solid"/>
                <a:round/>
                <a:headEnd type="none" w="med" len="med"/>
                <a:tailEnd type="none" w="med" len="med"/>
              </a:ln>
              <a:effectLst>
                <a:prstShdw prst="shdw17" dist="17961" dir="2699999">
                  <a:srgbClr val="000000"/>
                </a:prstShdw>
              </a:effectLst>
            </p:spPr>
            <p:txBody>
              <a:bodyPr anchor="ctr" anchorCtr="0">
                <a:spAutoFit/>
              </a:bodyPr>
              <a:p>
                <a:pPr>
                  <a:lnSpc>
                    <a:spcPct val="135000"/>
                  </a:lnSpc>
                  <a:buFont typeface="Arial" panose="020B0604020202020204" pitchFamily="34" charset="0"/>
                  <a:buChar char="•"/>
                </a:pPr>
                <a:endParaRPr lang="zh-CN" altLang="en-US" dirty="0">
                  <a:latin typeface="Arial" panose="020B0604020202020204" pitchFamily="34" charset="0"/>
                  <a:ea typeface="宋体" panose="02010600030101010101" pitchFamily="2" charset="-122"/>
                </a:endParaRPr>
              </a:p>
            </p:txBody>
          </p:sp>
          <p:sp>
            <p:nvSpPr>
              <p:cNvPr id="47126" name="Rectangle 25"/>
              <p:cNvSpPr/>
              <p:nvPr/>
            </p:nvSpPr>
            <p:spPr>
              <a:xfrm>
                <a:off x="18" y="125"/>
                <a:ext cx="411" cy="184"/>
              </a:xfrm>
              <a:prstGeom prst="rect">
                <a:avLst/>
              </a:prstGeom>
              <a:noFill/>
              <a:ln w="9525" cap="flat" cmpd="sng">
                <a:solidFill>
                  <a:srgbClr val="000000"/>
                </a:solidFill>
                <a:prstDash val="solid"/>
                <a:miter/>
                <a:headEnd type="none" w="med" len="med"/>
                <a:tailEnd type="none" w="med" len="med"/>
              </a:ln>
              <a:effectLst>
                <a:prstShdw prst="shdw17" dist="17961" dir="2699999">
                  <a:srgbClr val="000000"/>
                </a:prstShdw>
              </a:effectLst>
            </p:spPr>
            <p:txBody>
              <a:bodyPr lIns="18000" rIns="18000" anchor="ctr" anchorCtr="0">
                <a:spAutoFit/>
              </a:bodyPr>
              <a:p>
                <a:pPr marL="262255" indent="-262255" algn="ctr"/>
                <a:r>
                  <a:rPr lang="zh-CN" altLang="en-US" sz="1200" dirty="0">
                    <a:latin typeface="Arial" panose="020B0604020202020204" pitchFamily="34" charset="0"/>
                    <a:ea typeface="宋体" panose="02010600030101010101" pitchFamily="2" charset="-122"/>
                  </a:rPr>
                  <a:t>上一个</a:t>
                </a:r>
                <a:endParaRPr lang="zh-CN" altLang="en-US" sz="1200" dirty="0">
                  <a:latin typeface="Arial" panose="020B0604020202020204" pitchFamily="34" charset="0"/>
                  <a:ea typeface="宋体" panose="02010600030101010101" pitchFamily="2" charset="-122"/>
                </a:endParaRPr>
              </a:p>
            </p:txBody>
          </p:sp>
          <p:sp>
            <p:nvSpPr>
              <p:cNvPr id="47127" name="Rectangle 26"/>
              <p:cNvSpPr/>
              <p:nvPr/>
            </p:nvSpPr>
            <p:spPr>
              <a:xfrm>
                <a:off x="434" y="125"/>
                <a:ext cx="411" cy="184"/>
              </a:xfrm>
              <a:prstGeom prst="rect">
                <a:avLst/>
              </a:prstGeom>
              <a:noFill/>
              <a:ln w="9525" cap="flat" cmpd="sng">
                <a:solidFill>
                  <a:srgbClr val="000000"/>
                </a:solidFill>
                <a:prstDash val="solid"/>
                <a:miter/>
                <a:headEnd type="none" w="med" len="med"/>
                <a:tailEnd type="none" w="med" len="med"/>
              </a:ln>
              <a:effectLst>
                <a:prstShdw prst="shdw17" dist="17961" dir="2699999">
                  <a:srgbClr val="000000"/>
                </a:prstShdw>
              </a:effectLst>
            </p:spPr>
            <p:txBody>
              <a:bodyPr lIns="18000" rIns="18000" anchor="ctr" anchorCtr="0">
                <a:spAutoFit/>
              </a:bodyPr>
              <a:p>
                <a:pPr marL="262255" indent="-262255" algn="ctr"/>
                <a:r>
                  <a:rPr lang="zh-CN" altLang="en-US" sz="1200" dirty="0">
                    <a:latin typeface="Arial" panose="020B0604020202020204" pitchFamily="34" charset="0"/>
                    <a:ea typeface="宋体" panose="02010600030101010101" pitchFamily="2" charset="-122"/>
                  </a:rPr>
                  <a:t>下一个</a:t>
                </a:r>
                <a:endParaRPr lang="zh-CN" altLang="en-US" sz="1200" dirty="0">
                  <a:latin typeface="Arial" panose="020B0604020202020204" pitchFamily="34" charset="0"/>
                  <a:ea typeface="宋体" panose="02010600030101010101" pitchFamily="2" charset="-122"/>
                </a:endParaRPr>
              </a:p>
            </p:txBody>
          </p:sp>
          <p:sp>
            <p:nvSpPr>
              <p:cNvPr id="47128" name="Line 27"/>
              <p:cNvSpPr/>
              <p:nvPr/>
            </p:nvSpPr>
            <p:spPr>
              <a:xfrm>
                <a:off x="48" y="336"/>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29" name="Line 28"/>
              <p:cNvSpPr/>
              <p:nvPr/>
            </p:nvSpPr>
            <p:spPr>
              <a:xfrm>
                <a:off x="64" y="368"/>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30" name="Line 29"/>
              <p:cNvSpPr/>
              <p:nvPr/>
            </p:nvSpPr>
            <p:spPr>
              <a:xfrm>
                <a:off x="56" y="416"/>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31" name="Rectangle 30"/>
              <p:cNvSpPr/>
              <p:nvPr/>
            </p:nvSpPr>
            <p:spPr>
              <a:xfrm>
                <a:off x="269" y="392"/>
                <a:ext cx="406" cy="177"/>
              </a:xfrm>
              <a:prstGeom prst="rect">
                <a:avLst/>
              </a:prstGeom>
              <a:noFill/>
              <a:ln w="9525">
                <a:noFill/>
              </a:ln>
              <a:effectLst>
                <a:prstShdw prst="shdw17" dist="17961" dir="2699999">
                  <a:srgbClr val="708688"/>
                </a:prstShdw>
              </a:effectLst>
            </p:spPr>
            <p:txBody>
              <a:bodyPr lIns="18000" rIns="18000" anchor="ctr" anchorCtr="0">
                <a:spAutoFit/>
              </a:bodyPr>
              <a:p>
                <a:pPr marL="262255" indent="-262255" algn="ctr"/>
                <a:r>
                  <a:rPr lang="zh-CN" altLang="en-US" sz="1200" dirty="0">
                    <a:latin typeface="Arial" panose="020B0604020202020204" pitchFamily="34" charset="0"/>
                    <a:ea typeface="宋体" panose="02010600030101010101" pitchFamily="2" charset="-122"/>
                  </a:rPr>
                  <a:t>索引行</a:t>
                </a:r>
                <a:endParaRPr lang="zh-CN" altLang="en-US" sz="1200" dirty="0">
                  <a:latin typeface="Arial" panose="020B0604020202020204" pitchFamily="34" charset="0"/>
                  <a:ea typeface="宋体" panose="02010600030101010101" pitchFamily="2" charset="-122"/>
                </a:endParaRPr>
              </a:p>
            </p:txBody>
          </p:sp>
          <p:sp>
            <p:nvSpPr>
              <p:cNvPr id="47132" name="Line 31"/>
              <p:cNvSpPr/>
              <p:nvPr/>
            </p:nvSpPr>
            <p:spPr>
              <a:xfrm>
                <a:off x="56" y="552"/>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33" name="Line 32"/>
              <p:cNvSpPr/>
              <p:nvPr/>
            </p:nvSpPr>
            <p:spPr>
              <a:xfrm>
                <a:off x="72" y="600"/>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34" name="Line 33"/>
              <p:cNvSpPr/>
              <p:nvPr/>
            </p:nvSpPr>
            <p:spPr>
              <a:xfrm>
                <a:off x="64" y="648"/>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35" name="Line 34"/>
              <p:cNvSpPr/>
              <p:nvPr/>
            </p:nvSpPr>
            <p:spPr>
              <a:xfrm>
                <a:off x="64" y="696"/>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36" name="Line 35"/>
              <p:cNvSpPr/>
              <p:nvPr/>
            </p:nvSpPr>
            <p:spPr>
              <a:xfrm>
                <a:off x="80" y="744"/>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37" name="Line 36"/>
              <p:cNvSpPr/>
              <p:nvPr/>
            </p:nvSpPr>
            <p:spPr>
              <a:xfrm>
                <a:off x="72" y="792"/>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grpSp>
        <p:grpSp>
          <p:nvGrpSpPr>
            <p:cNvPr id="47138" name="Group 37"/>
            <p:cNvGrpSpPr/>
            <p:nvPr/>
          </p:nvGrpSpPr>
          <p:grpSpPr>
            <a:xfrm>
              <a:off x="1376" y="1448"/>
              <a:ext cx="784" cy="832"/>
              <a:chOff x="0" y="0"/>
              <a:chExt cx="848" cy="832"/>
            </a:xfrm>
          </p:grpSpPr>
          <p:sp>
            <p:nvSpPr>
              <p:cNvPr id="47139" name="AutoShape 38"/>
              <p:cNvSpPr/>
              <p:nvPr/>
            </p:nvSpPr>
            <p:spPr>
              <a:xfrm rot="10800000">
                <a:off x="0" y="0"/>
                <a:ext cx="848" cy="832"/>
              </a:xfrm>
              <a:prstGeom prst="foldedCorner">
                <a:avLst>
                  <a:gd name="adj" fmla="val 12500"/>
                </a:avLst>
              </a:prstGeom>
              <a:noFill/>
              <a:ln w="9525" cap="flat" cmpd="sng">
                <a:solidFill>
                  <a:srgbClr val="000000"/>
                </a:solidFill>
                <a:prstDash val="solid"/>
                <a:round/>
                <a:headEnd type="none" w="med" len="med"/>
                <a:tailEnd type="none" w="med" len="med"/>
              </a:ln>
              <a:effectLst>
                <a:prstShdw prst="shdw17" dist="17961" dir="2699999">
                  <a:srgbClr val="000000"/>
                </a:prstShdw>
              </a:effectLst>
            </p:spPr>
            <p:txBody>
              <a:bodyPr anchor="ctr" anchorCtr="0">
                <a:spAutoFit/>
              </a:bodyPr>
              <a:p>
                <a:pPr>
                  <a:lnSpc>
                    <a:spcPct val="135000"/>
                  </a:lnSpc>
                  <a:buFont typeface="Arial" panose="020B0604020202020204" pitchFamily="34" charset="0"/>
                  <a:buChar char="•"/>
                </a:pPr>
                <a:endParaRPr lang="zh-CN" altLang="en-US" dirty="0">
                  <a:latin typeface="Arial" panose="020B0604020202020204" pitchFamily="34" charset="0"/>
                  <a:ea typeface="宋体" panose="02010600030101010101" pitchFamily="2" charset="-122"/>
                </a:endParaRPr>
              </a:p>
            </p:txBody>
          </p:sp>
          <p:sp>
            <p:nvSpPr>
              <p:cNvPr id="47140" name="Rectangle 39"/>
              <p:cNvSpPr/>
              <p:nvPr/>
            </p:nvSpPr>
            <p:spPr>
              <a:xfrm>
                <a:off x="18" y="125"/>
                <a:ext cx="411" cy="184"/>
              </a:xfrm>
              <a:prstGeom prst="rect">
                <a:avLst/>
              </a:prstGeom>
              <a:noFill/>
              <a:ln w="9525" cap="flat" cmpd="sng">
                <a:solidFill>
                  <a:srgbClr val="000000"/>
                </a:solidFill>
                <a:prstDash val="solid"/>
                <a:miter/>
                <a:headEnd type="none" w="med" len="med"/>
                <a:tailEnd type="none" w="med" len="med"/>
              </a:ln>
              <a:effectLst>
                <a:prstShdw prst="shdw17" dist="17961" dir="2699999">
                  <a:srgbClr val="000000"/>
                </a:prstShdw>
              </a:effectLst>
            </p:spPr>
            <p:txBody>
              <a:bodyPr lIns="18000" rIns="18000" anchor="ctr" anchorCtr="0">
                <a:spAutoFit/>
              </a:bodyPr>
              <a:p>
                <a:pPr marL="262255" indent="-262255" algn="ctr"/>
                <a:r>
                  <a:rPr lang="zh-CN" altLang="en-US" sz="1200" dirty="0">
                    <a:latin typeface="Arial" panose="020B0604020202020204" pitchFamily="34" charset="0"/>
                    <a:ea typeface="宋体" panose="02010600030101010101" pitchFamily="2" charset="-122"/>
                  </a:rPr>
                  <a:t>上一个</a:t>
                </a:r>
                <a:endParaRPr lang="zh-CN" altLang="en-US" sz="1200" dirty="0">
                  <a:latin typeface="Arial" panose="020B0604020202020204" pitchFamily="34" charset="0"/>
                  <a:ea typeface="宋体" panose="02010600030101010101" pitchFamily="2" charset="-122"/>
                </a:endParaRPr>
              </a:p>
            </p:txBody>
          </p:sp>
          <p:sp>
            <p:nvSpPr>
              <p:cNvPr id="47141" name="Rectangle 40"/>
              <p:cNvSpPr/>
              <p:nvPr/>
            </p:nvSpPr>
            <p:spPr>
              <a:xfrm>
                <a:off x="434" y="125"/>
                <a:ext cx="411" cy="184"/>
              </a:xfrm>
              <a:prstGeom prst="rect">
                <a:avLst/>
              </a:prstGeom>
              <a:noFill/>
              <a:ln w="9525" cap="flat" cmpd="sng">
                <a:solidFill>
                  <a:srgbClr val="000000"/>
                </a:solidFill>
                <a:prstDash val="solid"/>
                <a:miter/>
                <a:headEnd type="none" w="med" len="med"/>
                <a:tailEnd type="none" w="med" len="med"/>
              </a:ln>
              <a:effectLst>
                <a:prstShdw prst="shdw17" dist="17961" dir="2699999">
                  <a:srgbClr val="000000"/>
                </a:prstShdw>
              </a:effectLst>
            </p:spPr>
            <p:txBody>
              <a:bodyPr lIns="18000" rIns="18000" anchor="ctr" anchorCtr="0">
                <a:spAutoFit/>
              </a:bodyPr>
              <a:p>
                <a:pPr marL="262255" indent="-262255" algn="ctr"/>
                <a:r>
                  <a:rPr lang="zh-CN" altLang="en-US" sz="1200" dirty="0">
                    <a:latin typeface="Arial" panose="020B0604020202020204" pitchFamily="34" charset="0"/>
                    <a:ea typeface="宋体" panose="02010600030101010101" pitchFamily="2" charset="-122"/>
                  </a:rPr>
                  <a:t>下一个</a:t>
                </a:r>
                <a:endParaRPr lang="zh-CN" altLang="en-US" sz="1200" dirty="0">
                  <a:latin typeface="Arial" panose="020B0604020202020204" pitchFamily="34" charset="0"/>
                  <a:ea typeface="宋体" panose="02010600030101010101" pitchFamily="2" charset="-122"/>
                </a:endParaRPr>
              </a:p>
            </p:txBody>
          </p:sp>
          <p:sp>
            <p:nvSpPr>
              <p:cNvPr id="47142" name="Line 41"/>
              <p:cNvSpPr/>
              <p:nvPr/>
            </p:nvSpPr>
            <p:spPr>
              <a:xfrm>
                <a:off x="48" y="336"/>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43" name="Line 42"/>
              <p:cNvSpPr/>
              <p:nvPr/>
            </p:nvSpPr>
            <p:spPr>
              <a:xfrm>
                <a:off x="64" y="368"/>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44" name="Line 43"/>
              <p:cNvSpPr/>
              <p:nvPr/>
            </p:nvSpPr>
            <p:spPr>
              <a:xfrm>
                <a:off x="56" y="416"/>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45" name="Rectangle 44"/>
              <p:cNvSpPr/>
              <p:nvPr/>
            </p:nvSpPr>
            <p:spPr>
              <a:xfrm>
                <a:off x="269" y="392"/>
                <a:ext cx="406" cy="177"/>
              </a:xfrm>
              <a:prstGeom prst="rect">
                <a:avLst/>
              </a:prstGeom>
              <a:noFill/>
              <a:ln w="9525">
                <a:noFill/>
              </a:ln>
              <a:effectLst>
                <a:prstShdw prst="shdw17" dist="17961" dir="2699999">
                  <a:srgbClr val="708688"/>
                </a:prstShdw>
              </a:effectLst>
            </p:spPr>
            <p:txBody>
              <a:bodyPr lIns="18000" rIns="18000" anchor="ctr" anchorCtr="0">
                <a:spAutoFit/>
              </a:bodyPr>
              <a:p>
                <a:pPr marL="262255" indent="-262255" algn="ctr"/>
                <a:r>
                  <a:rPr lang="zh-CN" altLang="en-US" sz="1200" dirty="0">
                    <a:latin typeface="Arial" panose="020B0604020202020204" pitchFamily="34" charset="0"/>
                    <a:ea typeface="宋体" panose="02010600030101010101" pitchFamily="2" charset="-122"/>
                  </a:rPr>
                  <a:t>索引行</a:t>
                </a:r>
                <a:endParaRPr lang="zh-CN" altLang="en-US" sz="1200" dirty="0">
                  <a:latin typeface="Arial" panose="020B0604020202020204" pitchFamily="34" charset="0"/>
                  <a:ea typeface="宋体" panose="02010600030101010101" pitchFamily="2" charset="-122"/>
                </a:endParaRPr>
              </a:p>
            </p:txBody>
          </p:sp>
          <p:sp>
            <p:nvSpPr>
              <p:cNvPr id="47146" name="Line 45"/>
              <p:cNvSpPr/>
              <p:nvPr/>
            </p:nvSpPr>
            <p:spPr>
              <a:xfrm>
                <a:off x="56" y="552"/>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47" name="Line 46"/>
              <p:cNvSpPr/>
              <p:nvPr/>
            </p:nvSpPr>
            <p:spPr>
              <a:xfrm>
                <a:off x="72" y="600"/>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48" name="Line 47"/>
              <p:cNvSpPr/>
              <p:nvPr/>
            </p:nvSpPr>
            <p:spPr>
              <a:xfrm>
                <a:off x="64" y="648"/>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49" name="Line 48"/>
              <p:cNvSpPr/>
              <p:nvPr/>
            </p:nvSpPr>
            <p:spPr>
              <a:xfrm>
                <a:off x="64" y="696"/>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50" name="Line 49"/>
              <p:cNvSpPr/>
              <p:nvPr/>
            </p:nvSpPr>
            <p:spPr>
              <a:xfrm>
                <a:off x="80" y="744"/>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51" name="Line 50"/>
              <p:cNvSpPr/>
              <p:nvPr/>
            </p:nvSpPr>
            <p:spPr>
              <a:xfrm>
                <a:off x="72" y="792"/>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grpSp>
        <p:grpSp>
          <p:nvGrpSpPr>
            <p:cNvPr id="47152" name="Group 51"/>
            <p:cNvGrpSpPr/>
            <p:nvPr/>
          </p:nvGrpSpPr>
          <p:grpSpPr>
            <a:xfrm>
              <a:off x="2424" y="1440"/>
              <a:ext cx="784" cy="832"/>
              <a:chOff x="0" y="0"/>
              <a:chExt cx="848" cy="832"/>
            </a:xfrm>
          </p:grpSpPr>
          <p:sp>
            <p:nvSpPr>
              <p:cNvPr id="47153" name="AutoShape 52"/>
              <p:cNvSpPr/>
              <p:nvPr/>
            </p:nvSpPr>
            <p:spPr>
              <a:xfrm rot="10800000">
                <a:off x="0" y="0"/>
                <a:ext cx="848" cy="832"/>
              </a:xfrm>
              <a:prstGeom prst="foldedCorner">
                <a:avLst>
                  <a:gd name="adj" fmla="val 12500"/>
                </a:avLst>
              </a:prstGeom>
              <a:noFill/>
              <a:ln w="9525" cap="flat" cmpd="sng">
                <a:solidFill>
                  <a:srgbClr val="000000"/>
                </a:solidFill>
                <a:prstDash val="solid"/>
                <a:round/>
                <a:headEnd type="none" w="med" len="med"/>
                <a:tailEnd type="none" w="med" len="med"/>
              </a:ln>
              <a:effectLst>
                <a:prstShdw prst="shdw17" dist="17961" dir="2699999">
                  <a:srgbClr val="000000"/>
                </a:prstShdw>
              </a:effectLst>
            </p:spPr>
            <p:txBody>
              <a:bodyPr anchor="ctr" anchorCtr="0">
                <a:spAutoFit/>
              </a:bodyPr>
              <a:p>
                <a:pPr>
                  <a:lnSpc>
                    <a:spcPct val="135000"/>
                  </a:lnSpc>
                  <a:buFont typeface="Arial" panose="020B0604020202020204" pitchFamily="34" charset="0"/>
                  <a:buChar char="•"/>
                </a:pPr>
                <a:endParaRPr lang="zh-CN" altLang="en-US" dirty="0">
                  <a:latin typeface="Arial" panose="020B0604020202020204" pitchFamily="34" charset="0"/>
                  <a:ea typeface="宋体" panose="02010600030101010101" pitchFamily="2" charset="-122"/>
                </a:endParaRPr>
              </a:p>
            </p:txBody>
          </p:sp>
          <p:sp>
            <p:nvSpPr>
              <p:cNvPr id="47154" name="Rectangle 53"/>
              <p:cNvSpPr/>
              <p:nvPr/>
            </p:nvSpPr>
            <p:spPr>
              <a:xfrm>
                <a:off x="18" y="125"/>
                <a:ext cx="411" cy="184"/>
              </a:xfrm>
              <a:prstGeom prst="rect">
                <a:avLst/>
              </a:prstGeom>
              <a:noFill/>
              <a:ln w="9525" cap="flat" cmpd="sng">
                <a:solidFill>
                  <a:srgbClr val="000000"/>
                </a:solidFill>
                <a:prstDash val="solid"/>
                <a:miter/>
                <a:headEnd type="none" w="med" len="med"/>
                <a:tailEnd type="none" w="med" len="med"/>
              </a:ln>
              <a:effectLst>
                <a:prstShdw prst="shdw17" dist="17961" dir="2699999">
                  <a:srgbClr val="000000"/>
                </a:prstShdw>
              </a:effectLst>
            </p:spPr>
            <p:txBody>
              <a:bodyPr lIns="18000" rIns="18000" anchor="ctr" anchorCtr="0">
                <a:spAutoFit/>
              </a:bodyPr>
              <a:p>
                <a:pPr marL="262255" indent="-262255" algn="ctr"/>
                <a:r>
                  <a:rPr lang="zh-CN" altLang="en-US" sz="1200" dirty="0">
                    <a:latin typeface="Arial" panose="020B0604020202020204" pitchFamily="34" charset="0"/>
                    <a:ea typeface="宋体" panose="02010600030101010101" pitchFamily="2" charset="-122"/>
                  </a:rPr>
                  <a:t>上一个</a:t>
                </a:r>
                <a:endParaRPr lang="zh-CN" altLang="en-US" sz="1200" dirty="0">
                  <a:latin typeface="Arial" panose="020B0604020202020204" pitchFamily="34" charset="0"/>
                  <a:ea typeface="宋体" panose="02010600030101010101" pitchFamily="2" charset="-122"/>
                </a:endParaRPr>
              </a:p>
            </p:txBody>
          </p:sp>
          <p:sp>
            <p:nvSpPr>
              <p:cNvPr id="47155" name="Rectangle 54"/>
              <p:cNvSpPr/>
              <p:nvPr/>
            </p:nvSpPr>
            <p:spPr>
              <a:xfrm>
                <a:off x="434" y="125"/>
                <a:ext cx="411" cy="184"/>
              </a:xfrm>
              <a:prstGeom prst="rect">
                <a:avLst/>
              </a:prstGeom>
              <a:noFill/>
              <a:ln w="9525" cap="flat" cmpd="sng">
                <a:solidFill>
                  <a:srgbClr val="000000"/>
                </a:solidFill>
                <a:prstDash val="solid"/>
                <a:miter/>
                <a:headEnd type="none" w="med" len="med"/>
                <a:tailEnd type="none" w="med" len="med"/>
              </a:ln>
              <a:effectLst>
                <a:prstShdw prst="shdw17" dist="17961" dir="2699999">
                  <a:srgbClr val="000000"/>
                </a:prstShdw>
              </a:effectLst>
            </p:spPr>
            <p:txBody>
              <a:bodyPr lIns="18000" rIns="18000" anchor="ctr" anchorCtr="0">
                <a:spAutoFit/>
              </a:bodyPr>
              <a:p>
                <a:pPr marL="262255" indent="-262255" algn="ctr"/>
                <a:r>
                  <a:rPr lang="zh-CN" altLang="en-US" sz="1200" dirty="0">
                    <a:latin typeface="Arial" panose="020B0604020202020204" pitchFamily="34" charset="0"/>
                    <a:ea typeface="宋体" panose="02010600030101010101" pitchFamily="2" charset="-122"/>
                  </a:rPr>
                  <a:t>下一个</a:t>
                </a:r>
                <a:endParaRPr lang="zh-CN" altLang="en-US" sz="1200" dirty="0">
                  <a:latin typeface="Arial" panose="020B0604020202020204" pitchFamily="34" charset="0"/>
                  <a:ea typeface="宋体" panose="02010600030101010101" pitchFamily="2" charset="-122"/>
                </a:endParaRPr>
              </a:p>
            </p:txBody>
          </p:sp>
          <p:sp>
            <p:nvSpPr>
              <p:cNvPr id="47156" name="Line 55"/>
              <p:cNvSpPr/>
              <p:nvPr/>
            </p:nvSpPr>
            <p:spPr>
              <a:xfrm>
                <a:off x="48" y="336"/>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57" name="Line 56"/>
              <p:cNvSpPr/>
              <p:nvPr/>
            </p:nvSpPr>
            <p:spPr>
              <a:xfrm>
                <a:off x="64" y="368"/>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58" name="Line 57"/>
              <p:cNvSpPr/>
              <p:nvPr/>
            </p:nvSpPr>
            <p:spPr>
              <a:xfrm>
                <a:off x="56" y="416"/>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59" name="Rectangle 58"/>
              <p:cNvSpPr/>
              <p:nvPr/>
            </p:nvSpPr>
            <p:spPr>
              <a:xfrm>
                <a:off x="269" y="392"/>
                <a:ext cx="406" cy="177"/>
              </a:xfrm>
              <a:prstGeom prst="rect">
                <a:avLst/>
              </a:prstGeom>
              <a:noFill/>
              <a:ln w="9525">
                <a:noFill/>
              </a:ln>
              <a:effectLst>
                <a:prstShdw prst="shdw17" dist="17961" dir="2699999">
                  <a:srgbClr val="708688"/>
                </a:prstShdw>
              </a:effectLst>
            </p:spPr>
            <p:txBody>
              <a:bodyPr lIns="18000" rIns="18000" anchor="ctr" anchorCtr="0">
                <a:spAutoFit/>
              </a:bodyPr>
              <a:p>
                <a:pPr marL="262255" indent="-262255" algn="ctr"/>
                <a:r>
                  <a:rPr lang="zh-CN" altLang="en-US" sz="1200" dirty="0">
                    <a:latin typeface="Arial" panose="020B0604020202020204" pitchFamily="34" charset="0"/>
                    <a:ea typeface="宋体" panose="02010600030101010101" pitchFamily="2" charset="-122"/>
                  </a:rPr>
                  <a:t>索引行</a:t>
                </a:r>
                <a:endParaRPr lang="zh-CN" altLang="en-US" sz="1200" dirty="0">
                  <a:latin typeface="Arial" panose="020B0604020202020204" pitchFamily="34" charset="0"/>
                  <a:ea typeface="宋体" panose="02010600030101010101" pitchFamily="2" charset="-122"/>
                </a:endParaRPr>
              </a:p>
            </p:txBody>
          </p:sp>
          <p:sp>
            <p:nvSpPr>
              <p:cNvPr id="47160" name="Line 59"/>
              <p:cNvSpPr/>
              <p:nvPr/>
            </p:nvSpPr>
            <p:spPr>
              <a:xfrm>
                <a:off x="56" y="552"/>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61" name="Line 60"/>
              <p:cNvSpPr/>
              <p:nvPr/>
            </p:nvSpPr>
            <p:spPr>
              <a:xfrm>
                <a:off x="72" y="600"/>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62" name="Line 61"/>
              <p:cNvSpPr/>
              <p:nvPr/>
            </p:nvSpPr>
            <p:spPr>
              <a:xfrm>
                <a:off x="64" y="648"/>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63" name="Line 62"/>
              <p:cNvSpPr/>
              <p:nvPr/>
            </p:nvSpPr>
            <p:spPr>
              <a:xfrm>
                <a:off x="64" y="696"/>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64" name="Line 63"/>
              <p:cNvSpPr/>
              <p:nvPr/>
            </p:nvSpPr>
            <p:spPr>
              <a:xfrm>
                <a:off x="80" y="744"/>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65" name="Line 64"/>
              <p:cNvSpPr/>
              <p:nvPr/>
            </p:nvSpPr>
            <p:spPr>
              <a:xfrm>
                <a:off x="72" y="792"/>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grpSp>
        <p:grpSp>
          <p:nvGrpSpPr>
            <p:cNvPr id="47166" name="Group 65"/>
            <p:cNvGrpSpPr/>
            <p:nvPr/>
          </p:nvGrpSpPr>
          <p:grpSpPr>
            <a:xfrm>
              <a:off x="296" y="2640"/>
              <a:ext cx="784" cy="832"/>
              <a:chOff x="0" y="0"/>
              <a:chExt cx="848" cy="832"/>
            </a:xfrm>
          </p:grpSpPr>
          <p:sp>
            <p:nvSpPr>
              <p:cNvPr id="47167" name="AutoShape 66"/>
              <p:cNvSpPr/>
              <p:nvPr/>
            </p:nvSpPr>
            <p:spPr>
              <a:xfrm rot="10800000">
                <a:off x="0" y="0"/>
                <a:ext cx="848" cy="832"/>
              </a:xfrm>
              <a:prstGeom prst="foldedCorner">
                <a:avLst>
                  <a:gd name="adj" fmla="val 12500"/>
                </a:avLst>
              </a:prstGeom>
              <a:noFill/>
              <a:ln w="9525" cap="flat" cmpd="sng">
                <a:solidFill>
                  <a:srgbClr val="000000"/>
                </a:solidFill>
                <a:prstDash val="solid"/>
                <a:round/>
                <a:headEnd type="none" w="med" len="med"/>
                <a:tailEnd type="none" w="med" len="med"/>
              </a:ln>
              <a:effectLst>
                <a:prstShdw prst="shdw17" dist="17961" dir="2699999">
                  <a:srgbClr val="000000"/>
                </a:prstShdw>
              </a:effectLst>
            </p:spPr>
            <p:txBody>
              <a:bodyPr anchor="ctr" anchorCtr="0">
                <a:spAutoFit/>
              </a:bodyPr>
              <a:p>
                <a:pPr>
                  <a:lnSpc>
                    <a:spcPct val="135000"/>
                  </a:lnSpc>
                  <a:buFont typeface="Arial" panose="020B0604020202020204" pitchFamily="34" charset="0"/>
                  <a:buChar char="•"/>
                </a:pPr>
                <a:endParaRPr lang="zh-CN" altLang="en-US" dirty="0">
                  <a:latin typeface="Arial" panose="020B0604020202020204" pitchFamily="34" charset="0"/>
                  <a:ea typeface="宋体" panose="02010600030101010101" pitchFamily="2" charset="-122"/>
                </a:endParaRPr>
              </a:p>
            </p:txBody>
          </p:sp>
          <p:sp>
            <p:nvSpPr>
              <p:cNvPr id="47168" name="Rectangle 67"/>
              <p:cNvSpPr/>
              <p:nvPr/>
            </p:nvSpPr>
            <p:spPr>
              <a:xfrm>
                <a:off x="18" y="125"/>
                <a:ext cx="411" cy="183"/>
              </a:xfrm>
              <a:prstGeom prst="rect">
                <a:avLst/>
              </a:prstGeom>
              <a:noFill/>
              <a:ln w="9525" cap="flat" cmpd="sng">
                <a:solidFill>
                  <a:srgbClr val="000000"/>
                </a:solidFill>
                <a:prstDash val="solid"/>
                <a:miter/>
                <a:headEnd type="none" w="med" len="med"/>
                <a:tailEnd type="none" w="med" len="med"/>
              </a:ln>
              <a:effectLst>
                <a:prstShdw prst="shdw17" dist="17961" dir="2699999">
                  <a:srgbClr val="000000"/>
                </a:prstShdw>
              </a:effectLst>
            </p:spPr>
            <p:txBody>
              <a:bodyPr lIns="18000" rIns="18000" anchor="ctr" anchorCtr="0">
                <a:spAutoFit/>
              </a:bodyPr>
              <a:p>
                <a:pPr marL="262255" indent="-262255" algn="ctr"/>
                <a:r>
                  <a:rPr lang="zh-CN" altLang="en-US" sz="1200" dirty="0">
                    <a:latin typeface="Arial" panose="020B0604020202020204" pitchFamily="34" charset="0"/>
                    <a:ea typeface="宋体" panose="02010600030101010101" pitchFamily="2" charset="-122"/>
                  </a:rPr>
                  <a:t>上一个</a:t>
                </a:r>
                <a:endParaRPr lang="zh-CN" altLang="en-US" sz="1200" dirty="0">
                  <a:latin typeface="Arial" panose="020B0604020202020204" pitchFamily="34" charset="0"/>
                  <a:ea typeface="宋体" panose="02010600030101010101" pitchFamily="2" charset="-122"/>
                </a:endParaRPr>
              </a:p>
            </p:txBody>
          </p:sp>
          <p:sp>
            <p:nvSpPr>
              <p:cNvPr id="47169" name="Rectangle 68"/>
              <p:cNvSpPr/>
              <p:nvPr/>
            </p:nvSpPr>
            <p:spPr>
              <a:xfrm>
                <a:off x="434" y="125"/>
                <a:ext cx="411" cy="183"/>
              </a:xfrm>
              <a:prstGeom prst="rect">
                <a:avLst/>
              </a:prstGeom>
              <a:noFill/>
              <a:ln w="9525" cap="flat" cmpd="sng">
                <a:solidFill>
                  <a:srgbClr val="000000"/>
                </a:solidFill>
                <a:prstDash val="solid"/>
                <a:miter/>
                <a:headEnd type="none" w="med" len="med"/>
                <a:tailEnd type="none" w="med" len="med"/>
              </a:ln>
              <a:effectLst>
                <a:prstShdw prst="shdw17" dist="17961" dir="2699999">
                  <a:srgbClr val="000000"/>
                </a:prstShdw>
              </a:effectLst>
            </p:spPr>
            <p:txBody>
              <a:bodyPr lIns="18000" rIns="18000" anchor="ctr" anchorCtr="0">
                <a:spAutoFit/>
              </a:bodyPr>
              <a:p>
                <a:pPr marL="262255" indent="-262255" algn="ctr"/>
                <a:r>
                  <a:rPr lang="zh-CN" altLang="en-US" sz="1200" dirty="0">
                    <a:latin typeface="Arial" panose="020B0604020202020204" pitchFamily="34" charset="0"/>
                    <a:ea typeface="宋体" panose="02010600030101010101" pitchFamily="2" charset="-122"/>
                  </a:rPr>
                  <a:t>下一个</a:t>
                </a:r>
                <a:endParaRPr lang="zh-CN" altLang="en-US" sz="1200" dirty="0">
                  <a:latin typeface="Arial" panose="020B0604020202020204" pitchFamily="34" charset="0"/>
                  <a:ea typeface="宋体" panose="02010600030101010101" pitchFamily="2" charset="-122"/>
                </a:endParaRPr>
              </a:p>
            </p:txBody>
          </p:sp>
          <p:sp>
            <p:nvSpPr>
              <p:cNvPr id="47170" name="Line 69"/>
              <p:cNvSpPr/>
              <p:nvPr/>
            </p:nvSpPr>
            <p:spPr>
              <a:xfrm>
                <a:off x="48" y="336"/>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71" name="Line 70"/>
              <p:cNvSpPr/>
              <p:nvPr/>
            </p:nvSpPr>
            <p:spPr>
              <a:xfrm>
                <a:off x="64" y="368"/>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72" name="Line 71"/>
              <p:cNvSpPr/>
              <p:nvPr/>
            </p:nvSpPr>
            <p:spPr>
              <a:xfrm>
                <a:off x="56" y="416"/>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73" name="Rectangle 72"/>
              <p:cNvSpPr/>
              <p:nvPr/>
            </p:nvSpPr>
            <p:spPr>
              <a:xfrm>
                <a:off x="269" y="392"/>
                <a:ext cx="406" cy="169"/>
              </a:xfrm>
              <a:prstGeom prst="rect">
                <a:avLst/>
              </a:prstGeom>
              <a:noFill/>
              <a:ln w="9525">
                <a:noFill/>
              </a:ln>
              <a:effectLst>
                <a:prstShdw prst="shdw17" dist="17961" dir="2699999">
                  <a:srgbClr val="708688"/>
                </a:prstShdw>
              </a:effectLst>
            </p:spPr>
            <p:txBody>
              <a:bodyPr lIns="18000" rIns="18000" anchor="ctr" anchorCtr="0">
                <a:spAutoFit/>
              </a:bodyPr>
              <a:p>
                <a:pPr marL="262255" indent="-262255" algn="ctr"/>
                <a:r>
                  <a:rPr lang="zh-CN" altLang="en-US" sz="1200" dirty="0">
                    <a:latin typeface="Arial" panose="020B0604020202020204" pitchFamily="34" charset="0"/>
                    <a:ea typeface="宋体" panose="02010600030101010101" pitchFamily="2" charset="-122"/>
                  </a:rPr>
                  <a:t>数据行</a:t>
                </a:r>
                <a:endParaRPr lang="zh-CN" altLang="en-US" sz="1200" dirty="0">
                  <a:latin typeface="Arial" panose="020B0604020202020204" pitchFamily="34" charset="0"/>
                  <a:ea typeface="宋体" panose="02010600030101010101" pitchFamily="2" charset="-122"/>
                </a:endParaRPr>
              </a:p>
            </p:txBody>
          </p:sp>
          <p:sp>
            <p:nvSpPr>
              <p:cNvPr id="47174" name="Line 73"/>
              <p:cNvSpPr/>
              <p:nvPr/>
            </p:nvSpPr>
            <p:spPr>
              <a:xfrm>
                <a:off x="56" y="552"/>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75" name="Line 74"/>
              <p:cNvSpPr/>
              <p:nvPr/>
            </p:nvSpPr>
            <p:spPr>
              <a:xfrm>
                <a:off x="72" y="600"/>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76" name="Line 75"/>
              <p:cNvSpPr/>
              <p:nvPr/>
            </p:nvSpPr>
            <p:spPr>
              <a:xfrm>
                <a:off x="64" y="648"/>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77" name="Line 76"/>
              <p:cNvSpPr/>
              <p:nvPr/>
            </p:nvSpPr>
            <p:spPr>
              <a:xfrm>
                <a:off x="64" y="696"/>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78" name="Line 77"/>
              <p:cNvSpPr/>
              <p:nvPr/>
            </p:nvSpPr>
            <p:spPr>
              <a:xfrm>
                <a:off x="80" y="744"/>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79" name="Line 78"/>
              <p:cNvSpPr/>
              <p:nvPr/>
            </p:nvSpPr>
            <p:spPr>
              <a:xfrm>
                <a:off x="72" y="792"/>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grpSp>
        <p:grpSp>
          <p:nvGrpSpPr>
            <p:cNvPr id="47180" name="Group 79"/>
            <p:cNvGrpSpPr/>
            <p:nvPr/>
          </p:nvGrpSpPr>
          <p:grpSpPr>
            <a:xfrm>
              <a:off x="1344" y="2640"/>
              <a:ext cx="784" cy="832"/>
              <a:chOff x="0" y="0"/>
              <a:chExt cx="848" cy="832"/>
            </a:xfrm>
          </p:grpSpPr>
          <p:sp>
            <p:nvSpPr>
              <p:cNvPr id="47181" name="AutoShape 80"/>
              <p:cNvSpPr/>
              <p:nvPr/>
            </p:nvSpPr>
            <p:spPr>
              <a:xfrm rot="10800000">
                <a:off x="0" y="0"/>
                <a:ext cx="848" cy="832"/>
              </a:xfrm>
              <a:prstGeom prst="foldedCorner">
                <a:avLst>
                  <a:gd name="adj" fmla="val 12500"/>
                </a:avLst>
              </a:prstGeom>
              <a:noFill/>
              <a:ln w="9525" cap="flat" cmpd="sng">
                <a:solidFill>
                  <a:srgbClr val="000000"/>
                </a:solidFill>
                <a:prstDash val="solid"/>
                <a:round/>
                <a:headEnd type="none" w="med" len="med"/>
                <a:tailEnd type="none" w="med" len="med"/>
              </a:ln>
              <a:effectLst>
                <a:prstShdw prst="shdw17" dist="17961" dir="2699999">
                  <a:srgbClr val="000000"/>
                </a:prstShdw>
              </a:effectLst>
            </p:spPr>
            <p:txBody>
              <a:bodyPr anchor="ctr" anchorCtr="0">
                <a:spAutoFit/>
              </a:bodyPr>
              <a:p>
                <a:pPr>
                  <a:lnSpc>
                    <a:spcPct val="135000"/>
                  </a:lnSpc>
                  <a:buFont typeface="Arial" panose="020B0604020202020204" pitchFamily="34" charset="0"/>
                  <a:buChar char="•"/>
                </a:pPr>
                <a:endParaRPr lang="zh-CN" altLang="en-US" dirty="0">
                  <a:latin typeface="Arial" panose="020B0604020202020204" pitchFamily="34" charset="0"/>
                  <a:ea typeface="宋体" panose="02010600030101010101" pitchFamily="2" charset="-122"/>
                </a:endParaRPr>
              </a:p>
            </p:txBody>
          </p:sp>
          <p:sp>
            <p:nvSpPr>
              <p:cNvPr id="47182" name="Rectangle 81"/>
              <p:cNvSpPr/>
              <p:nvPr/>
            </p:nvSpPr>
            <p:spPr>
              <a:xfrm>
                <a:off x="18" y="125"/>
                <a:ext cx="411" cy="183"/>
              </a:xfrm>
              <a:prstGeom prst="rect">
                <a:avLst/>
              </a:prstGeom>
              <a:noFill/>
              <a:ln w="9525" cap="flat" cmpd="sng">
                <a:solidFill>
                  <a:srgbClr val="000000"/>
                </a:solidFill>
                <a:prstDash val="solid"/>
                <a:miter/>
                <a:headEnd type="none" w="med" len="med"/>
                <a:tailEnd type="none" w="med" len="med"/>
              </a:ln>
              <a:effectLst>
                <a:prstShdw prst="shdw17" dist="17961" dir="2699999">
                  <a:srgbClr val="000000"/>
                </a:prstShdw>
              </a:effectLst>
            </p:spPr>
            <p:txBody>
              <a:bodyPr lIns="18000" rIns="18000" anchor="ctr" anchorCtr="0">
                <a:spAutoFit/>
              </a:bodyPr>
              <a:p>
                <a:pPr marL="262255" indent="-262255" algn="ctr"/>
                <a:r>
                  <a:rPr lang="zh-CN" altLang="en-US" sz="1200" dirty="0">
                    <a:latin typeface="Arial" panose="020B0604020202020204" pitchFamily="34" charset="0"/>
                    <a:ea typeface="宋体" panose="02010600030101010101" pitchFamily="2" charset="-122"/>
                  </a:rPr>
                  <a:t>上一个</a:t>
                </a:r>
                <a:endParaRPr lang="zh-CN" altLang="en-US" sz="1200" dirty="0">
                  <a:latin typeface="Arial" panose="020B0604020202020204" pitchFamily="34" charset="0"/>
                  <a:ea typeface="宋体" panose="02010600030101010101" pitchFamily="2" charset="-122"/>
                </a:endParaRPr>
              </a:p>
            </p:txBody>
          </p:sp>
          <p:sp>
            <p:nvSpPr>
              <p:cNvPr id="47183" name="Rectangle 82"/>
              <p:cNvSpPr/>
              <p:nvPr/>
            </p:nvSpPr>
            <p:spPr>
              <a:xfrm>
                <a:off x="434" y="125"/>
                <a:ext cx="411" cy="183"/>
              </a:xfrm>
              <a:prstGeom prst="rect">
                <a:avLst/>
              </a:prstGeom>
              <a:noFill/>
              <a:ln w="9525" cap="flat" cmpd="sng">
                <a:solidFill>
                  <a:srgbClr val="000000"/>
                </a:solidFill>
                <a:prstDash val="solid"/>
                <a:miter/>
                <a:headEnd type="none" w="med" len="med"/>
                <a:tailEnd type="none" w="med" len="med"/>
              </a:ln>
              <a:effectLst>
                <a:prstShdw prst="shdw17" dist="17961" dir="2699999">
                  <a:srgbClr val="000000"/>
                </a:prstShdw>
              </a:effectLst>
            </p:spPr>
            <p:txBody>
              <a:bodyPr lIns="18000" rIns="18000" anchor="ctr" anchorCtr="0">
                <a:spAutoFit/>
              </a:bodyPr>
              <a:p>
                <a:pPr marL="262255" indent="-262255" algn="ctr"/>
                <a:r>
                  <a:rPr lang="zh-CN" altLang="en-US" sz="1200" dirty="0">
                    <a:latin typeface="Arial" panose="020B0604020202020204" pitchFamily="34" charset="0"/>
                    <a:ea typeface="宋体" panose="02010600030101010101" pitchFamily="2" charset="-122"/>
                  </a:rPr>
                  <a:t>下一个</a:t>
                </a:r>
                <a:endParaRPr lang="zh-CN" altLang="en-US" sz="1200" dirty="0">
                  <a:latin typeface="Arial" panose="020B0604020202020204" pitchFamily="34" charset="0"/>
                  <a:ea typeface="宋体" panose="02010600030101010101" pitchFamily="2" charset="-122"/>
                </a:endParaRPr>
              </a:p>
            </p:txBody>
          </p:sp>
          <p:sp>
            <p:nvSpPr>
              <p:cNvPr id="47184" name="Line 83"/>
              <p:cNvSpPr/>
              <p:nvPr/>
            </p:nvSpPr>
            <p:spPr>
              <a:xfrm>
                <a:off x="48" y="336"/>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85" name="Line 84"/>
              <p:cNvSpPr/>
              <p:nvPr/>
            </p:nvSpPr>
            <p:spPr>
              <a:xfrm>
                <a:off x="64" y="368"/>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86" name="Line 85"/>
              <p:cNvSpPr/>
              <p:nvPr/>
            </p:nvSpPr>
            <p:spPr>
              <a:xfrm>
                <a:off x="56" y="416"/>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87" name="Rectangle 86"/>
              <p:cNvSpPr/>
              <p:nvPr/>
            </p:nvSpPr>
            <p:spPr>
              <a:xfrm>
                <a:off x="269" y="392"/>
                <a:ext cx="406" cy="169"/>
              </a:xfrm>
              <a:prstGeom prst="rect">
                <a:avLst/>
              </a:prstGeom>
              <a:noFill/>
              <a:ln w="9525">
                <a:noFill/>
              </a:ln>
              <a:effectLst>
                <a:prstShdw prst="shdw17" dist="17961" dir="2699999">
                  <a:srgbClr val="708688"/>
                </a:prstShdw>
              </a:effectLst>
            </p:spPr>
            <p:txBody>
              <a:bodyPr lIns="18000" rIns="18000" anchor="ctr" anchorCtr="0">
                <a:spAutoFit/>
              </a:bodyPr>
              <a:p>
                <a:pPr marL="262255" indent="-262255" algn="ctr"/>
                <a:r>
                  <a:rPr lang="zh-CN" altLang="en-US" sz="1200" dirty="0">
                    <a:latin typeface="Arial" panose="020B0604020202020204" pitchFamily="34" charset="0"/>
                    <a:ea typeface="宋体" panose="02010600030101010101" pitchFamily="2" charset="-122"/>
                  </a:rPr>
                  <a:t>数据行</a:t>
                </a:r>
                <a:endParaRPr lang="zh-CN" altLang="en-US" sz="1200" dirty="0">
                  <a:latin typeface="Arial" panose="020B0604020202020204" pitchFamily="34" charset="0"/>
                  <a:ea typeface="宋体" panose="02010600030101010101" pitchFamily="2" charset="-122"/>
                </a:endParaRPr>
              </a:p>
            </p:txBody>
          </p:sp>
          <p:sp>
            <p:nvSpPr>
              <p:cNvPr id="47188" name="Line 87"/>
              <p:cNvSpPr/>
              <p:nvPr/>
            </p:nvSpPr>
            <p:spPr>
              <a:xfrm>
                <a:off x="56" y="552"/>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89" name="Line 88"/>
              <p:cNvSpPr/>
              <p:nvPr/>
            </p:nvSpPr>
            <p:spPr>
              <a:xfrm>
                <a:off x="72" y="600"/>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90" name="Line 89"/>
              <p:cNvSpPr/>
              <p:nvPr/>
            </p:nvSpPr>
            <p:spPr>
              <a:xfrm>
                <a:off x="64" y="648"/>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91" name="Line 90"/>
              <p:cNvSpPr/>
              <p:nvPr/>
            </p:nvSpPr>
            <p:spPr>
              <a:xfrm>
                <a:off x="64" y="696"/>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92" name="Line 91"/>
              <p:cNvSpPr/>
              <p:nvPr/>
            </p:nvSpPr>
            <p:spPr>
              <a:xfrm>
                <a:off x="80" y="744"/>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93" name="Line 92"/>
              <p:cNvSpPr/>
              <p:nvPr/>
            </p:nvSpPr>
            <p:spPr>
              <a:xfrm>
                <a:off x="72" y="792"/>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grpSp>
        <p:grpSp>
          <p:nvGrpSpPr>
            <p:cNvPr id="47194" name="Group 93"/>
            <p:cNvGrpSpPr/>
            <p:nvPr/>
          </p:nvGrpSpPr>
          <p:grpSpPr>
            <a:xfrm>
              <a:off x="2392" y="2632"/>
              <a:ext cx="784" cy="832"/>
              <a:chOff x="0" y="0"/>
              <a:chExt cx="848" cy="832"/>
            </a:xfrm>
          </p:grpSpPr>
          <p:sp>
            <p:nvSpPr>
              <p:cNvPr id="47195" name="AutoShape 94"/>
              <p:cNvSpPr/>
              <p:nvPr/>
            </p:nvSpPr>
            <p:spPr>
              <a:xfrm rot="10800000">
                <a:off x="0" y="0"/>
                <a:ext cx="848" cy="832"/>
              </a:xfrm>
              <a:prstGeom prst="foldedCorner">
                <a:avLst>
                  <a:gd name="adj" fmla="val 12500"/>
                </a:avLst>
              </a:prstGeom>
              <a:noFill/>
              <a:ln w="9525" cap="flat" cmpd="sng">
                <a:solidFill>
                  <a:srgbClr val="000000"/>
                </a:solidFill>
                <a:prstDash val="solid"/>
                <a:round/>
                <a:headEnd type="none" w="med" len="med"/>
                <a:tailEnd type="none" w="med" len="med"/>
              </a:ln>
              <a:effectLst>
                <a:prstShdw prst="shdw17" dist="17961" dir="2699999">
                  <a:srgbClr val="000000"/>
                </a:prstShdw>
              </a:effectLst>
            </p:spPr>
            <p:txBody>
              <a:bodyPr anchor="ctr" anchorCtr="0">
                <a:spAutoFit/>
              </a:bodyPr>
              <a:p>
                <a:pPr>
                  <a:lnSpc>
                    <a:spcPct val="135000"/>
                  </a:lnSpc>
                  <a:buFont typeface="Arial" panose="020B0604020202020204" pitchFamily="34" charset="0"/>
                  <a:buChar char="•"/>
                </a:pPr>
                <a:endParaRPr lang="zh-CN" altLang="en-US" dirty="0">
                  <a:latin typeface="Arial" panose="020B0604020202020204" pitchFamily="34" charset="0"/>
                  <a:ea typeface="宋体" panose="02010600030101010101" pitchFamily="2" charset="-122"/>
                </a:endParaRPr>
              </a:p>
            </p:txBody>
          </p:sp>
          <p:sp>
            <p:nvSpPr>
              <p:cNvPr id="47196" name="Rectangle 95"/>
              <p:cNvSpPr/>
              <p:nvPr/>
            </p:nvSpPr>
            <p:spPr>
              <a:xfrm>
                <a:off x="18" y="125"/>
                <a:ext cx="411" cy="183"/>
              </a:xfrm>
              <a:prstGeom prst="rect">
                <a:avLst/>
              </a:prstGeom>
              <a:noFill/>
              <a:ln w="9525" cap="flat" cmpd="sng">
                <a:solidFill>
                  <a:srgbClr val="000000"/>
                </a:solidFill>
                <a:prstDash val="solid"/>
                <a:miter/>
                <a:headEnd type="none" w="med" len="med"/>
                <a:tailEnd type="none" w="med" len="med"/>
              </a:ln>
              <a:effectLst>
                <a:prstShdw prst="shdw17" dist="17961" dir="2699999">
                  <a:srgbClr val="000000"/>
                </a:prstShdw>
              </a:effectLst>
            </p:spPr>
            <p:txBody>
              <a:bodyPr lIns="18000" rIns="18000" anchor="ctr" anchorCtr="0">
                <a:spAutoFit/>
              </a:bodyPr>
              <a:p>
                <a:pPr marL="262255" indent="-262255" algn="ctr"/>
                <a:r>
                  <a:rPr lang="zh-CN" altLang="en-US" sz="1200" dirty="0">
                    <a:latin typeface="Arial" panose="020B0604020202020204" pitchFamily="34" charset="0"/>
                    <a:ea typeface="宋体" panose="02010600030101010101" pitchFamily="2" charset="-122"/>
                  </a:rPr>
                  <a:t>上一个</a:t>
                </a:r>
                <a:endParaRPr lang="zh-CN" altLang="en-US" sz="1200" dirty="0">
                  <a:latin typeface="Arial" panose="020B0604020202020204" pitchFamily="34" charset="0"/>
                  <a:ea typeface="宋体" panose="02010600030101010101" pitchFamily="2" charset="-122"/>
                </a:endParaRPr>
              </a:p>
            </p:txBody>
          </p:sp>
          <p:sp>
            <p:nvSpPr>
              <p:cNvPr id="47197" name="Rectangle 96"/>
              <p:cNvSpPr/>
              <p:nvPr/>
            </p:nvSpPr>
            <p:spPr>
              <a:xfrm>
                <a:off x="434" y="125"/>
                <a:ext cx="411" cy="183"/>
              </a:xfrm>
              <a:prstGeom prst="rect">
                <a:avLst/>
              </a:prstGeom>
              <a:noFill/>
              <a:ln w="9525" cap="flat" cmpd="sng">
                <a:solidFill>
                  <a:srgbClr val="000000"/>
                </a:solidFill>
                <a:prstDash val="solid"/>
                <a:miter/>
                <a:headEnd type="none" w="med" len="med"/>
                <a:tailEnd type="none" w="med" len="med"/>
              </a:ln>
              <a:effectLst>
                <a:prstShdw prst="shdw17" dist="17961" dir="2699999">
                  <a:srgbClr val="000000"/>
                </a:prstShdw>
              </a:effectLst>
            </p:spPr>
            <p:txBody>
              <a:bodyPr lIns="18000" rIns="18000" anchor="ctr" anchorCtr="0">
                <a:spAutoFit/>
              </a:bodyPr>
              <a:p>
                <a:pPr marL="262255" indent="-262255" algn="ctr"/>
                <a:r>
                  <a:rPr lang="zh-CN" altLang="en-US" sz="1200" dirty="0">
                    <a:latin typeface="Arial" panose="020B0604020202020204" pitchFamily="34" charset="0"/>
                    <a:ea typeface="宋体" panose="02010600030101010101" pitchFamily="2" charset="-122"/>
                  </a:rPr>
                  <a:t>下一个</a:t>
                </a:r>
                <a:endParaRPr lang="zh-CN" altLang="en-US" sz="1200" dirty="0">
                  <a:latin typeface="Arial" panose="020B0604020202020204" pitchFamily="34" charset="0"/>
                  <a:ea typeface="宋体" panose="02010600030101010101" pitchFamily="2" charset="-122"/>
                </a:endParaRPr>
              </a:p>
            </p:txBody>
          </p:sp>
          <p:sp>
            <p:nvSpPr>
              <p:cNvPr id="47198" name="Line 97"/>
              <p:cNvSpPr/>
              <p:nvPr/>
            </p:nvSpPr>
            <p:spPr>
              <a:xfrm>
                <a:off x="48" y="336"/>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99" name="Line 98"/>
              <p:cNvSpPr/>
              <p:nvPr/>
            </p:nvSpPr>
            <p:spPr>
              <a:xfrm>
                <a:off x="64" y="368"/>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200" name="Line 99"/>
              <p:cNvSpPr/>
              <p:nvPr/>
            </p:nvSpPr>
            <p:spPr>
              <a:xfrm>
                <a:off x="56" y="416"/>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201" name="Rectangle 100"/>
              <p:cNvSpPr/>
              <p:nvPr/>
            </p:nvSpPr>
            <p:spPr>
              <a:xfrm>
                <a:off x="269" y="392"/>
                <a:ext cx="406" cy="169"/>
              </a:xfrm>
              <a:prstGeom prst="rect">
                <a:avLst/>
              </a:prstGeom>
              <a:noFill/>
              <a:ln w="9525">
                <a:noFill/>
              </a:ln>
              <a:effectLst>
                <a:prstShdw prst="shdw17" dist="17961" dir="2699999">
                  <a:srgbClr val="708688"/>
                </a:prstShdw>
              </a:effectLst>
            </p:spPr>
            <p:txBody>
              <a:bodyPr lIns="18000" rIns="18000" anchor="ctr" anchorCtr="0">
                <a:spAutoFit/>
              </a:bodyPr>
              <a:p>
                <a:pPr marL="262255" indent="-262255" algn="ctr"/>
                <a:r>
                  <a:rPr lang="zh-CN" altLang="en-US" sz="1200" dirty="0">
                    <a:latin typeface="Arial" panose="020B0604020202020204" pitchFamily="34" charset="0"/>
                    <a:ea typeface="宋体" panose="02010600030101010101" pitchFamily="2" charset="-122"/>
                  </a:rPr>
                  <a:t>数据行</a:t>
                </a:r>
                <a:endParaRPr lang="zh-CN" altLang="en-US" sz="1200" dirty="0">
                  <a:latin typeface="Arial" panose="020B0604020202020204" pitchFamily="34" charset="0"/>
                  <a:ea typeface="宋体" panose="02010600030101010101" pitchFamily="2" charset="-122"/>
                </a:endParaRPr>
              </a:p>
            </p:txBody>
          </p:sp>
          <p:sp>
            <p:nvSpPr>
              <p:cNvPr id="47202" name="Line 101"/>
              <p:cNvSpPr/>
              <p:nvPr/>
            </p:nvSpPr>
            <p:spPr>
              <a:xfrm>
                <a:off x="56" y="552"/>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203" name="Line 102"/>
              <p:cNvSpPr/>
              <p:nvPr/>
            </p:nvSpPr>
            <p:spPr>
              <a:xfrm>
                <a:off x="72" y="600"/>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204" name="Line 103"/>
              <p:cNvSpPr/>
              <p:nvPr/>
            </p:nvSpPr>
            <p:spPr>
              <a:xfrm>
                <a:off x="64" y="648"/>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205" name="Line 104"/>
              <p:cNvSpPr/>
              <p:nvPr/>
            </p:nvSpPr>
            <p:spPr>
              <a:xfrm>
                <a:off x="64" y="696"/>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206" name="Line 105"/>
              <p:cNvSpPr/>
              <p:nvPr/>
            </p:nvSpPr>
            <p:spPr>
              <a:xfrm>
                <a:off x="80" y="744"/>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207" name="Line 106"/>
              <p:cNvSpPr/>
              <p:nvPr/>
            </p:nvSpPr>
            <p:spPr>
              <a:xfrm>
                <a:off x="72" y="792"/>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grpSp>
        <p:sp>
          <p:nvSpPr>
            <p:cNvPr id="47208" name="Rectangle 107"/>
            <p:cNvSpPr/>
            <p:nvPr/>
          </p:nvSpPr>
          <p:spPr>
            <a:xfrm>
              <a:off x="24" y="2568"/>
              <a:ext cx="3336" cy="968"/>
            </a:xfrm>
            <a:prstGeom prst="rect">
              <a:avLst/>
            </a:prstGeom>
            <a:noFill/>
            <a:ln w="25400" cap="flat" cmpd="sng">
              <a:solidFill>
                <a:srgbClr val="000000"/>
              </a:solidFill>
              <a:prstDash val="solid"/>
              <a:miter/>
              <a:headEnd type="none" w="med" len="med"/>
              <a:tailEnd type="none" w="med" len="med"/>
            </a:ln>
          </p:spPr>
          <p:txBody>
            <a:bodyPr anchor="ctr" anchorCtr="0">
              <a:spAutoFit/>
            </a:bodyPr>
            <a:p>
              <a:pPr>
                <a:lnSpc>
                  <a:spcPct val="135000"/>
                </a:lnSpc>
                <a:buFont typeface="Arial" panose="020B0604020202020204" pitchFamily="34" charset="0"/>
                <a:buChar char="•"/>
              </a:pPr>
              <a:endParaRPr lang="zh-CN" altLang="en-US" dirty="0">
                <a:latin typeface="Arial" panose="020B0604020202020204" pitchFamily="34" charset="0"/>
                <a:ea typeface="宋体" panose="02010600030101010101" pitchFamily="2" charset="-122"/>
              </a:endParaRPr>
            </a:p>
          </p:txBody>
        </p:sp>
        <p:sp>
          <p:nvSpPr>
            <p:cNvPr id="47209" name="Rectangle 108"/>
            <p:cNvSpPr/>
            <p:nvPr/>
          </p:nvSpPr>
          <p:spPr>
            <a:xfrm>
              <a:off x="16" y="1352"/>
              <a:ext cx="3336" cy="992"/>
            </a:xfrm>
            <a:prstGeom prst="rect">
              <a:avLst/>
            </a:prstGeom>
            <a:noFill/>
            <a:ln w="25400" cap="flat" cmpd="sng">
              <a:solidFill>
                <a:srgbClr val="000000"/>
              </a:solidFill>
              <a:prstDash val="solid"/>
              <a:miter/>
              <a:headEnd type="none" w="med" len="med"/>
              <a:tailEnd type="none" w="med" len="med"/>
            </a:ln>
          </p:spPr>
          <p:txBody>
            <a:bodyPr wrap="none" anchor="ctr" anchorCtr="0">
              <a:spAutoFit/>
            </a:bodyPr>
            <a:p>
              <a:pPr>
                <a:lnSpc>
                  <a:spcPct val="135000"/>
                </a:lnSpc>
                <a:buFont typeface="Arial" panose="020B0604020202020204" pitchFamily="34" charset="0"/>
                <a:buChar char="•"/>
              </a:pPr>
              <a:endParaRPr lang="zh-CN" altLang="en-US" dirty="0">
                <a:latin typeface="Arial" panose="020B0604020202020204" pitchFamily="34" charset="0"/>
                <a:ea typeface="宋体" panose="02010600030101010101" pitchFamily="2" charset="-122"/>
              </a:endParaRPr>
            </a:p>
          </p:txBody>
        </p:sp>
        <p:sp>
          <p:nvSpPr>
            <p:cNvPr id="47210" name="Rectangle 109"/>
            <p:cNvSpPr/>
            <p:nvPr/>
          </p:nvSpPr>
          <p:spPr>
            <a:xfrm>
              <a:off x="0" y="272"/>
              <a:ext cx="3320" cy="912"/>
            </a:xfrm>
            <a:prstGeom prst="rect">
              <a:avLst/>
            </a:prstGeom>
            <a:noFill/>
            <a:ln w="25400" cap="flat" cmpd="sng">
              <a:solidFill>
                <a:srgbClr val="000000"/>
              </a:solidFill>
              <a:prstDash val="solid"/>
              <a:miter/>
              <a:headEnd type="none" w="med" len="med"/>
              <a:tailEnd type="none" w="med" len="med"/>
            </a:ln>
          </p:spPr>
          <p:txBody>
            <a:bodyPr anchor="ctr" anchorCtr="0">
              <a:spAutoFit/>
            </a:bodyPr>
            <a:p>
              <a:pPr>
                <a:lnSpc>
                  <a:spcPct val="135000"/>
                </a:lnSpc>
                <a:buFont typeface="Arial" panose="020B0604020202020204" pitchFamily="34" charset="0"/>
                <a:buChar char="•"/>
              </a:pPr>
              <a:endParaRPr lang="zh-CN" altLang="en-US" dirty="0">
                <a:latin typeface="Arial" panose="020B0604020202020204" pitchFamily="34" charset="0"/>
                <a:ea typeface="宋体" panose="02010600030101010101" pitchFamily="2" charset="-122"/>
              </a:endParaRPr>
            </a:p>
          </p:txBody>
        </p:sp>
        <p:sp>
          <p:nvSpPr>
            <p:cNvPr id="47211" name="Line 110"/>
            <p:cNvSpPr/>
            <p:nvPr/>
          </p:nvSpPr>
          <p:spPr>
            <a:xfrm>
              <a:off x="1664" y="104"/>
              <a:ext cx="0" cy="200"/>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47212" name="Rectangle 111"/>
            <p:cNvSpPr/>
            <p:nvPr/>
          </p:nvSpPr>
          <p:spPr>
            <a:xfrm>
              <a:off x="1629" y="0"/>
              <a:ext cx="372" cy="273"/>
            </a:xfrm>
            <a:prstGeom prst="rect">
              <a:avLst/>
            </a:prstGeom>
            <a:noFill/>
            <a:ln w="9525">
              <a:noFill/>
            </a:ln>
            <a:effectLst>
              <a:prstShdw prst="shdw17" dist="17961" dir="2699999">
                <a:srgbClr val="708688"/>
              </a:prstShdw>
            </a:effectLst>
          </p:spPr>
          <p:txBody>
            <a:bodyPr wrap="none" anchor="ctr" anchorCtr="0">
              <a:spAutoFit/>
            </a:bodyPr>
            <a:p>
              <a:pPr marL="262255" indent="-262255" algn="ctr">
                <a:lnSpc>
                  <a:spcPct val="135000"/>
                </a:lnSpc>
              </a:pPr>
              <a:r>
                <a:rPr lang="zh-CN" altLang="en-US" sz="1600" dirty="0">
                  <a:solidFill>
                    <a:srgbClr val="0033CC"/>
                  </a:solidFill>
                  <a:latin typeface="Arial" panose="020B0604020202020204" pitchFamily="34" charset="0"/>
                  <a:ea typeface="黑体" panose="02010609060101010101" pitchFamily="1" charset="-122"/>
                </a:rPr>
                <a:t>入口</a:t>
              </a:r>
              <a:endParaRPr lang="zh-CN" altLang="en-US" sz="1600" dirty="0">
                <a:solidFill>
                  <a:srgbClr val="0033CC"/>
                </a:solidFill>
                <a:latin typeface="Arial" panose="020B0604020202020204" pitchFamily="34" charset="0"/>
                <a:ea typeface="黑体" panose="02010609060101010101" pitchFamily="1" charset="-122"/>
              </a:endParaRPr>
            </a:p>
          </p:txBody>
        </p:sp>
        <p:sp>
          <p:nvSpPr>
            <p:cNvPr id="47213" name="Line 112"/>
            <p:cNvSpPr/>
            <p:nvPr/>
          </p:nvSpPr>
          <p:spPr>
            <a:xfrm flipH="1">
              <a:off x="168" y="1688"/>
              <a:ext cx="152" cy="0"/>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47214" name="Line 113"/>
            <p:cNvSpPr/>
            <p:nvPr/>
          </p:nvSpPr>
          <p:spPr>
            <a:xfrm>
              <a:off x="184" y="1688"/>
              <a:ext cx="0" cy="176"/>
            </a:xfrm>
            <a:prstGeom prst="line">
              <a:avLst/>
            </a:prstGeom>
            <a:ln w="9525" cap="flat" cmpd="sng">
              <a:solidFill>
                <a:srgbClr val="0000FF"/>
              </a:solidFill>
              <a:prstDash val="solid"/>
              <a:round/>
              <a:headEnd type="none" w="med" len="med"/>
              <a:tailEnd type="triangle" w="med" len="med"/>
            </a:ln>
            <a:effectLst>
              <a:prstShdw prst="shdw17" dist="17961" dir="2699999">
                <a:srgbClr val="000099"/>
              </a:prstShdw>
            </a:effectLst>
          </p:spPr>
        </p:sp>
        <p:sp>
          <p:nvSpPr>
            <p:cNvPr id="47215" name="Line 114"/>
            <p:cNvSpPr/>
            <p:nvPr/>
          </p:nvSpPr>
          <p:spPr>
            <a:xfrm flipH="1">
              <a:off x="3200" y="1632"/>
              <a:ext cx="88" cy="0"/>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47216" name="Line 115"/>
            <p:cNvSpPr/>
            <p:nvPr/>
          </p:nvSpPr>
          <p:spPr>
            <a:xfrm>
              <a:off x="3288" y="1632"/>
              <a:ext cx="0" cy="176"/>
            </a:xfrm>
            <a:prstGeom prst="line">
              <a:avLst/>
            </a:prstGeom>
            <a:ln w="9525" cap="flat" cmpd="sng">
              <a:solidFill>
                <a:srgbClr val="0000FF"/>
              </a:solidFill>
              <a:prstDash val="solid"/>
              <a:round/>
              <a:headEnd type="none" w="med" len="med"/>
              <a:tailEnd type="triangle" w="med" len="med"/>
            </a:ln>
            <a:effectLst>
              <a:prstShdw prst="shdw17" dist="17961" dir="2699999">
                <a:srgbClr val="000099"/>
              </a:prstShdw>
            </a:effectLst>
          </p:spPr>
        </p:sp>
        <p:sp>
          <p:nvSpPr>
            <p:cNvPr id="47217" name="Line 116"/>
            <p:cNvSpPr/>
            <p:nvPr/>
          </p:nvSpPr>
          <p:spPr>
            <a:xfrm flipH="1">
              <a:off x="3184" y="2848"/>
              <a:ext cx="88" cy="0"/>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47218" name="Line 117"/>
            <p:cNvSpPr/>
            <p:nvPr/>
          </p:nvSpPr>
          <p:spPr>
            <a:xfrm>
              <a:off x="3272" y="2848"/>
              <a:ext cx="0" cy="176"/>
            </a:xfrm>
            <a:prstGeom prst="line">
              <a:avLst/>
            </a:prstGeom>
            <a:ln w="9525" cap="flat" cmpd="sng">
              <a:solidFill>
                <a:srgbClr val="0000FF"/>
              </a:solidFill>
              <a:prstDash val="solid"/>
              <a:round/>
              <a:headEnd type="none" w="med" len="med"/>
              <a:tailEnd type="triangle" w="med" len="med"/>
            </a:ln>
            <a:effectLst>
              <a:prstShdw prst="shdw17" dist="17961" dir="2699999">
                <a:srgbClr val="000099"/>
              </a:prstShdw>
            </a:effectLst>
          </p:spPr>
        </p:sp>
        <p:sp>
          <p:nvSpPr>
            <p:cNvPr id="47219" name="Line 118"/>
            <p:cNvSpPr/>
            <p:nvPr/>
          </p:nvSpPr>
          <p:spPr>
            <a:xfrm flipH="1">
              <a:off x="192" y="2864"/>
              <a:ext cx="152" cy="0"/>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47220" name="Line 119"/>
            <p:cNvSpPr/>
            <p:nvPr/>
          </p:nvSpPr>
          <p:spPr>
            <a:xfrm>
              <a:off x="208" y="2864"/>
              <a:ext cx="0" cy="176"/>
            </a:xfrm>
            <a:prstGeom prst="line">
              <a:avLst/>
            </a:prstGeom>
            <a:ln w="9525" cap="flat" cmpd="sng">
              <a:solidFill>
                <a:srgbClr val="0000FF"/>
              </a:solidFill>
              <a:prstDash val="solid"/>
              <a:round/>
              <a:headEnd type="none" w="med" len="med"/>
              <a:tailEnd type="triangle" w="med" len="med"/>
            </a:ln>
            <a:effectLst>
              <a:prstShdw prst="shdw17" dist="17961" dir="2699999">
                <a:srgbClr val="000099"/>
              </a:prstShdw>
            </a:effectLst>
          </p:spPr>
        </p:sp>
        <p:sp>
          <p:nvSpPr>
            <p:cNvPr id="47221" name="Line 120"/>
            <p:cNvSpPr/>
            <p:nvPr/>
          </p:nvSpPr>
          <p:spPr>
            <a:xfrm flipH="1">
              <a:off x="1240" y="592"/>
              <a:ext cx="88" cy="0"/>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47222" name="Line 121"/>
            <p:cNvSpPr/>
            <p:nvPr/>
          </p:nvSpPr>
          <p:spPr>
            <a:xfrm flipH="1" flipV="1">
              <a:off x="1256" y="584"/>
              <a:ext cx="0" cy="640"/>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47223" name="Line 122"/>
            <p:cNvSpPr/>
            <p:nvPr/>
          </p:nvSpPr>
          <p:spPr>
            <a:xfrm flipH="1" flipV="1">
              <a:off x="1272" y="1216"/>
              <a:ext cx="1456" cy="0"/>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47224" name="Line 123"/>
            <p:cNvSpPr/>
            <p:nvPr/>
          </p:nvSpPr>
          <p:spPr>
            <a:xfrm>
              <a:off x="2736" y="1216"/>
              <a:ext cx="0" cy="280"/>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47225" name="Line 124"/>
            <p:cNvSpPr/>
            <p:nvPr/>
          </p:nvSpPr>
          <p:spPr>
            <a:xfrm flipH="1">
              <a:off x="1152" y="544"/>
              <a:ext cx="192" cy="0"/>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47226" name="Line 125"/>
            <p:cNvSpPr/>
            <p:nvPr/>
          </p:nvSpPr>
          <p:spPr>
            <a:xfrm flipV="1">
              <a:off x="1160" y="552"/>
              <a:ext cx="0" cy="736"/>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47227" name="Line 126"/>
            <p:cNvSpPr/>
            <p:nvPr/>
          </p:nvSpPr>
          <p:spPr>
            <a:xfrm flipH="1">
              <a:off x="1152" y="1288"/>
              <a:ext cx="768" cy="0"/>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47228" name="Line 127"/>
            <p:cNvSpPr/>
            <p:nvPr/>
          </p:nvSpPr>
          <p:spPr>
            <a:xfrm>
              <a:off x="1912" y="1296"/>
              <a:ext cx="0" cy="200"/>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47229" name="Line 128"/>
            <p:cNvSpPr/>
            <p:nvPr/>
          </p:nvSpPr>
          <p:spPr>
            <a:xfrm flipH="1">
              <a:off x="824" y="480"/>
              <a:ext cx="520" cy="0"/>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47230" name="Line 129"/>
            <p:cNvSpPr/>
            <p:nvPr/>
          </p:nvSpPr>
          <p:spPr>
            <a:xfrm flipH="1">
              <a:off x="816" y="480"/>
              <a:ext cx="8" cy="1048"/>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47231" name="未知"/>
            <p:cNvSpPr/>
            <p:nvPr/>
          </p:nvSpPr>
          <p:spPr>
            <a:xfrm>
              <a:off x="1120" y="1580"/>
              <a:ext cx="248" cy="68"/>
            </a:xfrm>
            <a:custGeom>
              <a:avLst/>
              <a:gdLst/>
              <a:ahLst/>
              <a:cxnLst>
                <a:cxn ang="0">
                  <a:pos x="0" y="44"/>
                </a:cxn>
                <a:cxn ang="0">
                  <a:pos x="120" y="4"/>
                </a:cxn>
                <a:cxn ang="0">
                  <a:pos x="248" y="68"/>
                </a:cxn>
              </a:cxnLst>
              <a:pathLst>
                <a:path w="248" h="68">
                  <a:moveTo>
                    <a:pt x="0" y="44"/>
                  </a:moveTo>
                  <a:cubicBezTo>
                    <a:pt x="39" y="22"/>
                    <a:pt x="79" y="0"/>
                    <a:pt x="120" y="4"/>
                  </a:cubicBezTo>
                  <a:cubicBezTo>
                    <a:pt x="161" y="8"/>
                    <a:pt x="204" y="38"/>
                    <a:pt x="248" y="68"/>
                  </a:cubicBezTo>
                </a:path>
              </a:pathLst>
            </a:custGeom>
            <a:noFill/>
            <a:ln w="9525" cap="flat" cmpd="sng">
              <a:solidFill>
                <a:srgbClr val="0000FF"/>
              </a:solidFill>
              <a:prstDash val="solid"/>
              <a:miter/>
              <a:headEnd type="none" w="med" len="med"/>
              <a:tailEnd type="triangle" w="sm" len="lg"/>
            </a:ln>
            <a:effectLst>
              <a:prstShdw prst="shdw17" dist="17961" dir="2699999">
                <a:srgbClr val="000099"/>
              </a:prstShdw>
            </a:effectLst>
          </p:spPr>
          <p:txBody>
            <a:bodyPr/>
            <a:p>
              <a:endParaRPr lang="zh-CN" altLang="en-US"/>
            </a:p>
          </p:txBody>
        </p:sp>
        <p:sp>
          <p:nvSpPr>
            <p:cNvPr id="47232" name="未知"/>
            <p:cNvSpPr/>
            <p:nvPr/>
          </p:nvSpPr>
          <p:spPr>
            <a:xfrm>
              <a:off x="1112" y="1685"/>
              <a:ext cx="248" cy="51"/>
            </a:xfrm>
            <a:custGeom>
              <a:avLst/>
              <a:gdLst/>
              <a:ahLst/>
              <a:cxnLst>
                <a:cxn ang="0">
                  <a:pos x="248" y="51"/>
                </a:cxn>
                <a:cxn ang="0">
                  <a:pos x="128" y="3"/>
                </a:cxn>
                <a:cxn ang="0">
                  <a:pos x="0" y="35"/>
                </a:cxn>
              </a:cxnLst>
              <a:pathLst>
                <a:path w="248" h="51">
                  <a:moveTo>
                    <a:pt x="248" y="51"/>
                  </a:moveTo>
                  <a:cubicBezTo>
                    <a:pt x="208" y="28"/>
                    <a:pt x="169" y="6"/>
                    <a:pt x="128" y="3"/>
                  </a:cubicBezTo>
                  <a:cubicBezTo>
                    <a:pt x="87" y="0"/>
                    <a:pt x="43" y="17"/>
                    <a:pt x="0" y="35"/>
                  </a:cubicBezTo>
                </a:path>
              </a:pathLst>
            </a:custGeom>
            <a:noFill/>
            <a:ln w="9525" cap="flat" cmpd="sng">
              <a:solidFill>
                <a:srgbClr val="0000FF"/>
              </a:solidFill>
              <a:prstDash val="solid"/>
              <a:miter/>
              <a:headEnd type="none" w="med" len="med"/>
              <a:tailEnd type="triangle" w="sm" len="lg"/>
            </a:ln>
            <a:effectLst>
              <a:prstShdw prst="shdw17" dist="17961" dir="2699999">
                <a:srgbClr val="000099"/>
              </a:prstShdw>
            </a:effectLst>
          </p:spPr>
          <p:txBody>
            <a:bodyPr/>
            <a:p>
              <a:endParaRPr lang="zh-CN" altLang="en-US"/>
            </a:p>
          </p:txBody>
        </p:sp>
        <p:sp>
          <p:nvSpPr>
            <p:cNvPr id="47233" name="未知"/>
            <p:cNvSpPr/>
            <p:nvPr/>
          </p:nvSpPr>
          <p:spPr>
            <a:xfrm>
              <a:off x="2192" y="1596"/>
              <a:ext cx="248" cy="68"/>
            </a:xfrm>
            <a:custGeom>
              <a:avLst/>
              <a:gdLst/>
              <a:ahLst/>
              <a:cxnLst>
                <a:cxn ang="0">
                  <a:pos x="0" y="44"/>
                </a:cxn>
                <a:cxn ang="0">
                  <a:pos x="120" y="4"/>
                </a:cxn>
                <a:cxn ang="0">
                  <a:pos x="248" y="68"/>
                </a:cxn>
              </a:cxnLst>
              <a:pathLst>
                <a:path w="248" h="68">
                  <a:moveTo>
                    <a:pt x="0" y="44"/>
                  </a:moveTo>
                  <a:cubicBezTo>
                    <a:pt x="39" y="22"/>
                    <a:pt x="79" y="0"/>
                    <a:pt x="120" y="4"/>
                  </a:cubicBezTo>
                  <a:cubicBezTo>
                    <a:pt x="161" y="8"/>
                    <a:pt x="204" y="38"/>
                    <a:pt x="248" y="68"/>
                  </a:cubicBezTo>
                </a:path>
              </a:pathLst>
            </a:custGeom>
            <a:noFill/>
            <a:ln w="9525" cap="flat" cmpd="sng">
              <a:solidFill>
                <a:srgbClr val="0000FF"/>
              </a:solidFill>
              <a:prstDash val="solid"/>
              <a:miter/>
              <a:headEnd type="none" w="med" len="med"/>
              <a:tailEnd type="triangle" w="sm" len="lg"/>
            </a:ln>
            <a:effectLst>
              <a:prstShdw prst="shdw17" dist="17961" dir="2699999">
                <a:srgbClr val="000099"/>
              </a:prstShdw>
            </a:effectLst>
          </p:spPr>
          <p:txBody>
            <a:bodyPr/>
            <a:p>
              <a:endParaRPr lang="zh-CN" altLang="en-US"/>
            </a:p>
          </p:txBody>
        </p:sp>
        <p:sp>
          <p:nvSpPr>
            <p:cNvPr id="47234" name="未知"/>
            <p:cNvSpPr/>
            <p:nvPr/>
          </p:nvSpPr>
          <p:spPr>
            <a:xfrm>
              <a:off x="2184" y="1701"/>
              <a:ext cx="248" cy="51"/>
            </a:xfrm>
            <a:custGeom>
              <a:avLst/>
              <a:gdLst/>
              <a:ahLst/>
              <a:cxnLst>
                <a:cxn ang="0">
                  <a:pos x="248" y="51"/>
                </a:cxn>
                <a:cxn ang="0">
                  <a:pos x="128" y="3"/>
                </a:cxn>
                <a:cxn ang="0">
                  <a:pos x="0" y="35"/>
                </a:cxn>
              </a:cxnLst>
              <a:pathLst>
                <a:path w="248" h="51">
                  <a:moveTo>
                    <a:pt x="248" y="51"/>
                  </a:moveTo>
                  <a:cubicBezTo>
                    <a:pt x="208" y="28"/>
                    <a:pt x="169" y="6"/>
                    <a:pt x="128" y="3"/>
                  </a:cubicBezTo>
                  <a:cubicBezTo>
                    <a:pt x="87" y="0"/>
                    <a:pt x="43" y="17"/>
                    <a:pt x="0" y="35"/>
                  </a:cubicBezTo>
                </a:path>
              </a:pathLst>
            </a:custGeom>
            <a:noFill/>
            <a:ln w="9525" cap="flat" cmpd="sng">
              <a:solidFill>
                <a:srgbClr val="0000FF"/>
              </a:solidFill>
              <a:prstDash val="solid"/>
              <a:miter/>
              <a:headEnd type="none" w="med" len="med"/>
              <a:tailEnd type="triangle" w="sm" len="lg"/>
            </a:ln>
            <a:effectLst>
              <a:prstShdw prst="shdw17" dist="17961" dir="2699999">
                <a:srgbClr val="000099"/>
              </a:prstShdw>
            </a:effectLst>
          </p:spPr>
          <p:txBody>
            <a:bodyPr/>
            <a:p>
              <a:endParaRPr lang="zh-CN" altLang="en-US"/>
            </a:p>
          </p:txBody>
        </p:sp>
        <p:sp>
          <p:nvSpPr>
            <p:cNvPr id="47235" name="未知"/>
            <p:cNvSpPr/>
            <p:nvPr/>
          </p:nvSpPr>
          <p:spPr>
            <a:xfrm>
              <a:off x="2152" y="2772"/>
              <a:ext cx="248" cy="68"/>
            </a:xfrm>
            <a:custGeom>
              <a:avLst/>
              <a:gdLst/>
              <a:ahLst/>
              <a:cxnLst>
                <a:cxn ang="0">
                  <a:pos x="0" y="44"/>
                </a:cxn>
                <a:cxn ang="0">
                  <a:pos x="120" y="4"/>
                </a:cxn>
                <a:cxn ang="0">
                  <a:pos x="248" y="68"/>
                </a:cxn>
              </a:cxnLst>
              <a:pathLst>
                <a:path w="248" h="68">
                  <a:moveTo>
                    <a:pt x="0" y="44"/>
                  </a:moveTo>
                  <a:cubicBezTo>
                    <a:pt x="39" y="22"/>
                    <a:pt x="79" y="0"/>
                    <a:pt x="120" y="4"/>
                  </a:cubicBezTo>
                  <a:cubicBezTo>
                    <a:pt x="161" y="8"/>
                    <a:pt x="204" y="38"/>
                    <a:pt x="248" y="68"/>
                  </a:cubicBezTo>
                </a:path>
              </a:pathLst>
            </a:custGeom>
            <a:noFill/>
            <a:ln w="9525" cap="flat" cmpd="sng">
              <a:solidFill>
                <a:srgbClr val="0000FF"/>
              </a:solidFill>
              <a:prstDash val="solid"/>
              <a:miter/>
              <a:headEnd type="none" w="med" len="med"/>
              <a:tailEnd type="triangle" w="sm" len="lg"/>
            </a:ln>
            <a:effectLst>
              <a:prstShdw prst="shdw17" dist="17961" dir="2699999">
                <a:srgbClr val="000099"/>
              </a:prstShdw>
            </a:effectLst>
          </p:spPr>
          <p:txBody>
            <a:bodyPr/>
            <a:p>
              <a:endParaRPr lang="zh-CN" altLang="en-US"/>
            </a:p>
          </p:txBody>
        </p:sp>
        <p:sp>
          <p:nvSpPr>
            <p:cNvPr id="47236" name="未知"/>
            <p:cNvSpPr/>
            <p:nvPr/>
          </p:nvSpPr>
          <p:spPr>
            <a:xfrm>
              <a:off x="2144" y="2877"/>
              <a:ext cx="248" cy="51"/>
            </a:xfrm>
            <a:custGeom>
              <a:avLst/>
              <a:gdLst/>
              <a:ahLst/>
              <a:cxnLst>
                <a:cxn ang="0">
                  <a:pos x="248" y="51"/>
                </a:cxn>
                <a:cxn ang="0">
                  <a:pos x="128" y="3"/>
                </a:cxn>
                <a:cxn ang="0">
                  <a:pos x="0" y="35"/>
                </a:cxn>
              </a:cxnLst>
              <a:pathLst>
                <a:path w="248" h="51">
                  <a:moveTo>
                    <a:pt x="248" y="51"/>
                  </a:moveTo>
                  <a:cubicBezTo>
                    <a:pt x="208" y="28"/>
                    <a:pt x="169" y="6"/>
                    <a:pt x="128" y="3"/>
                  </a:cubicBezTo>
                  <a:cubicBezTo>
                    <a:pt x="87" y="0"/>
                    <a:pt x="43" y="17"/>
                    <a:pt x="0" y="35"/>
                  </a:cubicBezTo>
                </a:path>
              </a:pathLst>
            </a:custGeom>
            <a:noFill/>
            <a:ln w="9525" cap="flat" cmpd="sng">
              <a:solidFill>
                <a:srgbClr val="0000FF"/>
              </a:solidFill>
              <a:prstDash val="solid"/>
              <a:miter/>
              <a:headEnd type="none" w="med" len="med"/>
              <a:tailEnd type="triangle" w="sm" len="lg"/>
            </a:ln>
            <a:effectLst>
              <a:prstShdw prst="shdw17" dist="17961" dir="2699999">
                <a:srgbClr val="000099"/>
              </a:prstShdw>
            </a:effectLst>
          </p:spPr>
          <p:txBody>
            <a:bodyPr/>
            <a:p>
              <a:endParaRPr lang="zh-CN" altLang="en-US"/>
            </a:p>
          </p:txBody>
        </p:sp>
        <p:sp>
          <p:nvSpPr>
            <p:cNvPr id="47237" name="未知"/>
            <p:cNvSpPr/>
            <p:nvPr/>
          </p:nvSpPr>
          <p:spPr>
            <a:xfrm>
              <a:off x="1088" y="2796"/>
              <a:ext cx="248" cy="68"/>
            </a:xfrm>
            <a:custGeom>
              <a:avLst/>
              <a:gdLst/>
              <a:ahLst/>
              <a:cxnLst>
                <a:cxn ang="0">
                  <a:pos x="0" y="44"/>
                </a:cxn>
                <a:cxn ang="0">
                  <a:pos x="120" y="4"/>
                </a:cxn>
                <a:cxn ang="0">
                  <a:pos x="248" y="68"/>
                </a:cxn>
              </a:cxnLst>
              <a:pathLst>
                <a:path w="248" h="68">
                  <a:moveTo>
                    <a:pt x="0" y="44"/>
                  </a:moveTo>
                  <a:cubicBezTo>
                    <a:pt x="39" y="22"/>
                    <a:pt x="79" y="0"/>
                    <a:pt x="120" y="4"/>
                  </a:cubicBezTo>
                  <a:cubicBezTo>
                    <a:pt x="161" y="8"/>
                    <a:pt x="204" y="38"/>
                    <a:pt x="248" y="68"/>
                  </a:cubicBezTo>
                </a:path>
              </a:pathLst>
            </a:custGeom>
            <a:noFill/>
            <a:ln w="9525" cap="flat" cmpd="sng">
              <a:solidFill>
                <a:srgbClr val="0000FF"/>
              </a:solidFill>
              <a:prstDash val="solid"/>
              <a:miter/>
              <a:headEnd type="none" w="med" len="med"/>
              <a:tailEnd type="triangle" w="sm" len="lg"/>
            </a:ln>
            <a:effectLst>
              <a:prstShdw prst="shdw17" dist="17961" dir="2699999">
                <a:srgbClr val="000099"/>
              </a:prstShdw>
            </a:effectLst>
          </p:spPr>
          <p:txBody>
            <a:bodyPr/>
            <a:p>
              <a:endParaRPr lang="zh-CN" altLang="en-US"/>
            </a:p>
          </p:txBody>
        </p:sp>
        <p:sp>
          <p:nvSpPr>
            <p:cNvPr id="47238" name="未知"/>
            <p:cNvSpPr/>
            <p:nvPr/>
          </p:nvSpPr>
          <p:spPr>
            <a:xfrm>
              <a:off x="1080" y="2901"/>
              <a:ext cx="248" cy="51"/>
            </a:xfrm>
            <a:custGeom>
              <a:avLst/>
              <a:gdLst/>
              <a:ahLst/>
              <a:cxnLst>
                <a:cxn ang="0">
                  <a:pos x="248" y="51"/>
                </a:cxn>
                <a:cxn ang="0">
                  <a:pos x="128" y="3"/>
                </a:cxn>
                <a:cxn ang="0">
                  <a:pos x="0" y="35"/>
                </a:cxn>
              </a:cxnLst>
              <a:pathLst>
                <a:path w="248" h="51">
                  <a:moveTo>
                    <a:pt x="248" y="51"/>
                  </a:moveTo>
                  <a:cubicBezTo>
                    <a:pt x="208" y="28"/>
                    <a:pt x="169" y="6"/>
                    <a:pt x="128" y="3"/>
                  </a:cubicBezTo>
                  <a:cubicBezTo>
                    <a:pt x="87" y="0"/>
                    <a:pt x="43" y="17"/>
                    <a:pt x="0" y="35"/>
                  </a:cubicBezTo>
                </a:path>
              </a:pathLst>
            </a:custGeom>
            <a:noFill/>
            <a:ln w="9525" cap="flat" cmpd="sng">
              <a:solidFill>
                <a:srgbClr val="0000FF"/>
              </a:solidFill>
              <a:prstDash val="solid"/>
              <a:miter/>
              <a:headEnd type="none" w="med" len="med"/>
              <a:tailEnd type="triangle" w="sm" len="lg"/>
            </a:ln>
            <a:effectLst>
              <a:prstShdw prst="shdw17" dist="17961" dir="2699999">
                <a:srgbClr val="000099"/>
              </a:prstShdw>
            </a:effectLst>
          </p:spPr>
          <p:txBody>
            <a:bodyPr/>
            <a:p>
              <a:endParaRPr lang="zh-CN" altLang="en-US"/>
            </a:p>
          </p:txBody>
        </p:sp>
        <p:sp>
          <p:nvSpPr>
            <p:cNvPr id="47239" name="Line 138"/>
            <p:cNvSpPr/>
            <p:nvPr/>
          </p:nvSpPr>
          <p:spPr>
            <a:xfrm flipH="1">
              <a:off x="1280" y="1904"/>
              <a:ext cx="88" cy="0"/>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47240" name="Line 139"/>
            <p:cNvSpPr/>
            <p:nvPr/>
          </p:nvSpPr>
          <p:spPr>
            <a:xfrm flipH="1" flipV="1">
              <a:off x="1288" y="1888"/>
              <a:ext cx="0" cy="512"/>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47241" name="Line 140"/>
            <p:cNvSpPr/>
            <p:nvPr/>
          </p:nvSpPr>
          <p:spPr>
            <a:xfrm flipH="1" flipV="1">
              <a:off x="1280" y="2408"/>
              <a:ext cx="1456" cy="0"/>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47242" name="Line 141"/>
            <p:cNvSpPr/>
            <p:nvPr/>
          </p:nvSpPr>
          <p:spPr>
            <a:xfrm>
              <a:off x="2736" y="2416"/>
              <a:ext cx="0" cy="280"/>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47243" name="Line 142"/>
            <p:cNvSpPr/>
            <p:nvPr/>
          </p:nvSpPr>
          <p:spPr>
            <a:xfrm flipH="1">
              <a:off x="1240" y="1848"/>
              <a:ext cx="144" cy="0"/>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47244" name="Line 143"/>
            <p:cNvSpPr/>
            <p:nvPr/>
          </p:nvSpPr>
          <p:spPr>
            <a:xfrm flipV="1">
              <a:off x="1232" y="1848"/>
              <a:ext cx="0" cy="656"/>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47245" name="Line 144"/>
            <p:cNvSpPr/>
            <p:nvPr/>
          </p:nvSpPr>
          <p:spPr>
            <a:xfrm flipH="1">
              <a:off x="1216" y="2496"/>
              <a:ext cx="520" cy="0"/>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47246" name="Line 145"/>
            <p:cNvSpPr/>
            <p:nvPr/>
          </p:nvSpPr>
          <p:spPr>
            <a:xfrm>
              <a:off x="1744" y="2504"/>
              <a:ext cx="0" cy="200"/>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47247" name="Line 146"/>
            <p:cNvSpPr/>
            <p:nvPr/>
          </p:nvSpPr>
          <p:spPr>
            <a:xfrm flipH="1">
              <a:off x="1168" y="1792"/>
              <a:ext cx="192" cy="0"/>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47248" name="Line 147"/>
            <p:cNvSpPr/>
            <p:nvPr/>
          </p:nvSpPr>
          <p:spPr>
            <a:xfrm flipV="1">
              <a:off x="1168" y="1792"/>
              <a:ext cx="0" cy="736"/>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47249" name="Line 148"/>
            <p:cNvSpPr/>
            <p:nvPr/>
          </p:nvSpPr>
          <p:spPr>
            <a:xfrm flipH="1">
              <a:off x="640" y="2536"/>
              <a:ext cx="520" cy="0"/>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47250" name="Line 149"/>
            <p:cNvSpPr/>
            <p:nvPr/>
          </p:nvSpPr>
          <p:spPr>
            <a:xfrm flipH="1">
              <a:off x="640" y="2544"/>
              <a:ext cx="8" cy="144"/>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gr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29" name="Text Box 4"/>
          <p:cNvSpPr txBox="1"/>
          <p:nvPr/>
        </p:nvSpPr>
        <p:spPr>
          <a:xfrm>
            <a:off x="457200" y="1217613"/>
            <a:ext cx="8428038" cy="914400"/>
          </a:xfrm>
          <a:prstGeom prst="rect">
            <a:avLst/>
          </a:prstGeom>
          <a:noFill/>
          <a:ln w="9525">
            <a:noFill/>
          </a:ln>
        </p:spPr>
        <p:txBody>
          <a:bodyPr anchor="t" anchorCtr="0">
            <a:spAutoFit/>
          </a:bodyPr>
          <a:p>
            <a:pPr>
              <a:lnSpc>
                <a:spcPct val="115000"/>
              </a:lnSpc>
            </a:pPr>
            <a:r>
              <a:rPr lang="zh-CN" altLang="en-US" sz="2600" dirty="0">
                <a:solidFill>
                  <a:srgbClr val="CC3300"/>
                </a:solidFill>
                <a:latin typeface="方正姚体" panose="02010601030101010101" pitchFamily="2" charset="-122"/>
                <a:ea typeface="方正姚体" panose="02010601030101010101" pitchFamily="2" charset="-122"/>
              </a:rPr>
              <a:t>     </a:t>
            </a:r>
            <a:r>
              <a:rPr lang="zh-CN" altLang="en-US" sz="2100" dirty="0">
                <a:solidFill>
                  <a:srgbClr val="CC3300"/>
                </a:solidFill>
                <a:latin typeface="方正姚体" panose="02010601030101010101" pitchFamily="2" charset="-122"/>
                <a:ea typeface="方正姚体" panose="02010601030101010101" pitchFamily="2" charset="-122"/>
              </a:rPr>
              <a:t>  </a:t>
            </a:r>
            <a:r>
              <a:rPr lang="zh-CN" altLang="en-US" sz="2100" dirty="0">
                <a:latin typeface="Arial" panose="020B0604020202020204" pitchFamily="34" charset="0"/>
                <a:ea typeface="宋体" panose="02010600030101010101" pitchFamily="2" charset="-122"/>
              </a:rPr>
              <a:t>除叶节点之外的其它层节点，每个索引行由索引项的值以及这个索引项在下层节点的数据页编号组成。</a:t>
            </a:r>
            <a:endParaRPr lang="zh-CN" altLang="en-US" sz="2100" dirty="0">
              <a:latin typeface="Arial" panose="020B0604020202020204" pitchFamily="34" charset="0"/>
              <a:ea typeface="宋体" panose="02010600030101010101" pitchFamily="2" charset="-122"/>
            </a:endParaRPr>
          </a:p>
        </p:txBody>
      </p:sp>
      <p:sp>
        <p:nvSpPr>
          <p:cNvPr id="48130" name="Rectangle 5"/>
          <p:cNvSpPr/>
          <p:nvPr/>
        </p:nvSpPr>
        <p:spPr>
          <a:xfrm>
            <a:off x="184150" y="1963738"/>
            <a:ext cx="2259013" cy="463550"/>
          </a:xfrm>
          <a:prstGeom prst="rect">
            <a:avLst/>
          </a:prstGeom>
          <a:noFill/>
          <a:ln w="9525">
            <a:noFill/>
          </a:ln>
          <a:effectLst>
            <a:prstShdw prst="shdw17" dist="17961" dir="2699999">
              <a:srgbClr val="708688"/>
            </a:prstShdw>
          </a:effectLst>
        </p:spPr>
        <p:txBody>
          <a:bodyPr anchor="ctr" anchorCtr="0">
            <a:spAutoFit/>
          </a:bodyPr>
          <a:p>
            <a:pPr marL="262255" indent="-262255">
              <a:lnSpc>
                <a:spcPct val="135000"/>
              </a:lnSpc>
            </a:pPr>
            <a:r>
              <a:rPr lang="en-US" altLang="zh-CN" dirty="0">
                <a:solidFill>
                  <a:srgbClr val="0033CC"/>
                </a:solidFill>
                <a:latin typeface="Arial" panose="020B0604020202020204" pitchFamily="34" charset="0"/>
                <a:ea typeface="宋体" panose="02010600030101010101" pitchFamily="2" charset="-122"/>
              </a:rPr>
              <a:t>Employee</a:t>
            </a:r>
            <a:r>
              <a:rPr lang="zh-CN" altLang="en-US" dirty="0">
                <a:solidFill>
                  <a:srgbClr val="0033CC"/>
                </a:solidFill>
                <a:latin typeface="Arial" panose="020B0604020202020204" pitchFamily="34" charset="0"/>
                <a:ea typeface="宋体" panose="02010600030101010101" pitchFamily="2" charset="-122"/>
              </a:rPr>
              <a:t>表的数据</a:t>
            </a:r>
            <a:endParaRPr lang="zh-CN" altLang="en-US" dirty="0">
              <a:solidFill>
                <a:srgbClr val="0033CC"/>
              </a:solidFill>
              <a:latin typeface="Arial" panose="020B0604020202020204" pitchFamily="34" charset="0"/>
              <a:ea typeface="宋体" panose="02010600030101010101" pitchFamily="2" charset="-122"/>
            </a:endParaRPr>
          </a:p>
        </p:txBody>
      </p:sp>
      <p:graphicFrame>
        <p:nvGraphicFramePr>
          <p:cNvPr id="37892" name="表格 37891"/>
          <p:cNvGraphicFramePr/>
          <p:nvPr/>
        </p:nvGraphicFramePr>
        <p:xfrm>
          <a:off x="241300" y="2444750"/>
          <a:ext cx="2146300" cy="3714750"/>
        </p:xfrm>
        <a:graphic>
          <a:graphicData uri="http://schemas.openxmlformats.org/drawingml/2006/table">
            <a:tbl>
              <a:tblPr/>
              <a:tblGrid>
                <a:gridCol w="619125"/>
                <a:gridCol w="908050"/>
                <a:gridCol w="619125"/>
              </a:tblGrid>
              <a:tr h="298450">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85000"/>
                        </a:lnSpc>
                        <a:spcBef>
                          <a:spcPct val="0"/>
                        </a:spcBef>
                        <a:buClr>
                          <a:srgbClr val="0033CC"/>
                        </a:buClr>
                        <a:buSzPct val="80000"/>
                        <a:buFont typeface="Wingdings" panose="05000000000000000000" pitchFamily="2" charset="2"/>
                        <a:buNone/>
                      </a:pPr>
                      <a:r>
                        <a:rPr lang="en-US" altLang="x-none" sz="1600" dirty="0">
                          <a:solidFill>
                            <a:srgbClr val="0033CC"/>
                          </a:solidFill>
                        </a:rPr>
                        <a:t>eno</a:t>
                      </a:r>
                      <a:endParaRPr lang="en-US" altLang="x-none" sz="1600" dirty="0">
                        <a:solidFill>
                          <a:srgbClr val="0033CC"/>
                        </a:solidFill>
                      </a:endParaRPr>
                    </a:p>
                  </a:txBody>
                  <a:tcPr marT="45718" marB="45718" vert="horz" anchor="t">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85000"/>
                        </a:lnSpc>
                        <a:spcBef>
                          <a:spcPct val="0"/>
                        </a:spcBef>
                        <a:buClr>
                          <a:srgbClr val="0033CC"/>
                        </a:buClr>
                        <a:buSzPct val="80000"/>
                        <a:buFont typeface="Wingdings" panose="05000000000000000000" pitchFamily="2" charset="2"/>
                        <a:buNone/>
                      </a:pPr>
                      <a:r>
                        <a:rPr lang="en-US" altLang="x-none" sz="1600" dirty="0">
                          <a:solidFill>
                            <a:srgbClr val="0033CC"/>
                          </a:solidFill>
                        </a:rPr>
                        <a:t>ename</a:t>
                      </a:r>
                      <a:endParaRPr lang="en-US" altLang="x-none" sz="1600" dirty="0">
                        <a:solidFill>
                          <a:srgbClr val="0033CC"/>
                        </a:solidFill>
                      </a:endParaRPr>
                    </a:p>
                  </a:txBody>
                  <a:tcPr marT="45718" marB="4571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85000"/>
                        </a:lnSpc>
                        <a:spcBef>
                          <a:spcPct val="0"/>
                        </a:spcBef>
                        <a:buClr>
                          <a:srgbClr val="0033CC"/>
                        </a:buClr>
                        <a:buSzPct val="80000"/>
                        <a:buFont typeface="Wingdings" panose="05000000000000000000" pitchFamily="2" charset="2"/>
                        <a:buNone/>
                      </a:pPr>
                      <a:r>
                        <a:rPr lang="en-US" altLang="x-none" sz="1600" dirty="0">
                          <a:solidFill>
                            <a:srgbClr val="0033CC"/>
                          </a:solidFill>
                        </a:rPr>
                        <a:t>dept</a:t>
                      </a:r>
                      <a:endParaRPr lang="en-US" altLang="x-none" sz="1600" dirty="0">
                        <a:solidFill>
                          <a:srgbClr val="0033CC"/>
                        </a:solidFill>
                      </a:endParaRPr>
                    </a:p>
                  </a:txBody>
                  <a:tcPr marT="45718" marB="45718" vert="horz" anchor="t">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84163">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90000"/>
                        </a:lnSpc>
                        <a:spcBef>
                          <a:spcPct val="0"/>
                        </a:spcBef>
                        <a:buClr>
                          <a:srgbClr val="0033CC"/>
                        </a:buClr>
                        <a:buSzPct val="80000"/>
                        <a:buFont typeface="Wingdings" panose="05000000000000000000" pitchFamily="2" charset="2"/>
                        <a:buNone/>
                      </a:pPr>
                      <a:r>
                        <a:rPr lang="en-US" altLang="x-none" sz="1400" dirty="0"/>
                        <a:t>E01</a:t>
                      </a:r>
                      <a:endParaRPr lang="en-US" altLang="x-none" sz="1400" dirty="0"/>
                    </a:p>
                  </a:txBody>
                  <a:tcPr marT="45718" marB="45718" vert="horz" anchor="t">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90000"/>
                        </a:lnSpc>
                        <a:spcBef>
                          <a:spcPct val="0"/>
                        </a:spcBef>
                        <a:buClr>
                          <a:srgbClr val="0033CC"/>
                        </a:buClr>
                        <a:buSzPct val="80000"/>
                        <a:buFont typeface="Wingdings" panose="05000000000000000000" pitchFamily="2" charset="2"/>
                        <a:buNone/>
                      </a:pPr>
                      <a:r>
                        <a:rPr lang="en-US" altLang="x-none" sz="1400" dirty="0"/>
                        <a:t>AB</a:t>
                      </a:r>
                      <a:endParaRPr lang="en-US" altLang="x-none" sz="1400" dirty="0"/>
                    </a:p>
                  </a:txBody>
                  <a:tcPr marT="45718" marB="4571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90000"/>
                        </a:lnSpc>
                        <a:spcBef>
                          <a:spcPct val="0"/>
                        </a:spcBef>
                        <a:buClr>
                          <a:srgbClr val="0033CC"/>
                        </a:buClr>
                        <a:buSzPct val="80000"/>
                        <a:buFont typeface="Wingdings" panose="05000000000000000000" pitchFamily="2" charset="2"/>
                        <a:buNone/>
                      </a:pPr>
                      <a:r>
                        <a:rPr lang="en-US" altLang="x-none" sz="1400" dirty="0"/>
                        <a:t>CS</a:t>
                      </a:r>
                      <a:endParaRPr lang="en-US" altLang="x-none" sz="1400" dirty="0"/>
                    </a:p>
                  </a:txBody>
                  <a:tcPr marT="45718" marB="45718" vert="horz" anchor="t">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84162">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90000"/>
                        </a:lnSpc>
                        <a:spcBef>
                          <a:spcPct val="0"/>
                        </a:spcBef>
                        <a:buClr>
                          <a:srgbClr val="0033CC"/>
                        </a:buClr>
                        <a:buSzPct val="80000"/>
                        <a:buFont typeface="Wingdings" panose="05000000000000000000" pitchFamily="2" charset="2"/>
                        <a:buNone/>
                      </a:pPr>
                      <a:r>
                        <a:rPr lang="en-US" altLang="x-none" sz="1400" dirty="0"/>
                        <a:t>E02</a:t>
                      </a:r>
                      <a:endParaRPr lang="zh-CN" altLang="en-US" sz="1400" dirty="0"/>
                    </a:p>
                  </a:txBody>
                  <a:tcPr marT="45718" marB="45718" vert="horz" anchor="t">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90000"/>
                        </a:lnSpc>
                        <a:spcBef>
                          <a:spcPct val="0"/>
                        </a:spcBef>
                        <a:buClr>
                          <a:srgbClr val="0033CC"/>
                        </a:buClr>
                        <a:buSzPct val="80000"/>
                        <a:buFont typeface="Wingdings" panose="05000000000000000000" pitchFamily="2" charset="2"/>
                        <a:buNone/>
                      </a:pPr>
                      <a:r>
                        <a:rPr lang="en-US" altLang="x-none" sz="1400" dirty="0"/>
                        <a:t>AA</a:t>
                      </a:r>
                      <a:endParaRPr lang="en-US" altLang="x-none" sz="1400" dirty="0"/>
                    </a:p>
                  </a:txBody>
                  <a:tcPr marT="45718" marB="4571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90000"/>
                        </a:lnSpc>
                        <a:spcBef>
                          <a:spcPct val="0"/>
                        </a:spcBef>
                        <a:buClr>
                          <a:srgbClr val="0033CC"/>
                        </a:buClr>
                        <a:buSzPct val="80000"/>
                        <a:buFont typeface="Wingdings" panose="05000000000000000000" pitchFamily="2" charset="2"/>
                        <a:buNone/>
                      </a:pPr>
                      <a:r>
                        <a:rPr lang="en-US" altLang="x-none" sz="1400" dirty="0"/>
                        <a:t>CS</a:t>
                      </a:r>
                      <a:endParaRPr lang="en-US" altLang="x-none" sz="1400" dirty="0"/>
                    </a:p>
                  </a:txBody>
                  <a:tcPr marT="45718" marB="45718" vert="horz" anchor="t">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82575">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90000"/>
                        </a:lnSpc>
                        <a:spcBef>
                          <a:spcPct val="0"/>
                        </a:spcBef>
                        <a:buClr>
                          <a:srgbClr val="0033CC"/>
                        </a:buClr>
                        <a:buSzPct val="80000"/>
                        <a:buFont typeface="Wingdings" panose="05000000000000000000" pitchFamily="2" charset="2"/>
                        <a:buNone/>
                      </a:pPr>
                      <a:r>
                        <a:rPr lang="en-US" altLang="x-none" sz="1400" dirty="0"/>
                        <a:t>E03</a:t>
                      </a:r>
                      <a:endParaRPr lang="zh-CN" altLang="en-US" sz="1400" dirty="0"/>
                    </a:p>
                  </a:txBody>
                  <a:tcPr marT="45718" marB="45718" vert="horz" anchor="t">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90000"/>
                        </a:lnSpc>
                        <a:spcBef>
                          <a:spcPct val="0"/>
                        </a:spcBef>
                        <a:buClr>
                          <a:srgbClr val="0033CC"/>
                        </a:buClr>
                        <a:buSzPct val="80000"/>
                        <a:buFont typeface="Wingdings" panose="05000000000000000000" pitchFamily="2" charset="2"/>
                        <a:buNone/>
                      </a:pPr>
                      <a:r>
                        <a:rPr lang="en-US" altLang="x-none" sz="1400" dirty="0"/>
                        <a:t>BB</a:t>
                      </a:r>
                      <a:endParaRPr lang="en-US" altLang="x-none" sz="1400" dirty="0"/>
                    </a:p>
                  </a:txBody>
                  <a:tcPr marT="45718" marB="4571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90000"/>
                        </a:lnSpc>
                        <a:spcBef>
                          <a:spcPct val="0"/>
                        </a:spcBef>
                        <a:buClr>
                          <a:srgbClr val="0033CC"/>
                        </a:buClr>
                        <a:buSzPct val="80000"/>
                        <a:buFont typeface="Wingdings" panose="05000000000000000000" pitchFamily="2" charset="2"/>
                        <a:buNone/>
                      </a:pPr>
                      <a:r>
                        <a:rPr lang="en-US" altLang="x-none" sz="1400" dirty="0"/>
                        <a:t>IS</a:t>
                      </a:r>
                      <a:endParaRPr lang="en-US" altLang="x-none" sz="1400" dirty="0"/>
                    </a:p>
                  </a:txBody>
                  <a:tcPr marT="45718" marB="45718" vert="horz" anchor="t">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85750">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90000"/>
                        </a:lnSpc>
                        <a:spcBef>
                          <a:spcPct val="0"/>
                        </a:spcBef>
                        <a:buClr>
                          <a:srgbClr val="0033CC"/>
                        </a:buClr>
                        <a:buSzPct val="80000"/>
                        <a:buFont typeface="Wingdings" panose="05000000000000000000" pitchFamily="2" charset="2"/>
                        <a:buNone/>
                      </a:pPr>
                      <a:r>
                        <a:rPr lang="en-US" altLang="x-none" sz="1400" dirty="0"/>
                        <a:t>E04</a:t>
                      </a:r>
                      <a:endParaRPr lang="zh-CN" altLang="en-US" sz="1400" dirty="0"/>
                    </a:p>
                  </a:txBody>
                  <a:tcPr marT="45718" marB="45718" vert="horz" anchor="t">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90000"/>
                        </a:lnSpc>
                        <a:spcBef>
                          <a:spcPct val="0"/>
                        </a:spcBef>
                        <a:buClr>
                          <a:srgbClr val="0033CC"/>
                        </a:buClr>
                        <a:buSzPct val="80000"/>
                        <a:buFont typeface="Wingdings" panose="05000000000000000000" pitchFamily="2" charset="2"/>
                        <a:buNone/>
                      </a:pPr>
                      <a:r>
                        <a:rPr lang="en-US" altLang="x-none" sz="1400" dirty="0"/>
                        <a:t>BC</a:t>
                      </a:r>
                      <a:endParaRPr lang="en-US" altLang="x-none" sz="1400" dirty="0"/>
                    </a:p>
                  </a:txBody>
                  <a:tcPr marT="45718" marB="4571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90000"/>
                        </a:lnSpc>
                        <a:spcBef>
                          <a:spcPct val="0"/>
                        </a:spcBef>
                        <a:buClr>
                          <a:srgbClr val="0033CC"/>
                        </a:buClr>
                        <a:buSzPct val="80000"/>
                        <a:buFont typeface="Wingdings" panose="05000000000000000000" pitchFamily="2" charset="2"/>
                        <a:buNone/>
                      </a:pPr>
                      <a:r>
                        <a:rPr lang="en-US" altLang="x-none" sz="1400" dirty="0"/>
                        <a:t>CS</a:t>
                      </a:r>
                      <a:endParaRPr lang="en-US" altLang="x-none" sz="1400" dirty="0"/>
                    </a:p>
                  </a:txBody>
                  <a:tcPr marT="45718" marB="45718" vert="horz" anchor="t">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85750">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90000"/>
                        </a:lnSpc>
                        <a:spcBef>
                          <a:spcPct val="0"/>
                        </a:spcBef>
                        <a:buClr>
                          <a:srgbClr val="0033CC"/>
                        </a:buClr>
                        <a:buSzPct val="80000"/>
                        <a:buFont typeface="Wingdings" panose="05000000000000000000" pitchFamily="2" charset="2"/>
                        <a:buNone/>
                      </a:pPr>
                      <a:r>
                        <a:rPr lang="en-US" altLang="x-none" sz="1400" dirty="0"/>
                        <a:t>E05</a:t>
                      </a:r>
                      <a:endParaRPr lang="zh-CN" altLang="en-US" sz="1400" dirty="0"/>
                    </a:p>
                  </a:txBody>
                  <a:tcPr marT="45718" marB="45718" vert="horz" anchor="t">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90000"/>
                        </a:lnSpc>
                        <a:spcBef>
                          <a:spcPct val="0"/>
                        </a:spcBef>
                        <a:buClr>
                          <a:srgbClr val="0033CC"/>
                        </a:buClr>
                        <a:buSzPct val="80000"/>
                        <a:buFont typeface="Wingdings" panose="05000000000000000000" pitchFamily="2" charset="2"/>
                        <a:buNone/>
                      </a:pPr>
                      <a:r>
                        <a:rPr lang="en-US" altLang="x-none" sz="1400" dirty="0"/>
                        <a:t>CB</a:t>
                      </a:r>
                      <a:endParaRPr lang="en-US" altLang="x-none" sz="1400" dirty="0"/>
                    </a:p>
                  </a:txBody>
                  <a:tcPr marT="45718" marB="4571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90000"/>
                        </a:lnSpc>
                        <a:spcBef>
                          <a:spcPct val="0"/>
                        </a:spcBef>
                        <a:buClr>
                          <a:srgbClr val="0033CC"/>
                        </a:buClr>
                        <a:buSzPct val="80000"/>
                        <a:buFont typeface="Wingdings" panose="05000000000000000000" pitchFamily="2" charset="2"/>
                        <a:buNone/>
                      </a:pPr>
                      <a:r>
                        <a:rPr lang="en-US" altLang="x-none" sz="1400" dirty="0"/>
                        <a:t>IS</a:t>
                      </a:r>
                      <a:endParaRPr lang="en-US" altLang="x-none" sz="1400" dirty="0"/>
                    </a:p>
                  </a:txBody>
                  <a:tcPr marT="45718" marB="45718" vert="horz" anchor="t">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84163">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90000"/>
                        </a:lnSpc>
                        <a:spcBef>
                          <a:spcPct val="0"/>
                        </a:spcBef>
                        <a:buClr>
                          <a:srgbClr val="0033CC"/>
                        </a:buClr>
                        <a:buSzPct val="80000"/>
                        <a:buFont typeface="Wingdings" panose="05000000000000000000" pitchFamily="2" charset="2"/>
                        <a:buNone/>
                      </a:pPr>
                      <a:r>
                        <a:rPr lang="en-US" altLang="x-none" sz="1400" dirty="0"/>
                        <a:t>E06</a:t>
                      </a:r>
                      <a:endParaRPr lang="zh-CN" altLang="en-US" sz="1400" dirty="0"/>
                    </a:p>
                  </a:txBody>
                  <a:tcPr marT="45718" marB="45718" vert="horz" anchor="t">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90000"/>
                        </a:lnSpc>
                        <a:spcBef>
                          <a:spcPct val="0"/>
                        </a:spcBef>
                        <a:buClr>
                          <a:srgbClr val="0033CC"/>
                        </a:buClr>
                        <a:buSzPct val="80000"/>
                        <a:buFont typeface="Wingdings" panose="05000000000000000000" pitchFamily="2" charset="2"/>
                        <a:buNone/>
                      </a:pPr>
                      <a:r>
                        <a:rPr lang="en-US" altLang="x-none" sz="1400" dirty="0"/>
                        <a:t>AS</a:t>
                      </a:r>
                      <a:endParaRPr lang="en-US" altLang="x-none" sz="1400" dirty="0"/>
                    </a:p>
                  </a:txBody>
                  <a:tcPr marT="45718" marB="4571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90000"/>
                        </a:lnSpc>
                        <a:spcBef>
                          <a:spcPct val="0"/>
                        </a:spcBef>
                        <a:buClr>
                          <a:srgbClr val="0033CC"/>
                        </a:buClr>
                        <a:buSzPct val="80000"/>
                        <a:buFont typeface="Wingdings" panose="05000000000000000000" pitchFamily="2" charset="2"/>
                        <a:buNone/>
                      </a:pPr>
                      <a:r>
                        <a:rPr lang="en-US" altLang="x-none" sz="1400" dirty="0"/>
                        <a:t>IS</a:t>
                      </a:r>
                      <a:endParaRPr lang="en-US" altLang="x-none" sz="1400" dirty="0"/>
                    </a:p>
                  </a:txBody>
                  <a:tcPr marT="45718" marB="45718" vert="horz" anchor="t">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85750">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90000"/>
                        </a:lnSpc>
                        <a:spcBef>
                          <a:spcPct val="0"/>
                        </a:spcBef>
                        <a:buClr>
                          <a:srgbClr val="0033CC"/>
                        </a:buClr>
                        <a:buSzPct val="80000"/>
                        <a:buFont typeface="Wingdings" panose="05000000000000000000" pitchFamily="2" charset="2"/>
                        <a:buNone/>
                      </a:pPr>
                      <a:r>
                        <a:rPr lang="en-US" altLang="x-none" sz="1400" dirty="0"/>
                        <a:t>E07</a:t>
                      </a:r>
                      <a:endParaRPr lang="zh-CN" altLang="en-US" sz="1400" dirty="0"/>
                    </a:p>
                  </a:txBody>
                  <a:tcPr marT="45718" marB="45718" vert="horz" anchor="t">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90000"/>
                        </a:lnSpc>
                        <a:spcBef>
                          <a:spcPct val="0"/>
                        </a:spcBef>
                        <a:buClr>
                          <a:srgbClr val="0033CC"/>
                        </a:buClr>
                        <a:buSzPct val="80000"/>
                        <a:buFont typeface="Wingdings" panose="05000000000000000000" pitchFamily="2" charset="2"/>
                        <a:buNone/>
                      </a:pPr>
                      <a:r>
                        <a:rPr lang="en-US" altLang="x-none" sz="1400" dirty="0"/>
                        <a:t>BB</a:t>
                      </a:r>
                      <a:endParaRPr lang="en-US" altLang="x-none" sz="1400" dirty="0"/>
                    </a:p>
                  </a:txBody>
                  <a:tcPr marT="45718" marB="4571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90000"/>
                        </a:lnSpc>
                        <a:spcBef>
                          <a:spcPct val="0"/>
                        </a:spcBef>
                        <a:buClr>
                          <a:srgbClr val="0033CC"/>
                        </a:buClr>
                        <a:buSzPct val="80000"/>
                        <a:buFont typeface="Wingdings" panose="05000000000000000000" pitchFamily="2" charset="2"/>
                        <a:buNone/>
                      </a:pPr>
                      <a:r>
                        <a:rPr lang="en-US" altLang="x-none" sz="1400" dirty="0"/>
                        <a:t>IS</a:t>
                      </a:r>
                      <a:endParaRPr lang="en-US" altLang="x-none" sz="1400" dirty="0"/>
                    </a:p>
                  </a:txBody>
                  <a:tcPr marT="45718" marB="45718" vert="horz" anchor="t">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85750">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90000"/>
                        </a:lnSpc>
                        <a:spcBef>
                          <a:spcPct val="0"/>
                        </a:spcBef>
                        <a:buClr>
                          <a:srgbClr val="0033CC"/>
                        </a:buClr>
                        <a:buSzPct val="80000"/>
                        <a:buFont typeface="Wingdings" panose="05000000000000000000" pitchFamily="2" charset="2"/>
                        <a:buNone/>
                      </a:pPr>
                      <a:r>
                        <a:rPr lang="en-US" altLang="x-none" sz="1400" dirty="0"/>
                        <a:t>E08</a:t>
                      </a:r>
                      <a:endParaRPr lang="zh-CN" altLang="en-US" sz="1400" dirty="0"/>
                    </a:p>
                  </a:txBody>
                  <a:tcPr marT="45718" marB="45718" vert="horz" anchor="t">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90000"/>
                        </a:lnSpc>
                        <a:spcBef>
                          <a:spcPct val="0"/>
                        </a:spcBef>
                        <a:buClr>
                          <a:srgbClr val="0033CC"/>
                        </a:buClr>
                        <a:buSzPct val="80000"/>
                        <a:buFont typeface="Wingdings" panose="05000000000000000000" pitchFamily="2" charset="2"/>
                        <a:buNone/>
                      </a:pPr>
                      <a:r>
                        <a:rPr lang="en-US" altLang="x-none" sz="1400" dirty="0"/>
                        <a:t>AD</a:t>
                      </a:r>
                      <a:endParaRPr lang="en-US" altLang="x-none" sz="1400" dirty="0"/>
                    </a:p>
                  </a:txBody>
                  <a:tcPr marT="45718" marB="4571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90000"/>
                        </a:lnSpc>
                        <a:spcBef>
                          <a:spcPct val="0"/>
                        </a:spcBef>
                        <a:buClr>
                          <a:srgbClr val="0033CC"/>
                        </a:buClr>
                        <a:buSzPct val="80000"/>
                        <a:buFont typeface="Wingdings" panose="05000000000000000000" pitchFamily="2" charset="2"/>
                        <a:buNone/>
                      </a:pPr>
                      <a:r>
                        <a:rPr lang="en-US" altLang="x-none" sz="1400" dirty="0"/>
                        <a:t>CS</a:t>
                      </a:r>
                      <a:endParaRPr lang="en-US" altLang="x-none" sz="1400" dirty="0"/>
                    </a:p>
                  </a:txBody>
                  <a:tcPr marT="45718" marB="45718" vert="horz" anchor="t">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82575">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90000"/>
                        </a:lnSpc>
                        <a:spcBef>
                          <a:spcPct val="0"/>
                        </a:spcBef>
                        <a:buClr>
                          <a:srgbClr val="0033CC"/>
                        </a:buClr>
                        <a:buSzPct val="80000"/>
                        <a:buFont typeface="Wingdings" panose="05000000000000000000" pitchFamily="2" charset="2"/>
                        <a:buNone/>
                      </a:pPr>
                      <a:r>
                        <a:rPr lang="en-US" altLang="x-none" sz="1400" dirty="0"/>
                        <a:t>E09</a:t>
                      </a:r>
                      <a:endParaRPr lang="zh-CN" altLang="en-US" sz="1400" dirty="0"/>
                    </a:p>
                  </a:txBody>
                  <a:tcPr marT="45718" marB="45718" vert="horz" anchor="t">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90000"/>
                        </a:lnSpc>
                        <a:spcBef>
                          <a:spcPct val="0"/>
                        </a:spcBef>
                        <a:buClr>
                          <a:srgbClr val="0033CC"/>
                        </a:buClr>
                        <a:buSzPct val="80000"/>
                        <a:buFont typeface="Wingdings" panose="05000000000000000000" pitchFamily="2" charset="2"/>
                        <a:buNone/>
                      </a:pPr>
                      <a:r>
                        <a:rPr lang="en-US" altLang="x-none" sz="1400" dirty="0"/>
                        <a:t>BD</a:t>
                      </a:r>
                      <a:endParaRPr lang="en-US" altLang="x-none" sz="1400" dirty="0"/>
                    </a:p>
                  </a:txBody>
                  <a:tcPr marT="45718" marB="4571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90000"/>
                        </a:lnSpc>
                        <a:spcBef>
                          <a:spcPct val="0"/>
                        </a:spcBef>
                        <a:buClr>
                          <a:srgbClr val="0033CC"/>
                        </a:buClr>
                        <a:buSzPct val="80000"/>
                        <a:buFont typeface="Wingdings" panose="05000000000000000000" pitchFamily="2" charset="2"/>
                        <a:buNone/>
                      </a:pPr>
                      <a:r>
                        <a:rPr lang="en-US" altLang="x-none" sz="1400" dirty="0"/>
                        <a:t>IS</a:t>
                      </a:r>
                      <a:endParaRPr lang="en-US" altLang="x-none" sz="1400" dirty="0"/>
                    </a:p>
                  </a:txBody>
                  <a:tcPr marT="45718" marB="45718" vert="horz" anchor="t">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85750">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90000"/>
                        </a:lnSpc>
                        <a:spcBef>
                          <a:spcPct val="0"/>
                        </a:spcBef>
                        <a:buClr>
                          <a:srgbClr val="0033CC"/>
                        </a:buClr>
                        <a:buSzPct val="80000"/>
                        <a:buFont typeface="Wingdings" panose="05000000000000000000" pitchFamily="2" charset="2"/>
                        <a:buNone/>
                      </a:pPr>
                      <a:r>
                        <a:rPr lang="en-US" altLang="x-none" sz="1400" dirty="0"/>
                        <a:t>E010</a:t>
                      </a:r>
                      <a:endParaRPr lang="zh-CN" altLang="en-US" sz="1400" dirty="0"/>
                    </a:p>
                  </a:txBody>
                  <a:tcPr marT="45718" marB="45718" vert="horz" anchor="t">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90000"/>
                        </a:lnSpc>
                        <a:spcBef>
                          <a:spcPct val="0"/>
                        </a:spcBef>
                        <a:buClr>
                          <a:srgbClr val="0033CC"/>
                        </a:buClr>
                        <a:buSzPct val="80000"/>
                        <a:buFont typeface="Wingdings" panose="05000000000000000000" pitchFamily="2" charset="2"/>
                        <a:buNone/>
                      </a:pPr>
                      <a:r>
                        <a:rPr lang="en-US" altLang="x-none" sz="1400" dirty="0"/>
                        <a:t>BA</a:t>
                      </a:r>
                      <a:endParaRPr lang="en-US" altLang="x-none" sz="1400" dirty="0"/>
                    </a:p>
                  </a:txBody>
                  <a:tcPr marT="45718" marB="4571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90000"/>
                        </a:lnSpc>
                        <a:spcBef>
                          <a:spcPct val="0"/>
                        </a:spcBef>
                        <a:buClr>
                          <a:srgbClr val="0033CC"/>
                        </a:buClr>
                        <a:buSzPct val="80000"/>
                        <a:buFont typeface="Wingdings" panose="05000000000000000000" pitchFamily="2" charset="2"/>
                        <a:buNone/>
                      </a:pPr>
                      <a:r>
                        <a:rPr lang="en-US" altLang="x-none" sz="1400" dirty="0"/>
                        <a:t>IS</a:t>
                      </a:r>
                      <a:endParaRPr lang="en-US" altLang="x-none" sz="1400" dirty="0"/>
                    </a:p>
                  </a:txBody>
                  <a:tcPr marT="45718" marB="45718" vert="horz" anchor="t">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84162">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90000"/>
                        </a:lnSpc>
                        <a:spcBef>
                          <a:spcPct val="0"/>
                        </a:spcBef>
                        <a:buClr>
                          <a:srgbClr val="0033CC"/>
                        </a:buClr>
                        <a:buSzPct val="80000"/>
                        <a:buFont typeface="Wingdings" panose="05000000000000000000" pitchFamily="2" charset="2"/>
                        <a:buNone/>
                      </a:pPr>
                      <a:r>
                        <a:rPr lang="en-US" altLang="x-none" sz="1400" dirty="0"/>
                        <a:t>E011</a:t>
                      </a:r>
                      <a:endParaRPr lang="zh-CN" altLang="en-US" sz="1400" dirty="0"/>
                    </a:p>
                  </a:txBody>
                  <a:tcPr marT="45718" marB="45718" vert="horz" anchor="t">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90000"/>
                        </a:lnSpc>
                        <a:spcBef>
                          <a:spcPct val="0"/>
                        </a:spcBef>
                        <a:buClr>
                          <a:srgbClr val="0033CC"/>
                        </a:buClr>
                        <a:buSzPct val="80000"/>
                        <a:buFont typeface="Wingdings" panose="05000000000000000000" pitchFamily="2" charset="2"/>
                        <a:buNone/>
                      </a:pPr>
                      <a:r>
                        <a:rPr lang="en-US" altLang="x-none" sz="1400" dirty="0"/>
                        <a:t>CC</a:t>
                      </a:r>
                      <a:endParaRPr lang="en-US" altLang="x-none" sz="1400" dirty="0"/>
                    </a:p>
                  </a:txBody>
                  <a:tcPr marT="45718" marB="4571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90000"/>
                        </a:lnSpc>
                        <a:spcBef>
                          <a:spcPct val="0"/>
                        </a:spcBef>
                        <a:buClr>
                          <a:srgbClr val="0033CC"/>
                        </a:buClr>
                        <a:buSzPct val="80000"/>
                        <a:buFont typeface="Wingdings" panose="05000000000000000000" pitchFamily="2" charset="2"/>
                        <a:buNone/>
                      </a:pPr>
                      <a:r>
                        <a:rPr lang="en-US" altLang="x-none" sz="1400" dirty="0"/>
                        <a:t>CS</a:t>
                      </a:r>
                      <a:endParaRPr lang="en-US" altLang="x-none" sz="1400" dirty="0"/>
                    </a:p>
                  </a:txBody>
                  <a:tcPr marT="45718" marB="45718" vert="horz" anchor="t">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84163">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90000"/>
                        </a:lnSpc>
                        <a:spcBef>
                          <a:spcPct val="0"/>
                        </a:spcBef>
                        <a:buClr>
                          <a:srgbClr val="0033CC"/>
                        </a:buClr>
                        <a:buSzPct val="80000"/>
                        <a:buFont typeface="Wingdings" panose="05000000000000000000" pitchFamily="2" charset="2"/>
                        <a:buNone/>
                      </a:pPr>
                      <a:r>
                        <a:rPr lang="en-US" altLang="x-none" sz="1400" dirty="0"/>
                        <a:t>E012</a:t>
                      </a:r>
                      <a:endParaRPr lang="zh-CN" altLang="en-US" sz="1400" dirty="0"/>
                    </a:p>
                  </a:txBody>
                  <a:tcPr marT="45718" marB="45718" vert="horz" anchor="t">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90000"/>
                        </a:lnSpc>
                        <a:spcBef>
                          <a:spcPct val="0"/>
                        </a:spcBef>
                        <a:buClr>
                          <a:srgbClr val="0033CC"/>
                        </a:buClr>
                        <a:buSzPct val="80000"/>
                        <a:buFont typeface="Wingdings" panose="05000000000000000000" pitchFamily="2" charset="2"/>
                        <a:buNone/>
                      </a:pPr>
                      <a:r>
                        <a:rPr lang="en-US" altLang="x-none" sz="1400" dirty="0"/>
                        <a:t>CA</a:t>
                      </a:r>
                      <a:endParaRPr lang="en-US" altLang="x-none" sz="1400" dirty="0"/>
                    </a:p>
                  </a:txBody>
                  <a:tcPr marT="45718" marB="4571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90000"/>
                        </a:lnSpc>
                        <a:spcBef>
                          <a:spcPct val="0"/>
                        </a:spcBef>
                        <a:buClr>
                          <a:srgbClr val="0033CC"/>
                        </a:buClr>
                        <a:buSzPct val="80000"/>
                        <a:buFont typeface="Wingdings" panose="05000000000000000000" pitchFamily="2" charset="2"/>
                        <a:buNone/>
                      </a:pPr>
                      <a:r>
                        <a:rPr lang="en-US" altLang="x-none" sz="1400" dirty="0"/>
                        <a:t>CS</a:t>
                      </a:r>
                      <a:endParaRPr lang="en-US" altLang="x-none" sz="1400" dirty="0"/>
                    </a:p>
                  </a:txBody>
                  <a:tcPr marT="45718" marB="45718" vert="horz" anchor="t">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grpSp>
        <p:nvGrpSpPr>
          <p:cNvPr id="48189" name="Group 64"/>
          <p:cNvGrpSpPr/>
          <p:nvPr/>
        </p:nvGrpSpPr>
        <p:grpSpPr>
          <a:xfrm>
            <a:off x="2343150" y="2344738"/>
            <a:ext cx="6661150" cy="3683000"/>
            <a:chOff x="0" y="0"/>
            <a:chExt cx="4196" cy="2320"/>
          </a:xfrm>
        </p:grpSpPr>
        <p:sp>
          <p:nvSpPr>
            <p:cNvPr id="48190" name="Rectangle 65"/>
            <p:cNvSpPr/>
            <p:nvPr/>
          </p:nvSpPr>
          <p:spPr>
            <a:xfrm>
              <a:off x="2360" y="474"/>
              <a:ext cx="316"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203</a:t>
              </a:r>
              <a:endParaRPr lang="en-US" altLang="zh-CN" sz="1400" dirty="0">
                <a:latin typeface="Arial" panose="020B0604020202020204" pitchFamily="34" charset="0"/>
                <a:ea typeface="宋体" panose="02010600030101010101" pitchFamily="2" charset="-122"/>
              </a:endParaRPr>
            </a:p>
          </p:txBody>
        </p:sp>
        <p:sp>
          <p:nvSpPr>
            <p:cNvPr id="48191" name="Rectangle 66"/>
            <p:cNvSpPr/>
            <p:nvPr/>
          </p:nvSpPr>
          <p:spPr>
            <a:xfrm>
              <a:off x="2044" y="474"/>
              <a:ext cx="316"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E07</a:t>
              </a:r>
              <a:endParaRPr lang="en-US" altLang="zh-CN" sz="1400" dirty="0">
                <a:latin typeface="Arial" panose="020B0604020202020204" pitchFamily="34" charset="0"/>
                <a:ea typeface="宋体" panose="02010600030101010101" pitchFamily="2" charset="-122"/>
              </a:endParaRPr>
            </a:p>
          </p:txBody>
        </p:sp>
        <p:sp>
          <p:nvSpPr>
            <p:cNvPr id="48192" name="Rectangle 67"/>
            <p:cNvSpPr/>
            <p:nvPr/>
          </p:nvSpPr>
          <p:spPr>
            <a:xfrm>
              <a:off x="2360" y="283"/>
              <a:ext cx="316"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202</a:t>
              </a:r>
              <a:endParaRPr lang="en-US" altLang="zh-CN" sz="1400" dirty="0">
                <a:latin typeface="Arial" panose="020B0604020202020204" pitchFamily="34" charset="0"/>
                <a:ea typeface="宋体" panose="02010600030101010101" pitchFamily="2" charset="-122"/>
              </a:endParaRPr>
            </a:p>
          </p:txBody>
        </p:sp>
        <p:sp>
          <p:nvSpPr>
            <p:cNvPr id="48193" name="Rectangle 68"/>
            <p:cNvSpPr/>
            <p:nvPr/>
          </p:nvSpPr>
          <p:spPr>
            <a:xfrm>
              <a:off x="2044" y="283"/>
              <a:ext cx="316"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E01</a:t>
              </a:r>
              <a:endParaRPr lang="en-US" altLang="zh-CN" sz="1400" dirty="0">
                <a:latin typeface="Arial" panose="020B0604020202020204" pitchFamily="34" charset="0"/>
                <a:ea typeface="宋体" panose="02010600030101010101" pitchFamily="2" charset="-122"/>
              </a:endParaRPr>
            </a:p>
          </p:txBody>
        </p:sp>
        <p:sp>
          <p:nvSpPr>
            <p:cNvPr id="48194" name="Line 69"/>
            <p:cNvSpPr/>
            <p:nvPr/>
          </p:nvSpPr>
          <p:spPr>
            <a:xfrm>
              <a:off x="2044" y="283"/>
              <a:ext cx="632" cy="0"/>
            </a:xfrm>
            <a:prstGeom prst="line">
              <a:avLst/>
            </a:prstGeom>
            <a:ln w="28575" cap="sq" cmpd="sng">
              <a:solidFill>
                <a:schemeClr val="tx1"/>
              </a:solidFill>
              <a:prstDash val="solid"/>
              <a:round/>
              <a:headEnd type="none" w="med" len="med"/>
              <a:tailEnd type="none" w="med" len="med"/>
            </a:ln>
          </p:spPr>
        </p:sp>
        <p:sp>
          <p:nvSpPr>
            <p:cNvPr id="48195" name="Line 70"/>
            <p:cNvSpPr/>
            <p:nvPr/>
          </p:nvSpPr>
          <p:spPr>
            <a:xfrm>
              <a:off x="2044" y="474"/>
              <a:ext cx="632" cy="0"/>
            </a:xfrm>
            <a:prstGeom prst="line">
              <a:avLst/>
            </a:prstGeom>
            <a:ln w="12700" cap="flat" cmpd="sng">
              <a:solidFill>
                <a:schemeClr val="tx1"/>
              </a:solidFill>
              <a:prstDash val="solid"/>
              <a:round/>
              <a:headEnd type="none" w="med" len="med"/>
              <a:tailEnd type="none" w="med" len="med"/>
            </a:ln>
          </p:spPr>
        </p:sp>
        <p:sp>
          <p:nvSpPr>
            <p:cNvPr id="48196" name="Line 71"/>
            <p:cNvSpPr/>
            <p:nvPr/>
          </p:nvSpPr>
          <p:spPr>
            <a:xfrm>
              <a:off x="2044" y="665"/>
              <a:ext cx="632" cy="0"/>
            </a:xfrm>
            <a:prstGeom prst="line">
              <a:avLst/>
            </a:prstGeom>
            <a:ln w="28575" cap="sq" cmpd="sng">
              <a:solidFill>
                <a:schemeClr val="tx1"/>
              </a:solidFill>
              <a:prstDash val="solid"/>
              <a:round/>
              <a:headEnd type="none" w="med" len="med"/>
              <a:tailEnd type="none" w="med" len="med"/>
            </a:ln>
          </p:spPr>
        </p:sp>
        <p:sp>
          <p:nvSpPr>
            <p:cNvPr id="48197" name="Line 72"/>
            <p:cNvSpPr/>
            <p:nvPr/>
          </p:nvSpPr>
          <p:spPr>
            <a:xfrm>
              <a:off x="2044" y="283"/>
              <a:ext cx="0" cy="382"/>
            </a:xfrm>
            <a:prstGeom prst="line">
              <a:avLst/>
            </a:prstGeom>
            <a:ln w="28575" cap="sq" cmpd="sng">
              <a:solidFill>
                <a:schemeClr val="tx1"/>
              </a:solidFill>
              <a:prstDash val="solid"/>
              <a:round/>
              <a:headEnd type="none" w="med" len="med"/>
              <a:tailEnd type="none" w="med" len="med"/>
            </a:ln>
          </p:spPr>
        </p:sp>
        <p:sp>
          <p:nvSpPr>
            <p:cNvPr id="48198" name="Line 73"/>
            <p:cNvSpPr/>
            <p:nvPr/>
          </p:nvSpPr>
          <p:spPr>
            <a:xfrm>
              <a:off x="2360" y="283"/>
              <a:ext cx="0" cy="382"/>
            </a:xfrm>
            <a:prstGeom prst="line">
              <a:avLst/>
            </a:prstGeom>
            <a:ln w="12700" cap="flat" cmpd="sng">
              <a:solidFill>
                <a:schemeClr val="tx1"/>
              </a:solidFill>
              <a:prstDash val="solid"/>
              <a:round/>
              <a:headEnd type="none" w="med" len="med"/>
              <a:tailEnd type="none" w="med" len="med"/>
            </a:ln>
          </p:spPr>
        </p:sp>
        <p:sp>
          <p:nvSpPr>
            <p:cNvPr id="48199" name="Line 74"/>
            <p:cNvSpPr/>
            <p:nvPr/>
          </p:nvSpPr>
          <p:spPr>
            <a:xfrm>
              <a:off x="2676" y="283"/>
              <a:ext cx="0" cy="382"/>
            </a:xfrm>
            <a:prstGeom prst="line">
              <a:avLst/>
            </a:prstGeom>
            <a:ln w="28575" cap="sq" cmpd="sng">
              <a:solidFill>
                <a:schemeClr val="tx1"/>
              </a:solidFill>
              <a:prstDash val="solid"/>
              <a:round/>
              <a:headEnd type="none" w="med" len="med"/>
              <a:tailEnd type="none" w="med" len="med"/>
            </a:ln>
          </p:spPr>
        </p:sp>
        <p:sp>
          <p:nvSpPr>
            <p:cNvPr id="48200" name="Rectangle 75"/>
            <p:cNvSpPr/>
            <p:nvPr/>
          </p:nvSpPr>
          <p:spPr>
            <a:xfrm>
              <a:off x="1480" y="1106"/>
              <a:ext cx="316"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104</a:t>
              </a:r>
              <a:endParaRPr lang="en-US" altLang="zh-CN" sz="1400" dirty="0">
                <a:latin typeface="Arial" panose="020B0604020202020204" pitchFamily="34" charset="0"/>
                <a:ea typeface="宋体" panose="02010600030101010101" pitchFamily="2" charset="-122"/>
              </a:endParaRPr>
            </a:p>
          </p:txBody>
        </p:sp>
        <p:sp>
          <p:nvSpPr>
            <p:cNvPr id="48201" name="Rectangle 76"/>
            <p:cNvSpPr/>
            <p:nvPr/>
          </p:nvSpPr>
          <p:spPr>
            <a:xfrm>
              <a:off x="1164" y="1106"/>
              <a:ext cx="316"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E04</a:t>
              </a:r>
              <a:endParaRPr lang="en-US" altLang="zh-CN" sz="1400" dirty="0">
                <a:latin typeface="Arial" panose="020B0604020202020204" pitchFamily="34" charset="0"/>
                <a:ea typeface="宋体" panose="02010600030101010101" pitchFamily="2" charset="-122"/>
              </a:endParaRPr>
            </a:p>
          </p:txBody>
        </p:sp>
        <p:sp>
          <p:nvSpPr>
            <p:cNvPr id="48202" name="Rectangle 77"/>
            <p:cNvSpPr/>
            <p:nvPr/>
          </p:nvSpPr>
          <p:spPr>
            <a:xfrm>
              <a:off x="1480" y="915"/>
              <a:ext cx="316"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101</a:t>
              </a:r>
              <a:endParaRPr lang="en-US" altLang="zh-CN" sz="1400" dirty="0">
                <a:latin typeface="Arial" panose="020B0604020202020204" pitchFamily="34" charset="0"/>
                <a:ea typeface="宋体" panose="02010600030101010101" pitchFamily="2" charset="-122"/>
              </a:endParaRPr>
            </a:p>
          </p:txBody>
        </p:sp>
        <p:sp>
          <p:nvSpPr>
            <p:cNvPr id="48203" name="Rectangle 78"/>
            <p:cNvSpPr/>
            <p:nvPr/>
          </p:nvSpPr>
          <p:spPr>
            <a:xfrm>
              <a:off x="1164" y="915"/>
              <a:ext cx="316"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E01</a:t>
              </a:r>
              <a:endParaRPr lang="en-US" altLang="zh-CN" sz="1400" dirty="0">
                <a:latin typeface="Arial" panose="020B0604020202020204" pitchFamily="34" charset="0"/>
                <a:ea typeface="宋体" panose="02010600030101010101" pitchFamily="2" charset="-122"/>
              </a:endParaRPr>
            </a:p>
          </p:txBody>
        </p:sp>
        <p:sp>
          <p:nvSpPr>
            <p:cNvPr id="48204" name="Line 79"/>
            <p:cNvSpPr/>
            <p:nvPr/>
          </p:nvSpPr>
          <p:spPr>
            <a:xfrm>
              <a:off x="1164" y="915"/>
              <a:ext cx="632" cy="0"/>
            </a:xfrm>
            <a:prstGeom prst="line">
              <a:avLst/>
            </a:prstGeom>
            <a:ln w="28575" cap="sq" cmpd="sng">
              <a:solidFill>
                <a:schemeClr val="tx1"/>
              </a:solidFill>
              <a:prstDash val="solid"/>
              <a:round/>
              <a:headEnd type="none" w="med" len="med"/>
              <a:tailEnd type="none" w="med" len="med"/>
            </a:ln>
          </p:spPr>
        </p:sp>
        <p:sp>
          <p:nvSpPr>
            <p:cNvPr id="48205" name="Line 80"/>
            <p:cNvSpPr/>
            <p:nvPr/>
          </p:nvSpPr>
          <p:spPr>
            <a:xfrm>
              <a:off x="1164" y="1106"/>
              <a:ext cx="632" cy="0"/>
            </a:xfrm>
            <a:prstGeom prst="line">
              <a:avLst/>
            </a:prstGeom>
            <a:ln w="12700" cap="flat" cmpd="sng">
              <a:solidFill>
                <a:schemeClr val="tx1"/>
              </a:solidFill>
              <a:prstDash val="solid"/>
              <a:round/>
              <a:headEnd type="none" w="med" len="med"/>
              <a:tailEnd type="none" w="med" len="med"/>
            </a:ln>
          </p:spPr>
        </p:sp>
        <p:sp>
          <p:nvSpPr>
            <p:cNvPr id="48206" name="Line 81"/>
            <p:cNvSpPr/>
            <p:nvPr/>
          </p:nvSpPr>
          <p:spPr>
            <a:xfrm>
              <a:off x="1164" y="1297"/>
              <a:ext cx="632" cy="0"/>
            </a:xfrm>
            <a:prstGeom prst="line">
              <a:avLst/>
            </a:prstGeom>
            <a:ln w="28575" cap="sq" cmpd="sng">
              <a:solidFill>
                <a:schemeClr val="tx1"/>
              </a:solidFill>
              <a:prstDash val="solid"/>
              <a:round/>
              <a:headEnd type="none" w="med" len="med"/>
              <a:tailEnd type="none" w="med" len="med"/>
            </a:ln>
          </p:spPr>
        </p:sp>
        <p:sp>
          <p:nvSpPr>
            <p:cNvPr id="48207" name="Line 82"/>
            <p:cNvSpPr/>
            <p:nvPr/>
          </p:nvSpPr>
          <p:spPr>
            <a:xfrm>
              <a:off x="1164" y="915"/>
              <a:ext cx="0" cy="382"/>
            </a:xfrm>
            <a:prstGeom prst="line">
              <a:avLst/>
            </a:prstGeom>
            <a:ln w="28575" cap="sq" cmpd="sng">
              <a:solidFill>
                <a:schemeClr val="tx1"/>
              </a:solidFill>
              <a:prstDash val="solid"/>
              <a:round/>
              <a:headEnd type="none" w="med" len="med"/>
              <a:tailEnd type="none" w="med" len="med"/>
            </a:ln>
          </p:spPr>
        </p:sp>
        <p:sp>
          <p:nvSpPr>
            <p:cNvPr id="48208" name="Line 83"/>
            <p:cNvSpPr/>
            <p:nvPr/>
          </p:nvSpPr>
          <p:spPr>
            <a:xfrm>
              <a:off x="1480" y="915"/>
              <a:ext cx="0" cy="382"/>
            </a:xfrm>
            <a:prstGeom prst="line">
              <a:avLst/>
            </a:prstGeom>
            <a:ln w="12700" cap="flat" cmpd="sng">
              <a:solidFill>
                <a:schemeClr val="tx1"/>
              </a:solidFill>
              <a:prstDash val="solid"/>
              <a:round/>
              <a:headEnd type="none" w="med" len="med"/>
              <a:tailEnd type="none" w="med" len="med"/>
            </a:ln>
          </p:spPr>
        </p:sp>
        <p:sp>
          <p:nvSpPr>
            <p:cNvPr id="48209" name="Line 84"/>
            <p:cNvSpPr/>
            <p:nvPr/>
          </p:nvSpPr>
          <p:spPr>
            <a:xfrm>
              <a:off x="1796" y="915"/>
              <a:ext cx="0" cy="382"/>
            </a:xfrm>
            <a:prstGeom prst="line">
              <a:avLst/>
            </a:prstGeom>
            <a:ln w="28575" cap="sq" cmpd="sng">
              <a:solidFill>
                <a:schemeClr val="tx1"/>
              </a:solidFill>
              <a:prstDash val="solid"/>
              <a:round/>
              <a:headEnd type="none" w="med" len="med"/>
              <a:tailEnd type="none" w="med" len="med"/>
            </a:ln>
          </p:spPr>
        </p:sp>
        <p:sp>
          <p:nvSpPr>
            <p:cNvPr id="48210" name="Rectangle 85"/>
            <p:cNvSpPr/>
            <p:nvPr/>
          </p:nvSpPr>
          <p:spPr>
            <a:xfrm>
              <a:off x="3320" y="1114"/>
              <a:ext cx="316"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111</a:t>
              </a:r>
              <a:endParaRPr lang="en-US" altLang="zh-CN" sz="1400" dirty="0">
                <a:latin typeface="Arial" panose="020B0604020202020204" pitchFamily="34" charset="0"/>
                <a:ea typeface="宋体" panose="02010600030101010101" pitchFamily="2" charset="-122"/>
              </a:endParaRPr>
            </a:p>
          </p:txBody>
        </p:sp>
        <p:sp>
          <p:nvSpPr>
            <p:cNvPr id="48211" name="Rectangle 86"/>
            <p:cNvSpPr/>
            <p:nvPr/>
          </p:nvSpPr>
          <p:spPr>
            <a:xfrm>
              <a:off x="3004" y="1114"/>
              <a:ext cx="316"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E10</a:t>
              </a:r>
              <a:endParaRPr lang="en-US" altLang="zh-CN" sz="1400" dirty="0">
                <a:latin typeface="Arial" panose="020B0604020202020204" pitchFamily="34" charset="0"/>
                <a:ea typeface="宋体" panose="02010600030101010101" pitchFamily="2" charset="-122"/>
              </a:endParaRPr>
            </a:p>
          </p:txBody>
        </p:sp>
        <p:sp>
          <p:nvSpPr>
            <p:cNvPr id="48212" name="Rectangle 87"/>
            <p:cNvSpPr/>
            <p:nvPr/>
          </p:nvSpPr>
          <p:spPr>
            <a:xfrm>
              <a:off x="3320" y="923"/>
              <a:ext cx="316"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110</a:t>
              </a:r>
              <a:endParaRPr lang="en-US" altLang="zh-CN" sz="1400" dirty="0">
                <a:latin typeface="Arial" panose="020B0604020202020204" pitchFamily="34" charset="0"/>
                <a:ea typeface="宋体" panose="02010600030101010101" pitchFamily="2" charset="-122"/>
              </a:endParaRPr>
            </a:p>
          </p:txBody>
        </p:sp>
        <p:sp>
          <p:nvSpPr>
            <p:cNvPr id="48213" name="Rectangle 88"/>
            <p:cNvSpPr/>
            <p:nvPr/>
          </p:nvSpPr>
          <p:spPr>
            <a:xfrm>
              <a:off x="3004" y="923"/>
              <a:ext cx="316"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E07</a:t>
              </a:r>
              <a:endParaRPr lang="en-US" altLang="zh-CN" sz="1400" dirty="0">
                <a:latin typeface="Arial" panose="020B0604020202020204" pitchFamily="34" charset="0"/>
                <a:ea typeface="宋体" panose="02010600030101010101" pitchFamily="2" charset="-122"/>
              </a:endParaRPr>
            </a:p>
          </p:txBody>
        </p:sp>
        <p:sp>
          <p:nvSpPr>
            <p:cNvPr id="48214" name="Line 89"/>
            <p:cNvSpPr/>
            <p:nvPr/>
          </p:nvSpPr>
          <p:spPr>
            <a:xfrm>
              <a:off x="3004" y="923"/>
              <a:ext cx="632" cy="0"/>
            </a:xfrm>
            <a:prstGeom prst="line">
              <a:avLst/>
            </a:prstGeom>
            <a:ln w="28575" cap="sq" cmpd="sng">
              <a:solidFill>
                <a:schemeClr val="tx1"/>
              </a:solidFill>
              <a:prstDash val="solid"/>
              <a:round/>
              <a:headEnd type="none" w="med" len="med"/>
              <a:tailEnd type="none" w="med" len="med"/>
            </a:ln>
          </p:spPr>
        </p:sp>
        <p:sp>
          <p:nvSpPr>
            <p:cNvPr id="48215" name="Line 90"/>
            <p:cNvSpPr/>
            <p:nvPr/>
          </p:nvSpPr>
          <p:spPr>
            <a:xfrm>
              <a:off x="3004" y="1114"/>
              <a:ext cx="632" cy="0"/>
            </a:xfrm>
            <a:prstGeom prst="line">
              <a:avLst/>
            </a:prstGeom>
            <a:ln w="12700" cap="flat" cmpd="sng">
              <a:solidFill>
                <a:schemeClr val="tx1"/>
              </a:solidFill>
              <a:prstDash val="solid"/>
              <a:round/>
              <a:headEnd type="none" w="med" len="med"/>
              <a:tailEnd type="none" w="med" len="med"/>
            </a:ln>
          </p:spPr>
        </p:sp>
        <p:sp>
          <p:nvSpPr>
            <p:cNvPr id="48216" name="Line 91"/>
            <p:cNvSpPr/>
            <p:nvPr/>
          </p:nvSpPr>
          <p:spPr>
            <a:xfrm>
              <a:off x="3004" y="1305"/>
              <a:ext cx="632" cy="0"/>
            </a:xfrm>
            <a:prstGeom prst="line">
              <a:avLst/>
            </a:prstGeom>
            <a:ln w="28575" cap="sq" cmpd="sng">
              <a:solidFill>
                <a:schemeClr val="tx1"/>
              </a:solidFill>
              <a:prstDash val="solid"/>
              <a:round/>
              <a:headEnd type="none" w="med" len="med"/>
              <a:tailEnd type="none" w="med" len="med"/>
            </a:ln>
          </p:spPr>
        </p:sp>
        <p:sp>
          <p:nvSpPr>
            <p:cNvPr id="48217" name="Line 92"/>
            <p:cNvSpPr/>
            <p:nvPr/>
          </p:nvSpPr>
          <p:spPr>
            <a:xfrm>
              <a:off x="3004" y="923"/>
              <a:ext cx="0" cy="382"/>
            </a:xfrm>
            <a:prstGeom prst="line">
              <a:avLst/>
            </a:prstGeom>
            <a:ln w="28575" cap="sq" cmpd="sng">
              <a:solidFill>
                <a:schemeClr val="tx1"/>
              </a:solidFill>
              <a:prstDash val="solid"/>
              <a:round/>
              <a:headEnd type="none" w="med" len="med"/>
              <a:tailEnd type="none" w="med" len="med"/>
            </a:ln>
          </p:spPr>
        </p:sp>
        <p:sp>
          <p:nvSpPr>
            <p:cNvPr id="48218" name="Line 93"/>
            <p:cNvSpPr/>
            <p:nvPr/>
          </p:nvSpPr>
          <p:spPr>
            <a:xfrm>
              <a:off x="3320" y="923"/>
              <a:ext cx="0" cy="382"/>
            </a:xfrm>
            <a:prstGeom prst="line">
              <a:avLst/>
            </a:prstGeom>
            <a:ln w="12700" cap="flat" cmpd="sng">
              <a:solidFill>
                <a:schemeClr val="tx1"/>
              </a:solidFill>
              <a:prstDash val="solid"/>
              <a:round/>
              <a:headEnd type="none" w="med" len="med"/>
              <a:tailEnd type="none" w="med" len="med"/>
            </a:ln>
          </p:spPr>
        </p:sp>
        <p:sp>
          <p:nvSpPr>
            <p:cNvPr id="48219" name="Line 94"/>
            <p:cNvSpPr/>
            <p:nvPr/>
          </p:nvSpPr>
          <p:spPr>
            <a:xfrm>
              <a:off x="3636" y="923"/>
              <a:ext cx="0" cy="382"/>
            </a:xfrm>
            <a:prstGeom prst="line">
              <a:avLst/>
            </a:prstGeom>
            <a:ln w="28575" cap="sq" cmpd="sng">
              <a:solidFill>
                <a:schemeClr val="tx1"/>
              </a:solidFill>
              <a:prstDash val="solid"/>
              <a:round/>
              <a:headEnd type="none" w="med" len="med"/>
              <a:tailEnd type="none" w="med" len="med"/>
            </a:ln>
          </p:spPr>
        </p:sp>
        <p:sp>
          <p:nvSpPr>
            <p:cNvPr id="48220" name="Rectangle 95"/>
            <p:cNvSpPr/>
            <p:nvPr/>
          </p:nvSpPr>
          <p:spPr>
            <a:xfrm>
              <a:off x="1049" y="2134"/>
              <a:ext cx="267" cy="178"/>
            </a:xfrm>
            <a:prstGeom prst="rect">
              <a:avLst/>
            </a:prstGeom>
            <a:noFill/>
            <a:ln w="9525">
              <a:noFill/>
            </a:ln>
          </p:spPr>
          <p:txBody>
            <a:bodyPr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IS</a:t>
              </a:r>
              <a:endParaRPr lang="en-US" altLang="zh-CN" sz="1400" dirty="0">
                <a:latin typeface="Arial" panose="020B0604020202020204" pitchFamily="34" charset="0"/>
                <a:ea typeface="宋体" panose="02010600030101010101" pitchFamily="2" charset="-122"/>
              </a:endParaRPr>
            </a:p>
          </p:txBody>
        </p:sp>
        <p:sp>
          <p:nvSpPr>
            <p:cNvPr id="48221" name="Rectangle 96"/>
            <p:cNvSpPr/>
            <p:nvPr/>
          </p:nvSpPr>
          <p:spPr>
            <a:xfrm>
              <a:off x="783" y="2134"/>
              <a:ext cx="266"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BB</a:t>
              </a:r>
              <a:endParaRPr lang="en-US" altLang="zh-CN" sz="1400" dirty="0">
                <a:latin typeface="Arial" panose="020B0604020202020204" pitchFamily="34" charset="0"/>
                <a:ea typeface="宋体" panose="02010600030101010101" pitchFamily="2" charset="-122"/>
              </a:endParaRPr>
            </a:p>
          </p:txBody>
        </p:sp>
        <p:sp>
          <p:nvSpPr>
            <p:cNvPr id="48222" name="Rectangle 97"/>
            <p:cNvSpPr/>
            <p:nvPr/>
          </p:nvSpPr>
          <p:spPr>
            <a:xfrm>
              <a:off x="516" y="2134"/>
              <a:ext cx="267"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E03</a:t>
              </a:r>
              <a:endParaRPr lang="en-US" altLang="zh-CN" sz="1400" dirty="0">
                <a:latin typeface="Arial" panose="020B0604020202020204" pitchFamily="34" charset="0"/>
                <a:ea typeface="宋体" panose="02010600030101010101" pitchFamily="2" charset="-122"/>
              </a:endParaRPr>
            </a:p>
          </p:txBody>
        </p:sp>
        <p:sp>
          <p:nvSpPr>
            <p:cNvPr id="48223" name="Rectangle 98"/>
            <p:cNvSpPr/>
            <p:nvPr/>
          </p:nvSpPr>
          <p:spPr>
            <a:xfrm>
              <a:off x="1049" y="1956"/>
              <a:ext cx="267"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CS</a:t>
              </a:r>
              <a:endParaRPr lang="en-US" altLang="zh-CN" sz="1400" dirty="0">
                <a:latin typeface="Arial" panose="020B0604020202020204" pitchFamily="34" charset="0"/>
                <a:ea typeface="宋体" panose="02010600030101010101" pitchFamily="2" charset="-122"/>
              </a:endParaRPr>
            </a:p>
          </p:txBody>
        </p:sp>
        <p:sp>
          <p:nvSpPr>
            <p:cNvPr id="48224" name="Rectangle 99"/>
            <p:cNvSpPr/>
            <p:nvPr/>
          </p:nvSpPr>
          <p:spPr>
            <a:xfrm>
              <a:off x="783" y="1956"/>
              <a:ext cx="266"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AA</a:t>
              </a:r>
              <a:endParaRPr lang="en-US" altLang="zh-CN" sz="1400" dirty="0">
                <a:latin typeface="Arial" panose="020B0604020202020204" pitchFamily="34" charset="0"/>
                <a:ea typeface="宋体" panose="02010600030101010101" pitchFamily="2" charset="-122"/>
              </a:endParaRPr>
            </a:p>
          </p:txBody>
        </p:sp>
        <p:sp>
          <p:nvSpPr>
            <p:cNvPr id="48225" name="Rectangle 100"/>
            <p:cNvSpPr/>
            <p:nvPr/>
          </p:nvSpPr>
          <p:spPr>
            <a:xfrm>
              <a:off x="516" y="1956"/>
              <a:ext cx="267"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E02</a:t>
              </a:r>
              <a:endParaRPr lang="en-US" altLang="zh-CN" sz="1400" dirty="0">
                <a:latin typeface="Arial" panose="020B0604020202020204" pitchFamily="34" charset="0"/>
                <a:ea typeface="宋体" panose="02010600030101010101" pitchFamily="2" charset="-122"/>
              </a:endParaRPr>
            </a:p>
          </p:txBody>
        </p:sp>
        <p:sp>
          <p:nvSpPr>
            <p:cNvPr id="48226" name="Rectangle 101"/>
            <p:cNvSpPr/>
            <p:nvPr/>
          </p:nvSpPr>
          <p:spPr>
            <a:xfrm>
              <a:off x="1049" y="1778"/>
              <a:ext cx="267"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CS</a:t>
              </a:r>
              <a:endParaRPr lang="en-US" altLang="zh-CN" sz="1400" dirty="0">
                <a:latin typeface="Arial" panose="020B0604020202020204" pitchFamily="34" charset="0"/>
                <a:ea typeface="宋体" panose="02010600030101010101" pitchFamily="2" charset="-122"/>
              </a:endParaRPr>
            </a:p>
          </p:txBody>
        </p:sp>
        <p:sp>
          <p:nvSpPr>
            <p:cNvPr id="48227" name="Rectangle 102"/>
            <p:cNvSpPr/>
            <p:nvPr/>
          </p:nvSpPr>
          <p:spPr>
            <a:xfrm>
              <a:off x="783" y="1778"/>
              <a:ext cx="266"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AB</a:t>
              </a:r>
              <a:endParaRPr lang="en-US" altLang="zh-CN" sz="1400" dirty="0">
                <a:latin typeface="Arial" panose="020B0604020202020204" pitchFamily="34" charset="0"/>
                <a:ea typeface="宋体" panose="02010600030101010101" pitchFamily="2" charset="-122"/>
              </a:endParaRPr>
            </a:p>
          </p:txBody>
        </p:sp>
        <p:sp>
          <p:nvSpPr>
            <p:cNvPr id="48228" name="Rectangle 103"/>
            <p:cNvSpPr/>
            <p:nvPr/>
          </p:nvSpPr>
          <p:spPr>
            <a:xfrm>
              <a:off x="516" y="1778"/>
              <a:ext cx="267"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E01</a:t>
              </a:r>
              <a:endParaRPr lang="en-US" altLang="zh-CN" sz="1400" dirty="0">
                <a:latin typeface="Arial" panose="020B0604020202020204" pitchFamily="34" charset="0"/>
                <a:ea typeface="宋体" panose="02010600030101010101" pitchFamily="2" charset="-122"/>
              </a:endParaRPr>
            </a:p>
          </p:txBody>
        </p:sp>
        <p:sp>
          <p:nvSpPr>
            <p:cNvPr id="48229" name="Line 104"/>
            <p:cNvSpPr/>
            <p:nvPr/>
          </p:nvSpPr>
          <p:spPr>
            <a:xfrm>
              <a:off x="516" y="1778"/>
              <a:ext cx="800" cy="0"/>
            </a:xfrm>
            <a:prstGeom prst="line">
              <a:avLst/>
            </a:prstGeom>
            <a:ln w="28575" cap="sq" cmpd="sng">
              <a:solidFill>
                <a:schemeClr val="tx1"/>
              </a:solidFill>
              <a:prstDash val="solid"/>
              <a:round/>
              <a:headEnd type="none" w="med" len="med"/>
              <a:tailEnd type="none" w="med" len="med"/>
            </a:ln>
          </p:spPr>
        </p:sp>
        <p:sp>
          <p:nvSpPr>
            <p:cNvPr id="48230" name="Line 105"/>
            <p:cNvSpPr/>
            <p:nvPr/>
          </p:nvSpPr>
          <p:spPr>
            <a:xfrm>
              <a:off x="516" y="1956"/>
              <a:ext cx="800" cy="0"/>
            </a:xfrm>
            <a:prstGeom prst="line">
              <a:avLst/>
            </a:prstGeom>
            <a:ln w="12700" cap="flat" cmpd="sng">
              <a:solidFill>
                <a:schemeClr val="tx1"/>
              </a:solidFill>
              <a:prstDash val="solid"/>
              <a:round/>
              <a:headEnd type="none" w="med" len="med"/>
              <a:tailEnd type="none" w="med" len="med"/>
            </a:ln>
          </p:spPr>
        </p:sp>
        <p:sp>
          <p:nvSpPr>
            <p:cNvPr id="48231" name="Line 106"/>
            <p:cNvSpPr/>
            <p:nvPr/>
          </p:nvSpPr>
          <p:spPr>
            <a:xfrm>
              <a:off x="516" y="2134"/>
              <a:ext cx="800" cy="0"/>
            </a:xfrm>
            <a:prstGeom prst="line">
              <a:avLst/>
            </a:prstGeom>
            <a:ln w="12700" cap="flat" cmpd="sng">
              <a:solidFill>
                <a:schemeClr val="tx1"/>
              </a:solidFill>
              <a:prstDash val="solid"/>
              <a:round/>
              <a:headEnd type="none" w="med" len="med"/>
              <a:tailEnd type="none" w="med" len="med"/>
            </a:ln>
          </p:spPr>
        </p:sp>
        <p:sp>
          <p:nvSpPr>
            <p:cNvPr id="48232" name="Line 107"/>
            <p:cNvSpPr/>
            <p:nvPr/>
          </p:nvSpPr>
          <p:spPr>
            <a:xfrm>
              <a:off x="516" y="2312"/>
              <a:ext cx="800" cy="0"/>
            </a:xfrm>
            <a:prstGeom prst="line">
              <a:avLst/>
            </a:prstGeom>
            <a:ln w="28575" cap="sq" cmpd="sng">
              <a:solidFill>
                <a:schemeClr val="tx1"/>
              </a:solidFill>
              <a:prstDash val="solid"/>
              <a:round/>
              <a:headEnd type="none" w="med" len="med"/>
              <a:tailEnd type="none" w="med" len="med"/>
            </a:ln>
          </p:spPr>
        </p:sp>
        <p:sp>
          <p:nvSpPr>
            <p:cNvPr id="48233" name="Line 108"/>
            <p:cNvSpPr/>
            <p:nvPr/>
          </p:nvSpPr>
          <p:spPr>
            <a:xfrm>
              <a:off x="516" y="1778"/>
              <a:ext cx="0" cy="534"/>
            </a:xfrm>
            <a:prstGeom prst="line">
              <a:avLst/>
            </a:prstGeom>
            <a:ln w="28575" cap="sq" cmpd="sng">
              <a:solidFill>
                <a:schemeClr val="tx1"/>
              </a:solidFill>
              <a:prstDash val="solid"/>
              <a:round/>
              <a:headEnd type="none" w="med" len="med"/>
              <a:tailEnd type="none" w="med" len="med"/>
            </a:ln>
          </p:spPr>
        </p:sp>
        <p:sp>
          <p:nvSpPr>
            <p:cNvPr id="48234" name="Line 109"/>
            <p:cNvSpPr/>
            <p:nvPr/>
          </p:nvSpPr>
          <p:spPr>
            <a:xfrm>
              <a:off x="783" y="1778"/>
              <a:ext cx="0" cy="534"/>
            </a:xfrm>
            <a:prstGeom prst="line">
              <a:avLst/>
            </a:prstGeom>
            <a:ln w="12700" cap="flat" cmpd="sng">
              <a:solidFill>
                <a:schemeClr val="tx1"/>
              </a:solidFill>
              <a:prstDash val="solid"/>
              <a:round/>
              <a:headEnd type="none" w="med" len="med"/>
              <a:tailEnd type="none" w="med" len="med"/>
            </a:ln>
          </p:spPr>
        </p:sp>
        <p:sp>
          <p:nvSpPr>
            <p:cNvPr id="48235" name="Line 110"/>
            <p:cNvSpPr/>
            <p:nvPr/>
          </p:nvSpPr>
          <p:spPr>
            <a:xfrm>
              <a:off x="1049" y="1778"/>
              <a:ext cx="0" cy="534"/>
            </a:xfrm>
            <a:prstGeom prst="line">
              <a:avLst/>
            </a:prstGeom>
            <a:ln w="12700" cap="flat" cmpd="sng">
              <a:solidFill>
                <a:schemeClr val="tx1"/>
              </a:solidFill>
              <a:prstDash val="solid"/>
              <a:round/>
              <a:headEnd type="none" w="med" len="med"/>
              <a:tailEnd type="none" w="med" len="med"/>
            </a:ln>
          </p:spPr>
        </p:sp>
        <p:sp>
          <p:nvSpPr>
            <p:cNvPr id="48236" name="Line 111"/>
            <p:cNvSpPr/>
            <p:nvPr/>
          </p:nvSpPr>
          <p:spPr>
            <a:xfrm>
              <a:off x="1316" y="1778"/>
              <a:ext cx="0" cy="534"/>
            </a:xfrm>
            <a:prstGeom prst="line">
              <a:avLst/>
            </a:prstGeom>
            <a:ln w="28575" cap="sq" cmpd="sng">
              <a:solidFill>
                <a:schemeClr val="tx1"/>
              </a:solidFill>
              <a:prstDash val="solid"/>
              <a:round/>
              <a:headEnd type="none" w="med" len="med"/>
              <a:tailEnd type="none" w="med" len="med"/>
            </a:ln>
          </p:spPr>
        </p:sp>
        <p:sp>
          <p:nvSpPr>
            <p:cNvPr id="48237" name="Rectangle 112"/>
            <p:cNvSpPr/>
            <p:nvPr/>
          </p:nvSpPr>
          <p:spPr>
            <a:xfrm>
              <a:off x="2001" y="2142"/>
              <a:ext cx="267" cy="178"/>
            </a:xfrm>
            <a:prstGeom prst="rect">
              <a:avLst/>
            </a:prstGeom>
            <a:noFill/>
            <a:ln w="9525">
              <a:noFill/>
            </a:ln>
          </p:spPr>
          <p:txBody>
            <a:bodyPr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IS</a:t>
              </a:r>
              <a:endParaRPr lang="en-US" altLang="zh-CN" sz="1400" dirty="0">
                <a:latin typeface="Arial" panose="020B0604020202020204" pitchFamily="34" charset="0"/>
                <a:ea typeface="宋体" panose="02010600030101010101" pitchFamily="2" charset="-122"/>
              </a:endParaRPr>
            </a:p>
          </p:txBody>
        </p:sp>
        <p:sp>
          <p:nvSpPr>
            <p:cNvPr id="48238" name="Rectangle 113"/>
            <p:cNvSpPr/>
            <p:nvPr/>
          </p:nvSpPr>
          <p:spPr>
            <a:xfrm>
              <a:off x="1735" y="2142"/>
              <a:ext cx="266"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AC</a:t>
              </a:r>
              <a:endParaRPr lang="en-US" altLang="zh-CN" sz="1400" dirty="0">
                <a:latin typeface="Arial" panose="020B0604020202020204" pitchFamily="34" charset="0"/>
                <a:ea typeface="宋体" panose="02010600030101010101" pitchFamily="2" charset="-122"/>
              </a:endParaRPr>
            </a:p>
          </p:txBody>
        </p:sp>
        <p:sp>
          <p:nvSpPr>
            <p:cNvPr id="48239" name="Rectangle 114"/>
            <p:cNvSpPr/>
            <p:nvPr/>
          </p:nvSpPr>
          <p:spPr>
            <a:xfrm>
              <a:off x="1468" y="2142"/>
              <a:ext cx="267"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E06</a:t>
              </a:r>
              <a:endParaRPr lang="en-US" altLang="zh-CN" sz="1400" dirty="0">
                <a:latin typeface="Arial" panose="020B0604020202020204" pitchFamily="34" charset="0"/>
                <a:ea typeface="宋体" panose="02010600030101010101" pitchFamily="2" charset="-122"/>
              </a:endParaRPr>
            </a:p>
          </p:txBody>
        </p:sp>
        <p:sp>
          <p:nvSpPr>
            <p:cNvPr id="48240" name="Rectangle 115"/>
            <p:cNvSpPr/>
            <p:nvPr/>
          </p:nvSpPr>
          <p:spPr>
            <a:xfrm>
              <a:off x="2001" y="1964"/>
              <a:ext cx="267" cy="178"/>
            </a:xfrm>
            <a:prstGeom prst="rect">
              <a:avLst/>
            </a:prstGeom>
            <a:noFill/>
            <a:ln w="9525">
              <a:noFill/>
            </a:ln>
          </p:spPr>
          <p:txBody>
            <a:bodyPr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IS</a:t>
              </a:r>
              <a:endParaRPr lang="en-US" altLang="zh-CN" sz="1400" dirty="0">
                <a:latin typeface="Arial" panose="020B0604020202020204" pitchFamily="34" charset="0"/>
                <a:ea typeface="宋体" panose="02010600030101010101" pitchFamily="2" charset="-122"/>
              </a:endParaRPr>
            </a:p>
          </p:txBody>
        </p:sp>
        <p:sp>
          <p:nvSpPr>
            <p:cNvPr id="48241" name="Rectangle 116"/>
            <p:cNvSpPr/>
            <p:nvPr/>
          </p:nvSpPr>
          <p:spPr>
            <a:xfrm>
              <a:off x="1735" y="1964"/>
              <a:ext cx="266"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CB</a:t>
              </a:r>
              <a:endParaRPr lang="en-US" altLang="zh-CN" sz="1400" dirty="0">
                <a:latin typeface="Arial" panose="020B0604020202020204" pitchFamily="34" charset="0"/>
                <a:ea typeface="宋体" panose="02010600030101010101" pitchFamily="2" charset="-122"/>
              </a:endParaRPr>
            </a:p>
          </p:txBody>
        </p:sp>
        <p:sp>
          <p:nvSpPr>
            <p:cNvPr id="48242" name="Rectangle 117"/>
            <p:cNvSpPr/>
            <p:nvPr/>
          </p:nvSpPr>
          <p:spPr>
            <a:xfrm>
              <a:off x="1468" y="1964"/>
              <a:ext cx="267"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E05</a:t>
              </a:r>
              <a:endParaRPr lang="en-US" altLang="zh-CN" sz="1400" dirty="0">
                <a:latin typeface="Arial" panose="020B0604020202020204" pitchFamily="34" charset="0"/>
                <a:ea typeface="宋体" panose="02010600030101010101" pitchFamily="2" charset="-122"/>
              </a:endParaRPr>
            </a:p>
          </p:txBody>
        </p:sp>
        <p:sp>
          <p:nvSpPr>
            <p:cNvPr id="48243" name="Rectangle 118"/>
            <p:cNvSpPr/>
            <p:nvPr/>
          </p:nvSpPr>
          <p:spPr>
            <a:xfrm>
              <a:off x="2001" y="1786"/>
              <a:ext cx="267"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CS</a:t>
              </a:r>
              <a:endParaRPr lang="en-US" altLang="zh-CN" sz="1400" dirty="0">
                <a:latin typeface="Arial" panose="020B0604020202020204" pitchFamily="34" charset="0"/>
                <a:ea typeface="宋体" panose="02010600030101010101" pitchFamily="2" charset="-122"/>
              </a:endParaRPr>
            </a:p>
          </p:txBody>
        </p:sp>
        <p:sp>
          <p:nvSpPr>
            <p:cNvPr id="48244" name="Rectangle 119"/>
            <p:cNvSpPr/>
            <p:nvPr/>
          </p:nvSpPr>
          <p:spPr>
            <a:xfrm>
              <a:off x="1735" y="1786"/>
              <a:ext cx="266"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BC</a:t>
              </a:r>
              <a:endParaRPr lang="en-US" altLang="zh-CN" sz="1400" dirty="0">
                <a:latin typeface="Arial" panose="020B0604020202020204" pitchFamily="34" charset="0"/>
                <a:ea typeface="宋体" panose="02010600030101010101" pitchFamily="2" charset="-122"/>
              </a:endParaRPr>
            </a:p>
          </p:txBody>
        </p:sp>
        <p:sp>
          <p:nvSpPr>
            <p:cNvPr id="48245" name="Rectangle 120"/>
            <p:cNvSpPr/>
            <p:nvPr/>
          </p:nvSpPr>
          <p:spPr>
            <a:xfrm>
              <a:off x="1468" y="1786"/>
              <a:ext cx="267"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E04</a:t>
              </a:r>
              <a:endParaRPr lang="en-US" altLang="zh-CN" sz="1400" dirty="0">
                <a:latin typeface="Arial" panose="020B0604020202020204" pitchFamily="34" charset="0"/>
                <a:ea typeface="宋体" panose="02010600030101010101" pitchFamily="2" charset="-122"/>
              </a:endParaRPr>
            </a:p>
          </p:txBody>
        </p:sp>
        <p:sp>
          <p:nvSpPr>
            <p:cNvPr id="48246" name="Line 121"/>
            <p:cNvSpPr/>
            <p:nvPr/>
          </p:nvSpPr>
          <p:spPr>
            <a:xfrm>
              <a:off x="1468" y="1786"/>
              <a:ext cx="800" cy="0"/>
            </a:xfrm>
            <a:prstGeom prst="line">
              <a:avLst/>
            </a:prstGeom>
            <a:ln w="28575" cap="sq" cmpd="sng">
              <a:solidFill>
                <a:schemeClr val="tx1"/>
              </a:solidFill>
              <a:prstDash val="solid"/>
              <a:round/>
              <a:headEnd type="none" w="med" len="med"/>
              <a:tailEnd type="none" w="med" len="med"/>
            </a:ln>
          </p:spPr>
        </p:sp>
        <p:sp>
          <p:nvSpPr>
            <p:cNvPr id="48247" name="Line 122"/>
            <p:cNvSpPr/>
            <p:nvPr/>
          </p:nvSpPr>
          <p:spPr>
            <a:xfrm>
              <a:off x="1468" y="1964"/>
              <a:ext cx="800" cy="0"/>
            </a:xfrm>
            <a:prstGeom prst="line">
              <a:avLst/>
            </a:prstGeom>
            <a:ln w="12700" cap="flat" cmpd="sng">
              <a:solidFill>
                <a:schemeClr val="tx1"/>
              </a:solidFill>
              <a:prstDash val="solid"/>
              <a:round/>
              <a:headEnd type="none" w="med" len="med"/>
              <a:tailEnd type="none" w="med" len="med"/>
            </a:ln>
          </p:spPr>
        </p:sp>
        <p:sp>
          <p:nvSpPr>
            <p:cNvPr id="48248" name="Line 123"/>
            <p:cNvSpPr/>
            <p:nvPr/>
          </p:nvSpPr>
          <p:spPr>
            <a:xfrm>
              <a:off x="1468" y="2142"/>
              <a:ext cx="800" cy="0"/>
            </a:xfrm>
            <a:prstGeom prst="line">
              <a:avLst/>
            </a:prstGeom>
            <a:ln w="12700" cap="flat" cmpd="sng">
              <a:solidFill>
                <a:schemeClr val="tx1"/>
              </a:solidFill>
              <a:prstDash val="solid"/>
              <a:round/>
              <a:headEnd type="none" w="med" len="med"/>
              <a:tailEnd type="none" w="med" len="med"/>
            </a:ln>
          </p:spPr>
        </p:sp>
        <p:sp>
          <p:nvSpPr>
            <p:cNvPr id="48249" name="Line 124"/>
            <p:cNvSpPr/>
            <p:nvPr/>
          </p:nvSpPr>
          <p:spPr>
            <a:xfrm>
              <a:off x="1468" y="2320"/>
              <a:ext cx="800" cy="0"/>
            </a:xfrm>
            <a:prstGeom prst="line">
              <a:avLst/>
            </a:prstGeom>
            <a:ln w="28575" cap="sq" cmpd="sng">
              <a:solidFill>
                <a:schemeClr val="tx1"/>
              </a:solidFill>
              <a:prstDash val="solid"/>
              <a:round/>
              <a:headEnd type="none" w="med" len="med"/>
              <a:tailEnd type="none" w="med" len="med"/>
            </a:ln>
          </p:spPr>
        </p:sp>
        <p:sp>
          <p:nvSpPr>
            <p:cNvPr id="48250" name="Line 125"/>
            <p:cNvSpPr/>
            <p:nvPr/>
          </p:nvSpPr>
          <p:spPr>
            <a:xfrm>
              <a:off x="1468" y="1786"/>
              <a:ext cx="0" cy="534"/>
            </a:xfrm>
            <a:prstGeom prst="line">
              <a:avLst/>
            </a:prstGeom>
            <a:ln w="28575" cap="sq" cmpd="sng">
              <a:solidFill>
                <a:schemeClr val="tx1"/>
              </a:solidFill>
              <a:prstDash val="solid"/>
              <a:round/>
              <a:headEnd type="none" w="med" len="med"/>
              <a:tailEnd type="none" w="med" len="med"/>
            </a:ln>
          </p:spPr>
        </p:sp>
        <p:sp>
          <p:nvSpPr>
            <p:cNvPr id="48251" name="Line 126"/>
            <p:cNvSpPr/>
            <p:nvPr/>
          </p:nvSpPr>
          <p:spPr>
            <a:xfrm>
              <a:off x="1735" y="1786"/>
              <a:ext cx="0" cy="534"/>
            </a:xfrm>
            <a:prstGeom prst="line">
              <a:avLst/>
            </a:prstGeom>
            <a:ln w="12700" cap="flat" cmpd="sng">
              <a:solidFill>
                <a:schemeClr val="tx1"/>
              </a:solidFill>
              <a:prstDash val="solid"/>
              <a:round/>
              <a:headEnd type="none" w="med" len="med"/>
              <a:tailEnd type="none" w="med" len="med"/>
            </a:ln>
          </p:spPr>
        </p:sp>
        <p:sp>
          <p:nvSpPr>
            <p:cNvPr id="48252" name="Line 127"/>
            <p:cNvSpPr/>
            <p:nvPr/>
          </p:nvSpPr>
          <p:spPr>
            <a:xfrm>
              <a:off x="2001" y="1786"/>
              <a:ext cx="0" cy="534"/>
            </a:xfrm>
            <a:prstGeom prst="line">
              <a:avLst/>
            </a:prstGeom>
            <a:ln w="12700" cap="flat" cmpd="sng">
              <a:solidFill>
                <a:schemeClr val="tx1"/>
              </a:solidFill>
              <a:prstDash val="solid"/>
              <a:round/>
              <a:headEnd type="none" w="med" len="med"/>
              <a:tailEnd type="none" w="med" len="med"/>
            </a:ln>
          </p:spPr>
        </p:sp>
        <p:sp>
          <p:nvSpPr>
            <p:cNvPr id="48253" name="Line 128"/>
            <p:cNvSpPr/>
            <p:nvPr/>
          </p:nvSpPr>
          <p:spPr>
            <a:xfrm>
              <a:off x="2268" y="1786"/>
              <a:ext cx="0" cy="534"/>
            </a:xfrm>
            <a:prstGeom prst="line">
              <a:avLst/>
            </a:prstGeom>
            <a:ln w="28575" cap="sq" cmpd="sng">
              <a:solidFill>
                <a:schemeClr val="tx1"/>
              </a:solidFill>
              <a:prstDash val="solid"/>
              <a:round/>
              <a:headEnd type="none" w="med" len="med"/>
              <a:tailEnd type="none" w="med" len="med"/>
            </a:ln>
          </p:spPr>
        </p:sp>
        <p:sp>
          <p:nvSpPr>
            <p:cNvPr id="48254" name="Rectangle 129"/>
            <p:cNvSpPr/>
            <p:nvPr/>
          </p:nvSpPr>
          <p:spPr>
            <a:xfrm>
              <a:off x="2977" y="2142"/>
              <a:ext cx="267"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IS</a:t>
              </a:r>
              <a:endParaRPr lang="en-US" altLang="zh-CN" sz="1400" dirty="0">
                <a:latin typeface="Arial" panose="020B0604020202020204" pitchFamily="34" charset="0"/>
                <a:ea typeface="宋体" panose="02010600030101010101" pitchFamily="2" charset="-122"/>
              </a:endParaRPr>
            </a:p>
          </p:txBody>
        </p:sp>
        <p:sp>
          <p:nvSpPr>
            <p:cNvPr id="48255" name="Rectangle 130"/>
            <p:cNvSpPr/>
            <p:nvPr/>
          </p:nvSpPr>
          <p:spPr>
            <a:xfrm>
              <a:off x="2711" y="2142"/>
              <a:ext cx="266"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BD</a:t>
              </a:r>
              <a:endParaRPr lang="en-US" altLang="zh-CN" sz="1400" dirty="0">
                <a:latin typeface="Arial" panose="020B0604020202020204" pitchFamily="34" charset="0"/>
                <a:ea typeface="宋体" panose="02010600030101010101" pitchFamily="2" charset="-122"/>
              </a:endParaRPr>
            </a:p>
          </p:txBody>
        </p:sp>
        <p:sp>
          <p:nvSpPr>
            <p:cNvPr id="48256" name="Rectangle 131"/>
            <p:cNvSpPr/>
            <p:nvPr/>
          </p:nvSpPr>
          <p:spPr>
            <a:xfrm>
              <a:off x="2444" y="2142"/>
              <a:ext cx="267"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E09</a:t>
              </a:r>
              <a:endParaRPr lang="en-US" altLang="zh-CN" sz="1400" dirty="0">
                <a:latin typeface="Arial" panose="020B0604020202020204" pitchFamily="34" charset="0"/>
                <a:ea typeface="宋体" panose="02010600030101010101" pitchFamily="2" charset="-122"/>
              </a:endParaRPr>
            </a:p>
          </p:txBody>
        </p:sp>
        <p:sp>
          <p:nvSpPr>
            <p:cNvPr id="48257" name="Rectangle 132"/>
            <p:cNvSpPr/>
            <p:nvPr/>
          </p:nvSpPr>
          <p:spPr>
            <a:xfrm>
              <a:off x="2977" y="1964"/>
              <a:ext cx="267"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CS</a:t>
              </a:r>
              <a:endParaRPr lang="en-US" altLang="zh-CN" sz="1400" dirty="0">
                <a:latin typeface="Arial" panose="020B0604020202020204" pitchFamily="34" charset="0"/>
                <a:ea typeface="宋体" panose="02010600030101010101" pitchFamily="2" charset="-122"/>
              </a:endParaRPr>
            </a:p>
          </p:txBody>
        </p:sp>
        <p:sp>
          <p:nvSpPr>
            <p:cNvPr id="48258" name="Rectangle 133"/>
            <p:cNvSpPr/>
            <p:nvPr/>
          </p:nvSpPr>
          <p:spPr>
            <a:xfrm>
              <a:off x="2711" y="1964"/>
              <a:ext cx="266"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AD</a:t>
              </a:r>
              <a:endParaRPr lang="en-US" altLang="zh-CN" sz="1400" dirty="0">
                <a:latin typeface="Arial" panose="020B0604020202020204" pitchFamily="34" charset="0"/>
                <a:ea typeface="宋体" panose="02010600030101010101" pitchFamily="2" charset="-122"/>
              </a:endParaRPr>
            </a:p>
          </p:txBody>
        </p:sp>
        <p:sp>
          <p:nvSpPr>
            <p:cNvPr id="48259" name="Rectangle 134"/>
            <p:cNvSpPr/>
            <p:nvPr/>
          </p:nvSpPr>
          <p:spPr>
            <a:xfrm>
              <a:off x="2444" y="1964"/>
              <a:ext cx="267"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E08</a:t>
              </a:r>
              <a:endParaRPr lang="en-US" altLang="zh-CN" sz="1400" dirty="0">
                <a:latin typeface="Arial" panose="020B0604020202020204" pitchFamily="34" charset="0"/>
                <a:ea typeface="宋体" panose="02010600030101010101" pitchFamily="2" charset="-122"/>
              </a:endParaRPr>
            </a:p>
          </p:txBody>
        </p:sp>
        <p:sp>
          <p:nvSpPr>
            <p:cNvPr id="48260" name="Rectangle 135"/>
            <p:cNvSpPr/>
            <p:nvPr/>
          </p:nvSpPr>
          <p:spPr>
            <a:xfrm>
              <a:off x="2977" y="1786"/>
              <a:ext cx="267"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IS</a:t>
              </a:r>
              <a:endParaRPr lang="en-US" altLang="zh-CN" sz="1400" dirty="0">
                <a:latin typeface="Arial" panose="020B0604020202020204" pitchFamily="34" charset="0"/>
                <a:ea typeface="宋体" panose="02010600030101010101" pitchFamily="2" charset="-122"/>
              </a:endParaRPr>
            </a:p>
          </p:txBody>
        </p:sp>
        <p:sp>
          <p:nvSpPr>
            <p:cNvPr id="48261" name="Rectangle 136"/>
            <p:cNvSpPr/>
            <p:nvPr/>
          </p:nvSpPr>
          <p:spPr>
            <a:xfrm>
              <a:off x="2711" y="1786"/>
              <a:ext cx="266"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BB</a:t>
              </a:r>
              <a:endParaRPr lang="en-US" altLang="zh-CN" sz="1400" dirty="0">
                <a:latin typeface="Arial" panose="020B0604020202020204" pitchFamily="34" charset="0"/>
                <a:ea typeface="宋体" panose="02010600030101010101" pitchFamily="2" charset="-122"/>
              </a:endParaRPr>
            </a:p>
          </p:txBody>
        </p:sp>
        <p:sp>
          <p:nvSpPr>
            <p:cNvPr id="48262" name="Rectangle 137"/>
            <p:cNvSpPr/>
            <p:nvPr/>
          </p:nvSpPr>
          <p:spPr>
            <a:xfrm>
              <a:off x="2444" y="1786"/>
              <a:ext cx="267"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E07</a:t>
              </a:r>
              <a:endParaRPr lang="en-US" altLang="zh-CN" sz="1400" dirty="0">
                <a:latin typeface="Arial" panose="020B0604020202020204" pitchFamily="34" charset="0"/>
                <a:ea typeface="宋体" panose="02010600030101010101" pitchFamily="2" charset="-122"/>
              </a:endParaRPr>
            </a:p>
          </p:txBody>
        </p:sp>
        <p:sp>
          <p:nvSpPr>
            <p:cNvPr id="48263" name="Line 138"/>
            <p:cNvSpPr/>
            <p:nvPr/>
          </p:nvSpPr>
          <p:spPr>
            <a:xfrm>
              <a:off x="2444" y="1786"/>
              <a:ext cx="800" cy="0"/>
            </a:xfrm>
            <a:prstGeom prst="line">
              <a:avLst/>
            </a:prstGeom>
            <a:ln w="28575" cap="sq" cmpd="sng">
              <a:solidFill>
                <a:schemeClr val="tx1"/>
              </a:solidFill>
              <a:prstDash val="solid"/>
              <a:round/>
              <a:headEnd type="none" w="med" len="med"/>
              <a:tailEnd type="none" w="med" len="med"/>
            </a:ln>
          </p:spPr>
        </p:sp>
        <p:sp>
          <p:nvSpPr>
            <p:cNvPr id="48264" name="Line 139"/>
            <p:cNvSpPr/>
            <p:nvPr/>
          </p:nvSpPr>
          <p:spPr>
            <a:xfrm>
              <a:off x="2444" y="1964"/>
              <a:ext cx="800" cy="0"/>
            </a:xfrm>
            <a:prstGeom prst="line">
              <a:avLst/>
            </a:prstGeom>
            <a:ln w="12700" cap="flat" cmpd="sng">
              <a:solidFill>
                <a:schemeClr val="tx1"/>
              </a:solidFill>
              <a:prstDash val="solid"/>
              <a:round/>
              <a:headEnd type="none" w="med" len="med"/>
              <a:tailEnd type="none" w="med" len="med"/>
            </a:ln>
          </p:spPr>
        </p:sp>
        <p:sp>
          <p:nvSpPr>
            <p:cNvPr id="48265" name="Line 140"/>
            <p:cNvSpPr/>
            <p:nvPr/>
          </p:nvSpPr>
          <p:spPr>
            <a:xfrm>
              <a:off x="2444" y="2142"/>
              <a:ext cx="800" cy="0"/>
            </a:xfrm>
            <a:prstGeom prst="line">
              <a:avLst/>
            </a:prstGeom>
            <a:ln w="12700" cap="flat" cmpd="sng">
              <a:solidFill>
                <a:schemeClr val="tx1"/>
              </a:solidFill>
              <a:prstDash val="solid"/>
              <a:round/>
              <a:headEnd type="none" w="med" len="med"/>
              <a:tailEnd type="none" w="med" len="med"/>
            </a:ln>
          </p:spPr>
        </p:sp>
        <p:sp>
          <p:nvSpPr>
            <p:cNvPr id="48266" name="Line 141"/>
            <p:cNvSpPr/>
            <p:nvPr/>
          </p:nvSpPr>
          <p:spPr>
            <a:xfrm>
              <a:off x="2444" y="2320"/>
              <a:ext cx="800" cy="0"/>
            </a:xfrm>
            <a:prstGeom prst="line">
              <a:avLst/>
            </a:prstGeom>
            <a:ln w="28575" cap="sq" cmpd="sng">
              <a:solidFill>
                <a:schemeClr val="tx1"/>
              </a:solidFill>
              <a:prstDash val="solid"/>
              <a:round/>
              <a:headEnd type="none" w="med" len="med"/>
              <a:tailEnd type="none" w="med" len="med"/>
            </a:ln>
          </p:spPr>
        </p:sp>
        <p:sp>
          <p:nvSpPr>
            <p:cNvPr id="48267" name="Line 142"/>
            <p:cNvSpPr/>
            <p:nvPr/>
          </p:nvSpPr>
          <p:spPr>
            <a:xfrm>
              <a:off x="2444" y="1786"/>
              <a:ext cx="0" cy="534"/>
            </a:xfrm>
            <a:prstGeom prst="line">
              <a:avLst/>
            </a:prstGeom>
            <a:ln w="28575" cap="sq" cmpd="sng">
              <a:solidFill>
                <a:schemeClr val="tx1"/>
              </a:solidFill>
              <a:prstDash val="solid"/>
              <a:round/>
              <a:headEnd type="none" w="med" len="med"/>
              <a:tailEnd type="none" w="med" len="med"/>
            </a:ln>
          </p:spPr>
        </p:sp>
        <p:sp>
          <p:nvSpPr>
            <p:cNvPr id="48268" name="Line 143"/>
            <p:cNvSpPr/>
            <p:nvPr/>
          </p:nvSpPr>
          <p:spPr>
            <a:xfrm>
              <a:off x="2711" y="1786"/>
              <a:ext cx="0" cy="534"/>
            </a:xfrm>
            <a:prstGeom prst="line">
              <a:avLst/>
            </a:prstGeom>
            <a:ln w="12700" cap="flat" cmpd="sng">
              <a:solidFill>
                <a:schemeClr val="tx1"/>
              </a:solidFill>
              <a:prstDash val="solid"/>
              <a:round/>
              <a:headEnd type="none" w="med" len="med"/>
              <a:tailEnd type="none" w="med" len="med"/>
            </a:ln>
          </p:spPr>
        </p:sp>
        <p:sp>
          <p:nvSpPr>
            <p:cNvPr id="48269" name="Line 144"/>
            <p:cNvSpPr/>
            <p:nvPr/>
          </p:nvSpPr>
          <p:spPr>
            <a:xfrm>
              <a:off x="2977" y="1786"/>
              <a:ext cx="0" cy="534"/>
            </a:xfrm>
            <a:prstGeom prst="line">
              <a:avLst/>
            </a:prstGeom>
            <a:ln w="12700" cap="flat" cmpd="sng">
              <a:solidFill>
                <a:schemeClr val="tx1"/>
              </a:solidFill>
              <a:prstDash val="solid"/>
              <a:round/>
              <a:headEnd type="none" w="med" len="med"/>
              <a:tailEnd type="none" w="med" len="med"/>
            </a:ln>
          </p:spPr>
        </p:sp>
        <p:sp>
          <p:nvSpPr>
            <p:cNvPr id="48270" name="Line 145"/>
            <p:cNvSpPr/>
            <p:nvPr/>
          </p:nvSpPr>
          <p:spPr>
            <a:xfrm>
              <a:off x="3244" y="1786"/>
              <a:ext cx="0" cy="534"/>
            </a:xfrm>
            <a:prstGeom prst="line">
              <a:avLst/>
            </a:prstGeom>
            <a:ln w="28575" cap="sq" cmpd="sng">
              <a:solidFill>
                <a:schemeClr val="tx1"/>
              </a:solidFill>
              <a:prstDash val="solid"/>
              <a:round/>
              <a:headEnd type="none" w="med" len="med"/>
              <a:tailEnd type="none" w="med" len="med"/>
            </a:ln>
          </p:spPr>
        </p:sp>
        <p:sp>
          <p:nvSpPr>
            <p:cNvPr id="48271" name="Rectangle 146"/>
            <p:cNvSpPr/>
            <p:nvPr/>
          </p:nvSpPr>
          <p:spPr>
            <a:xfrm>
              <a:off x="3929" y="2126"/>
              <a:ext cx="267"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CS</a:t>
              </a:r>
              <a:endParaRPr lang="en-US" altLang="zh-CN" sz="1400" dirty="0">
                <a:latin typeface="Arial" panose="020B0604020202020204" pitchFamily="34" charset="0"/>
                <a:ea typeface="宋体" panose="02010600030101010101" pitchFamily="2" charset="-122"/>
              </a:endParaRPr>
            </a:p>
          </p:txBody>
        </p:sp>
        <p:sp>
          <p:nvSpPr>
            <p:cNvPr id="48272" name="Rectangle 147"/>
            <p:cNvSpPr/>
            <p:nvPr/>
          </p:nvSpPr>
          <p:spPr>
            <a:xfrm>
              <a:off x="3663" y="2126"/>
              <a:ext cx="266"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CA</a:t>
              </a:r>
              <a:endParaRPr lang="en-US" altLang="zh-CN" sz="1400" dirty="0">
                <a:latin typeface="Arial" panose="020B0604020202020204" pitchFamily="34" charset="0"/>
                <a:ea typeface="宋体" panose="02010600030101010101" pitchFamily="2" charset="-122"/>
              </a:endParaRPr>
            </a:p>
          </p:txBody>
        </p:sp>
        <p:sp>
          <p:nvSpPr>
            <p:cNvPr id="48273" name="Rectangle 148"/>
            <p:cNvSpPr/>
            <p:nvPr/>
          </p:nvSpPr>
          <p:spPr>
            <a:xfrm>
              <a:off x="3396" y="2126"/>
              <a:ext cx="267"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E12</a:t>
              </a:r>
              <a:endParaRPr lang="en-US" altLang="zh-CN" sz="1400" dirty="0">
                <a:latin typeface="Arial" panose="020B0604020202020204" pitchFamily="34" charset="0"/>
                <a:ea typeface="宋体" panose="02010600030101010101" pitchFamily="2" charset="-122"/>
              </a:endParaRPr>
            </a:p>
          </p:txBody>
        </p:sp>
        <p:sp>
          <p:nvSpPr>
            <p:cNvPr id="48274" name="Rectangle 149"/>
            <p:cNvSpPr/>
            <p:nvPr/>
          </p:nvSpPr>
          <p:spPr>
            <a:xfrm>
              <a:off x="3929" y="1948"/>
              <a:ext cx="267"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CS</a:t>
              </a:r>
              <a:endParaRPr lang="en-US" altLang="zh-CN" sz="1400" dirty="0">
                <a:latin typeface="Arial" panose="020B0604020202020204" pitchFamily="34" charset="0"/>
                <a:ea typeface="宋体" panose="02010600030101010101" pitchFamily="2" charset="-122"/>
              </a:endParaRPr>
            </a:p>
          </p:txBody>
        </p:sp>
        <p:sp>
          <p:nvSpPr>
            <p:cNvPr id="48275" name="Rectangle 150"/>
            <p:cNvSpPr/>
            <p:nvPr/>
          </p:nvSpPr>
          <p:spPr>
            <a:xfrm>
              <a:off x="3663" y="1948"/>
              <a:ext cx="266"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CC</a:t>
              </a:r>
              <a:endParaRPr lang="en-US" altLang="zh-CN" sz="1400" dirty="0">
                <a:latin typeface="Arial" panose="020B0604020202020204" pitchFamily="34" charset="0"/>
                <a:ea typeface="宋体" panose="02010600030101010101" pitchFamily="2" charset="-122"/>
              </a:endParaRPr>
            </a:p>
          </p:txBody>
        </p:sp>
        <p:sp>
          <p:nvSpPr>
            <p:cNvPr id="48276" name="Rectangle 151"/>
            <p:cNvSpPr/>
            <p:nvPr/>
          </p:nvSpPr>
          <p:spPr>
            <a:xfrm>
              <a:off x="3396" y="1948"/>
              <a:ext cx="267"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E11</a:t>
              </a:r>
              <a:endParaRPr lang="en-US" altLang="zh-CN" sz="1400" dirty="0">
                <a:latin typeface="Arial" panose="020B0604020202020204" pitchFamily="34" charset="0"/>
                <a:ea typeface="宋体" panose="02010600030101010101" pitchFamily="2" charset="-122"/>
              </a:endParaRPr>
            </a:p>
          </p:txBody>
        </p:sp>
        <p:sp>
          <p:nvSpPr>
            <p:cNvPr id="48277" name="Rectangle 152"/>
            <p:cNvSpPr/>
            <p:nvPr/>
          </p:nvSpPr>
          <p:spPr>
            <a:xfrm>
              <a:off x="3929" y="1770"/>
              <a:ext cx="267"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IS</a:t>
              </a:r>
              <a:endParaRPr lang="en-US" altLang="zh-CN" sz="1400" dirty="0">
                <a:latin typeface="Arial" panose="020B0604020202020204" pitchFamily="34" charset="0"/>
                <a:ea typeface="宋体" panose="02010600030101010101" pitchFamily="2" charset="-122"/>
              </a:endParaRPr>
            </a:p>
          </p:txBody>
        </p:sp>
        <p:sp>
          <p:nvSpPr>
            <p:cNvPr id="48278" name="Rectangle 153"/>
            <p:cNvSpPr/>
            <p:nvPr/>
          </p:nvSpPr>
          <p:spPr>
            <a:xfrm>
              <a:off x="3663" y="1770"/>
              <a:ext cx="266"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BA</a:t>
              </a:r>
              <a:endParaRPr lang="en-US" altLang="zh-CN" sz="1400" dirty="0">
                <a:latin typeface="Arial" panose="020B0604020202020204" pitchFamily="34" charset="0"/>
                <a:ea typeface="宋体" panose="02010600030101010101" pitchFamily="2" charset="-122"/>
              </a:endParaRPr>
            </a:p>
          </p:txBody>
        </p:sp>
        <p:sp>
          <p:nvSpPr>
            <p:cNvPr id="48279" name="Rectangle 154"/>
            <p:cNvSpPr/>
            <p:nvPr/>
          </p:nvSpPr>
          <p:spPr>
            <a:xfrm>
              <a:off x="3396" y="1770"/>
              <a:ext cx="267" cy="178"/>
            </a:xfrm>
            <a:prstGeom prst="rect">
              <a:avLst/>
            </a:prstGeom>
            <a:noFill/>
            <a:ln w="9525">
              <a:noFill/>
            </a:ln>
          </p:spPr>
          <p:txBody>
            <a:bodyPr lIns="18000" rIns="18000" anchor="t" anchorCtr="0"/>
            <a:p>
              <a:pPr algn="ct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E10</a:t>
              </a:r>
              <a:endParaRPr lang="en-US" altLang="zh-CN" sz="1400" dirty="0">
                <a:latin typeface="Arial" panose="020B0604020202020204" pitchFamily="34" charset="0"/>
                <a:ea typeface="宋体" panose="02010600030101010101" pitchFamily="2" charset="-122"/>
              </a:endParaRPr>
            </a:p>
          </p:txBody>
        </p:sp>
        <p:sp>
          <p:nvSpPr>
            <p:cNvPr id="48280" name="Line 155"/>
            <p:cNvSpPr/>
            <p:nvPr/>
          </p:nvSpPr>
          <p:spPr>
            <a:xfrm>
              <a:off x="3396" y="1770"/>
              <a:ext cx="800" cy="0"/>
            </a:xfrm>
            <a:prstGeom prst="line">
              <a:avLst/>
            </a:prstGeom>
            <a:ln w="28575" cap="sq" cmpd="sng">
              <a:solidFill>
                <a:schemeClr val="tx1"/>
              </a:solidFill>
              <a:prstDash val="solid"/>
              <a:round/>
              <a:headEnd type="none" w="med" len="med"/>
              <a:tailEnd type="none" w="med" len="med"/>
            </a:ln>
          </p:spPr>
        </p:sp>
        <p:sp>
          <p:nvSpPr>
            <p:cNvPr id="48281" name="Line 156"/>
            <p:cNvSpPr/>
            <p:nvPr/>
          </p:nvSpPr>
          <p:spPr>
            <a:xfrm>
              <a:off x="3396" y="1948"/>
              <a:ext cx="800" cy="0"/>
            </a:xfrm>
            <a:prstGeom prst="line">
              <a:avLst/>
            </a:prstGeom>
            <a:ln w="12700" cap="flat" cmpd="sng">
              <a:solidFill>
                <a:schemeClr val="tx1"/>
              </a:solidFill>
              <a:prstDash val="solid"/>
              <a:round/>
              <a:headEnd type="none" w="med" len="med"/>
              <a:tailEnd type="none" w="med" len="med"/>
            </a:ln>
          </p:spPr>
        </p:sp>
        <p:sp>
          <p:nvSpPr>
            <p:cNvPr id="48282" name="Line 157"/>
            <p:cNvSpPr/>
            <p:nvPr/>
          </p:nvSpPr>
          <p:spPr>
            <a:xfrm>
              <a:off x="3396" y="2126"/>
              <a:ext cx="800" cy="0"/>
            </a:xfrm>
            <a:prstGeom prst="line">
              <a:avLst/>
            </a:prstGeom>
            <a:ln w="12700" cap="flat" cmpd="sng">
              <a:solidFill>
                <a:schemeClr val="tx1"/>
              </a:solidFill>
              <a:prstDash val="solid"/>
              <a:round/>
              <a:headEnd type="none" w="med" len="med"/>
              <a:tailEnd type="none" w="med" len="med"/>
            </a:ln>
          </p:spPr>
        </p:sp>
        <p:sp>
          <p:nvSpPr>
            <p:cNvPr id="48283" name="Line 158"/>
            <p:cNvSpPr/>
            <p:nvPr/>
          </p:nvSpPr>
          <p:spPr>
            <a:xfrm>
              <a:off x="3396" y="2304"/>
              <a:ext cx="800" cy="0"/>
            </a:xfrm>
            <a:prstGeom prst="line">
              <a:avLst/>
            </a:prstGeom>
            <a:ln w="28575" cap="sq" cmpd="sng">
              <a:solidFill>
                <a:schemeClr val="tx1"/>
              </a:solidFill>
              <a:prstDash val="solid"/>
              <a:round/>
              <a:headEnd type="none" w="med" len="med"/>
              <a:tailEnd type="none" w="med" len="med"/>
            </a:ln>
          </p:spPr>
        </p:sp>
        <p:sp>
          <p:nvSpPr>
            <p:cNvPr id="48284" name="Line 159"/>
            <p:cNvSpPr/>
            <p:nvPr/>
          </p:nvSpPr>
          <p:spPr>
            <a:xfrm>
              <a:off x="3388" y="1778"/>
              <a:ext cx="0" cy="534"/>
            </a:xfrm>
            <a:prstGeom prst="line">
              <a:avLst/>
            </a:prstGeom>
            <a:ln w="28575" cap="sq" cmpd="sng">
              <a:solidFill>
                <a:schemeClr val="tx1"/>
              </a:solidFill>
              <a:prstDash val="solid"/>
              <a:round/>
              <a:headEnd type="none" w="med" len="med"/>
              <a:tailEnd type="none" w="med" len="med"/>
            </a:ln>
          </p:spPr>
        </p:sp>
        <p:sp>
          <p:nvSpPr>
            <p:cNvPr id="48285" name="Line 160"/>
            <p:cNvSpPr/>
            <p:nvPr/>
          </p:nvSpPr>
          <p:spPr>
            <a:xfrm>
              <a:off x="3663" y="1770"/>
              <a:ext cx="0" cy="534"/>
            </a:xfrm>
            <a:prstGeom prst="line">
              <a:avLst/>
            </a:prstGeom>
            <a:ln w="12700" cap="flat" cmpd="sng">
              <a:solidFill>
                <a:schemeClr val="tx1"/>
              </a:solidFill>
              <a:prstDash val="solid"/>
              <a:round/>
              <a:headEnd type="none" w="med" len="med"/>
              <a:tailEnd type="none" w="med" len="med"/>
            </a:ln>
          </p:spPr>
        </p:sp>
        <p:sp>
          <p:nvSpPr>
            <p:cNvPr id="48286" name="Line 161"/>
            <p:cNvSpPr/>
            <p:nvPr/>
          </p:nvSpPr>
          <p:spPr>
            <a:xfrm>
              <a:off x="3929" y="1770"/>
              <a:ext cx="0" cy="534"/>
            </a:xfrm>
            <a:prstGeom prst="line">
              <a:avLst/>
            </a:prstGeom>
            <a:ln w="12700" cap="flat" cmpd="sng">
              <a:solidFill>
                <a:schemeClr val="tx1"/>
              </a:solidFill>
              <a:prstDash val="solid"/>
              <a:round/>
              <a:headEnd type="none" w="med" len="med"/>
              <a:tailEnd type="none" w="med" len="med"/>
            </a:ln>
          </p:spPr>
        </p:sp>
        <p:sp>
          <p:nvSpPr>
            <p:cNvPr id="48287" name="Line 162"/>
            <p:cNvSpPr/>
            <p:nvPr/>
          </p:nvSpPr>
          <p:spPr>
            <a:xfrm>
              <a:off x="4196" y="1770"/>
              <a:ext cx="0" cy="534"/>
            </a:xfrm>
            <a:prstGeom prst="line">
              <a:avLst/>
            </a:prstGeom>
            <a:ln w="28575" cap="sq" cmpd="sng">
              <a:solidFill>
                <a:schemeClr val="tx1"/>
              </a:solidFill>
              <a:prstDash val="solid"/>
              <a:round/>
              <a:headEnd type="none" w="med" len="med"/>
              <a:tailEnd type="none" w="med" len="med"/>
            </a:ln>
          </p:spPr>
        </p:sp>
        <p:sp>
          <p:nvSpPr>
            <p:cNvPr id="48288" name="Line 163"/>
            <p:cNvSpPr/>
            <p:nvPr/>
          </p:nvSpPr>
          <p:spPr>
            <a:xfrm>
              <a:off x="1316" y="1811"/>
              <a:ext cx="168" cy="0"/>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48289" name="Line 164"/>
            <p:cNvSpPr/>
            <p:nvPr/>
          </p:nvSpPr>
          <p:spPr>
            <a:xfrm>
              <a:off x="2284" y="1803"/>
              <a:ext cx="168" cy="0"/>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48290" name="Line 165"/>
            <p:cNvSpPr/>
            <p:nvPr/>
          </p:nvSpPr>
          <p:spPr>
            <a:xfrm>
              <a:off x="3236" y="1811"/>
              <a:ext cx="168" cy="0"/>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48291" name="Line 166"/>
            <p:cNvSpPr/>
            <p:nvPr/>
          </p:nvSpPr>
          <p:spPr>
            <a:xfrm flipH="1">
              <a:off x="1300" y="2283"/>
              <a:ext cx="160" cy="0"/>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48292" name="Line 167"/>
            <p:cNvSpPr/>
            <p:nvPr/>
          </p:nvSpPr>
          <p:spPr>
            <a:xfrm flipH="1">
              <a:off x="2284" y="2283"/>
              <a:ext cx="160" cy="0"/>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48293" name="Line 168"/>
            <p:cNvSpPr/>
            <p:nvPr/>
          </p:nvSpPr>
          <p:spPr>
            <a:xfrm flipH="1">
              <a:off x="3228" y="2267"/>
              <a:ext cx="160" cy="0"/>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48294" name="Line 169"/>
            <p:cNvSpPr/>
            <p:nvPr/>
          </p:nvSpPr>
          <p:spPr>
            <a:xfrm flipH="1">
              <a:off x="1404" y="675"/>
              <a:ext cx="760" cy="224"/>
            </a:xfrm>
            <a:prstGeom prst="line">
              <a:avLst/>
            </a:prstGeom>
            <a:ln w="9525" cap="flat" cmpd="sng">
              <a:solidFill>
                <a:schemeClr val="accent2"/>
              </a:solidFill>
              <a:prstDash val="solid"/>
              <a:round/>
              <a:headEnd type="none" w="med" len="med"/>
              <a:tailEnd type="triangle" w="sm" len="lg"/>
            </a:ln>
            <a:effectLst>
              <a:prstShdw prst="shdw17" dist="17961" dir="2699999">
                <a:srgbClr val="1F1F5C"/>
              </a:prstShdw>
            </a:effectLst>
          </p:spPr>
        </p:sp>
        <p:sp>
          <p:nvSpPr>
            <p:cNvPr id="48295" name="Line 170"/>
            <p:cNvSpPr/>
            <p:nvPr/>
          </p:nvSpPr>
          <p:spPr>
            <a:xfrm>
              <a:off x="2500" y="667"/>
              <a:ext cx="776" cy="248"/>
            </a:xfrm>
            <a:prstGeom prst="line">
              <a:avLst/>
            </a:prstGeom>
            <a:ln w="9525" cap="flat" cmpd="sng">
              <a:solidFill>
                <a:schemeClr val="accent2"/>
              </a:solidFill>
              <a:prstDash val="solid"/>
              <a:round/>
              <a:headEnd type="none" w="med" len="med"/>
              <a:tailEnd type="triangle" w="sm" len="lg"/>
            </a:ln>
            <a:effectLst>
              <a:prstShdw prst="shdw17" dist="17961" dir="2699999">
                <a:srgbClr val="1F1F5C"/>
              </a:prstShdw>
            </a:effectLst>
          </p:spPr>
        </p:sp>
        <p:sp>
          <p:nvSpPr>
            <p:cNvPr id="48296" name="Line 171"/>
            <p:cNvSpPr/>
            <p:nvPr/>
          </p:nvSpPr>
          <p:spPr>
            <a:xfrm>
              <a:off x="1796" y="995"/>
              <a:ext cx="1184" cy="0"/>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48297" name="Line 172"/>
            <p:cNvSpPr/>
            <p:nvPr/>
          </p:nvSpPr>
          <p:spPr>
            <a:xfrm rot="10800000">
              <a:off x="1796" y="1187"/>
              <a:ext cx="1184" cy="0"/>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48298" name="Line 173"/>
            <p:cNvSpPr/>
            <p:nvPr/>
          </p:nvSpPr>
          <p:spPr>
            <a:xfrm flipH="1">
              <a:off x="884" y="1307"/>
              <a:ext cx="448" cy="472"/>
            </a:xfrm>
            <a:prstGeom prst="line">
              <a:avLst/>
            </a:prstGeom>
            <a:ln w="9525" cap="flat" cmpd="sng">
              <a:solidFill>
                <a:schemeClr val="accent2"/>
              </a:solidFill>
              <a:prstDash val="solid"/>
              <a:round/>
              <a:headEnd type="none" w="med" len="med"/>
              <a:tailEnd type="triangle" w="sm" len="lg"/>
            </a:ln>
            <a:effectLst>
              <a:prstShdw prst="shdw17" dist="17961" dir="2699999">
                <a:srgbClr val="1F1F5C"/>
              </a:prstShdw>
            </a:effectLst>
          </p:spPr>
        </p:sp>
        <p:sp>
          <p:nvSpPr>
            <p:cNvPr id="48299" name="Line 174"/>
            <p:cNvSpPr/>
            <p:nvPr/>
          </p:nvSpPr>
          <p:spPr>
            <a:xfrm>
              <a:off x="1596" y="1299"/>
              <a:ext cx="296" cy="456"/>
            </a:xfrm>
            <a:prstGeom prst="line">
              <a:avLst/>
            </a:prstGeom>
            <a:ln w="9525" cap="flat" cmpd="sng">
              <a:solidFill>
                <a:schemeClr val="accent2"/>
              </a:solidFill>
              <a:prstDash val="solid"/>
              <a:round/>
              <a:headEnd type="none" w="med" len="med"/>
              <a:tailEnd type="triangle" w="sm" len="lg"/>
            </a:ln>
            <a:effectLst>
              <a:prstShdw prst="shdw17" dist="17961" dir="2699999">
                <a:srgbClr val="1F1F5C"/>
              </a:prstShdw>
            </a:effectLst>
          </p:spPr>
        </p:sp>
        <p:sp>
          <p:nvSpPr>
            <p:cNvPr id="48300" name="Line 175"/>
            <p:cNvSpPr/>
            <p:nvPr/>
          </p:nvSpPr>
          <p:spPr>
            <a:xfrm flipH="1">
              <a:off x="2764" y="1315"/>
              <a:ext cx="448" cy="472"/>
            </a:xfrm>
            <a:prstGeom prst="line">
              <a:avLst/>
            </a:prstGeom>
            <a:ln w="9525" cap="flat" cmpd="sng">
              <a:solidFill>
                <a:schemeClr val="accent2"/>
              </a:solidFill>
              <a:prstDash val="solid"/>
              <a:round/>
              <a:headEnd type="none" w="med" len="med"/>
              <a:tailEnd type="triangle" w="sm" len="lg"/>
            </a:ln>
            <a:effectLst>
              <a:prstShdw prst="shdw17" dist="17961" dir="2699999">
                <a:srgbClr val="1F1F5C"/>
              </a:prstShdw>
            </a:effectLst>
          </p:spPr>
        </p:sp>
        <p:sp>
          <p:nvSpPr>
            <p:cNvPr id="48301" name="Line 176"/>
            <p:cNvSpPr/>
            <p:nvPr/>
          </p:nvSpPr>
          <p:spPr>
            <a:xfrm>
              <a:off x="3476" y="1307"/>
              <a:ext cx="296" cy="456"/>
            </a:xfrm>
            <a:prstGeom prst="line">
              <a:avLst/>
            </a:prstGeom>
            <a:ln w="9525" cap="flat" cmpd="sng">
              <a:solidFill>
                <a:schemeClr val="accent2"/>
              </a:solidFill>
              <a:prstDash val="solid"/>
              <a:round/>
              <a:headEnd type="none" w="med" len="med"/>
              <a:tailEnd type="triangle" w="sm" len="lg"/>
            </a:ln>
            <a:effectLst>
              <a:prstShdw prst="shdw17" dist="17961" dir="2699999">
                <a:srgbClr val="1F1F5C"/>
              </a:prstShdw>
            </a:effectLst>
          </p:spPr>
        </p:sp>
        <p:sp>
          <p:nvSpPr>
            <p:cNvPr id="48302" name="Rectangle 177"/>
            <p:cNvSpPr/>
            <p:nvPr/>
          </p:nvSpPr>
          <p:spPr>
            <a:xfrm>
              <a:off x="1992" y="0"/>
              <a:ext cx="543" cy="292"/>
            </a:xfrm>
            <a:prstGeom prst="rect">
              <a:avLst/>
            </a:prstGeom>
            <a:noFill/>
            <a:ln w="9525">
              <a:noFill/>
            </a:ln>
            <a:effectLst>
              <a:prstShdw prst="shdw17" dist="17961" dir="2699999">
                <a:srgbClr val="708688"/>
              </a:prstShdw>
            </a:effectLst>
          </p:spPr>
          <p:txBody>
            <a:bodyPr anchor="ctr" anchorCtr="0">
              <a:spAutoFit/>
            </a:bodyPr>
            <a:p>
              <a:pPr marL="262255" indent="-262255">
                <a:lnSpc>
                  <a:spcPct val="135000"/>
                </a:lnSpc>
              </a:pPr>
              <a:r>
                <a:rPr lang="en-US" altLang="zh-CN" dirty="0">
                  <a:solidFill>
                    <a:srgbClr val="0033CC"/>
                  </a:solidFill>
                  <a:latin typeface="Arial" panose="020B0604020202020204" pitchFamily="34" charset="0"/>
                  <a:ea typeface="宋体" panose="02010600030101010101" pitchFamily="2" charset="-122"/>
                </a:rPr>
                <a:t>310</a:t>
              </a:r>
              <a:endParaRPr lang="zh-CN" altLang="en-US" dirty="0">
                <a:solidFill>
                  <a:srgbClr val="0033CC"/>
                </a:solidFill>
                <a:latin typeface="Arial" panose="020B0604020202020204" pitchFamily="34" charset="0"/>
                <a:ea typeface="宋体" panose="02010600030101010101" pitchFamily="2" charset="-122"/>
              </a:endParaRPr>
            </a:p>
          </p:txBody>
        </p:sp>
        <p:sp>
          <p:nvSpPr>
            <p:cNvPr id="48303" name="Rectangle 178"/>
            <p:cNvSpPr/>
            <p:nvPr/>
          </p:nvSpPr>
          <p:spPr>
            <a:xfrm>
              <a:off x="1120" y="632"/>
              <a:ext cx="543" cy="292"/>
            </a:xfrm>
            <a:prstGeom prst="rect">
              <a:avLst/>
            </a:prstGeom>
            <a:noFill/>
            <a:ln w="9525">
              <a:noFill/>
            </a:ln>
            <a:effectLst>
              <a:prstShdw prst="shdw17" dist="17961" dir="2699999">
                <a:srgbClr val="708688"/>
              </a:prstShdw>
            </a:effectLst>
          </p:spPr>
          <p:txBody>
            <a:bodyPr anchor="ctr" anchorCtr="0">
              <a:spAutoFit/>
            </a:bodyPr>
            <a:p>
              <a:pPr marL="262255" indent="-262255">
                <a:lnSpc>
                  <a:spcPct val="135000"/>
                </a:lnSpc>
              </a:pPr>
              <a:r>
                <a:rPr lang="en-US" altLang="zh-CN" dirty="0">
                  <a:solidFill>
                    <a:srgbClr val="0033CC"/>
                  </a:solidFill>
                  <a:latin typeface="Arial" panose="020B0604020202020204" pitchFamily="34" charset="0"/>
                  <a:ea typeface="宋体" panose="02010600030101010101" pitchFamily="2" charset="-122"/>
                </a:rPr>
                <a:t>202</a:t>
              </a:r>
              <a:endParaRPr lang="zh-CN" altLang="en-US" dirty="0">
                <a:solidFill>
                  <a:srgbClr val="0033CC"/>
                </a:solidFill>
                <a:latin typeface="Arial" panose="020B0604020202020204" pitchFamily="34" charset="0"/>
                <a:ea typeface="宋体" panose="02010600030101010101" pitchFamily="2" charset="-122"/>
              </a:endParaRPr>
            </a:p>
          </p:txBody>
        </p:sp>
        <p:sp>
          <p:nvSpPr>
            <p:cNvPr id="48304" name="Rectangle 179"/>
            <p:cNvSpPr/>
            <p:nvPr/>
          </p:nvSpPr>
          <p:spPr>
            <a:xfrm>
              <a:off x="3240" y="656"/>
              <a:ext cx="543" cy="292"/>
            </a:xfrm>
            <a:prstGeom prst="rect">
              <a:avLst/>
            </a:prstGeom>
            <a:noFill/>
            <a:ln w="9525">
              <a:noFill/>
            </a:ln>
            <a:effectLst>
              <a:prstShdw prst="shdw17" dist="17961" dir="2699999">
                <a:srgbClr val="708688"/>
              </a:prstShdw>
            </a:effectLst>
          </p:spPr>
          <p:txBody>
            <a:bodyPr anchor="ctr" anchorCtr="0">
              <a:spAutoFit/>
            </a:bodyPr>
            <a:p>
              <a:pPr marL="262255" indent="-262255">
                <a:lnSpc>
                  <a:spcPct val="135000"/>
                </a:lnSpc>
              </a:pPr>
              <a:r>
                <a:rPr lang="en-US" altLang="zh-CN" dirty="0">
                  <a:solidFill>
                    <a:srgbClr val="0033CC"/>
                  </a:solidFill>
                  <a:latin typeface="Arial" panose="020B0604020202020204" pitchFamily="34" charset="0"/>
                  <a:ea typeface="宋体" panose="02010600030101010101" pitchFamily="2" charset="-122"/>
                </a:rPr>
                <a:t>203</a:t>
              </a:r>
              <a:endParaRPr lang="zh-CN" altLang="en-US" dirty="0">
                <a:solidFill>
                  <a:srgbClr val="0033CC"/>
                </a:solidFill>
                <a:latin typeface="Arial" panose="020B0604020202020204" pitchFamily="34" charset="0"/>
                <a:ea typeface="宋体" panose="02010600030101010101" pitchFamily="2" charset="-122"/>
              </a:endParaRPr>
            </a:p>
          </p:txBody>
        </p:sp>
        <p:sp>
          <p:nvSpPr>
            <p:cNvPr id="48305" name="Rectangle 180"/>
            <p:cNvSpPr/>
            <p:nvPr/>
          </p:nvSpPr>
          <p:spPr>
            <a:xfrm>
              <a:off x="512" y="1496"/>
              <a:ext cx="543" cy="292"/>
            </a:xfrm>
            <a:prstGeom prst="rect">
              <a:avLst/>
            </a:prstGeom>
            <a:noFill/>
            <a:ln w="9525">
              <a:noFill/>
            </a:ln>
            <a:effectLst>
              <a:prstShdw prst="shdw17" dist="17961" dir="2699999">
                <a:srgbClr val="708688"/>
              </a:prstShdw>
            </a:effectLst>
          </p:spPr>
          <p:txBody>
            <a:bodyPr anchor="ctr" anchorCtr="0">
              <a:spAutoFit/>
            </a:bodyPr>
            <a:p>
              <a:pPr marL="262255" indent="-262255">
                <a:lnSpc>
                  <a:spcPct val="135000"/>
                </a:lnSpc>
              </a:pPr>
              <a:r>
                <a:rPr lang="en-US" altLang="zh-CN" dirty="0">
                  <a:solidFill>
                    <a:srgbClr val="0033CC"/>
                  </a:solidFill>
                  <a:latin typeface="Arial" panose="020B0604020202020204" pitchFamily="34" charset="0"/>
                  <a:ea typeface="宋体" panose="02010600030101010101" pitchFamily="2" charset="-122"/>
                </a:rPr>
                <a:t>101</a:t>
              </a:r>
              <a:endParaRPr lang="zh-CN" altLang="en-US" dirty="0">
                <a:solidFill>
                  <a:srgbClr val="0033CC"/>
                </a:solidFill>
                <a:latin typeface="Arial" panose="020B0604020202020204" pitchFamily="34" charset="0"/>
                <a:ea typeface="宋体" panose="02010600030101010101" pitchFamily="2" charset="-122"/>
              </a:endParaRPr>
            </a:p>
          </p:txBody>
        </p:sp>
        <p:sp>
          <p:nvSpPr>
            <p:cNvPr id="48306" name="Rectangle 181"/>
            <p:cNvSpPr/>
            <p:nvPr/>
          </p:nvSpPr>
          <p:spPr>
            <a:xfrm>
              <a:off x="1432" y="1504"/>
              <a:ext cx="543" cy="292"/>
            </a:xfrm>
            <a:prstGeom prst="rect">
              <a:avLst/>
            </a:prstGeom>
            <a:noFill/>
            <a:ln w="9525">
              <a:noFill/>
            </a:ln>
            <a:effectLst>
              <a:prstShdw prst="shdw17" dist="17961" dir="2699999">
                <a:srgbClr val="708688"/>
              </a:prstShdw>
            </a:effectLst>
          </p:spPr>
          <p:txBody>
            <a:bodyPr anchor="ctr" anchorCtr="0">
              <a:spAutoFit/>
            </a:bodyPr>
            <a:p>
              <a:pPr marL="262255" indent="-262255">
                <a:lnSpc>
                  <a:spcPct val="135000"/>
                </a:lnSpc>
              </a:pPr>
              <a:r>
                <a:rPr lang="en-US" altLang="zh-CN" dirty="0">
                  <a:solidFill>
                    <a:srgbClr val="0033CC"/>
                  </a:solidFill>
                  <a:latin typeface="Arial" panose="020B0604020202020204" pitchFamily="34" charset="0"/>
                  <a:ea typeface="宋体" panose="02010600030101010101" pitchFamily="2" charset="-122"/>
                </a:rPr>
                <a:t>104</a:t>
              </a:r>
              <a:endParaRPr lang="zh-CN" altLang="en-US" dirty="0">
                <a:solidFill>
                  <a:srgbClr val="0033CC"/>
                </a:solidFill>
                <a:latin typeface="Arial" panose="020B0604020202020204" pitchFamily="34" charset="0"/>
                <a:ea typeface="宋体" panose="02010600030101010101" pitchFamily="2" charset="-122"/>
              </a:endParaRPr>
            </a:p>
          </p:txBody>
        </p:sp>
        <p:sp>
          <p:nvSpPr>
            <p:cNvPr id="48307" name="Rectangle 182"/>
            <p:cNvSpPr/>
            <p:nvPr/>
          </p:nvSpPr>
          <p:spPr>
            <a:xfrm>
              <a:off x="2384" y="1512"/>
              <a:ext cx="543" cy="292"/>
            </a:xfrm>
            <a:prstGeom prst="rect">
              <a:avLst/>
            </a:prstGeom>
            <a:noFill/>
            <a:ln w="9525">
              <a:noFill/>
            </a:ln>
            <a:effectLst>
              <a:prstShdw prst="shdw17" dist="17961" dir="2699999">
                <a:srgbClr val="708688"/>
              </a:prstShdw>
            </a:effectLst>
          </p:spPr>
          <p:txBody>
            <a:bodyPr anchor="ctr" anchorCtr="0">
              <a:spAutoFit/>
            </a:bodyPr>
            <a:p>
              <a:pPr marL="262255" indent="-262255">
                <a:lnSpc>
                  <a:spcPct val="135000"/>
                </a:lnSpc>
              </a:pPr>
              <a:r>
                <a:rPr lang="en-US" altLang="zh-CN" dirty="0">
                  <a:solidFill>
                    <a:srgbClr val="0033CC"/>
                  </a:solidFill>
                  <a:latin typeface="Arial" panose="020B0604020202020204" pitchFamily="34" charset="0"/>
                  <a:ea typeface="宋体" panose="02010600030101010101" pitchFamily="2" charset="-122"/>
                </a:rPr>
                <a:t>110</a:t>
              </a:r>
              <a:endParaRPr lang="zh-CN" altLang="en-US" dirty="0">
                <a:solidFill>
                  <a:srgbClr val="0033CC"/>
                </a:solidFill>
                <a:latin typeface="Arial" panose="020B0604020202020204" pitchFamily="34" charset="0"/>
                <a:ea typeface="宋体" panose="02010600030101010101" pitchFamily="2" charset="-122"/>
              </a:endParaRPr>
            </a:p>
          </p:txBody>
        </p:sp>
        <p:sp>
          <p:nvSpPr>
            <p:cNvPr id="48308" name="Rectangle 183"/>
            <p:cNvSpPr/>
            <p:nvPr/>
          </p:nvSpPr>
          <p:spPr>
            <a:xfrm>
              <a:off x="3741" y="1480"/>
              <a:ext cx="399" cy="292"/>
            </a:xfrm>
            <a:prstGeom prst="rect">
              <a:avLst/>
            </a:prstGeom>
            <a:noFill/>
            <a:ln w="9525">
              <a:noFill/>
            </a:ln>
            <a:effectLst>
              <a:prstShdw prst="shdw17" dist="17961" dir="2699999">
                <a:srgbClr val="708688"/>
              </a:prstShdw>
            </a:effectLst>
          </p:spPr>
          <p:txBody>
            <a:bodyPr anchor="ctr" anchorCtr="0">
              <a:spAutoFit/>
            </a:bodyPr>
            <a:p>
              <a:pPr marL="262255" indent="-262255">
                <a:lnSpc>
                  <a:spcPct val="135000"/>
                </a:lnSpc>
              </a:pPr>
              <a:r>
                <a:rPr lang="en-US" altLang="zh-CN" dirty="0">
                  <a:solidFill>
                    <a:srgbClr val="0033CC"/>
                  </a:solidFill>
                  <a:latin typeface="Arial" panose="020B0604020202020204" pitchFamily="34" charset="0"/>
                  <a:ea typeface="宋体" panose="02010600030101010101" pitchFamily="2" charset="-122"/>
                </a:rPr>
                <a:t>111</a:t>
              </a:r>
              <a:endParaRPr lang="zh-CN" altLang="en-US" dirty="0">
                <a:solidFill>
                  <a:srgbClr val="0033CC"/>
                </a:solidFill>
                <a:latin typeface="Arial" panose="020B0604020202020204" pitchFamily="34" charset="0"/>
                <a:ea typeface="宋体" panose="02010600030101010101" pitchFamily="2" charset="-122"/>
              </a:endParaRPr>
            </a:p>
          </p:txBody>
        </p:sp>
        <p:sp>
          <p:nvSpPr>
            <p:cNvPr id="48309" name="Rectangle 184"/>
            <p:cNvSpPr/>
            <p:nvPr/>
          </p:nvSpPr>
          <p:spPr>
            <a:xfrm>
              <a:off x="1717" y="296"/>
              <a:ext cx="399" cy="292"/>
            </a:xfrm>
            <a:prstGeom prst="rect">
              <a:avLst/>
            </a:prstGeom>
            <a:noFill/>
            <a:ln w="9525">
              <a:noFill/>
            </a:ln>
            <a:effectLst>
              <a:prstShdw prst="shdw17" dist="17961" dir="2699999">
                <a:srgbClr val="708688"/>
              </a:prstShdw>
            </a:effectLst>
          </p:spPr>
          <p:txBody>
            <a:bodyPr anchor="ctr" anchorCtr="0">
              <a:spAutoFit/>
            </a:bodyPr>
            <a:p>
              <a:pPr marL="262255" indent="-262255">
                <a:lnSpc>
                  <a:spcPct val="135000"/>
                </a:lnSpc>
              </a:pPr>
              <a:r>
                <a:rPr lang="zh-CN" altLang="en-US" dirty="0">
                  <a:solidFill>
                    <a:srgbClr val="FF3300"/>
                  </a:solidFill>
                  <a:latin typeface="Arial" panose="020B0604020202020204" pitchFamily="34" charset="0"/>
                  <a:ea typeface="宋体" panose="02010600030101010101" pitchFamily="2" charset="-122"/>
                </a:rPr>
                <a:t>根</a:t>
              </a:r>
              <a:endParaRPr lang="zh-CN" altLang="en-US" dirty="0">
                <a:solidFill>
                  <a:srgbClr val="FF3300"/>
                </a:solidFill>
                <a:latin typeface="Arial" panose="020B0604020202020204" pitchFamily="34" charset="0"/>
                <a:ea typeface="宋体" panose="02010600030101010101" pitchFamily="2" charset="-122"/>
              </a:endParaRPr>
            </a:p>
          </p:txBody>
        </p:sp>
        <p:sp>
          <p:nvSpPr>
            <p:cNvPr id="48310" name="Rectangle 185"/>
            <p:cNvSpPr/>
            <p:nvPr/>
          </p:nvSpPr>
          <p:spPr>
            <a:xfrm>
              <a:off x="624" y="961"/>
              <a:ext cx="548" cy="292"/>
            </a:xfrm>
            <a:prstGeom prst="rect">
              <a:avLst/>
            </a:prstGeom>
            <a:noFill/>
            <a:ln w="9525">
              <a:noFill/>
            </a:ln>
            <a:effectLst>
              <a:prstShdw prst="shdw17" dist="17961" dir="2699999">
                <a:srgbClr val="708688"/>
              </a:prstShdw>
            </a:effectLst>
          </p:spPr>
          <p:txBody>
            <a:bodyPr wrap="none" anchor="t" anchorCtr="0">
              <a:spAutoFit/>
            </a:bodyPr>
            <a:p>
              <a:pPr marL="262255" indent="-262255">
                <a:lnSpc>
                  <a:spcPct val="135000"/>
                </a:lnSpc>
              </a:pPr>
              <a:r>
                <a:rPr lang="zh-CN" altLang="en-US" dirty="0">
                  <a:solidFill>
                    <a:srgbClr val="FF3300"/>
                  </a:solidFill>
                  <a:latin typeface="Arial" panose="020B0604020202020204" pitchFamily="34" charset="0"/>
                  <a:ea typeface="宋体" panose="02010600030101010101" pitchFamily="2" charset="-122"/>
                </a:rPr>
                <a:t>中间级</a:t>
              </a:r>
              <a:endParaRPr lang="zh-CN" altLang="en-US" dirty="0">
                <a:solidFill>
                  <a:srgbClr val="FF3300"/>
                </a:solidFill>
                <a:latin typeface="Arial" panose="020B0604020202020204" pitchFamily="34" charset="0"/>
                <a:ea typeface="宋体" panose="02010600030101010101" pitchFamily="2" charset="-122"/>
              </a:endParaRPr>
            </a:p>
          </p:txBody>
        </p:sp>
        <p:sp>
          <p:nvSpPr>
            <p:cNvPr id="48311" name="Rectangle 186"/>
            <p:cNvSpPr/>
            <p:nvPr/>
          </p:nvSpPr>
          <p:spPr>
            <a:xfrm>
              <a:off x="0" y="1781"/>
              <a:ext cx="548" cy="404"/>
            </a:xfrm>
            <a:prstGeom prst="rect">
              <a:avLst/>
            </a:prstGeom>
            <a:noFill/>
            <a:ln w="9525">
              <a:noFill/>
            </a:ln>
            <a:effectLst>
              <a:prstShdw prst="shdw17" dist="17961" dir="2699999">
                <a:srgbClr val="708688"/>
              </a:prstShdw>
            </a:effectLst>
          </p:spPr>
          <p:txBody>
            <a:bodyPr wrap="none" anchor="t" anchorCtr="0">
              <a:spAutoFit/>
            </a:bodyPr>
            <a:p>
              <a:pPr marL="262255" indent="-262255"/>
              <a:r>
                <a:rPr lang="zh-CN" altLang="en-US" dirty="0">
                  <a:solidFill>
                    <a:srgbClr val="FF3300"/>
                  </a:solidFill>
                  <a:latin typeface="Arial" panose="020B0604020202020204" pitchFamily="34" charset="0"/>
                  <a:ea typeface="宋体" panose="02010600030101010101" pitchFamily="2" charset="-122"/>
                </a:rPr>
                <a:t>叶级</a:t>
              </a:r>
              <a:endParaRPr lang="zh-CN" altLang="en-US" dirty="0">
                <a:solidFill>
                  <a:srgbClr val="FF3300"/>
                </a:solidFill>
                <a:latin typeface="Arial" panose="020B0604020202020204" pitchFamily="34" charset="0"/>
                <a:ea typeface="宋体" panose="02010600030101010101" pitchFamily="2" charset="-122"/>
              </a:endParaRPr>
            </a:p>
            <a:p>
              <a:pPr marL="262255" indent="-262255"/>
              <a:r>
                <a:rPr lang="zh-CN" altLang="en-US" dirty="0">
                  <a:solidFill>
                    <a:srgbClr val="FF3300"/>
                  </a:solidFill>
                  <a:latin typeface="Arial" panose="020B0604020202020204" pitchFamily="34" charset="0"/>
                  <a:ea typeface="宋体" panose="02010600030101010101" pitchFamily="2" charset="-122"/>
                </a:rPr>
                <a:t>数据页</a:t>
              </a:r>
              <a:endParaRPr lang="zh-CN" altLang="en-US" dirty="0">
                <a:solidFill>
                  <a:srgbClr val="FF3300"/>
                </a:solidFill>
                <a:latin typeface="Arial" panose="020B0604020202020204" pitchFamily="34" charset="0"/>
                <a:ea typeface="宋体" panose="02010600030101010101" pitchFamily="2" charset="-122"/>
              </a:endParaRPr>
            </a:p>
          </p:txBody>
        </p:sp>
      </p:grpSp>
      <p:sp>
        <p:nvSpPr>
          <p:cNvPr id="48312"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48313" name="矩形 128"/>
          <p:cNvSpPr/>
          <p:nvPr/>
        </p:nvSpPr>
        <p:spPr>
          <a:xfrm>
            <a:off x="542925" y="855663"/>
            <a:ext cx="3863975" cy="519112"/>
          </a:xfrm>
          <a:prstGeom prst="rect">
            <a:avLst/>
          </a:prstGeom>
          <a:noFill/>
          <a:ln w="9525">
            <a:noFill/>
          </a:ln>
        </p:spPr>
        <p:txBody>
          <a:bodyPr wrap="square" anchor="t" anchorCtr="0">
            <a:spAutoFit/>
          </a:bodyPr>
          <a:p>
            <a:r>
              <a:rPr lang="en-US" altLang="zh-CN" sz="2800" dirty="0">
                <a:solidFill>
                  <a:srgbClr val="0033CC"/>
                </a:solidFill>
                <a:latin typeface="黑体" panose="02010609060101010101" pitchFamily="1" charset="-122"/>
                <a:ea typeface="黑体" panose="02010609060101010101" pitchFamily="1" charset="-122"/>
              </a:rPr>
              <a:t>5.</a:t>
            </a:r>
            <a:r>
              <a:rPr lang="zh-CN" altLang="en-US" sz="2800" dirty="0">
                <a:solidFill>
                  <a:srgbClr val="0033CC"/>
                </a:solidFill>
                <a:latin typeface="黑体" panose="02010609060101010101" pitchFamily="1" charset="-122"/>
                <a:ea typeface="黑体" panose="02010609060101010101" pitchFamily="1" charset="-122"/>
              </a:rPr>
              <a:t>定义索引</a:t>
            </a:r>
            <a:r>
              <a:rPr lang="en-US" altLang="zh-CN" sz="2400" dirty="0">
                <a:solidFill>
                  <a:srgbClr val="FF0000"/>
                </a:solidFill>
                <a:latin typeface="黑体" panose="02010609060101010101" pitchFamily="1" charset="-122"/>
                <a:ea typeface="黑体" panose="02010609060101010101" pitchFamily="1" charset="-122"/>
              </a:rPr>
              <a:t>—</a:t>
            </a:r>
            <a:r>
              <a:rPr lang="zh-CN" altLang="en-US" sz="2400" dirty="0">
                <a:solidFill>
                  <a:srgbClr val="FF0000"/>
                </a:solidFill>
                <a:latin typeface="黑体" panose="02010609060101010101" pitchFamily="1" charset="-122"/>
                <a:ea typeface="黑体" panose="02010609060101010101" pitchFamily="1" charset="-122"/>
              </a:rPr>
              <a:t>概念</a:t>
            </a:r>
            <a:endParaRPr lang="zh-CN" altLang="en-US" sz="2200" dirty="0">
              <a:latin typeface="Arial" panose="020B0604020202020204" pitchFamily="34" charset="0"/>
              <a:ea typeface="宋体" panose="02010600030101010101" pitchFamily="2" charset="-122"/>
            </a:endParaRP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3"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49154" name="矩形 2"/>
          <p:cNvSpPr/>
          <p:nvPr/>
        </p:nvSpPr>
        <p:spPr>
          <a:xfrm>
            <a:off x="542925" y="881063"/>
            <a:ext cx="2890838" cy="944562"/>
          </a:xfrm>
          <a:prstGeom prst="rect">
            <a:avLst/>
          </a:prstGeom>
          <a:noFill/>
          <a:ln w="9525">
            <a:noFill/>
          </a:ln>
        </p:spPr>
        <p:txBody>
          <a:bodyPr wrap="none" anchor="t" anchorCtr="0">
            <a:spAutoFit/>
          </a:bodyPr>
          <a:p>
            <a:r>
              <a:rPr lang="en-US" altLang="zh-CN" sz="2800" dirty="0">
                <a:solidFill>
                  <a:srgbClr val="0033CC"/>
                </a:solidFill>
                <a:latin typeface="黑体" panose="02010609060101010101" pitchFamily="1" charset="-122"/>
                <a:ea typeface="黑体" panose="02010609060101010101" pitchFamily="1" charset="-122"/>
              </a:rPr>
              <a:t>5.</a:t>
            </a:r>
            <a:r>
              <a:rPr lang="zh-CN" altLang="en-US" sz="2800" dirty="0">
                <a:solidFill>
                  <a:srgbClr val="0033CC"/>
                </a:solidFill>
                <a:latin typeface="黑体" panose="02010609060101010101" pitchFamily="1" charset="-122"/>
                <a:ea typeface="黑体" panose="02010609060101010101" pitchFamily="1" charset="-122"/>
              </a:rPr>
              <a:t>定义索引</a:t>
            </a:r>
            <a:r>
              <a:rPr lang="en-US" altLang="zh-CN" sz="2400" dirty="0">
                <a:solidFill>
                  <a:srgbClr val="FF0000"/>
                </a:solidFill>
                <a:latin typeface="黑体" panose="02010609060101010101" pitchFamily="1" charset="-122"/>
                <a:ea typeface="黑体" panose="02010609060101010101" pitchFamily="1" charset="-122"/>
              </a:rPr>
              <a:t>—</a:t>
            </a:r>
            <a:r>
              <a:rPr lang="zh-CN" altLang="en-US" sz="2400" dirty="0">
                <a:solidFill>
                  <a:srgbClr val="FF0000"/>
                </a:solidFill>
                <a:latin typeface="黑体" panose="02010609060101010101" pitchFamily="1" charset="-122"/>
                <a:ea typeface="黑体" panose="02010609060101010101" pitchFamily="1" charset="-122"/>
              </a:rPr>
              <a:t>概念</a:t>
            </a:r>
            <a:endParaRPr lang="zh-CN" altLang="en-US" sz="2400" dirty="0">
              <a:solidFill>
                <a:srgbClr val="FF0000"/>
              </a:solidFill>
              <a:latin typeface="黑体" panose="02010609060101010101" pitchFamily="1" charset="-122"/>
              <a:ea typeface="宋体" panose="02010600030101010101" pitchFamily="2" charset="-122"/>
            </a:endParaRPr>
          </a:p>
          <a:p>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49155" name="Text Box 2"/>
          <p:cNvSpPr txBox="1"/>
          <p:nvPr/>
        </p:nvSpPr>
        <p:spPr>
          <a:xfrm>
            <a:off x="644525" y="1330325"/>
            <a:ext cx="8042275" cy="4587875"/>
          </a:xfrm>
          <a:prstGeom prst="rect">
            <a:avLst/>
          </a:prstGeom>
          <a:noFill/>
          <a:ln w="9525">
            <a:noFill/>
          </a:ln>
        </p:spPr>
        <p:txBody>
          <a:bodyPr wrap="square" lIns="18000" rIns="18000" anchor="t" anchorCtr="0">
            <a:spAutoFit/>
          </a:bodyPr>
          <a:p>
            <a:pPr>
              <a:lnSpc>
                <a:spcPct val="125000"/>
              </a:lnSpc>
              <a:spcBef>
                <a:spcPts val="500"/>
              </a:spcBef>
            </a:pPr>
            <a:r>
              <a:rPr lang="zh-CN" altLang="en-US" sz="2600" dirty="0">
                <a:solidFill>
                  <a:srgbClr val="CC3300"/>
                </a:solidFill>
                <a:latin typeface="方正姚体" panose="02010601030101010101" pitchFamily="2" charset="-122"/>
                <a:ea typeface="方正姚体" panose="02010601030101010101" pitchFamily="2" charset="-122"/>
              </a:rPr>
              <a:t>      </a:t>
            </a:r>
            <a:r>
              <a:rPr lang="zh-CN" altLang="en-US" sz="2000" b="0" dirty="0">
                <a:latin typeface="方正姚体" panose="02010601030101010101" pitchFamily="2" charset="-122"/>
                <a:ea typeface="黑体" panose="02010609060101010101" pitchFamily="1" charset="-122"/>
              </a:rPr>
              <a:t>由于聚集索引项决定了数据在表中的物理存储顺序，</a:t>
            </a:r>
            <a:r>
              <a:rPr lang="zh-CN" altLang="en-US" sz="2000" dirty="0">
                <a:solidFill>
                  <a:srgbClr val="FF3300"/>
                </a:solidFill>
                <a:latin typeface="方正姚体" panose="02010601030101010101" pitchFamily="2" charset="-122"/>
                <a:ea typeface="黑体" panose="02010609060101010101" pitchFamily="1" charset="-122"/>
              </a:rPr>
              <a:t>因此一个表只能包含一个聚集索引。</a:t>
            </a:r>
            <a:r>
              <a:rPr lang="zh-CN" altLang="en-US" sz="2000" b="0" dirty="0">
                <a:latin typeface="方正姚体" panose="02010601030101010101" pitchFamily="2" charset="-122"/>
                <a:ea typeface="黑体" panose="02010609060101010101" pitchFamily="1" charset="-122"/>
              </a:rPr>
              <a:t>但索引可由多个列（组合索引）组成。</a:t>
            </a:r>
            <a:endParaRPr lang="zh-CN" altLang="en-US" sz="2000" b="0" dirty="0">
              <a:latin typeface="方正姚体" panose="02010601030101010101" pitchFamily="2" charset="-122"/>
              <a:ea typeface="黑体" panose="02010609060101010101" pitchFamily="1" charset="-122"/>
            </a:endParaRPr>
          </a:p>
          <a:p>
            <a:pPr>
              <a:lnSpc>
                <a:spcPct val="125000"/>
              </a:lnSpc>
              <a:spcBef>
                <a:spcPts val="500"/>
              </a:spcBef>
            </a:pPr>
            <a:r>
              <a:rPr lang="zh-CN" altLang="en-US" sz="2000" b="0" dirty="0">
                <a:latin typeface="宋体" panose="02010600030101010101" pitchFamily="2" charset="-122"/>
                <a:ea typeface="黑体" panose="02010609060101010101" pitchFamily="1" charset="-122"/>
              </a:rPr>
              <a:t>    </a:t>
            </a:r>
            <a:r>
              <a:rPr lang="zh-CN" altLang="en-US" sz="2000" b="0" dirty="0">
                <a:latin typeface="方正姚体" panose="02010601030101010101" pitchFamily="2" charset="-122"/>
                <a:ea typeface="黑体" panose="02010609060101010101" pitchFamily="1" charset="-122"/>
              </a:rPr>
              <a:t>当在建有聚集索引的列上查找数据时，系统首先从聚集索引树的入口（根节点）开始逐层向下查找，直到到达</a:t>
            </a:r>
            <a:r>
              <a:rPr lang="en-US" altLang="zh-CN" sz="2000" b="0" dirty="0">
                <a:latin typeface="方正姚体" panose="02010601030101010101" pitchFamily="2" charset="-122"/>
                <a:ea typeface="黑体" panose="02010609060101010101" pitchFamily="1" charset="-122"/>
              </a:rPr>
              <a:t>B</a:t>
            </a:r>
            <a:r>
              <a:rPr lang="zh-CN" altLang="en-US" sz="2000" b="0" dirty="0">
                <a:latin typeface="方正姚体" panose="02010601030101010101" pitchFamily="2" charset="-122"/>
                <a:ea typeface="黑体" panose="02010609060101010101" pitchFamily="1" charset="-122"/>
              </a:rPr>
              <a:t>树索引的叶级，也就是达到了要找的数据所在的数据页，最后在这个数据页中查找所需的数据就可以了。</a:t>
            </a:r>
            <a:endParaRPr lang="zh-CN" altLang="en-US" sz="2000" b="0" dirty="0">
              <a:latin typeface="方正姚体" panose="02010601030101010101" pitchFamily="2" charset="-122"/>
              <a:ea typeface="黑体" panose="02010609060101010101" pitchFamily="1" charset="-122"/>
            </a:endParaRPr>
          </a:p>
          <a:p>
            <a:pPr>
              <a:lnSpc>
                <a:spcPct val="125000"/>
              </a:lnSpc>
              <a:spcBef>
                <a:spcPts val="500"/>
              </a:spcBef>
            </a:pPr>
            <a:r>
              <a:rPr lang="en-US" altLang="zh-CN" sz="2000" b="0" dirty="0">
                <a:latin typeface="方正姚体" panose="02010601030101010101" pitchFamily="2" charset="-122"/>
                <a:ea typeface="黑体" panose="02010609060101010101" pitchFamily="1" charset="-122"/>
              </a:rPr>
              <a:t>        </a:t>
            </a:r>
            <a:r>
              <a:rPr lang="zh-CN" altLang="en-US" sz="2000" dirty="0">
                <a:solidFill>
                  <a:srgbClr val="0033CC"/>
                </a:solidFill>
                <a:latin typeface="方正姚体" panose="02010601030101010101" pitchFamily="2" charset="-122"/>
                <a:ea typeface="黑体" panose="02010609060101010101" pitchFamily="1" charset="-122"/>
              </a:rPr>
              <a:t>当增加或删除数据时，除了会影响数据的排列顺序外，还会引起索引页中索引项的增加或减少，系统会对索引页进行分裂或合并，以保证</a:t>
            </a:r>
            <a:r>
              <a:rPr lang="en-US" altLang="zh-CN" sz="2000" dirty="0">
                <a:solidFill>
                  <a:srgbClr val="0033CC"/>
                </a:solidFill>
                <a:latin typeface="方正姚体" panose="02010601030101010101" pitchFamily="2" charset="-122"/>
                <a:ea typeface="黑体" panose="02010609060101010101" pitchFamily="1" charset="-122"/>
              </a:rPr>
              <a:t>B</a:t>
            </a:r>
            <a:r>
              <a:rPr lang="zh-CN" altLang="en-US" sz="2000" dirty="0">
                <a:solidFill>
                  <a:srgbClr val="0033CC"/>
                </a:solidFill>
                <a:latin typeface="方正姚体" panose="02010601030101010101" pitchFamily="2" charset="-122"/>
                <a:ea typeface="黑体" panose="02010609060101010101" pitchFamily="1" charset="-122"/>
              </a:rPr>
              <a:t>树的平衡性，因此</a:t>
            </a:r>
            <a:r>
              <a:rPr lang="en-US" altLang="zh-CN" sz="2000" dirty="0">
                <a:solidFill>
                  <a:srgbClr val="0033CC"/>
                </a:solidFill>
                <a:latin typeface="方正姚体" panose="02010601030101010101" pitchFamily="2" charset="-122"/>
                <a:ea typeface="黑体" panose="02010609060101010101" pitchFamily="1" charset="-122"/>
              </a:rPr>
              <a:t>B</a:t>
            </a:r>
            <a:r>
              <a:rPr lang="zh-CN" altLang="en-US" sz="2000" dirty="0">
                <a:solidFill>
                  <a:srgbClr val="0033CC"/>
                </a:solidFill>
                <a:latin typeface="方正姚体" panose="02010601030101010101" pitchFamily="2" charset="-122"/>
                <a:ea typeface="黑体" panose="02010609060101010101" pitchFamily="1" charset="-122"/>
              </a:rPr>
              <a:t>树的中间节点数量以及</a:t>
            </a:r>
            <a:r>
              <a:rPr lang="en-US" altLang="zh-CN" sz="2000" dirty="0">
                <a:solidFill>
                  <a:srgbClr val="0033CC"/>
                </a:solidFill>
                <a:latin typeface="方正姚体" panose="02010601030101010101" pitchFamily="2" charset="-122"/>
                <a:ea typeface="黑体" panose="02010609060101010101" pitchFamily="1" charset="-122"/>
              </a:rPr>
              <a:t>B</a:t>
            </a:r>
            <a:r>
              <a:rPr lang="zh-CN" altLang="en-US" sz="2000" dirty="0">
                <a:solidFill>
                  <a:srgbClr val="0033CC"/>
                </a:solidFill>
                <a:latin typeface="方正姚体" panose="02010601030101010101" pitchFamily="2" charset="-122"/>
                <a:ea typeface="黑体" panose="02010609060101010101" pitchFamily="1" charset="-122"/>
              </a:rPr>
              <a:t>树的层次都有可能发生变化，但这些调整都是系统自动完成的。</a:t>
            </a:r>
            <a:endParaRPr lang="zh-CN" altLang="en-US" sz="2000" dirty="0">
              <a:solidFill>
                <a:srgbClr val="0033CC"/>
              </a:solidFill>
              <a:latin typeface="方正姚体" panose="02010601030101010101" pitchFamily="2" charset="-122"/>
              <a:ea typeface="黑体" panose="02010609060101010101" pitchFamily="1" charset="-122"/>
            </a:endParaRPr>
          </a:p>
          <a:p>
            <a:pPr>
              <a:lnSpc>
                <a:spcPct val="125000"/>
              </a:lnSpc>
              <a:spcBef>
                <a:spcPts val="500"/>
              </a:spcBef>
            </a:pPr>
            <a:r>
              <a:rPr lang="zh-CN" altLang="en-US" sz="2000" b="0" dirty="0">
                <a:solidFill>
                  <a:srgbClr val="FF3300"/>
                </a:solidFill>
                <a:latin typeface="方正姚体" panose="02010601030101010101" pitchFamily="2" charset="-122"/>
                <a:ea typeface="黑体" panose="02010609060101010101" pitchFamily="1" charset="-122"/>
              </a:rPr>
              <a:t>        </a:t>
            </a:r>
            <a:r>
              <a:rPr lang="zh-CN" altLang="en-US" sz="2000" dirty="0">
                <a:solidFill>
                  <a:srgbClr val="FF3300"/>
                </a:solidFill>
                <a:latin typeface="方正姚体" panose="02010601030101010101" pitchFamily="2" charset="-122"/>
                <a:ea typeface="黑体" panose="02010609060101010101" pitchFamily="1" charset="-122"/>
              </a:rPr>
              <a:t>聚集索引对于那些经常要搜索列在连续范围内的值的查询特别有效。</a:t>
            </a:r>
            <a:endParaRPr lang="zh-CN" altLang="en-US" sz="2000" dirty="0">
              <a:solidFill>
                <a:srgbClr val="FF3300"/>
              </a:solidFill>
              <a:latin typeface="方正姚体" panose="02010601030101010101" pitchFamily="2" charset="-122"/>
              <a:ea typeface="黑体" panose="02010609060101010101" pitchFamily="1" charset="-122"/>
            </a:endParaRP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7" name="Text Box 2"/>
          <p:cNvSpPr txBox="1"/>
          <p:nvPr/>
        </p:nvSpPr>
        <p:spPr>
          <a:xfrm>
            <a:off x="457200" y="1401763"/>
            <a:ext cx="8364538" cy="4525962"/>
          </a:xfrm>
          <a:prstGeom prst="rect">
            <a:avLst/>
          </a:prstGeom>
          <a:noFill/>
          <a:ln w="9525">
            <a:noFill/>
          </a:ln>
        </p:spPr>
        <p:txBody>
          <a:bodyPr anchor="t" anchorCtr="0">
            <a:spAutoFit/>
          </a:bodyPr>
          <a:p>
            <a:pPr>
              <a:lnSpc>
                <a:spcPct val="120000"/>
              </a:lnSpc>
              <a:spcBef>
                <a:spcPct val="15000"/>
              </a:spcBef>
            </a:pPr>
            <a:r>
              <a:rPr lang="zh-CN" altLang="en-US" sz="2400" dirty="0">
                <a:solidFill>
                  <a:srgbClr val="FF0000"/>
                </a:solidFill>
                <a:latin typeface="宋体" panose="02010600030101010101" pitchFamily="2" charset="-122"/>
                <a:ea typeface="宋体" panose="02010600030101010101" pitchFamily="2" charset="-122"/>
              </a:rPr>
              <a:t> </a:t>
            </a:r>
            <a:r>
              <a:rPr lang="zh-CN" altLang="en-US" sz="2400" dirty="0">
                <a:solidFill>
                  <a:srgbClr val="0033CC"/>
                </a:solidFill>
                <a:latin typeface="宋体" panose="02010600030101010101" pitchFamily="2" charset="-122"/>
                <a:ea typeface="宋体" panose="02010600030101010101" pitchFamily="2" charset="-122"/>
              </a:rPr>
              <a:t>（</a:t>
            </a:r>
            <a:r>
              <a:rPr lang="en-US" altLang="zh-CN" sz="2400" dirty="0">
                <a:solidFill>
                  <a:srgbClr val="0033CC"/>
                </a:solidFill>
                <a:latin typeface="宋体" panose="02010600030101010101" pitchFamily="2" charset="-122"/>
                <a:ea typeface="宋体" panose="02010600030101010101" pitchFamily="2" charset="-122"/>
              </a:rPr>
              <a:t>2</a:t>
            </a:r>
            <a:r>
              <a:rPr lang="zh-CN" altLang="en-US" sz="2400" dirty="0">
                <a:solidFill>
                  <a:srgbClr val="0033CC"/>
                </a:solidFill>
                <a:latin typeface="宋体" panose="02010600030101010101" pitchFamily="2" charset="-122"/>
                <a:ea typeface="宋体" panose="02010600030101010101" pitchFamily="2" charset="-122"/>
              </a:rPr>
              <a:t>）非聚集索引</a:t>
            </a:r>
            <a:endParaRPr lang="zh-CN" altLang="en-US" sz="2400" dirty="0">
              <a:solidFill>
                <a:srgbClr val="0033CC"/>
              </a:solidFill>
              <a:latin typeface="宋体" panose="02010600030101010101" pitchFamily="2" charset="-122"/>
              <a:ea typeface="宋体" panose="02010600030101010101" pitchFamily="2" charset="-122"/>
            </a:endParaRPr>
          </a:p>
          <a:p>
            <a:pPr>
              <a:lnSpc>
                <a:spcPct val="135000"/>
              </a:lnSpc>
              <a:spcBef>
                <a:spcPct val="25000"/>
              </a:spcBef>
            </a:pPr>
            <a:r>
              <a:rPr lang="zh-CN" altLang="en-US" sz="2000" dirty="0">
                <a:latin typeface="宋体" panose="02010600030101010101" pitchFamily="2" charset="-122"/>
                <a:ea typeface="宋体" panose="02010600030101010101" pitchFamily="2" charset="-122"/>
              </a:rPr>
              <a:t>    </a:t>
            </a:r>
            <a:r>
              <a:rPr lang="zh-CN" altLang="en-US" sz="2100" dirty="0">
                <a:latin typeface="宋体" panose="02010600030101010101" pitchFamily="2" charset="-122"/>
                <a:ea typeface="宋体" panose="02010600030101010101" pitchFamily="2" charset="-122"/>
              </a:rPr>
              <a:t> 非聚集索引与聚集索引一样采用</a:t>
            </a:r>
            <a:r>
              <a:rPr lang="en-US" altLang="zh-CN" sz="2100" dirty="0">
                <a:latin typeface="宋体" panose="02010600030101010101" pitchFamily="2" charset="-122"/>
                <a:ea typeface="宋体" panose="02010600030101010101" pitchFamily="2" charset="-122"/>
              </a:rPr>
              <a:t>B</a:t>
            </a:r>
            <a:r>
              <a:rPr lang="zh-CN" altLang="en-US" sz="2100" dirty="0">
                <a:latin typeface="宋体" panose="02010600030101010101" pitchFamily="2" charset="-122"/>
                <a:ea typeface="宋体" panose="02010600030101010101" pitchFamily="2" charset="-122"/>
              </a:rPr>
              <a:t>树结构，但有两个重要差别：</a:t>
            </a:r>
            <a:endParaRPr lang="zh-CN" altLang="en-US" sz="2100" dirty="0">
              <a:latin typeface="宋体" panose="02010600030101010101" pitchFamily="2" charset="-122"/>
              <a:ea typeface="宋体" panose="02010600030101010101" pitchFamily="2" charset="-122"/>
            </a:endParaRPr>
          </a:p>
          <a:p>
            <a:pPr>
              <a:lnSpc>
                <a:spcPct val="125000"/>
              </a:lnSpc>
              <a:spcBef>
                <a:spcPts val="400"/>
              </a:spcBef>
            </a:pPr>
            <a:r>
              <a:rPr lang="zh-CN" altLang="en-US" sz="2000" dirty="0">
                <a:latin typeface="宋体" panose="02010600030101010101" pitchFamily="2" charset="-122"/>
                <a:ea typeface="宋体" panose="02010600030101010101" pitchFamily="2" charset="-122"/>
              </a:rPr>
              <a:t>  </a:t>
            </a:r>
            <a:r>
              <a:rPr lang="zh-CN" altLang="en-US" dirty="0">
                <a:latin typeface="Arial" panose="020B0604020202020204" pitchFamily="34" charset="0"/>
                <a:ea typeface="宋体" panose="02010600030101010101" pitchFamily="2" charset="-122"/>
              </a:rPr>
              <a:t> </a:t>
            </a:r>
            <a:r>
              <a:rPr lang="zh-CN" altLang="en-US" sz="2000" dirty="0">
                <a:solidFill>
                  <a:srgbClr val="FF3300"/>
                </a:solidFill>
                <a:latin typeface="Arial" panose="020B0604020202020204" pitchFamily="34" charset="0"/>
                <a:ea typeface="宋体" panose="02010600030101010101" pitchFamily="2" charset="-122"/>
              </a:rPr>
              <a:t>★</a:t>
            </a:r>
            <a:r>
              <a:rPr lang="zh-CN" altLang="en-US" sz="2000" dirty="0">
                <a:latin typeface="Arial" panose="020B0604020202020204" pitchFamily="34" charset="0"/>
                <a:ea typeface="宋体" panose="02010600030101010101" pitchFamily="2" charset="-122"/>
              </a:rPr>
              <a:t> </a:t>
            </a:r>
            <a:r>
              <a:rPr lang="zh-CN" altLang="en-US" sz="2000" dirty="0">
                <a:solidFill>
                  <a:srgbClr val="FF3300"/>
                </a:solidFill>
                <a:latin typeface="Arial" panose="020B0604020202020204" pitchFamily="34" charset="0"/>
                <a:ea typeface="宋体" panose="02010600030101010101" pitchFamily="2" charset="-122"/>
              </a:rPr>
              <a:t>数据不按非聚集索引关键字值的顺序排序和存储。</a:t>
            </a:r>
            <a:endParaRPr lang="zh-CN" altLang="en-US" sz="2000" dirty="0">
              <a:solidFill>
                <a:srgbClr val="FF3300"/>
              </a:solidFill>
              <a:latin typeface="Arial" panose="020B0604020202020204" pitchFamily="34" charset="0"/>
              <a:ea typeface="宋体" panose="02010600030101010101" pitchFamily="2" charset="-122"/>
            </a:endParaRPr>
          </a:p>
          <a:p>
            <a:pPr>
              <a:lnSpc>
                <a:spcPct val="125000"/>
              </a:lnSpc>
              <a:spcBef>
                <a:spcPts val="400"/>
              </a:spcBef>
            </a:pPr>
            <a:r>
              <a:rPr lang="zh-CN" altLang="en-US" sz="2000" dirty="0">
                <a:solidFill>
                  <a:srgbClr val="FF3300"/>
                </a:solidFill>
                <a:latin typeface="Arial" panose="020B0604020202020204" pitchFamily="34" charset="0"/>
                <a:ea typeface="宋体" panose="02010600030101010101" pitchFamily="2" charset="-122"/>
              </a:rPr>
              <a:t>    ★ 非聚集索引的叶级节点不是存放数据的数据页面。</a:t>
            </a:r>
            <a:endParaRPr lang="zh-CN" altLang="en-US" sz="2000" dirty="0">
              <a:solidFill>
                <a:srgbClr val="FF3300"/>
              </a:solidFill>
              <a:latin typeface="Arial" panose="020B0604020202020204" pitchFamily="34" charset="0"/>
              <a:ea typeface="宋体" panose="02010600030101010101" pitchFamily="2" charset="-122"/>
            </a:endParaRPr>
          </a:p>
          <a:p>
            <a:pPr>
              <a:lnSpc>
                <a:spcPct val="135000"/>
              </a:lnSpc>
              <a:spcBef>
                <a:spcPct val="25000"/>
              </a:spcBef>
            </a:pPr>
            <a:r>
              <a:rPr lang="zh-CN" altLang="en-US" sz="2000" dirty="0">
                <a:latin typeface="Arial" panose="020B0604020202020204" pitchFamily="34" charset="0"/>
                <a:ea typeface="宋体" panose="02010600030101010101" pitchFamily="2" charset="-122"/>
              </a:rPr>
              <a:t>       非聚集索引</a:t>
            </a:r>
            <a:r>
              <a:rPr lang="en-US" altLang="zh-CN" sz="2000" dirty="0">
                <a:latin typeface="Arial" panose="020B0604020202020204" pitchFamily="34" charset="0"/>
                <a:ea typeface="宋体" panose="02010600030101010101" pitchFamily="2" charset="-122"/>
              </a:rPr>
              <a:t>B</a:t>
            </a:r>
            <a:r>
              <a:rPr lang="zh-CN" altLang="en-US" sz="2000" dirty="0">
                <a:latin typeface="Arial" panose="020B0604020202020204" pitchFamily="34" charset="0"/>
                <a:ea typeface="宋体" panose="02010600030101010101" pitchFamily="2" charset="-122"/>
              </a:rPr>
              <a:t>树的叶节点是索引行。每个索引行包含非聚集索引关键字值以及一个或多行定位器，这些行定位器指向该关键字值对应的数据行（如果索引不唯一，则可能是多行）。</a:t>
            </a:r>
            <a:endParaRPr lang="zh-CN" altLang="en-US" sz="2000" dirty="0">
              <a:latin typeface="Arial" panose="020B0604020202020204" pitchFamily="34" charset="0"/>
              <a:ea typeface="宋体" panose="02010600030101010101" pitchFamily="2" charset="-122"/>
            </a:endParaRPr>
          </a:p>
          <a:p>
            <a:pPr>
              <a:lnSpc>
                <a:spcPct val="135000"/>
              </a:lnSpc>
              <a:spcBef>
                <a:spcPct val="25000"/>
              </a:spcBef>
            </a:pPr>
            <a:r>
              <a:rPr lang="zh-CN" altLang="en-US" sz="2000" dirty="0">
                <a:latin typeface="Arial" panose="020B0604020202020204" pitchFamily="34" charset="0"/>
                <a:ea typeface="宋体" panose="02010600030101010101" pitchFamily="2" charset="-122"/>
              </a:rPr>
              <a:t>       在建有非聚集索引的表上查找数据的过程与聚集索引类似，也是从根节点开始逐层向下查找，直到找到叶节点，在叶节点中找到匹配的索引关键字值之后，其所对应的行定位器所指位置即是查找数据的存储位置。</a:t>
            </a:r>
            <a:endParaRPr lang="zh-CN" altLang="en-US" sz="2000" dirty="0">
              <a:latin typeface="Arial" panose="020B0604020202020204" pitchFamily="34" charset="0"/>
              <a:ea typeface="宋体" panose="02010600030101010101" pitchFamily="2" charset="-122"/>
            </a:endParaRPr>
          </a:p>
        </p:txBody>
      </p:sp>
      <p:sp>
        <p:nvSpPr>
          <p:cNvPr id="50178"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50179" name="矩形 3"/>
          <p:cNvSpPr/>
          <p:nvPr/>
        </p:nvSpPr>
        <p:spPr>
          <a:xfrm>
            <a:off x="542925" y="881063"/>
            <a:ext cx="2890838" cy="944562"/>
          </a:xfrm>
          <a:prstGeom prst="rect">
            <a:avLst/>
          </a:prstGeom>
          <a:noFill/>
          <a:ln w="9525">
            <a:noFill/>
          </a:ln>
        </p:spPr>
        <p:txBody>
          <a:bodyPr wrap="none" anchor="t" anchorCtr="0">
            <a:spAutoFit/>
          </a:bodyPr>
          <a:p>
            <a:r>
              <a:rPr lang="en-US" altLang="zh-CN" sz="2800" dirty="0">
                <a:solidFill>
                  <a:srgbClr val="0033CC"/>
                </a:solidFill>
                <a:latin typeface="黑体" panose="02010609060101010101" pitchFamily="1" charset="-122"/>
                <a:ea typeface="黑体" panose="02010609060101010101" pitchFamily="1" charset="-122"/>
              </a:rPr>
              <a:t>5.</a:t>
            </a:r>
            <a:r>
              <a:rPr lang="zh-CN" altLang="en-US" sz="2800" dirty="0">
                <a:solidFill>
                  <a:srgbClr val="0033CC"/>
                </a:solidFill>
                <a:latin typeface="黑体" panose="02010609060101010101" pitchFamily="1" charset="-122"/>
                <a:ea typeface="黑体" panose="02010609060101010101" pitchFamily="1" charset="-122"/>
              </a:rPr>
              <a:t>定义索引</a:t>
            </a:r>
            <a:r>
              <a:rPr lang="en-US" altLang="zh-CN" sz="2400" dirty="0">
                <a:solidFill>
                  <a:srgbClr val="FF0000"/>
                </a:solidFill>
                <a:latin typeface="黑体" panose="02010609060101010101" pitchFamily="1" charset="-122"/>
                <a:ea typeface="黑体" panose="02010609060101010101" pitchFamily="1" charset="-122"/>
              </a:rPr>
              <a:t>—</a:t>
            </a:r>
            <a:r>
              <a:rPr lang="zh-CN" altLang="en-US" sz="2400" dirty="0">
                <a:solidFill>
                  <a:srgbClr val="FF0000"/>
                </a:solidFill>
                <a:latin typeface="黑体" panose="02010609060101010101" pitchFamily="1" charset="-122"/>
                <a:ea typeface="黑体" panose="02010609060101010101" pitchFamily="1" charset="-122"/>
              </a:rPr>
              <a:t>概念</a:t>
            </a:r>
            <a:endParaRPr lang="zh-CN" altLang="en-US" sz="2400" dirty="0">
              <a:solidFill>
                <a:srgbClr val="FF0000"/>
              </a:solidFill>
              <a:latin typeface="黑体" panose="02010609060101010101" pitchFamily="1" charset="-122"/>
              <a:ea typeface="宋体" panose="02010600030101010101" pitchFamily="2" charset="-122"/>
            </a:endParaRPr>
          </a:p>
          <a:p>
            <a:endParaRPr lang="zh-CN" altLang="en-US" sz="2800" dirty="0">
              <a:solidFill>
                <a:srgbClr val="0033CC"/>
              </a:solidFill>
              <a:latin typeface="黑体" panose="02010609060101010101" pitchFamily="1" charset="-122"/>
              <a:ea typeface="黑体" panose="02010609060101010101" pitchFamily="1" charset="-122"/>
            </a:endParaRP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1201" name="Group 3"/>
          <p:cNvGrpSpPr/>
          <p:nvPr/>
        </p:nvGrpSpPr>
        <p:grpSpPr>
          <a:xfrm>
            <a:off x="184150" y="1087438"/>
            <a:ext cx="8667750" cy="4838700"/>
            <a:chOff x="0" y="0"/>
            <a:chExt cx="5460" cy="3048"/>
          </a:xfrm>
        </p:grpSpPr>
        <p:sp>
          <p:nvSpPr>
            <p:cNvPr id="51202" name="Rectangle 4"/>
            <p:cNvSpPr/>
            <p:nvPr/>
          </p:nvSpPr>
          <p:spPr>
            <a:xfrm>
              <a:off x="2728" y="474"/>
              <a:ext cx="316"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303</a:t>
              </a:r>
              <a:endParaRPr lang="en-US" altLang="zh-CN" sz="1400" dirty="0">
                <a:latin typeface="Arial" panose="020B0604020202020204" pitchFamily="34" charset="0"/>
                <a:ea typeface="宋体" panose="02010600030101010101" pitchFamily="2" charset="-122"/>
              </a:endParaRPr>
            </a:p>
          </p:txBody>
        </p:sp>
        <p:sp>
          <p:nvSpPr>
            <p:cNvPr id="51203" name="Rectangle 5"/>
            <p:cNvSpPr/>
            <p:nvPr/>
          </p:nvSpPr>
          <p:spPr>
            <a:xfrm>
              <a:off x="2412" y="474"/>
              <a:ext cx="316"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E07</a:t>
              </a:r>
              <a:endParaRPr lang="en-US" altLang="zh-CN" sz="1400" dirty="0">
                <a:latin typeface="Arial" panose="020B0604020202020204" pitchFamily="34" charset="0"/>
                <a:ea typeface="宋体" panose="02010600030101010101" pitchFamily="2" charset="-122"/>
              </a:endParaRPr>
            </a:p>
          </p:txBody>
        </p:sp>
        <p:sp>
          <p:nvSpPr>
            <p:cNvPr id="51204" name="Rectangle 6"/>
            <p:cNvSpPr/>
            <p:nvPr/>
          </p:nvSpPr>
          <p:spPr>
            <a:xfrm>
              <a:off x="2728" y="283"/>
              <a:ext cx="316"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302</a:t>
              </a:r>
              <a:endParaRPr lang="en-US" altLang="zh-CN" sz="1400" dirty="0">
                <a:latin typeface="Arial" panose="020B0604020202020204" pitchFamily="34" charset="0"/>
                <a:ea typeface="宋体" panose="02010600030101010101" pitchFamily="2" charset="-122"/>
              </a:endParaRPr>
            </a:p>
          </p:txBody>
        </p:sp>
        <p:sp>
          <p:nvSpPr>
            <p:cNvPr id="51205" name="Rectangle 7"/>
            <p:cNvSpPr/>
            <p:nvPr/>
          </p:nvSpPr>
          <p:spPr>
            <a:xfrm>
              <a:off x="2412" y="283"/>
              <a:ext cx="316"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E01</a:t>
              </a:r>
              <a:endParaRPr lang="en-US" altLang="zh-CN" sz="1400" dirty="0">
                <a:latin typeface="Arial" panose="020B0604020202020204" pitchFamily="34" charset="0"/>
                <a:ea typeface="宋体" panose="02010600030101010101" pitchFamily="2" charset="-122"/>
              </a:endParaRPr>
            </a:p>
          </p:txBody>
        </p:sp>
        <p:sp>
          <p:nvSpPr>
            <p:cNvPr id="51206" name="Line 8"/>
            <p:cNvSpPr/>
            <p:nvPr/>
          </p:nvSpPr>
          <p:spPr>
            <a:xfrm>
              <a:off x="2412" y="283"/>
              <a:ext cx="632" cy="0"/>
            </a:xfrm>
            <a:prstGeom prst="line">
              <a:avLst/>
            </a:prstGeom>
            <a:ln w="28575" cap="sq" cmpd="sng">
              <a:solidFill>
                <a:schemeClr val="tx1"/>
              </a:solidFill>
              <a:prstDash val="solid"/>
              <a:round/>
              <a:headEnd type="none" w="med" len="med"/>
              <a:tailEnd type="none" w="med" len="med"/>
            </a:ln>
          </p:spPr>
        </p:sp>
        <p:sp>
          <p:nvSpPr>
            <p:cNvPr id="51207" name="Line 9"/>
            <p:cNvSpPr/>
            <p:nvPr/>
          </p:nvSpPr>
          <p:spPr>
            <a:xfrm>
              <a:off x="2412" y="474"/>
              <a:ext cx="632" cy="0"/>
            </a:xfrm>
            <a:prstGeom prst="line">
              <a:avLst/>
            </a:prstGeom>
            <a:ln w="12700" cap="flat" cmpd="sng">
              <a:solidFill>
                <a:schemeClr val="tx1"/>
              </a:solidFill>
              <a:prstDash val="solid"/>
              <a:round/>
              <a:headEnd type="none" w="med" len="med"/>
              <a:tailEnd type="none" w="med" len="med"/>
            </a:ln>
          </p:spPr>
        </p:sp>
        <p:sp>
          <p:nvSpPr>
            <p:cNvPr id="51208" name="Line 10"/>
            <p:cNvSpPr/>
            <p:nvPr/>
          </p:nvSpPr>
          <p:spPr>
            <a:xfrm>
              <a:off x="2412" y="665"/>
              <a:ext cx="632" cy="0"/>
            </a:xfrm>
            <a:prstGeom prst="line">
              <a:avLst/>
            </a:prstGeom>
            <a:ln w="28575" cap="sq" cmpd="sng">
              <a:solidFill>
                <a:schemeClr val="tx1"/>
              </a:solidFill>
              <a:prstDash val="solid"/>
              <a:round/>
              <a:headEnd type="none" w="med" len="med"/>
              <a:tailEnd type="none" w="med" len="med"/>
            </a:ln>
          </p:spPr>
        </p:sp>
        <p:sp>
          <p:nvSpPr>
            <p:cNvPr id="51209" name="Line 11"/>
            <p:cNvSpPr/>
            <p:nvPr/>
          </p:nvSpPr>
          <p:spPr>
            <a:xfrm>
              <a:off x="2412" y="283"/>
              <a:ext cx="0" cy="382"/>
            </a:xfrm>
            <a:prstGeom prst="line">
              <a:avLst/>
            </a:prstGeom>
            <a:ln w="28575" cap="sq" cmpd="sng">
              <a:solidFill>
                <a:schemeClr val="tx1"/>
              </a:solidFill>
              <a:prstDash val="solid"/>
              <a:round/>
              <a:headEnd type="none" w="med" len="med"/>
              <a:tailEnd type="none" w="med" len="med"/>
            </a:ln>
          </p:spPr>
        </p:sp>
        <p:sp>
          <p:nvSpPr>
            <p:cNvPr id="51210" name="Line 12"/>
            <p:cNvSpPr/>
            <p:nvPr/>
          </p:nvSpPr>
          <p:spPr>
            <a:xfrm>
              <a:off x="2728" y="283"/>
              <a:ext cx="0" cy="382"/>
            </a:xfrm>
            <a:prstGeom prst="line">
              <a:avLst/>
            </a:prstGeom>
            <a:ln w="12700" cap="flat" cmpd="sng">
              <a:solidFill>
                <a:schemeClr val="tx1"/>
              </a:solidFill>
              <a:prstDash val="solid"/>
              <a:round/>
              <a:headEnd type="none" w="med" len="med"/>
              <a:tailEnd type="none" w="med" len="med"/>
            </a:ln>
          </p:spPr>
        </p:sp>
        <p:sp>
          <p:nvSpPr>
            <p:cNvPr id="51211" name="Line 13"/>
            <p:cNvSpPr/>
            <p:nvPr/>
          </p:nvSpPr>
          <p:spPr>
            <a:xfrm>
              <a:off x="3044" y="283"/>
              <a:ext cx="0" cy="382"/>
            </a:xfrm>
            <a:prstGeom prst="line">
              <a:avLst/>
            </a:prstGeom>
            <a:ln w="28575" cap="sq" cmpd="sng">
              <a:solidFill>
                <a:schemeClr val="tx1"/>
              </a:solidFill>
              <a:prstDash val="solid"/>
              <a:round/>
              <a:headEnd type="none" w="med" len="med"/>
              <a:tailEnd type="none" w="med" len="med"/>
            </a:ln>
          </p:spPr>
        </p:sp>
        <p:sp>
          <p:nvSpPr>
            <p:cNvPr id="51212" name="Rectangle 14"/>
            <p:cNvSpPr/>
            <p:nvPr/>
          </p:nvSpPr>
          <p:spPr>
            <a:xfrm>
              <a:off x="1848" y="1106"/>
              <a:ext cx="316"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202</a:t>
              </a:r>
              <a:endParaRPr lang="en-US" altLang="zh-CN" sz="1400" dirty="0">
                <a:latin typeface="Arial" panose="020B0604020202020204" pitchFamily="34" charset="0"/>
                <a:ea typeface="宋体" panose="02010600030101010101" pitchFamily="2" charset="-122"/>
              </a:endParaRPr>
            </a:p>
          </p:txBody>
        </p:sp>
        <p:sp>
          <p:nvSpPr>
            <p:cNvPr id="51213" name="Rectangle 15"/>
            <p:cNvSpPr/>
            <p:nvPr/>
          </p:nvSpPr>
          <p:spPr>
            <a:xfrm>
              <a:off x="1532" y="1106"/>
              <a:ext cx="316"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E04</a:t>
              </a:r>
              <a:endParaRPr lang="en-US" altLang="zh-CN" sz="1400" dirty="0">
                <a:latin typeface="Arial" panose="020B0604020202020204" pitchFamily="34" charset="0"/>
                <a:ea typeface="宋体" panose="02010600030101010101" pitchFamily="2" charset="-122"/>
              </a:endParaRPr>
            </a:p>
          </p:txBody>
        </p:sp>
        <p:sp>
          <p:nvSpPr>
            <p:cNvPr id="51214" name="Rectangle 16"/>
            <p:cNvSpPr/>
            <p:nvPr/>
          </p:nvSpPr>
          <p:spPr>
            <a:xfrm>
              <a:off x="1848" y="915"/>
              <a:ext cx="316"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201</a:t>
              </a:r>
              <a:endParaRPr lang="en-US" altLang="zh-CN" sz="1400" dirty="0">
                <a:latin typeface="Arial" panose="020B0604020202020204" pitchFamily="34" charset="0"/>
                <a:ea typeface="宋体" panose="02010600030101010101" pitchFamily="2" charset="-122"/>
              </a:endParaRPr>
            </a:p>
          </p:txBody>
        </p:sp>
        <p:sp>
          <p:nvSpPr>
            <p:cNvPr id="51215" name="Rectangle 17"/>
            <p:cNvSpPr/>
            <p:nvPr/>
          </p:nvSpPr>
          <p:spPr>
            <a:xfrm>
              <a:off x="1532" y="915"/>
              <a:ext cx="316"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E01</a:t>
              </a:r>
              <a:endParaRPr lang="en-US" altLang="zh-CN" sz="1400" dirty="0">
                <a:latin typeface="Arial" panose="020B0604020202020204" pitchFamily="34" charset="0"/>
                <a:ea typeface="宋体" panose="02010600030101010101" pitchFamily="2" charset="-122"/>
              </a:endParaRPr>
            </a:p>
          </p:txBody>
        </p:sp>
        <p:sp>
          <p:nvSpPr>
            <p:cNvPr id="51216" name="Line 18"/>
            <p:cNvSpPr/>
            <p:nvPr/>
          </p:nvSpPr>
          <p:spPr>
            <a:xfrm>
              <a:off x="1532" y="915"/>
              <a:ext cx="632" cy="0"/>
            </a:xfrm>
            <a:prstGeom prst="line">
              <a:avLst/>
            </a:prstGeom>
            <a:ln w="28575" cap="sq" cmpd="sng">
              <a:solidFill>
                <a:schemeClr val="tx1"/>
              </a:solidFill>
              <a:prstDash val="solid"/>
              <a:round/>
              <a:headEnd type="none" w="med" len="med"/>
              <a:tailEnd type="none" w="med" len="med"/>
            </a:ln>
          </p:spPr>
        </p:sp>
        <p:sp>
          <p:nvSpPr>
            <p:cNvPr id="51217" name="Line 19"/>
            <p:cNvSpPr/>
            <p:nvPr/>
          </p:nvSpPr>
          <p:spPr>
            <a:xfrm>
              <a:off x="1532" y="1106"/>
              <a:ext cx="632" cy="0"/>
            </a:xfrm>
            <a:prstGeom prst="line">
              <a:avLst/>
            </a:prstGeom>
            <a:ln w="12700" cap="flat" cmpd="sng">
              <a:solidFill>
                <a:schemeClr val="tx1"/>
              </a:solidFill>
              <a:prstDash val="solid"/>
              <a:round/>
              <a:headEnd type="none" w="med" len="med"/>
              <a:tailEnd type="none" w="med" len="med"/>
            </a:ln>
          </p:spPr>
        </p:sp>
        <p:sp>
          <p:nvSpPr>
            <p:cNvPr id="51218" name="Line 20"/>
            <p:cNvSpPr/>
            <p:nvPr/>
          </p:nvSpPr>
          <p:spPr>
            <a:xfrm>
              <a:off x="1532" y="1297"/>
              <a:ext cx="632" cy="0"/>
            </a:xfrm>
            <a:prstGeom prst="line">
              <a:avLst/>
            </a:prstGeom>
            <a:ln w="28575" cap="sq" cmpd="sng">
              <a:solidFill>
                <a:schemeClr val="tx1"/>
              </a:solidFill>
              <a:prstDash val="solid"/>
              <a:round/>
              <a:headEnd type="none" w="med" len="med"/>
              <a:tailEnd type="none" w="med" len="med"/>
            </a:ln>
          </p:spPr>
        </p:sp>
        <p:sp>
          <p:nvSpPr>
            <p:cNvPr id="51219" name="Line 21"/>
            <p:cNvSpPr/>
            <p:nvPr/>
          </p:nvSpPr>
          <p:spPr>
            <a:xfrm>
              <a:off x="1532" y="915"/>
              <a:ext cx="0" cy="382"/>
            </a:xfrm>
            <a:prstGeom prst="line">
              <a:avLst/>
            </a:prstGeom>
            <a:ln w="28575" cap="sq" cmpd="sng">
              <a:solidFill>
                <a:schemeClr val="tx1"/>
              </a:solidFill>
              <a:prstDash val="solid"/>
              <a:round/>
              <a:headEnd type="none" w="med" len="med"/>
              <a:tailEnd type="none" w="med" len="med"/>
            </a:ln>
          </p:spPr>
        </p:sp>
        <p:sp>
          <p:nvSpPr>
            <p:cNvPr id="51220" name="Line 22"/>
            <p:cNvSpPr/>
            <p:nvPr/>
          </p:nvSpPr>
          <p:spPr>
            <a:xfrm>
              <a:off x="1848" y="915"/>
              <a:ext cx="0" cy="382"/>
            </a:xfrm>
            <a:prstGeom prst="line">
              <a:avLst/>
            </a:prstGeom>
            <a:ln w="12700" cap="flat" cmpd="sng">
              <a:solidFill>
                <a:schemeClr val="tx1"/>
              </a:solidFill>
              <a:prstDash val="solid"/>
              <a:round/>
              <a:headEnd type="none" w="med" len="med"/>
              <a:tailEnd type="none" w="med" len="med"/>
            </a:ln>
          </p:spPr>
        </p:sp>
        <p:sp>
          <p:nvSpPr>
            <p:cNvPr id="51221" name="Line 23"/>
            <p:cNvSpPr/>
            <p:nvPr/>
          </p:nvSpPr>
          <p:spPr>
            <a:xfrm>
              <a:off x="2164" y="915"/>
              <a:ext cx="0" cy="382"/>
            </a:xfrm>
            <a:prstGeom prst="line">
              <a:avLst/>
            </a:prstGeom>
            <a:ln w="28575" cap="sq" cmpd="sng">
              <a:solidFill>
                <a:schemeClr val="tx1"/>
              </a:solidFill>
              <a:prstDash val="solid"/>
              <a:round/>
              <a:headEnd type="none" w="med" len="med"/>
              <a:tailEnd type="none" w="med" len="med"/>
            </a:ln>
          </p:spPr>
        </p:sp>
        <p:sp>
          <p:nvSpPr>
            <p:cNvPr id="51222" name="Rectangle 24"/>
            <p:cNvSpPr/>
            <p:nvPr/>
          </p:nvSpPr>
          <p:spPr>
            <a:xfrm>
              <a:off x="3688" y="1114"/>
              <a:ext cx="316"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227</a:t>
              </a:r>
              <a:endParaRPr lang="en-US" altLang="zh-CN" sz="1400" dirty="0">
                <a:latin typeface="Arial" panose="020B0604020202020204" pitchFamily="34" charset="0"/>
                <a:ea typeface="宋体" panose="02010600030101010101" pitchFamily="2" charset="-122"/>
              </a:endParaRPr>
            </a:p>
          </p:txBody>
        </p:sp>
        <p:sp>
          <p:nvSpPr>
            <p:cNvPr id="51223" name="Rectangle 25"/>
            <p:cNvSpPr/>
            <p:nvPr/>
          </p:nvSpPr>
          <p:spPr>
            <a:xfrm>
              <a:off x="3372" y="1114"/>
              <a:ext cx="316"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E10</a:t>
              </a:r>
              <a:endParaRPr lang="en-US" altLang="zh-CN" sz="1400" dirty="0">
                <a:latin typeface="Arial" panose="020B0604020202020204" pitchFamily="34" charset="0"/>
                <a:ea typeface="宋体" panose="02010600030101010101" pitchFamily="2" charset="-122"/>
              </a:endParaRPr>
            </a:p>
          </p:txBody>
        </p:sp>
        <p:sp>
          <p:nvSpPr>
            <p:cNvPr id="51224" name="Rectangle 26"/>
            <p:cNvSpPr/>
            <p:nvPr/>
          </p:nvSpPr>
          <p:spPr>
            <a:xfrm>
              <a:off x="3688" y="923"/>
              <a:ext cx="316"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220</a:t>
              </a:r>
              <a:endParaRPr lang="en-US" altLang="zh-CN" sz="1400" dirty="0">
                <a:latin typeface="Arial" panose="020B0604020202020204" pitchFamily="34" charset="0"/>
                <a:ea typeface="宋体" panose="02010600030101010101" pitchFamily="2" charset="-122"/>
              </a:endParaRPr>
            </a:p>
          </p:txBody>
        </p:sp>
        <p:sp>
          <p:nvSpPr>
            <p:cNvPr id="51225" name="Rectangle 27"/>
            <p:cNvSpPr/>
            <p:nvPr/>
          </p:nvSpPr>
          <p:spPr>
            <a:xfrm>
              <a:off x="3372" y="923"/>
              <a:ext cx="316"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E07</a:t>
              </a:r>
              <a:endParaRPr lang="en-US" altLang="zh-CN" sz="1400" dirty="0">
                <a:latin typeface="Arial" panose="020B0604020202020204" pitchFamily="34" charset="0"/>
                <a:ea typeface="宋体" panose="02010600030101010101" pitchFamily="2" charset="-122"/>
              </a:endParaRPr>
            </a:p>
          </p:txBody>
        </p:sp>
        <p:sp>
          <p:nvSpPr>
            <p:cNvPr id="51226" name="Line 28"/>
            <p:cNvSpPr/>
            <p:nvPr/>
          </p:nvSpPr>
          <p:spPr>
            <a:xfrm>
              <a:off x="3372" y="923"/>
              <a:ext cx="632" cy="0"/>
            </a:xfrm>
            <a:prstGeom prst="line">
              <a:avLst/>
            </a:prstGeom>
            <a:ln w="28575" cap="sq" cmpd="sng">
              <a:solidFill>
                <a:schemeClr val="tx1"/>
              </a:solidFill>
              <a:prstDash val="solid"/>
              <a:round/>
              <a:headEnd type="none" w="med" len="med"/>
              <a:tailEnd type="none" w="med" len="med"/>
            </a:ln>
          </p:spPr>
        </p:sp>
        <p:sp>
          <p:nvSpPr>
            <p:cNvPr id="51227" name="Line 29"/>
            <p:cNvSpPr/>
            <p:nvPr/>
          </p:nvSpPr>
          <p:spPr>
            <a:xfrm>
              <a:off x="3372" y="1114"/>
              <a:ext cx="632" cy="0"/>
            </a:xfrm>
            <a:prstGeom prst="line">
              <a:avLst/>
            </a:prstGeom>
            <a:ln w="12700" cap="flat" cmpd="sng">
              <a:solidFill>
                <a:schemeClr val="tx1"/>
              </a:solidFill>
              <a:prstDash val="solid"/>
              <a:round/>
              <a:headEnd type="none" w="med" len="med"/>
              <a:tailEnd type="none" w="med" len="med"/>
            </a:ln>
          </p:spPr>
        </p:sp>
        <p:sp>
          <p:nvSpPr>
            <p:cNvPr id="51228" name="Line 30"/>
            <p:cNvSpPr/>
            <p:nvPr/>
          </p:nvSpPr>
          <p:spPr>
            <a:xfrm>
              <a:off x="3372" y="1305"/>
              <a:ext cx="632" cy="0"/>
            </a:xfrm>
            <a:prstGeom prst="line">
              <a:avLst/>
            </a:prstGeom>
            <a:ln w="28575" cap="sq" cmpd="sng">
              <a:solidFill>
                <a:schemeClr val="tx1"/>
              </a:solidFill>
              <a:prstDash val="solid"/>
              <a:round/>
              <a:headEnd type="none" w="med" len="med"/>
              <a:tailEnd type="none" w="med" len="med"/>
            </a:ln>
          </p:spPr>
        </p:sp>
        <p:sp>
          <p:nvSpPr>
            <p:cNvPr id="51229" name="Line 31"/>
            <p:cNvSpPr/>
            <p:nvPr/>
          </p:nvSpPr>
          <p:spPr>
            <a:xfrm>
              <a:off x="3372" y="923"/>
              <a:ext cx="0" cy="382"/>
            </a:xfrm>
            <a:prstGeom prst="line">
              <a:avLst/>
            </a:prstGeom>
            <a:ln w="28575" cap="sq" cmpd="sng">
              <a:solidFill>
                <a:schemeClr val="tx1"/>
              </a:solidFill>
              <a:prstDash val="solid"/>
              <a:round/>
              <a:headEnd type="none" w="med" len="med"/>
              <a:tailEnd type="none" w="med" len="med"/>
            </a:ln>
          </p:spPr>
        </p:sp>
        <p:sp>
          <p:nvSpPr>
            <p:cNvPr id="51230" name="Line 32"/>
            <p:cNvSpPr/>
            <p:nvPr/>
          </p:nvSpPr>
          <p:spPr>
            <a:xfrm>
              <a:off x="3688" y="923"/>
              <a:ext cx="0" cy="382"/>
            </a:xfrm>
            <a:prstGeom prst="line">
              <a:avLst/>
            </a:prstGeom>
            <a:ln w="12700" cap="flat" cmpd="sng">
              <a:solidFill>
                <a:schemeClr val="tx1"/>
              </a:solidFill>
              <a:prstDash val="solid"/>
              <a:round/>
              <a:headEnd type="none" w="med" len="med"/>
              <a:tailEnd type="none" w="med" len="med"/>
            </a:ln>
          </p:spPr>
        </p:sp>
        <p:sp>
          <p:nvSpPr>
            <p:cNvPr id="51231" name="Line 33"/>
            <p:cNvSpPr/>
            <p:nvPr/>
          </p:nvSpPr>
          <p:spPr>
            <a:xfrm>
              <a:off x="4004" y="923"/>
              <a:ext cx="0" cy="382"/>
            </a:xfrm>
            <a:prstGeom prst="line">
              <a:avLst/>
            </a:prstGeom>
            <a:ln w="28575" cap="sq" cmpd="sng">
              <a:solidFill>
                <a:schemeClr val="tx1"/>
              </a:solidFill>
              <a:prstDash val="solid"/>
              <a:round/>
              <a:headEnd type="none" w="med" len="med"/>
              <a:tailEnd type="none" w="med" len="med"/>
            </a:ln>
          </p:spPr>
        </p:sp>
        <p:sp>
          <p:nvSpPr>
            <p:cNvPr id="51232" name="Rectangle 34"/>
            <p:cNvSpPr/>
            <p:nvPr/>
          </p:nvSpPr>
          <p:spPr>
            <a:xfrm>
              <a:off x="1065" y="2862"/>
              <a:ext cx="267" cy="178"/>
            </a:xfrm>
            <a:prstGeom prst="rect">
              <a:avLst/>
            </a:prstGeom>
            <a:noFill/>
            <a:ln w="9525">
              <a:noFill/>
            </a:ln>
          </p:spPr>
          <p:txBody>
            <a:bodyPr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IS</a:t>
              </a:r>
              <a:endParaRPr lang="en-US" altLang="zh-CN" sz="1400" dirty="0">
                <a:latin typeface="Arial" panose="020B0604020202020204" pitchFamily="34" charset="0"/>
                <a:ea typeface="宋体" panose="02010600030101010101" pitchFamily="2" charset="-122"/>
              </a:endParaRPr>
            </a:p>
          </p:txBody>
        </p:sp>
        <p:sp>
          <p:nvSpPr>
            <p:cNvPr id="51233" name="Rectangle 35"/>
            <p:cNvSpPr/>
            <p:nvPr/>
          </p:nvSpPr>
          <p:spPr>
            <a:xfrm>
              <a:off x="799" y="2862"/>
              <a:ext cx="266"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AC</a:t>
              </a:r>
              <a:endParaRPr lang="en-US" altLang="zh-CN" sz="1400" dirty="0">
                <a:latin typeface="Arial" panose="020B0604020202020204" pitchFamily="34" charset="0"/>
                <a:ea typeface="宋体" panose="02010600030101010101" pitchFamily="2" charset="-122"/>
              </a:endParaRPr>
            </a:p>
          </p:txBody>
        </p:sp>
        <p:sp>
          <p:nvSpPr>
            <p:cNvPr id="51234" name="Rectangle 36"/>
            <p:cNvSpPr/>
            <p:nvPr/>
          </p:nvSpPr>
          <p:spPr>
            <a:xfrm>
              <a:off x="532" y="2862"/>
              <a:ext cx="267"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E06</a:t>
              </a:r>
              <a:endParaRPr lang="en-US" altLang="zh-CN" sz="1400" dirty="0">
                <a:latin typeface="Arial" panose="020B0604020202020204" pitchFamily="34" charset="0"/>
                <a:ea typeface="宋体" panose="02010600030101010101" pitchFamily="2" charset="-122"/>
              </a:endParaRPr>
            </a:p>
          </p:txBody>
        </p:sp>
        <p:sp>
          <p:nvSpPr>
            <p:cNvPr id="51235" name="Rectangle 37"/>
            <p:cNvSpPr/>
            <p:nvPr/>
          </p:nvSpPr>
          <p:spPr>
            <a:xfrm>
              <a:off x="1065" y="2684"/>
              <a:ext cx="267"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CS</a:t>
              </a:r>
              <a:endParaRPr lang="en-US" altLang="zh-CN" sz="1400" dirty="0">
                <a:latin typeface="Arial" panose="020B0604020202020204" pitchFamily="34" charset="0"/>
                <a:ea typeface="宋体" panose="02010600030101010101" pitchFamily="2" charset="-122"/>
              </a:endParaRPr>
            </a:p>
          </p:txBody>
        </p:sp>
        <p:sp>
          <p:nvSpPr>
            <p:cNvPr id="51236" name="Rectangle 38"/>
            <p:cNvSpPr/>
            <p:nvPr/>
          </p:nvSpPr>
          <p:spPr>
            <a:xfrm>
              <a:off x="799" y="2684"/>
              <a:ext cx="266"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AB</a:t>
              </a:r>
              <a:endParaRPr lang="en-US" altLang="zh-CN" sz="1400" dirty="0">
                <a:latin typeface="Arial" panose="020B0604020202020204" pitchFamily="34" charset="0"/>
                <a:ea typeface="宋体" panose="02010600030101010101" pitchFamily="2" charset="-122"/>
              </a:endParaRPr>
            </a:p>
          </p:txBody>
        </p:sp>
        <p:sp>
          <p:nvSpPr>
            <p:cNvPr id="51237" name="Rectangle 39"/>
            <p:cNvSpPr/>
            <p:nvPr/>
          </p:nvSpPr>
          <p:spPr>
            <a:xfrm>
              <a:off x="532" y="2684"/>
              <a:ext cx="267"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E01</a:t>
              </a:r>
              <a:endParaRPr lang="en-US" altLang="zh-CN" sz="1400" dirty="0">
                <a:latin typeface="Arial" panose="020B0604020202020204" pitchFamily="34" charset="0"/>
                <a:ea typeface="宋体" panose="02010600030101010101" pitchFamily="2" charset="-122"/>
              </a:endParaRPr>
            </a:p>
          </p:txBody>
        </p:sp>
        <p:sp>
          <p:nvSpPr>
            <p:cNvPr id="51238" name="Rectangle 40"/>
            <p:cNvSpPr/>
            <p:nvPr/>
          </p:nvSpPr>
          <p:spPr>
            <a:xfrm>
              <a:off x="1065" y="2506"/>
              <a:ext cx="267"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CS</a:t>
              </a:r>
              <a:endParaRPr lang="en-US" altLang="zh-CN" sz="1400" dirty="0">
                <a:latin typeface="Arial" panose="020B0604020202020204" pitchFamily="34" charset="0"/>
                <a:ea typeface="宋体" panose="02010600030101010101" pitchFamily="2" charset="-122"/>
              </a:endParaRPr>
            </a:p>
          </p:txBody>
        </p:sp>
        <p:sp>
          <p:nvSpPr>
            <p:cNvPr id="51239" name="Rectangle 41"/>
            <p:cNvSpPr/>
            <p:nvPr/>
          </p:nvSpPr>
          <p:spPr>
            <a:xfrm>
              <a:off x="799" y="2506"/>
              <a:ext cx="266"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AA</a:t>
              </a:r>
              <a:endParaRPr lang="en-US" altLang="zh-CN" sz="1400" dirty="0">
                <a:latin typeface="Arial" panose="020B0604020202020204" pitchFamily="34" charset="0"/>
                <a:ea typeface="宋体" panose="02010600030101010101" pitchFamily="2" charset="-122"/>
              </a:endParaRPr>
            </a:p>
          </p:txBody>
        </p:sp>
        <p:sp>
          <p:nvSpPr>
            <p:cNvPr id="51240" name="Rectangle 42"/>
            <p:cNvSpPr/>
            <p:nvPr/>
          </p:nvSpPr>
          <p:spPr>
            <a:xfrm>
              <a:off x="532" y="2506"/>
              <a:ext cx="267"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E02</a:t>
              </a:r>
              <a:endParaRPr lang="en-US" altLang="zh-CN" sz="1400" dirty="0">
                <a:latin typeface="Arial" panose="020B0604020202020204" pitchFamily="34" charset="0"/>
                <a:ea typeface="宋体" panose="02010600030101010101" pitchFamily="2" charset="-122"/>
              </a:endParaRPr>
            </a:p>
          </p:txBody>
        </p:sp>
        <p:sp>
          <p:nvSpPr>
            <p:cNvPr id="51241" name="Line 43"/>
            <p:cNvSpPr/>
            <p:nvPr/>
          </p:nvSpPr>
          <p:spPr>
            <a:xfrm>
              <a:off x="532" y="2506"/>
              <a:ext cx="800" cy="0"/>
            </a:xfrm>
            <a:prstGeom prst="line">
              <a:avLst/>
            </a:prstGeom>
            <a:ln w="28575" cap="sq" cmpd="sng">
              <a:solidFill>
                <a:schemeClr val="tx1"/>
              </a:solidFill>
              <a:prstDash val="solid"/>
              <a:round/>
              <a:headEnd type="none" w="med" len="med"/>
              <a:tailEnd type="none" w="med" len="med"/>
            </a:ln>
          </p:spPr>
        </p:sp>
        <p:sp>
          <p:nvSpPr>
            <p:cNvPr id="51242" name="Line 44"/>
            <p:cNvSpPr/>
            <p:nvPr/>
          </p:nvSpPr>
          <p:spPr>
            <a:xfrm>
              <a:off x="532" y="2684"/>
              <a:ext cx="800" cy="0"/>
            </a:xfrm>
            <a:prstGeom prst="line">
              <a:avLst/>
            </a:prstGeom>
            <a:ln w="12700" cap="flat" cmpd="sng">
              <a:solidFill>
                <a:schemeClr val="tx1"/>
              </a:solidFill>
              <a:prstDash val="solid"/>
              <a:round/>
              <a:headEnd type="none" w="med" len="med"/>
              <a:tailEnd type="none" w="med" len="med"/>
            </a:ln>
          </p:spPr>
        </p:sp>
        <p:sp>
          <p:nvSpPr>
            <p:cNvPr id="51243" name="Line 45"/>
            <p:cNvSpPr/>
            <p:nvPr/>
          </p:nvSpPr>
          <p:spPr>
            <a:xfrm>
              <a:off x="532" y="2862"/>
              <a:ext cx="800" cy="0"/>
            </a:xfrm>
            <a:prstGeom prst="line">
              <a:avLst/>
            </a:prstGeom>
            <a:ln w="12700" cap="flat" cmpd="sng">
              <a:solidFill>
                <a:schemeClr val="tx1"/>
              </a:solidFill>
              <a:prstDash val="solid"/>
              <a:round/>
              <a:headEnd type="none" w="med" len="med"/>
              <a:tailEnd type="none" w="med" len="med"/>
            </a:ln>
          </p:spPr>
        </p:sp>
        <p:sp>
          <p:nvSpPr>
            <p:cNvPr id="51244" name="Line 46"/>
            <p:cNvSpPr/>
            <p:nvPr/>
          </p:nvSpPr>
          <p:spPr>
            <a:xfrm>
              <a:off x="532" y="3040"/>
              <a:ext cx="800" cy="0"/>
            </a:xfrm>
            <a:prstGeom prst="line">
              <a:avLst/>
            </a:prstGeom>
            <a:ln w="28575" cap="sq" cmpd="sng">
              <a:solidFill>
                <a:schemeClr val="tx1"/>
              </a:solidFill>
              <a:prstDash val="solid"/>
              <a:round/>
              <a:headEnd type="none" w="med" len="med"/>
              <a:tailEnd type="none" w="med" len="med"/>
            </a:ln>
          </p:spPr>
        </p:sp>
        <p:sp>
          <p:nvSpPr>
            <p:cNvPr id="51245" name="Line 47"/>
            <p:cNvSpPr/>
            <p:nvPr/>
          </p:nvSpPr>
          <p:spPr>
            <a:xfrm>
              <a:off x="532" y="2506"/>
              <a:ext cx="0" cy="534"/>
            </a:xfrm>
            <a:prstGeom prst="line">
              <a:avLst/>
            </a:prstGeom>
            <a:ln w="28575" cap="sq" cmpd="sng">
              <a:solidFill>
                <a:schemeClr val="tx1"/>
              </a:solidFill>
              <a:prstDash val="solid"/>
              <a:round/>
              <a:headEnd type="none" w="med" len="med"/>
              <a:tailEnd type="none" w="med" len="med"/>
            </a:ln>
          </p:spPr>
        </p:sp>
        <p:sp>
          <p:nvSpPr>
            <p:cNvPr id="51246" name="Line 48"/>
            <p:cNvSpPr/>
            <p:nvPr/>
          </p:nvSpPr>
          <p:spPr>
            <a:xfrm>
              <a:off x="799" y="2506"/>
              <a:ext cx="0" cy="534"/>
            </a:xfrm>
            <a:prstGeom prst="line">
              <a:avLst/>
            </a:prstGeom>
            <a:ln w="12700" cap="flat" cmpd="sng">
              <a:solidFill>
                <a:schemeClr val="tx1"/>
              </a:solidFill>
              <a:prstDash val="solid"/>
              <a:round/>
              <a:headEnd type="none" w="med" len="med"/>
              <a:tailEnd type="none" w="med" len="med"/>
            </a:ln>
          </p:spPr>
        </p:sp>
        <p:sp>
          <p:nvSpPr>
            <p:cNvPr id="51247" name="Line 49"/>
            <p:cNvSpPr/>
            <p:nvPr/>
          </p:nvSpPr>
          <p:spPr>
            <a:xfrm>
              <a:off x="1065" y="2506"/>
              <a:ext cx="0" cy="534"/>
            </a:xfrm>
            <a:prstGeom prst="line">
              <a:avLst/>
            </a:prstGeom>
            <a:ln w="12700" cap="flat" cmpd="sng">
              <a:solidFill>
                <a:schemeClr val="tx1"/>
              </a:solidFill>
              <a:prstDash val="solid"/>
              <a:round/>
              <a:headEnd type="none" w="med" len="med"/>
              <a:tailEnd type="none" w="med" len="med"/>
            </a:ln>
          </p:spPr>
        </p:sp>
        <p:sp>
          <p:nvSpPr>
            <p:cNvPr id="51248" name="Line 50"/>
            <p:cNvSpPr/>
            <p:nvPr/>
          </p:nvSpPr>
          <p:spPr>
            <a:xfrm>
              <a:off x="1332" y="2506"/>
              <a:ext cx="0" cy="534"/>
            </a:xfrm>
            <a:prstGeom prst="line">
              <a:avLst/>
            </a:prstGeom>
            <a:ln w="28575" cap="sq" cmpd="sng">
              <a:solidFill>
                <a:schemeClr val="tx1"/>
              </a:solidFill>
              <a:prstDash val="solid"/>
              <a:round/>
              <a:headEnd type="none" w="med" len="med"/>
              <a:tailEnd type="none" w="med" len="med"/>
            </a:ln>
          </p:spPr>
        </p:sp>
        <p:sp>
          <p:nvSpPr>
            <p:cNvPr id="51249" name="Rectangle 51"/>
            <p:cNvSpPr/>
            <p:nvPr/>
          </p:nvSpPr>
          <p:spPr>
            <a:xfrm>
              <a:off x="2297" y="2870"/>
              <a:ext cx="267" cy="178"/>
            </a:xfrm>
            <a:prstGeom prst="rect">
              <a:avLst/>
            </a:prstGeom>
            <a:noFill/>
            <a:ln w="9525">
              <a:noFill/>
            </a:ln>
          </p:spPr>
          <p:txBody>
            <a:bodyPr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IS</a:t>
              </a:r>
              <a:endParaRPr lang="en-US" altLang="zh-CN" sz="1400" dirty="0">
                <a:latin typeface="Arial" panose="020B0604020202020204" pitchFamily="34" charset="0"/>
                <a:ea typeface="宋体" panose="02010600030101010101" pitchFamily="2" charset="-122"/>
              </a:endParaRPr>
            </a:p>
          </p:txBody>
        </p:sp>
        <p:sp>
          <p:nvSpPr>
            <p:cNvPr id="51250" name="Rectangle 52"/>
            <p:cNvSpPr/>
            <p:nvPr/>
          </p:nvSpPr>
          <p:spPr>
            <a:xfrm>
              <a:off x="2031" y="2870"/>
              <a:ext cx="266"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BB</a:t>
              </a:r>
              <a:endParaRPr lang="en-US" altLang="zh-CN" sz="1400" dirty="0">
                <a:latin typeface="Arial" panose="020B0604020202020204" pitchFamily="34" charset="0"/>
                <a:ea typeface="宋体" panose="02010600030101010101" pitchFamily="2" charset="-122"/>
              </a:endParaRPr>
            </a:p>
          </p:txBody>
        </p:sp>
        <p:sp>
          <p:nvSpPr>
            <p:cNvPr id="51251" name="Rectangle 53"/>
            <p:cNvSpPr/>
            <p:nvPr/>
          </p:nvSpPr>
          <p:spPr>
            <a:xfrm>
              <a:off x="1764" y="2870"/>
              <a:ext cx="267"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E03</a:t>
              </a:r>
              <a:endParaRPr lang="en-US" altLang="zh-CN" sz="1400" dirty="0">
                <a:latin typeface="Arial" panose="020B0604020202020204" pitchFamily="34" charset="0"/>
                <a:ea typeface="宋体" panose="02010600030101010101" pitchFamily="2" charset="-122"/>
              </a:endParaRPr>
            </a:p>
          </p:txBody>
        </p:sp>
        <p:sp>
          <p:nvSpPr>
            <p:cNvPr id="51252" name="Rectangle 54"/>
            <p:cNvSpPr/>
            <p:nvPr/>
          </p:nvSpPr>
          <p:spPr>
            <a:xfrm>
              <a:off x="2297" y="2692"/>
              <a:ext cx="267" cy="178"/>
            </a:xfrm>
            <a:prstGeom prst="rect">
              <a:avLst/>
            </a:prstGeom>
            <a:noFill/>
            <a:ln w="9525">
              <a:noFill/>
            </a:ln>
          </p:spPr>
          <p:txBody>
            <a:bodyPr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IS</a:t>
              </a:r>
              <a:endParaRPr lang="en-US" altLang="zh-CN" sz="1400" dirty="0">
                <a:latin typeface="Arial" panose="020B0604020202020204" pitchFamily="34" charset="0"/>
                <a:ea typeface="宋体" panose="02010600030101010101" pitchFamily="2" charset="-122"/>
              </a:endParaRPr>
            </a:p>
          </p:txBody>
        </p:sp>
        <p:sp>
          <p:nvSpPr>
            <p:cNvPr id="51253" name="Rectangle 55"/>
            <p:cNvSpPr/>
            <p:nvPr/>
          </p:nvSpPr>
          <p:spPr>
            <a:xfrm>
              <a:off x="2031" y="2692"/>
              <a:ext cx="266"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BA</a:t>
              </a:r>
              <a:endParaRPr lang="en-US" altLang="zh-CN" sz="1400" dirty="0">
                <a:latin typeface="Arial" panose="020B0604020202020204" pitchFamily="34" charset="0"/>
                <a:ea typeface="宋体" panose="02010600030101010101" pitchFamily="2" charset="-122"/>
              </a:endParaRPr>
            </a:p>
          </p:txBody>
        </p:sp>
        <p:sp>
          <p:nvSpPr>
            <p:cNvPr id="51254" name="Rectangle 56"/>
            <p:cNvSpPr/>
            <p:nvPr/>
          </p:nvSpPr>
          <p:spPr>
            <a:xfrm>
              <a:off x="1764" y="2692"/>
              <a:ext cx="267"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E10</a:t>
              </a:r>
              <a:endParaRPr lang="en-US" altLang="zh-CN" sz="1400" dirty="0">
                <a:latin typeface="Arial" panose="020B0604020202020204" pitchFamily="34" charset="0"/>
                <a:ea typeface="宋体" panose="02010600030101010101" pitchFamily="2" charset="-122"/>
              </a:endParaRPr>
            </a:p>
          </p:txBody>
        </p:sp>
        <p:sp>
          <p:nvSpPr>
            <p:cNvPr id="51255" name="Rectangle 57"/>
            <p:cNvSpPr/>
            <p:nvPr/>
          </p:nvSpPr>
          <p:spPr>
            <a:xfrm>
              <a:off x="2297" y="2514"/>
              <a:ext cx="267"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CS</a:t>
              </a:r>
              <a:endParaRPr lang="en-US" altLang="zh-CN" sz="1400" dirty="0">
                <a:latin typeface="Arial" panose="020B0604020202020204" pitchFamily="34" charset="0"/>
                <a:ea typeface="宋体" panose="02010600030101010101" pitchFamily="2" charset="-122"/>
              </a:endParaRPr>
            </a:p>
          </p:txBody>
        </p:sp>
        <p:sp>
          <p:nvSpPr>
            <p:cNvPr id="51256" name="Rectangle 58"/>
            <p:cNvSpPr/>
            <p:nvPr/>
          </p:nvSpPr>
          <p:spPr>
            <a:xfrm>
              <a:off x="2031" y="2514"/>
              <a:ext cx="266"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AD</a:t>
              </a:r>
              <a:endParaRPr lang="en-US" altLang="zh-CN" sz="1400" dirty="0">
                <a:latin typeface="Arial" panose="020B0604020202020204" pitchFamily="34" charset="0"/>
                <a:ea typeface="宋体" panose="02010600030101010101" pitchFamily="2" charset="-122"/>
              </a:endParaRPr>
            </a:p>
          </p:txBody>
        </p:sp>
        <p:sp>
          <p:nvSpPr>
            <p:cNvPr id="51257" name="Rectangle 59"/>
            <p:cNvSpPr/>
            <p:nvPr/>
          </p:nvSpPr>
          <p:spPr>
            <a:xfrm>
              <a:off x="1764" y="2514"/>
              <a:ext cx="267"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E08</a:t>
              </a:r>
              <a:endParaRPr lang="en-US" altLang="zh-CN" sz="1400" dirty="0">
                <a:latin typeface="Arial" panose="020B0604020202020204" pitchFamily="34" charset="0"/>
                <a:ea typeface="宋体" panose="02010600030101010101" pitchFamily="2" charset="-122"/>
              </a:endParaRPr>
            </a:p>
          </p:txBody>
        </p:sp>
        <p:sp>
          <p:nvSpPr>
            <p:cNvPr id="51258" name="Line 60"/>
            <p:cNvSpPr/>
            <p:nvPr/>
          </p:nvSpPr>
          <p:spPr>
            <a:xfrm>
              <a:off x="1764" y="2514"/>
              <a:ext cx="800" cy="0"/>
            </a:xfrm>
            <a:prstGeom prst="line">
              <a:avLst/>
            </a:prstGeom>
            <a:ln w="28575" cap="sq" cmpd="sng">
              <a:solidFill>
                <a:schemeClr val="tx1"/>
              </a:solidFill>
              <a:prstDash val="solid"/>
              <a:round/>
              <a:headEnd type="none" w="med" len="med"/>
              <a:tailEnd type="none" w="med" len="med"/>
            </a:ln>
          </p:spPr>
        </p:sp>
        <p:sp>
          <p:nvSpPr>
            <p:cNvPr id="51259" name="Line 61"/>
            <p:cNvSpPr/>
            <p:nvPr/>
          </p:nvSpPr>
          <p:spPr>
            <a:xfrm>
              <a:off x="1764" y="2692"/>
              <a:ext cx="800" cy="0"/>
            </a:xfrm>
            <a:prstGeom prst="line">
              <a:avLst/>
            </a:prstGeom>
            <a:ln w="12700" cap="flat" cmpd="sng">
              <a:solidFill>
                <a:schemeClr val="tx1"/>
              </a:solidFill>
              <a:prstDash val="solid"/>
              <a:round/>
              <a:headEnd type="none" w="med" len="med"/>
              <a:tailEnd type="none" w="med" len="med"/>
            </a:ln>
          </p:spPr>
        </p:sp>
        <p:sp>
          <p:nvSpPr>
            <p:cNvPr id="51260" name="Line 62"/>
            <p:cNvSpPr/>
            <p:nvPr/>
          </p:nvSpPr>
          <p:spPr>
            <a:xfrm>
              <a:off x="1764" y="2870"/>
              <a:ext cx="800" cy="0"/>
            </a:xfrm>
            <a:prstGeom prst="line">
              <a:avLst/>
            </a:prstGeom>
            <a:ln w="12700" cap="flat" cmpd="sng">
              <a:solidFill>
                <a:schemeClr val="tx1"/>
              </a:solidFill>
              <a:prstDash val="solid"/>
              <a:round/>
              <a:headEnd type="none" w="med" len="med"/>
              <a:tailEnd type="none" w="med" len="med"/>
            </a:ln>
          </p:spPr>
        </p:sp>
        <p:sp>
          <p:nvSpPr>
            <p:cNvPr id="51261" name="Line 63"/>
            <p:cNvSpPr/>
            <p:nvPr/>
          </p:nvSpPr>
          <p:spPr>
            <a:xfrm>
              <a:off x="1764" y="3048"/>
              <a:ext cx="800" cy="0"/>
            </a:xfrm>
            <a:prstGeom prst="line">
              <a:avLst/>
            </a:prstGeom>
            <a:ln w="28575" cap="sq" cmpd="sng">
              <a:solidFill>
                <a:schemeClr val="tx1"/>
              </a:solidFill>
              <a:prstDash val="solid"/>
              <a:round/>
              <a:headEnd type="none" w="med" len="med"/>
              <a:tailEnd type="none" w="med" len="med"/>
            </a:ln>
          </p:spPr>
        </p:sp>
        <p:sp>
          <p:nvSpPr>
            <p:cNvPr id="51262" name="Line 64"/>
            <p:cNvSpPr/>
            <p:nvPr/>
          </p:nvSpPr>
          <p:spPr>
            <a:xfrm>
              <a:off x="1764" y="2514"/>
              <a:ext cx="0" cy="534"/>
            </a:xfrm>
            <a:prstGeom prst="line">
              <a:avLst/>
            </a:prstGeom>
            <a:ln w="28575" cap="sq" cmpd="sng">
              <a:solidFill>
                <a:schemeClr val="tx1"/>
              </a:solidFill>
              <a:prstDash val="solid"/>
              <a:round/>
              <a:headEnd type="none" w="med" len="med"/>
              <a:tailEnd type="none" w="med" len="med"/>
            </a:ln>
          </p:spPr>
        </p:sp>
        <p:sp>
          <p:nvSpPr>
            <p:cNvPr id="51263" name="Line 65"/>
            <p:cNvSpPr/>
            <p:nvPr/>
          </p:nvSpPr>
          <p:spPr>
            <a:xfrm>
              <a:off x="2031" y="2514"/>
              <a:ext cx="0" cy="534"/>
            </a:xfrm>
            <a:prstGeom prst="line">
              <a:avLst/>
            </a:prstGeom>
            <a:ln w="12700" cap="flat" cmpd="sng">
              <a:solidFill>
                <a:schemeClr val="tx1"/>
              </a:solidFill>
              <a:prstDash val="solid"/>
              <a:round/>
              <a:headEnd type="none" w="med" len="med"/>
              <a:tailEnd type="none" w="med" len="med"/>
            </a:ln>
          </p:spPr>
        </p:sp>
        <p:sp>
          <p:nvSpPr>
            <p:cNvPr id="51264" name="Line 66"/>
            <p:cNvSpPr/>
            <p:nvPr/>
          </p:nvSpPr>
          <p:spPr>
            <a:xfrm>
              <a:off x="2297" y="2514"/>
              <a:ext cx="0" cy="534"/>
            </a:xfrm>
            <a:prstGeom prst="line">
              <a:avLst/>
            </a:prstGeom>
            <a:ln w="12700" cap="flat" cmpd="sng">
              <a:solidFill>
                <a:schemeClr val="tx1"/>
              </a:solidFill>
              <a:prstDash val="solid"/>
              <a:round/>
              <a:headEnd type="none" w="med" len="med"/>
              <a:tailEnd type="none" w="med" len="med"/>
            </a:ln>
          </p:spPr>
        </p:sp>
        <p:sp>
          <p:nvSpPr>
            <p:cNvPr id="51265" name="Line 67"/>
            <p:cNvSpPr/>
            <p:nvPr/>
          </p:nvSpPr>
          <p:spPr>
            <a:xfrm>
              <a:off x="2564" y="2514"/>
              <a:ext cx="0" cy="534"/>
            </a:xfrm>
            <a:prstGeom prst="line">
              <a:avLst/>
            </a:prstGeom>
            <a:ln w="28575" cap="sq" cmpd="sng">
              <a:solidFill>
                <a:schemeClr val="tx1"/>
              </a:solidFill>
              <a:prstDash val="solid"/>
              <a:round/>
              <a:headEnd type="none" w="med" len="med"/>
              <a:tailEnd type="none" w="med" len="med"/>
            </a:ln>
          </p:spPr>
        </p:sp>
        <p:sp>
          <p:nvSpPr>
            <p:cNvPr id="51266" name="Rectangle 68"/>
            <p:cNvSpPr/>
            <p:nvPr/>
          </p:nvSpPr>
          <p:spPr>
            <a:xfrm>
              <a:off x="3537" y="2870"/>
              <a:ext cx="267"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IS</a:t>
              </a:r>
              <a:endParaRPr lang="en-US" altLang="zh-CN" sz="1400" dirty="0">
                <a:latin typeface="Arial" panose="020B0604020202020204" pitchFamily="34" charset="0"/>
                <a:ea typeface="宋体" panose="02010600030101010101" pitchFamily="2" charset="-122"/>
              </a:endParaRPr>
            </a:p>
          </p:txBody>
        </p:sp>
        <p:sp>
          <p:nvSpPr>
            <p:cNvPr id="51267" name="Rectangle 69"/>
            <p:cNvSpPr/>
            <p:nvPr/>
          </p:nvSpPr>
          <p:spPr>
            <a:xfrm>
              <a:off x="3271" y="2870"/>
              <a:ext cx="266"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BB</a:t>
              </a:r>
              <a:endParaRPr lang="en-US" altLang="zh-CN" sz="1400" dirty="0">
                <a:latin typeface="Arial" panose="020B0604020202020204" pitchFamily="34" charset="0"/>
                <a:ea typeface="宋体" panose="02010600030101010101" pitchFamily="2" charset="-122"/>
              </a:endParaRPr>
            </a:p>
          </p:txBody>
        </p:sp>
        <p:sp>
          <p:nvSpPr>
            <p:cNvPr id="51268" name="Rectangle 70"/>
            <p:cNvSpPr/>
            <p:nvPr/>
          </p:nvSpPr>
          <p:spPr>
            <a:xfrm>
              <a:off x="3004" y="2870"/>
              <a:ext cx="267"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E07</a:t>
              </a:r>
              <a:endParaRPr lang="en-US" altLang="zh-CN" sz="1400" dirty="0">
                <a:latin typeface="Arial" panose="020B0604020202020204" pitchFamily="34" charset="0"/>
                <a:ea typeface="宋体" panose="02010600030101010101" pitchFamily="2" charset="-122"/>
              </a:endParaRPr>
            </a:p>
          </p:txBody>
        </p:sp>
        <p:sp>
          <p:nvSpPr>
            <p:cNvPr id="51269" name="Rectangle 71"/>
            <p:cNvSpPr/>
            <p:nvPr/>
          </p:nvSpPr>
          <p:spPr>
            <a:xfrm>
              <a:off x="3537" y="2692"/>
              <a:ext cx="267"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IS</a:t>
              </a:r>
              <a:endParaRPr lang="en-US" altLang="zh-CN" sz="1400" dirty="0">
                <a:latin typeface="Arial" panose="020B0604020202020204" pitchFamily="34" charset="0"/>
                <a:ea typeface="宋体" panose="02010600030101010101" pitchFamily="2" charset="-122"/>
              </a:endParaRPr>
            </a:p>
          </p:txBody>
        </p:sp>
        <p:sp>
          <p:nvSpPr>
            <p:cNvPr id="51270" name="Rectangle 72"/>
            <p:cNvSpPr/>
            <p:nvPr/>
          </p:nvSpPr>
          <p:spPr>
            <a:xfrm>
              <a:off x="3271" y="2692"/>
              <a:ext cx="266"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BD</a:t>
              </a:r>
              <a:endParaRPr lang="en-US" altLang="zh-CN" sz="1400" dirty="0">
                <a:latin typeface="Arial" panose="020B0604020202020204" pitchFamily="34" charset="0"/>
                <a:ea typeface="宋体" panose="02010600030101010101" pitchFamily="2" charset="-122"/>
              </a:endParaRPr>
            </a:p>
          </p:txBody>
        </p:sp>
        <p:sp>
          <p:nvSpPr>
            <p:cNvPr id="51271" name="Rectangle 73"/>
            <p:cNvSpPr/>
            <p:nvPr/>
          </p:nvSpPr>
          <p:spPr>
            <a:xfrm>
              <a:off x="3004" y="2692"/>
              <a:ext cx="267"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E09</a:t>
              </a:r>
              <a:endParaRPr lang="en-US" altLang="zh-CN" sz="1400" dirty="0">
                <a:latin typeface="Arial" panose="020B0604020202020204" pitchFamily="34" charset="0"/>
                <a:ea typeface="宋体" panose="02010600030101010101" pitchFamily="2" charset="-122"/>
              </a:endParaRPr>
            </a:p>
          </p:txBody>
        </p:sp>
        <p:sp>
          <p:nvSpPr>
            <p:cNvPr id="51272" name="Rectangle 74"/>
            <p:cNvSpPr/>
            <p:nvPr/>
          </p:nvSpPr>
          <p:spPr>
            <a:xfrm>
              <a:off x="3537" y="2514"/>
              <a:ext cx="267"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CS</a:t>
              </a:r>
              <a:endParaRPr lang="en-US" altLang="zh-CN" sz="1400" dirty="0">
                <a:latin typeface="Arial" panose="020B0604020202020204" pitchFamily="34" charset="0"/>
                <a:ea typeface="宋体" panose="02010600030101010101" pitchFamily="2" charset="-122"/>
              </a:endParaRPr>
            </a:p>
          </p:txBody>
        </p:sp>
        <p:sp>
          <p:nvSpPr>
            <p:cNvPr id="51273" name="Rectangle 75"/>
            <p:cNvSpPr/>
            <p:nvPr/>
          </p:nvSpPr>
          <p:spPr>
            <a:xfrm>
              <a:off x="3271" y="2514"/>
              <a:ext cx="266"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BC</a:t>
              </a:r>
              <a:endParaRPr lang="en-US" altLang="zh-CN" sz="1400" dirty="0">
                <a:latin typeface="Arial" panose="020B0604020202020204" pitchFamily="34" charset="0"/>
                <a:ea typeface="宋体" panose="02010600030101010101" pitchFamily="2" charset="-122"/>
              </a:endParaRPr>
            </a:p>
          </p:txBody>
        </p:sp>
        <p:sp>
          <p:nvSpPr>
            <p:cNvPr id="51274" name="Rectangle 76"/>
            <p:cNvSpPr/>
            <p:nvPr/>
          </p:nvSpPr>
          <p:spPr>
            <a:xfrm>
              <a:off x="3004" y="2514"/>
              <a:ext cx="267"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E04</a:t>
              </a:r>
              <a:endParaRPr lang="en-US" altLang="zh-CN" sz="1400" dirty="0">
                <a:latin typeface="Arial" panose="020B0604020202020204" pitchFamily="34" charset="0"/>
                <a:ea typeface="宋体" panose="02010600030101010101" pitchFamily="2" charset="-122"/>
              </a:endParaRPr>
            </a:p>
          </p:txBody>
        </p:sp>
        <p:sp>
          <p:nvSpPr>
            <p:cNvPr id="51275" name="Line 77"/>
            <p:cNvSpPr/>
            <p:nvPr/>
          </p:nvSpPr>
          <p:spPr>
            <a:xfrm>
              <a:off x="3004" y="2514"/>
              <a:ext cx="800" cy="0"/>
            </a:xfrm>
            <a:prstGeom prst="line">
              <a:avLst/>
            </a:prstGeom>
            <a:ln w="28575" cap="sq" cmpd="sng">
              <a:solidFill>
                <a:schemeClr val="tx1"/>
              </a:solidFill>
              <a:prstDash val="solid"/>
              <a:round/>
              <a:headEnd type="none" w="med" len="med"/>
              <a:tailEnd type="none" w="med" len="med"/>
            </a:ln>
          </p:spPr>
        </p:sp>
        <p:sp>
          <p:nvSpPr>
            <p:cNvPr id="51276" name="Line 78"/>
            <p:cNvSpPr/>
            <p:nvPr/>
          </p:nvSpPr>
          <p:spPr>
            <a:xfrm>
              <a:off x="3004" y="2692"/>
              <a:ext cx="800" cy="0"/>
            </a:xfrm>
            <a:prstGeom prst="line">
              <a:avLst/>
            </a:prstGeom>
            <a:ln w="12700" cap="flat" cmpd="sng">
              <a:solidFill>
                <a:schemeClr val="tx1"/>
              </a:solidFill>
              <a:prstDash val="solid"/>
              <a:round/>
              <a:headEnd type="none" w="med" len="med"/>
              <a:tailEnd type="none" w="med" len="med"/>
            </a:ln>
          </p:spPr>
        </p:sp>
        <p:sp>
          <p:nvSpPr>
            <p:cNvPr id="51277" name="Line 79"/>
            <p:cNvSpPr/>
            <p:nvPr/>
          </p:nvSpPr>
          <p:spPr>
            <a:xfrm>
              <a:off x="3004" y="2870"/>
              <a:ext cx="800" cy="0"/>
            </a:xfrm>
            <a:prstGeom prst="line">
              <a:avLst/>
            </a:prstGeom>
            <a:ln w="12700" cap="flat" cmpd="sng">
              <a:solidFill>
                <a:schemeClr val="tx1"/>
              </a:solidFill>
              <a:prstDash val="solid"/>
              <a:round/>
              <a:headEnd type="none" w="med" len="med"/>
              <a:tailEnd type="none" w="med" len="med"/>
            </a:ln>
          </p:spPr>
        </p:sp>
        <p:sp>
          <p:nvSpPr>
            <p:cNvPr id="51278" name="Line 80"/>
            <p:cNvSpPr/>
            <p:nvPr/>
          </p:nvSpPr>
          <p:spPr>
            <a:xfrm>
              <a:off x="3004" y="3048"/>
              <a:ext cx="800" cy="0"/>
            </a:xfrm>
            <a:prstGeom prst="line">
              <a:avLst/>
            </a:prstGeom>
            <a:ln w="28575" cap="sq" cmpd="sng">
              <a:solidFill>
                <a:schemeClr val="tx1"/>
              </a:solidFill>
              <a:prstDash val="solid"/>
              <a:round/>
              <a:headEnd type="none" w="med" len="med"/>
              <a:tailEnd type="none" w="med" len="med"/>
            </a:ln>
          </p:spPr>
        </p:sp>
        <p:sp>
          <p:nvSpPr>
            <p:cNvPr id="51279" name="Line 81"/>
            <p:cNvSpPr/>
            <p:nvPr/>
          </p:nvSpPr>
          <p:spPr>
            <a:xfrm>
              <a:off x="3004" y="2514"/>
              <a:ext cx="0" cy="534"/>
            </a:xfrm>
            <a:prstGeom prst="line">
              <a:avLst/>
            </a:prstGeom>
            <a:ln w="28575" cap="sq" cmpd="sng">
              <a:solidFill>
                <a:schemeClr val="tx1"/>
              </a:solidFill>
              <a:prstDash val="solid"/>
              <a:round/>
              <a:headEnd type="none" w="med" len="med"/>
              <a:tailEnd type="none" w="med" len="med"/>
            </a:ln>
          </p:spPr>
        </p:sp>
        <p:sp>
          <p:nvSpPr>
            <p:cNvPr id="51280" name="Line 82"/>
            <p:cNvSpPr/>
            <p:nvPr/>
          </p:nvSpPr>
          <p:spPr>
            <a:xfrm>
              <a:off x="3271" y="2514"/>
              <a:ext cx="0" cy="534"/>
            </a:xfrm>
            <a:prstGeom prst="line">
              <a:avLst/>
            </a:prstGeom>
            <a:ln w="12700" cap="flat" cmpd="sng">
              <a:solidFill>
                <a:schemeClr val="tx1"/>
              </a:solidFill>
              <a:prstDash val="solid"/>
              <a:round/>
              <a:headEnd type="none" w="med" len="med"/>
              <a:tailEnd type="none" w="med" len="med"/>
            </a:ln>
          </p:spPr>
        </p:sp>
        <p:sp>
          <p:nvSpPr>
            <p:cNvPr id="51281" name="Line 83"/>
            <p:cNvSpPr/>
            <p:nvPr/>
          </p:nvSpPr>
          <p:spPr>
            <a:xfrm>
              <a:off x="3537" y="2514"/>
              <a:ext cx="0" cy="534"/>
            </a:xfrm>
            <a:prstGeom prst="line">
              <a:avLst/>
            </a:prstGeom>
            <a:ln w="12700" cap="flat" cmpd="sng">
              <a:solidFill>
                <a:schemeClr val="tx1"/>
              </a:solidFill>
              <a:prstDash val="solid"/>
              <a:round/>
              <a:headEnd type="none" w="med" len="med"/>
              <a:tailEnd type="none" w="med" len="med"/>
            </a:ln>
          </p:spPr>
        </p:sp>
        <p:sp>
          <p:nvSpPr>
            <p:cNvPr id="51282" name="Line 84"/>
            <p:cNvSpPr/>
            <p:nvPr/>
          </p:nvSpPr>
          <p:spPr>
            <a:xfrm>
              <a:off x="3804" y="2514"/>
              <a:ext cx="0" cy="534"/>
            </a:xfrm>
            <a:prstGeom prst="line">
              <a:avLst/>
            </a:prstGeom>
            <a:ln w="28575" cap="sq" cmpd="sng">
              <a:solidFill>
                <a:schemeClr val="tx1"/>
              </a:solidFill>
              <a:prstDash val="solid"/>
              <a:round/>
              <a:headEnd type="none" w="med" len="med"/>
              <a:tailEnd type="none" w="med" len="med"/>
            </a:ln>
          </p:spPr>
        </p:sp>
        <p:sp>
          <p:nvSpPr>
            <p:cNvPr id="51283" name="Rectangle 85"/>
            <p:cNvSpPr/>
            <p:nvPr/>
          </p:nvSpPr>
          <p:spPr>
            <a:xfrm>
              <a:off x="4881" y="2854"/>
              <a:ext cx="267"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CS</a:t>
              </a:r>
              <a:endParaRPr lang="en-US" altLang="zh-CN" sz="1400" dirty="0">
                <a:latin typeface="Arial" panose="020B0604020202020204" pitchFamily="34" charset="0"/>
                <a:ea typeface="宋体" panose="02010600030101010101" pitchFamily="2" charset="-122"/>
              </a:endParaRPr>
            </a:p>
          </p:txBody>
        </p:sp>
        <p:sp>
          <p:nvSpPr>
            <p:cNvPr id="51284" name="Rectangle 86"/>
            <p:cNvSpPr/>
            <p:nvPr/>
          </p:nvSpPr>
          <p:spPr>
            <a:xfrm>
              <a:off x="4615" y="2854"/>
              <a:ext cx="266"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CC</a:t>
              </a:r>
              <a:endParaRPr lang="en-US" altLang="zh-CN" sz="1400" dirty="0">
                <a:latin typeface="Arial" panose="020B0604020202020204" pitchFamily="34" charset="0"/>
                <a:ea typeface="宋体" panose="02010600030101010101" pitchFamily="2" charset="-122"/>
              </a:endParaRPr>
            </a:p>
          </p:txBody>
        </p:sp>
        <p:sp>
          <p:nvSpPr>
            <p:cNvPr id="51285" name="Rectangle 87"/>
            <p:cNvSpPr/>
            <p:nvPr/>
          </p:nvSpPr>
          <p:spPr>
            <a:xfrm>
              <a:off x="4348" y="2854"/>
              <a:ext cx="267"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E11</a:t>
              </a:r>
              <a:endParaRPr lang="en-US" altLang="zh-CN" sz="1400" dirty="0">
                <a:latin typeface="Arial" panose="020B0604020202020204" pitchFamily="34" charset="0"/>
                <a:ea typeface="宋体" panose="02010600030101010101" pitchFamily="2" charset="-122"/>
              </a:endParaRPr>
            </a:p>
          </p:txBody>
        </p:sp>
        <p:sp>
          <p:nvSpPr>
            <p:cNvPr id="51286" name="Rectangle 88"/>
            <p:cNvSpPr/>
            <p:nvPr/>
          </p:nvSpPr>
          <p:spPr>
            <a:xfrm>
              <a:off x="4881" y="2676"/>
              <a:ext cx="267"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IS</a:t>
              </a:r>
              <a:endParaRPr lang="en-US" altLang="zh-CN" sz="1400" dirty="0">
                <a:latin typeface="Arial" panose="020B0604020202020204" pitchFamily="34" charset="0"/>
                <a:ea typeface="宋体" panose="02010600030101010101" pitchFamily="2" charset="-122"/>
              </a:endParaRPr>
            </a:p>
          </p:txBody>
        </p:sp>
        <p:sp>
          <p:nvSpPr>
            <p:cNvPr id="51287" name="Rectangle 89"/>
            <p:cNvSpPr/>
            <p:nvPr/>
          </p:nvSpPr>
          <p:spPr>
            <a:xfrm>
              <a:off x="4615" y="2676"/>
              <a:ext cx="266"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CB</a:t>
              </a:r>
              <a:endParaRPr lang="en-US" altLang="zh-CN" sz="1400" dirty="0">
                <a:latin typeface="Arial" panose="020B0604020202020204" pitchFamily="34" charset="0"/>
                <a:ea typeface="宋体" panose="02010600030101010101" pitchFamily="2" charset="-122"/>
              </a:endParaRPr>
            </a:p>
          </p:txBody>
        </p:sp>
        <p:sp>
          <p:nvSpPr>
            <p:cNvPr id="51288" name="Rectangle 90"/>
            <p:cNvSpPr/>
            <p:nvPr/>
          </p:nvSpPr>
          <p:spPr>
            <a:xfrm>
              <a:off x="4348" y="2676"/>
              <a:ext cx="267" cy="194"/>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E05</a:t>
              </a:r>
              <a:endParaRPr lang="en-US" altLang="zh-CN" sz="1400" dirty="0">
                <a:latin typeface="Arial" panose="020B0604020202020204" pitchFamily="34" charset="0"/>
                <a:ea typeface="宋体" panose="02010600030101010101" pitchFamily="2" charset="-122"/>
              </a:endParaRPr>
            </a:p>
          </p:txBody>
        </p:sp>
        <p:sp>
          <p:nvSpPr>
            <p:cNvPr id="51289" name="Rectangle 91"/>
            <p:cNvSpPr/>
            <p:nvPr/>
          </p:nvSpPr>
          <p:spPr>
            <a:xfrm>
              <a:off x="4881" y="2498"/>
              <a:ext cx="267"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CS</a:t>
              </a:r>
              <a:endParaRPr lang="en-US" altLang="zh-CN" sz="1400" dirty="0">
                <a:latin typeface="Arial" panose="020B0604020202020204" pitchFamily="34" charset="0"/>
                <a:ea typeface="宋体" panose="02010600030101010101" pitchFamily="2" charset="-122"/>
              </a:endParaRPr>
            </a:p>
          </p:txBody>
        </p:sp>
        <p:sp>
          <p:nvSpPr>
            <p:cNvPr id="51290" name="Rectangle 92"/>
            <p:cNvSpPr/>
            <p:nvPr/>
          </p:nvSpPr>
          <p:spPr>
            <a:xfrm>
              <a:off x="4615" y="2498"/>
              <a:ext cx="266"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CA</a:t>
              </a:r>
              <a:endParaRPr lang="en-US" altLang="zh-CN" sz="1400" dirty="0">
                <a:latin typeface="Arial" panose="020B0604020202020204" pitchFamily="34" charset="0"/>
                <a:ea typeface="宋体" panose="02010600030101010101" pitchFamily="2" charset="-122"/>
              </a:endParaRPr>
            </a:p>
          </p:txBody>
        </p:sp>
        <p:sp>
          <p:nvSpPr>
            <p:cNvPr id="51291" name="Rectangle 93"/>
            <p:cNvSpPr/>
            <p:nvPr/>
          </p:nvSpPr>
          <p:spPr>
            <a:xfrm>
              <a:off x="4348" y="2498"/>
              <a:ext cx="267" cy="178"/>
            </a:xfrm>
            <a:prstGeom prst="rect">
              <a:avLst/>
            </a:prstGeom>
            <a:noFill/>
            <a:ln w="9525">
              <a:noFill/>
            </a:ln>
          </p:spPr>
          <p:txBody>
            <a:bodyPr lIns="18000" rIns="18000" anchor="t" anchorCtr="0"/>
            <a:p>
              <a:pPr algn="ct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E12</a:t>
              </a:r>
              <a:endParaRPr lang="en-US" altLang="zh-CN" sz="1400" dirty="0">
                <a:latin typeface="Arial" panose="020B0604020202020204" pitchFamily="34" charset="0"/>
                <a:ea typeface="宋体" panose="02010600030101010101" pitchFamily="2" charset="-122"/>
              </a:endParaRPr>
            </a:p>
          </p:txBody>
        </p:sp>
        <p:sp>
          <p:nvSpPr>
            <p:cNvPr id="51292" name="Line 94"/>
            <p:cNvSpPr/>
            <p:nvPr/>
          </p:nvSpPr>
          <p:spPr>
            <a:xfrm>
              <a:off x="4348" y="2498"/>
              <a:ext cx="800" cy="0"/>
            </a:xfrm>
            <a:prstGeom prst="line">
              <a:avLst/>
            </a:prstGeom>
            <a:ln w="28575" cap="sq" cmpd="sng">
              <a:solidFill>
                <a:schemeClr val="tx1"/>
              </a:solidFill>
              <a:prstDash val="solid"/>
              <a:round/>
              <a:headEnd type="none" w="med" len="med"/>
              <a:tailEnd type="none" w="med" len="med"/>
            </a:ln>
          </p:spPr>
        </p:sp>
        <p:sp>
          <p:nvSpPr>
            <p:cNvPr id="51293" name="Line 95"/>
            <p:cNvSpPr/>
            <p:nvPr/>
          </p:nvSpPr>
          <p:spPr>
            <a:xfrm>
              <a:off x="4348" y="2676"/>
              <a:ext cx="800" cy="0"/>
            </a:xfrm>
            <a:prstGeom prst="line">
              <a:avLst/>
            </a:prstGeom>
            <a:ln w="12700" cap="flat" cmpd="sng">
              <a:solidFill>
                <a:schemeClr val="tx1"/>
              </a:solidFill>
              <a:prstDash val="solid"/>
              <a:round/>
              <a:headEnd type="none" w="med" len="med"/>
              <a:tailEnd type="none" w="med" len="med"/>
            </a:ln>
          </p:spPr>
        </p:sp>
        <p:sp>
          <p:nvSpPr>
            <p:cNvPr id="51294" name="Line 96"/>
            <p:cNvSpPr/>
            <p:nvPr/>
          </p:nvSpPr>
          <p:spPr>
            <a:xfrm>
              <a:off x="4348" y="2854"/>
              <a:ext cx="800" cy="0"/>
            </a:xfrm>
            <a:prstGeom prst="line">
              <a:avLst/>
            </a:prstGeom>
            <a:ln w="12700" cap="flat" cmpd="sng">
              <a:solidFill>
                <a:schemeClr val="tx1"/>
              </a:solidFill>
              <a:prstDash val="solid"/>
              <a:round/>
              <a:headEnd type="none" w="med" len="med"/>
              <a:tailEnd type="none" w="med" len="med"/>
            </a:ln>
          </p:spPr>
        </p:sp>
        <p:sp>
          <p:nvSpPr>
            <p:cNvPr id="51295" name="Line 97"/>
            <p:cNvSpPr/>
            <p:nvPr/>
          </p:nvSpPr>
          <p:spPr>
            <a:xfrm>
              <a:off x="4348" y="3032"/>
              <a:ext cx="800" cy="0"/>
            </a:xfrm>
            <a:prstGeom prst="line">
              <a:avLst/>
            </a:prstGeom>
            <a:ln w="28575" cap="sq" cmpd="sng">
              <a:solidFill>
                <a:schemeClr val="tx1"/>
              </a:solidFill>
              <a:prstDash val="solid"/>
              <a:round/>
              <a:headEnd type="none" w="med" len="med"/>
              <a:tailEnd type="none" w="med" len="med"/>
            </a:ln>
          </p:spPr>
        </p:sp>
        <p:sp>
          <p:nvSpPr>
            <p:cNvPr id="51296" name="Line 98"/>
            <p:cNvSpPr/>
            <p:nvPr/>
          </p:nvSpPr>
          <p:spPr>
            <a:xfrm>
              <a:off x="4340" y="2506"/>
              <a:ext cx="0" cy="534"/>
            </a:xfrm>
            <a:prstGeom prst="line">
              <a:avLst/>
            </a:prstGeom>
            <a:ln w="28575" cap="sq" cmpd="sng">
              <a:solidFill>
                <a:schemeClr val="tx1"/>
              </a:solidFill>
              <a:prstDash val="solid"/>
              <a:round/>
              <a:headEnd type="none" w="med" len="med"/>
              <a:tailEnd type="none" w="med" len="med"/>
            </a:ln>
          </p:spPr>
        </p:sp>
        <p:sp>
          <p:nvSpPr>
            <p:cNvPr id="51297" name="Line 99"/>
            <p:cNvSpPr/>
            <p:nvPr/>
          </p:nvSpPr>
          <p:spPr>
            <a:xfrm>
              <a:off x="4615" y="2498"/>
              <a:ext cx="0" cy="534"/>
            </a:xfrm>
            <a:prstGeom prst="line">
              <a:avLst/>
            </a:prstGeom>
            <a:ln w="12700" cap="flat" cmpd="sng">
              <a:solidFill>
                <a:schemeClr val="tx1"/>
              </a:solidFill>
              <a:prstDash val="solid"/>
              <a:round/>
              <a:headEnd type="none" w="med" len="med"/>
              <a:tailEnd type="none" w="med" len="med"/>
            </a:ln>
          </p:spPr>
        </p:sp>
        <p:sp>
          <p:nvSpPr>
            <p:cNvPr id="51298" name="Line 100"/>
            <p:cNvSpPr/>
            <p:nvPr/>
          </p:nvSpPr>
          <p:spPr>
            <a:xfrm>
              <a:off x="4881" y="2498"/>
              <a:ext cx="0" cy="534"/>
            </a:xfrm>
            <a:prstGeom prst="line">
              <a:avLst/>
            </a:prstGeom>
            <a:ln w="12700" cap="flat" cmpd="sng">
              <a:solidFill>
                <a:schemeClr val="tx1"/>
              </a:solidFill>
              <a:prstDash val="solid"/>
              <a:round/>
              <a:headEnd type="none" w="med" len="med"/>
              <a:tailEnd type="none" w="med" len="med"/>
            </a:ln>
          </p:spPr>
        </p:sp>
        <p:sp>
          <p:nvSpPr>
            <p:cNvPr id="51299" name="Line 101"/>
            <p:cNvSpPr/>
            <p:nvPr/>
          </p:nvSpPr>
          <p:spPr>
            <a:xfrm>
              <a:off x="5148" y="2498"/>
              <a:ext cx="0" cy="534"/>
            </a:xfrm>
            <a:prstGeom prst="line">
              <a:avLst/>
            </a:prstGeom>
            <a:ln w="28575" cap="sq" cmpd="sng">
              <a:solidFill>
                <a:schemeClr val="tx1"/>
              </a:solidFill>
              <a:prstDash val="solid"/>
              <a:round/>
              <a:headEnd type="none" w="med" len="med"/>
              <a:tailEnd type="none" w="med" len="med"/>
            </a:ln>
          </p:spPr>
        </p:sp>
        <p:sp>
          <p:nvSpPr>
            <p:cNvPr id="51300" name="Line 102"/>
            <p:cNvSpPr/>
            <p:nvPr/>
          </p:nvSpPr>
          <p:spPr>
            <a:xfrm>
              <a:off x="1284" y="2499"/>
              <a:ext cx="496" cy="0"/>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51301" name="Line 103"/>
            <p:cNvSpPr/>
            <p:nvPr/>
          </p:nvSpPr>
          <p:spPr>
            <a:xfrm>
              <a:off x="2540" y="2515"/>
              <a:ext cx="472" cy="0"/>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51302" name="Line 104"/>
            <p:cNvSpPr/>
            <p:nvPr/>
          </p:nvSpPr>
          <p:spPr>
            <a:xfrm>
              <a:off x="3796" y="2515"/>
              <a:ext cx="544" cy="0"/>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51303" name="Line 105"/>
            <p:cNvSpPr/>
            <p:nvPr/>
          </p:nvSpPr>
          <p:spPr>
            <a:xfrm flipH="1">
              <a:off x="1292" y="3035"/>
              <a:ext cx="464" cy="0"/>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51304" name="Line 106"/>
            <p:cNvSpPr/>
            <p:nvPr/>
          </p:nvSpPr>
          <p:spPr>
            <a:xfrm flipH="1" flipV="1">
              <a:off x="2532" y="3035"/>
              <a:ext cx="496" cy="0"/>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51305" name="Line 107"/>
            <p:cNvSpPr/>
            <p:nvPr/>
          </p:nvSpPr>
          <p:spPr>
            <a:xfrm flipH="1">
              <a:off x="3788" y="3027"/>
              <a:ext cx="584" cy="0"/>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51306" name="Line 108"/>
            <p:cNvSpPr/>
            <p:nvPr/>
          </p:nvSpPr>
          <p:spPr>
            <a:xfrm flipH="1">
              <a:off x="1772" y="675"/>
              <a:ext cx="760" cy="224"/>
            </a:xfrm>
            <a:prstGeom prst="line">
              <a:avLst/>
            </a:prstGeom>
            <a:ln w="9525" cap="flat" cmpd="sng">
              <a:solidFill>
                <a:schemeClr val="accent2"/>
              </a:solidFill>
              <a:prstDash val="solid"/>
              <a:round/>
              <a:headEnd type="none" w="med" len="med"/>
              <a:tailEnd type="triangle" w="sm" len="lg"/>
            </a:ln>
            <a:effectLst>
              <a:prstShdw prst="shdw17" dist="17961" dir="2699999">
                <a:srgbClr val="1F1F5C"/>
              </a:prstShdw>
            </a:effectLst>
          </p:spPr>
        </p:sp>
        <p:sp>
          <p:nvSpPr>
            <p:cNvPr id="51307" name="Line 109"/>
            <p:cNvSpPr/>
            <p:nvPr/>
          </p:nvSpPr>
          <p:spPr>
            <a:xfrm>
              <a:off x="2868" y="667"/>
              <a:ext cx="776" cy="248"/>
            </a:xfrm>
            <a:prstGeom prst="line">
              <a:avLst/>
            </a:prstGeom>
            <a:ln w="9525" cap="flat" cmpd="sng">
              <a:solidFill>
                <a:schemeClr val="accent2"/>
              </a:solidFill>
              <a:prstDash val="solid"/>
              <a:round/>
              <a:headEnd type="none" w="med" len="med"/>
              <a:tailEnd type="triangle" w="sm" len="lg"/>
            </a:ln>
            <a:effectLst>
              <a:prstShdw prst="shdw17" dist="17961" dir="2699999">
                <a:srgbClr val="1F1F5C"/>
              </a:prstShdw>
            </a:effectLst>
          </p:spPr>
        </p:sp>
        <p:sp>
          <p:nvSpPr>
            <p:cNvPr id="51308" name="Line 110"/>
            <p:cNvSpPr/>
            <p:nvPr/>
          </p:nvSpPr>
          <p:spPr>
            <a:xfrm>
              <a:off x="2164" y="995"/>
              <a:ext cx="1184" cy="0"/>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51309" name="Line 111"/>
            <p:cNvSpPr/>
            <p:nvPr/>
          </p:nvSpPr>
          <p:spPr>
            <a:xfrm rot="10800000">
              <a:off x="2164" y="1187"/>
              <a:ext cx="1184" cy="0"/>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51310" name="Line 112"/>
            <p:cNvSpPr/>
            <p:nvPr/>
          </p:nvSpPr>
          <p:spPr>
            <a:xfrm flipH="1">
              <a:off x="1140" y="1307"/>
              <a:ext cx="384" cy="264"/>
            </a:xfrm>
            <a:prstGeom prst="line">
              <a:avLst/>
            </a:prstGeom>
            <a:ln w="9525" cap="flat" cmpd="sng">
              <a:solidFill>
                <a:schemeClr val="accent2"/>
              </a:solidFill>
              <a:prstDash val="solid"/>
              <a:round/>
              <a:headEnd type="none" w="med" len="med"/>
              <a:tailEnd type="triangle" w="sm" len="lg"/>
            </a:ln>
            <a:effectLst>
              <a:prstShdw prst="shdw17" dist="17961" dir="2699999">
                <a:srgbClr val="1F1F5C"/>
              </a:prstShdw>
            </a:effectLst>
          </p:spPr>
        </p:sp>
        <p:sp>
          <p:nvSpPr>
            <p:cNvPr id="51311" name="Line 113"/>
            <p:cNvSpPr/>
            <p:nvPr/>
          </p:nvSpPr>
          <p:spPr>
            <a:xfrm>
              <a:off x="1964" y="1299"/>
              <a:ext cx="248" cy="280"/>
            </a:xfrm>
            <a:prstGeom prst="line">
              <a:avLst/>
            </a:prstGeom>
            <a:ln w="9525" cap="flat" cmpd="sng">
              <a:solidFill>
                <a:schemeClr val="accent2"/>
              </a:solidFill>
              <a:prstDash val="solid"/>
              <a:round/>
              <a:headEnd type="none" w="med" len="med"/>
              <a:tailEnd type="triangle" w="sm" len="lg"/>
            </a:ln>
            <a:effectLst>
              <a:prstShdw prst="shdw17" dist="17961" dir="2699999">
                <a:srgbClr val="1F1F5C"/>
              </a:prstShdw>
            </a:effectLst>
          </p:spPr>
        </p:sp>
        <p:sp>
          <p:nvSpPr>
            <p:cNvPr id="51312" name="Line 114"/>
            <p:cNvSpPr/>
            <p:nvPr/>
          </p:nvSpPr>
          <p:spPr>
            <a:xfrm flipH="1">
              <a:off x="3212" y="1315"/>
              <a:ext cx="368" cy="216"/>
            </a:xfrm>
            <a:prstGeom prst="line">
              <a:avLst/>
            </a:prstGeom>
            <a:ln w="9525" cap="flat" cmpd="sng">
              <a:solidFill>
                <a:schemeClr val="accent2"/>
              </a:solidFill>
              <a:prstDash val="solid"/>
              <a:round/>
              <a:headEnd type="none" w="med" len="med"/>
              <a:tailEnd type="triangle" w="sm" len="lg"/>
            </a:ln>
            <a:effectLst>
              <a:prstShdw prst="shdw17" dist="17961" dir="2699999">
                <a:srgbClr val="1F1F5C"/>
              </a:prstShdw>
            </a:effectLst>
          </p:spPr>
        </p:sp>
        <p:sp>
          <p:nvSpPr>
            <p:cNvPr id="51313" name="Line 115"/>
            <p:cNvSpPr/>
            <p:nvPr/>
          </p:nvSpPr>
          <p:spPr>
            <a:xfrm>
              <a:off x="3844" y="1307"/>
              <a:ext cx="864" cy="200"/>
            </a:xfrm>
            <a:prstGeom prst="line">
              <a:avLst/>
            </a:prstGeom>
            <a:ln w="9525" cap="flat" cmpd="sng">
              <a:solidFill>
                <a:schemeClr val="accent2"/>
              </a:solidFill>
              <a:prstDash val="solid"/>
              <a:round/>
              <a:headEnd type="none" w="med" len="med"/>
              <a:tailEnd type="triangle" w="sm" len="lg"/>
            </a:ln>
            <a:effectLst>
              <a:prstShdw prst="shdw17" dist="17961" dir="2699999">
                <a:srgbClr val="1F1F5C"/>
              </a:prstShdw>
            </a:effectLst>
          </p:spPr>
        </p:sp>
        <p:sp>
          <p:nvSpPr>
            <p:cNvPr id="51314" name="Rectangle 116"/>
            <p:cNvSpPr/>
            <p:nvPr/>
          </p:nvSpPr>
          <p:spPr>
            <a:xfrm>
              <a:off x="2360" y="0"/>
              <a:ext cx="543" cy="292"/>
            </a:xfrm>
            <a:prstGeom prst="rect">
              <a:avLst/>
            </a:prstGeom>
            <a:noFill/>
            <a:ln w="9525">
              <a:noFill/>
            </a:ln>
            <a:effectLst>
              <a:prstShdw prst="shdw17" dist="17961" dir="2699999">
                <a:srgbClr val="708688"/>
              </a:prstShdw>
            </a:effectLst>
          </p:spPr>
          <p:txBody>
            <a:bodyPr anchor="ctr" anchorCtr="0">
              <a:spAutoFit/>
            </a:bodyPr>
            <a:p>
              <a:pPr marL="262255" indent="-262255">
                <a:lnSpc>
                  <a:spcPct val="135000"/>
                </a:lnSpc>
              </a:pPr>
              <a:r>
                <a:rPr lang="en-US" altLang="zh-CN" dirty="0">
                  <a:solidFill>
                    <a:srgbClr val="0033CC"/>
                  </a:solidFill>
                  <a:latin typeface="Arial" panose="020B0604020202020204" pitchFamily="34" charset="0"/>
                  <a:ea typeface="宋体" panose="02010600030101010101" pitchFamily="2" charset="-122"/>
                </a:rPr>
                <a:t>410</a:t>
              </a:r>
              <a:endParaRPr lang="zh-CN" altLang="en-US" dirty="0">
                <a:solidFill>
                  <a:srgbClr val="0033CC"/>
                </a:solidFill>
                <a:latin typeface="Arial" panose="020B0604020202020204" pitchFamily="34" charset="0"/>
                <a:ea typeface="宋体" panose="02010600030101010101" pitchFamily="2" charset="-122"/>
              </a:endParaRPr>
            </a:p>
          </p:txBody>
        </p:sp>
        <p:sp>
          <p:nvSpPr>
            <p:cNvPr id="51315" name="Rectangle 117"/>
            <p:cNvSpPr/>
            <p:nvPr/>
          </p:nvSpPr>
          <p:spPr>
            <a:xfrm>
              <a:off x="1488" y="632"/>
              <a:ext cx="543" cy="292"/>
            </a:xfrm>
            <a:prstGeom prst="rect">
              <a:avLst/>
            </a:prstGeom>
            <a:noFill/>
            <a:ln w="9525">
              <a:noFill/>
            </a:ln>
            <a:effectLst>
              <a:prstShdw prst="shdw17" dist="17961" dir="2699999">
                <a:srgbClr val="708688"/>
              </a:prstShdw>
            </a:effectLst>
          </p:spPr>
          <p:txBody>
            <a:bodyPr anchor="ctr" anchorCtr="0">
              <a:spAutoFit/>
            </a:bodyPr>
            <a:p>
              <a:pPr marL="262255" indent="-262255">
                <a:lnSpc>
                  <a:spcPct val="135000"/>
                </a:lnSpc>
              </a:pPr>
              <a:r>
                <a:rPr lang="en-US" altLang="zh-CN" dirty="0">
                  <a:solidFill>
                    <a:srgbClr val="0033CC"/>
                  </a:solidFill>
                  <a:latin typeface="Arial" panose="020B0604020202020204" pitchFamily="34" charset="0"/>
                  <a:ea typeface="宋体" panose="02010600030101010101" pitchFamily="2" charset="-122"/>
                </a:rPr>
                <a:t>302</a:t>
              </a:r>
              <a:endParaRPr lang="zh-CN" altLang="en-US" dirty="0">
                <a:solidFill>
                  <a:srgbClr val="0033CC"/>
                </a:solidFill>
                <a:latin typeface="Arial" panose="020B0604020202020204" pitchFamily="34" charset="0"/>
                <a:ea typeface="宋体" panose="02010600030101010101" pitchFamily="2" charset="-122"/>
              </a:endParaRPr>
            </a:p>
          </p:txBody>
        </p:sp>
        <p:sp>
          <p:nvSpPr>
            <p:cNvPr id="51316" name="Rectangle 118"/>
            <p:cNvSpPr/>
            <p:nvPr/>
          </p:nvSpPr>
          <p:spPr>
            <a:xfrm>
              <a:off x="3608" y="656"/>
              <a:ext cx="543" cy="292"/>
            </a:xfrm>
            <a:prstGeom prst="rect">
              <a:avLst/>
            </a:prstGeom>
            <a:noFill/>
            <a:ln w="9525">
              <a:noFill/>
            </a:ln>
            <a:effectLst>
              <a:prstShdw prst="shdw17" dist="17961" dir="2699999">
                <a:srgbClr val="708688"/>
              </a:prstShdw>
            </a:effectLst>
          </p:spPr>
          <p:txBody>
            <a:bodyPr anchor="ctr" anchorCtr="0">
              <a:spAutoFit/>
            </a:bodyPr>
            <a:p>
              <a:pPr marL="262255" indent="-262255">
                <a:lnSpc>
                  <a:spcPct val="135000"/>
                </a:lnSpc>
              </a:pPr>
              <a:r>
                <a:rPr lang="en-US" altLang="zh-CN" dirty="0">
                  <a:solidFill>
                    <a:srgbClr val="0033CC"/>
                  </a:solidFill>
                  <a:latin typeface="Arial" panose="020B0604020202020204" pitchFamily="34" charset="0"/>
                  <a:ea typeface="宋体" panose="02010600030101010101" pitchFamily="2" charset="-122"/>
                </a:rPr>
                <a:t>303</a:t>
              </a:r>
              <a:endParaRPr lang="zh-CN" altLang="en-US" dirty="0">
                <a:solidFill>
                  <a:srgbClr val="0033CC"/>
                </a:solidFill>
                <a:latin typeface="Arial" panose="020B0604020202020204" pitchFamily="34" charset="0"/>
                <a:ea typeface="宋体" panose="02010600030101010101" pitchFamily="2" charset="-122"/>
              </a:endParaRPr>
            </a:p>
          </p:txBody>
        </p:sp>
        <p:sp>
          <p:nvSpPr>
            <p:cNvPr id="51317" name="Rectangle 119"/>
            <p:cNvSpPr/>
            <p:nvPr/>
          </p:nvSpPr>
          <p:spPr>
            <a:xfrm>
              <a:off x="456" y="2256"/>
              <a:ext cx="543" cy="292"/>
            </a:xfrm>
            <a:prstGeom prst="rect">
              <a:avLst/>
            </a:prstGeom>
            <a:noFill/>
            <a:ln w="9525">
              <a:noFill/>
            </a:ln>
            <a:effectLst>
              <a:prstShdw prst="shdw17" dist="17961" dir="2699999">
                <a:srgbClr val="708688"/>
              </a:prstShdw>
            </a:effectLst>
          </p:spPr>
          <p:txBody>
            <a:bodyPr anchor="ctr" anchorCtr="0">
              <a:spAutoFit/>
            </a:bodyPr>
            <a:p>
              <a:pPr marL="262255" indent="-262255">
                <a:lnSpc>
                  <a:spcPct val="135000"/>
                </a:lnSpc>
              </a:pPr>
              <a:r>
                <a:rPr lang="en-US" altLang="zh-CN" dirty="0">
                  <a:solidFill>
                    <a:srgbClr val="0033CC"/>
                  </a:solidFill>
                  <a:latin typeface="Arial" panose="020B0604020202020204" pitchFamily="34" charset="0"/>
                  <a:ea typeface="宋体" panose="02010600030101010101" pitchFamily="2" charset="-122"/>
                </a:rPr>
                <a:t>101</a:t>
              </a:r>
              <a:endParaRPr lang="zh-CN" altLang="en-US" dirty="0">
                <a:solidFill>
                  <a:srgbClr val="0033CC"/>
                </a:solidFill>
                <a:latin typeface="Arial" panose="020B0604020202020204" pitchFamily="34" charset="0"/>
                <a:ea typeface="宋体" panose="02010600030101010101" pitchFamily="2" charset="-122"/>
              </a:endParaRPr>
            </a:p>
          </p:txBody>
        </p:sp>
        <p:sp>
          <p:nvSpPr>
            <p:cNvPr id="51318" name="Rectangle 120"/>
            <p:cNvSpPr/>
            <p:nvPr/>
          </p:nvSpPr>
          <p:spPr>
            <a:xfrm>
              <a:off x="1696" y="2232"/>
              <a:ext cx="543" cy="292"/>
            </a:xfrm>
            <a:prstGeom prst="rect">
              <a:avLst/>
            </a:prstGeom>
            <a:noFill/>
            <a:ln w="9525">
              <a:noFill/>
            </a:ln>
            <a:effectLst>
              <a:prstShdw prst="shdw17" dist="17961" dir="2699999">
                <a:srgbClr val="708688"/>
              </a:prstShdw>
            </a:effectLst>
          </p:spPr>
          <p:txBody>
            <a:bodyPr anchor="ctr" anchorCtr="0">
              <a:spAutoFit/>
            </a:bodyPr>
            <a:p>
              <a:pPr marL="262255" indent="-262255">
                <a:lnSpc>
                  <a:spcPct val="135000"/>
                </a:lnSpc>
              </a:pPr>
              <a:r>
                <a:rPr lang="en-US" altLang="zh-CN" dirty="0">
                  <a:solidFill>
                    <a:srgbClr val="0033CC"/>
                  </a:solidFill>
                  <a:latin typeface="Arial" panose="020B0604020202020204" pitchFamily="34" charset="0"/>
                  <a:ea typeface="宋体" panose="02010600030101010101" pitchFamily="2" charset="-122"/>
                </a:rPr>
                <a:t>104</a:t>
              </a:r>
              <a:endParaRPr lang="zh-CN" altLang="en-US" dirty="0">
                <a:solidFill>
                  <a:srgbClr val="0033CC"/>
                </a:solidFill>
                <a:latin typeface="Arial" panose="020B0604020202020204" pitchFamily="34" charset="0"/>
                <a:ea typeface="宋体" panose="02010600030101010101" pitchFamily="2" charset="-122"/>
              </a:endParaRPr>
            </a:p>
          </p:txBody>
        </p:sp>
        <p:sp>
          <p:nvSpPr>
            <p:cNvPr id="51319" name="Rectangle 121"/>
            <p:cNvSpPr/>
            <p:nvPr/>
          </p:nvSpPr>
          <p:spPr>
            <a:xfrm>
              <a:off x="2912" y="2240"/>
              <a:ext cx="543" cy="292"/>
            </a:xfrm>
            <a:prstGeom prst="rect">
              <a:avLst/>
            </a:prstGeom>
            <a:noFill/>
            <a:ln w="9525">
              <a:noFill/>
            </a:ln>
            <a:effectLst>
              <a:prstShdw prst="shdw17" dist="17961" dir="2699999">
                <a:srgbClr val="708688"/>
              </a:prstShdw>
            </a:effectLst>
          </p:spPr>
          <p:txBody>
            <a:bodyPr anchor="ctr" anchorCtr="0">
              <a:spAutoFit/>
            </a:bodyPr>
            <a:p>
              <a:pPr marL="262255" indent="-262255">
                <a:lnSpc>
                  <a:spcPct val="135000"/>
                </a:lnSpc>
              </a:pPr>
              <a:r>
                <a:rPr lang="en-US" altLang="zh-CN" dirty="0">
                  <a:solidFill>
                    <a:srgbClr val="0033CC"/>
                  </a:solidFill>
                  <a:latin typeface="Arial" panose="020B0604020202020204" pitchFamily="34" charset="0"/>
                  <a:ea typeface="宋体" panose="02010600030101010101" pitchFamily="2" charset="-122"/>
                </a:rPr>
                <a:t>110</a:t>
              </a:r>
              <a:endParaRPr lang="zh-CN" altLang="en-US" dirty="0">
                <a:solidFill>
                  <a:srgbClr val="0033CC"/>
                </a:solidFill>
                <a:latin typeface="Arial" panose="020B0604020202020204" pitchFamily="34" charset="0"/>
                <a:ea typeface="宋体" panose="02010600030101010101" pitchFamily="2" charset="-122"/>
              </a:endParaRPr>
            </a:p>
          </p:txBody>
        </p:sp>
        <p:sp>
          <p:nvSpPr>
            <p:cNvPr id="51320" name="Rectangle 122"/>
            <p:cNvSpPr/>
            <p:nvPr/>
          </p:nvSpPr>
          <p:spPr>
            <a:xfrm>
              <a:off x="4677" y="2208"/>
              <a:ext cx="399" cy="292"/>
            </a:xfrm>
            <a:prstGeom prst="rect">
              <a:avLst/>
            </a:prstGeom>
            <a:noFill/>
            <a:ln w="9525">
              <a:noFill/>
            </a:ln>
            <a:effectLst>
              <a:prstShdw prst="shdw17" dist="17961" dir="2699999">
                <a:srgbClr val="708688"/>
              </a:prstShdw>
            </a:effectLst>
          </p:spPr>
          <p:txBody>
            <a:bodyPr anchor="ctr" anchorCtr="0">
              <a:spAutoFit/>
            </a:bodyPr>
            <a:p>
              <a:pPr marL="262255" indent="-262255">
                <a:lnSpc>
                  <a:spcPct val="135000"/>
                </a:lnSpc>
              </a:pPr>
              <a:r>
                <a:rPr lang="en-US" altLang="zh-CN" dirty="0">
                  <a:solidFill>
                    <a:srgbClr val="0033CC"/>
                  </a:solidFill>
                  <a:latin typeface="Arial" panose="020B0604020202020204" pitchFamily="34" charset="0"/>
                  <a:ea typeface="宋体" panose="02010600030101010101" pitchFamily="2" charset="-122"/>
                </a:rPr>
                <a:t>111</a:t>
              </a:r>
              <a:endParaRPr lang="zh-CN" altLang="en-US" dirty="0">
                <a:solidFill>
                  <a:srgbClr val="0033CC"/>
                </a:solidFill>
                <a:latin typeface="Arial" panose="020B0604020202020204" pitchFamily="34" charset="0"/>
                <a:ea typeface="宋体" panose="02010600030101010101" pitchFamily="2" charset="-122"/>
              </a:endParaRPr>
            </a:p>
          </p:txBody>
        </p:sp>
        <p:sp>
          <p:nvSpPr>
            <p:cNvPr id="51321" name="Rectangle 123"/>
            <p:cNvSpPr/>
            <p:nvPr/>
          </p:nvSpPr>
          <p:spPr>
            <a:xfrm>
              <a:off x="2085" y="296"/>
              <a:ext cx="399" cy="292"/>
            </a:xfrm>
            <a:prstGeom prst="rect">
              <a:avLst/>
            </a:prstGeom>
            <a:noFill/>
            <a:ln w="9525">
              <a:noFill/>
            </a:ln>
            <a:effectLst>
              <a:prstShdw prst="shdw17" dist="17961" dir="2699999">
                <a:srgbClr val="708688"/>
              </a:prstShdw>
            </a:effectLst>
          </p:spPr>
          <p:txBody>
            <a:bodyPr anchor="ctr" anchorCtr="0">
              <a:spAutoFit/>
            </a:bodyPr>
            <a:p>
              <a:pPr marL="262255" indent="-262255">
                <a:lnSpc>
                  <a:spcPct val="135000"/>
                </a:lnSpc>
              </a:pPr>
              <a:r>
                <a:rPr lang="zh-CN" altLang="en-US" dirty="0">
                  <a:solidFill>
                    <a:srgbClr val="FF3300"/>
                  </a:solidFill>
                  <a:latin typeface="Arial" panose="020B0604020202020204" pitchFamily="34" charset="0"/>
                  <a:ea typeface="宋体" panose="02010600030101010101" pitchFamily="2" charset="-122"/>
                </a:rPr>
                <a:t>根</a:t>
              </a:r>
              <a:endParaRPr lang="zh-CN" altLang="en-US" dirty="0">
                <a:solidFill>
                  <a:srgbClr val="FF3300"/>
                </a:solidFill>
                <a:latin typeface="Arial" panose="020B0604020202020204" pitchFamily="34" charset="0"/>
                <a:ea typeface="宋体" panose="02010600030101010101" pitchFamily="2" charset="-122"/>
              </a:endParaRPr>
            </a:p>
          </p:txBody>
        </p:sp>
        <p:sp>
          <p:nvSpPr>
            <p:cNvPr id="51322" name="Rectangle 124"/>
            <p:cNvSpPr/>
            <p:nvPr/>
          </p:nvSpPr>
          <p:spPr>
            <a:xfrm>
              <a:off x="992" y="961"/>
              <a:ext cx="548" cy="292"/>
            </a:xfrm>
            <a:prstGeom prst="rect">
              <a:avLst/>
            </a:prstGeom>
            <a:noFill/>
            <a:ln w="9525">
              <a:noFill/>
            </a:ln>
            <a:effectLst>
              <a:prstShdw prst="shdw17" dist="17961" dir="2699999">
                <a:srgbClr val="708688"/>
              </a:prstShdw>
            </a:effectLst>
          </p:spPr>
          <p:txBody>
            <a:bodyPr wrap="none" anchor="t" anchorCtr="0">
              <a:spAutoFit/>
            </a:bodyPr>
            <a:p>
              <a:pPr marL="262255" indent="-262255">
                <a:lnSpc>
                  <a:spcPct val="135000"/>
                </a:lnSpc>
              </a:pPr>
              <a:r>
                <a:rPr lang="zh-CN" altLang="en-US" dirty="0">
                  <a:solidFill>
                    <a:srgbClr val="FF3300"/>
                  </a:solidFill>
                  <a:latin typeface="Arial" panose="020B0604020202020204" pitchFamily="34" charset="0"/>
                  <a:ea typeface="宋体" panose="02010600030101010101" pitchFamily="2" charset="-122"/>
                </a:rPr>
                <a:t>中间级</a:t>
              </a:r>
              <a:endParaRPr lang="zh-CN" altLang="en-US" dirty="0">
                <a:solidFill>
                  <a:srgbClr val="FF3300"/>
                </a:solidFill>
                <a:latin typeface="Arial" panose="020B0604020202020204" pitchFamily="34" charset="0"/>
                <a:ea typeface="宋体" panose="02010600030101010101" pitchFamily="2" charset="-122"/>
              </a:endParaRPr>
            </a:p>
          </p:txBody>
        </p:sp>
        <p:sp>
          <p:nvSpPr>
            <p:cNvPr id="51323" name="Rectangle 125"/>
            <p:cNvSpPr/>
            <p:nvPr/>
          </p:nvSpPr>
          <p:spPr>
            <a:xfrm>
              <a:off x="0" y="2149"/>
              <a:ext cx="548" cy="404"/>
            </a:xfrm>
            <a:prstGeom prst="rect">
              <a:avLst/>
            </a:prstGeom>
            <a:noFill/>
            <a:ln w="9525">
              <a:noFill/>
            </a:ln>
            <a:effectLst>
              <a:prstShdw prst="shdw17" dist="17961" dir="2699999">
                <a:srgbClr val="708688"/>
              </a:prstShdw>
            </a:effectLst>
          </p:spPr>
          <p:txBody>
            <a:bodyPr wrap="none" anchor="t" anchorCtr="0">
              <a:spAutoFit/>
            </a:bodyPr>
            <a:p>
              <a:pPr marL="262255" indent="-262255"/>
              <a:endParaRPr lang="zh-CN" altLang="en-US" dirty="0">
                <a:solidFill>
                  <a:srgbClr val="FF3300"/>
                </a:solidFill>
                <a:latin typeface="Arial" panose="020B0604020202020204" pitchFamily="34" charset="0"/>
                <a:ea typeface="宋体" panose="02010600030101010101" pitchFamily="2" charset="-122"/>
              </a:endParaRPr>
            </a:p>
            <a:p>
              <a:pPr marL="262255" indent="-262255"/>
              <a:r>
                <a:rPr lang="zh-CN" altLang="en-US" dirty="0">
                  <a:solidFill>
                    <a:srgbClr val="FF3300"/>
                  </a:solidFill>
                  <a:latin typeface="Arial" panose="020B0604020202020204" pitchFamily="34" charset="0"/>
                  <a:ea typeface="宋体" panose="02010600030101010101" pitchFamily="2" charset="-122"/>
                </a:rPr>
                <a:t>数据页</a:t>
              </a:r>
              <a:endParaRPr lang="zh-CN" altLang="en-US" dirty="0">
                <a:solidFill>
                  <a:srgbClr val="FF3300"/>
                </a:solidFill>
                <a:latin typeface="Arial" panose="020B0604020202020204" pitchFamily="34" charset="0"/>
                <a:ea typeface="宋体" panose="02010600030101010101" pitchFamily="2" charset="-122"/>
              </a:endParaRPr>
            </a:p>
          </p:txBody>
        </p:sp>
        <p:sp>
          <p:nvSpPr>
            <p:cNvPr id="51324" name="Rectangle 126"/>
            <p:cNvSpPr/>
            <p:nvPr/>
          </p:nvSpPr>
          <p:spPr>
            <a:xfrm>
              <a:off x="952" y="1778"/>
              <a:ext cx="444"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endParaRPr lang="en-US" altLang="x-none" sz="1400" dirty="0">
                <a:latin typeface="Arial" panose="020B0604020202020204" pitchFamily="34" charset="0"/>
                <a:ea typeface="宋体" panose="02010600030101010101" pitchFamily="2" charset="-122"/>
              </a:endParaRPr>
            </a:p>
          </p:txBody>
        </p:sp>
        <p:sp>
          <p:nvSpPr>
            <p:cNvPr id="51325" name="Rectangle 127"/>
            <p:cNvSpPr/>
            <p:nvPr/>
          </p:nvSpPr>
          <p:spPr>
            <a:xfrm>
              <a:off x="636" y="1778"/>
              <a:ext cx="444"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E02</a:t>
              </a:r>
              <a:endParaRPr lang="en-US" altLang="zh-CN" sz="1400" dirty="0">
                <a:latin typeface="Arial" panose="020B0604020202020204" pitchFamily="34" charset="0"/>
                <a:ea typeface="宋体" panose="02010600030101010101" pitchFamily="2" charset="-122"/>
              </a:endParaRPr>
            </a:p>
          </p:txBody>
        </p:sp>
        <p:sp>
          <p:nvSpPr>
            <p:cNvPr id="51326" name="Rectangle 128"/>
            <p:cNvSpPr/>
            <p:nvPr/>
          </p:nvSpPr>
          <p:spPr>
            <a:xfrm>
              <a:off x="952" y="1587"/>
              <a:ext cx="444"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endParaRPr lang="en-US" altLang="x-none" sz="1400" dirty="0">
                <a:latin typeface="Arial" panose="020B0604020202020204" pitchFamily="34" charset="0"/>
                <a:ea typeface="宋体" panose="02010600030101010101" pitchFamily="2" charset="-122"/>
              </a:endParaRPr>
            </a:p>
          </p:txBody>
        </p:sp>
        <p:sp>
          <p:nvSpPr>
            <p:cNvPr id="51327" name="Rectangle 129"/>
            <p:cNvSpPr/>
            <p:nvPr/>
          </p:nvSpPr>
          <p:spPr>
            <a:xfrm>
              <a:off x="636" y="1587"/>
              <a:ext cx="444"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E01</a:t>
              </a:r>
              <a:endParaRPr lang="en-US" altLang="zh-CN" sz="1400" dirty="0">
                <a:latin typeface="Arial" panose="020B0604020202020204" pitchFamily="34" charset="0"/>
                <a:ea typeface="宋体" panose="02010600030101010101" pitchFamily="2" charset="-122"/>
              </a:endParaRPr>
            </a:p>
          </p:txBody>
        </p:sp>
        <p:sp>
          <p:nvSpPr>
            <p:cNvPr id="51328" name="Line 130"/>
            <p:cNvSpPr/>
            <p:nvPr/>
          </p:nvSpPr>
          <p:spPr>
            <a:xfrm>
              <a:off x="636" y="1587"/>
              <a:ext cx="888" cy="1"/>
            </a:xfrm>
            <a:prstGeom prst="line">
              <a:avLst/>
            </a:prstGeom>
            <a:ln w="28575" cap="sq" cmpd="sng">
              <a:solidFill>
                <a:schemeClr val="tx1"/>
              </a:solidFill>
              <a:prstDash val="solid"/>
              <a:round/>
              <a:headEnd type="none" w="med" len="med"/>
              <a:tailEnd type="none" w="med" len="med"/>
            </a:ln>
          </p:spPr>
        </p:sp>
        <p:sp>
          <p:nvSpPr>
            <p:cNvPr id="51329" name="Line 131"/>
            <p:cNvSpPr/>
            <p:nvPr/>
          </p:nvSpPr>
          <p:spPr>
            <a:xfrm>
              <a:off x="636" y="1778"/>
              <a:ext cx="888" cy="1"/>
            </a:xfrm>
            <a:prstGeom prst="line">
              <a:avLst/>
            </a:prstGeom>
            <a:ln w="12700" cap="flat" cmpd="sng">
              <a:solidFill>
                <a:schemeClr val="tx1"/>
              </a:solidFill>
              <a:prstDash val="solid"/>
              <a:round/>
              <a:headEnd type="none" w="med" len="med"/>
              <a:tailEnd type="none" w="med" len="med"/>
            </a:ln>
          </p:spPr>
        </p:sp>
        <p:sp>
          <p:nvSpPr>
            <p:cNvPr id="51330" name="Line 132"/>
            <p:cNvSpPr/>
            <p:nvPr/>
          </p:nvSpPr>
          <p:spPr>
            <a:xfrm>
              <a:off x="636" y="1969"/>
              <a:ext cx="888" cy="1"/>
            </a:xfrm>
            <a:prstGeom prst="line">
              <a:avLst/>
            </a:prstGeom>
            <a:ln w="28575" cap="sq" cmpd="sng">
              <a:solidFill>
                <a:schemeClr val="tx1"/>
              </a:solidFill>
              <a:prstDash val="solid"/>
              <a:round/>
              <a:headEnd type="none" w="med" len="med"/>
              <a:tailEnd type="none" w="med" len="med"/>
            </a:ln>
          </p:spPr>
        </p:sp>
        <p:sp>
          <p:nvSpPr>
            <p:cNvPr id="51331" name="Line 133"/>
            <p:cNvSpPr/>
            <p:nvPr/>
          </p:nvSpPr>
          <p:spPr>
            <a:xfrm>
              <a:off x="636" y="1587"/>
              <a:ext cx="0" cy="598"/>
            </a:xfrm>
            <a:prstGeom prst="line">
              <a:avLst/>
            </a:prstGeom>
            <a:ln w="28575" cap="sq" cmpd="sng">
              <a:solidFill>
                <a:schemeClr val="tx1"/>
              </a:solidFill>
              <a:prstDash val="solid"/>
              <a:round/>
              <a:headEnd type="none" w="med" len="med"/>
              <a:tailEnd type="none" w="med" len="med"/>
            </a:ln>
          </p:spPr>
        </p:sp>
        <p:sp>
          <p:nvSpPr>
            <p:cNvPr id="51332" name="Line 134"/>
            <p:cNvSpPr/>
            <p:nvPr/>
          </p:nvSpPr>
          <p:spPr>
            <a:xfrm>
              <a:off x="952" y="1587"/>
              <a:ext cx="0" cy="550"/>
            </a:xfrm>
            <a:prstGeom prst="line">
              <a:avLst/>
            </a:prstGeom>
            <a:ln w="12700" cap="flat" cmpd="sng">
              <a:solidFill>
                <a:schemeClr val="tx1"/>
              </a:solidFill>
              <a:prstDash val="solid"/>
              <a:round/>
              <a:headEnd type="none" w="med" len="med"/>
              <a:tailEnd type="none" w="med" len="med"/>
            </a:ln>
          </p:spPr>
        </p:sp>
        <p:sp>
          <p:nvSpPr>
            <p:cNvPr id="51333" name="Line 135"/>
            <p:cNvSpPr/>
            <p:nvPr/>
          </p:nvSpPr>
          <p:spPr>
            <a:xfrm>
              <a:off x="1508" y="1571"/>
              <a:ext cx="0" cy="582"/>
            </a:xfrm>
            <a:prstGeom prst="line">
              <a:avLst/>
            </a:prstGeom>
            <a:ln w="28575" cap="sq" cmpd="sng">
              <a:solidFill>
                <a:schemeClr val="tx1"/>
              </a:solidFill>
              <a:prstDash val="solid"/>
              <a:round/>
              <a:headEnd type="none" w="med" len="med"/>
              <a:tailEnd type="none" w="med" len="med"/>
            </a:ln>
          </p:spPr>
        </p:sp>
        <p:sp>
          <p:nvSpPr>
            <p:cNvPr id="51334" name="Rectangle 136"/>
            <p:cNvSpPr/>
            <p:nvPr/>
          </p:nvSpPr>
          <p:spPr>
            <a:xfrm>
              <a:off x="960" y="1970"/>
              <a:ext cx="444"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endParaRPr lang="en-US" altLang="x-none" sz="1400" dirty="0">
                <a:latin typeface="Arial" panose="020B0604020202020204" pitchFamily="34" charset="0"/>
                <a:ea typeface="宋体" panose="02010600030101010101" pitchFamily="2" charset="-122"/>
              </a:endParaRPr>
            </a:p>
          </p:txBody>
        </p:sp>
        <p:sp>
          <p:nvSpPr>
            <p:cNvPr id="51335" name="Rectangle 137"/>
            <p:cNvSpPr/>
            <p:nvPr/>
          </p:nvSpPr>
          <p:spPr>
            <a:xfrm>
              <a:off x="644" y="1970"/>
              <a:ext cx="444"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E03</a:t>
              </a:r>
              <a:endParaRPr lang="en-US" altLang="zh-CN" sz="1400" dirty="0">
                <a:latin typeface="Arial" panose="020B0604020202020204" pitchFamily="34" charset="0"/>
                <a:ea typeface="宋体" panose="02010600030101010101" pitchFamily="2" charset="-122"/>
              </a:endParaRPr>
            </a:p>
          </p:txBody>
        </p:sp>
        <p:sp>
          <p:nvSpPr>
            <p:cNvPr id="51336" name="Line 138"/>
            <p:cNvSpPr/>
            <p:nvPr/>
          </p:nvSpPr>
          <p:spPr>
            <a:xfrm>
              <a:off x="644" y="1970"/>
              <a:ext cx="888" cy="1"/>
            </a:xfrm>
            <a:prstGeom prst="line">
              <a:avLst/>
            </a:prstGeom>
            <a:ln w="12700" cap="flat" cmpd="sng">
              <a:solidFill>
                <a:schemeClr val="tx1"/>
              </a:solidFill>
              <a:prstDash val="solid"/>
              <a:round/>
              <a:headEnd type="none" w="med" len="med"/>
              <a:tailEnd type="none" w="med" len="med"/>
            </a:ln>
          </p:spPr>
        </p:sp>
        <p:sp>
          <p:nvSpPr>
            <p:cNvPr id="51337" name="Line 139"/>
            <p:cNvSpPr/>
            <p:nvPr/>
          </p:nvSpPr>
          <p:spPr>
            <a:xfrm>
              <a:off x="644" y="2161"/>
              <a:ext cx="888" cy="1"/>
            </a:xfrm>
            <a:prstGeom prst="line">
              <a:avLst/>
            </a:prstGeom>
            <a:ln w="28575" cap="sq" cmpd="sng">
              <a:solidFill>
                <a:schemeClr val="tx1"/>
              </a:solidFill>
              <a:prstDash val="solid"/>
              <a:round/>
              <a:headEnd type="none" w="med" len="med"/>
              <a:tailEnd type="none" w="med" len="med"/>
            </a:ln>
          </p:spPr>
        </p:sp>
        <p:sp>
          <p:nvSpPr>
            <p:cNvPr id="51338" name="Rectangle 140"/>
            <p:cNvSpPr/>
            <p:nvPr/>
          </p:nvSpPr>
          <p:spPr>
            <a:xfrm>
              <a:off x="2176" y="1770"/>
              <a:ext cx="444"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endParaRPr lang="en-US" altLang="x-none" sz="1400" dirty="0">
                <a:latin typeface="Arial" panose="020B0604020202020204" pitchFamily="34" charset="0"/>
                <a:ea typeface="宋体" panose="02010600030101010101" pitchFamily="2" charset="-122"/>
              </a:endParaRPr>
            </a:p>
          </p:txBody>
        </p:sp>
        <p:sp>
          <p:nvSpPr>
            <p:cNvPr id="51339" name="Rectangle 141"/>
            <p:cNvSpPr/>
            <p:nvPr/>
          </p:nvSpPr>
          <p:spPr>
            <a:xfrm>
              <a:off x="1860" y="1770"/>
              <a:ext cx="444"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E05</a:t>
              </a:r>
              <a:endParaRPr lang="en-US" altLang="zh-CN" sz="1400" dirty="0">
                <a:latin typeface="Arial" panose="020B0604020202020204" pitchFamily="34" charset="0"/>
                <a:ea typeface="宋体" panose="02010600030101010101" pitchFamily="2" charset="-122"/>
              </a:endParaRPr>
            </a:p>
          </p:txBody>
        </p:sp>
        <p:sp>
          <p:nvSpPr>
            <p:cNvPr id="51340" name="Rectangle 142"/>
            <p:cNvSpPr/>
            <p:nvPr/>
          </p:nvSpPr>
          <p:spPr>
            <a:xfrm>
              <a:off x="2176" y="1579"/>
              <a:ext cx="444"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endParaRPr lang="en-US" altLang="x-none" sz="1400" dirty="0">
                <a:latin typeface="Arial" panose="020B0604020202020204" pitchFamily="34" charset="0"/>
                <a:ea typeface="宋体" panose="02010600030101010101" pitchFamily="2" charset="-122"/>
              </a:endParaRPr>
            </a:p>
          </p:txBody>
        </p:sp>
        <p:sp>
          <p:nvSpPr>
            <p:cNvPr id="51341" name="Rectangle 143"/>
            <p:cNvSpPr/>
            <p:nvPr/>
          </p:nvSpPr>
          <p:spPr>
            <a:xfrm>
              <a:off x="1860" y="1579"/>
              <a:ext cx="444"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E04</a:t>
              </a:r>
              <a:endParaRPr lang="en-US" altLang="zh-CN" sz="1400" dirty="0">
                <a:latin typeface="Arial" panose="020B0604020202020204" pitchFamily="34" charset="0"/>
                <a:ea typeface="宋体" panose="02010600030101010101" pitchFamily="2" charset="-122"/>
              </a:endParaRPr>
            </a:p>
          </p:txBody>
        </p:sp>
        <p:sp>
          <p:nvSpPr>
            <p:cNvPr id="51342" name="Line 144"/>
            <p:cNvSpPr/>
            <p:nvPr/>
          </p:nvSpPr>
          <p:spPr>
            <a:xfrm>
              <a:off x="1860" y="1579"/>
              <a:ext cx="888" cy="1"/>
            </a:xfrm>
            <a:prstGeom prst="line">
              <a:avLst/>
            </a:prstGeom>
            <a:ln w="28575" cap="sq" cmpd="sng">
              <a:solidFill>
                <a:schemeClr val="tx1"/>
              </a:solidFill>
              <a:prstDash val="solid"/>
              <a:round/>
              <a:headEnd type="none" w="med" len="med"/>
              <a:tailEnd type="none" w="med" len="med"/>
            </a:ln>
          </p:spPr>
        </p:sp>
        <p:sp>
          <p:nvSpPr>
            <p:cNvPr id="51343" name="Line 145"/>
            <p:cNvSpPr/>
            <p:nvPr/>
          </p:nvSpPr>
          <p:spPr>
            <a:xfrm>
              <a:off x="1860" y="1770"/>
              <a:ext cx="888" cy="1"/>
            </a:xfrm>
            <a:prstGeom prst="line">
              <a:avLst/>
            </a:prstGeom>
            <a:ln w="12700" cap="flat" cmpd="sng">
              <a:solidFill>
                <a:schemeClr val="tx1"/>
              </a:solidFill>
              <a:prstDash val="solid"/>
              <a:round/>
              <a:headEnd type="none" w="med" len="med"/>
              <a:tailEnd type="none" w="med" len="med"/>
            </a:ln>
          </p:spPr>
        </p:sp>
        <p:sp>
          <p:nvSpPr>
            <p:cNvPr id="51344" name="Line 146"/>
            <p:cNvSpPr/>
            <p:nvPr/>
          </p:nvSpPr>
          <p:spPr>
            <a:xfrm>
              <a:off x="1860" y="1961"/>
              <a:ext cx="888" cy="1"/>
            </a:xfrm>
            <a:prstGeom prst="line">
              <a:avLst/>
            </a:prstGeom>
            <a:ln w="28575" cap="sq" cmpd="sng">
              <a:solidFill>
                <a:schemeClr val="tx1"/>
              </a:solidFill>
              <a:prstDash val="solid"/>
              <a:round/>
              <a:headEnd type="none" w="med" len="med"/>
              <a:tailEnd type="none" w="med" len="med"/>
            </a:ln>
          </p:spPr>
        </p:sp>
        <p:sp>
          <p:nvSpPr>
            <p:cNvPr id="51345" name="Line 147"/>
            <p:cNvSpPr/>
            <p:nvPr/>
          </p:nvSpPr>
          <p:spPr>
            <a:xfrm>
              <a:off x="1860" y="1579"/>
              <a:ext cx="0" cy="598"/>
            </a:xfrm>
            <a:prstGeom prst="line">
              <a:avLst/>
            </a:prstGeom>
            <a:ln w="28575" cap="sq" cmpd="sng">
              <a:solidFill>
                <a:schemeClr val="tx1"/>
              </a:solidFill>
              <a:prstDash val="solid"/>
              <a:round/>
              <a:headEnd type="none" w="med" len="med"/>
              <a:tailEnd type="none" w="med" len="med"/>
            </a:ln>
          </p:spPr>
        </p:sp>
        <p:sp>
          <p:nvSpPr>
            <p:cNvPr id="51346" name="Line 148"/>
            <p:cNvSpPr/>
            <p:nvPr/>
          </p:nvSpPr>
          <p:spPr>
            <a:xfrm>
              <a:off x="2176" y="1579"/>
              <a:ext cx="0" cy="550"/>
            </a:xfrm>
            <a:prstGeom prst="line">
              <a:avLst/>
            </a:prstGeom>
            <a:ln w="12700" cap="flat" cmpd="sng">
              <a:solidFill>
                <a:schemeClr val="tx1"/>
              </a:solidFill>
              <a:prstDash val="solid"/>
              <a:round/>
              <a:headEnd type="none" w="med" len="med"/>
              <a:tailEnd type="none" w="med" len="med"/>
            </a:ln>
          </p:spPr>
        </p:sp>
        <p:sp>
          <p:nvSpPr>
            <p:cNvPr id="51347" name="Line 149"/>
            <p:cNvSpPr/>
            <p:nvPr/>
          </p:nvSpPr>
          <p:spPr>
            <a:xfrm>
              <a:off x="2732" y="1563"/>
              <a:ext cx="0" cy="582"/>
            </a:xfrm>
            <a:prstGeom prst="line">
              <a:avLst/>
            </a:prstGeom>
            <a:ln w="28575" cap="sq" cmpd="sng">
              <a:solidFill>
                <a:schemeClr val="tx1"/>
              </a:solidFill>
              <a:prstDash val="solid"/>
              <a:round/>
              <a:headEnd type="none" w="med" len="med"/>
              <a:tailEnd type="none" w="med" len="med"/>
            </a:ln>
          </p:spPr>
        </p:sp>
        <p:sp>
          <p:nvSpPr>
            <p:cNvPr id="51348" name="Rectangle 150"/>
            <p:cNvSpPr/>
            <p:nvPr/>
          </p:nvSpPr>
          <p:spPr>
            <a:xfrm>
              <a:off x="2184" y="1962"/>
              <a:ext cx="444"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endParaRPr lang="en-US" altLang="x-none" sz="1400" dirty="0">
                <a:latin typeface="Arial" panose="020B0604020202020204" pitchFamily="34" charset="0"/>
                <a:ea typeface="宋体" panose="02010600030101010101" pitchFamily="2" charset="-122"/>
              </a:endParaRPr>
            </a:p>
          </p:txBody>
        </p:sp>
        <p:sp>
          <p:nvSpPr>
            <p:cNvPr id="51349" name="Rectangle 151"/>
            <p:cNvSpPr/>
            <p:nvPr/>
          </p:nvSpPr>
          <p:spPr>
            <a:xfrm>
              <a:off x="1868" y="1962"/>
              <a:ext cx="444"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E06</a:t>
              </a:r>
              <a:endParaRPr lang="en-US" altLang="zh-CN" sz="1400" dirty="0">
                <a:latin typeface="Arial" panose="020B0604020202020204" pitchFamily="34" charset="0"/>
                <a:ea typeface="宋体" panose="02010600030101010101" pitchFamily="2" charset="-122"/>
              </a:endParaRPr>
            </a:p>
          </p:txBody>
        </p:sp>
        <p:sp>
          <p:nvSpPr>
            <p:cNvPr id="51350" name="Line 152"/>
            <p:cNvSpPr/>
            <p:nvPr/>
          </p:nvSpPr>
          <p:spPr>
            <a:xfrm>
              <a:off x="1868" y="1962"/>
              <a:ext cx="888" cy="1"/>
            </a:xfrm>
            <a:prstGeom prst="line">
              <a:avLst/>
            </a:prstGeom>
            <a:ln w="12700" cap="flat" cmpd="sng">
              <a:solidFill>
                <a:schemeClr val="tx1"/>
              </a:solidFill>
              <a:prstDash val="solid"/>
              <a:round/>
              <a:headEnd type="none" w="med" len="med"/>
              <a:tailEnd type="none" w="med" len="med"/>
            </a:ln>
          </p:spPr>
        </p:sp>
        <p:sp>
          <p:nvSpPr>
            <p:cNvPr id="51351" name="Line 153"/>
            <p:cNvSpPr/>
            <p:nvPr/>
          </p:nvSpPr>
          <p:spPr>
            <a:xfrm>
              <a:off x="1868" y="2153"/>
              <a:ext cx="888" cy="1"/>
            </a:xfrm>
            <a:prstGeom prst="line">
              <a:avLst/>
            </a:prstGeom>
            <a:ln w="28575" cap="sq" cmpd="sng">
              <a:solidFill>
                <a:schemeClr val="tx1"/>
              </a:solidFill>
              <a:prstDash val="solid"/>
              <a:round/>
              <a:headEnd type="none" w="med" len="med"/>
              <a:tailEnd type="none" w="med" len="med"/>
            </a:ln>
          </p:spPr>
        </p:sp>
        <p:sp>
          <p:nvSpPr>
            <p:cNvPr id="51352" name="Rectangle 154"/>
            <p:cNvSpPr/>
            <p:nvPr/>
          </p:nvSpPr>
          <p:spPr>
            <a:xfrm>
              <a:off x="3328" y="1754"/>
              <a:ext cx="444"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endParaRPr lang="en-US" altLang="x-none" sz="1400" dirty="0">
                <a:latin typeface="Arial" panose="020B0604020202020204" pitchFamily="34" charset="0"/>
                <a:ea typeface="宋体" panose="02010600030101010101" pitchFamily="2" charset="-122"/>
              </a:endParaRPr>
            </a:p>
          </p:txBody>
        </p:sp>
        <p:sp>
          <p:nvSpPr>
            <p:cNvPr id="51353" name="Rectangle 155"/>
            <p:cNvSpPr/>
            <p:nvPr/>
          </p:nvSpPr>
          <p:spPr>
            <a:xfrm>
              <a:off x="3012" y="1754"/>
              <a:ext cx="444"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E08</a:t>
              </a:r>
              <a:endParaRPr lang="en-US" altLang="zh-CN" sz="1400" dirty="0">
                <a:latin typeface="Arial" panose="020B0604020202020204" pitchFamily="34" charset="0"/>
                <a:ea typeface="宋体" panose="02010600030101010101" pitchFamily="2" charset="-122"/>
              </a:endParaRPr>
            </a:p>
          </p:txBody>
        </p:sp>
        <p:sp>
          <p:nvSpPr>
            <p:cNvPr id="51354" name="Rectangle 156"/>
            <p:cNvSpPr/>
            <p:nvPr/>
          </p:nvSpPr>
          <p:spPr>
            <a:xfrm>
              <a:off x="3328" y="1563"/>
              <a:ext cx="444"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endParaRPr lang="en-US" altLang="x-none" sz="1400" dirty="0">
                <a:latin typeface="Arial" panose="020B0604020202020204" pitchFamily="34" charset="0"/>
                <a:ea typeface="宋体" panose="02010600030101010101" pitchFamily="2" charset="-122"/>
              </a:endParaRPr>
            </a:p>
          </p:txBody>
        </p:sp>
        <p:sp>
          <p:nvSpPr>
            <p:cNvPr id="51355" name="Rectangle 157"/>
            <p:cNvSpPr/>
            <p:nvPr/>
          </p:nvSpPr>
          <p:spPr>
            <a:xfrm>
              <a:off x="3012" y="1563"/>
              <a:ext cx="444"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E07</a:t>
              </a:r>
              <a:endParaRPr lang="en-US" altLang="zh-CN" sz="1400" dirty="0">
                <a:latin typeface="Arial" panose="020B0604020202020204" pitchFamily="34" charset="0"/>
                <a:ea typeface="宋体" panose="02010600030101010101" pitchFamily="2" charset="-122"/>
              </a:endParaRPr>
            </a:p>
          </p:txBody>
        </p:sp>
        <p:sp>
          <p:nvSpPr>
            <p:cNvPr id="51356" name="Line 158"/>
            <p:cNvSpPr/>
            <p:nvPr/>
          </p:nvSpPr>
          <p:spPr>
            <a:xfrm>
              <a:off x="3012" y="1563"/>
              <a:ext cx="888" cy="1"/>
            </a:xfrm>
            <a:prstGeom prst="line">
              <a:avLst/>
            </a:prstGeom>
            <a:ln w="28575" cap="sq" cmpd="sng">
              <a:solidFill>
                <a:schemeClr val="tx1"/>
              </a:solidFill>
              <a:prstDash val="solid"/>
              <a:round/>
              <a:headEnd type="none" w="med" len="med"/>
              <a:tailEnd type="none" w="med" len="med"/>
            </a:ln>
          </p:spPr>
        </p:sp>
        <p:sp>
          <p:nvSpPr>
            <p:cNvPr id="51357" name="Line 159"/>
            <p:cNvSpPr/>
            <p:nvPr/>
          </p:nvSpPr>
          <p:spPr>
            <a:xfrm>
              <a:off x="3012" y="1754"/>
              <a:ext cx="888" cy="1"/>
            </a:xfrm>
            <a:prstGeom prst="line">
              <a:avLst/>
            </a:prstGeom>
            <a:ln w="12700" cap="flat" cmpd="sng">
              <a:solidFill>
                <a:schemeClr val="tx1"/>
              </a:solidFill>
              <a:prstDash val="solid"/>
              <a:round/>
              <a:headEnd type="none" w="med" len="med"/>
              <a:tailEnd type="none" w="med" len="med"/>
            </a:ln>
          </p:spPr>
        </p:sp>
        <p:sp>
          <p:nvSpPr>
            <p:cNvPr id="51358" name="Line 160"/>
            <p:cNvSpPr/>
            <p:nvPr/>
          </p:nvSpPr>
          <p:spPr>
            <a:xfrm>
              <a:off x="3012" y="1945"/>
              <a:ext cx="888" cy="1"/>
            </a:xfrm>
            <a:prstGeom prst="line">
              <a:avLst/>
            </a:prstGeom>
            <a:ln w="28575" cap="sq" cmpd="sng">
              <a:solidFill>
                <a:schemeClr val="tx1"/>
              </a:solidFill>
              <a:prstDash val="solid"/>
              <a:round/>
              <a:headEnd type="none" w="med" len="med"/>
              <a:tailEnd type="none" w="med" len="med"/>
            </a:ln>
          </p:spPr>
        </p:sp>
        <p:sp>
          <p:nvSpPr>
            <p:cNvPr id="51359" name="Line 161"/>
            <p:cNvSpPr/>
            <p:nvPr/>
          </p:nvSpPr>
          <p:spPr>
            <a:xfrm>
              <a:off x="3012" y="1563"/>
              <a:ext cx="0" cy="598"/>
            </a:xfrm>
            <a:prstGeom prst="line">
              <a:avLst/>
            </a:prstGeom>
            <a:ln w="28575" cap="sq" cmpd="sng">
              <a:solidFill>
                <a:schemeClr val="tx1"/>
              </a:solidFill>
              <a:prstDash val="solid"/>
              <a:round/>
              <a:headEnd type="none" w="med" len="med"/>
              <a:tailEnd type="none" w="med" len="med"/>
            </a:ln>
          </p:spPr>
        </p:sp>
        <p:sp>
          <p:nvSpPr>
            <p:cNvPr id="51360" name="Line 162"/>
            <p:cNvSpPr/>
            <p:nvPr/>
          </p:nvSpPr>
          <p:spPr>
            <a:xfrm>
              <a:off x="3328" y="1563"/>
              <a:ext cx="0" cy="550"/>
            </a:xfrm>
            <a:prstGeom prst="line">
              <a:avLst/>
            </a:prstGeom>
            <a:ln w="12700" cap="flat" cmpd="sng">
              <a:solidFill>
                <a:schemeClr val="tx1"/>
              </a:solidFill>
              <a:prstDash val="solid"/>
              <a:round/>
              <a:headEnd type="none" w="med" len="med"/>
              <a:tailEnd type="none" w="med" len="med"/>
            </a:ln>
          </p:spPr>
        </p:sp>
        <p:sp>
          <p:nvSpPr>
            <p:cNvPr id="51361" name="Line 163"/>
            <p:cNvSpPr/>
            <p:nvPr/>
          </p:nvSpPr>
          <p:spPr>
            <a:xfrm>
              <a:off x="3884" y="1547"/>
              <a:ext cx="0" cy="582"/>
            </a:xfrm>
            <a:prstGeom prst="line">
              <a:avLst/>
            </a:prstGeom>
            <a:ln w="28575" cap="sq" cmpd="sng">
              <a:solidFill>
                <a:schemeClr val="tx1"/>
              </a:solidFill>
              <a:prstDash val="solid"/>
              <a:round/>
              <a:headEnd type="none" w="med" len="med"/>
              <a:tailEnd type="none" w="med" len="med"/>
            </a:ln>
          </p:spPr>
        </p:sp>
        <p:sp>
          <p:nvSpPr>
            <p:cNvPr id="51362" name="Rectangle 164"/>
            <p:cNvSpPr/>
            <p:nvPr/>
          </p:nvSpPr>
          <p:spPr>
            <a:xfrm>
              <a:off x="3336" y="1946"/>
              <a:ext cx="444"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endParaRPr lang="en-US" altLang="x-none" sz="1400" dirty="0">
                <a:latin typeface="Arial" panose="020B0604020202020204" pitchFamily="34" charset="0"/>
                <a:ea typeface="宋体" panose="02010600030101010101" pitchFamily="2" charset="-122"/>
              </a:endParaRPr>
            </a:p>
          </p:txBody>
        </p:sp>
        <p:sp>
          <p:nvSpPr>
            <p:cNvPr id="51363" name="Rectangle 165"/>
            <p:cNvSpPr/>
            <p:nvPr/>
          </p:nvSpPr>
          <p:spPr>
            <a:xfrm>
              <a:off x="3020" y="1946"/>
              <a:ext cx="444"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E09</a:t>
              </a:r>
              <a:endParaRPr lang="en-US" altLang="zh-CN" sz="1400" dirty="0">
                <a:latin typeface="Arial" panose="020B0604020202020204" pitchFamily="34" charset="0"/>
                <a:ea typeface="宋体" panose="02010600030101010101" pitchFamily="2" charset="-122"/>
              </a:endParaRPr>
            </a:p>
          </p:txBody>
        </p:sp>
        <p:sp>
          <p:nvSpPr>
            <p:cNvPr id="51364" name="Line 166"/>
            <p:cNvSpPr/>
            <p:nvPr/>
          </p:nvSpPr>
          <p:spPr>
            <a:xfrm>
              <a:off x="3020" y="1946"/>
              <a:ext cx="888" cy="1"/>
            </a:xfrm>
            <a:prstGeom prst="line">
              <a:avLst/>
            </a:prstGeom>
            <a:ln w="12700" cap="flat" cmpd="sng">
              <a:solidFill>
                <a:schemeClr val="tx1"/>
              </a:solidFill>
              <a:prstDash val="solid"/>
              <a:round/>
              <a:headEnd type="none" w="med" len="med"/>
              <a:tailEnd type="none" w="med" len="med"/>
            </a:ln>
          </p:spPr>
        </p:sp>
        <p:sp>
          <p:nvSpPr>
            <p:cNvPr id="51365" name="Line 167"/>
            <p:cNvSpPr/>
            <p:nvPr/>
          </p:nvSpPr>
          <p:spPr>
            <a:xfrm>
              <a:off x="3020" y="2137"/>
              <a:ext cx="888" cy="1"/>
            </a:xfrm>
            <a:prstGeom prst="line">
              <a:avLst/>
            </a:prstGeom>
            <a:ln w="28575" cap="sq" cmpd="sng">
              <a:solidFill>
                <a:schemeClr val="tx1"/>
              </a:solidFill>
              <a:prstDash val="solid"/>
              <a:round/>
              <a:headEnd type="none" w="med" len="med"/>
              <a:tailEnd type="none" w="med" len="med"/>
            </a:ln>
          </p:spPr>
        </p:sp>
        <p:sp>
          <p:nvSpPr>
            <p:cNvPr id="51366" name="Rectangle 168"/>
            <p:cNvSpPr/>
            <p:nvPr/>
          </p:nvSpPr>
          <p:spPr>
            <a:xfrm>
              <a:off x="4440" y="1730"/>
              <a:ext cx="444"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endParaRPr lang="en-US" altLang="x-none" sz="1400" dirty="0">
                <a:latin typeface="Arial" panose="020B0604020202020204" pitchFamily="34" charset="0"/>
                <a:ea typeface="宋体" panose="02010600030101010101" pitchFamily="2" charset="-122"/>
              </a:endParaRPr>
            </a:p>
          </p:txBody>
        </p:sp>
        <p:sp>
          <p:nvSpPr>
            <p:cNvPr id="51367" name="Rectangle 169"/>
            <p:cNvSpPr/>
            <p:nvPr/>
          </p:nvSpPr>
          <p:spPr>
            <a:xfrm>
              <a:off x="4124" y="1730"/>
              <a:ext cx="444"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E11</a:t>
              </a:r>
              <a:endParaRPr lang="en-US" altLang="zh-CN" sz="1400" dirty="0">
                <a:latin typeface="Arial" panose="020B0604020202020204" pitchFamily="34" charset="0"/>
                <a:ea typeface="宋体" panose="02010600030101010101" pitchFamily="2" charset="-122"/>
              </a:endParaRPr>
            </a:p>
          </p:txBody>
        </p:sp>
        <p:sp>
          <p:nvSpPr>
            <p:cNvPr id="51368" name="Rectangle 170"/>
            <p:cNvSpPr/>
            <p:nvPr/>
          </p:nvSpPr>
          <p:spPr>
            <a:xfrm>
              <a:off x="4440" y="1539"/>
              <a:ext cx="444"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endParaRPr lang="en-US" altLang="x-none" sz="1400" dirty="0">
                <a:latin typeface="Arial" panose="020B0604020202020204" pitchFamily="34" charset="0"/>
                <a:ea typeface="宋体" panose="02010600030101010101" pitchFamily="2" charset="-122"/>
              </a:endParaRPr>
            </a:p>
          </p:txBody>
        </p:sp>
        <p:sp>
          <p:nvSpPr>
            <p:cNvPr id="51369" name="Rectangle 171"/>
            <p:cNvSpPr/>
            <p:nvPr/>
          </p:nvSpPr>
          <p:spPr>
            <a:xfrm>
              <a:off x="4124" y="1539"/>
              <a:ext cx="444"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E10</a:t>
              </a:r>
              <a:endParaRPr lang="en-US" altLang="zh-CN" sz="1400" dirty="0">
                <a:latin typeface="Arial" panose="020B0604020202020204" pitchFamily="34" charset="0"/>
                <a:ea typeface="宋体" panose="02010600030101010101" pitchFamily="2" charset="-122"/>
              </a:endParaRPr>
            </a:p>
          </p:txBody>
        </p:sp>
        <p:sp>
          <p:nvSpPr>
            <p:cNvPr id="51370" name="Line 172"/>
            <p:cNvSpPr/>
            <p:nvPr/>
          </p:nvSpPr>
          <p:spPr>
            <a:xfrm>
              <a:off x="4124" y="1539"/>
              <a:ext cx="888" cy="1"/>
            </a:xfrm>
            <a:prstGeom prst="line">
              <a:avLst/>
            </a:prstGeom>
            <a:ln w="28575" cap="sq" cmpd="sng">
              <a:solidFill>
                <a:schemeClr val="tx1"/>
              </a:solidFill>
              <a:prstDash val="solid"/>
              <a:round/>
              <a:headEnd type="none" w="med" len="med"/>
              <a:tailEnd type="none" w="med" len="med"/>
            </a:ln>
          </p:spPr>
        </p:sp>
        <p:sp>
          <p:nvSpPr>
            <p:cNvPr id="51371" name="Line 173"/>
            <p:cNvSpPr/>
            <p:nvPr/>
          </p:nvSpPr>
          <p:spPr>
            <a:xfrm>
              <a:off x="4124" y="1730"/>
              <a:ext cx="888" cy="1"/>
            </a:xfrm>
            <a:prstGeom prst="line">
              <a:avLst/>
            </a:prstGeom>
            <a:ln w="12700" cap="flat" cmpd="sng">
              <a:solidFill>
                <a:schemeClr val="tx1"/>
              </a:solidFill>
              <a:prstDash val="solid"/>
              <a:round/>
              <a:headEnd type="none" w="med" len="med"/>
              <a:tailEnd type="none" w="med" len="med"/>
            </a:ln>
          </p:spPr>
        </p:sp>
        <p:sp>
          <p:nvSpPr>
            <p:cNvPr id="51372" name="Line 174"/>
            <p:cNvSpPr/>
            <p:nvPr/>
          </p:nvSpPr>
          <p:spPr>
            <a:xfrm>
              <a:off x="4124" y="1921"/>
              <a:ext cx="888" cy="1"/>
            </a:xfrm>
            <a:prstGeom prst="line">
              <a:avLst/>
            </a:prstGeom>
            <a:ln w="28575" cap="sq" cmpd="sng">
              <a:solidFill>
                <a:schemeClr val="tx1"/>
              </a:solidFill>
              <a:prstDash val="solid"/>
              <a:round/>
              <a:headEnd type="none" w="med" len="med"/>
              <a:tailEnd type="none" w="med" len="med"/>
            </a:ln>
          </p:spPr>
        </p:sp>
        <p:sp>
          <p:nvSpPr>
            <p:cNvPr id="51373" name="Line 175"/>
            <p:cNvSpPr/>
            <p:nvPr/>
          </p:nvSpPr>
          <p:spPr>
            <a:xfrm>
              <a:off x="4124" y="1539"/>
              <a:ext cx="0" cy="598"/>
            </a:xfrm>
            <a:prstGeom prst="line">
              <a:avLst/>
            </a:prstGeom>
            <a:ln w="28575" cap="sq" cmpd="sng">
              <a:solidFill>
                <a:schemeClr val="tx1"/>
              </a:solidFill>
              <a:prstDash val="solid"/>
              <a:round/>
              <a:headEnd type="none" w="med" len="med"/>
              <a:tailEnd type="none" w="med" len="med"/>
            </a:ln>
          </p:spPr>
        </p:sp>
        <p:sp>
          <p:nvSpPr>
            <p:cNvPr id="51374" name="Line 176"/>
            <p:cNvSpPr/>
            <p:nvPr/>
          </p:nvSpPr>
          <p:spPr>
            <a:xfrm>
              <a:off x="4440" y="1539"/>
              <a:ext cx="0" cy="550"/>
            </a:xfrm>
            <a:prstGeom prst="line">
              <a:avLst/>
            </a:prstGeom>
            <a:ln w="12700" cap="flat" cmpd="sng">
              <a:solidFill>
                <a:schemeClr val="tx1"/>
              </a:solidFill>
              <a:prstDash val="solid"/>
              <a:round/>
              <a:headEnd type="none" w="med" len="med"/>
              <a:tailEnd type="none" w="med" len="med"/>
            </a:ln>
          </p:spPr>
        </p:sp>
        <p:sp>
          <p:nvSpPr>
            <p:cNvPr id="51375" name="Line 177"/>
            <p:cNvSpPr/>
            <p:nvPr/>
          </p:nvSpPr>
          <p:spPr>
            <a:xfrm>
              <a:off x="4996" y="1523"/>
              <a:ext cx="0" cy="582"/>
            </a:xfrm>
            <a:prstGeom prst="line">
              <a:avLst/>
            </a:prstGeom>
            <a:ln w="28575" cap="sq" cmpd="sng">
              <a:solidFill>
                <a:schemeClr val="tx1"/>
              </a:solidFill>
              <a:prstDash val="solid"/>
              <a:round/>
              <a:headEnd type="none" w="med" len="med"/>
              <a:tailEnd type="none" w="med" len="med"/>
            </a:ln>
          </p:spPr>
        </p:sp>
        <p:sp>
          <p:nvSpPr>
            <p:cNvPr id="51376" name="Rectangle 178"/>
            <p:cNvSpPr/>
            <p:nvPr/>
          </p:nvSpPr>
          <p:spPr>
            <a:xfrm>
              <a:off x="4448" y="1922"/>
              <a:ext cx="444"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endParaRPr lang="en-US" altLang="x-none" sz="1400" dirty="0">
                <a:latin typeface="Arial" panose="020B0604020202020204" pitchFamily="34" charset="0"/>
                <a:ea typeface="宋体" panose="02010600030101010101" pitchFamily="2" charset="-122"/>
              </a:endParaRPr>
            </a:p>
          </p:txBody>
        </p:sp>
        <p:sp>
          <p:nvSpPr>
            <p:cNvPr id="51377" name="Rectangle 179"/>
            <p:cNvSpPr/>
            <p:nvPr/>
          </p:nvSpPr>
          <p:spPr>
            <a:xfrm>
              <a:off x="4132" y="1922"/>
              <a:ext cx="444"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E12</a:t>
              </a:r>
              <a:endParaRPr lang="en-US" altLang="zh-CN" sz="1400" dirty="0">
                <a:latin typeface="Arial" panose="020B0604020202020204" pitchFamily="34" charset="0"/>
                <a:ea typeface="宋体" panose="02010600030101010101" pitchFamily="2" charset="-122"/>
              </a:endParaRPr>
            </a:p>
          </p:txBody>
        </p:sp>
        <p:sp>
          <p:nvSpPr>
            <p:cNvPr id="51378" name="Line 180"/>
            <p:cNvSpPr/>
            <p:nvPr/>
          </p:nvSpPr>
          <p:spPr>
            <a:xfrm>
              <a:off x="4132" y="1922"/>
              <a:ext cx="888" cy="1"/>
            </a:xfrm>
            <a:prstGeom prst="line">
              <a:avLst/>
            </a:prstGeom>
            <a:ln w="12700" cap="flat" cmpd="sng">
              <a:solidFill>
                <a:schemeClr val="tx1"/>
              </a:solidFill>
              <a:prstDash val="solid"/>
              <a:round/>
              <a:headEnd type="none" w="med" len="med"/>
              <a:tailEnd type="none" w="med" len="med"/>
            </a:ln>
          </p:spPr>
        </p:sp>
        <p:sp>
          <p:nvSpPr>
            <p:cNvPr id="51379" name="Line 181"/>
            <p:cNvSpPr/>
            <p:nvPr/>
          </p:nvSpPr>
          <p:spPr>
            <a:xfrm>
              <a:off x="4132" y="2113"/>
              <a:ext cx="888" cy="1"/>
            </a:xfrm>
            <a:prstGeom prst="line">
              <a:avLst/>
            </a:prstGeom>
            <a:ln w="28575" cap="sq" cmpd="sng">
              <a:solidFill>
                <a:schemeClr val="tx1"/>
              </a:solidFill>
              <a:prstDash val="solid"/>
              <a:round/>
              <a:headEnd type="none" w="med" len="med"/>
              <a:tailEnd type="none" w="med" len="med"/>
            </a:ln>
          </p:spPr>
        </p:sp>
        <p:sp>
          <p:nvSpPr>
            <p:cNvPr id="51380" name="Rectangle 182"/>
            <p:cNvSpPr/>
            <p:nvPr/>
          </p:nvSpPr>
          <p:spPr>
            <a:xfrm>
              <a:off x="608" y="1296"/>
              <a:ext cx="543" cy="292"/>
            </a:xfrm>
            <a:prstGeom prst="rect">
              <a:avLst/>
            </a:prstGeom>
            <a:noFill/>
            <a:ln w="9525">
              <a:noFill/>
            </a:ln>
            <a:effectLst>
              <a:prstShdw prst="shdw17" dist="17961" dir="2699999">
                <a:srgbClr val="708688"/>
              </a:prstShdw>
            </a:effectLst>
          </p:spPr>
          <p:txBody>
            <a:bodyPr anchor="ctr" anchorCtr="0">
              <a:spAutoFit/>
            </a:bodyPr>
            <a:p>
              <a:pPr marL="262255" indent="-262255">
                <a:lnSpc>
                  <a:spcPct val="135000"/>
                </a:lnSpc>
              </a:pPr>
              <a:r>
                <a:rPr lang="en-US" altLang="zh-CN" dirty="0">
                  <a:solidFill>
                    <a:srgbClr val="0033CC"/>
                  </a:solidFill>
                  <a:latin typeface="Arial" panose="020B0604020202020204" pitchFamily="34" charset="0"/>
                  <a:ea typeface="宋体" panose="02010600030101010101" pitchFamily="2" charset="-122"/>
                </a:rPr>
                <a:t>201</a:t>
              </a:r>
              <a:endParaRPr lang="zh-CN" altLang="en-US" dirty="0">
                <a:solidFill>
                  <a:srgbClr val="0033CC"/>
                </a:solidFill>
                <a:latin typeface="Arial" panose="020B0604020202020204" pitchFamily="34" charset="0"/>
                <a:ea typeface="宋体" panose="02010600030101010101" pitchFamily="2" charset="-122"/>
              </a:endParaRPr>
            </a:p>
          </p:txBody>
        </p:sp>
        <p:sp>
          <p:nvSpPr>
            <p:cNvPr id="51381" name="Rectangle 183"/>
            <p:cNvSpPr/>
            <p:nvPr/>
          </p:nvSpPr>
          <p:spPr>
            <a:xfrm>
              <a:off x="2168" y="1312"/>
              <a:ext cx="543" cy="292"/>
            </a:xfrm>
            <a:prstGeom prst="rect">
              <a:avLst/>
            </a:prstGeom>
            <a:noFill/>
            <a:ln w="9525">
              <a:noFill/>
            </a:ln>
            <a:effectLst>
              <a:prstShdw prst="shdw17" dist="17961" dir="2699999">
                <a:srgbClr val="708688"/>
              </a:prstShdw>
            </a:effectLst>
          </p:spPr>
          <p:txBody>
            <a:bodyPr anchor="ctr" anchorCtr="0">
              <a:spAutoFit/>
            </a:bodyPr>
            <a:p>
              <a:pPr marL="262255" indent="-262255">
                <a:lnSpc>
                  <a:spcPct val="135000"/>
                </a:lnSpc>
              </a:pPr>
              <a:r>
                <a:rPr lang="en-US" altLang="zh-CN" dirty="0">
                  <a:solidFill>
                    <a:srgbClr val="0033CC"/>
                  </a:solidFill>
                  <a:latin typeface="Arial" panose="020B0604020202020204" pitchFamily="34" charset="0"/>
                  <a:ea typeface="宋体" panose="02010600030101010101" pitchFamily="2" charset="-122"/>
                </a:rPr>
                <a:t>202</a:t>
              </a:r>
              <a:endParaRPr lang="zh-CN" altLang="en-US" dirty="0">
                <a:solidFill>
                  <a:srgbClr val="0033CC"/>
                </a:solidFill>
                <a:latin typeface="Arial" panose="020B0604020202020204" pitchFamily="34" charset="0"/>
                <a:ea typeface="宋体" panose="02010600030101010101" pitchFamily="2" charset="-122"/>
              </a:endParaRPr>
            </a:p>
          </p:txBody>
        </p:sp>
        <p:sp>
          <p:nvSpPr>
            <p:cNvPr id="51382" name="Rectangle 184"/>
            <p:cNvSpPr/>
            <p:nvPr/>
          </p:nvSpPr>
          <p:spPr>
            <a:xfrm>
              <a:off x="2896" y="1304"/>
              <a:ext cx="543" cy="292"/>
            </a:xfrm>
            <a:prstGeom prst="rect">
              <a:avLst/>
            </a:prstGeom>
            <a:noFill/>
            <a:ln w="9525">
              <a:noFill/>
            </a:ln>
            <a:effectLst>
              <a:prstShdw prst="shdw17" dist="17961" dir="2699999">
                <a:srgbClr val="708688"/>
              </a:prstShdw>
            </a:effectLst>
          </p:spPr>
          <p:txBody>
            <a:bodyPr anchor="ctr" anchorCtr="0">
              <a:spAutoFit/>
            </a:bodyPr>
            <a:p>
              <a:pPr marL="262255" indent="-262255">
                <a:lnSpc>
                  <a:spcPct val="135000"/>
                </a:lnSpc>
              </a:pPr>
              <a:r>
                <a:rPr lang="en-US" altLang="zh-CN" dirty="0">
                  <a:solidFill>
                    <a:srgbClr val="0033CC"/>
                  </a:solidFill>
                  <a:latin typeface="Arial" panose="020B0604020202020204" pitchFamily="34" charset="0"/>
                  <a:ea typeface="宋体" panose="02010600030101010101" pitchFamily="2" charset="-122"/>
                </a:rPr>
                <a:t>220</a:t>
              </a:r>
              <a:endParaRPr lang="zh-CN" altLang="en-US" dirty="0">
                <a:solidFill>
                  <a:srgbClr val="0033CC"/>
                </a:solidFill>
                <a:latin typeface="Arial" panose="020B0604020202020204" pitchFamily="34" charset="0"/>
                <a:ea typeface="宋体" panose="02010600030101010101" pitchFamily="2" charset="-122"/>
              </a:endParaRPr>
            </a:p>
          </p:txBody>
        </p:sp>
        <p:sp>
          <p:nvSpPr>
            <p:cNvPr id="51383" name="Rectangle 185"/>
            <p:cNvSpPr/>
            <p:nvPr/>
          </p:nvSpPr>
          <p:spPr>
            <a:xfrm>
              <a:off x="4000" y="1288"/>
              <a:ext cx="543" cy="292"/>
            </a:xfrm>
            <a:prstGeom prst="rect">
              <a:avLst/>
            </a:prstGeom>
            <a:noFill/>
            <a:ln w="9525">
              <a:noFill/>
            </a:ln>
            <a:effectLst>
              <a:prstShdw prst="shdw17" dist="17961" dir="2699999">
                <a:srgbClr val="708688"/>
              </a:prstShdw>
            </a:effectLst>
          </p:spPr>
          <p:txBody>
            <a:bodyPr anchor="ctr" anchorCtr="0">
              <a:spAutoFit/>
            </a:bodyPr>
            <a:p>
              <a:pPr marL="262255" indent="-262255">
                <a:lnSpc>
                  <a:spcPct val="135000"/>
                </a:lnSpc>
              </a:pPr>
              <a:r>
                <a:rPr lang="en-US" altLang="zh-CN" dirty="0">
                  <a:solidFill>
                    <a:srgbClr val="0033CC"/>
                  </a:solidFill>
                  <a:latin typeface="Arial" panose="020B0604020202020204" pitchFamily="34" charset="0"/>
                  <a:ea typeface="宋体" panose="02010600030101010101" pitchFamily="2" charset="-122"/>
                </a:rPr>
                <a:t>227</a:t>
              </a:r>
              <a:endParaRPr lang="zh-CN" altLang="en-US" dirty="0">
                <a:solidFill>
                  <a:srgbClr val="0033CC"/>
                </a:solidFill>
                <a:latin typeface="Arial" panose="020B0604020202020204" pitchFamily="34" charset="0"/>
                <a:ea typeface="宋体" panose="02010600030101010101" pitchFamily="2" charset="-122"/>
              </a:endParaRPr>
            </a:p>
          </p:txBody>
        </p:sp>
        <p:sp>
          <p:nvSpPr>
            <p:cNvPr id="51384" name="Line 186"/>
            <p:cNvSpPr/>
            <p:nvPr/>
          </p:nvSpPr>
          <p:spPr>
            <a:xfrm>
              <a:off x="4812" y="1635"/>
              <a:ext cx="296" cy="0"/>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51385" name="Line 187"/>
            <p:cNvSpPr/>
            <p:nvPr/>
          </p:nvSpPr>
          <p:spPr>
            <a:xfrm>
              <a:off x="5100" y="1635"/>
              <a:ext cx="0" cy="680"/>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51386" name="Line 188"/>
            <p:cNvSpPr/>
            <p:nvPr/>
          </p:nvSpPr>
          <p:spPr>
            <a:xfrm>
              <a:off x="2884" y="2307"/>
              <a:ext cx="2232" cy="0"/>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51387" name="Line 189"/>
            <p:cNvSpPr/>
            <p:nvPr/>
          </p:nvSpPr>
          <p:spPr>
            <a:xfrm>
              <a:off x="2892" y="2323"/>
              <a:ext cx="0" cy="488"/>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51388" name="Line 190"/>
            <p:cNvSpPr/>
            <p:nvPr/>
          </p:nvSpPr>
          <p:spPr>
            <a:xfrm rot="-10800000" flipV="1">
              <a:off x="2579" y="2827"/>
              <a:ext cx="312" cy="0"/>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51389" name="Line 191"/>
            <p:cNvSpPr/>
            <p:nvPr/>
          </p:nvSpPr>
          <p:spPr>
            <a:xfrm>
              <a:off x="4828" y="1819"/>
              <a:ext cx="624" cy="0"/>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51390" name="Line 192"/>
            <p:cNvSpPr/>
            <p:nvPr/>
          </p:nvSpPr>
          <p:spPr>
            <a:xfrm>
              <a:off x="5460" y="1827"/>
              <a:ext cx="0" cy="1072"/>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51391" name="Line 193"/>
            <p:cNvSpPr/>
            <p:nvPr/>
          </p:nvSpPr>
          <p:spPr>
            <a:xfrm flipH="1">
              <a:off x="5132" y="2907"/>
              <a:ext cx="312" cy="0"/>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51392" name="Line 194"/>
            <p:cNvSpPr/>
            <p:nvPr/>
          </p:nvSpPr>
          <p:spPr>
            <a:xfrm flipV="1">
              <a:off x="4844" y="2027"/>
              <a:ext cx="552" cy="0"/>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51393" name="Line 195"/>
            <p:cNvSpPr/>
            <p:nvPr/>
          </p:nvSpPr>
          <p:spPr>
            <a:xfrm flipH="1">
              <a:off x="5380" y="2019"/>
              <a:ext cx="0" cy="576"/>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51394" name="Line 196"/>
            <p:cNvSpPr/>
            <p:nvPr/>
          </p:nvSpPr>
          <p:spPr>
            <a:xfrm flipH="1">
              <a:off x="5148" y="2579"/>
              <a:ext cx="208" cy="0"/>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51395" name="Line 197"/>
            <p:cNvSpPr/>
            <p:nvPr/>
          </p:nvSpPr>
          <p:spPr>
            <a:xfrm>
              <a:off x="1252" y="1691"/>
              <a:ext cx="408" cy="8"/>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51396" name="Line 198"/>
            <p:cNvSpPr/>
            <p:nvPr/>
          </p:nvSpPr>
          <p:spPr>
            <a:xfrm>
              <a:off x="1276" y="1875"/>
              <a:ext cx="296" cy="0"/>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51397" name="Line 199"/>
            <p:cNvSpPr/>
            <p:nvPr/>
          </p:nvSpPr>
          <p:spPr>
            <a:xfrm>
              <a:off x="1260" y="2075"/>
              <a:ext cx="448" cy="0"/>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51398" name="Line 200"/>
            <p:cNvSpPr/>
            <p:nvPr/>
          </p:nvSpPr>
          <p:spPr>
            <a:xfrm>
              <a:off x="1636" y="1699"/>
              <a:ext cx="0" cy="1040"/>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51399" name="Line 201"/>
            <p:cNvSpPr/>
            <p:nvPr/>
          </p:nvSpPr>
          <p:spPr>
            <a:xfrm rot="-10800000" flipV="1">
              <a:off x="1307" y="2739"/>
              <a:ext cx="352" cy="0"/>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51400" name="Line 202"/>
            <p:cNvSpPr/>
            <p:nvPr/>
          </p:nvSpPr>
          <p:spPr>
            <a:xfrm>
              <a:off x="1564" y="1859"/>
              <a:ext cx="0" cy="776"/>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51401" name="Line 203"/>
            <p:cNvSpPr/>
            <p:nvPr/>
          </p:nvSpPr>
          <p:spPr>
            <a:xfrm flipH="1" flipV="1">
              <a:off x="1292" y="2627"/>
              <a:ext cx="272" cy="0"/>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51402" name="Line 204"/>
            <p:cNvSpPr/>
            <p:nvPr/>
          </p:nvSpPr>
          <p:spPr>
            <a:xfrm flipH="1">
              <a:off x="1692" y="2083"/>
              <a:ext cx="0" cy="824"/>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51403" name="Line 205"/>
            <p:cNvSpPr/>
            <p:nvPr/>
          </p:nvSpPr>
          <p:spPr>
            <a:xfrm rot="10800000" flipH="1" flipV="1">
              <a:off x="1699" y="2915"/>
              <a:ext cx="88" cy="0"/>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51404" name="Line 206"/>
            <p:cNvSpPr/>
            <p:nvPr/>
          </p:nvSpPr>
          <p:spPr>
            <a:xfrm>
              <a:off x="2524" y="1995"/>
              <a:ext cx="0" cy="296"/>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51405" name="Line 207"/>
            <p:cNvSpPr/>
            <p:nvPr/>
          </p:nvSpPr>
          <p:spPr>
            <a:xfrm flipV="1">
              <a:off x="1444" y="2299"/>
              <a:ext cx="1096" cy="0"/>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51406" name="Line 208"/>
            <p:cNvSpPr/>
            <p:nvPr/>
          </p:nvSpPr>
          <p:spPr>
            <a:xfrm>
              <a:off x="1452" y="2299"/>
              <a:ext cx="0" cy="632"/>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51407" name="Line 209"/>
            <p:cNvSpPr/>
            <p:nvPr/>
          </p:nvSpPr>
          <p:spPr>
            <a:xfrm rot="-10800000" flipV="1">
              <a:off x="1283" y="2939"/>
              <a:ext cx="184" cy="0"/>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51408" name="Line 210"/>
            <p:cNvSpPr/>
            <p:nvPr/>
          </p:nvSpPr>
          <p:spPr>
            <a:xfrm>
              <a:off x="2484" y="1683"/>
              <a:ext cx="488" cy="8"/>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51409" name="Line 211"/>
            <p:cNvSpPr/>
            <p:nvPr/>
          </p:nvSpPr>
          <p:spPr>
            <a:xfrm>
              <a:off x="2964" y="1707"/>
              <a:ext cx="0" cy="488"/>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51410" name="Line 212"/>
            <p:cNvSpPr/>
            <p:nvPr/>
          </p:nvSpPr>
          <p:spPr>
            <a:xfrm>
              <a:off x="2980" y="2187"/>
              <a:ext cx="960" cy="0"/>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51411" name="Line 213"/>
            <p:cNvSpPr/>
            <p:nvPr/>
          </p:nvSpPr>
          <p:spPr>
            <a:xfrm>
              <a:off x="3956" y="2187"/>
              <a:ext cx="0" cy="400"/>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51412" name="Line 214"/>
            <p:cNvSpPr/>
            <p:nvPr/>
          </p:nvSpPr>
          <p:spPr>
            <a:xfrm rot="10800000">
              <a:off x="3738" y="2595"/>
              <a:ext cx="232" cy="0"/>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51413" name="Line 215"/>
            <p:cNvSpPr/>
            <p:nvPr/>
          </p:nvSpPr>
          <p:spPr>
            <a:xfrm>
              <a:off x="2484" y="1883"/>
              <a:ext cx="384" cy="0"/>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51414" name="Line 216"/>
            <p:cNvSpPr/>
            <p:nvPr/>
          </p:nvSpPr>
          <p:spPr>
            <a:xfrm>
              <a:off x="2868" y="1891"/>
              <a:ext cx="0" cy="328"/>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51415" name="Line 217"/>
            <p:cNvSpPr/>
            <p:nvPr/>
          </p:nvSpPr>
          <p:spPr>
            <a:xfrm flipV="1">
              <a:off x="2868" y="2219"/>
              <a:ext cx="1312" cy="0"/>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51416" name="Line 218"/>
            <p:cNvSpPr/>
            <p:nvPr/>
          </p:nvSpPr>
          <p:spPr>
            <a:xfrm>
              <a:off x="4180" y="2219"/>
              <a:ext cx="0" cy="528"/>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51417" name="Line 219"/>
            <p:cNvSpPr/>
            <p:nvPr/>
          </p:nvSpPr>
          <p:spPr>
            <a:xfrm>
              <a:off x="4180" y="2763"/>
              <a:ext cx="184" cy="0"/>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51418" name="Line 220"/>
            <p:cNvSpPr/>
            <p:nvPr/>
          </p:nvSpPr>
          <p:spPr>
            <a:xfrm flipV="1">
              <a:off x="3708" y="1635"/>
              <a:ext cx="376" cy="0"/>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51419" name="Line 221"/>
            <p:cNvSpPr/>
            <p:nvPr/>
          </p:nvSpPr>
          <p:spPr>
            <a:xfrm>
              <a:off x="4084" y="1643"/>
              <a:ext cx="0" cy="1304"/>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51420" name="Line 222"/>
            <p:cNvSpPr/>
            <p:nvPr/>
          </p:nvSpPr>
          <p:spPr>
            <a:xfrm rot="-10800000" flipV="1">
              <a:off x="3763" y="2955"/>
              <a:ext cx="312" cy="0"/>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51421" name="Line 223"/>
            <p:cNvSpPr/>
            <p:nvPr/>
          </p:nvSpPr>
          <p:spPr>
            <a:xfrm flipV="1">
              <a:off x="3724" y="1843"/>
              <a:ext cx="200" cy="0"/>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51422" name="Line 224"/>
            <p:cNvSpPr/>
            <p:nvPr/>
          </p:nvSpPr>
          <p:spPr>
            <a:xfrm flipH="1">
              <a:off x="3916" y="1835"/>
              <a:ext cx="0" cy="584"/>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51423" name="Line 225"/>
            <p:cNvSpPr/>
            <p:nvPr/>
          </p:nvSpPr>
          <p:spPr>
            <a:xfrm>
              <a:off x="2724" y="2411"/>
              <a:ext cx="1208" cy="8"/>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51424" name="Line 226"/>
            <p:cNvSpPr/>
            <p:nvPr/>
          </p:nvSpPr>
          <p:spPr>
            <a:xfrm flipH="1">
              <a:off x="2716" y="2403"/>
              <a:ext cx="0" cy="200"/>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51425" name="Line 227"/>
            <p:cNvSpPr/>
            <p:nvPr/>
          </p:nvSpPr>
          <p:spPr>
            <a:xfrm rot="10800000">
              <a:off x="2530" y="2611"/>
              <a:ext cx="184" cy="0"/>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51426" name="Line 228"/>
            <p:cNvSpPr/>
            <p:nvPr/>
          </p:nvSpPr>
          <p:spPr>
            <a:xfrm flipV="1">
              <a:off x="3716" y="2051"/>
              <a:ext cx="296" cy="0"/>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51427" name="Line 229"/>
            <p:cNvSpPr/>
            <p:nvPr/>
          </p:nvSpPr>
          <p:spPr>
            <a:xfrm flipH="1">
              <a:off x="4004" y="2051"/>
              <a:ext cx="0" cy="720"/>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51428" name="Line 230"/>
            <p:cNvSpPr/>
            <p:nvPr/>
          </p:nvSpPr>
          <p:spPr>
            <a:xfrm rot="-10800000" flipV="1">
              <a:off x="3763" y="2771"/>
              <a:ext cx="232" cy="0"/>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51429" name="Line 231"/>
            <p:cNvSpPr/>
            <p:nvPr/>
          </p:nvSpPr>
          <p:spPr>
            <a:xfrm>
              <a:off x="1508" y="1571"/>
              <a:ext cx="360" cy="0"/>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51430" name="Line 232"/>
            <p:cNvSpPr/>
            <p:nvPr/>
          </p:nvSpPr>
          <p:spPr>
            <a:xfrm>
              <a:off x="2684" y="1563"/>
              <a:ext cx="360" cy="0"/>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51431" name="Line 233"/>
            <p:cNvSpPr/>
            <p:nvPr/>
          </p:nvSpPr>
          <p:spPr>
            <a:xfrm>
              <a:off x="3868" y="1547"/>
              <a:ext cx="248" cy="0"/>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51432" name="Line 234"/>
            <p:cNvSpPr/>
            <p:nvPr/>
          </p:nvSpPr>
          <p:spPr>
            <a:xfrm flipH="1">
              <a:off x="3876" y="2123"/>
              <a:ext cx="240" cy="8"/>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51433" name="Line 235"/>
            <p:cNvSpPr/>
            <p:nvPr/>
          </p:nvSpPr>
          <p:spPr>
            <a:xfrm flipH="1">
              <a:off x="2740" y="2131"/>
              <a:ext cx="288" cy="0"/>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51434" name="Line 236"/>
            <p:cNvSpPr/>
            <p:nvPr/>
          </p:nvSpPr>
          <p:spPr>
            <a:xfrm flipH="1">
              <a:off x="1516" y="2155"/>
              <a:ext cx="344" cy="0"/>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51435" name="Rectangle 237"/>
            <p:cNvSpPr/>
            <p:nvPr/>
          </p:nvSpPr>
          <p:spPr>
            <a:xfrm>
              <a:off x="216" y="1681"/>
              <a:ext cx="404" cy="292"/>
            </a:xfrm>
            <a:prstGeom prst="rect">
              <a:avLst/>
            </a:prstGeom>
            <a:noFill/>
            <a:ln w="9525">
              <a:noFill/>
            </a:ln>
            <a:effectLst>
              <a:prstShdw prst="shdw17" dist="17961" dir="2699999">
                <a:srgbClr val="708688"/>
              </a:prstShdw>
            </a:effectLst>
          </p:spPr>
          <p:txBody>
            <a:bodyPr wrap="none" anchor="t" anchorCtr="0">
              <a:spAutoFit/>
            </a:bodyPr>
            <a:p>
              <a:pPr marL="262255" indent="-262255">
                <a:lnSpc>
                  <a:spcPct val="135000"/>
                </a:lnSpc>
              </a:pPr>
              <a:r>
                <a:rPr lang="zh-CN" altLang="en-US" dirty="0">
                  <a:solidFill>
                    <a:srgbClr val="FF3300"/>
                  </a:solidFill>
                  <a:latin typeface="Arial" panose="020B0604020202020204" pitchFamily="34" charset="0"/>
                  <a:ea typeface="宋体" panose="02010600030101010101" pitchFamily="2" charset="-122"/>
                </a:rPr>
                <a:t>叶级</a:t>
              </a:r>
              <a:endParaRPr lang="zh-CN" altLang="en-US" dirty="0">
                <a:solidFill>
                  <a:srgbClr val="FF3300"/>
                </a:solidFill>
                <a:latin typeface="Arial" panose="020B0604020202020204" pitchFamily="34" charset="0"/>
                <a:ea typeface="宋体" panose="02010600030101010101" pitchFamily="2" charset="-122"/>
              </a:endParaRPr>
            </a:p>
          </p:txBody>
        </p:sp>
      </p:grpSp>
      <p:sp>
        <p:nvSpPr>
          <p:cNvPr id="51436"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51437" name="矩形 472"/>
          <p:cNvSpPr/>
          <p:nvPr/>
        </p:nvSpPr>
        <p:spPr>
          <a:xfrm>
            <a:off x="542925" y="881063"/>
            <a:ext cx="2890838" cy="944562"/>
          </a:xfrm>
          <a:prstGeom prst="rect">
            <a:avLst/>
          </a:prstGeom>
          <a:noFill/>
          <a:ln w="9525">
            <a:noFill/>
          </a:ln>
        </p:spPr>
        <p:txBody>
          <a:bodyPr wrap="none" anchor="t" anchorCtr="0">
            <a:spAutoFit/>
          </a:bodyPr>
          <a:p>
            <a:r>
              <a:rPr lang="en-US" altLang="zh-CN" sz="2800" dirty="0">
                <a:solidFill>
                  <a:srgbClr val="0033CC"/>
                </a:solidFill>
                <a:latin typeface="黑体" panose="02010609060101010101" pitchFamily="1" charset="-122"/>
                <a:ea typeface="黑体" panose="02010609060101010101" pitchFamily="1" charset="-122"/>
              </a:rPr>
              <a:t>5.</a:t>
            </a:r>
            <a:r>
              <a:rPr lang="zh-CN" altLang="en-US" sz="2800" dirty="0">
                <a:solidFill>
                  <a:srgbClr val="0033CC"/>
                </a:solidFill>
                <a:latin typeface="黑体" panose="02010609060101010101" pitchFamily="1" charset="-122"/>
                <a:ea typeface="黑体" panose="02010609060101010101" pitchFamily="1" charset="-122"/>
              </a:rPr>
              <a:t>定义索引</a:t>
            </a:r>
            <a:r>
              <a:rPr lang="en-US" altLang="zh-CN" sz="2400" dirty="0">
                <a:solidFill>
                  <a:srgbClr val="FF0000"/>
                </a:solidFill>
                <a:latin typeface="黑体" panose="02010609060101010101" pitchFamily="1" charset="-122"/>
                <a:ea typeface="黑体" panose="02010609060101010101" pitchFamily="1" charset="-122"/>
              </a:rPr>
              <a:t>—</a:t>
            </a:r>
            <a:r>
              <a:rPr lang="zh-CN" altLang="en-US" sz="2400" dirty="0">
                <a:solidFill>
                  <a:srgbClr val="FF0000"/>
                </a:solidFill>
                <a:latin typeface="黑体" panose="02010609060101010101" pitchFamily="1" charset="-122"/>
                <a:ea typeface="黑体" panose="02010609060101010101" pitchFamily="1" charset="-122"/>
              </a:rPr>
              <a:t>概念</a:t>
            </a:r>
            <a:endParaRPr lang="zh-CN" altLang="en-US" sz="2400" dirty="0">
              <a:solidFill>
                <a:srgbClr val="FF0000"/>
              </a:solidFill>
              <a:latin typeface="黑体" panose="02010609060101010101" pitchFamily="1" charset="-122"/>
              <a:ea typeface="宋体" panose="02010600030101010101" pitchFamily="2" charset="-122"/>
            </a:endParaRPr>
          </a:p>
          <a:p>
            <a:endParaRPr lang="zh-CN" altLang="en-US" sz="2800" dirty="0">
              <a:solidFill>
                <a:srgbClr val="0033CC"/>
              </a:solidFill>
              <a:latin typeface="黑体" panose="02010609060101010101" pitchFamily="1" charset="-122"/>
              <a:ea typeface="黑体" panose="02010609060101010101" pitchFamily="1" charset="-122"/>
            </a:endParaRP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5"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52226" name="矩形 2"/>
          <p:cNvSpPr/>
          <p:nvPr/>
        </p:nvSpPr>
        <p:spPr>
          <a:xfrm>
            <a:off x="542925" y="881063"/>
            <a:ext cx="2890838" cy="944562"/>
          </a:xfrm>
          <a:prstGeom prst="rect">
            <a:avLst/>
          </a:prstGeom>
          <a:noFill/>
          <a:ln w="9525">
            <a:noFill/>
          </a:ln>
        </p:spPr>
        <p:txBody>
          <a:bodyPr wrap="none" anchor="t" anchorCtr="0">
            <a:spAutoFit/>
          </a:bodyPr>
          <a:p>
            <a:r>
              <a:rPr lang="en-US" altLang="zh-CN" sz="2800" dirty="0">
                <a:solidFill>
                  <a:srgbClr val="0033CC"/>
                </a:solidFill>
                <a:latin typeface="黑体" panose="02010609060101010101" pitchFamily="1" charset="-122"/>
                <a:ea typeface="黑体" panose="02010609060101010101" pitchFamily="1" charset="-122"/>
              </a:rPr>
              <a:t>5.</a:t>
            </a:r>
            <a:r>
              <a:rPr lang="zh-CN" altLang="en-US" sz="2800" dirty="0">
                <a:solidFill>
                  <a:srgbClr val="0033CC"/>
                </a:solidFill>
                <a:latin typeface="黑体" panose="02010609060101010101" pitchFamily="1" charset="-122"/>
                <a:ea typeface="黑体" panose="02010609060101010101" pitchFamily="1" charset="-122"/>
              </a:rPr>
              <a:t>定义索引</a:t>
            </a:r>
            <a:r>
              <a:rPr lang="en-US" altLang="zh-CN" sz="2400" dirty="0">
                <a:solidFill>
                  <a:srgbClr val="FF0000"/>
                </a:solidFill>
                <a:latin typeface="黑体" panose="02010609060101010101" pitchFamily="1" charset="-122"/>
                <a:ea typeface="黑体" panose="02010609060101010101" pitchFamily="1" charset="-122"/>
              </a:rPr>
              <a:t>—</a:t>
            </a:r>
            <a:r>
              <a:rPr lang="zh-CN" altLang="en-US" sz="2400" dirty="0">
                <a:solidFill>
                  <a:srgbClr val="FF0000"/>
                </a:solidFill>
                <a:latin typeface="黑体" panose="02010609060101010101" pitchFamily="1" charset="-122"/>
                <a:ea typeface="黑体" panose="02010609060101010101" pitchFamily="1" charset="-122"/>
              </a:rPr>
              <a:t>创建</a:t>
            </a:r>
            <a:endParaRPr lang="zh-CN" altLang="en-US" sz="2400" dirty="0">
              <a:solidFill>
                <a:srgbClr val="FF0000"/>
              </a:solidFill>
              <a:latin typeface="黑体" panose="02010609060101010101" pitchFamily="1" charset="-122"/>
              <a:ea typeface="宋体" panose="02010600030101010101" pitchFamily="2" charset="-122"/>
            </a:endParaRPr>
          </a:p>
          <a:p>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52227" name="Text Box 2"/>
          <p:cNvSpPr txBox="1"/>
          <p:nvPr/>
        </p:nvSpPr>
        <p:spPr>
          <a:xfrm>
            <a:off x="609600" y="1933575"/>
            <a:ext cx="8153400" cy="3084513"/>
          </a:xfrm>
          <a:prstGeom prst="rect">
            <a:avLst/>
          </a:prstGeom>
          <a:noFill/>
          <a:ln w="9525">
            <a:noFill/>
          </a:ln>
        </p:spPr>
        <p:txBody>
          <a:bodyPr anchor="t" anchorCtr="0">
            <a:spAutoFit/>
          </a:bodyPr>
          <a:p>
            <a:pPr>
              <a:lnSpc>
                <a:spcPct val="135000"/>
              </a:lnSpc>
            </a:pPr>
            <a:r>
              <a:rPr lang="en-US" altLang="zh-CN" sz="2400" dirty="0">
                <a:latin typeface="华文楷体" panose="02010600040101010101" pitchFamily="2" charset="-122"/>
                <a:ea typeface="华文楷体" panose="02010600040101010101" pitchFamily="2" charset="-122"/>
              </a:rPr>
              <a:t>CREATE [ UNIQUE ] [ CLUSTERED | NONCLUSTERED ] INDEX &lt;</a:t>
            </a:r>
            <a:r>
              <a:rPr lang="zh-CN" altLang="en-US" sz="2400" dirty="0">
                <a:latin typeface="华文楷体" panose="02010600040101010101" pitchFamily="2" charset="-122"/>
                <a:ea typeface="华文楷体" panose="02010600040101010101" pitchFamily="2" charset="-122"/>
              </a:rPr>
              <a:t>索引名</a:t>
            </a:r>
            <a:r>
              <a:rPr lang="en-US" altLang="zh-CN" sz="2400" dirty="0">
                <a:latin typeface="华文楷体" panose="02010600040101010101" pitchFamily="2" charset="-122"/>
                <a:ea typeface="华文楷体" panose="02010600040101010101" pitchFamily="2" charset="-122"/>
              </a:rPr>
              <a:t>&gt;</a:t>
            </a:r>
            <a:endParaRPr lang="en-US" altLang="zh-CN" sz="2400" dirty="0">
              <a:latin typeface="华文楷体" panose="02010600040101010101" pitchFamily="2" charset="-122"/>
              <a:ea typeface="华文楷体" panose="02010600040101010101" pitchFamily="2" charset="-122"/>
            </a:endParaRPr>
          </a:p>
          <a:p>
            <a:pPr>
              <a:lnSpc>
                <a:spcPct val="135000"/>
              </a:lnSpc>
            </a:pPr>
            <a:r>
              <a:rPr lang="en-US" altLang="zh-CN" sz="2400" dirty="0">
                <a:latin typeface="华文楷体" panose="02010600040101010101" pitchFamily="2" charset="-122"/>
                <a:ea typeface="华文楷体" panose="02010600040101010101" pitchFamily="2" charset="-122"/>
              </a:rPr>
              <a:t>ON &lt; </a:t>
            </a:r>
            <a:r>
              <a:rPr lang="zh-CN" altLang="en-US" sz="2400" dirty="0">
                <a:latin typeface="华文楷体" panose="02010600040101010101" pitchFamily="2" charset="-122"/>
                <a:ea typeface="华文楷体" panose="02010600040101010101" pitchFamily="2" charset="-122"/>
              </a:rPr>
              <a:t>表名 </a:t>
            </a:r>
            <a:r>
              <a:rPr lang="en-US" altLang="zh-CN" sz="2400" dirty="0">
                <a:latin typeface="华文楷体" panose="02010600040101010101" pitchFamily="2" charset="-122"/>
                <a:ea typeface="华文楷体" panose="02010600040101010101" pitchFamily="2" charset="-122"/>
              </a:rPr>
              <a:t>| </a:t>
            </a:r>
            <a:r>
              <a:rPr lang="zh-CN" altLang="en-US" sz="2400" dirty="0">
                <a:latin typeface="华文楷体" panose="02010600040101010101" pitchFamily="2" charset="-122"/>
                <a:ea typeface="华文楷体" panose="02010600040101010101" pitchFamily="2" charset="-122"/>
              </a:rPr>
              <a:t>视图名</a:t>
            </a:r>
            <a:r>
              <a:rPr lang="en-US" altLang="zh-CN" sz="2400" dirty="0">
                <a:latin typeface="华文楷体" panose="02010600040101010101" pitchFamily="2" charset="-122"/>
                <a:ea typeface="华文楷体" panose="02010600040101010101" pitchFamily="2" charset="-122"/>
              </a:rPr>
              <a:t>&gt; ( </a:t>
            </a:r>
            <a:r>
              <a:rPr lang="zh-CN" altLang="en-US" sz="2400" dirty="0">
                <a:latin typeface="华文楷体" panose="02010600040101010101" pitchFamily="2" charset="-122"/>
                <a:ea typeface="华文楷体" panose="02010600040101010101" pitchFamily="2" charset="-122"/>
              </a:rPr>
              <a:t>列名</a:t>
            </a:r>
            <a:r>
              <a:rPr lang="en-US" altLang="zh-CN" sz="2400" dirty="0">
                <a:latin typeface="华文楷体" panose="02010600040101010101" pitchFamily="2" charset="-122"/>
                <a:ea typeface="华文楷体" panose="02010600040101010101" pitchFamily="2" charset="-122"/>
              </a:rPr>
              <a:t>[ ASC | DESC ] [ , ...</a:t>
            </a:r>
            <a:r>
              <a:rPr lang="en-US" altLang="zh-CN" sz="2400" i="1" dirty="0">
                <a:latin typeface="华文楷体" panose="02010600040101010101" pitchFamily="2" charset="-122"/>
                <a:ea typeface="华文楷体" panose="02010600040101010101" pitchFamily="2" charset="-122"/>
              </a:rPr>
              <a:t> </a:t>
            </a:r>
            <a:r>
              <a:rPr lang="en-US" altLang="zh-CN" sz="2400" dirty="0">
                <a:latin typeface="华文楷体" panose="02010600040101010101" pitchFamily="2" charset="-122"/>
                <a:ea typeface="华文楷体" panose="02010600040101010101" pitchFamily="2" charset="-122"/>
              </a:rPr>
              <a:t>] ) </a:t>
            </a:r>
            <a:endParaRPr lang="en-US" altLang="zh-CN" sz="2400" dirty="0">
              <a:latin typeface="华文楷体" panose="02010600040101010101" pitchFamily="2" charset="-122"/>
              <a:ea typeface="华文楷体" panose="02010600040101010101" pitchFamily="2" charset="-122"/>
            </a:endParaRPr>
          </a:p>
          <a:p>
            <a:pPr>
              <a:lnSpc>
                <a:spcPct val="135000"/>
              </a:lnSpc>
              <a:buFont typeface="Arial" panose="020B0604020202020204" pitchFamily="34" charset="0"/>
              <a:buChar char="•"/>
            </a:pPr>
            <a:endParaRPr lang="en-US" altLang="zh-CN" sz="2400" dirty="0">
              <a:latin typeface="华文楷体" panose="02010600040101010101" pitchFamily="2" charset="-122"/>
              <a:ea typeface="华文楷体" panose="02010600040101010101" pitchFamily="2" charset="-122"/>
            </a:endParaRPr>
          </a:p>
          <a:p>
            <a:pPr>
              <a:lnSpc>
                <a:spcPct val="135000"/>
              </a:lnSpc>
            </a:pPr>
            <a:r>
              <a:rPr lang="zh-CN" altLang="en-US" sz="2400" dirty="0">
                <a:latin typeface="华文楷体" panose="02010600040101010101" pitchFamily="2" charset="-122"/>
                <a:ea typeface="华文楷体" panose="02010600040101010101" pitchFamily="2" charset="-122"/>
              </a:rPr>
              <a:t>例如：</a:t>
            </a:r>
            <a:r>
              <a:rPr lang="en-US" altLang="zh-CN" sz="2400" dirty="0">
                <a:latin typeface="华文楷体" panose="02010600040101010101" pitchFamily="2" charset="-122"/>
                <a:ea typeface="华文楷体" panose="02010600040101010101" pitchFamily="2" charset="-122"/>
              </a:rPr>
              <a:t>CREATE  INDEX  StuGraIDx</a:t>
            </a:r>
            <a:endParaRPr lang="en-US" altLang="zh-CN" sz="2400" dirty="0">
              <a:latin typeface="华文楷体" panose="02010600040101010101" pitchFamily="2" charset="-122"/>
              <a:ea typeface="华文楷体" panose="02010600040101010101" pitchFamily="2" charset="-122"/>
            </a:endParaRPr>
          </a:p>
          <a:p>
            <a:pPr>
              <a:lnSpc>
                <a:spcPct val="135000"/>
              </a:lnSpc>
            </a:pPr>
            <a:r>
              <a:rPr lang="en-US" altLang="zh-CN" sz="2400" dirty="0">
                <a:latin typeface="华文楷体" panose="02010600040101010101" pitchFamily="2" charset="-122"/>
                <a:ea typeface="华文楷体" panose="02010600040101010101" pitchFamily="2" charset="-122"/>
              </a:rPr>
              <a:t>            ON SC (Sid) DESC</a:t>
            </a:r>
            <a:endParaRPr lang="en-US" altLang="zh-CN" sz="2400" dirty="0">
              <a:latin typeface="华文楷体" panose="02010600040101010101" pitchFamily="2" charset="-122"/>
              <a:ea typeface="华文楷体" panose="02010600040101010101" pitchFamily="2" charset="-122"/>
            </a:endParaRPr>
          </a:p>
        </p:txBody>
      </p:sp>
      <p:sp>
        <p:nvSpPr>
          <p:cNvPr id="52228" name="Text Box 3"/>
          <p:cNvSpPr txBox="1"/>
          <p:nvPr/>
        </p:nvSpPr>
        <p:spPr>
          <a:xfrm>
            <a:off x="581025" y="1397000"/>
            <a:ext cx="7162800" cy="590550"/>
          </a:xfrm>
          <a:prstGeom prst="rect">
            <a:avLst/>
          </a:prstGeom>
          <a:noFill/>
          <a:ln w="9525">
            <a:noFill/>
          </a:ln>
        </p:spPr>
        <p:txBody>
          <a:bodyPr anchor="t" anchorCtr="0">
            <a:spAutoFit/>
          </a:bodyPr>
          <a:p>
            <a:pPr>
              <a:lnSpc>
                <a:spcPct val="135000"/>
              </a:lnSpc>
              <a:spcBef>
                <a:spcPct val="50000"/>
              </a:spcBef>
              <a:buFont typeface="Wingdings" panose="05000000000000000000" pitchFamily="2" charset="2"/>
              <a:buChar char="p"/>
            </a:pPr>
            <a:r>
              <a:rPr lang="zh-CN" altLang="en-US" sz="2400" dirty="0">
                <a:solidFill>
                  <a:srgbClr val="0000CC"/>
                </a:solidFill>
                <a:latin typeface="宋体" panose="02010600030101010101" pitchFamily="2" charset="-122"/>
                <a:ea typeface="宋体" panose="02010600030101010101" pitchFamily="2" charset="-122"/>
              </a:rPr>
              <a:t> 创建索引  </a:t>
            </a:r>
            <a:r>
              <a:rPr lang="en-US" altLang="zh-CN" sz="2400" dirty="0">
                <a:solidFill>
                  <a:srgbClr val="0000CC"/>
                </a:solidFill>
                <a:latin typeface="宋体" panose="02010600030101010101" pitchFamily="2" charset="-122"/>
                <a:ea typeface="宋体" panose="02010600030101010101" pitchFamily="2" charset="-122"/>
              </a:rPr>
              <a:t>Create Index </a:t>
            </a:r>
            <a:r>
              <a:rPr lang="zh-CN" altLang="en-US" sz="2400" dirty="0">
                <a:solidFill>
                  <a:srgbClr val="0000CC"/>
                </a:solidFill>
                <a:latin typeface="宋体" panose="02010600030101010101" pitchFamily="2" charset="-122"/>
                <a:ea typeface="宋体" panose="02010600030101010101" pitchFamily="2" charset="-122"/>
              </a:rPr>
              <a:t>命令语法</a:t>
            </a:r>
            <a:r>
              <a:rPr lang="en-US" altLang="zh-CN" sz="2400" dirty="0">
                <a:solidFill>
                  <a:srgbClr val="0000CC"/>
                </a:solidFill>
                <a:latin typeface="宋体" panose="02010600030101010101" pitchFamily="2" charset="-122"/>
                <a:ea typeface="宋体" panose="02010600030101010101" pitchFamily="2" charset="-122"/>
              </a:rPr>
              <a:t> </a:t>
            </a:r>
            <a:endParaRPr lang="en-US" altLang="zh-CN" sz="2400" dirty="0">
              <a:solidFill>
                <a:srgbClr val="0000CC"/>
              </a:solidFill>
              <a:latin typeface="宋体" panose="02010600030101010101" pitchFamily="2" charset="-122"/>
              <a:ea typeface="宋体" panose="02010600030101010101" pitchFamily="2" charset="-122"/>
            </a:endParaRPr>
          </a:p>
        </p:txBody>
      </p:sp>
      <p:sp>
        <p:nvSpPr>
          <p:cNvPr id="52229" name="Text Box 5"/>
          <p:cNvSpPr txBox="1"/>
          <p:nvPr/>
        </p:nvSpPr>
        <p:spPr>
          <a:xfrm>
            <a:off x="596900" y="4899025"/>
            <a:ext cx="4897438" cy="1127125"/>
          </a:xfrm>
          <a:prstGeom prst="rect">
            <a:avLst/>
          </a:prstGeom>
          <a:noFill/>
          <a:ln w="9525">
            <a:noFill/>
          </a:ln>
        </p:spPr>
        <p:txBody>
          <a:bodyPr anchor="t" anchorCtr="0">
            <a:spAutoFit/>
          </a:bodyPr>
          <a:p>
            <a:pPr>
              <a:lnSpc>
                <a:spcPct val="135000"/>
              </a:lnSpc>
              <a:spcBef>
                <a:spcPts val="600"/>
              </a:spcBef>
            </a:pPr>
            <a:r>
              <a:rPr lang="zh-CN" altLang="en-US" sz="2400" dirty="0">
                <a:latin typeface="华文楷体" panose="02010600040101010101" pitchFamily="2" charset="-122"/>
                <a:ea typeface="华文楷体" panose="02010600040101010101" pitchFamily="2" charset="-122"/>
              </a:rPr>
              <a:t>删除索引（</a:t>
            </a:r>
            <a:r>
              <a:rPr lang="en-US" altLang="zh-CN" sz="2400" dirty="0">
                <a:latin typeface="华文楷体" panose="02010600040101010101" pitchFamily="2" charset="-122"/>
                <a:ea typeface="华文楷体" panose="02010600040101010101" pitchFamily="2" charset="-122"/>
              </a:rPr>
              <a:t>DROP INDEX</a:t>
            </a:r>
            <a:r>
              <a:rPr lang="zh-CN" altLang="en-US" sz="2400" dirty="0">
                <a:latin typeface="华文楷体" panose="02010600040101010101" pitchFamily="2" charset="-122"/>
                <a:ea typeface="华文楷体" panose="02010600040101010101" pitchFamily="2" charset="-122"/>
              </a:rPr>
              <a:t>）</a:t>
            </a:r>
            <a:endParaRPr lang="zh-CN" altLang="en-US" sz="2400" dirty="0">
              <a:latin typeface="华文楷体" panose="02010600040101010101" pitchFamily="2" charset="-122"/>
              <a:ea typeface="华文楷体" panose="02010600040101010101" pitchFamily="2" charset="-122"/>
            </a:endParaRPr>
          </a:p>
          <a:p>
            <a:pPr>
              <a:lnSpc>
                <a:spcPct val="135000"/>
              </a:lnSpc>
            </a:pPr>
            <a:r>
              <a:rPr lang="zh-CN" altLang="en-US" sz="2400" dirty="0">
                <a:latin typeface="华文楷体" panose="02010600040101010101" pitchFamily="2" charset="-122"/>
                <a:ea typeface="华文楷体" panose="02010600040101010101" pitchFamily="2" charset="-122"/>
              </a:rPr>
              <a:t>例如： </a:t>
            </a:r>
            <a:r>
              <a:rPr lang="en-US" altLang="zh-CN" sz="2400" dirty="0">
                <a:latin typeface="华文楷体" panose="02010600040101010101" pitchFamily="2" charset="-122"/>
                <a:ea typeface="华文楷体" panose="02010600040101010101" pitchFamily="2" charset="-122"/>
              </a:rPr>
              <a:t>DROP  INDEX  StuGraIDx</a:t>
            </a:r>
            <a:endParaRPr lang="en-US" altLang="zh-CN" sz="2400" dirty="0">
              <a:latin typeface="华文楷体" panose="02010600040101010101" pitchFamily="2" charset="-122"/>
              <a:ea typeface="华文楷体" panose="02010600040101010101" pitchFamily="2" charset="-122"/>
            </a:endParaRPr>
          </a:p>
        </p:txBody>
      </p:sp>
      <p:sp>
        <p:nvSpPr>
          <p:cNvPr id="3" name="AutoShape 8"/>
          <p:cNvSpPr/>
          <p:nvPr/>
        </p:nvSpPr>
        <p:spPr>
          <a:xfrm>
            <a:off x="3941445" y="576580"/>
            <a:ext cx="4821555" cy="1356995"/>
          </a:xfrm>
          <a:prstGeom prst="wedgeRoundRectCallout">
            <a:avLst>
              <a:gd name="adj1" fmla="val -57796"/>
              <a:gd name="adj2" fmla="val 65722"/>
              <a:gd name="adj3" fmla="val 16667"/>
            </a:avLst>
          </a:prstGeom>
          <a:solidFill>
            <a:srgbClr val="CCFFFF"/>
          </a:solidFill>
          <a:ln w="9525" cap="flat" cmpd="sng">
            <a:solidFill>
              <a:schemeClr val="tx1"/>
            </a:solidFill>
            <a:prstDash val="solid"/>
            <a:miter/>
            <a:headEnd type="none" w="med" len="med"/>
            <a:tailEnd type="none" w="med" len="med"/>
          </a:ln>
        </p:spPr>
        <p:txBody>
          <a:bodyPr lIns="90000" tIns="46800" rIns="90000" bIns="46800" anchor="t" anchorCtr="0"/>
          <a:p>
            <a:r>
              <a:rPr lang="zh-CN" altLang="en-US" sz="2000">
                <a:sym typeface="+mn-ea"/>
              </a:rPr>
              <a:t>创建主键（Primary Key）或唯一约束（Unique Constraint）时，系统会自动创建聚集索引。而在创建普通索引时，默认情况下是创建非聚集索引。</a:t>
            </a:r>
            <a:endParaRPr lang="zh-CN" altLang="en-US" sz="2000" dirty="0">
              <a:latin typeface="宋体" panose="02010600030101010101" pitchFamily="2" charset="-122"/>
              <a:ea typeface="宋体" panose="02010600030101010101" pitchFamily="2" charset="-122"/>
            </a:endParaRPr>
          </a:p>
        </p:txBody>
      </p:sp>
      <p:sp>
        <p:nvSpPr>
          <p:cNvPr id="4" name="AutoShape 8"/>
          <p:cNvSpPr/>
          <p:nvPr/>
        </p:nvSpPr>
        <p:spPr>
          <a:xfrm>
            <a:off x="4909820" y="2776855"/>
            <a:ext cx="3888105" cy="1333500"/>
          </a:xfrm>
          <a:prstGeom prst="wedgeRoundRectCallout">
            <a:avLst>
              <a:gd name="adj1" fmla="val -63081"/>
              <a:gd name="adj2" fmla="val 57834"/>
              <a:gd name="adj3" fmla="val 16667"/>
            </a:avLst>
          </a:prstGeom>
          <a:solidFill>
            <a:srgbClr val="CCFFFF"/>
          </a:solidFill>
          <a:ln w="9525" cap="flat" cmpd="sng">
            <a:solidFill>
              <a:schemeClr val="tx1"/>
            </a:solidFill>
            <a:prstDash val="solid"/>
            <a:miter/>
            <a:headEnd type="none" w="med" len="med"/>
            <a:tailEnd type="none" w="med" len="med"/>
          </a:ln>
        </p:spPr>
        <p:txBody>
          <a:bodyPr lIns="90000" tIns="46800" rIns="90000" bIns="46800" anchor="t" anchorCtr="0"/>
          <a:p>
            <a:r>
              <a:rPr lang="en-US" altLang="zh-CN" sz="2000" dirty="0">
                <a:latin typeface="宋体" panose="02010600030101010101" pitchFamily="2" charset="-122"/>
                <a:ea typeface="宋体" panose="02010600030101010101" pitchFamily="2" charset="-122"/>
              </a:rPr>
              <a:t>SQL</a:t>
            </a:r>
            <a:r>
              <a:rPr lang="zh-CN" altLang="en-US" sz="2000" dirty="0">
                <a:latin typeface="宋体" panose="02010600030101010101" pitchFamily="2" charset="-122"/>
                <a:ea typeface="宋体" panose="02010600030101010101" pitchFamily="2" charset="-122"/>
              </a:rPr>
              <a:t>中的索引是非显式索引，即用户在撤销索引前，不会用到该索引名。索引在用户查询时会自动起作用。</a:t>
            </a:r>
            <a:endParaRPr lang="zh-CN" altLang="en-US" sz="2000" dirty="0">
              <a:latin typeface="宋体" panose="02010600030101010101" pitchFamily="2" charset="-122"/>
              <a:ea typeface="宋体" panose="02010600030101010101" pitchFamily="2" charset="-122"/>
            </a:endParaRPr>
          </a:p>
        </p:txBody>
      </p:sp>
      <p:sp>
        <p:nvSpPr>
          <p:cNvPr id="5" name="AutoShape 7"/>
          <p:cNvSpPr/>
          <p:nvPr/>
        </p:nvSpPr>
        <p:spPr>
          <a:xfrm>
            <a:off x="5607050" y="4939030"/>
            <a:ext cx="3079750" cy="828040"/>
          </a:xfrm>
          <a:prstGeom prst="wedgeRoundRectCallout">
            <a:avLst>
              <a:gd name="adj1" fmla="val -102000"/>
              <a:gd name="adj2" fmla="val -66717"/>
              <a:gd name="adj3" fmla="val 16667"/>
            </a:avLst>
          </a:prstGeom>
          <a:solidFill>
            <a:srgbClr val="CCFFFF"/>
          </a:solidFill>
          <a:ln w="9525" cap="flat" cmpd="sng">
            <a:solidFill>
              <a:schemeClr val="tx1"/>
            </a:solidFill>
            <a:prstDash val="solid"/>
            <a:miter/>
            <a:headEnd type="none" w="med" len="med"/>
            <a:tailEnd type="none" w="med" len="med"/>
          </a:ln>
        </p:spPr>
        <p:txBody>
          <a:bodyPr lIns="90000" tIns="46800" rIns="90000" bIns="46800" anchor="t" anchorCtr="0"/>
          <a:p>
            <a:pPr algn="ctr"/>
            <a:r>
              <a:rPr lang="zh-CN" altLang="en-US" sz="2000" dirty="0">
                <a:latin typeface="宋体" panose="02010600030101010101" pitchFamily="2" charset="-122"/>
                <a:ea typeface="宋体" panose="02010600030101010101" pitchFamily="2" charset="-122"/>
              </a:rPr>
              <a:t>表示学号上的索引按降序排列。系统默认升序。</a:t>
            </a:r>
            <a:endParaRPr lang="zh-CN" altLang="en-US" sz="2000" dirty="0">
              <a:latin typeface="宋体" panose="02010600030101010101" pitchFamily="2" charset="-122"/>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subTnLst>
                                    <p:set>
                                      <p:cBhvr override="childStyle">
                                        <p:cTn dur="1" fill="hold" display="0" masterRel="nextClick" afterEffect="1"/>
                                        <p:tgtEl>
                                          <p:spTgt spid="3"/>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dissolv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4" grpId="0" bldLvl="0" animBg="1"/>
      <p:bldP spid="5" grpId="0" bldLvl="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49"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53250" name="Rectangle 3"/>
          <p:cNvSpPr txBox="1"/>
          <p:nvPr/>
        </p:nvSpPr>
        <p:spPr>
          <a:xfrm>
            <a:off x="660400" y="3851275"/>
            <a:ext cx="8004175" cy="2178050"/>
          </a:xfrm>
          <a:prstGeom prst="rect">
            <a:avLst/>
          </a:prstGeom>
          <a:noFill/>
          <a:ln w="9525">
            <a:noFill/>
          </a:ln>
        </p:spPr>
        <p:txBody>
          <a:bodyPr anchor="t" anchorCtr="0"/>
          <a:p>
            <a:pPr marL="342900" indent="-342900">
              <a:spcBef>
                <a:spcPts val="600"/>
              </a:spcBef>
              <a:buClr>
                <a:srgbClr val="0033CC"/>
              </a:buClr>
              <a:buSzPct val="80000"/>
            </a:pPr>
            <a:r>
              <a:rPr lang="en-US" altLang="zh-CN"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为数据量大的表建立索引，这样速度提高明显；</a:t>
            </a:r>
            <a:endParaRPr lang="zh-CN" altLang="en-US" sz="2200" dirty="0">
              <a:latin typeface="楷体" panose="02010609060101010101" pitchFamily="1" charset="-122"/>
              <a:ea typeface="楷体" panose="02010609060101010101" pitchFamily="1" charset="-122"/>
            </a:endParaRPr>
          </a:p>
          <a:p>
            <a:pPr marL="342900" indent="-342900">
              <a:spcBef>
                <a:spcPts val="600"/>
              </a:spcBef>
              <a:buClr>
                <a:srgbClr val="0033CC"/>
              </a:buClr>
              <a:buSzPct val="80000"/>
            </a:pPr>
            <a:r>
              <a:rPr lang="en-US" altLang="zh-CN"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一张表所建索引个数应适量，要在加快查询速度和降低更新速度之间平衡。</a:t>
            </a:r>
            <a:endParaRPr lang="zh-CN" altLang="en-US" sz="2200" dirty="0">
              <a:latin typeface="楷体" panose="02010609060101010101" pitchFamily="1" charset="-122"/>
              <a:ea typeface="楷体" panose="02010609060101010101" pitchFamily="1" charset="-122"/>
            </a:endParaRPr>
          </a:p>
          <a:p>
            <a:pPr marL="342900" indent="-342900">
              <a:spcBef>
                <a:spcPts val="600"/>
              </a:spcBef>
              <a:buClr>
                <a:srgbClr val="0033CC"/>
              </a:buClr>
              <a:buSzPct val="80000"/>
            </a:pPr>
            <a:r>
              <a:rPr lang="en-US" altLang="zh-CN"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掌握建立索引的时机，通常在表装载完成之后，再建立索引。</a:t>
            </a:r>
            <a:endParaRPr lang="zh-CN" altLang="en-US" sz="2200" dirty="0">
              <a:latin typeface="楷体" panose="02010609060101010101" pitchFamily="1" charset="-122"/>
              <a:ea typeface="楷体" panose="02010609060101010101" pitchFamily="1" charset="-122"/>
            </a:endParaRPr>
          </a:p>
          <a:p>
            <a:pPr marL="342900" indent="-342900">
              <a:spcBef>
                <a:spcPts val="600"/>
              </a:spcBef>
              <a:buClr>
                <a:srgbClr val="0033CC"/>
              </a:buClr>
              <a:buSzPct val="80000"/>
            </a:pPr>
            <a:r>
              <a:rPr lang="en-US" altLang="zh-CN"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优先建立主键列的索引。</a:t>
            </a:r>
            <a:endParaRPr lang="zh-CN" altLang="en-US" sz="2200" dirty="0">
              <a:latin typeface="楷体" panose="02010609060101010101" pitchFamily="1" charset="-122"/>
              <a:ea typeface="楷体" panose="02010609060101010101" pitchFamily="1" charset="-122"/>
            </a:endParaRPr>
          </a:p>
        </p:txBody>
      </p:sp>
      <p:sp>
        <p:nvSpPr>
          <p:cNvPr id="53251" name="矩形 5"/>
          <p:cNvSpPr/>
          <p:nvPr/>
        </p:nvSpPr>
        <p:spPr>
          <a:xfrm>
            <a:off x="601663" y="3081338"/>
            <a:ext cx="2919412" cy="631825"/>
          </a:xfrm>
          <a:prstGeom prst="rect">
            <a:avLst/>
          </a:prstGeom>
          <a:noFill/>
          <a:ln w="9525">
            <a:noFill/>
          </a:ln>
        </p:spPr>
        <p:txBody>
          <a:bodyPr wrap="none" anchor="t" anchorCtr="0">
            <a:spAutoFit/>
          </a:bodyPr>
          <a:p>
            <a:pPr>
              <a:lnSpc>
                <a:spcPct val="135000"/>
              </a:lnSpc>
              <a:buFont typeface="Wingdings" panose="05000000000000000000" pitchFamily="2" charset="2"/>
              <a:buChar char="p"/>
            </a:pPr>
            <a:r>
              <a:rPr lang="zh-CN" altLang="en-US" sz="2600" dirty="0">
                <a:solidFill>
                  <a:srgbClr val="FF0000"/>
                </a:solidFill>
                <a:latin typeface="Arial" panose="020B0604020202020204" pitchFamily="34" charset="0"/>
                <a:ea typeface="宋体" panose="02010600030101010101" pitchFamily="2" charset="-122"/>
              </a:rPr>
              <a:t> 索引的建立原则</a:t>
            </a:r>
            <a:endParaRPr lang="zh-CN" altLang="en-US" sz="2600" dirty="0">
              <a:solidFill>
                <a:srgbClr val="FF0000"/>
              </a:solidFill>
              <a:latin typeface="Arial" panose="020B0604020202020204" pitchFamily="34" charset="0"/>
              <a:ea typeface="宋体" panose="02010600030101010101" pitchFamily="2" charset="-122"/>
            </a:endParaRPr>
          </a:p>
        </p:txBody>
      </p:sp>
      <p:sp>
        <p:nvSpPr>
          <p:cNvPr id="41989" name="AutoShape 2"/>
          <p:cNvSpPr/>
          <p:nvPr/>
        </p:nvSpPr>
        <p:spPr>
          <a:xfrm>
            <a:off x="536575" y="3722688"/>
            <a:ext cx="8186738" cy="2233613"/>
          </a:xfrm>
          <a:prstGeom prst="roundRect">
            <a:avLst>
              <a:gd name="adj" fmla="val 10375"/>
            </a:avLst>
          </a:prstGeom>
          <a:noFill/>
          <a:ln w="19050" cap="rnd" cmpd="sng">
            <a:solidFill>
              <a:schemeClr val="accent2"/>
            </a:solidFill>
            <a:prstDash val="sysDot"/>
            <a:headEnd type="none" w="med" len="med"/>
            <a:tailEnd type="none" w="med" len="med"/>
          </a:ln>
        </p:spPr>
        <p:txBody>
          <a:bodyPr wrap="none" anchor="ctr"/>
          <a:p>
            <a:pPr lvl="0" eaLnBrk="1" fontAlgn="base" hangingPunct="1">
              <a:lnSpc>
                <a:spcPct val="135000"/>
              </a:lnSpc>
              <a:buChar char="•"/>
            </a:pPr>
            <a:endParaRPr lang="zh-CN" altLang="en-US" strike="noStrike" noProof="1" dirty="0">
              <a:effectLst>
                <a:outerShdw blurRad="38100" dist="38100" dir="2700000">
                  <a:srgbClr val="C0C0C0"/>
                </a:outerShdw>
              </a:effectLst>
              <a:latin typeface="Arial" panose="020B0604020202020204" pitchFamily="34" charset="0"/>
              <a:ea typeface="宋体" panose="02010600030101010101" pitchFamily="2" charset="-122"/>
            </a:endParaRPr>
          </a:p>
        </p:txBody>
      </p:sp>
      <p:sp>
        <p:nvSpPr>
          <p:cNvPr id="53253" name="矩形 7"/>
          <p:cNvSpPr/>
          <p:nvPr/>
        </p:nvSpPr>
        <p:spPr>
          <a:xfrm>
            <a:off x="542925" y="881063"/>
            <a:ext cx="2890838" cy="944562"/>
          </a:xfrm>
          <a:prstGeom prst="rect">
            <a:avLst/>
          </a:prstGeom>
          <a:noFill/>
          <a:ln w="9525">
            <a:noFill/>
          </a:ln>
        </p:spPr>
        <p:txBody>
          <a:bodyPr wrap="none" anchor="t" anchorCtr="0">
            <a:spAutoFit/>
          </a:bodyPr>
          <a:p>
            <a:r>
              <a:rPr lang="en-US" altLang="zh-CN" sz="2800" dirty="0">
                <a:solidFill>
                  <a:srgbClr val="0033CC"/>
                </a:solidFill>
                <a:latin typeface="黑体" panose="02010609060101010101" pitchFamily="1" charset="-122"/>
                <a:ea typeface="黑体" panose="02010609060101010101" pitchFamily="1" charset="-122"/>
              </a:rPr>
              <a:t>5.</a:t>
            </a:r>
            <a:r>
              <a:rPr lang="zh-CN" altLang="en-US" sz="2800" dirty="0">
                <a:solidFill>
                  <a:srgbClr val="0033CC"/>
                </a:solidFill>
                <a:latin typeface="黑体" panose="02010609060101010101" pitchFamily="1" charset="-122"/>
                <a:ea typeface="黑体" panose="02010609060101010101" pitchFamily="1" charset="-122"/>
              </a:rPr>
              <a:t>定义索引</a:t>
            </a:r>
            <a:r>
              <a:rPr lang="en-US" altLang="zh-CN" sz="2400" dirty="0">
                <a:solidFill>
                  <a:srgbClr val="FF0000"/>
                </a:solidFill>
                <a:latin typeface="黑体" panose="02010609060101010101" pitchFamily="1" charset="-122"/>
                <a:ea typeface="黑体" panose="02010609060101010101" pitchFamily="1" charset="-122"/>
              </a:rPr>
              <a:t>—</a:t>
            </a:r>
            <a:r>
              <a:rPr lang="zh-CN" altLang="en-US" sz="2400" dirty="0">
                <a:solidFill>
                  <a:srgbClr val="FF0000"/>
                </a:solidFill>
                <a:latin typeface="黑体" panose="02010609060101010101" pitchFamily="1" charset="-122"/>
                <a:ea typeface="黑体" panose="02010609060101010101" pitchFamily="1" charset="-122"/>
              </a:rPr>
              <a:t>概念</a:t>
            </a:r>
            <a:endParaRPr lang="zh-CN" altLang="en-US" sz="2400" dirty="0">
              <a:solidFill>
                <a:srgbClr val="FF0000"/>
              </a:solidFill>
              <a:latin typeface="黑体" panose="02010609060101010101" pitchFamily="1" charset="-122"/>
              <a:ea typeface="宋体" panose="02010600030101010101" pitchFamily="2" charset="-122"/>
            </a:endParaRPr>
          </a:p>
          <a:p>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53254" name="矩形 8"/>
          <p:cNvSpPr/>
          <p:nvPr/>
        </p:nvSpPr>
        <p:spPr>
          <a:xfrm>
            <a:off x="601663" y="1366838"/>
            <a:ext cx="8048625" cy="1739900"/>
          </a:xfrm>
          <a:prstGeom prst="rect">
            <a:avLst/>
          </a:prstGeom>
          <a:noFill/>
          <a:ln w="9525">
            <a:noFill/>
          </a:ln>
        </p:spPr>
        <p:txBody>
          <a:bodyPr anchor="t" anchorCtr="0">
            <a:spAutoFit/>
          </a:bodyPr>
          <a:p>
            <a:pPr algn="just">
              <a:lnSpc>
                <a:spcPct val="125000"/>
              </a:lnSpc>
            </a:pPr>
            <a:r>
              <a:rPr lang="zh-CN" altLang="en-US" sz="2200" b="0" dirty="0">
                <a:latin typeface="Arial" panose="020B0604020202020204" pitchFamily="34" charset="0"/>
                <a:ea typeface="黑体" panose="02010609060101010101" pitchFamily="1" charset="-122"/>
              </a:rPr>
              <a:t>        索引为查找带来的性能好处是有代价的，首先，索引在数据库中会占用一定的储存空间来存储索引信息，其次，在对数据进行插入、更改和删除操作时，为了使索引与数据保持一致，还需要对索引进行相应维护。</a:t>
            </a:r>
            <a:endParaRPr lang="zh-CN" altLang="en-US" sz="2200" b="0" dirty="0">
              <a:latin typeface="Arial" panose="020B0604020202020204" pitchFamily="34" charset="0"/>
              <a:ea typeface="宋体" panose="02010600030101010101" pitchFamily="2" charset="-122"/>
            </a:endParaRP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 name="文本框 44"/>
          <p:cNvSpPr txBox="1"/>
          <p:nvPr/>
        </p:nvSpPr>
        <p:spPr>
          <a:xfrm>
            <a:off x="517525" y="26988"/>
            <a:ext cx="2681288" cy="830263"/>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问题研讨：</a:t>
            </a:r>
            <a:endParaRPr kumimoji="0" lang="zh-CN" altLang="en-US" sz="3200" kern="1200" cap="none" spc="0" normalizeH="0" baseline="0" noProof="0" dirty="0">
              <a:latin typeface="Arial" panose="020B0604020202020204" pitchFamily="34" charset="0"/>
              <a:ea typeface="宋体" panose="02010600030101010101" pitchFamily="2" charset="-122"/>
              <a:cs typeface="+mn-cs"/>
            </a:endParaRPr>
          </a:p>
        </p:txBody>
      </p:sp>
      <p:sp>
        <p:nvSpPr>
          <p:cNvPr id="57347" name="文本框 99"/>
          <p:cNvSpPr txBox="1"/>
          <p:nvPr/>
        </p:nvSpPr>
        <p:spPr>
          <a:xfrm>
            <a:off x="517525" y="1082675"/>
            <a:ext cx="8782050" cy="501078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ct val="0"/>
              </a:spcBef>
              <a:buClrTx/>
              <a:buSzTx/>
              <a:buFont typeface="Arial" panose="020B0604020202020204" pitchFamily="34" charset="0"/>
              <a:buNone/>
            </a:pPr>
            <a:r>
              <a:rPr lang="en-US" altLang="zh-CN" dirty="0">
                <a:latin typeface="Calibri" panose="020F0502020204030204" pitchFamily="34" charset="0"/>
              </a:rPr>
              <a:t>1</a:t>
            </a:r>
            <a:r>
              <a:rPr lang="zh-CN" altLang="zh-CN" dirty="0">
                <a:latin typeface="Calibri" panose="020F0502020204030204" pitchFamily="34" charset="0"/>
              </a:rPr>
              <a:t>、</a:t>
            </a:r>
            <a:r>
              <a:rPr lang="en-US" altLang="zh-CN" dirty="0">
                <a:latin typeface="Calibri" panose="020F0502020204030204" pitchFamily="34" charset="0"/>
                <a:cs typeface="Times New Roman" panose="02020603050405020304" pitchFamily="2" charset="0"/>
              </a:rPr>
              <a:t>UNIQUE</a:t>
            </a:r>
            <a:r>
              <a:rPr lang="zh-CN" altLang="zh-CN" dirty="0">
                <a:latin typeface="Calibri" panose="020F0502020204030204" pitchFamily="34" charset="0"/>
              </a:rPr>
              <a:t>惟一索引的作用是（</a:t>
            </a:r>
            <a:r>
              <a:rPr lang="en-US" altLang="zh-CN" dirty="0">
                <a:latin typeface="Calibri" panose="020F0502020204030204" pitchFamily="34" charset="0"/>
                <a:cs typeface="Times New Roman" panose="02020603050405020304" pitchFamily="2" charset="0"/>
              </a:rPr>
              <a:t>    </a:t>
            </a:r>
            <a:r>
              <a:rPr lang="zh-CN" altLang="zh-CN" dirty="0">
                <a:latin typeface="Calibri" panose="020F0502020204030204" pitchFamily="34" charset="0"/>
              </a:rPr>
              <a:t>）</a:t>
            </a:r>
            <a:endParaRPr lang="en-US" altLang="zh-CN" dirty="0">
              <a:latin typeface="Calibri" panose="020F0502020204030204" pitchFamily="34" charset="0"/>
              <a:cs typeface="Times New Roman" panose="02020603050405020304" pitchFamily="2" charset="0"/>
            </a:endParaRPr>
          </a:p>
          <a:p>
            <a:pPr marL="0" lvl="0" indent="0" eaLnBrk="1" hangingPunct="1">
              <a:lnSpc>
                <a:spcPct val="125000"/>
              </a:lnSpc>
              <a:spcBef>
                <a:spcPct val="0"/>
              </a:spcBef>
              <a:buClrTx/>
              <a:buSzTx/>
              <a:buFont typeface="Arial" panose="020B0604020202020204" pitchFamily="34" charset="0"/>
              <a:buNone/>
            </a:pPr>
            <a:r>
              <a:rPr lang="en-US" altLang="zh-CN" dirty="0">
                <a:latin typeface="Calibri" panose="020F0502020204030204" pitchFamily="34" charset="0"/>
                <a:cs typeface="Times New Roman" panose="02020603050405020304" pitchFamily="2" charset="0"/>
              </a:rPr>
              <a:t>  </a:t>
            </a:r>
            <a:r>
              <a:rPr lang="en-US" altLang="zh-CN" sz="1800" b="0" dirty="0">
                <a:latin typeface="Calibri" panose="020F0502020204030204" pitchFamily="34" charset="0"/>
                <a:cs typeface="Times New Roman" panose="02020603050405020304" pitchFamily="2" charset="0"/>
              </a:rPr>
              <a:t>A</a:t>
            </a:r>
            <a:r>
              <a:rPr lang="zh-CN" altLang="zh-CN" sz="1800" b="0" dirty="0">
                <a:latin typeface="Calibri" panose="020F0502020204030204" pitchFamily="34" charset="0"/>
              </a:rPr>
              <a:t>．保证各行在该索引上的值都不得重复</a:t>
            </a:r>
            <a:r>
              <a:rPr lang="en-US" altLang="zh-CN" sz="1800" b="0" dirty="0">
                <a:latin typeface="Calibri" panose="020F0502020204030204" pitchFamily="34" charset="0"/>
                <a:cs typeface="Times New Roman" panose="02020603050405020304" pitchFamily="2" charset="0"/>
              </a:rPr>
              <a:t>   </a:t>
            </a:r>
            <a:endParaRPr lang="en-US" altLang="zh-CN" sz="1800" b="0" dirty="0">
              <a:latin typeface="Calibri" panose="020F0502020204030204" pitchFamily="34" charset="0"/>
              <a:cs typeface="Times New Roman" panose="02020603050405020304" pitchFamily="2" charset="0"/>
            </a:endParaRPr>
          </a:p>
          <a:p>
            <a:pPr marL="0" lvl="0" indent="0" eaLnBrk="1" hangingPunct="1">
              <a:spcBef>
                <a:spcPct val="0"/>
              </a:spcBef>
              <a:buClrTx/>
              <a:buSzTx/>
              <a:buFont typeface="Arial" panose="020B0604020202020204" pitchFamily="34" charset="0"/>
              <a:buNone/>
            </a:pPr>
            <a:r>
              <a:rPr lang="en-US" altLang="zh-CN" sz="1800" b="0" dirty="0">
                <a:latin typeface="Calibri" panose="020F0502020204030204" pitchFamily="34" charset="0"/>
                <a:cs typeface="Times New Roman" panose="02020603050405020304" pitchFamily="2" charset="0"/>
              </a:rPr>
              <a:t>  B</a:t>
            </a:r>
            <a:r>
              <a:rPr lang="zh-CN" altLang="zh-CN" sz="1800" b="0" dirty="0">
                <a:latin typeface="Calibri" panose="020F0502020204030204" pitchFamily="34" charset="0"/>
              </a:rPr>
              <a:t>．保证各行在该索引上的值不得为</a:t>
            </a:r>
            <a:r>
              <a:rPr lang="en-US" altLang="zh-CN" sz="1800" b="0" dirty="0">
                <a:latin typeface="Calibri" panose="020F0502020204030204" pitchFamily="34" charset="0"/>
              </a:rPr>
              <a:t>NULL</a:t>
            </a:r>
            <a:endParaRPr lang="en-US" altLang="zh-CN" sz="1800" b="0" dirty="0">
              <a:latin typeface="Calibri" panose="020F0502020204030204" pitchFamily="34" charset="0"/>
              <a:cs typeface="Times New Roman" panose="02020603050405020304" pitchFamily="2" charset="0"/>
            </a:endParaRPr>
          </a:p>
          <a:p>
            <a:pPr marL="0" lvl="0" indent="0" eaLnBrk="1" hangingPunct="1">
              <a:spcBef>
                <a:spcPct val="0"/>
              </a:spcBef>
              <a:buClrTx/>
              <a:buSzTx/>
              <a:buFont typeface="Arial" panose="020B0604020202020204" pitchFamily="34" charset="0"/>
              <a:buNone/>
            </a:pPr>
            <a:r>
              <a:rPr lang="en-US" altLang="zh-CN" sz="1800" b="0" dirty="0">
                <a:latin typeface="Calibri" panose="020F0502020204030204" pitchFamily="34" charset="0"/>
                <a:cs typeface="Times New Roman" panose="02020603050405020304" pitchFamily="2" charset="0"/>
              </a:rPr>
              <a:t>  C</a:t>
            </a:r>
            <a:r>
              <a:rPr lang="zh-CN" altLang="zh-CN" sz="1800" b="0" dirty="0"/>
              <a:t>．保证参加惟一索引的各列，不得再参加其他的索引</a:t>
            </a:r>
            <a:endParaRPr lang="zh-CN" altLang="zh-CN" sz="1800" b="0" dirty="0"/>
          </a:p>
          <a:p>
            <a:pPr marL="0" lvl="0" indent="0" eaLnBrk="1" hangingPunct="1">
              <a:spcBef>
                <a:spcPct val="0"/>
              </a:spcBef>
              <a:buClrTx/>
              <a:buSzTx/>
              <a:buFont typeface="Arial" panose="020B0604020202020204" pitchFamily="34" charset="0"/>
              <a:buNone/>
            </a:pPr>
            <a:r>
              <a:rPr lang="zh-CN" altLang="en-US" sz="1800" b="0" dirty="0"/>
              <a:t>  D．保证惟一索引不能被删除</a:t>
            </a:r>
            <a:endParaRPr lang="zh-CN" altLang="en-US" sz="1800" b="0" dirty="0"/>
          </a:p>
          <a:p>
            <a:pPr marL="0" lvl="0" indent="0" eaLnBrk="1" hangingPunct="1">
              <a:spcBef>
                <a:spcPts val="300"/>
              </a:spcBef>
              <a:buClrTx/>
              <a:buSzTx/>
              <a:buFont typeface="Arial" panose="020B0604020202020204" pitchFamily="34" charset="0"/>
              <a:buNone/>
            </a:pPr>
            <a:r>
              <a:rPr lang="en-US" altLang="zh-CN" sz="1800" dirty="0"/>
              <a:t>2</a:t>
            </a:r>
            <a:r>
              <a:rPr lang="zh-CN" altLang="en-US" sz="1800" dirty="0"/>
              <a:t>、可以在创建表时用（    ）来创建唯一索引，也可以用（     ）来创建唯一索引。</a:t>
            </a:r>
            <a:endParaRPr lang="zh-CN" altLang="en-US" sz="1800" dirty="0"/>
          </a:p>
          <a:p>
            <a:pPr marL="0" lvl="0" indent="0" eaLnBrk="1" hangingPunct="1">
              <a:lnSpc>
                <a:spcPct val="120000"/>
              </a:lnSpc>
              <a:spcBef>
                <a:spcPct val="0"/>
              </a:spcBef>
              <a:buClrTx/>
              <a:buSzTx/>
              <a:buFont typeface="Arial" panose="020B0604020202020204" pitchFamily="34" charset="0"/>
              <a:buNone/>
            </a:pPr>
            <a:r>
              <a:rPr lang="zh-CN" altLang="en-US" sz="1800" dirty="0"/>
              <a:t>  </a:t>
            </a:r>
            <a:r>
              <a:rPr lang="zh-CN" altLang="en-US" sz="1800" b="0" dirty="0"/>
              <a:t>A. Create table，Create index               </a:t>
            </a:r>
            <a:endParaRPr lang="zh-CN" altLang="en-US" sz="1800" b="0" dirty="0"/>
          </a:p>
          <a:p>
            <a:pPr marL="0" lvl="0" indent="0" eaLnBrk="1" hangingPunct="1">
              <a:lnSpc>
                <a:spcPct val="120000"/>
              </a:lnSpc>
              <a:spcBef>
                <a:spcPct val="0"/>
              </a:spcBef>
              <a:buClrTx/>
              <a:buSzTx/>
              <a:buFont typeface="Arial" panose="020B0604020202020204" pitchFamily="34" charset="0"/>
              <a:buNone/>
            </a:pPr>
            <a:r>
              <a:rPr lang="zh-CN" altLang="en-US" sz="1800" b="0" dirty="0"/>
              <a:t>  B. 设置主键约束，设置唯一约束</a:t>
            </a:r>
            <a:endParaRPr lang="zh-CN" altLang="en-US" sz="1800" b="0" dirty="0"/>
          </a:p>
          <a:p>
            <a:pPr marL="0" lvl="0" indent="0" eaLnBrk="1" hangingPunct="1">
              <a:lnSpc>
                <a:spcPct val="120000"/>
              </a:lnSpc>
              <a:spcBef>
                <a:spcPct val="0"/>
              </a:spcBef>
              <a:buClrTx/>
              <a:buSzTx/>
              <a:buFont typeface="Arial" panose="020B0604020202020204" pitchFamily="34" charset="0"/>
              <a:buNone/>
            </a:pPr>
            <a:r>
              <a:rPr lang="zh-CN" altLang="en-US" sz="1800" b="0" dirty="0"/>
              <a:t>  C.设置主键约束，Create index             </a:t>
            </a:r>
            <a:endParaRPr lang="zh-CN" altLang="en-US" sz="1800" b="0" dirty="0"/>
          </a:p>
          <a:p>
            <a:pPr marL="0" lvl="0" indent="0" eaLnBrk="1" hangingPunct="1">
              <a:lnSpc>
                <a:spcPct val="120000"/>
              </a:lnSpc>
              <a:spcBef>
                <a:spcPct val="0"/>
              </a:spcBef>
              <a:buClrTx/>
              <a:buSzTx/>
              <a:buFont typeface="Arial" panose="020B0604020202020204" pitchFamily="34" charset="0"/>
              <a:buNone/>
            </a:pPr>
            <a:r>
              <a:rPr lang="zh-CN" altLang="en-US" sz="1800" b="0" dirty="0"/>
              <a:t>  D.以上都可以</a:t>
            </a:r>
            <a:endParaRPr lang="zh-CN" altLang="en-US" sz="1800" b="0" dirty="0"/>
          </a:p>
          <a:p>
            <a:pPr marL="0" lvl="0" indent="0" eaLnBrk="1" hangingPunct="1">
              <a:lnSpc>
                <a:spcPct val="125000"/>
              </a:lnSpc>
              <a:spcBef>
                <a:spcPct val="0"/>
              </a:spcBef>
              <a:buClrTx/>
              <a:buSzTx/>
              <a:buFont typeface="Arial" panose="020B0604020202020204" pitchFamily="34" charset="0"/>
              <a:buNone/>
            </a:pPr>
            <a:r>
              <a:rPr lang="en-US" altLang="zh-CN" sz="1800" dirty="0"/>
              <a:t>3</a:t>
            </a:r>
            <a:r>
              <a:rPr lang="zh-CN" altLang="en-US" sz="1800" dirty="0"/>
              <a:t>、在SQL SERVER中关于索引叙述正确的是（      ）</a:t>
            </a:r>
            <a:endParaRPr lang="zh-CN" altLang="en-US" sz="1800" dirty="0"/>
          </a:p>
          <a:p>
            <a:pPr marL="0" lvl="0" indent="0" eaLnBrk="1" hangingPunct="1">
              <a:lnSpc>
                <a:spcPct val="120000"/>
              </a:lnSpc>
              <a:spcBef>
                <a:spcPct val="0"/>
              </a:spcBef>
              <a:buClrTx/>
              <a:buSzTx/>
              <a:buFont typeface="Arial" panose="020B0604020202020204" pitchFamily="34" charset="0"/>
              <a:buNone/>
            </a:pPr>
            <a:r>
              <a:rPr lang="en-US" altLang="zh-CN" sz="1800" b="0" dirty="0"/>
              <a:t>  </a:t>
            </a:r>
            <a:r>
              <a:rPr lang="zh-CN" altLang="en-US" sz="1800" b="0" dirty="0"/>
              <a:t>A. 每个数据库表可以建立多个聚集索引        </a:t>
            </a:r>
            <a:endParaRPr lang="zh-CN" altLang="en-US" sz="1800" b="0" dirty="0"/>
          </a:p>
          <a:p>
            <a:pPr marL="0" lvl="0" indent="0" eaLnBrk="1" hangingPunct="1">
              <a:lnSpc>
                <a:spcPct val="120000"/>
              </a:lnSpc>
              <a:spcBef>
                <a:spcPct val="0"/>
              </a:spcBef>
              <a:buClrTx/>
              <a:buSzTx/>
              <a:buFont typeface="Arial" panose="020B0604020202020204" pitchFamily="34" charset="0"/>
              <a:buNone/>
            </a:pPr>
            <a:r>
              <a:rPr lang="en-US" altLang="zh-CN" sz="1800" b="0" dirty="0"/>
              <a:t>  </a:t>
            </a:r>
            <a:r>
              <a:rPr lang="zh-CN" altLang="en-US" sz="1800" b="0" dirty="0"/>
              <a:t>B. 每个表可以建立多个非聚集索引</a:t>
            </a:r>
            <a:endParaRPr lang="zh-CN" altLang="en-US" sz="1800" b="0" dirty="0"/>
          </a:p>
          <a:p>
            <a:pPr marL="0" lvl="0" indent="0" eaLnBrk="1" hangingPunct="1">
              <a:lnSpc>
                <a:spcPct val="120000"/>
              </a:lnSpc>
              <a:spcBef>
                <a:spcPct val="0"/>
              </a:spcBef>
              <a:buClrTx/>
              <a:buSzTx/>
              <a:buFont typeface="Arial" panose="020B0604020202020204" pitchFamily="34" charset="0"/>
              <a:buNone/>
            </a:pPr>
            <a:r>
              <a:rPr lang="en-US" altLang="zh-CN" sz="1800" b="0" dirty="0"/>
              <a:t>  </a:t>
            </a:r>
            <a:r>
              <a:rPr lang="zh-CN" altLang="en-US" sz="1800" b="0" dirty="0"/>
              <a:t>C. 索引的数据保存在同一个表中                    </a:t>
            </a:r>
            <a:endParaRPr lang="zh-CN" altLang="en-US" sz="1800" b="0" dirty="0"/>
          </a:p>
          <a:p>
            <a:pPr marL="0" lvl="0" indent="0" eaLnBrk="1" hangingPunct="1">
              <a:lnSpc>
                <a:spcPct val="120000"/>
              </a:lnSpc>
              <a:spcBef>
                <a:spcPct val="0"/>
              </a:spcBef>
              <a:buClrTx/>
              <a:buSzTx/>
              <a:buFont typeface="Arial" panose="020B0604020202020204" pitchFamily="34" charset="0"/>
              <a:buNone/>
            </a:pPr>
            <a:r>
              <a:rPr lang="en-US" altLang="zh-CN" sz="1800" b="0" dirty="0"/>
              <a:t>  </a:t>
            </a:r>
            <a:r>
              <a:rPr lang="zh-CN" altLang="en-US" sz="1800" b="0" dirty="0"/>
              <a:t>D. 索引不会改变表中的数据</a:t>
            </a:r>
            <a:endParaRPr lang="zh-CN" altLang="en-US" sz="1800" b="0" dirty="0"/>
          </a:p>
        </p:txBody>
      </p:sp>
      <p:sp>
        <p:nvSpPr>
          <p:cNvPr id="2" name="文本框 1"/>
          <p:cNvSpPr txBox="1"/>
          <p:nvPr/>
        </p:nvSpPr>
        <p:spPr>
          <a:xfrm flipH="1">
            <a:off x="4184650" y="1082358"/>
            <a:ext cx="482600" cy="588963"/>
          </a:xfrm>
          <a:prstGeom prst="rect">
            <a:avLst/>
          </a:prstGeom>
          <a:noFill/>
        </p:spPr>
        <p:txBody>
          <a:bodyPr>
            <a:spAutoFit/>
          </a:bodyPr>
          <a:lstStyle/>
          <a:p>
            <a:pPr marR="0" defTabSz="914400" eaLnBrk="1" hangingPunct="1">
              <a:buClrTx/>
              <a:buSzTx/>
              <a:buFont typeface="Arial" panose="020B0604020202020204" pitchFamily="34" charset="0"/>
              <a:buNone/>
              <a:defRPr/>
            </a:pPr>
            <a:r>
              <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A</a:t>
            </a:r>
            <a:endPar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endParaRPr>
          </a:p>
        </p:txBody>
      </p:sp>
      <p:sp>
        <p:nvSpPr>
          <p:cNvPr id="3" name="文本框 2"/>
          <p:cNvSpPr txBox="1"/>
          <p:nvPr/>
        </p:nvSpPr>
        <p:spPr>
          <a:xfrm flipH="1">
            <a:off x="3009900" y="2626043"/>
            <a:ext cx="482600" cy="588963"/>
          </a:xfrm>
          <a:prstGeom prst="rect">
            <a:avLst/>
          </a:prstGeom>
          <a:noFill/>
        </p:spPr>
        <p:txBody>
          <a:bodyPr>
            <a:spAutoFit/>
          </a:bodyPr>
          <a:lstStyle/>
          <a:p>
            <a:pPr marR="0" defTabSz="914400" eaLnBrk="1" hangingPunct="1">
              <a:buClrTx/>
              <a:buSzTx/>
              <a:buFont typeface="Arial" panose="020B0604020202020204" pitchFamily="34" charset="0"/>
              <a:buNone/>
              <a:defRPr/>
            </a:pPr>
            <a:r>
              <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B </a:t>
            </a:r>
            <a:endPar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endParaRPr>
          </a:p>
        </p:txBody>
      </p:sp>
      <p:sp>
        <p:nvSpPr>
          <p:cNvPr id="4" name="文本框 3"/>
          <p:cNvSpPr txBox="1"/>
          <p:nvPr/>
        </p:nvSpPr>
        <p:spPr>
          <a:xfrm flipH="1">
            <a:off x="5400675" y="4305935"/>
            <a:ext cx="482600" cy="588963"/>
          </a:xfrm>
          <a:prstGeom prst="rect">
            <a:avLst/>
          </a:prstGeom>
          <a:noFill/>
        </p:spPr>
        <p:txBody>
          <a:bodyPr>
            <a:spAutoFit/>
          </a:bodyPr>
          <a:lstStyle/>
          <a:p>
            <a:pPr marR="0" defTabSz="914400" eaLnBrk="1" hangingPunct="1">
              <a:buClrTx/>
              <a:buSzTx/>
              <a:buFont typeface="Arial" panose="020B0604020202020204" pitchFamily="34" charset="0"/>
              <a:buNone/>
              <a:defRPr/>
            </a:pPr>
            <a:r>
              <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B </a:t>
            </a:r>
            <a:endPar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endParaRPr>
          </a:p>
        </p:txBody>
      </p:sp>
      <p:pic>
        <p:nvPicPr>
          <p:cNvPr id="5" name="图片 4"/>
          <p:cNvPicPr>
            <a:picLocks noChangeAspect="1"/>
          </p:cNvPicPr>
          <p:nvPr>
            <p:custDataLst>
              <p:tags r:id="rId1"/>
            </p:custDataLst>
          </p:nvPr>
        </p:nvPicPr>
        <p:blipFill>
          <a:blip r:embed="rId2"/>
          <a:stretch>
            <a:fillRect/>
          </a:stretch>
        </p:blipFill>
        <p:spPr>
          <a:xfrm>
            <a:off x="2147570" y="1386205"/>
            <a:ext cx="6451600" cy="4591050"/>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文本框 99"/>
          <p:cNvSpPr txBox="1"/>
          <p:nvPr/>
        </p:nvSpPr>
        <p:spPr>
          <a:xfrm>
            <a:off x="684213" y="3154363"/>
            <a:ext cx="7796213" cy="2000250"/>
          </a:xfrm>
          <a:prstGeom prst="rect">
            <a:avLst/>
          </a:prstGeom>
          <a:noFill/>
          <a:ln w="9525">
            <a:noFill/>
          </a:ln>
        </p:spPr>
        <p:txBody>
          <a:bodyPr>
            <a:spAutoFit/>
          </a:bodyPr>
          <a:lstStyle/>
          <a:p>
            <a:pPr marR="0" defTabSz="914400" eaLnBrk="1" hangingPunct="1">
              <a:buClrTx/>
              <a:buSzTx/>
              <a:buFont typeface="Arial" panose="020B0604020202020204" pitchFamily="34" charset="0"/>
              <a:buNone/>
              <a:defRPr/>
            </a:pPr>
            <a:r>
              <a:rPr kumimoji="0" lang="en-US" altLang="zh-CN" kern="1200" cap="none" spc="0" normalizeH="0" baseline="0" noProof="0" dirty="0">
                <a:solidFill>
                  <a:srgbClr val="4D4D4D"/>
                </a:solidFill>
                <a:latin typeface="Arial" panose="020B0604020202020204" pitchFamily="34" charset="0"/>
                <a:ea typeface="宋体" panose="02010600030101010101" pitchFamily="2" charset="-122"/>
                <a:cs typeface="+mn-ea"/>
              </a:rPr>
              <a:t>    </a:t>
            </a:r>
            <a:r>
              <a:rPr kumimoji="0" lang="zh-CN" kern="1200" cap="none" spc="0" normalizeH="0" baseline="0" noProof="0" dirty="0">
                <a:solidFill>
                  <a:srgbClr val="4D4D4D"/>
                </a:solidFill>
                <a:latin typeface="Arial" panose="020B0604020202020204" pitchFamily="34" charset="0"/>
                <a:ea typeface="宋体" panose="02010600030101010101" pitchFamily="2" charset="-122"/>
                <a:cs typeface="+mn-ea"/>
              </a:rPr>
              <a:t>（1）使用</a:t>
            </a:r>
            <a:r>
              <a:rPr kumimoji="0" lang="en-US" altLang="zh-CN" kern="1200" cap="none" spc="0" normalizeH="0" baseline="0" noProof="0" dirty="0">
                <a:solidFill>
                  <a:srgbClr val="4D4D4D"/>
                </a:solidFill>
                <a:latin typeface="Arial" panose="020B0604020202020204" pitchFamily="34" charset="0"/>
                <a:ea typeface="宋体" panose="02010600030101010101" pitchFamily="2" charset="-122"/>
                <a:cs typeface="+mn-ea"/>
              </a:rPr>
              <a:t>CREATE INDEX</a:t>
            </a:r>
            <a:r>
              <a:rPr kumimoji="0" lang="zh-CN" altLang="en-US" kern="1200" cap="none" spc="0" normalizeH="0" baseline="0" noProof="0" dirty="0">
                <a:solidFill>
                  <a:srgbClr val="4D4D4D"/>
                </a:solidFill>
                <a:latin typeface="Arial" panose="020B0604020202020204" pitchFamily="34" charset="0"/>
                <a:ea typeface="宋体" panose="02010600030101010101" pitchFamily="2" charset="-122"/>
                <a:cs typeface="+mn-ea"/>
              </a:rPr>
              <a:t>语句在</a:t>
            </a:r>
            <a:r>
              <a:rPr kumimoji="0" lang="en-US" altLang="zh-CN" kern="1200" cap="none" spc="0" normalizeH="0" baseline="0" noProof="0" dirty="0" err="1">
                <a:solidFill>
                  <a:srgbClr val="4D4D4D"/>
                </a:solidFill>
                <a:latin typeface="Arial" panose="020B0604020202020204" pitchFamily="34" charset="0"/>
                <a:ea typeface="宋体" panose="02010600030101010101" pitchFamily="2" charset="-122"/>
                <a:cs typeface="+mn-ea"/>
              </a:rPr>
              <a:t>W_id</a:t>
            </a:r>
            <a:r>
              <a:rPr kumimoji="0" lang="zh-CN" altLang="en-US" kern="1200" cap="none" spc="0" normalizeH="0" baseline="0" noProof="0" dirty="0">
                <a:solidFill>
                  <a:srgbClr val="4D4D4D"/>
                </a:solidFill>
                <a:latin typeface="Arial" panose="020B0604020202020204" pitchFamily="34" charset="0"/>
                <a:ea typeface="宋体" panose="02010600030101010101" pitchFamily="2" charset="-122"/>
                <a:cs typeface="+mn-ea"/>
              </a:rPr>
              <a:t>字段上名称为</a:t>
            </a:r>
            <a:r>
              <a:rPr kumimoji="0" lang="en-US" altLang="zh-CN" kern="1200" cap="none" spc="0" normalizeH="0" baseline="0" noProof="0" dirty="0">
                <a:latin typeface="Arial" panose="020B0604020202020204" pitchFamily="34" charset="0"/>
                <a:ea typeface="宋体" panose="02010600030101010101" pitchFamily="2" charset="-122"/>
                <a:cs typeface="+mn-cs"/>
                <a:sym typeface="+mn-ea"/>
              </a:rPr>
              <a:t> </a:t>
            </a:r>
            <a:r>
              <a:rPr kumimoji="0" lang="en-US" altLang="zh-CN" kern="1200" cap="none" spc="0" normalizeH="0" baseline="0" noProof="0" dirty="0" err="1">
                <a:latin typeface="Arial" panose="020B0604020202020204" pitchFamily="34" charset="0"/>
                <a:ea typeface="宋体" panose="02010600030101010101" pitchFamily="2" charset="-122"/>
                <a:cs typeface="+mn-cs"/>
                <a:sym typeface="+mn-ea"/>
              </a:rPr>
              <a:t>W_id_index</a:t>
            </a:r>
            <a:r>
              <a:rPr kumimoji="0" lang="zh-CN" altLang="en-US" kern="1200" cap="none" spc="0" normalizeH="0" baseline="0" noProof="0" dirty="0">
                <a:latin typeface="Arial" panose="020B0604020202020204" pitchFamily="34" charset="0"/>
                <a:ea typeface="宋体" panose="02010600030101010101" pitchFamily="2" charset="-122"/>
                <a:cs typeface="+mn-cs"/>
                <a:sym typeface="+mn-ea"/>
              </a:rPr>
              <a:t>的</a:t>
            </a:r>
            <a:r>
              <a:rPr kumimoji="0" lang="zh-CN" altLang="en-US" kern="1200" cap="none" spc="0" normalizeH="0" baseline="0" noProof="0" dirty="0">
                <a:solidFill>
                  <a:srgbClr val="4D4D4D"/>
                </a:solidFill>
                <a:latin typeface="Arial" panose="020B0604020202020204" pitchFamily="34" charset="0"/>
                <a:ea typeface="宋体" panose="02010600030101010101" pitchFamily="2" charset="-122"/>
                <a:cs typeface="+mn-ea"/>
              </a:rPr>
              <a:t>创建聚集索引，数据按</a:t>
            </a:r>
            <a:r>
              <a:rPr kumimoji="0" lang="en-US" altLang="zh-CN" kern="1200" cap="none" spc="0" normalizeH="0" baseline="0" noProof="0" dirty="0" err="1">
                <a:solidFill>
                  <a:srgbClr val="4D4D4D"/>
                </a:solidFill>
                <a:latin typeface="Arial" panose="020B0604020202020204" pitchFamily="34" charset="0"/>
                <a:ea typeface="宋体" panose="02010600030101010101" pitchFamily="2" charset="-122"/>
                <a:cs typeface="+mn-ea"/>
              </a:rPr>
              <a:t>w_id</a:t>
            </a:r>
            <a:r>
              <a:rPr kumimoji="0" lang="zh-CN" altLang="en-US" kern="1200" cap="none" spc="0" normalizeH="0" baseline="0" noProof="0" dirty="0">
                <a:solidFill>
                  <a:srgbClr val="4D4D4D"/>
                </a:solidFill>
                <a:latin typeface="Arial" panose="020B0604020202020204" pitchFamily="34" charset="0"/>
                <a:ea typeface="宋体" panose="02010600030101010101" pitchFamily="2" charset="-122"/>
                <a:cs typeface="+mn-ea"/>
              </a:rPr>
              <a:t>的值降序排列</a:t>
            </a:r>
            <a:endParaRPr kumimoji="0" lang="en-US" altLang="zh-CN" kern="1200" cap="none" spc="0" normalizeH="0" baseline="0" noProof="0" dirty="0">
              <a:solidFill>
                <a:srgbClr val="4D4D4D"/>
              </a:solidFill>
              <a:latin typeface="Arial" panose="020B0604020202020204" pitchFamily="34" charset="0"/>
              <a:ea typeface="宋体" panose="02010600030101010101" pitchFamily="2" charset="-122"/>
              <a:cs typeface="+mn-ea"/>
            </a:endParaRPr>
          </a:p>
          <a:p>
            <a:pPr marR="0" defTabSz="914400" eaLnBrk="1" hangingPunct="1">
              <a:buClrTx/>
              <a:buSzTx/>
              <a:buFont typeface="Arial" panose="020B0604020202020204" pitchFamily="34" charset="0"/>
              <a:buNone/>
              <a:defRPr/>
            </a:pPr>
            <a:endParaRPr kumimoji="0" lang="en-US" altLang="zh-CN" kern="1200" cap="none" spc="0" normalizeH="0" baseline="0" noProof="0" dirty="0">
              <a:solidFill>
                <a:srgbClr val="4D4D4D"/>
              </a:solidFill>
              <a:latin typeface="Arial" panose="020B0604020202020204" pitchFamily="34" charset="0"/>
              <a:ea typeface="宋体" panose="02010600030101010101" pitchFamily="2" charset="-122"/>
              <a:cs typeface="+mn-ea"/>
            </a:endParaRPr>
          </a:p>
          <a:p>
            <a:pPr marR="0" defTabSz="914400" eaLnBrk="1" hangingPunct="1">
              <a:buClrTx/>
              <a:buSzTx/>
              <a:buFont typeface="Arial" panose="020B0604020202020204" pitchFamily="34" charset="0"/>
              <a:buNone/>
              <a:defRPr/>
            </a:pPr>
            <a:endParaRPr kumimoji="0" lang="zh-CN" sz="800" b="0" kern="1200" cap="none" spc="0" normalizeH="0" baseline="0" noProof="0" dirty="0">
              <a:solidFill>
                <a:srgbClr val="4D4D4D"/>
              </a:solidFill>
              <a:latin typeface="Arial" panose="020B0604020202020204" pitchFamily="34" charset="0"/>
              <a:ea typeface="宋体" panose="02010600030101010101" pitchFamily="2" charset="-122"/>
              <a:cs typeface="+mn-cs"/>
            </a:endParaRPr>
          </a:p>
          <a:p>
            <a:pPr marR="0" defTabSz="914400" eaLnBrk="1" hangingPunct="1">
              <a:buClrTx/>
              <a:buSzTx/>
              <a:buFont typeface="Arial" panose="020B0604020202020204" pitchFamily="34" charset="0"/>
              <a:buNone/>
              <a:defRPr/>
            </a:pPr>
            <a:endParaRPr kumimoji="0" lang="zh-CN" sz="1200" kern="1200" cap="none" spc="0" normalizeH="0" baseline="0" noProof="0" dirty="0">
              <a:solidFill>
                <a:srgbClr val="4D4D4D"/>
              </a:solidFill>
              <a:latin typeface="Arial" panose="020B0604020202020204" pitchFamily="34" charset="0"/>
              <a:ea typeface="宋体" panose="02010600030101010101" pitchFamily="2" charset="-122"/>
              <a:cs typeface="+mn-cs"/>
            </a:endParaRPr>
          </a:p>
          <a:p>
            <a:pPr marR="0" defTabSz="914400" eaLnBrk="1" hangingPunct="1">
              <a:buClrTx/>
              <a:buSzTx/>
              <a:buFont typeface="Arial" panose="020B0604020202020204" pitchFamily="34" charset="0"/>
              <a:buNone/>
              <a:defRPr/>
            </a:pPr>
            <a:endParaRPr kumimoji="0" lang="zh-CN" sz="1200" kern="1200" cap="none" spc="0" normalizeH="0" baseline="0" noProof="0" dirty="0">
              <a:solidFill>
                <a:srgbClr val="4D4D4D"/>
              </a:solidFill>
              <a:latin typeface="Arial" panose="020B0604020202020204" pitchFamily="34" charset="0"/>
              <a:ea typeface="宋体" panose="02010600030101010101" pitchFamily="2" charset="-122"/>
              <a:cs typeface="+mn-cs"/>
            </a:endParaRPr>
          </a:p>
          <a:p>
            <a:pPr marR="0" defTabSz="914400" eaLnBrk="1" hangingPunct="1">
              <a:buClrTx/>
              <a:buSzTx/>
              <a:buFont typeface="Arial" panose="020B0604020202020204" pitchFamily="34" charset="0"/>
              <a:buNone/>
              <a:defRPr/>
            </a:pPr>
            <a:r>
              <a:rPr kumimoji="0" lang="zh-CN" kern="1200" cap="none" spc="0" normalizeH="0" baseline="0" noProof="0" dirty="0">
                <a:solidFill>
                  <a:srgbClr val="4D4D4D"/>
                </a:solidFill>
                <a:latin typeface="Arial" panose="020B0604020202020204" pitchFamily="34" charset="0"/>
                <a:ea typeface="宋体" panose="02010600030101010101" pitchFamily="2" charset="-122"/>
                <a:cs typeface="+mn-cs"/>
              </a:rPr>
              <a:t>     （</a:t>
            </a:r>
            <a:r>
              <a:rPr kumimoji="0" lang="en-US" altLang="zh-CN" kern="1200" cap="none" spc="0" normalizeH="0" baseline="0" noProof="0" dirty="0">
                <a:solidFill>
                  <a:srgbClr val="4D4D4D"/>
                </a:solidFill>
                <a:latin typeface="Arial" panose="020B0604020202020204" pitchFamily="34" charset="0"/>
                <a:ea typeface="宋体" panose="02010600030101010101" pitchFamily="2" charset="-122"/>
                <a:cs typeface="+mn-cs"/>
              </a:rPr>
              <a:t>2</a:t>
            </a:r>
            <a:r>
              <a:rPr kumimoji="0" lang="zh-CN" altLang="en-US" kern="1200" cap="none" spc="0" normalizeH="0" baseline="0" noProof="0" dirty="0">
                <a:solidFill>
                  <a:srgbClr val="4D4D4D"/>
                </a:solidFill>
                <a:latin typeface="Arial" panose="020B0604020202020204" pitchFamily="34" charset="0"/>
                <a:ea typeface="宋体" panose="02010600030101010101" pitchFamily="2" charset="-122"/>
                <a:cs typeface="+mn-cs"/>
              </a:rPr>
              <a:t>）</a:t>
            </a:r>
            <a:r>
              <a:rPr kumimoji="0" lang="zh-CN" kern="1200" cap="none" spc="0" normalizeH="0" baseline="0" noProof="0" dirty="0">
                <a:solidFill>
                  <a:srgbClr val="4D4D4D"/>
                </a:solidFill>
                <a:latin typeface="Arial" panose="020B0604020202020204" pitchFamily="34" charset="0"/>
                <a:ea typeface="宋体" panose="02010600030101010101" pitchFamily="2" charset="-122"/>
                <a:cs typeface="+mn-cs"/>
              </a:rPr>
              <a:t>使用CREATE INDEX 语句在w_</a:t>
            </a:r>
            <a:r>
              <a:rPr kumimoji="0" lang="en-US" altLang="zh-CN" kern="1200" cap="none" spc="0" normalizeH="0" baseline="0" noProof="0" dirty="0">
                <a:solidFill>
                  <a:srgbClr val="4D4D4D"/>
                </a:solidFill>
                <a:latin typeface="Arial" panose="020B0604020202020204" pitchFamily="34" charset="0"/>
                <a:ea typeface="宋体" panose="02010600030101010101" pitchFamily="2" charset="-122"/>
                <a:cs typeface="+mn-cs"/>
              </a:rPr>
              <a:t>name</a:t>
            </a:r>
            <a:r>
              <a:rPr kumimoji="0" lang="zh-CN" kern="1200" cap="none" spc="0" normalizeH="0" baseline="0" noProof="0" dirty="0">
                <a:solidFill>
                  <a:srgbClr val="4D4D4D"/>
                </a:solidFill>
                <a:latin typeface="Arial" panose="020B0604020202020204" pitchFamily="34" charset="0"/>
                <a:ea typeface="宋体" panose="02010600030101010101" pitchFamily="2" charset="-122"/>
                <a:cs typeface="+mn-cs"/>
              </a:rPr>
              <a:t>和</a:t>
            </a:r>
            <a:r>
              <a:rPr kumimoji="0" lang="en-US" kern="1200" cap="none" spc="0" normalizeH="0" baseline="0" noProof="0" dirty="0" err="1">
                <a:latin typeface="新宋体" panose="02010609030101010101" charset="-122"/>
                <a:ea typeface="宋体" panose="02010600030101010101" pitchFamily="2" charset="-122"/>
                <a:cs typeface="Times New Roman" panose="02020603050405020304" pitchFamily="2" charset="0"/>
                <a:sym typeface="+mn-ea"/>
              </a:rPr>
              <a:t>w_address</a:t>
            </a:r>
            <a:r>
              <a:rPr kumimoji="0" lang="zh-CN" kern="1200" cap="none" spc="0" normalizeH="0" baseline="0" noProof="0" dirty="0">
                <a:solidFill>
                  <a:srgbClr val="4D4D4D"/>
                </a:solidFill>
                <a:latin typeface="Arial" panose="020B0604020202020204" pitchFamily="34" charset="0"/>
                <a:ea typeface="宋体" panose="02010600030101010101" pitchFamily="2" charset="-122"/>
                <a:cs typeface="+mn-cs"/>
              </a:rPr>
              <a:t>字段上面建立名称为MultiIdx的组合索引</a:t>
            </a:r>
            <a:endParaRPr kumimoji="0" lang="zh-CN" altLang="en-US" sz="2000" kern="1200" cap="none" spc="0" normalizeH="0" baseline="0" noProof="0" dirty="0">
              <a:latin typeface="Arial" panose="020B0604020202020204" pitchFamily="34" charset="0"/>
              <a:ea typeface="宋体" panose="02010600030101010101" pitchFamily="2" charset="-122"/>
              <a:cs typeface="+mn-cs"/>
            </a:endParaRPr>
          </a:p>
        </p:txBody>
      </p:sp>
      <p:sp>
        <p:nvSpPr>
          <p:cNvPr id="58371" name="文本框 1"/>
          <p:cNvSpPr txBox="1"/>
          <p:nvPr/>
        </p:nvSpPr>
        <p:spPr>
          <a:xfrm>
            <a:off x="712788" y="1393825"/>
            <a:ext cx="4030662" cy="163036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solidFill>
                  <a:srgbClr val="0000FF"/>
                </a:solidFill>
                <a:latin typeface="新宋体" panose="02010609030101010101" charset="-122"/>
                <a:cs typeface="Times New Roman" panose="02020603050405020304" pitchFamily="2" charset="0"/>
                <a:sym typeface="+mn-ea"/>
              </a:rPr>
              <a:t>create</a:t>
            </a:r>
            <a:r>
              <a:rPr lang="en-US" altLang="zh-CN" dirty="0">
                <a:latin typeface="新宋体" panose="02010609030101010101" charset="-122"/>
                <a:cs typeface="Times New Roman" panose="02020603050405020304" pitchFamily="2" charset="0"/>
                <a:sym typeface="+mn-ea"/>
              </a:rPr>
              <a:t> </a:t>
            </a:r>
            <a:r>
              <a:rPr lang="en-US" altLang="zh-CN" dirty="0">
                <a:solidFill>
                  <a:srgbClr val="0000FF"/>
                </a:solidFill>
                <a:latin typeface="新宋体" panose="02010609030101010101" charset="-122"/>
                <a:cs typeface="Times New Roman" panose="02020603050405020304" pitchFamily="2" charset="0"/>
                <a:sym typeface="+mn-ea"/>
              </a:rPr>
              <a:t>table</a:t>
            </a:r>
            <a:r>
              <a:rPr lang="en-US" altLang="zh-CN" dirty="0">
                <a:latin typeface="新宋体" panose="02010609030101010101" charset="-122"/>
                <a:cs typeface="Times New Roman" panose="02020603050405020304" pitchFamily="2" charset="0"/>
                <a:sym typeface="+mn-ea"/>
              </a:rPr>
              <a:t> writers</a:t>
            </a:r>
            <a:r>
              <a:rPr lang="en-US" altLang="zh-CN" dirty="0">
                <a:solidFill>
                  <a:srgbClr val="808080"/>
                </a:solidFill>
                <a:latin typeface="新宋体" panose="02010609030101010101" charset="-122"/>
                <a:cs typeface="Times New Roman" panose="02020603050405020304" pitchFamily="2" charset="0"/>
                <a:sym typeface="+mn-ea"/>
              </a:rPr>
              <a:t>(</a:t>
            </a:r>
            <a:endParaRPr lang="en-US" altLang="zh-CN" dirty="0">
              <a:latin typeface="新宋体" panose="02010609030101010101" charset="-122"/>
              <a:cs typeface="Times New Roman" panose="02020603050405020304" pitchFamily="2" charset="0"/>
              <a:sym typeface="+mn-ea"/>
            </a:endParaRPr>
          </a:p>
          <a:p>
            <a:pPr marL="0" lvl="0" indent="0" eaLnBrk="1" hangingPunct="1">
              <a:spcBef>
                <a:spcPct val="0"/>
              </a:spcBef>
              <a:buClrTx/>
              <a:buSzTx/>
              <a:buFont typeface="Arial" panose="020B0604020202020204" pitchFamily="34" charset="0"/>
              <a:buNone/>
            </a:pPr>
            <a:r>
              <a:rPr lang="en-US" altLang="zh-CN" dirty="0">
                <a:latin typeface="新宋体" panose="02010609030101010101" charset="-122"/>
                <a:cs typeface="Times New Roman" panose="02020603050405020304" pitchFamily="2" charset="0"/>
                <a:sym typeface="+mn-ea"/>
              </a:rPr>
              <a:t>w_id char(6</a:t>
            </a:r>
            <a:r>
              <a:rPr lang="en-US" altLang="zh-CN" dirty="0">
                <a:solidFill>
                  <a:srgbClr val="808080"/>
                </a:solidFill>
                <a:latin typeface="新宋体" panose="02010609030101010101" charset="-122"/>
                <a:cs typeface="Times New Roman" panose="02020603050405020304" pitchFamily="2" charset="0"/>
                <a:sym typeface="+mn-ea"/>
              </a:rPr>
              <a:t>),</a:t>
            </a:r>
            <a:endParaRPr lang="en-US" altLang="zh-CN" dirty="0">
              <a:latin typeface="新宋体" panose="02010609030101010101" charset="-122"/>
              <a:cs typeface="Times New Roman" panose="02020603050405020304" pitchFamily="2" charset="0"/>
              <a:sym typeface="+mn-ea"/>
            </a:endParaRPr>
          </a:p>
          <a:p>
            <a:pPr marL="0" lvl="0" indent="0" eaLnBrk="1" hangingPunct="1">
              <a:spcBef>
                <a:spcPct val="0"/>
              </a:spcBef>
              <a:buClrTx/>
              <a:buSzTx/>
              <a:buFont typeface="Arial" panose="020B0604020202020204" pitchFamily="34" charset="0"/>
              <a:buNone/>
            </a:pPr>
            <a:r>
              <a:rPr lang="en-US" altLang="zh-CN" dirty="0">
                <a:latin typeface="新宋体" panose="02010609030101010101" charset="-122"/>
                <a:cs typeface="Times New Roman" panose="02020603050405020304" pitchFamily="2" charset="0"/>
                <a:sym typeface="+mn-ea"/>
              </a:rPr>
              <a:t>w_name </a:t>
            </a:r>
            <a:r>
              <a:rPr lang="en-US" altLang="zh-CN" dirty="0">
                <a:solidFill>
                  <a:srgbClr val="0000FF"/>
                </a:solidFill>
                <a:latin typeface="新宋体" panose="02010609030101010101" charset="-122"/>
                <a:cs typeface="Times New Roman" panose="02020603050405020304" pitchFamily="2" charset="0"/>
                <a:sym typeface="+mn-ea"/>
              </a:rPr>
              <a:t>varchar</a:t>
            </a:r>
            <a:r>
              <a:rPr lang="en-US" altLang="zh-CN" dirty="0">
                <a:solidFill>
                  <a:srgbClr val="808080"/>
                </a:solidFill>
                <a:latin typeface="新宋体" panose="02010609030101010101" charset="-122"/>
                <a:cs typeface="Times New Roman" panose="02020603050405020304" pitchFamily="2" charset="0"/>
                <a:sym typeface="+mn-ea"/>
              </a:rPr>
              <a:t>(</a:t>
            </a:r>
            <a:r>
              <a:rPr lang="en-US" altLang="zh-CN" dirty="0">
                <a:latin typeface="新宋体" panose="02010609030101010101" charset="-122"/>
                <a:cs typeface="Times New Roman" panose="02020603050405020304" pitchFamily="2" charset="0"/>
                <a:sym typeface="+mn-ea"/>
              </a:rPr>
              <a:t>255</a:t>
            </a:r>
            <a:r>
              <a:rPr lang="en-US" altLang="zh-CN" dirty="0">
                <a:solidFill>
                  <a:srgbClr val="808080"/>
                </a:solidFill>
                <a:latin typeface="新宋体" panose="02010609030101010101" charset="-122"/>
                <a:cs typeface="Times New Roman" panose="02020603050405020304" pitchFamily="2" charset="0"/>
                <a:sym typeface="+mn-ea"/>
              </a:rPr>
              <a:t>)</a:t>
            </a:r>
            <a:r>
              <a:rPr lang="en-US" altLang="zh-CN" dirty="0">
                <a:latin typeface="新宋体" panose="02010609030101010101" charset="-122"/>
                <a:cs typeface="Times New Roman" panose="02020603050405020304" pitchFamily="2" charset="0"/>
                <a:sym typeface="+mn-ea"/>
              </a:rPr>
              <a:t> </a:t>
            </a:r>
            <a:r>
              <a:rPr lang="en-US" altLang="zh-CN" dirty="0">
                <a:solidFill>
                  <a:srgbClr val="808080"/>
                </a:solidFill>
                <a:latin typeface="新宋体" panose="02010609030101010101" charset="-122"/>
                <a:cs typeface="Times New Roman" panose="02020603050405020304" pitchFamily="2" charset="0"/>
                <a:sym typeface="+mn-ea"/>
              </a:rPr>
              <a:t>not</a:t>
            </a:r>
            <a:r>
              <a:rPr lang="en-US" altLang="zh-CN" dirty="0">
                <a:latin typeface="新宋体" panose="02010609030101010101" charset="-122"/>
                <a:cs typeface="Times New Roman" panose="02020603050405020304" pitchFamily="2" charset="0"/>
                <a:sym typeface="+mn-ea"/>
              </a:rPr>
              <a:t> </a:t>
            </a:r>
            <a:r>
              <a:rPr lang="en-US" altLang="zh-CN" dirty="0">
                <a:solidFill>
                  <a:srgbClr val="808080"/>
                </a:solidFill>
                <a:latin typeface="新宋体" panose="02010609030101010101" charset="-122"/>
                <a:cs typeface="Times New Roman" panose="02020603050405020304" pitchFamily="2" charset="0"/>
                <a:sym typeface="+mn-ea"/>
              </a:rPr>
              <a:t>null</a:t>
            </a:r>
            <a:r>
              <a:rPr lang="en-US" altLang="zh-CN" dirty="0">
                <a:latin typeface="新宋体" panose="02010609030101010101" charset="-122"/>
                <a:cs typeface="Times New Roman" panose="02020603050405020304" pitchFamily="2" charset="0"/>
                <a:sym typeface="+mn-ea"/>
              </a:rPr>
              <a:t> </a:t>
            </a:r>
            <a:r>
              <a:rPr lang="en-US" altLang="zh-CN" dirty="0">
                <a:solidFill>
                  <a:srgbClr val="808080"/>
                </a:solidFill>
                <a:latin typeface="新宋体" panose="02010609030101010101" charset="-122"/>
                <a:cs typeface="Times New Roman" panose="02020603050405020304" pitchFamily="2" charset="0"/>
                <a:sym typeface="+mn-ea"/>
              </a:rPr>
              <a:t>,</a:t>
            </a:r>
            <a:endParaRPr lang="en-US" altLang="zh-CN" dirty="0">
              <a:latin typeface="新宋体" panose="02010609030101010101" charset="-122"/>
              <a:cs typeface="Times New Roman" panose="02020603050405020304" pitchFamily="2" charset="0"/>
              <a:sym typeface="+mn-ea"/>
            </a:endParaRPr>
          </a:p>
          <a:p>
            <a:pPr marL="0" lvl="0" indent="0" eaLnBrk="1" hangingPunct="1">
              <a:spcBef>
                <a:spcPct val="0"/>
              </a:spcBef>
              <a:buClrTx/>
              <a:buSzTx/>
              <a:buFont typeface="Arial" panose="020B0604020202020204" pitchFamily="34" charset="0"/>
              <a:buNone/>
            </a:pPr>
            <a:r>
              <a:rPr lang="en-US" altLang="zh-CN" dirty="0">
                <a:latin typeface="新宋体" panose="02010609030101010101" charset="-122"/>
                <a:cs typeface="Times New Roman" panose="02020603050405020304" pitchFamily="2" charset="0"/>
                <a:sym typeface="+mn-ea"/>
              </a:rPr>
              <a:t>w_address </a:t>
            </a:r>
            <a:r>
              <a:rPr lang="en-US" altLang="zh-CN" dirty="0">
                <a:solidFill>
                  <a:srgbClr val="0000FF"/>
                </a:solidFill>
                <a:latin typeface="新宋体" panose="02010609030101010101" charset="-122"/>
                <a:cs typeface="Times New Roman" panose="02020603050405020304" pitchFamily="2" charset="0"/>
                <a:sym typeface="+mn-ea"/>
              </a:rPr>
              <a:t>varchar</a:t>
            </a:r>
            <a:r>
              <a:rPr lang="en-US" altLang="zh-CN" dirty="0">
                <a:solidFill>
                  <a:srgbClr val="808080"/>
                </a:solidFill>
                <a:latin typeface="新宋体" panose="02010609030101010101" charset="-122"/>
                <a:cs typeface="Times New Roman" panose="02020603050405020304" pitchFamily="2" charset="0"/>
                <a:sym typeface="+mn-ea"/>
              </a:rPr>
              <a:t>(</a:t>
            </a:r>
            <a:r>
              <a:rPr lang="en-US" altLang="zh-CN" dirty="0">
                <a:latin typeface="新宋体" panose="02010609030101010101" charset="-122"/>
                <a:cs typeface="Times New Roman" panose="02020603050405020304" pitchFamily="2" charset="0"/>
                <a:sym typeface="+mn-ea"/>
              </a:rPr>
              <a:t>255</a:t>
            </a:r>
            <a:r>
              <a:rPr lang="en-US" altLang="zh-CN" dirty="0">
                <a:solidFill>
                  <a:srgbClr val="808080"/>
                </a:solidFill>
                <a:latin typeface="新宋体" panose="02010609030101010101" charset="-122"/>
                <a:cs typeface="Times New Roman" panose="02020603050405020304" pitchFamily="2" charset="0"/>
                <a:sym typeface="+mn-ea"/>
              </a:rPr>
              <a:t>)</a:t>
            </a:r>
            <a:r>
              <a:rPr lang="en-US" altLang="zh-CN" dirty="0">
                <a:latin typeface="新宋体" panose="02010609030101010101" charset="-122"/>
                <a:cs typeface="Times New Roman" panose="02020603050405020304" pitchFamily="2" charset="0"/>
                <a:sym typeface="+mn-ea"/>
              </a:rPr>
              <a:t> </a:t>
            </a:r>
            <a:r>
              <a:rPr lang="en-US" altLang="zh-CN" dirty="0">
                <a:solidFill>
                  <a:srgbClr val="808080"/>
                </a:solidFill>
                <a:latin typeface="新宋体" panose="02010609030101010101" charset="-122"/>
                <a:cs typeface="Times New Roman" panose="02020603050405020304" pitchFamily="2" charset="0"/>
                <a:sym typeface="+mn-ea"/>
              </a:rPr>
              <a:t>,</a:t>
            </a:r>
            <a:endParaRPr lang="en-US" altLang="zh-CN" dirty="0">
              <a:latin typeface="新宋体" panose="02010609030101010101" charset="-122"/>
              <a:cs typeface="Times New Roman" panose="02020603050405020304" pitchFamily="2" charset="0"/>
              <a:sym typeface="+mn-ea"/>
            </a:endParaRPr>
          </a:p>
          <a:p>
            <a:pPr marL="0" lvl="0" indent="0" eaLnBrk="1" hangingPunct="1">
              <a:spcBef>
                <a:spcPct val="0"/>
              </a:spcBef>
              <a:buClrTx/>
              <a:buSzTx/>
              <a:buFont typeface="Arial" panose="020B0604020202020204" pitchFamily="34" charset="0"/>
              <a:buNone/>
            </a:pPr>
            <a:r>
              <a:rPr lang="en-US" altLang="zh-CN" dirty="0">
                <a:latin typeface="新宋体" panose="02010609030101010101" charset="-122"/>
                <a:cs typeface="Times New Roman" panose="02020603050405020304" pitchFamily="2" charset="0"/>
                <a:sym typeface="+mn-ea"/>
              </a:rPr>
              <a:t>w_age </a:t>
            </a:r>
            <a:r>
              <a:rPr lang="en-US" altLang="zh-CN" dirty="0">
                <a:solidFill>
                  <a:srgbClr val="0000FF"/>
                </a:solidFill>
                <a:latin typeface="新宋体" panose="02010609030101010101" charset="-122"/>
                <a:cs typeface="Times New Roman" panose="02020603050405020304" pitchFamily="2" charset="0"/>
                <a:sym typeface="+mn-ea"/>
              </a:rPr>
              <a:t>char</a:t>
            </a:r>
            <a:r>
              <a:rPr lang="en-US" altLang="zh-CN" dirty="0">
                <a:solidFill>
                  <a:srgbClr val="808080"/>
                </a:solidFill>
                <a:latin typeface="新宋体" panose="02010609030101010101" charset="-122"/>
                <a:cs typeface="Times New Roman" panose="02020603050405020304" pitchFamily="2" charset="0"/>
                <a:sym typeface="+mn-ea"/>
              </a:rPr>
              <a:t>(</a:t>
            </a:r>
            <a:r>
              <a:rPr lang="en-US" altLang="zh-CN" dirty="0">
                <a:latin typeface="新宋体" panose="02010609030101010101" charset="-122"/>
                <a:cs typeface="Times New Roman" panose="02020603050405020304" pitchFamily="2" charset="0"/>
                <a:sym typeface="+mn-ea"/>
              </a:rPr>
              <a:t>2</a:t>
            </a:r>
            <a:r>
              <a:rPr lang="en-US" altLang="zh-CN" dirty="0">
                <a:solidFill>
                  <a:srgbClr val="808080"/>
                </a:solidFill>
                <a:latin typeface="新宋体" panose="02010609030101010101" charset="-122"/>
                <a:cs typeface="Times New Roman" panose="02020603050405020304" pitchFamily="2" charset="0"/>
                <a:sym typeface="+mn-ea"/>
              </a:rPr>
              <a:t>)</a:t>
            </a:r>
            <a:r>
              <a:rPr lang="en-US" altLang="zh-CN" dirty="0">
                <a:latin typeface="新宋体" panose="02010609030101010101" charset="-122"/>
                <a:cs typeface="Times New Roman" panose="02020603050405020304" pitchFamily="2" charset="0"/>
                <a:sym typeface="+mn-ea"/>
              </a:rPr>
              <a:t> </a:t>
            </a:r>
            <a:r>
              <a:rPr lang="en-US" altLang="zh-CN" dirty="0">
                <a:solidFill>
                  <a:srgbClr val="808080"/>
                </a:solidFill>
                <a:latin typeface="新宋体" panose="02010609030101010101" charset="-122"/>
                <a:cs typeface="Times New Roman" panose="02020603050405020304" pitchFamily="2" charset="0"/>
                <a:sym typeface="+mn-ea"/>
              </a:rPr>
              <a:t>not</a:t>
            </a:r>
            <a:r>
              <a:rPr lang="en-US" altLang="zh-CN" dirty="0">
                <a:latin typeface="新宋体" panose="02010609030101010101" charset="-122"/>
                <a:cs typeface="Times New Roman" panose="02020603050405020304" pitchFamily="2" charset="0"/>
                <a:sym typeface="+mn-ea"/>
              </a:rPr>
              <a:t> </a:t>
            </a:r>
            <a:r>
              <a:rPr lang="en-US" altLang="zh-CN" dirty="0">
                <a:solidFill>
                  <a:srgbClr val="808080"/>
                </a:solidFill>
                <a:latin typeface="新宋体" panose="02010609030101010101" charset="-122"/>
                <a:cs typeface="Times New Roman" panose="02020603050405020304" pitchFamily="2" charset="0"/>
                <a:sym typeface="+mn-ea"/>
              </a:rPr>
              <a:t>null)</a:t>
            </a:r>
            <a:endParaRPr lang="zh-CN" altLang="en-US" dirty="0"/>
          </a:p>
        </p:txBody>
      </p:sp>
      <p:sp>
        <p:nvSpPr>
          <p:cNvPr id="58372" name="文本框 2"/>
          <p:cNvSpPr txBox="1"/>
          <p:nvPr/>
        </p:nvSpPr>
        <p:spPr>
          <a:xfrm>
            <a:off x="466725" y="954088"/>
            <a:ext cx="3973513" cy="54768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200" dirty="0">
                <a:latin typeface="Calibri" panose="020F0502020204030204" pitchFamily="34" charset="0"/>
                <a:sym typeface="+mn-ea"/>
              </a:rPr>
              <a:t>4</a:t>
            </a:r>
            <a:r>
              <a:rPr lang="zh-CN" altLang="zh-CN" sz="2200" dirty="0">
                <a:latin typeface="Calibri" panose="020F0502020204030204" pitchFamily="34" charset="0"/>
                <a:sym typeface="+mn-ea"/>
              </a:rPr>
              <a:t>、设有作者表，其定义如下：</a:t>
            </a:r>
            <a:endParaRPr lang="zh-CN" altLang="zh-CN" sz="2200" dirty="0">
              <a:latin typeface="Calibri" panose="020F0502020204030204" pitchFamily="34" charset="0"/>
              <a:sym typeface="+mn-ea"/>
            </a:endParaRPr>
          </a:p>
        </p:txBody>
      </p:sp>
      <p:sp>
        <p:nvSpPr>
          <p:cNvPr id="4" name="文本框 3"/>
          <p:cNvSpPr txBox="1"/>
          <p:nvPr/>
        </p:nvSpPr>
        <p:spPr>
          <a:xfrm>
            <a:off x="1009650" y="3840163"/>
            <a:ext cx="7143750" cy="506413"/>
          </a:xfrm>
          <a:prstGeom prst="rect">
            <a:avLst/>
          </a:prstGeom>
          <a:noFill/>
        </p:spPr>
        <p:txBody>
          <a:bodyPr wrap="none">
            <a:spAutoFit/>
          </a:bodyPr>
          <a:lstStyle/>
          <a:p>
            <a:pPr marR="0" defTabSz="914400" eaLnBrk="1" hangingPunct="1">
              <a:buClrTx/>
              <a:buSzTx/>
              <a:buFont typeface="Arial" panose="020B0604020202020204" pitchFamily="34" charset="0"/>
              <a:buNone/>
              <a:defRPr/>
            </a:pPr>
            <a:r>
              <a:rPr kumimoji="0" lang="en-US" altLang="zh-CN" sz="2000" kern="1200" cap="none" spc="0" normalizeH="0" baseline="0" noProof="0" dirty="0">
                <a:solidFill>
                  <a:srgbClr val="FF0000"/>
                </a:solidFill>
                <a:latin typeface="Arial" panose="020B0604020202020204" pitchFamily="34" charset="0"/>
                <a:ea typeface="宋体" panose="02010600030101010101" pitchFamily="2" charset="-122"/>
                <a:cs typeface="+mn-cs"/>
              </a:rPr>
              <a:t>Create clustered index </a:t>
            </a:r>
            <a:r>
              <a:rPr kumimoji="0" lang="en-US" altLang="zh-CN" sz="2000" kern="1200" cap="none" spc="0" normalizeH="0" baseline="0" noProof="0" dirty="0" err="1">
                <a:solidFill>
                  <a:srgbClr val="FF0000"/>
                </a:solidFill>
                <a:latin typeface="Arial" panose="020B0604020202020204" pitchFamily="34" charset="0"/>
                <a:ea typeface="宋体" panose="02010600030101010101" pitchFamily="2" charset="-122"/>
                <a:cs typeface="+mn-cs"/>
              </a:rPr>
              <a:t>W_id_index</a:t>
            </a:r>
            <a:r>
              <a:rPr kumimoji="0" lang="en-US" altLang="zh-CN" sz="2000" kern="1200" cap="none" spc="0" normalizeH="0" baseline="0" noProof="0" dirty="0">
                <a:solidFill>
                  <a:srgbClr val="FF0000"/>
                </a:solidFill>
                <a:latin typeface="Arial" panose="020B0604020202020204" pitchFamily="34" charset="0"/>
                <a:ea typeface="宋体" panose="02010600030101010101" pitchFamily="2" charset="-122"/>
                <a:cs typeface="+mn-cs"/>
              </a:rPr>
              <a:t> on </a:t>
            </a:r>
            <a:r>
              <a:rPr kumimoji="0" lang="en-US" altLang="zh-CN" sz="2000" kern="1200" cap="none" spc="0" normalizeH="0" baseline="0" noProof="0" dirty="0">
                <a:solidFill>
                  <a:srgbClr val="FF0000"/>
                </a:solidFill>
                <a:latin typeface="Arial" panose="020B0604020202020204" pitchFamily="34" charset="0"/>
                <a:ea typeface="宋体" panose="02010600030101010101" pitchFamily="2" charset="-122"/>
                <a:cs typeface="+mn-ea"/>
                <a:sym typeface="+mn-ea"/>
              </a:rPr>
              <a:t>writers(</a:t>
            </a:r>
            <a:r>
              <a:rPr kumimoji="0" lang="en-US" altLang="zh-CN" sz="2000" kern="1200" cap="none" spc="0" normalizeH="0" baseline="0" noProof="0" dirty="0" err="1">
                <a:solidFill>
                  <a:srgbClr val="FF0000"/>
                </a:solidFill>
                <a:latin typeface="Arial" panose="020B0604020202020204" pitchFamily="34" charset="0"/>
                <a:ea typeface="宋体" panose="02010600030101010101" pitchFamily="2" charset="-122"/>
                <a:cs typeface="+mn-ea"/>
                <a:sym typeface="+mn-ea"/>
              </a:rPr>
              <a:t>w_id</a:t>
            </a:r>
            <a:r>
              <a:rPr kumimoji="0" lang="en-US" altLang="zh-CN" sz="2000" kern="1200" cap="none" spc="0" normalizeH="0" baseline="0" noProof="0" dirty="0">
                <a:solidFill>
                  <a:srgbClr val="FF0000"/>
                </a:solidFill>
                <a:latin typeface="Arial" panose="020B0604020202020204" pitchFamily="34" charset="0"/>
                <a:ea typeface="宋体" panose="02010600030101010101" pitchFamily="2" charset="-122"/>
                <a:cs typeface="+mn-ea"/>
                <a:sym typeface="+mn-ea"/>
              </a:rPr>
              <a:t> </a:t>
            </a:r>
            <a:r>
              <a:rPr kumimoji="0" lang="en-US" altLang="zh-CN" sz="2000" kern="1200" cap="none" spc="0" normalizeH="0" baseline="0" noProof="0" dirty="0" err="1">
                <a:solidFill>
                  <a:srgbClr val="FF0000"/>
                </a:solidFill>
                <a:latin typeface="Arial" panose="020B0604020202020204" pitchFamily="34" charset="0"/>
                <a:ea typeface="宋体" panose="02010600030101010101" pitchFamily="2" charset="-122"/>
                <a:cs typeface="+mn-ea"/>
                <a:sym typeface="+mn-ea"/>
              </a:rPr>
              <a:t>desc</a:t>
            </a:r>
            <a:r>
              <a:rPr kumimoji="0" lang="en-US" altLang="zh-CN" sz="2000" kern="1200" cap="none" spc="0" normalizeH="0" baseline="0" noProof="0" dirty="0">
                <a:solidFill>
                  <a:srgbClr val="FF0000"/>
                </a:solidFill>
                <a:latin typeface="Arial" panose="020B0604020202020204" pitchFamily="34" charset="0"/>
                <a:ea typeface="宋体" panose="02010600030101010101" pitchFamily="2" charset="-122"/>
                <a:cs typeface="+mn-ea"/>
                <a:sym typeface="+mn-ea"/>
              </a:rPr>
              <a:t>)</a:t>
            </a:r>
            <a:r>
              <a:rPr kumimoji="0" lang="en-US" altLang="zh-CN" sz="2000" kern="1200" cap="none" spc="0" normalizeH="0" baseline="0" noProof="0" dirty="0">
                <a:solidFill>
                  <a:srgbClr val="FF0000"/>
                </a:solidFill>
                <a:latin typeface="Arial" panose="020B0604020202020204" pitchFamily="34" charset="0"/>
                <a:ea typeface="宋体" panose="02010600030101010101" pitchFamily="2" charset="-122"/>
                <a:cs typeface="+mn-ea"/>
              </a:rPr>
              <a:t>  </a:t>
            </a:r>
            <a:endParaRPr kumimoji="0" lang="en-US" altLang="zh-CN" sz="2000" kern="1200" cap="none" spc="0" normalizeH="0" baseline="0" noProof="0" dirty="0">
              <a:solidFill>
                <a:srgbClr val="FF0000"/>
              </a:solidFill>
              <a:latin typeface="Arial" panose="020B0604020202020204" pitchFamily="34" charset="0"/>
              <a:ea typeface="宋体" panose="02010600030101010101" pitchFamily="2" charset="-122"/>
              <a:cs typeface="+mn-ea"/>
            </a:endParaRPr>
          </a:p>
        </p:txBody>
      </p:sp>
      <p:sp>
        <p:nvSpPr>
          <p:cNvPr id="45" name="文本框 44"/>
          <p:cNvSpPr txBox="1"/>
          <p:nvPr/>
        </p:nvSpPr>
        <p:spPr>
          <a:xfrm>
            <a:off x="377825" y="-26987"/>
            <a:ext cx="2681288" cy="828675"/>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问题研讨：</a:t>
            </a:r>
            <a:endParaRPr kumimoji="0" lang="zh-CN" altLang="en-US" sz="3200" kern="1200" cap="none" spc="0" normalizeH="0" baseline="0" noProof="0" dirty="0">
              <a:latin typeface="Arial" panose="020B0604020202020204" pitchFamily="34" charset="0"/>
              <a:ea typeface="宋体" panose="02010600030101010101" pitchFamily="2" charset="-122"/>
              <a:cs typeface="+mn-cs"/>
            </a:endParaRPr>
          </a:p>
        </p:txBody>
      </p:sp>
      <p:sp>
        <p:nvSpPr>
          <p:cNvPr id="5" name="文本框 4"/>
          <p:cNvSpPr txBox="1"/>
          <p:nvPr/>
        </p:nvSpPr>
        <p:spPr>
          <a:xfrm>
            <a:off x="1009650" y="5154613"/>
            <a:ext cx="6640513" cy="508000"/>
          </a:xfrm>
          <a:prstGeom prst="rect">
            <a:avLst/>
          </a:prstGeom>
          <a:noFill/>
        </p:spPr>
        <p:txBody>
          <a:bodyPr wrap="none">
            <a:spAutoFit/>
          </a:bodyPr>
          <a:lstStyle/>
          <a:p>
            <a:pPr marR="0" defTabSz="914400" eaLnBrk="1" hangingPunct="1">
              <a:buClrTx/>
              <a:buSzTx/>
              <a:buFont typeface="Arial" panose="020B0604020202020204" pitchFamily="34" charset="0"/>
              <a:buNone/>
              <a:defRPr/>
            </a:pPr>
            <a:r>
              <a:rPr kumimoji="0" lang="en-US" altLang="zh-CN" sz="2000" kern="1200" cap="none" spc="0" normalizeH="0" baseline="0" noProof="0" dirty="0">
                <a:solidFill>
                  <a:srgbClr val="FF0000"/>
                </a:solidFill>
                <a:latin typeface="Arial" panose="020B0604020202020204" pitchFamily="34" charset="0"/>
                <a:ea typeface="宋体" panose="02010600030101010101" pitchFamily="2" charset="-122"/>
                <a:cs typeface="+mn-cs"/>
              </a:rPr>
              <a:t>Create  index </a:t>
            </a:r>
            <a:r>
              <a:rPr kumimoji="0" lang="zh-CN" sz="2000" kern="1200" cap="none" spc="0" normalizeH="0" baseline="0" noProof="0" dirty="0">
                <a:solidFill>
                  <a:srgbClr val="FF0000"/>
                </a:solidFill>
                <a:latin typeface="Arial" panose="020B0604020202020204" pitchFamily="34" charset="0"/>
                <a:ea typeface="宋体" panose="02010600030101010101" pitchFamily="2" charset="-122"/>
                <a:cs typeface="+mn-cs"/>
                <a:sym typeface="+mn-ea"/>
              </a:rPr>
              <a:t>MultiIdx</a:t>
            </a:r>
            <a:r>
              <a:rPr kumimoji="0" lang="en-US" altLang="zh-CN" sz="2000" kern="1200" cap="none" spc="0" normalizeH="0" baseline="0" noProof="0" dirty="0">
                <a:solidFill>
                  <a:srgbClr val="FF0000"/>
                </a:solidFill>
                <a:latin typeface="Arial" panose="020B0604020202020204" pitchFamily="34" charset="0"/>
                <a:ea typeface="宋体" panose="02010600030101010101" pitchFamily="2" charset="-122"/>
                <a:cs typeface="+mn-cs"/>
              </a:rPr>
              <a:t> on </a:t>
            </a:r>
            <a:r>
              <a:rPr kumimoji="0" lang="zh-CN" sz="2000" kern="1200" cap="none" spc="0" normalizeH="0" baseline="0" noProof="0" dirty="0">
                <a:solidFill>
                  <a:srgbClr val="FF0000"/>
                </a:solidFill>
                <a:latin typeface="Arial" panose="020B0604020202020204" pitchFamily="34" charset="0"/>
                <a:ea typeface="宋体" panose="02010600030101010101" pitchFamily="2" charset="-122"/>
                <a:cs typeface="+mn-ea"/>
                <a:sym typeface="+mn-ea"/>
              </a:rPr>
              <a:t>writers(w_name,w_address)</a:t>
            </a:r>
            <a:r>
              <a:rPr kumimoji="0" lang="zh-CN" sz="2000" kern="1200" cap="none" spc="0" normalizeH="0" baseline="0" noProof="0" dirty="0">
                <a:solidFill>
                  <a:srgbClr val="FF0000"/>
                </a:solidFill>
                <a:latin typeface="Arial" panose="020B0604020202020204" pitchFamily="34" charset="0"/>
                <a:ea typeface="宋体" panose="02010600030101010101" pitchFamily="2" charset="-122"/>
                <a:cs typeface="+mn-ea"/>
              </a:rPr>
              <a:t>  </a:t>
            </a:r>
            <a:endParaRPr kumimoji="0" lang="zh-CN" sz="2000" kern="1200" cap="none" spc="0" normalizeH="0" baseline="0" noProof="0" dirty="0">
              <a:solidFill>
                <a:srgbClr val="FF0000"/>
              </a:solidFill>
              <a:latin typeface="Arial" panose="020B0604020202020204" pitchFamily="34" charset="0"/>
              <a:ea typeface="宋体" panose="02010600030101010101" pitchFamily="2" charset="-122"/>
              <a:cs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charRg st="0" end="54"/>
                                            </p:txEl>
                                          </p:spTgt>
                                        </p:tgtEl>
                                        <p:attrNameLst>
                                          <p:attrName>style.visibility</p:attrName>
                                        </p:attrNameLst>
                                      </p:cBhvr>
                                      <p:to>
                                        <p:strVal val="visible"/>
                                      </p:to>
                                    </p:set>
                                    <p:anim calcmode="lin" valueType="num">
                                      <p:cBhvr additive="base">
                                        <p:cTn id="13" dur="500" fill="hold"/>
                                        <p:tgtEl>
                                          <p:spTgt spid="5">
                                            <p:txEl>
                                              <p:charRg st="0" end="5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charRg st="0" end="5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3" name="Text Box 6"/>
          <p:cNvSpPr txBox="1"/>
          <p:nvPr/>
        </p:nvSpPr>
        <p:spPr>
          <a:xfrm>
            <a:off x="754063" y="1582738"/>
            <a:ext cx="8199437" cy="798512"/>
          </a:xfrm>
          <a:prstGeom prst="rect">
            <a:avLst/>
          </a:prstGeom>
          <a:noFill/>
          <a:ln w="9525">
            <a:noFill/>
          </a:ln>
        </p:spPr>
        <p:txBody>
          <a:bodyPr wrap="square" anchor="t" anchorCtr="0">
            <a:spAutoFit/>
          </a:bodyPr>
          <a:p>
            <a:pPr>
              <a:lnSpc>
                <a:spcPct val="115000"/>
              </a:lnSpc>
            </a:pPr>
            <a:r>
              <a:rPr lang="zh-CN" altLang="en-US" sz="4000" dirty="0">
                <a:solidFill>
                  <a:srgbClr val="006600"/>
                </a:solidFill>
                <a:latin typeface="Arial Black" panose="020B0A04020102020204" pitchFamily="34" charset="0"/>
                <a:ea typeface="黑体" panose="02010609060101010101" pitchFamily="1" charset="-122"/>
              </a:rPr>
              <a:t>知识点</a:t>
            </a:r>
            <a:r>
              <a:rPr lang="en-US" altLang="zh-CN" sz="4000" dirty="0">
                <a:solidFill>
                  <a:srgbClr val="006600"/>
                </a:solidFill>
                <a:latin typeface="Arial Black" panose="020B0A04020102020204" pitchFamily="34" charset="0"/>
                <a:ea typeface="黑体" panose="02010609060101010101" pitchFamily="1" charset="-122"/>
              </a:rPr>
              <a:t>4—</a:t>
            </a:r>
            <a:r>
              <a:rPr lang="zh-CN" altLang="en-US" sz="3800" dirty="0">
                <a:solidFill>
                  <a:srgbClr val="006600"/>
                </a:solidFill>
                <a:latin typeface="Arial Black" panose="020B0A04020102020204" pitchFamily="34" charset="0"/>
                <a:ea typeface="黑体" panose="02010609060101010101" pitchFamily="1" charset="-122"/>
              </a:rPr>
              <a:t>触发器</a:t>
            </a:r>
            <a:r>
              <a:rPr lang="zh-CN" altLang="en-US" sz="3800" dirty="0">
                <a:solidFill>
                  <a:srgbClr val="006600"/>
                </a:solidFill>
                <a:latin typeface="Times New Roman" panose="02020603050405020304" pitchFamily="2" charset="0"/>
                <a:ea typeface="楷体_GB2312" pitchFamily="1" charset="-122"/>
              </a:rPr>
              <a:t>对象的创建与修改</a:t>
            </a:r>
            <a:endParaRPr lang="zh-CN" altLang="en-US" sz="3800" dirty="0">
              <a:solidFill>
                <a:srgbClr val="006600"/>
              </a:solidFill>
              <a:latin typeface="Times New Roman" panose="02020603050405020304" pitchFamily="2" charset="0"/>
              <a:ea typeface="楷体_GB2312" pitchFamily="1" charset="-122"/>
            </a:endParaRPr>
          </a:p>
        </p:txBody>
      </p:sp>
      <p:sp>
        <p:nvSpPr>
          <p:cNvPr id="54274" name="矩形 2"/>
          <p:cNvSpPr/>
          <p:nvPr/>
        </p:nvSpPr>
        <p:spPr>
          <a:xfrm>
            <a:off x="974725" y="2998788"/>
            <a:ext cx="7194550" cy="522287"/>
          </a:xfrm>
          <a:prstGeom prst="rect">
            <a:avLst/>
          </a:prstGeom>
          <a:noFill/>
          <a:ln w="9525">
            <a:noFill/>
          </a:ln>
        </p:spPr>
        <p:txBody>
          <a:bodyPr wrap="square" anchor="t" anchorCtr="0">
            <a:spAutoFit/>
          </a:bodyPr>
          <a:p>
            <a:pPr algn="ctr"/>
            <a:r>
              <a:rPr lang="zh-CN" altLang="en-US" sz="2800" dirty="0">
                <a:solidFill>
                  <a:srgbClr val="FF0000"/>
                </a:solidFill>
                <a:latin typeface="Calibri" panose="020F0502020204030204" pitchFamily="34" charset="0"/>
                <a:ea typeface="宋体" panose="02010600030101010101" pitchFamily="2" charset="-122"/>
              </a:rPr>
              <a:t>（超星录播</a:t>
            </a:r>
            <a:r>
              <a:rPr lang="en-US" altLang="zh-CN" sz="2800" dirty="0">
                <a:solidFill>
                  <a:srgbClr val="FF0000"/>
                </a:solidFill>
                <a:latin typeface="Calibri" panose="020F0502020204030204" pitchFamily="34" charset="0"/>
                <a:ea typeface="宋体" panose="02010600030101010101" pitchFamily="2" charset="-122"/>
              </a:rPr>
              <a:t>4.1.3</a:t>
            </a:r>
            <a:r>
              <a:rPr lang="zh-CN" altLang="en-US" sz="2800" dirty="0">
                <a:solidFill>
                  <a:srgbClr val="FF0000"/>
                </a:solidFill>
                <a:latin typeface="Calibri" panose="020F0502020204030204" pitchFamily="34" charset="0"/>
                <a:ea typeface="宋体" panose="02010600030101010101" pitchFamily="2" charset="-122"/>
              </a:rPr>
              <a:t>节任务，教材第</a:t>
            </a:r>
            <a:r>
              <a:rPr lang="en-US" altLang="zh-CN" sz="2800" dirty="0">
                <a:solidFill>
                  <a:srgbClr val="FF0000"/>
                </a:solidFill>
                <a:latin typeface="Calibri" panose="020F0502020204030204" pitchFamily="34" charset="0"/>
                <a:ea typeface="宋体" panose="02010600030101010101" pitchFamily="2" charset="-122"/>
              </a:rPr>
              <a:t>3</a:t>
            </a:r>
            <a:r>
              <a:rPr lang="zh-CN" altLang="en-US" sz="2800" dirty="0">
                <a:solidFill>
                  <a:srgbClr val="FF0000"/>
                </a:solidFill>
                <a:latin typeface="Calibri" panose="020F0502020204030204" pitchFamily="34" charset="0"/>
                <a:ea typeface="宋体" panose="02010600030101010101" pitchFamily="2" charset="-122"/>
              </a:rPr>
              <a:t>章</a:t>
            </a:r>
            <a:r>
              <a:rPr lang="en-US" altLang="zh-CN" sz="2800" dirty="0">
                <a:solidFill>
                  <a:srgbClr val="FF0000"/>
                </a:solidFill>
                <a:latin typeface="Calibri" panose="020F0502020204030204" pitchFamily="34" charset="0"/>
                <a:ea typeface="宋体" panose="02010600030101010101" pitchFamily="2" charset="-122"/>
              </a:rPr>
              <a:t>p108-111</a:t>
            </a:r>
            <a:r>
              <a:rPr lang="zh-CN" altLang="en-US" sz="2800" dirty="0">
                <a:solidFill>
                  <a:srgbClr val="FF0000"/>
                </a:solidFill>
                <a:latin typeface="Calibri" panose="020F0502020204030204" pitchFamily="34" charset="0"/>
                <a:ea typeface="宋体" panose="02010600030101010101" pitchFamily="2" charset="-122"/>
              </a:rPr>
              <a:t>）</a:t>
            </a:r>
            <a:endParaRPr lang="en-US" altLang="zh-CN" sz="2800" dirty="0">
              <a:solidFill>
                <a:srgbClr val="FF0000"/>
              </a:solidFill>
              <a:latin typeface="Calibri" panose="020F0502020204030204" pitchFamily="34" charset="0"/>
              <a:ea typeface="宋体" panose="02010600030101010101" pitchFamily="2" charset="-122"/>
            </a:endParaRPr>
          </a:p>
        </p:txBody>
      </p:sp>
      <p:pic>
        <p:nvPicPr>
          <p:cNvPr id="54275" name="图片 3"/>
          <p:cNvPicPr>
            <a:picLocks noChangeAspect="1"/>
          </p:cNvPicPr>
          <p:nvPr/>
        </p:nvPicPr>
        <p:blipFill>
          <a:blip r:embed="rId1"/>
          <a:stretch>
            <a:fillRect/>
          </a:stretch>
        </p:blipFill>
        <p:spPr>
          <a:xfrm>
            <a:off x="838200" y="4167188"/>
            <a:ext cx="7727950" cy="1150937"/>
          </a:xfrm>
          <a:prstGeom prst="rect">
            <a:avLst/>
          </a:prstGeom>
          <a:noFill/>
          <a:ln w="9525">
            <a:noFill/>
          </a:ln>
        </p:spPr>
      </p:pic>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7" name="Rectangle 3"/>
          <p:cNvSpPr txBox="1"/>
          <p:nvPr/>
        </p:nvSpPr>
        <p:spPr>
          <a:xfrm>
            <a:off x="571500" y="1943100"/>
            <a:ext cx="8001000" cy="1182688"/>
          </a:xfrm>
          <a:prstGeom prst="rect">
            <a:avLst/>
          </a:prstGeom>
          <a:noFill/>
          <a:ln w="9525" cap="flat" cmpd="sng">
            <a:solidFill>
              <a:schemeClr val="accent1"/>
            </a:solidFill>
            <a:prstDash val="solid"/>
            <a:round/>
            <a:headEnd type="none" w="med" len="med"/>
            <a:tailEnd type="none" w="med" len="med"/>
          </a:ln>
        </p:spPr>
        <p:txBody>
          <a:bodyPr anchor="t" anchorCtr="0"/>
          <a:p>
            <a:pPr>
              <a:lnSpc>
                <a:spcPct val="110000"/>
              </a:lnSpc>
              <a:spcBef>
                <a:spcPts val="50"/>
              </a:spcBef>
              <a:buClr>
                <a:srgbClr val="0033CC"/>
              </a:buClr>
              <a:buSzPct val="120000"/>
            </a:pPr>
            <a:r>
              <a:rPr lang="zh-CN" altLang="en-US" sz="2200" dirty="0">
                <a:latin typeface="楷体" panose="02010609060101010101" pitchFamily="1" charset="-122"/>
                <a:ea typeface="楷体" panose="02010609060101010101" pitchFamily="1" charset="-122"/>
              </a:rPr>
              <a:t>数据库触发器是存储在数据库中、</a:t>
            </a:r>
            <a:r>
              <a:rPr lang="zh-CN" altLang="en-US" sz="2200" dirty="0">
                <a:solidFill>
                  <a:srgbClr val="FF0000"/>
                </a:solidFill>
                <a:latin typeface="楷体" panose="02010609060101010101" pitchFamily="1" charset="-122"/>
                <a:ea typeface="楷体" panose="02010609060101010101" pitchFamily="1" charset="-122"/>
              </a:rPr>
              <a:t>根据发生的事件而自动触发执行的一种存储子程序</a:t>
            </a:r>
            <a:r>
              <a:rPr lang="zh-CN" altLang="en-US" sz="2200" dirty="0">
                <a:latin typeface="楷体" panose="02010609060101010101" pitchFamily="1" charset="-122"/>
                <a:ea typeface="楷体" panose="02010609060101010101" pitchFamily="1" charset="-122"/>
              </a:rPr>
              <a:t>。</a:t>
            </a:r>
            <a:r>
              <a:rPr lang="zh-CN" altLang="en-US" sz="2200" dirty="0">
                <a:solidFill>
                  <a:srgbClr val="0033CC"/>
                </a:solidFill>
                <a:latin typeface="楷体" panose="02010609060101010101" pitchFamily="1" charset="-122"/>
                <a:ea typeface="楷体" panose="02010609060101010101" pitchFamily="1" charset="-122"/>
                <a:sym typeface="宋体" panose="02010600030101010101" pitchFamily="2" charset="-122"/>
              </a:rPr>
              <a:t>触发器是由一个事件来启动运行，即触发器是当某个事件发生时自动地隐式运行。</a:t>
            </a:r>
            <a:endParaRPr lang="zh-CN" altLang="en-US" sz="2200" dirty="0">
              <a:latin typeface="楷体" panose="02010609060101010101" pitchFamily="1" charset="-122"/>
              <a:ea typeface="楷体" panose="02010609060101010101" pitchFamily="1" charset="-122"/>
            </a:endParaRPr>
          </a:p>
        </p:txBody>
      </p:sp>
      <p:sp>
        <p:nvSpPr>
          <p:cNvPr id="4" name="矩形 2"/>
          <p:cNvSpPr/>
          <p:nvPr/>
        </p:nvSpPr>
        <p:spPr>
          <a:xfrm>
            <a:off x="371475" y="700405"/>
            <a:ext cx="8375650" cy="755650"/>
          </a:xfrm>
          <a:prstGeom prst="rect">
            <a:avLst/>
          </a:prstGeom>
          <a:noFill/>
          <a:ln w="9525">
            <a:noFill/>
          </a:ln>
        </p:spPr>
        <p:txBody>
          <a:bodyPr anchor="t">
            <a:spAutoFit/>
          </a:bodyPr>
          <a:p>
            <a:pPr algn="l" fontAlgn="base">
              <a:lnSpc>
                <a:spcPct val="135000"/>
              </a:lnSpc>
              <a:buClrTx/>
              <a:buSzTx/>
              <a:buFont typeface="Wingdings" panose="05000000000000000000" charset="0"/>
              <a:buChar char="p"/>
            </a:pPr>
            <a:r>
              <a:rPr lang="zh-CN" altLang="en-US" sz="3200" strike="noStrike" noProof="1" dirty="0">
                <a:gradFill>
                  <a:gsLst>
                    <a:gs pos="0">
                      <a:srgbClr val="E30000"/>
                    </a:gs>
                    <a:gs pos="100000">
                      <a:srgbClr val="760303"/>
                    </a:gs>
                  </a:gsLst>
                  <a:lin scaled="0"/>
                </a:gradFill>
                <a:latin typeface="黑体" panose="02010609060101010101" pitchFamily="1" charset="-122"/>
                <a:ea typeface="黑体" panose="02010609060101010101" pitchFamily="1" charset="-122"/>
                <a:cs typeface="+mn-cs"/>
              </a:rPr>
              <a:t>知识点：</a:t>
            </a:r>
            <a:r>
              <a:rPr lang="zh-CN" altLang="en-US" sz="2800" strike="noStrike" noProof="1" dirty="0">
                <a:solidFill>
                  <a:srgbClr val="0033CC"/>
                </a:solidFill>
                <a:latin typeface="黑体" panose="02010609060101010101" pitchFamily="1" charset="-122"/>
                <a:ea typeface="黑体" panose="02010609060101010101" pitchFamily="1" charset="-122"/>
                <a:cs typeface="+mn-ea"/>
              </a:rPr>
              <a:t>触发器</a:t>
            </a:r>
            <a:r>
              <a:rPr lang="zh-CN" altLang="en-US" sz="2800" strike="noStrike" noProof="1" dirty="0">
                <a:solidFill>
                  <a:srgbClr val="0033CC"/>
                </a:solidFill>
                <a:latin typeface="黑体" panose="02010609060101010101" pitchFamily="1" charset="-122"/>
                <a:ea typeface="黑体" panose="02010609060101010101" pitchFamily="1" charset="-122"/>
                <a:cs typeface="+mn-ea"/>
              </a:rPr>
              <a:t>的创建和修改</a:t>
            </a:r>
            <a:endParaRPr lang="zh-CN" altLang="en-US" sz="2800" strike="noStrike" noProof="1" dirty="0">
              <a:solidFill>
                <a:srgbClr val="0033CC"/>
              </a:solidFill>
              <a:latin typeface="黑体" panose="02010609060101010101" pitchFamily="1" charset="-122"/>
              <a:ea typeface="黑体" panose="02010609060101010101" pitchFamily="1" charset="-122"/>
              <a:cs typeface="+mn-ea"/>
            </a:endParaRPr>
          </a:p>
        </p:txBody>
      </p:sp>
      <p:sp>
        <p:nvSpPr>
          <p:cNvPr id="5" name="Rectangle 3"/>
          <p:cNvSpPr txBox="1"/>
          <p:nvPr/>
        </p:nvSpPr>
        <p:spPr>
          <a:xfrm>
            <a:off x="558800" y="3725863"/>
            <a:ext cx="8001000" cy="2344738"/>
          </a:xfrm>
          <a:prstGeom prst="rect">
            <a:avLst/>
          </a:prstGeom>
          <a:noFill/>
          <a:ln w="9525">
            <a:solidFill>
              <a:schemeClr val="accent1"/>
            </a:solidFill>
          </a:ln>
        </p:spPr>
        <p:txBody>
          <a:bodyPr anchor="t"/>
          <a:p>
            <a:pPr marL="342900" indent="-342900">
              <a:lnSpc>
                <a:spcPct val="110000"/>
              </a:lnSpc>
              <a:spcBef>
                <a:spcPts val="50"/>
              </a:spcBef>
              <a:spcAft>
                <a:spcPts val="0"/>
              </a:spcAft>
              <a:buClr>
                <a:srgbClr val="0033CC"/>
              </a:buClr>
              <a:buSzPct val="120000"/>
              <a:buFont typeface="Wingdings" panose="05000000000000000000" pitchFamily="2" charset="2"/>
              <a:buChar char="u"/>
            </a:pPr>
            <a:r>
              <a:rPr lang="zh-CN" altLang="en-US" sz="2200" noProof="1" dirty="0">
                <a:latin typeface="楷体" panose="02010609060101010101" pitchFamily="1" charset="-122"/>
                <a:ea typeface="楷体" panose="02010609060101010101" pitchFamily="1" charset="-122"/>
                <a:cs typeface="楷体" panose="02010609060101010101" pitchFamily="1" charset="-122"/>
              </a:rPr>
              <a:t>触发器可通过数据库中相关表实现级联更改，实现多个表之间数据的一致性和完整性。</a:t>
            </a:r>
            <a:endParaRPr lang="zh-CN" altLang="en-US" sz="2200" noProof="1" dirty="0">
              <a:latin typeface="楷体" panose="02010609060101010101" pitchFamily="1" charset="-122"/>
              <a:ea typeface="楷体" panose="02010609060101010101" pitchFamily="1" charset="-122"/>
              <a:cs typeface="楷体" panose="02010609060101010101" pitchFamily="1" charset="-122"/>
            </a:endParaRPr>
          </a:p>
          <a:p>
            <a:pPr marL="342900" indent="-342900">
              <a:lnSpc>
                <a:spcPct val="110000"/>
              </a:lnSpc>
              <a:spcBef>
                <a:spcPts val="50"/>
              </a:spcBef>
              <a:spcAft>
                <a:spcPts val="0"/>
              </a:spcAft>
              <a:buClr>
                <a:srgbClr val="0033CC"/>
              </a:buClr>
              <a:buSzPct val="120000"/>
              <a:buFont typeface="Wingdings" panose="05000000000000000000" pitchFamily="2" charset="2"/>
              <a:buChar char="u"/>
            </a:pPr>
            <a:r>
              <a:rPr lang="zh-CN" altLang="en-US" sz="2200" noProof="1" dirty="0">
                <a:latin typeface="楷体" panose="02010609060101010101" pitchFamily="1" charset="-122"/>
                <a:ea typeface="楷体" panose="02010609060101010101" pitchFamily="1" charset="-122"/>
                <a:cs typeface="楷体" panose="02010609060101010101" pitchFamily="1" charset="-122"/>
                <a:sym typeface="+mn-ea"/>
              </a:rPr>
              <a:t>触发器可以强制比用</a:t>
            </a:r>
            <a:r>
              <a:rPr lang="en-US" altLang="zh-CN" sz="2200" noProof="1" dirty="0">
                <a:latin typeface="楷体" panose="02010609060101010101" pitchFamily="1" charset="-122"/>
                <a:ea typeface="楷体" panose="02010609060101010101" pitchFamily="1" charset="-122"/>
                <a:cs typeface="楷体" panose="02010609060101010101" pitchFamily="1" charset="-122"/>
                <a:sym typeface="+mn-ea"/>
              </a:rPr>
              <a:t>CHECK</a:t>
            </a:r>
            <a:r>
              <a:rPr lang="zh-CN" altLang="en-US" sz="2200" noProof="1" dirty="0">
                <a:latin typeface="楷体" panose="02010609060101010101" pitchFamily="1" charset="-122"/>
                <a:ea typeface="楷体" panose="02010609060101010101" pitchFamily="1" charset="-122"/>
                <a:cs typeface="楷体" panose="02010609060101010101" pitchFamily="1" charset="-122"/>
                <a:sym typeface="+mn-ea"/>
              </a:rPr>
              <a:t>约束定义的约束更为复杂的约束。与</a:t>
            </a:r>
            <a:r>
              <a:rPr lang="en-US" altLang="zh-CN" sz="2200" noProof="1" dirty="0">
                <a:latin typeface="楷体" panose="02010609060101010101" pitchFamily="1" charset="-122"/>
                <a:ea typeface="楷体" panose="02010609060101010101" pitchFamily="1" charset="-122"/>
                <a:cs typeface="楷体" panose="02010609060101010101" pitchFamily="1" charset="-122"/>
                <a:sym typeface="+mn-ea"/>
              </a:rPr>
              <a:t>CHECK</a:t>
            </a:r>
            <a:r>
              <a:rPr lang="zh-CN" altLang="en-US" sz="2200" noProof="1" dirty="0">
                <a:latin typeface="楷体" panose="02010609060101010101" pitchFamily="1" charset="-122"/>
                <a:ea typeface="楷体" panose="02010609060101010101" pitchFamily="1" charset="-122"/>
                <a:cs typeface="楷体" panose="02010609060101010101" pitchFamily="1" charset="-122"/>
                <a:sym typeface="+mn-ea"/>
              </a:rPr>
              <a:t>约束不同，触发器可以引用其它表的中列。</a:t>
            </a:r>
            <a:endParaRPr lang="zh-CN" altLang="en-US" sz="2200" noProof="1" dirty="0">
              <a:latin typeface="楷体" panose="02010609060101010101" pitchFamily="1" charset="-122"/>
              <a:ea typeface="楷体" panose="02010609060101010101" pitchFamily="1" charset="-122"/>
              <a:cs typeface="楷体" panose="02010609060101010101" pitchFamily="1" charset="-122"/>
              <a:sym typeface="+mn-ea"/>
            </a:endParaRPr>
          </a:p>
          <a:p>
            <a:pPr marL="342900" indent="-342900">
              <a:lnSpc>
                <a:spcPct val="110000"/>
              </a:lnSpc>
              <a:spcBef>
                <a:spcPts val="50"/>
              </a:spcBef>
              <a:spcAft>
                <a:spcPts val="0"/>
              </a:spcAft>
              <a:buClr>
                <a:srgbClr val="0033CC"/>
              </a:buClr>
              <a:buSzPct val="120000"/>
              <a:buFont typeface="Wingdings" panose="05000000000000000000" pitchFamily="2" charset="2"/>
              <a:buChar char="u"/>
            </a:pPr>
            <a:r>
              <a:rPr lang="zh-CN" altLang="en-US" sz="2200" noProof="1" dirty="0">
                <a:latin typeface="楷体" panose="02010609060101010101" pitchFamily="1" charset="-122"/>
                <a:ea typeface="楷体" panose="02010609060101010101" pitchFamily="1" charset="-122"/>
                <a:cs typeface="楷体" panose="02010609060101010101" pitchFamily="1" charset="-122"/>
                <a:sym typeface="+mn-ea"/>
              </a:rPr>
              <a:t>触发器也可以评估数据修改前后的表状态，并根据其差异采取对策。</a:t>
            </a:r>
            <a:endParaRPr lang="zh-CN" altLang="en-US" sz="2200" noProof="1" dirty="0">
              <a:latin typeface="楷体" panose="02010609060101010101" pitchFamily="1" charset="-122"/>
              <a:ea typeface="楷体" panose="02010609060101010101" pitchFamily="1" charset="-122"/>
              <a:cs typeface="楷体" panose="02010609060101010101" pitchFamily="1" charset="-122"/>
            </a:endParaRPr>
          </a:p>
          <a:p>
            <a:pPr>
              <a:lnSpc>
                <a:spcPct val="110000"/>
              </a:lnSpc>
              <a:spcBef>
                <a:spcPts val="50"/>
              </a:spcBef>
              <a:spcAft>
                <a:spcPts val="0"/>
              </a:spcAft>
              <a:buClr>
                <a:srgbClr val="0033CC"/>
              </a:buClr>
              <a:buSzPct val="120000"/>
              <a:buFont typeface="Wingdings" panose="05000000000000000000" pitchFamily="2" charset="2"/>
              <a:buNone/>
            </a:pPr>
            <a:endParaRPr lang="zh-CN" altLang="en-US" sz="2200" noProof="1" dirty="0">
              <a:latin typeface="Arial" panose="020B0604020202020204" pitchFamily="34" charset="0"/>
              <a:ea typeface="宋体" panose="02010600030101010101" pitchFamily="2" charset="-122"/>
            </a:endParaRPr>
          </a:p>
          <a:p>
            <a:pPr marL="342900" indent="-342900">
              <a:lnSpc>
                <a:spcPct val="110000"/>
              </a:lnSpc>
              <a:spcBef>
                <a:spcPts val="50"/>
              </a:spcBef>
              <a:spcAft>
                <a:spcPts val="0"/>
              </a:spcAft>
              <a:buClr>
                <a:srgbClr val="0033CC"/>
              </a:buClr>
              <a:buSzPct val="120000"/>
              <a:buFont typeface="Wingdings" panose="05000000000000000000" pitchFamily="2" charset="2"/>
              <a:buChar char="u"/>
            </a:pPr>
            <a:endParaRPr lang="zh-CN" altLang="en-US" sz="2200" noProof="1" dirty="0">
              <a:latin typeface="Arial" panose="020B0604020202020204" pitchFamily="34" charset="0"/>
              <a:ea typeface="宋体" panose="02010600030101010101" pitchFamily="2" charset="-122"/>
            </a:endParaRPr>
          </a:p>
        </p:txBody>
      </p:sp>
      <p:sp>
        <p:nvSpPr>
          <p:cNvPr id="55300" name="文本框 8"/>
          <p:cNvSpPr txBox="1"/>
          <p:nvPr/>
        </p:nvSpPr>
        <p:spPr>
          <a:xfrm>
            <a:off x="605155" y="1423035"/>
            <a:ext cx="2261870" cy="499745"/>
          </a:xfrm>
          <a:prstGeom prst="rect">
            <a:avLst/>
          </a:prstGeom>
          <a:noFill/>
          <a:ln w="9525">
            <a:noFill/>
          </a:ln>
        </p:spPr>
        <p:txBody>
          <a:bodyPr wrap="none" anchor="t" anchorCtr="0">
            <a:noAutofit/>
          </a:bodyPr>
          <a:p>
            <a:pPr>
              <a:buFont typeface="Wingdings" panose="05000000000000000000" charset="0"/>
              <a:buChar char="Ø"/>
            </a:pPr>
            <a:r>
              <a:rPr lang="zh-CN" altLang="en-US" sz="2400" dirty="0">
                <a:solidFill>
                  <a:srgbClr val="CC3300"/>
                </a:solidFill>
                <a:latin typeface="宋体" panose="02010600030101010101" pitchFamily="2" charset="-122"/>
                <a:ea typeface="宋体" panose="02010600030101010101" pitchFamily="2" charset="-122"/>
                <a:sym typeface="宋体" panose="02010600030101010101" pitchFamily="2" charset="-122"/>
              </a:rPr>
              <a:t>触发器的概念</a:t>
            </a:r>
            <a:endParaRPr lang="zh-CN" altLang="en-US" sz="2400">
              <a:latin typeface="Arial" panose="020B0604020202020204" pitchFamily="34" charset="0"/>
              <a:ea typeface="宋体" panose="02010600030101010101" pitchFamily="2" charset="-122"/>
            </a:endParaRPr>
          </a:p>
        </p:txBody>
      </p:sp>
      <p:sp>
        <p:nvSpPr>
          <p:cNvPr id="10" name="文本框 9"/>
          <p:cNvSpPr txBox="1"/>
          <p:nvPr/>
        </p:nvSpPr>
        <p:spPr>
          <a:xfrm>
            <a:off x="558800" y="3223895"/>
            <a:ext cx="2935605" cy="528955"/>
          </a:xfrm>
          <a:prstGeom prst="rect">
            <a:avLst/>
          </a:prstGeom>
          <a:noFill/>
          <a:ln w="9525">
            <a:noFill/>
          </a:ln>
        </p:spPr>
        <p:txBody>
          <a:bodyPr wrap="square" anchor="t" anchorCtr="0">
            <a:noAutofit/>
          </a:bodyPr>
          <a:p>
            <a:pPr>
              <a:buFont typeface="Wingdings" panose="05000000000000000000" charset="0"/>
              <a:buChar char="Ø"/>
            </a:pPr>
            <a:r>
              <a:rPr lang="zh-CN" altLang="en-US" sz="2400" dirty="0">
                <a:solidFill>
                  <a:srgbClr val="CC3300"/>
                </a:solidFill>
                <a:latin typeface="宋体" panose="02010600030101010101" pitchFamily="2" charset="-122"/>
                <a:ea typeface="宋体" panose="02010600030101010101" pitchFamily="2" charset="-122"/>
                <a:sym typeface="宋体" panose="02010600030101010101" pitchFamily="2" charset="-122"/>
              </a:rPr>
              <a:t>触发器的用途</a:t>
            </a:r>
            <a:endParaRPr lang="zh-CN" altLang="en-US" sz="2400" dirty="0">
              <a:solidFill>
                <a:srgbClr val="CC3300"/>
              </a:solidFill>
              <a:latin typeface="宋体" panose="02010600030101010101" pitchFamily="2" charset="-122"/>
              <a:ea typeface="宋体" panose="02010600030101010101" pitchFamily="2" charset="-122"/>
              <a:sym typeface="宋体" panose="02010600030101010101" pitchFamily="2" charset="-122"/>
            </a:endParaRPr>
          </a:p>
        </p:txBody>
      </p:sp>
      <p:sp>
        <p:nvSpPr>
          <p:cNvPr id="55302" name="Rectangle 2"/>
          <p:cNvSpPr/>
          <p:nvPr/>
        </p:nvSpPr>
        <p:spPr>
          <a:xfrm>
            <a:off x="457200" y="85725"/>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ppt_x</p:attrName>
                                        </p:attrNameLst>
                                      </p:cBhvr>
                                      <p:tavLst>
                                        <p:tav tm="0">
                                          <p:val>
                                            <p:strVal val="#ppt_x"/>
                                          </p:val>
                                        </p:tav>
                                        <p:tav tm="100000">
                                          <p:val>
                                            <p:strVal val="#ppt_x"/>
                                          </p:val>
                                        </p:tav>
                                      </p:tavLst>
                                    </p:anim>
                                    <p:anim calcmode="lin" valueType="num">
                                      <p:cBhvr>
                                        <p:cTn id="8" dur="500" fill="hold"/>
                                        <p:tgtEl>
                                          <p:spTgt spid="1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500" fill="hold"/>
                                        <p:tgtEl>
                                          <p:spTgt spid="5"/>
                                        </p:tgtEl>
                                        <p:attrNameLst>
                                          <p:attrName>ppt_x</p:attrName>
                                        </p:attrNameLst>
                                      </p:cBhvr>
                                      <p:tavLst>
                                        <p:tav tm="0">
                                          <p:val>
                                            <p:strVal val="#ppt_x"/>
                                          </p:val>
                                        </p:tav>
                                        <p:tav tm="100000">
                                          <p:val>
                                            <p:strVal val="#ppt_x"/>
                                          </p:val>
                                        </p:tav>
                                      </p:tavLst>
                                    </p:anim>
                                    <p:anim calcmode="lin" valueType="num">
                                      <p:cBhvr>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5" grpId="0" bldLvl="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2"/>
          <p:cNvSpPr/>
          <p:nvPr/>
        </p:nvSpPr>
        <p:spPr>
          <a:xfrm>
            <a:off x="371475" y="700405"/>
            <a:ext cx="8375650" cy="755650"/>
          </a:xfrm>
          <a:prstGeom prst="rect">
            <a:avLst/>
          </a:prstGeom>
          <a:noFill/>
          <a:ln w="9525">
            <a:noFill/>
          </a:ln>
        </p:spPr>
        <p:txBody>
          <a:bodyPr anchor="t">
            <a:spAutoFit/>
          </a:bodyPr>
          <a:p>
            <a:pPr algn="l" fontAlgn="base">
              <a:lnSpc>
                <a:spcPct val="135000"/>
              </a:lnSpc>
              <a:buClrTx/>
              <a:buSzTx/>
              <a:buFont typeface="Wingdings" panose="05000000000000000000" charset="0"/>
              <a:buChar char="p"/>
            </a:pPr>
            <a:r>
              <a:rPr lang="zh-CN" altLang="en-US" sz="3200" strike="noStrike" noProof="1" dirty="0">
                <a:gradFill>
                  <a:gsLst>
                    <a:gs pos="0">
                      <a:srgbClr val="E30000"/>
                    </a:gs>
                    <a:gs pos="100000">
                      <a:srgbClr val="760303"/>
                    </a:gs>
                  </a:gsLst>
                  <a:lin scaled="0"/>
                </a:gradFill>
                <a:latin typeface="黑体" panose="02010609060101010101" pitchFamily="1" charset="-122"/>
                <a:ea typeface="黑体" panose="02010609060101010101" pitchFamily="1" charset="-122"/>
                <a:cs typeface="+mn-cs"/>
              </a:rPr>
              <a:t>知识点：</a:t>
            </a:r>
            <a:r>
              <a:rPr lang="zh-CN" altLang="en-US" sz="2800" strike="noStrike" noProof="1" dirty="0">
                <a:solidFill>
                  <a:srgbClr val="0033CC"/>
                </a:solidFill>
                <a:latin typeface="黑体" panose="02010609060101010101" pitchFamily="1" charset="-122"/>
                <a:ea typeface="黑体" panose="02010609060101010101" pitchFamily="1" charset="-122"/>
                <a:cs typeface="+mn-ea"/>
              </a:rPr>
              <a:t>触发器</a:t>
            </a:r>
            <a:r>
              <a:rPr lang="zh-CN" altLang="en-US" sz="2800" strike="noStrike" noProof="1" dirty="0">
                <a:solidFill>
                  <a:srgbClr val="0033CC"/>
                </a:solidFill>
                <a:latin typeface="黑体" panose="02010609060101010101" pitchFamily="1" charset="-122"/>
                <a:ea typeface="黑体" panose="02010609060101010101" pitchFamily="1" charset="-122"/>
                <a:cs typeface="+mn-ea"/>
              </a:rPr>
              <a:t>的创建和修改</a:t>
            </a:r>
            <a:endParaRPr lang="zh-CN" altLang="en-US" sz="2800" strike="noStrike" noProof="1" dirty="0">
              <a:solidFill>
                <a:srgbClr val="0033CC"/>
              </a:solidFill>
              <a:latin typeface="黑体" panose="02010609060101010101" pitchFamily="1" charset="-122"/>
              <a:ea typeface="黑体" panose="02010609060101010101" pitchFamily="1" charset="-122"/>
              <a:cs typeface="+mn-ea"/>
            </a:endParaRPr>
          </a:p>
        </p:txBody>
      </p:sp>
      <p:sp>
        <p:nvSpPr>
          <p:cNvPr id="76802" name="Rectangle 3"/>
          <p:cNvSpPr>
            <a:spLocks noGrp="1"/>
          </p:cNvSpPr>
          <p:nvPr/>
        </p:nvSpPr>
        <p:spPr>
          <a:xfrm>
            <a:off x="441325" y="1455738"/>
            <a:ext cx="8353425" cy="511175"/>
          </a:xfrm>
          <a:prstGeom prst="rect">
            <a:avLst/>
          </a:prstGeom>
          <a:noFill/>
          <a:ln w="9525">
            <a:noFill/>
          </a:ln>
        </p:spPr>
        <p:txBody>
          <a:bodyPr/>
          <a:p>
            <a:pPr marL="342900" lvl="0" indent="-342900" eaLnBrk="1" fontAlgn="base" hangingPunct="1">
              <a:lnSpc>
                <a:spcPct val="135000"/>
              </a:lnSpc>
              <a:spcBef>
                <a:spcPct val="20000"/>
              </a:spcBef>
              <a:buClr>
                <a:srgbClr val="C00000"/>
              </a:buClr>
              <a:buSzPct val="100000"/>
              <a:buFont typeface="Wingdings" panose="05000000000000000000" pitchFamily="2" charset="2"/>
              <a:buChar char="p"/>
            </a:pPr>
            <a:r>
              <a:rPr lang="zh-CN" altLang="en-US" sz="2200" strike="noStrike" noProof="1" dirty="0">
                <a:solidFill>
                  <a:srgbClr val="FF0000"/>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触发器触发时：</a:t>
            </a:r>
            <a:r>
              <a:rPr lang="zh-CN" altLang="en-US" sz="2000" strike="noStrike" noProof="1" dirty="0">
                <a:solidFill>
                  <a:srgbClr val="0033CC"/>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  </a:t>
            </a:r>
            <a:endParaRPr lang="zh-CN" altLang="en-US" sz="2000" strike="noStrike" noProof="1" dirty="0">
              <a:solidFill>
                <a:srgbClr val="0033CC"/>
              </a:solidFill>
              <a:effectLst>
                <a:outerShdw blurRad="38100" dist="38100" dir="2700000">
                  <a:srgbClr val="C0C0C0"/>
                </a:outerShdw>
              </a:effectLst>
              <a:latin typeface="Arial" panose="020B0604020202020204" pitchFamily="34" charset="0"/>
              <a:ea typeface="宋体" panose="02010600030101010101" pitchFamily="2" charset="-122"/>
              <a:sym typeface="Arial" panose="020B0604020202020204" pitchFamily="34" charset="0"/>
            </a:endParaRPr>
          </a:p>
        </p:txBody>
      </p:sp>
      <p:sp>
        <p:nvSpPr>
          <p:cNvPr id="3" name="Rectangle 3"/>
          <p:cNvSpPr>
            <a:spLocks noGrp="1"/>
          </p:cNvSpPr>
          <p:nvPr/>
        </p:nvSpPr>
        <p:spPr>
          <a:xfrm>
            <a:off x="568325" y="1997075"/>
            <a:ext cx="8178800" cy="1673225"/>
          </a:xfrm>
          <a:prstGeom prst="rect">
            <a:avLst/>
          </a:prstGeom>
          <a:noFill/>
          <a:ln w="9525">
            <a:noFill/>
          </a:ln>
        </p:spPr>
        <p:txBody>
          <a:bodyPr/>
          <a:p>
            <a:pPr marL="342900" lvl="0" indent="-342900" eaLnBrk="1" fontAlgn="base" hangingPunct="1">
              <a:lnSpc>
                <a:spcPct val="115000"/>
              </a:lnSpc>
              <a:spcBef>
                <a:spcPts val="20"/>
              </a:spcBef>
              <a:spcAft>
                <a:spcPts val="0"/>
              </a:spcAft>
              <a:buClr>
                <a:srgbClr val="0033CC"/>
              </a:buClr>
              <a:buSzPct val="80000"/>
              <a:buFont typeface="Wingdings" panose="05000000000000000000" charset="0"/>
              <a:buChar char="Ø"/>
            </a:pPr>
            <a:r>
              <a:rPr lang="zh-CN" altLang="en-US" sz="2200" strike="noStrike" noProof="1" dirty="0">
                <a:solidFill>
                  <a:srgbClr val="0033CC"/>
                </a:solidFill>
                <a:effectLst>
                  <a:outerShdw blurRad="38100" dist="38100" dir="2700000">
                    <a:srgbClr val="C0C0C0"/>
                  </a:outerShdw>
                </a:effectLst>
                <a:latin typeface="楷体" panose="02010609060101010101" pitchFamily="1" charset="-122"/>
                <a:ea typeface="楷体" panose="02010609060101010101" pitchFamily="1" charset="-122"/>
                <a:cs typeface="楷体" panose="02010609060101010101" pitchFamily="1" charset="-122"/>
                <a:sym typeface="Arial" panose="020B0604020202020204" pitchFamily="34" charset="0"/>
              </a:rPr>
              <a:t>系统自动在内存中创建</a:t>
            </a:r>
            <a:r>
              <a:rPr lang="en-US" altLang="zh-CN" sz="2200" strike="noStrike" noProof="1" dirty="0">
                <a:solidFill>
                  <a:srgbClr val="0033CC"/>
                </a:solidFill>
                <a:effectLst>
                  <a:outerShdw blurRad="38100" dist="38100" dir="2700000">
                    <a:srgbClr val="C0C0C0"/>
                  </a:outerShdw>
                </a:effectLst>
                <a:latin typeface="楷体" panose="02010609060101010101" pitchFamily="1" charset="-122"/>
                <a:ea typeface="楷体" panose="02010609060101010101" pitchFamily="1" charset="-122"/>
                <a:cs typeface="楷体" panose="02010609060101010101" pitchFamily="1" charset="-122"/>
                <a:sym typeface="Arial" panose="020B0604020202020204" pitchFamily="34" charset="0"/>
              </a:rPr>
              <a:t>Deleted</a:t>
            </a:r>
            <a:r>
              <a:rPr lang="zh-CN" altLang="en-US" sz="2200" strike="noStrike" noProof="1" dirty="0">
                <a:solidFill>
                  <a:srgbClr val="0033CC"/>
                </a:solidFill>
                <a:effectLst>
                  <a:outerShdw blurRad="38100" dist="38100" dir="2700000">
                    <a:srgbClr val="C0C0C0"/>
                  </a:outerShdw>
                </a:effectLst>
                <a:latin typeface="楷体" panose="02010609060101010101" pitchFamily="1" charset="-122"/>
                <a:ea typeface="楷体" panose="02010609060101010101" pitchFamily="1" charset="-122"/>
                <a:cs typeface="楷体" panose="02010609060101010101" pitchFamily="1" charset="-122"/>
                <a:sym typeface="Arial" panose="020B0604020202020204" pitchFamily="34" charset="0"/>
              </a:rPr>
              <a:t>表和</a:t>
            </a:r>
            <a:r>
              <a:rPr lang="en-US" altLang="zh-CN" sz="2200" strike="noStrike" noProof="1" dirty="0">
                <a:solidFill>
                  <a:srgbClr val="0033CC"/>
                </a:solidFill>
                <a:effectLst>
                  <a:outerShdw blurRad="38100" dist="38100" dir="2700000">
                    <a:srgbClr val="C0C0C0"/>
                  </a:outerShdw>
                </a:effectLst>
                <a:latin typeface="楷体" panose="02010609060101010101" pitchFamily="1" charset="-122"/>
                <a:ea typeface="楷体" panose="02010609060101010101" pitchFamily="1" charset="-122"/>
                <a:cs typeface="楷体" panose="02010609060101010101" pitchFamily="1" charset="-122"/>
                <a:sym typeface="Arial" panose="020B0604020202020204" pitchFamily="34" charset="0"/>
              </a:rPr>
              <a:t>inserted</a:t>
            </a:r>
            <a:r>
              <a:rPr lang="zh-CN" altLang="en-US" sz="2200" strike="noStrike" noProof="1" dirty="0">
                <a:solidFill>
                  <a:srgbClr val="0033CC"/>
                </a:solidFill>
                <a:effectLst>
                  <a:outerShdw blurRad="38100" dist="38100" dir="2700000">
                    <a:srgbClr val="C0C0C0"/>
                  </a:outerShdw>
                </a:effectLst>
                <a:latin typeface="楷体" panose="02010609060101010101" pitchFamily="1" charset="-122"/>
                <a:ea typeface="楷体" panose="02010609060101010101" pitchFamily="1" charset="-122"/>
                <a:cs typeface="楷体" panose="02010609060101010101" pitchFamily="1" charset="-122"/>
                <a:sym typeface="Arial" panose="020B0604020202020204" pitchFamily="34" charset="0"/>
              </a:rPr>
              <a:t>表，这两张表是逻辑表，不是存储在数据库中，而是存储在内存中</a:t>
            </a:r>
            <a:endParaRPr lang="zh-CN" altLang="en-US" sz="2200" strike="noStrike" noProof="1" dirty="0">
              <a:solidFill>
                <a:srgbClr val="0033CC"/>
              </a:solidFill>
              <a:effectLst>
                <a:outerShdw blurRad="38100" dist="38100" dir="2700000">
                  <a:srgbClr val="C0C0C0"/>
                </a:outerShdw>
              </a:effectLst>
              <a:latin typeface="楷体" panose="02010609060101010101" pitchFamily="1" charset="-122"/>
              <a:ea typeface="楷体" panose="02010609060101010101" pitchFamily="1" charset="-122"/>
              <a:cs typeface="楷体" panose="02010609060101010101" pitchFamily="1" charset="-122"/>
              <a:sym typeface="Arial" panose="020B0604020202020204" pitchFamily="34" charset="0"/>
            </a:endParaRPr>
          </a:p>
          <a:p>
            <a:pPr marL="342900" lvl="0" indent="-342900" eaLnBrk="1" fontAlgn="base" hangingPunct="1">
              <a:lnSpc>
                <a:spcPct val="115000"/>
              </a:lnSpc>
              <a:spcBef>
                <a:spcPts val="20"/>
              </a:spcBef>
              <a:spcAft>
                <a:spcPts val="0"/>
              </a:spcAft>
              <a:buClr>
                <a:srgbClr val="0033CC"/>
              </a:buClr>
              <a:buSzPct val="80000"/>
              <a:buFont typeface="Wingdings" panose="05000000000000000000" charset="0"/>
              <a:buChar char="Ø"/>
            </a:pPr>
            <a:r>
              <a:rPr lang="zh-CN" altLang="en-US" sz="2200" strike="noStrike" noProof="1" dirty="0">
                <a:solidFill>
                  <a:srgbClr val="0033CC"/>
                </a:solidFill>
                <a:effectLst>
                  <a:outerShdw blurRad="38100" dist="38100" dir="2700000">
                    <a:srgbClr val="C0C0C0"/>
                  </a:outerShdw>
                </a:effectLst>
                <a:latin typeface="楷体" panose="02010609060101010101" pitchFamily="1" charset="-122"/>
                <a:ea typeface="楷体" panose="02010609060101010101" pitchFamily="1" charset="-122"/>
                <a:cs typeface="楷体" panose="02010609060101010101" pitchFamily="1" charset="-122"/>
                <a:sym typeface="Arial" panose="020B0604020202020204" pitchFamily="34" charset="0"/>
              </a:rPr>
              <a:t>并且这两张表是由系统管理的，是只读，不允许修改；触发器执行完成后，自动删除。用户不能向这两张表中写入内容</a:t>
            </a:r>
            <a:r>
              <a:rPr lang="zh-CN" altLang="en-US" sz="2000" strike="noStrike" noProof="1" dirty="0">
                <a:solidFill>
                  <a:srgbClr val="0033CC"/>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a:t>
            </a:r>
            <a:r>
              <a:rPr lang="zh-CN" altLang="en-US" sz="2000" strike="noStrike" noProof="1" dirty="0">
                <a:solidFill>
                  <a:srgbClr val="0033CC"/>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  </a:t>
            </a:r>
            <a:endParaRPr lang="zh-CN" altLang="en-US" sz="2000" strike="noStrike" noProof="1" dirty="0">
              <a:solidFill>
                <a:srgbClr val="0033CC"/>
              </a:solidFill>
              <a:effectLst>
                <a:outerShdw blurRad="38100" dist="38100" dir="2700000">
                  <a:srgbClr val="C0C0C0"/>
                </a:outerShdw>
              </a:effectLst>
              <a:latin typeface="Arial" panose="020B0604020202020204" pitchFamily="34" charset="0"/>
              <a:ea typeface="宋体" panose="02010600030101010101" pitchFamily="2" charset="-122"/>
              <a:sym typeface="Arial" panose="020B0604020202020204" pitchFamily="34" charset="0"/>
            </a:endParaRPr>
          </a:p>
        </p:txBody>
      </p:sp>
      <p:pic>
        <p:nvPicPr>
          <p:cNvPr id="8" name="图片 7"/>
          <p:cNvPicPr>
            <a:picLocks noChangeAspect="1"/>
          </p:cNvPicPr>
          <p:nvPr/>
        </p:nvPicPr>
        <p:blipFill>
          <a:blip r:embed="rId1"/>
          <a:stretch>
            <a:fillRect/>
          </a:stretch>
        </p:blipFill>
        <p:spPr>
          <a:xfrm>
            <a:off x="576263" y="3871913"/>
            <a:ext cx="8081962" cy="2374900"/>
          </a:xfrm>
          <a:prstGeom prst="rect">
            <a:avLst/>
          </a:prstGeom>
          <a:noFill/>
          <a:ln w="9525">
            <a:noFill/>
          </a:ln>
        </p:spPr>
      </p:pic>
      <p:sp>
        <p:nvSpPr>
          <p:cNvPr id="56325" name="Rectangle 2"/>
          <p:cNvSpPr/>
          <p:nvPr/>
        </p:nvSpPr>
        <p:spPr>
          <a:xfrm>
            <a:off x="457200" y="85725"/>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6802"/>
                                        </p:tgtEl>
                                        <p:attrNameLst>
                                          <p:attrName>style.visibility</p:attrName>
                                        </p:attrNameLst>
                                      </p:cBhvr>
                                      <p:to>
                                        <p:strVal val="visible"/>
                                      </p:to>
                                    </p:set>
                                    <p:anim calcmode="lin" valueType="num">
                                      <p:cBhvr>
                                        <p:cTn id="7" dur="500" fill="hold"/>
                                        <p:tgtEl>
                                          <p:spTgt spid="76802"/>
                                        </p:tgtEl>
                                        <p:attrNameLst>
                                          <p:attrName>ppt_x</p:attrName>
                                        </p:attrNameLst>
                                      </p:cBhvr>
                                      <p:tavLst>
                                        <p:tav tm="0">
                                          <p:val>
                                            <p:strVal val="#ppt_x"/>
                                          </p:val>
                                        </p:tav>
                                        <p:tav tm="100000">
                                          <p:val>
                                            <p:strVal val="#ppt_x"/>
                                          </p:val>
                                        </p:tav>
                                      </p:tavLst>
                                    </p:anim>
                                    <p:anim calcmode="lin" valueType="num">
                                      <p:cBhvr>
                                        <p:cTn id="8" dur="500" fill="hold"/>
                                        <p:tgtEl>
                                          <p:spTgt spid="7680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p:cTn id="11" dur="500" fill="hold"/>
                                        <p:tgtEl>
                                          <p:spTgt spid="3"/>
                                        </p:tgtEl>
                                        <p:attrNameLst>
                                          <p:attrName>ppt_x</p:attrName>
                                        </p:attrNameLst>
                                      </p:cBhvr>
                                      <p:tavLst>
                                        <p:tav tm="0">
                                          <p:val>
                                            <p:strVal val="#ppt_x"/>
                                          </p:val>
                                        </p:tav>
                                        <p:tav tm="100000">
                                          <p:val>
                                            <p:strVal val="#ppt_x"/>
                                          </p:val>
                                        </p:tav>
                                      </p:tavLst>
                                    </p:anim>
                                    <p:anim calcmode="lin" valueType="num">
                                      <p:cBhvr>
                                        <p:cTn id="1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p:cTn id="17" dur="500" fill="hold"/>
                                        <p:tgtEl>
                                          <p:spTgt spid="8"/>
                                        </p:tgtEl>
                                        <p:attrNameLst>
                                          <p:attrName>ppt_x</p:attrName>
                                        </p:attrNameLst>
                                      </p:cBhvr>
                                      <p:tavLst>
                                        <p:tav tm="0">
                                          <p:val>
                                            <p:strVal val="#ppt_x"/>
                                          </p:val>
                                        </p:tav>
                                        <p:tav tm="100000">
                                          <p:val>
                                            <p:strVal val="#ppt_x"/>
                                          </p:val>
                                        </p:tav>
                                      </p:tavLst>
                                    </p:anim>
                                    <p:anim calcmode="lin" valueType="num">
                                      <p:cBhvr>
                                        <p:cTn id="1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2" grpId="0"/>
      <p:bldP spid="3"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Rectangle 3"/>
          <p:cNvSpPr>
            <a:spLocks noGrp="1"/>
          </p:cNvSpPr>
          <p:nvPr/>
        </p:nvSpPr>
        <p:spPr>
          <a:xfrm>
            <a:off x="579438" y="1393825"/>
            <a:ext cx="8353425" cy="511175"/>
          </a:xfrm>
          <a:prstGeom prst="rect">
            <a:avLst/>
          </a:prstGeom>
          <a:noFill/>
          <a:ln w="9525">
            <a:noFill/>
          </a:ln>
        </p:spPr>
        <p:txBody>
          <a:bodyPr/>
          <a:p>
            <a:pPr lvl="0" eaLnBrk="1" fontAlgn="base" hangingPunct="1">
              <a:lnSpc>
                <a:spcPct val="135000"/>
              </a:lnSpc>
              <a:spcBef>
                <a:spcPct val="20000"/>
              </a:spcBef>
              <a:buClr>
                <a:srgbClr val="C00000"/>
              </a:buClr>
              <a:buSzPct val="100000"/>
              <a:buFont typeface="Wingdings" panose="05000000000000000000" charset="0"/>
              <a:buNone/>
            </a:pPr>
            <a:r>
              <a:rPr lang="zh-CN" altLang="en-US" sz="2200" strike="noStrike" noProof="1" dirty="0">
                <a:solidFill>
                  <a:srgbClr val="FF0000"/>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创建触发器的语法：</a:t>
            </a:r>
            <a:r>
              <a:rPr lang="zh-CN" altLang="en-US" sz="2000" strike="noStrike" noProof="1" dirty="0">
                <a:solidFill>
                  <a:srgbClr val="0033CC"/>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  </a:t>
            </a:r>
            <a:endParaRPr lang="zh-CN" altLang="en-US" sz="2000" strike="noStrike" noProof="1" dirty="0">
              <a:solidFill>
                <a:srgbClr val="0033CC"/>
              </a:solidFill>
              <a:effectLst>
                <a:outerShdw blurRad="38100" dist="38100" dir="2700000">
                  <a:srgbClr val="C0C0C0"/>
                </a:outerShdw>
              </a:effectLst>
              <a:latin typeface="Arial" panose="020B0604020202020204" pitchFamily="34" charset="0"/>
              <a:ea typeface="宋体" panose="02010600030101010101" pitchFamily="2" charset="-122"/>
              <a:sym typeface="Arial" panose="020B0604020202020204" pitchFamily="34" charset="0"/>
            </a:endParaRPr>
          </a:p>
        </p:txBody>
      </p:sp>
      <p:pic>
        <p:nvPicPr>
          <p:cNvPr id="57346" name="图片 1"/>
          <p:cNvPicPr>
            <a:picLocks noChangeAspect="1"/>
          </p:cNvPicPr>
          <p:nvPr/>
        </p:nvPicPr>
        <p:blipFill>
          <a:blip r:embed="rId1"/>
          <a:stretch>
            <a:fillRect/>
          </a:stretch>
        </p:blipFill>
        <p:spPr>
          <a:xfrm>
            <a:off x="579755" y="2452370"/>
            <a:ext cx="7078663" cy="2890838"/>
          </a:xfrm>
          <a:prstGeom prst="rect">
            <a:avLst/>
          </a:prstGeom>
          <a:noFill/>
          <a:ln w="9525">
            <a:noFill/>
          </a:ln>
        </p:spPr>
      </p:pic>
      <p:sp>
        <p:nvSpPr>
          <p:cNvPr id="4" name="矩形 2"/>
          <p:cNvSpPr/>
          <p:nvPr/>
        </p:nvSpPr>
        <p:spPr>
          <a:xfrm>
            <a:off x="371475" y="700405"/>
            <a:ext cx="8375650" cy="755650"/>
          </a:xfrm>
          <a:prstGeom prst="rect">
            <a:avLst/>
          </a:prstGeom>
          <a:noFill/>
          <a:ln w="9525">
            <a:noFill/>
          </a:ln>
        </p:spPr>
        <p:txBody>
          <a:bodyPr anchor="t">
            <a:spAutoFit/>
          </a:bodyPr>
          <a:p>
            <a:pPr algn="l" fontAlgn="base">
              <a:lnSpc>
                <a:spcPct val="135000"/>
              </a:lnSpc>
              <a:buClrTx/>
              <a:buSzTx/>
              <a:buFont typeface="Wingdings" panose="05000000000000000000" charset="0"/>
              <a:buChar char="p"/>
            </a:pPr>
            <a:r>
              <a:rPr lang="zh-CN" altLang="en-US" sz="3200" strike="noStrike" noProof="1" dirty="0">
                <a:gradFill>
                  <a:gsLst>
                    <a:gs pos="0">
                      <a:srgbClr val="E30000"/>
                    </a:gs>
                    <a:gs pos="100000">
                      <a:srgbClr val="760303"/>
                    </a:gs>
                  </a:gsLst>
                  <a:lin scaled="0"/>
                </a:gradFill>
                <a:latin typeface="黑体" panose="02010609060101010101" pitchFamily="1" charset="-122"/>
                <a:ea typeface="黑体" panose="02010609060101010101" pitchFamily="1" charset="-122"/>
                <a:cs typeface="+mn-cs"/>
              </a:rPr>
              <a:t>知识点：</a:t>
            </a:r>
            <a:r>
              <a:rPr lang="zh-CN" altLang="en-US" sz="2800" strike="noStrike" noProof="1" dirty="0">
                <a:solidFill>
                  <a:srgbClr val="0033CC"/>
                </a:solidFill>
                <a:latin typeface="黑体" panose="02010609060101010101" pitchFamily="1" charset="-122"/>
                <a:ea typeface="黑体" panose="02010609060101010101" pitchFamily="1" charset="-122"/>
                <a:cs typeface="+mn-ea"/>
              </a:rPr>
              <a:t>触发器</a:t>
            </a:r>
            <a:r>
              <a:rPr lang="zh-CN" altLang="en-US" sz="2800" strike="noStrike" noProof="1" dirty="0">
                <a:solidFill>
                  <a:srgbClr val="0033CC"/>
                </a:solidFill>
                <a:latin typeface="黑体" panose="02010609060101010101" pitchFamily="1" charset="-122"/>
                <a:ea typeface="黑体" panose="02010609060101010101" pitchFamily="1" charset="-122"/>
                <a:cs typeface="+mn-ea"/>
              </a:rPr>
              <a:t>的创建和修改</a:t>
            </a:r>
            <a:endParaRPr lang="zh-CN" altLang="en-US" sz="2800" strike="noStrike" noProof="1" dirty="0">
              <a:solidFill>
                <a:srgbClr val="0033CC"/>
              </a:solidFill>
              <a:latin typeface="黑体" panose="02010609060101010101" pitchFamily="1" charset="-122"/>
              <a:ea typeface="黑体" panose="02010609060101010101" pitchFamily="1" charset="-122"/>
              <a:cs typeface="+mn-ea"/>
            </a:endParaRPr>
          </a:p>
        </p:txBody>
      </p:sp>
      <p:sp>
        <p:nvSpPr>
          <p:cNvPr id="57349"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5" name="AutoShape 8"/>
          <p:cNvSpPr/>
          <p:nvPr/>
        </p:nvSpPr>
        <p:spPr>
          <a:xfrm>
            <a:off x="4814570" y="1393825"/>
            <a:ext cx="3872230" cy="2115185"/>
          </a:xfrm>
          <a:prstGeom prst="wedgeRoundRectCallout">
            <a:avLst>
              <a:gd name="adj1" fmla="val -71798"/>
              <a:gd name="adj2" fmla="val 52461"/>
              <a:gd name="adj3" fmla="val 16667"/>
            </a:avLst>
          </a:prstGeom>
          <a:solidFill>
            <a:srgbClr val="CCFFFF"/>
          </a:solidFill>
          <a:ln w="9525" cap="flat" cmpd="sng">
            <a:solidFill>
              <a:schemeClr val="tx1"/>
            </a:solidFill>
            <a:prstDash val="solid"/>
            <a:miter/>
            <a:headEnd type="none" w="med" len="med"/>
            <a:tailEnd type="none" w="med" len="med"/>
          </a:ln>
        </p:spPr>
        <p:txBody>
          <a:bodyPr lIns="90000" tIns="46800" rIns="90000" bIns="46800" anchor="t" anchorCtr="0"/>
          <a:p>
            <a:r>
              <a:rPr lang="zh-CN" altLang="en-US" sz="1800">
                <a:sym typeface="+mn-ea"/>
              </a:rPr>
              <a:t>使用 WITH ENCRYPTION 选项创建触发器时，触发器的定义内容将被加密保存在系统表中，这使得未经授权的用户无法通过系统表查看或修改触发器的定义。这提高了触发器的安全性，特别是在需要保护触发器逻辑的敏感环境中。</a:t>
            </a:r>
            <a:endParaRPr lang="zh-CN" altLang="en-US" sz="1800" dirty="0">
              <a:latin typeface="宋体" panose="02010600030101010101" pitchFamily="2" charset="-122"/>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subTnLst>
                                    <p:set>
                                      <p:cBhvr override="childStyle">
                                        <p:cTn dur="1" fill="hold" display="0" masterRel="nextClick" afterEffect="1"/>
                                        <p:tgtEl>
                                          <p:spTgt spid="5"/>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605790" y="1313815"/>
            <a:ext cx="7932420" cy="5015865"/>
          </a:xfrm>
          <a:prstGeom prst="rect">
            <a:avLst/>
          </a:prstGeom>
          <a:noFill/>
        </p:spPr>
        <p:txBody>
          <a:bodyPr wrap="square" rtlCol="0" anchor="t">
            <a:spAutoFit/>
          </a:bodyPr>
          <a:p>
            <a:r>
              <a:rPr lang="zh-CN" altLang="en-US" sz="2000"/>
              <a:t>USE 学生管理</a:t>
            </a:r>
            <a:r>
              <a:rPr lang="en-US" altLang="zh-CN" sz="2000"/>
              <a:t> </a:t>
            </a:r>
            <a:endParaRPr lang="zh-CN" altLang="en-US" sz="2000"/>
          </a:p>
          <a:p>
            <a:r>
              <a:rPr lang="zh-CN" altLang="en-US" sz="2000"/>
              <a:t>GO</a:t>
            </a:r>
            <a:endParaRPr lang="zh-CN" altLang="en-US" sz="2000"/>
          </a:p>
          <a:p>
            <a:r>
              <a:rPr lang="zh-CN" altLang="en-US" sz="2000"/>
              <a:t>IF EXISTS(SELECT name FROM sysobjects Where</a:t>
            </a:r>
            <a:endParaRPr lang="zh-CN" altLang="en-US" sz="2000"/>
          </a:p>
          <a:p>
            <a:r>
              <a:rPr lang="zh-CN" altLang="en-US" sz="2000"/>
              <a:t> </a:t>
            </a:r>
            <a:r>
              <a:rPr lang="en-US" altLang="zh-CN" sz="2000"/>
              <a:t>              </a:t>
            </a:r>
            <a:r>
              <a:rPr lang="zh-CN" altLang="en-US" sz="2000"/>
              <a:t> </a:t>
            </a:r>
            <a:r>
              <a:rPr lang="en-US" altLang="zh-CN" sz="2000"/>
              <a:t>  </a:t>
            </a:r>
            <a:r>
              <a:rPr lang="zh-CN" altLang="en-US" sz="2000"/>
              <a:t>name='del_banji' and type='TR')</a:t>
            </a:r>
            <a:endParaRPr lang="zh-CN" altLang="en-US" sz="2000"/>
          </a:p>
          <a:p>
            <a:r>
              <a:rPr lang="zh-CN" altLang="en-US" sz="2000"/>
              <a:t>    DROP TRIGGER del_banji</a:t>
            </a:r>
            <a:endParaRPr lang="zh-CN" altLang="en-US" sz="2000"/>
          </a:p>
          <a:p>
            <a:r>
              <a:rPr lang="zh-CN" altLang="en-US" sz="2000"/>
              <a:t>GO</a:t>
            </a:r>
            <a:endParaRPr lang="zh-CN" altLang="en-US" sz="2000"/>
          </a:p>
          <a:p>
            <a:r>
              <a:rPr lang="zh-CN" altLang="en-US" sz="2000"/>
              <a:t>CREATE TRIGGER del_banji ON classes</a:t>
            </a:r>
            <a:r>
              <a:rPr lang="en-US" altLang="zh-CN" sz="2000"/>
              <a:t>  </a:t>
            </a:r>
            <a:r>
              <a:rPr lang="zh-CN" altLang="en-US" sz="2000"/>
              <a:t>for DELETE AS</a:t>
            </a:r>
            <a:endParaRPr lang="zh-CN" altLang="en-US" sz="2000"/>
          </a:p>
          <a:p>
            <a:r>
              <a:rPr lang="en-US" altLang="zh-CN" sz="2000"/>
              <a:t>   </a:t>
            </a:r>
            <a:r>
              <a:rPr lang="zh-CN" altLang="en-US" sz="2000"/>
              <a:t>DECLARE @banjidaima  char(9)</a:t>
            </a:r>
            <a:endParaRPr lang="zh-CN" altLang="en-US" sz="2000"/>
          </a:p>
          <a:p>
            <a:r>
              <a:rPr lang="en-US" altLang="zh-CN" sz="2000"/>
              <a:t>   </a:t>
            </a:r>
            <a:r>
              <a:rPr lang="zh-CN" altLang="en-US" sz="2000"/>
              <a:t>SELECT @banjidaima=Cnumber FROM Deleted </a:t>
            </a:r>
            <a:endParaRPr lang="zh-CN" altLang="en-US" sz="2000"/>
          </a:p>
          <a:p>
            <a:r>
              <a:rPr lang="en-US" altLang="zh-CN" sz="2000"/>
              <a:t>   </a:t>
            </a:r>
            <a:r>
              <a:rPr lang="zh-CN" altLang="en-US" sz="2000"/>
              <a:t>IF EXISTS(SELECT * FROM Students  where </a:t>
            </a:r>
            <a:endParaRPr lang="zh-CN" altLang="en-US" sz="2000"/>
          </a:p>
          <a:p>
            <a:r>
              <a:rPr lang="zh-CN" altLang="en-US" sz="2000"/>
              <a:t> </a:t>
            </a:r>
            <a:r>
              <a:rPr lang="en-US" altLang="zh-CN" sz="2000"/>
              <a:t>             </a:t>
            </a:r>
            <a:r>
              <a:rPr lang="zh-CN" altLang="en-US" sz="2000"/>
              <a:t>Cnumber=@banjidaima)</a:t>
            </a:r>
            <a:endParaRPr lang="zh-CN" altLang="en-US" sz="2000"/>
          </a:p>
          <a:p>
            <a:r>
              <a:rPr lang="en-US" altLang="zh-CN" sz="2000"/>
              <a:t>       </a:t>
            </a:r>
            <a:r>
              <a:rPr lang="zh-CN" altLang="en-US" sz="2000"/>
              <a:t>BEGIN</a:t>
            </a:r>
            <a:endParaRPr lang="zh-CN" altLang="en-US" sz="2000"/>
          </a:p>
          <a:p>
            <a:r>
              <a:rPr lang="en-US" altLang="zh-CN" sz="2000"/>
              <a:t>           </a:t>
            </a:r>
            <a:r>
              <a:rPr lang="zh-CN" altLang="en-US" sz="2000"/>
              <a:t>PRINT '班级正在使用，不能被删除！'</a:t>
            </a:r>
            <a:endParaRPr lang="zh-CN" altLang="en-US" sz="2000"/>
          </a:p>
          <a:p>
            <a:r>
              <a:rPr lang="en-US" altLang="zh-CN" sz="2000"/>
              <a:t>           </a:t>
            </a:r>
            <a:r>
              <a:rPr lang="zh-CN" altLang="en-US" sz="2000"/>
              <a:t>ROLLBACK TRANSACTION</a:t>
            </a:r>
            <a:endParaRPr lang="zh-CN" altLang="en-US" sz="2000"/>
          </a:p>
          <a:p>
            <a:r>
              <a:rPr lang="en-US" altLang="zh-CN" sz="2000"/>
              <a:t>   </a:t>
            </a:r>
            <a:r>
              <a:rPr lang="zh-CN" altLang="en-US" sz="2000"/>
              <a:t>END</a:t>
            </a:r>
            <a:endParaRPr lang="zh-CN" altLang="en-US" sz="2000"/>
          </a:p>
          <a:p>
            <a:r>
              <a:rPr lang="zh-CN" altLang="en-US" sz="2000"/>
              <a:t>GO</a:t>
            </a:r>
            <a:endParaRPr lang="zh-CN" altLang="en-US" sz="2000"/>
          </a:p>
        </p:txBody>
      </p:sp>
      <p:sp>
        <p:nvSpPr>
          <p:cNvPr id="4" name="矩形 2"/>
          <p:cNvSpPr/>
          <p:nvPr/>
        </p:nvSpPr>
        <p:spPr>
          <a:xfrm>
            <a:off x="210820" y="634365"/>
            <a:ext cx="8375650" cy="755650"/>
          </a:xfrm>
          <a:prstGeom prst="rect">
            <a:avLst/>
          </a:prstGeom>
          <a:noFill/>
          <a:ln w="9525">
            <a:noFill/>
          </a:ln>
        </p:spPr>
        <p:txBody>
          <a:bodyPr anchor="t">
            <a:spAutoFit/>
          </a:bodyPr>
          <a:p>
            <a:pPr algn="l" fontAlgn="base">
              <a:lnSpc>
                <a:spcPct val="135000"/>
              </a:lnSpc>
              <a:buClrTx/>
              <a:buSzTx/>
              <a:buFont typeface="Wingdings" panose="05000000000000000000" charset="0"/>
              <a:buChar char="p"/>
            </a:pPr>
            <a:r>
              <a:rPr lang="zh-CN" altLang="en-US" sz="3200" strike="noStrike" noProof="1" dirty="0">
                <a:gradFill>
                  <a:gsLst>
                    <a:gs pos="0">
                      <a:srgbClr val="E30000"/>
                    </a:gs>
                    <a:gs pos="100000">
                      <a:srgbClr val="760303"/>
                    </a:gs>
                  </a:gsLst>
                  <a:lin scaled="0"/>
                </a:gradFill>
                <a:latin typeface="黑体" panose="02010609060101010101" pitchFamily="1" charset="-122"/>
                <a:ea typeface="黑体" panose="02010609060101010101" pitchFamily="1" charset="-122"/>
                <a:cs typeface="+mn-cs"/>
              </a:rPr>
              <a:t>知识点：</a:t>
            </a:r>
            <a:r>
              <a:rPr lang="zh-CN" altLang="en-US" sz="2800" strike="noStrike" noProof="1" dirty="0">
                <a:solidFill>
                  <a:srgbClr val="0033CC"/>
                </a:solidFill>
                <a:latin typeface="黑体" panose="02010609060101010101" pitchFamily="1" charset="-122"/>
                <a:ea typeface="黑体" panose="02010609060101010101" pitchFamily="1" charset="-122"/>
                <a:cs typeface="+mn-ea"/>
              </a:rPr>
              <a:t>触发器</a:t>
            </a:r>
            <a:r>
              <a:rPr lang="zh-CN" altLang="en-US" sz="2800" strike="noStrike" noProof="1" dirty="0">
                <a:solidFill>
                  <a:srgbClr val="0033CC"/>
                </a:solidFill>
                <a:latin typeface="黑体" panose="02010609060101010101" pitchFamily="1" charset="-122"/>
                <a:ea typeface="黑体" panose="02010609060101010101" pitchFamily="1" charset="-122"/>
                <a:cs typeface="+mn-ea"/>
              </a:rPr>
              <a:t>的创建和修改</a:t>
            </a:r>
            <a:endParaRPr lang="zh-CN" altLang="en-US" sz="2800" strike="noStrike" noProof="1" dirty="0">
              <a:solidFill>
                <a:srgbClr val="0033CC"/>
              </a:solidFill>
              <a:latin typeface="黑体" panose="02010609060101010101" pitchFamily="1" charset="-122"/>
              <a:ea typeface="黑体" panose="02010609060101010101" pitchFamily="1" charset="-122"/>
              <a:cs typeface="+mn-ea"/>
            </a:endParaRPr>
          </a:p>
        </p:txBody>
      </p:sp>
      <p:sp>
        <p:nvSpPr>
          <p:cNvPr id="58380"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6" name="圆角矩形 5"/>
          <p:cNvSpPr/>
          <p:nvPr/>
        </p:nvSpPr>
        <p:spPr>
          <a:xfrm>
            <a:off x="568325" y="1973898"/>
            <a:ext cx="7239000" cy="1112838"/>
          </a:xfrm>
          <a:prstGeom prst="roundRect">
            <a:avLst/>
          </a:prstGeom>
          <a:solidFill>
            <a:schemeClr val="accent1">
              <a:alpha val="2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58371" name="文本框 2"/>
          <p:cNvSpPr txBox="1"/>
          <p:nvPr/>
        </p:nvSpPr>
        <p:spPr>
          <a:xfrm>
            <a:off x="5849938" y="1114425"/>
            <a:ext cx="3067050" cy="768350"/>
          </a:xfrm>
          <a:prstGeom prst="rect">
            <a:avLst/>
          </a:prstGeom>
          <a:solidFill>
            <a:schemeClr val="accent1"/>
          </a:solidFill>
          <a:ln w="9525">
            <a:noFill/>
          </a:ln>
        </p:spPr>
        <p:txBody>
          <a:bodyPr wrap="square" anchor="t" anchorCtr="0">
            <a:spAutoFit/>
          </a:bodyPr>
          <a:p>
            <a:pPr>
              <a:buSzTx/>
            </a:pPr>
            <a:r>
              <a:rPr lang="zh-CN" altLang="en-US" sz="2200">
                <a:solidFill>
                  <a:srgbClr val="FF0000"/>
                </a:solidFill>
                <a:latin typeface="Arial" panose="020B0604020202020204" pitchFamily="34" charset="0"/>
                <a:ea typeface="宋体" panose="02010600030101010101" pitchFamily="2" charset="-122"/>
              </a:rPr>
              <a:t>实例</a:t>
            </a:r>
            <a:r>
              <a:rPr lang="en-US" altLang="zh-CN" sz="2200">
                <a:solidFill>
                  <a:srgbClr val="FF0000"/>
                </a:solidFill>
                <a:latin typeface="Arial" panose="020B0604020202020204" pitchFamily="34" charset="0"/>
                <a:ea typeface="宋体" panose="02010600030101010101" pitchFamily="2" charset="-122"/>
              </a:rPr>
              <a:t>1—</a:t>
            </a:r>
            <a:r>
              <a:rPr lang="zh-CN" altLang="en-US" sz="2200">
                <a:solidFill>
                  <a:srgbClr val="FF0000"/>
                </a:solidFill>
                <a:latin typeface="Arial" panose="020B0604020202020204" pitchFamily="34" charset="0"/>
                <a:ea typeface="宋体" panose="02010600030101010101" pitchFamily="2" charset="-122"/>
              </a:rPr>
              <a:t>用触发器实现表间外键数据的完整性</a:t>
            </a:r>
            <a:endParaRPr lang="zh-CN" altLang="en-US" sz="2200">
              <a:solidFill>
                <a:srgbClr val="FF0000"/>
              </a:solidFill>
              <a:latin typeface="Arial" panose="020B0604020202020204" pitchFamily="34" charset="0"/>
              <a:ea typeface="宋体" panose="02010600030101010101" pitchFamily="2" charset="-122"/>
            </a:endParaRPr>
          </a:p>
        </p:txBody>
      </p:sp>
      <p:sp>
        <p:nvSpPr>
          <p:cNvPr id="3" name="圆角矩形标注 2"/>
          <p:cNvSpPr/>
          <p:nvPr/>
        </p:nvSpPr>
        <p:spPr>
          <a:xfrm>
            <a:off x="6073775" y="2054225"/>
            <a:ext cx="3001010" cy="934085"/>
          </a:xfrm>
          <a:prstGeom prst="wedgeRoundRectCallout">
            <a:avLst>
              <a:gd name="adj1" fmla="val -70545"/>
              <a:gd name="adj2" fmla="val -42517"/>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l">
              <a:lnSpc>
                <a:spcPct val="90000"/>
              </a:lnSpc>
              <a:buNone/>
            </a:pPr>
            <a:r>
              <a:rPr lang="zh-CN" altLang="en-US" sz="1600" strike="noStrike" noProof="1">
                <a:solidFill>
                  <a:srgbClr val="FF0000"/>
                </a:solidFill>
              </a:rPr>
              <a:t>sysobjects 是系统表之一，用于存储数据库中的对象信息，例如表、视图、存储过程、触发器等。</a:t>
            </a:r>
            <a:endParaRPr lang="zh-CN" altLang="en-US" sz="1600" strike="noStrike" noProof="1">
              <a:solidFill>
                <a:srgbClr val="FF0000"/>
              </a:solidFill>
            </a:endParaRPr>
          </a:p>
        </p:txBody>
      </p:sp>
      <p:sp>
        <p:nvSpPr>
          <p:cNvPr id="7" name="圆角矩形 6"/>
          <p:cNvSpPr/>
          <p:nvPr/>
        </p:nvSpPr>
        <p:spPr>
          <a:xfrm>
            <a:off x="561975" y="3164840"/>
            <a:ext cx="7240905" cy="3075940"/>
          </a:xfrm>
          <a:prstGeom prst="roundRect">
            <a:avLst>
              <a:gd name="adj" fmla="val 6763"/>
            </a:avLst>
          </a:prstGeom>
          <a:solidFill>
            <a:schemeClr val="accent1">
              <a:alpha val="2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cxnSp>
        <p:nvCxnSpPr>
          <p:cNvPr id="5" name="直接连接符 4"/>
          <p:cNvCxnSpPr/>
          <p:nvPr/>
        </p:nvCxnSpPr>
        <p:spPr>
          <a:xfrm flipV="1">
            <a:off x="971868" y="3791585"/>
            <a:ext cx="3360738" cy="9525"/>
          </a:xfrm>
          <a:prstGeom prst="line">
            <a:avLst/>
          </a:prstGeom>
          <a:ln>
            <a:solidFill>
              <a:srgbClr val="CC00FF"/>
            </a:solidFill>
          </a:ln>
        </p:spPr>
        <p:style>
          <a:lnRef idx="1">
            <a:schemeClr val="accent1"/>
          </a:lnRef>
          <a:fillRef idx="0">
            <a:schemeClr val="accent1"/>
          </a:fillRef>
          <a:effectRef idx="0">
            <a:schemeClr val="accent1"/>
          </a:effectRef>
          <a:fontRef idx="minor">
            <a:schemeClr val="tx1"/>
          </a:fontRef>
        </p:style>
      </p:cxnSp>
      <p:sp>
        <p:nvSpPr>
          <p:cNvPr id="8" name="圆角矩形标注 7"/>
          <p:cNvSpPr/>
          <p:nvPr/>
        </p:nvSpPr>
        <p:spPr>
          <a:xfrm>
            <a:off x="6373495" y="3801110"/>
            <a:ext cx="2020888" cy="406400"/>
          </a:xfrm>
          <a:prstGeom prst="wedgeRoundRectCallout">
            <a:avLst>
              <a:gd name="adj1" fmla="val -157996"/>
              <a:gd name="adj2" fmla="val -57343"/>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buNone/>
            </a:pPr>
            <a:r>
              <a:rPr lang="zh-CN" altLang="en-US" strike="noStrike" noProof="1">
                <a:solidFill>
                  <a:srgbClr val="FF0000"/>
                </a:solidFill>
              </a:rPr>
              <a:t>定义用户</a:t>
            </a:r>
            <a:r>
              <a:rPr lang="zh-CN" altLang="en-US" strike="noStrike" noProof="1">
                <a:solidFill>
                  <a:srgbClr val="FF0000"/>
                </a:solidFill>
              </a:rPr>
              <a:t>变量</a:t>
            </a:r>
            <a:endParaRPr lang="zh-CN" altLang="en-US" strike="noStrike" noProof="1">
              <a:solidFill>
                <a:srgbClr val="FF0000"/>
              </a:solidFill>
            </a:endParaRPr>
          </a:p>
        </p:txBody>
      </p:sp>
      <p:cxnSp>
        <p:nvCxnSpPr>
          <p:cNvPr id="14" name="直接连接符 13"/>
          <p:cNvCxnSpPr/>
          <p:nvPr/>
        </p:nvCxnSpPr>
        <p:spPr>
          <a:xfrm flipV="1">
            <a:off x="2102168" y="4112578"/>
            <a:ext cx="2527300" cy="0"/>
          </a:xfrm>
          <a:prstGeom prst="line">
            <a:avLst/>
          </a:prstGeom>
          <a:ln>
            <a:solidFill>
              <a:srgbClr val="CC00FF"/>
            </a:solidFill>
          </a:ln>
        </p:spPr>
        <p:style>
          <a:lnRef idx="1">
            <a:schemeClr val="accent1"/>
          </a:lnRef>
          <a:fillRef idx="0">
            <a:schemeClr val="accent1"/>
          </a:fillRef>
          <a:effectRef idx="0">
            <a:schemeClr val="accent1"/>
          </a:effectRef>
          <a:fontRef idx="minor">
            <a:schemeClr val="tx1"/>
          </a:fontRef>
        </p:style>
      </p:cxnSp>
      <p:sp>
        <p:nvSpPr>
          <p:cNvPr id="15" name="圆角矩形标注 14"/>
          <p:cNvSpPr/>
          <p:nvPr/>
        </p:nvSpPr>
        <p:spPr>
          <a:xfrm>
            <a:off x="6216650" y="4538028"/>
            <a:ext cx="2020888" cy="406400"/>
          </a:xfrm>
          <a:prstGeom prst="wedgeRoundRectCallout">
            <a:avLst>
              <a:gd name="adj1" fmla="val -136975"/>
              <a:gd name="adj2" fmla="val -155078"/>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buNone/>
            </a:pPr>
            <a:r>
              <a:rPr lang="zh-CN" altLang="en-US" strike="noStrike" noProof="1">
                <a:solidFill>
                  <a:srgbClr val="FF0000"/>
                </a:solidFill>
              </a:rPr>
              <a:t>用户变量赋值</a:t>
            </a:r>
            <a:endParaRPr lang="zh-CN" altLang="en-US" strike="noStrike" noProof="1">
              <a:solidFill>
                <a:srgbClr val="FF0000"/>
              </a:solidFill>
            </a:endParaRPr>
          </a:p>
        </p:txBody>
      </p:sp>
      <p:cxnSp>
        <p:nvCxnSpPr>
          <p:cNvPr id="16" name="直接连接符 15"/>
          <p:cNvCxnSpPr/>
          <p:nvPr/>
        </p:nvCxnSpPr>
        <p:spPr>
          <a:xfrm flipV="1">
            <a:off x="2335213" y="4700905"/>
            <a:ext cx="1525588" cy="3175"/>
          </a:xfrm>
          <a:prstGeom prst="line">
            <a:avLst/>
          </a:prstGeom>
          <a:ln>
            <a:solidFill>
              <a:srgbClr val="CC00FF"/>
            </a:solidFill>
          </a:ln>
        </p:spPr>
        <p:style>
          <a:lnRef idx="1">
            <a:schemeClr val="accent1"/>
          </a:lnRef>
          <a:fillRef idx="0">
            <a:schemeClr val="accent1"/>
          </a:fillRef>
          <a:effectRef idx="0">
            <a:schemeClr val="accent1"/>
          </a:effectRef>
          <a:fontRef idx="minor">
            <a:schemeClr val="tx1"/>
          </a:fontRef>
        </p:style>
      </p:cxnSp>
      <p:sp>
        <p:nvSpPr>
          <p:cNvPr id="17" name="圆角矩形标注 16"/>
          <p:cNvSpPr/>
          <p:nvPr/>
        </p:nvSpPr>
        <p:spPr>
          <a:xfrm>
            <a:off x="5526405" y="5545455"/>
            <a:ext cx="2020888" cy="406400"/>
          </a:xfrm>
          <a:prstGeom prst="wedgeRoundRectCallout">
            <a:avLst>
              <a:gd name="adj1" fmla="val -159976"/>
              <a:gd name="adj2" fmla="val -255937"/>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buNone/>
            </a:pPr>
            <a:r>
              <a:rPr lang="zh-CN" altLang="en-US" strike="noStrike" noProof="1">
                <a:solidFill>
                  <a:srgbClr val="FF0000"/>
                </a:solidFill>
              </a:rPr>
              <a:t>用户变量比较</a:t>
            </a:r>
            <a:endParaRPr lang="zh-CN" altLang="en-US" strike="noStrike" noProof="1">
              <a:solidFill>
                <a:srgbClr val="FF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ppt_x</p:attrName>
                                        </p:attrNameLst>
                                      </p:cBhvr>
                                      <p:tavLst>
                                        <p:tav tm="0">
                                          <p:val>
                                            <p:strVal val="#ppt_x"/>
                                          </p:val>
                                        </p:tav>
                                        <p:tav tm="100000">
                                          <p:val>
                                            <p:strVal val="#ppt_x"/>
                                          </p:val>
                                        </p:tav>
                                      </p:tavLst>
                                    </p:anim>
                                    <p:anim calcmode="lin" valueType="num">
                                      <p:cBhvr>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p:cTn id="11" dur="500" fill="hold"/>
                                        <p:tgtEl>
                                          <p:spTgt spid="3"/>
                                        </p:tgtEl>
                                        <p:attrNameLst>
                                          <p:attrName>ppt_x</p:attrName>
                                        </p:attrNameLst>
                                      </p:cBhvr>
                                      <p:tavLst>
                                        <p:tav tm="0">
                                          <p:val>
                                            <p:strVal val="#ppt_x"/>
                                          </p:val>
                                        </p:tav>
                                        <p:tav tm="100000">
                                          <p:val>
                                            <p:strVal val="#ppt_x"/>
                                          </p:val>
                                        </p:tav>
                                      </p:tavLst>
                                    </p:anim>
                                    <p:anim calcmode="lin" valueType="num">
                                      <p:cBhvr>
                                        <p:cTn id="1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ppt_x</p:attrName>
                                        </p:attrNameLst>
                                      </p:cBhvr>
                                      <p:tavLst>
                                        <p:tav tm="0">
                                          <p:val>
                                            <p:strVal val="#ppt_x"/>
                                          </p:val>
                                        </p:tav>
                                        <p:tav tm="100000">
                                          <p:val>
                                            <p:strVal val="#ppt_x"/>
                                          </p:val>
                                        </p:tav>
                                      </p:tavLst>
                                    </p:anim>
                                    <p:anim calcmode="lin" valueType="num">
                                      <p:cBhvr>
                                        <p:cTn id="1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p:cTn id="23" dur="500" fill="hold"/>
                                        <p:tgtEl>
                                          <p:spTgt spid="5"/>
                                        </p:tgtEl>
                                        <p:attrNameLst>
                                          <p:attrName>ppt_x</p:attrName>
                                        </p:attrNameLst>
                                      </p:cBhvr>
                                      <p:tavLst>
                                        <p:tav tm="0">
                                          <p:val>
                                            <p:strVal val="#ppt_x"/>
                                          </p:val>
                                        </p:tav>
                                        <p:tav tm="100000">
                                          <p:val>
                                            <p:strVal val="#ppt_x"/>
                                          </p:val>
                                        </p:tav>
                                      </p:tavLst>
                                    </p:anim>
                                    <p:anim calcmode="lin" valueType="num">
                                      <p:cBhvr>
                                        <p:cTn id="24" dur="500" fill="hold"/>
                                        <p:tgtEl>
                                          <p:spTgt spid="5"/>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p:cTn id="27" dur="500" fill="hold"/>
                                        <p:tgtEl>
                                          <p:spTgt spid="8"/>
                                        </p:tgtEl>
                                        <p:attrNameLst>
                                          <p:attrName>ppt_x</p:attrName>
                                        </p:attrNameLst>
                                      </p:cBhvr>
                                      <p:tavLst>
                                        <p:tav tm="0">
                                          <p:val>
                                            <p:strVal val="#ppt_x"/>
                                          </p:val>
                                        </p:tav>
                                        <p:tav tm="100000">
                                          <p:val>
                                            <p:strVal val="#ppt_x"/>
                                          </p:val>
                                        </p:tav>
                                      </p:tavLst>
                                    </p:anim>
                                    <p:anim calcmode="lin" valueType="num">
                                      <p:cBhvr>
                                        <p:cTn id="2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14"/>
                                        </p:tgtEl>
                                        <p:attrNameLst>
                                          <p:attrName>style.visibility</p:attrName>
                                        </p:attrNameLst>
                                      </p:cBhvr>
                                      <p:to>
                                        <p:strVal val="visible"/>
                                      </p:to>
                                    </p:set>
                                    <p:anim calcmode="lin" valueType="num">
                                      <p:cBhvr>
                                        <p:cTn id="33" dur="500" fill="hold"/>
                                        <p:tgtEl>
                                          <p:spTgt spid="14"/>
                                        </p:tgtEl>
                                        <p:attrNameLst>
                                          <p:attrName>ppt_x</p:attrName>
                                        </p:attrNameLst>
                                      </p:cBhvr>
                                      <p:tavLst>
                                        <p:tav tm="0">
                                          <p:val>
                                            <p:strVal val="#ppt_x"/>
                                          </p:val>
                                        </p:tav>
                                        <p:tav tm="100000">
                                          <p:val>
                                            <p:strVal val="#ppt_x"/>
                                          </p:val>
                                        </p:tav>
                                      </p:tavLst>
                                    </p:anim>
                                    <p:anim calcmode="lin" valueType="num">
                                      <p:cBhvr>
                                        <p:cTn id="34" dur="500" fill="hold"/>
                                        <p:tgtEl>
                                          <p:spTgt spid="14"/>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 calcmode="lin" valueType="num">
                                      <p:cBhvr>
                                        <p:cTn id="37" dur="500" fill="hold"/>
                                        <p:tgtEl>
                                          <p:spTgt spid="15"/>
                                        </p:tgtEl>
                                        <p:attrNameLst>
                                          <p:attrName>ppt_x</p:attrName>
                                        </p:attrNameLst>
                                      </p:cBhvr>
                                      <p:tavLst>
                                        <p:tav tm="0">
                                          <p:val>
                                            <p:strVal val="#ppt_x"/>
                                          </p:val>
                                        </p:tav>
                                        <p:tav tm="100000">
                                          <p:val>
                                            <p:strVal val="#ppt_x"/>
                                          </p:val>
                                        </p:tav>
                                      </p:tavLst>
                                    </p:anim>
                                    <p:anim calcmode="lin" valueType="num">
                                      <p:cBhvr>
                                        <p:cTn id="3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6"/>
                                        </p:tgtEl>
                                        <p:attrNameLst>
                                          <p:attrName>style.visibility</p:attrName>
                                        </p:attrNameLst>
                                      </p:cBhvr>
                                      <p:to>
                                        <p:strVal val="visible"/>
                                      </p:to>
                                    </p:set>
                                    <p:anim calcmode="lin" valueType="num">
                                      <p:cBhvr>
                                        <p:cTn id="43" dur="500" fill="hold"/>
                                        <p:tgtEl>
                                          <p:spTgt spid="16"/>
                                        </p:tgtEl>
                                        <p:attrNameLst>
                                          <p:attrName>ppt_x</p:attrName>
                                        </p:attrNameLst>
                                      </p:cBhvr>
                                      <p:tavLst>
                                        <p:tav tm="0">
                                          <p:val>
                                            <p:strVal val="#ppt_x"/>
                                          </p:val>
                                        </p:tav>
                                        <p:tav tm="100000">
                                          <p:val>
                                            <p:strVal val="#ppt_x"/>
                                          </p:val>
                                        </p:tav>
                                      </p:tavLst>
                                    </p:anim>
                                    <p:anim calcmode="lin" valueType="num">
                                      <p:cBhvr>
                                        <p:cTn id="44" dur="500" fill="hold"/>
                                        <p:tgtEl>
                                          <p:spTgt spid="16"/>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 calcmode="lin" valueType="num">
                                      <p:cBhvr>
                                        <p:cTn id="47" dur="500" fill="hold"/>
                                        <p:tgtEl>
                                          <p:spTgt spid="17"/>
                                        </p:tgtEl>
                                        <p:attrNameLst>
                                          <p:attrName>ppt_x</p:attrName>
                                        </p:attrNameLst>
                                      </p:cBhvr>
                                      <p:tavLst>
                                        <p:tav tm="0">
                                          <p:val>
                                            <p:strVal val="#ppt_x"/>
                                          </p:val>
                                        </p:tav>
                                        <p:tav tm="100000">
                                          <p:val>
                                            <p:strVal val="#ppt_x"/>
                                          </p:val>
                                        </p:tav>
                                      </p:tavLst>
                                    </p:anim>
                                    <p:anim calcmode="lin" valueType="num">
                                      <p:cBhvr>
                                        <p:cTn id="4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3" grpId="0" bldLvl="0" animBg="1"/>
      <p:bldP spid="7" grpId="0" bldLvl="0" animBg="1"/>
      <p:bldP spid="8" grpId="0" bldLvl="0" animBg="1"/>
      <p:bldP spid="15" grpId="0" bldLvl="0" animBg="1"/>
      <p:bldP spid="17" grpId="0" bldLvl="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2"/>
          <p:cNvSpPr/>
          <p:nvPr/>
        </p:nvSpPr>
        <p:spPr>
          <a:xfrm>
            <a:off x="102235" y="638810"/>
            <a:ext cx="8375650" cy="755650"/>
          </a:xfrm>
          <a:prstGeom prst="rect">
            <a:avLst/>
          </a:prstGeom>
          <a:noFill/>
          <a:ln w="9525">
            <a:noFill/>
          </a:ln>
        </p:spPr>
        <p:txBody>
          <a:bodyPr anchor="t">
            <a:spAutoFit/>
          </a:bodyPr>
          <a:p>
            <a:pPr algn="l" fontAlgn="base">
              <a:lnSpc>
                <a:spcPct val="135000"/>
              </a:lnSpc>
              <a:buClrTx/>
              <a:buSzTx/>
              <a:buFont typeface="Wingdings" panose="05000000000000000000" charset="0"/>
              <a:buChar char="p"/>
            </a:pPr>
            <a:r>
              <a:rPr lang="zh-CN" altLang="en-US" sz="3200" strike="noStrike" noProof="1" dirty="0">
                <a:gradFill>
                  <a:gsLst>
                    <a:gs pos="0">
                      <a:srgbClr val="E30000"/>
                    </a:gs>
                    <a:gs pos="100000">
                      <a:srgbClr val="760303"/>
                    </a:gs>
                  </a:gsLst>
                  <a:lin scaled="0"/>
                </a:gradFill>
                <a:latin typeface="黑体" panose="02010609060101010101" pitchFamily="1" charset="-122"/>
                <a:ea typeface="黑体" panose="02010609060101010101" pitchFamily="1" charset="-122"/>
                <a:cs typeface="+mn-cs"/>
              </a:rPr>
              <a:t>知识点：</a:t>
            </a:r>
            <a:r>
              <a:rPr lang="zh-CN" altLang="en-US" sz="2800" strike="noStrike" noProof="1" dirty="0">
                <a:solidFill>
                  <a:srgbClr val="0033CC"/>
                </a:solidFill>
                <a:latin typeface="黑体" panose="02010609060101010101" pitchFamily="1" charset="-122"/>
                <a:ea typeface="黑体" panose="02010609060101010101" pitchFamily="1" charset="-122"/>
                <a:cs typeface="+mn-ea"/>
              </a:rPr>
              <a:t>触发器</a:t>
            </a:r>
            <a:r>
              <a:rPr lang="zh-CN" altLang="en-US" sz="2800" strike="noStrike" noProof="1" dirty="0">
                <a:solidFill>
                  <a:srgbClr val="0033CC"/>
                </a:solidFill>
                <a:latin typeface="黑体" panose="02010609060101010101" pitchFamily="1" charset="-122"/>
                <a:ea typeface="黑体" panose="02010609060101010101" pitchFamily="1" charset="-122"/>
                <a:cs typeface="+mn-ea"/>
              </a:rPr>
              <a:t>的创建和修改</a:t>
            </a:r>
            <a:endParaRPr lang="zh-CN" altLang="en-US" sz="2800" strike="noStrike" noProof="1" dirty="0">
              <a:solidFill>
                <a:srgbClr val="0033CC"/>
              </a:solidFill>
              <a:latin typeface="黑体" panose="02010609060101010101" pitchFamily="1" charset="-122"/>
              <a:ea typeface="黑体" panose="02010609060101010101" pitchFamily="1" charset="-122"/>
              <a:cs typeface="+mn-ea"/>
            </a:endParaRPr>
          </a:p>
        </p:txBody>
      </p:sp>
      <p:sp>
        <p:nvSpPr>
          <p:cNvPr id="58380"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2" name="矩形 1"/>
          <p:cNvSpPr/>
          <p:nvPr/>
        </p:nvSpPr>
        <p:spPr>
          <a:xfrm>
            <a:off x="102235" y="1694815"/>
            <a:ext cx="9009380" cy="1972945"/>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en-US" altLang="zh-CN">
                <a:solidFill>
                  <a:schemeClr val="tx1"/>
                </a:solidFill>
              </a:rPr>
              <a:t>1.SQL Server</a:t>
            </a:r>
            <a:r>
              <a:rPr lang="zh-CN" altLang="en-US">
                <a:solidFill>
                  <a:schemeClr val="tx1"/>
                </a:solidFill>
              </a:rPr>
              <a:t>中查询数据库中的</a:t>
            </a:r>
            <a:r>
              <a:rPr lang="zh-CN" altLang="en-US">
                <a:solidFill>
                  <a:schemeClr val="tx1"/>
                </a:solidFill>
              </a:rPr>
              <a:t>对象</a:t>
            </a:r>
            <a:endParaRPr lang="zh-CN" altLang="en-US">
              <a:solidFill>
                <a:schemeClr val="tx1"/>
              </a:solidFill>
            </a:endParaRPr>
          </a:p>
          <a:p>
            <a:pPr algn="l"/>
            <a:r>
              <a:rPr lang="zh-CN" altLang="en-US">
                <a:solidFill>
                  <a:schemeClr val="tx1"/>
                </a:solidFill>
              </a:rPr>
              <a:t>select name from sysobjects where type='tr'</a:t>
            </a:r>
            <a:endParaRPr lang="zh-CN" altLang="en-US">
              <a:solidFill>
                <a:schemeClr val="tx1"/>
              </a:solidFill>
            </a:endParaRPr>
          </a:p>
          <a:p>
            <a:pPr marL="285750" indent="-285750" algn="l">
              <a:buFont typeface="Wingdings" panose="05000000000000000000" charset="0"/>
              <a:buChar char="Ø"/>
            </a:pPr>
            <a:r>
              <a:rPr lang="zh-CN" altLang="en-US">
                <a:solidFill>
                  <a:schemeClr val="tx1"/>
                </a:solidFill>
              </a:rPr>
              <a:t>表（'U'）：表示数据库中的表。</a:t>
            </a:r>
            <a:endParaRPr lang="zh-CN" altLang="en-US">
              <a:solidFill>
                <a:schemeClr val="tx1"/>
              </a:solidFill>
            </a:endParaRPr>
          </a:p>
          <a:p>
            <a:pPr marL="285750" indent="-285750" algn="l">
              <a:buFont typeface="Wingdings" panose="05000000000000000000" charset="0"/>
              <a:buChar char="Ø"/>
            </a:pPr>
            <a:r>
              <a:rPr lang="zh-CN" altLang="en-US">
                <a:solidFill>
                  <a:schemeClr val="tx1"/>
                </a:solidFill>
              </a:rPr>
              <a:t>视图（'V'）：表示数据库中的视图。</a:t>
            </a:r>
            <a:endParaRPr lang="zh-CN" altLang="en-US">
              <a:solidFill>
                <a:schemeClr val="tx1"/>
              </a:solidFill>
            </a:endParaRPr>
          </a:p>
          <a:p>
            <a:pPr marL="285750" indent="-285750" algn="l">
              <a:buFont typeface="Wingdings" panose="05000000000000000000" charset="0"/>
              <a:buChar char="Ø"/>
            </a:pPr>
            <a:r>
              <a:rPr lang="zh-CN" altLang="en-US">
                <a:solidFill>
                  <a:schemeClr val="tx1"/>
                </a:solidFill>
              </a:rPr>
              <a:t>存储过程（'P'）：表示数据库中的存储过程。</a:t>
            </a:r>
            <a:endParaRPr lang="zh-CN" altLang="en-US">
              <a:solidFill>
                <a:schemeClr val="tx1"/>
              </a:solidFill>
            </a:endParaRPr>
          </a:p>
          <a:p>
            <a:pPr marL="285750" indent="-285750" algn="l">
              <a:buFont typeface="Wingdings" panose="05000000000000000000" charset="0"/>
              <a:buChar char="Ø"/>
            </a:pPr>
            <a:r>
              <a:rPr lang="zh-CN" altLang="en-US">
                <a:solidFill>
                  <a:schemeClr val="tx1"/>
                </a:solidFill>
              </a:rPr>
              <a:t>约束（'C'）：表示数据库中的约束，如主键约束、外键约束等。</a:t>
            </a:r>
            <a:endParaRPr lang="zh-CN" altLang="en-US">
              <a:solidFill>
                <a:schemeClr val="tx1"/>
              </a:solidFill>
            </a:endParaRPr>
          </a:p>
          <a:p>
            <a:pPr marL="285750" indent="-285750" algn="l">
              <a:buFont typeface="Wingdings" panose="05000000000000000000" charset="0"/>
              <a:buChar char="Ø"/>
            </a:pPr>
            <a:r>
              <a:rPr lang="zh-CN" altLang="en-US">
                <a:solidFill>
                  <a:schemeClr val="tx1"/>
                </a:solidFill>
              </a:rPr>
              <a:t>索引（'I'）：表示数据库中的索引。</a:t>
            </a:r>
            <a:endParaRPr lang="zh-CN" altLang="en-US">
              <a:solidFill>
                <a:schemeClr val="tx1"/>
              </a:solidFill>
            </a:endParaRPr>
          </a:p>
        </p:txBody>
      </p:sp>
      <p:sp>
        <p:nvSpPr>
          <p:cNvPr id="3" name="文本框 2"/>
          <p:cNvSpPr txBox="1"/>
          <p:nvPr/>
        </p:nvSpPr>
        <p:spPr>
          <a:xfrm>
            <a:off x="168275" y="1230630"/>
            <a:ext cx="6002020" cy="506730"/>
          </a:xfrm>
          <a:prstGeom prst="rect">
            <a:avLst/>
          </a:prstGeom>
          <a:noFill/>
        </p:spPr>
        <p:txBody>
          <a:bodyPr wrap="square" rtlCol="0" anchor="t">
            <a:spAutoFit/>
          </a:bodyPr>
          <a:p>
            <a:pPr marL="342900" indent="-342900" algn="l" fontAlgn="base">
              <a:lnSpc>
                <a:spcPct val="135000"/>
              </a:lnSpc>
              <a:buClrTx/>
              <a:buSzTx/>
              <a:buFont typeface="Wingdings" panose="05000000000000000000" charset="0"/>
              <a:buChar char="Ø"/>
            </a:pPr>
            <a:r>
              <a:rPr lang="zh-CN" altLang="en-US" sz="2000" dirty="0">
                <a:solidFill>
                  <a:srgbClr val="0033CC"/>
                </a:solidFill>
                <a:latin typeface="黑体" panose="02010609060101010101" pitchFamily="1" charset="-122"/>
                <a:ea typeface="黑体" panose="02010609060101010101" pitchFamily="1" charset="-122"/>
                <a:cs typeface="+mn-ea"/>
                <a:sym typeface="+mn-ea"/>
              </a:rPr>
              <a:t>补充：数据库中对象的查询</a:t>
            </a:r>
            <a:endParaRPr lang="zh-CN" altLang="en-US" sz="2000" dirty="0">
              <a:solidFill>
                <a:srgbClr val="0033CC"/>
              </a:solidFill>
              <a:latin typeface="黑体" panose="02010609060101010101" pitchFamily="1" charset="-122"/>
              <a:ea typeface="黑体" panose="02010609060101010101" pitchFamily="1" charset="-122"/>
              <a:cs typeface="+mn-ea"/>
              <a:sym typeface="+mn-ea"/>
            </a:endParaRPr>
          </a:p>
        </p:txBody>
      </p:sp>
      <p:sp>
        <p:nvSpPr>
          <p:cNvPr id="5" name="矩形 4"/>
          <p:cNvSpPr/>
          <p:nvPr/>
        </p:nvSpPr>
        <p:spPr>
          <a:xfrm>
            <a:off x="102870" y="3756660"/>
            <a:ext cx="9008745" cy="2539365"/>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en-US" altLang="zh-CN">
                <a:solidFill>
                  <a:schemeClr val="tx1"/>
                </a:solidFill>
              </a:rPr>
              <a:t>2.MySQL</a:t>
            </a:r>
            <a:r>
              <a:rPr lang="zh-CN" altLang="en-US">
                <a:solidFill>
                  <a:schemeClr val="tx1"/>
                </a:solidFill>
              </a:rPr>
              <a:t>中查询数据库中的</a:t>
            </a:r>
            <a:r>
              <a:rPr lang="zh-CN" altLang="en-US">
                <a:solidFill>
                  <a:schemeClr val="tx1"/>
                </a:solidFill>
              </a:rPr>
              <a:t>对象</a:t>
            </a:r>
            <a:endParaRPr lang="zh-CN" altLang="en-US">
              <a:solidFill>
                <a:schemeClr val="tx1"/>
              </a:solidFill>
            </a:endParaRPr>
          </a:p>
          <a:p>
            <a:pPr algn="l"/>
            <a:r>
              <a:rPr lang="zh-CN" altLang="en-US">
                <a:solidFill>
                  <a:schemeClr val="tx1"/>
                </a:solidFill>
                <a:sym typeface="+mn-ea"/>
              </a:rPr>
              <a:t>表：</a:t>
            </a:r>
            <a:r>
              <a:rPr lang="zh-CN" altLang="en-US" sz="1600">
                <a:solidFill>
                  <a:schemeClr val="tx1"/>
                </a:solidFill>
                <a:sym typeface="+mn-ea"/>
              </a:rPr>
              <a:t>SELECT table_name</a:t>
            </a:r>
            <a:r>
              <a:rPr lang="en-US" altLang="zh-CN" sz="1600">
                <a:solidFill>
                  <a:schemeClr val="tx1"/>
                </a:solidFill>
                <a:sym typeface="+mn-ea"/>
              </a:rPr>
              <a:t> </a:t>
            </a:r>
            <a:r>
              <a:rPr lang="zh-CN" altLang="en-US" sz="1600">
                <a:solidFill>
                  <a:schemeClr val="tx1"/>
                </a:solidFill>
                <a:sym typeface="+mn-ea"/>
              </a:rPr>
              <a:t>FROM information_schema.tables</a:t>
            </a:r>
            <a:r>
              <a:rPr lang="en-US" altLang="zh-CN" sz="1600">
                <a:solidFill>
                  <a:schemeClr val="tx1"/>
                </a:solidFill>
                <a:sym typeface="+mn-ea"/>
              </a:rPr>
              <a:t> </a:t>
            </a:r>
            <a:r>
              <a:rPr lang="zh-CN" altLang="en-US" sz="1600">
                <a:solidFill>
                  <a:schemeClr val="tx1"/>
                </a:solidFill>
                <a:sym typeface="+mn-ea"/>
              </a:rPr>
              <a:t>WHERE  table_type = 'BASE TABLE'</a:t>
            </a:r>
            <a:endParaRPr lang="zh-CN" altLang="en-US" sz="1600">
              <a:solidFill>
                <a:schemeClr val="tx1"/>
              </a:solidFill>
            </a:endParaRPr>
          </a:p>
          <a:p>
            <a:pPr algn="l">
              <a:buClrTx/>
              <a:buSzTx/>
            </a:pPr>
            <a:r>
              <a:rPr lang="zh-CN" altLang="en-US">
                <a:solidFill>
                  <a:schemeClr val="tx1"/>
                </a:solidFill>
              </a:rPr>
              <a:t>视图：</a:t>
            </a:r>
            <a:r>
              <a:rPr lang="zh-CN" altLang="en-US" sz="1600">
                <a:solidFill>
                  <a:schemeClr val="tx1"/>
                </a:solidFill>
                <a:sym typeface="+mn-ea"/>
              </a:rPr>
              <a:t>SELECT table_name FROM information_schema.tables WHERE  table_type = 'VIEW'</a:t>
            </a:r>
            <a:endParaRPr lang="zh-CN" altLang="en-US" sz="1600">
              <a:solidFill>
                <a:schemeClr val="tx1"/>
              </a:solidFill>
            </a:endParaRPr>
          </a:p>
          <a:p>
            <a:pPr algn="l"/>
            <a:r>
              <a:rPr lang="zh-CN" altLang="en-US">
                <a:solidFill>
                  <a:schemeClr val="tx1"/>
                </a:solidFill>
              </a:rPr>
              <a:t>存储过程：</a:t>
            </a:r>
            <a:r>
              <a:rPr lang="zh-CN" altLang="en-US">
                <a:solidFill>
                  <a:schemeClr val="tx1"/>
                </a:solidFill>
                <a:sym typeface="+mn-ea"/>
              </a:rPr>
              <a:t>SELECT routine_name</a:t>
            </a:r>
            <a:r>
              <a:rPr lang="en-US" altLang="zh-CN">
                <a:solidFill>
                  <a:schemeClr val="tx1"/>
                </a:solidFill>
                <a:sym typeface="+mn-ea"/>
              </a:rPr>
              <a:t> </a:t>
            </a:r>
            <a:r>
              <a:rPr lang="zh-CN" altLang="en-US">
                <a:solidFill>
                  <a:schemeClr val="tx1"/>
                </a:solidFill>
                <a:sym typeface="+mn-ea"/>
              </a:rPr>
              <a:t>FROM information_schema.routines</a:t>
            </a:r>
            <a:r>
              <a:rPr lang="en-US" altLang="zh-CN">
                <a:solidFill>
                  <a:schemeClr val="tx1"/>
                </a:solidFill>
                <a:sym typeface="+mn-ea"/>
              </a:rPr>
              <a:t> </a:t>
            </a:r>
            <a:r>
              <a:rPr lang="zh-CN" altLang="en-US">
                <a:solidFill>
                  <a:schemeClr val="tx1"/>
                </a:solidFill>
                <a:sym typeface="+mn-ea"/>
              </a:rPr>
              <a:t>WHERE</a:t>
            </a:r>
            <a:r>
              <a:rPr lang="en-US" altLang="zh-CN">
                <a:solidFill>
                  <a:schemeClr val="tx1"/>
                </a:solidFill>
                <a:sym typeface="+mn-ea"/>
              </a:rPr>
              <a:t> routine_type = '</a:t>
            </a:r>
            <a:r>
              <a:rPr lang="zh-CN" altLang="en-US">
                <a:solidFill>
                  <a:schemeClr val="tx1"/>
                </a:solidFill>
                <a:sym typeface="+mn-ea"/>
              </a:rPr>
              <a:t>PROCEDURE</a:t>
            </a:r>
            <a:r>
              <a:rPr lang="en-US" altLang="zh-CN">
                <a:solidFill>
                  <a:schemeClr val="tx1"/>
                </a:solidFill>
                <a:sym typeface="+mn-ea"/>
              </a:rPr>
              <a:t>'</a:t>
            </a:r>
            <a:endParaRPr lang="en-US" altLang="zh-CN">
              <a:solidFill>
                <a:schemeClr val="tx1"/>
              </a:solidFill>
              <a:sym typeface="+mn-ea"/>
            </a:endParaRPr>
          </a:p>
          <a:p>
            <a:pPr algn="l"/>
            <a:r>
              <a:rPr lang="zh-CN" altLang="en-US">
                <a:solidFill>
                  <a:schemeClr val="tx1"/>
                </a:solidFill>
              </a:rPr>
              <a:t>函数：</a:t>
            </a:r>
            <a:r>
              <a:rPr lang="zh-CN" altLang="en-US">
                <a:solidFill>
                  <a:schemeClr val="tx1"/>
                </a:solidFill>
                <a:sym typeface="+mn-ea"/>
              </a:rPr>
              <a:t>SELECT routine_name</a:t>
            </a:r>
            <a:r>
              <a:rPr lang="en-US" altLang="zh-CN">
                <a:solidFill>
                  <a:schemeClr val="tx1"/>
                </a:solidFill>
                <a:sym typeface="+mn-ea"/>
              </a:rPr>
              <a:t> </a:t>
            </a:r>
            <a:r>
              <a:rPr lang="zh-CN" altLang="en-US">
                <a:solidFill>
                  <a:schemeClr val="tx1"/>
                </a:solidFill>
                <a:sym typeface="+mn-ea"/>
              </a:rPr>
              <a:t>FROM information_schema.routines</a:t>
            </a:r>
            <a:r>
              <a:rPr lang="en-US" altLang="zh-CN">
                <a:solidFill>
                  <a:schemeClr val="tx1"/>
                </a:solidFill>
                <a:sym typeface="+mn-ea"/>
              </a:rPr>
              <a:t> </a:t>
            </a:r>
            <a:r>
              <a:rPr lang="zh-CN" altLang="en-US">
                <a:solidFill>
                  <a:schemeClr val="tx1"/>
                </a:solidFill>
                <a:sym typeface="+mn-ea"/>
              </a:rPr>
              <a:t>WHERE</a:t>
            </a:r>
            <a:r>
              <a:rPr lang="en-US" altLang="zh-CN">
                <a:solidFill>
                  <a:schemeClr val="tx1"/>
                </a:solidFill>
                <a:sym typeface="+mn-ea"/>
              </a:rPr>
              <a:t> </a:t>
            </a:r>
            <a:r>
              <a:rPr lang="zh-CN" altLang="en-US">
                <a:solidFill>
                  <a:schemeClr val="tx1"/>
                </a:solidFill>
              </a:rPr>
              <a:t>routine_type = 'FUNCTION'</a:t>
            </a:r>
            <a:endParaRPr lang="zh-CN" altLang="en-US">
              <a:solidFill>
                <a:schemeClr val="tx1"/>
              </a:solidFill>
            </a:endParaRPr>
          </a:p>
          <a:p>
            <a:pPr algn="l"/>
            <a:r>
              <a:rPr lang="zh-CN" altLang="en-US">
                <a:solidFill>
                  <a:schemeClr val="tx1"/>
                </a:solidFill>
              </a:rPr>
              <a:t>触发器：SELECT trigger_name</a:t>
            </a:r>
            <a:r>
              <a:rPr lang="en-US" altLang="zh-CN">
                <a:solidFill>
                  <a:schemeClr val="tx1"/>
                </a:solidFill>
              </a:rPr>
              <a:t> </a:t>
            </a:r>
            <a:r>
              <a:rPr lang="zh-CN" altLang="en-US">
                <a:solidFill>
                  <a:schemeClr val="tx1"/>
                </a:solidFill>
              </a:rPr>
              <a:t>FROM information_schema.triggers</a:t>
            </a:r>
            <a:endParaRPr lang="zh-CN" altLang="en-US">
              <a:solidFill>
                <a:schemeClr val="tx1"/>
              </a:solidFill>
            </a:endParaRPr>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Rectangle 3"/>
          <p:cNvSpPr>
            <a:spLocks noGrp="1"/>
          </p:cNvSpPr>
          <p:nvPr/>
        </p:nvSpPr>
        <p:spPr>
          <a:xfrm>
            <a:off x="650875" y="1282700"/>
            <a:ext cx="8353425" cy="511175"/>
          </a:xfrm>
          <a:prstGeom prst="rect">
            <a:avLst/>
          </a:prstGeom>
          <a:noFill/>
          <a:ln w="9525">
            <a:noFill/>
          </a:ln>
        </p:spPr>
        <p:txBody>
          <a:bodyPr/>
          <a:p>
            <a:pPr marL="342900" lvl="0" indent="-342900" eaLnBrk="1" fontAlgn="base" hangingPunct="1">
              <a:lnSpc>
                <a:spcPct val="135000"/>
              </a:lnSpc>
              <a:spcBef>
                <a:spcPct val="20000"/>
              </a:spcBef>
              <a:buClr>
                <a:srgbClr val="C00000"/>
              </a:buClr>
              <a:buSzPct val="100000"/>
              <a:buFont typeface="Wingdings" panose="05000000000000000000" pitchFamily="2" charset="2"/>
              <a:buChar char="p"/>
            </a:pPr>
            <a:r>
              <a:rPr lang="en-US" altLang="zh-CN" sz="2200" strike="noStrike" noProof="1" dirty="0">
                <a:solidFill>
                  <a:srgbClr val="FF0000"/>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INSERTED</a:t>
            </a:r>
            <a:r>
              <a:rPr lang="zh-CN" altLang="en-US" sz="2200" strike="noStrike" noProof="1" dirty="0">
                <a:solidFill>
                  <a:srgbClr val="FF0000"/>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触发器实例</a:t>
            </a:r>
            <a:endParaRPr lang="zh-CN" altLang="en-US" sz="2200" strike="noStrike" noProof="1" dirty="0">
              <a:solidFill>
                <a:srgbClr val="FF0000"/>
              </a:solidFill>
              <a:effectLst>
                <a:outerShdw blurRad="38100" dist="38100" dir="2700000">
                  <a:srgbClr val="C0C0C0"/>
                </a:outerShdw>
              </a:effectLst>
              <a:latin typeface="Arial" panose="020B0604020202020204" pitchFamily="34" charset="0"/>
              <a:ea typeface="宋体" panose="02010600030101010101" pitchFamily="2" charset="-122"/>
              <a:sym typeface="Arial" panose="020B0604020202020204" pitchFamily="34" charset="0"/>
            </a:endParaRPr>
          </a:p>
          <a:p>
            <a:pPr lvl="0" eaLnBrk="1" fontAlgn="base" hangingPunct="1">
              <a:lnSpc>
                <a:spcPct val="135000"/>
              </a:lnSpc>
              <a:spcBef>
                <a:spcPct val="20000"/>
              </a:spcBef>
              <a:buClr>
                <a:srgbClr val="0033CC"/>
              </a:buClr>
              <a:buSzPct val="80000"/>
              <a:buFont typeface="Wingdings" panose="05000000000000000000" pitchFamily="2" charset="2"/>
            </a:pPr>
            <a:r>
              <a:rPr lang="zh-CN" altLang="en-US" sz="2000" strike="noStrike" noProof="1" dirty="0">
                <a:solidFill>
                  <a:srgbClr val="0033CC"/>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  </a:t>
            </a:r>
            <a:endParaRPr lang="zh-CN" altLang="en-US" sz="2000" strike="noStrike" noProof="1" dirty="0">
              <a:solidFill>
                <a:srgbClr val="0033CC"/>
              </a:solidFill>
              <a:effectLst>
                <a:outerShdw blurRad="38100" dist="38100" dir="2700000">
                  <a:srgbClr val="C0C0C0"/>
                </a:outerShdw>
              </a:effectLst>
              <a:latin typeface="Arial" panose="020B0604020202020204" pitchFamily="34" charset="0"/>
              <a:ea typeface="宋体" panose="02010600030101010101" pitchFamily="2" charset="-122"/>
              <a:sym typeface="Arial" panose="020B0604020202020204" pitchFamily="34" charset="0"/>
            </a:endParaRPr>
          </a:p>
        </p:txBody>
      </p:sp>
      <p:sp>
        <p:nvSpPr>
          <p:cNvPr id="4" name="Rectangle 3"/>
          <p:cNvSpPr>
            <a:spLocks noGrp="1"/>
          </p:cNvSpPr>
          <p:nvPr/>
        </p:nvSpPr>
        <p:spPr>
          <a:xfrm>
            <a:off x="706438" y="1935163"/>
            <a:ext cx="7939088" cy="509588"/>
          </a:xfrm>
          <a:prstGeom prst="rect">
            <a:avLst/>
          </a:prstGeom>
          <a:noFill/>
          <a:ln w="9525">
            <a:noFill/>
          </a:ln>
        </p:spPr>
        <p:txBody>
          <a:bodyPr/>
          <a:p>
            <a:pPr marL="342900" lvl="0" indent="-342900" eaLnBrk="1" fontAlgn="base" hangingPunct="1">
              <a:lnSpc>
                <a:spcPct val="100000"/>
              </a:lnSpc>
              <a:spcBef>
                <a:spcPct val="20000"/>
              </a:spcBef>
              <a:buClr>
                <a:srgbClr val="0033CC"/>
              </a:buClr>
              <a:buSzPct val="80000"/>
              <a:buFont typeface="Wingdings" panose="05000000000000000000" charset="0"/>
              <a:buChar char="Ø"/>
            </a:pPr>
            <a:r>
              <a:rPr lang="zh-CN" altLang="en-US" sz="2400" strike="noStrike" noProof="1" dirty="0">
                <a:solidFill>
                  <a:srgbClr val="0033CC"/>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问题：</a:t>
            </a:r>
            <a:r>
              <a:rPr lang="zh-CN" altLang="en-US"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银行取款时，向交易信息表（</a:t>
            </a:r>
            <a:r>
              <a:rPr lang="en-US" altLang="zh-CN"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TransInfo</a:t>
            </a:r>
            <a:r>
              <a:rPr lang="zh-CN" altLang="en-US"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）中插入一条交易信息时，我们应自动更新对应账户的余额。</a:t>
            </a:r>
            <a:endParaRPr lang="zh-CN" altLang="en-US"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sym typeface="Arial" panose="020B0604020202020204" pitchFamily="34" charset="0"/>
            </a:endParaRPr>
          </a:p>
        </p:txBody>
      </p:sp>
      <p:sp>
        <p:nvSpPr>
          <p:cNvPr id="5" name="Rectangle 3"/>
          <p:cNvSpPr>
            <a:spLocks noGrp="1"/>
          </p:cNvSpPr>
          <p:nvPr/>
        </p:nvSpPr>
        <p:spPr>
          <a:xfrm>
            <a:off x="696913" y="2832100"/>
            <a:ext cx="7939088" cy="509588"/>
          </a:xfrm>
          <a:prstGeom prst="rect">
            <a:avLst/>
          </a:prstGeom>
          <a:noFill/>
          <a:ln w="9525">
            <a:noFill/>
          </a:ln>
        </p:spPr>
        <p:txBody>
          <a:bodyPr/>
          <a:p>
            <a:pPr marL="342900" lvl="0" indent="-342900" eaLnBrk="1" fontAlgn="base" hangingPunct="1">
              <a:lnSpc>
                <a:spcPct val="100000"/>
              </a:lnSpc>
              <a:spcBef>
                <a:spcPct val="20000"/>
              </a:spcBef>
              <a:buClr>
                <a:srgbClr val="0033CC"/>
              </a:buClr>
              <a:buSzPct val="80000"/>
              <a:buFont typeface="Wingdings" panose="05000000000000000000" charset="0"/>
              <a:buChar char="Ø"/>
            </a:pPr>
            <a:r>
              <a:rPr lang="zh-CN" altLang="en-US" sz="2400" strike="noStrike" noProof="1" dirty="0">
                <a:solidFill>
                  <a:srgbClr val="0033CC"/>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分析：</a:t>
            </a:r>
            <a:r>
              <a:rPr lang="zh-CN" altLang="en-US"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在交易信息表上创建</a:t>
            </a:r>
            <a:r>
              <a:rPr lang="en-US" altLang="zh-CN"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INSERT</a:t>
            </a:r>
            <a:r>
              <a:rPr lang="zh-CN" altLang="en-US"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触发器；从</a:t>
            </a:r>
            <a:r>
              <a:rPr lang="en-US" altLang="zh-CN"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INSERT</a:t>
            </a:r>
            <a:r>
              <a:rPr lang="zh-CN" altLang="en-US"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临时表中获取插入的数据行；根据交易类型</a:t>
            </a:r>
            <a:r>
              <a:rPr lang="en-US" altLang="zh-CN"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(TransType)</a:t>
            </a:r>
            <a:r>
              <a:rPr lang="zh-CN" altLang="en-US"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字段的值是存入</a:t>
            </a:r>
            <a:r>
              <a:rPr lang="en-US" altLang="zh-CN"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a:t>
            </a:r>
            <a:r>
              <a:rPr lang="zh-CN" altLang="en-US"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支取；增加</a:t>
            </a:r>
            <a:r>
              <a:rPr lang="en-US" altLang="zh-CN"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a:t>
            </a:r>
            <a:r>
              <a:rPr lang="zh-CN" altLang="en-US"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减少对应账户的余额。</a:t>
            </a:r>
            <a:endParaRPr lang="zh-CN" altLang="en-US"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sym typeface="Arial" panose="020B0604020202020204" pitchFamily="34" charset="0"/>
            </a:endParaRPr>
          </a:p>
        </p:txBody>
      </p:sp>
      <p:graphicFrame>
        <p:nvGraphicFramePr>
          <p:cNvPr id="6" name="对象 5"/>
          <p:cNvGraphicFramePr/>
          <p:nvPr/>
        </p:nvGraphicFramePr>
        <p:xfrm>
          <a:off x="1297940" y="1960245"/>
          <a:ext cx="7586980" cy="4183380"/>
        </p:xfrm>
        <a:graphic>
          <a:graphicData uri="http://schemas.openxmlformats.org/presentationml/2006/ole">
            <mc:AlternateContent xmlns:mc="http://schemas.openxmlformats.org/markup-compatibility/2006">
              <mc:Choice xmlns:v="urn:schemas-microsoft-com:vml" Requires="v">
                <p:oleObj spid="_x0000_s3077" name="" r:id="rId1" imgW="6991350" imgH="3816350" progId="Paint.Picture">
                  <p:embed/>
                </p:oleObj>
              </mc:Choice>
              <mc:Fallback>
                <p:oleObj name="" r:id="rId1" imgW="6991350" imgH="3816350" progId="Paint.Picture">
                  <p:embed/>
                  <p:pic>
                    <p:nvPicPr>
                      <p:cNvPr id="0" name="图片 3076"/>
                      <p:cNvPicPr/>
                      <p:nvPr/>
                    </p:nvPicPr>
                    <p:blipFill>
                      <a:blip r:embed="rId2"/>
                      <a:stretch>
                        <a:fillRect/>
                      </a:stretch>
                    </p:blipFill>
                    <p:spPr>
                      <a:xfrm>
                        <a:off x="1297940" y="1960245"/>
                        <a:ext cx="7586980" cy="4183380"/>
                      </a:xfrm>
                      <a:prstGeom prst="rect">
                        <a:avLst/>
                      </a:prstGeom>
                      <a:noFill/>
                      <a:ln w="38100">
                        <a:noFill/>
                        <a:miter/>
                      </a:ln>
                    </p:spPr>
                  </p:pic>
                </p:oleObj>
              </mc:Fallback>
            </mc:AlternateContent>
          </a:graphicData>
        </a:graphic>
      </p:graphicFrame>
      <p:sp>
        <p:nvSpPr>
          <p:cNvPr id="3" name="矩形 2"/>
          <p:cNvSpPr/>
          <p:nvPr/>
        </p:nvSpPr>
        <p:spPr>
          <a:xfrm>
            <a:off x="509270" y="649605"/>
            <a:ext cx="8375650" cy="755650"/>
          </a:xfrm>
          <a:prstGeom prst="rect">
            <a:avLst/>
          </a:prstGeom>
          <a:noFill/>
          <a:ln w="9525">
            <a:noFill/>
          </a:ln>
        </p:spPr>
        <p:txBody>
          <a:bodyPr anchor="t">
            <a:spAutoFit/>
          </a:bodyPr>
          <a:p>
            <a:pPr algn="l" fontAlgn="base">
              <a:lnSpc>
                <a:spcPct val="135000"/>
              </a:lnSpc>
              <a:buClrTx/>
              <a:buSzTx/>
              <a:buFont typeface="Wingdings" panose="05000000000000000000" charset="0"/>
              <a:buChar char="p"/>
            </a:pPr>
            <a:r>
              <a:rPr lang="zh-CN" altLang="en-US" sz="3200" strike="noStrike" noProof="1" dirty="0">
                <a:gradFill>
                  <a:gsLst>
                    <a:gs pos="0">
                      <a:srgbClr val="E30000"/>
                    </a:gs>
                    <a:gs pos="100000">
                      <a:srgbClr val="760303"/>
                    </a:gs>
                  </a:gsLst>
                  <a:lin scaled="0"/>
                </a:gradFill>
                <a:latin typeface="黑体" panose="02010609060101010101" pitchFamily="1" charset="-122"/>
                <a:ea typeface="黑体" panose="02010609060101010101" pitchFamily="1" charset="-122"/>
                <a:cs typeface="+mn-cs"/>
              </a:rPr>
              <a:t>知识点：</a:t>
            </a:r>
            <a:r>
              <a:rPr lang="zh-CN" altLang="en-US" sz="2800" strike="noStrike" noProof="1" dirty="0">
                <a:solidFill>
                  <a:srgbClr val="0033CC"/>
                </a:solidFill>
                <a:latin typeface="黑体" panose="02010609060101010101" pitchFamily="1" charset="-122"/>
                <a:ea typeface="黑体" panose="02010609060101010101" pitchFamily="1" charset="-122"/>
                <a:cs typeface="+mn-ea"/>
              </a:rPr>
              <a:t>触发器的创建和修改</a:t>
            </a:r>
            <a:endParaRPr lang="zh-CN" altLang="en-US" sz="2800" strike="noStrike" noProof="1" dirty="0">
              <a:solidFill>
                <a:srgbClr val="0033CC"/>
              </a:solidFill>
              <a:latin typeface="黑体" panose="02010609060101010101" pitchFamily="1" charset="-122"/>
              <a:ea typeface="黑体" panose="02010609060101010101" pitchFamily="1" charset="-122"/>
              <a:cs typeface="+mn-ea"/>
            </a:endParaRPr>
          </a:p>
        </p:txBody>
      </p:sp>
      <p:sp>
        <p:nvSpPr>
          <p:cNvPr id="59398" name="文本框 1"/>
          <p:cNvSpPr txBox="1"/>
          <p:nvPr/>
        </p:nvSpPr>
        <p:spPr>
          <a:xfrm>
            <a:off x="5849938" y="1114425"/>
            <a:ext cx="3067050" cy="768350"/>
          </a:xfrm>
          <a:prstGeom prst="rect">
            <a:avLst/>
          </a:prstGeom>
          <a:solidFill>
            <a:schemeClr val="accent1"/>
          </a:solidFill>
          <a:ln w="9525">
            <a:noFill/>
          </a:ln>
        </p:spPr>
        <p:txBody>
          <a:bodyPr wrap="square" anchor="t" anchorCtr="0">
            <a:spAutoFit/>
          </a:bodyPr>
          <a:p>
            <a:pPr>
              <a:buSzTx/>
            </a:pPr>
            <a:r>
              <a:rPr lang="zh-CN" altLang="en-US" sz="2200">
                <a:solidFill>
                  <a:srgbClr val="FF0000"/>
                </a:solidFill>
                <a:latin typeface="Arial" panose="020B0604020202020204" pitchFamily="34" charset="0"/>
                <a:ea typeface="宋体" panose="02010600030101010101" pitchFamily="2" charset="-122"/>
              </a:rPr>
              <a:t>实例</a:t>
            </a:r>
            <a:r>
              <a:rPr lang="en-US" altLang="zh-CN" sz="2200">
                <a:solidFill>
                  <a:srgbClr val="FF0000"/>
                </a:solidFill>
                <a:latin typeface="Arial" panose="020B0604020202020204" pitchFamily="34" charset="0"/>
                <a:ea typeface="宋体" panose="02010600030101010101" pitchFamily="2" charset="-122"/>
              </a:rPr>
              <a:t>2—</a:t>
            </a:r>
            <a:r>
              <a:rPr lang="zh-CN" altLang="en-US" sz="2200">
                <a:solidFill>
                  <a:srgbClr val="FF0000"/>
                </a:solidFill>
                <a:latin typeface="Arial" panose="020B0604020202020204" pitchFamily="34" charset="0"/>
                <a:ea typeface="宋体" panose="02010600030101010101" pitchFamily="2" charset="-122"/>
              </a:rPr>
              <a:t>用触发器实现表间业务数据的一致性</a:t>
            </a:r>
            <a:endParaRPr lang="zh-CN" altLang="en-US" sz="2200">
              <a:solidFill>
                <a:srgbClr val="FF0000"/>
              </a:solidFill>
              <a:latin typeface="Arial" panose="020B0604020202020204" pitchFamily="34" charset="0"/>
              <a:ea typeface="宋体" panose="02010600030101010101" pitchFamily="2" charset="-122"/>
            </a:endParaRPr>
          </a:p>
        </p:txBody>
      </p:sp>
      <p:sp>
        <p:nvSpPr>
          <p:cNvPr id="59399"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6802"/>
                                        </p:tgtEl>
                                        <p:attrNameLst>
                                          <p:attrName>style.visibility</p:attrName>
                                        </p:attrNameLst>
                                      </p:cBhvr>
                                      <p:to>
                                        <p:strVal val="visible"/>
                                      </p:to>
                                    </p:set>
                                    <p:anim calcmode="lin" valueType="num">
                                      <p:cBhvr>
                                        <p:cTn id="7" dur="500" fill="hold"/>
                                        <p:tgtEl>
                                          <p:spTgt spid="76802"/>
                                        </p:tgtEl>
                                        <p:attrNameLst>
                                          <p:attrName>ppt_x</p:attrName>
                                        </p:attrNameLst>
                                      </p:cBhvr>
                                      <p:tavLst>
                                        <p:tav tm="0">
                                          <p:val>
                                            <p:strVal val="#ppt_x"/>
                                          </p:val>
                                        </p:tav>
                                        <p:tav tm="100000">
                                          <p:val>
                                            <p:strVal val="#ppt_x"/>
                                          </p:val>
                                        </p:tav>
                                      </p:tavLst>
                                    </p:anim>
                                    <p:anim calcmode="lin" valueType="num">
                                      <p:cBhvr>
                                        <p:cTn id="8" dur="500" fill="hold"/>
                                        <p:tgtEl>
                                          <p:spTgt spid="7680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500" fill="hold"/>
                                        <p:tgtEl>
                                          <p:spTgt spid="5"/>
                                        </p:tgtEl>
                                        <p:attrNameLst>
                                          <p:attrName>ppt_x</p:attrName>
                                        </p:attrNameLst>
                                      </p:cBhvr>
                                      <p:tavLst>
                                        <p:tav tm="0">
                                          <p:val>
                                            <p:strVal val="#ppt_x"/>
                                          </p:val>
                                        </p:tav>
                                        <p:tav tm="100000">
                                          <p:val>
                                            <p:strVal val="#ppt_x"/>
                                          </p:val>
                                        </p:tav>
                                      </p:tavLst>
                                    </p:anim>
                                    <p:anim calcmode="lin" valueType="num">
                                      <p:cBhvr>
                                        <p:cTn id="12" dur="500" fill="hold"/>
                                        <p:tgtEl>
                                          <p:spTgt spid="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p:cTn id="15" dur="500" fill="hold"/>
                                        <p:tgtEl>
                                          <p:spTgt spid="4"/>
                                        </p:tgtEl>
                                        <p:attrNameLst>
                                          <p:attrName>ppt_x</p:attrName>
                                        </p:attrNameLst>
                                      </p:cBhvr>
                                      <p:tavLst>
                                        <p:tav tm="0">
                                          <p:val>
                                            <p:strVal val="#ppt_x"/>
                                          </p:val>
                                        </p:tav>
                                        <p:tav tm="100000">
                                          <p:val>
                                            <p:strVal val="#ppt_x"/>
                                          </p:val>
                                        </p:tav>
                                      </p:tavLst>
                                    </p:anim>
                                    <p:anim calcmode="lin" valueType="num">
                                      <p:cBhvr>
                                        <p:cTn id="1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p:cTn id="21" dur="500" fill="hold"/>
                                        <p:tgtEl>
                                          <p:spTgt spid="6"/>
                                        </p:tgtEl>
                                        <p:attrNameLst>
                                          <p:attrName>ppt_x</p:attrName>
                                        </p:attrNameLst>
                                      </p:cBhvr>
                                      <p:tavLst>
                                        <p:tav tm="0">
                                          <p:val>
                                            <p:strVal val="#ppt_x"/>
                                          </p:val>
                                        </p:tav>
                                        <p:tav tm="100000">
                                          <p:val>
                                            <p:strVal val="#ppt_x"/>
                                          </p:val>
                                        </p:tav>
                                      </p:tavLst>
                                    </p:anim>
                                    <p:anim calcmode="lin" valueType="num">
                                      <p:cBhvr>
                                        <p:cTn id="2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2" grpId="0"/>
      <p:bldP spid="4" grpId="0"/>
      <p:bldP spid="5"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矩形 2"/>
          <p:cNvSpPr/>
          <p:nvPr/>
        </p:nvSpPr>
        <p:spPr>
          <a:xfrm>
            <a:off x="509270" y="649605"/>
            <a:ext cx="8375650" cy="755650"/>
          </a:xfrm>
          <a:prstGeom prst="rect">
            <a:avLst/>
          </a:prstGeom>
          <a:noFill/>
          <a:ln w="9525">
            <a:noFill/>
          </a:ln>
        </p:spPr>
        <p:txBody>
          <a:bodyPr anchor="t">
            <a:spAutoFit/>
          </a:bodyPr>
          <a:p>
            <a:pPr algn="l" fontAlgn="base">
              <a:lnSpc>
                <a:spcPct val="135000"/>
              </a:lnSpc>
              <a:buClrTx/>
              <a:buSzTx/>
              <a:buFont typeface="Wingdings" panose="05000000000000000000" charset="0"/>
              <a:buChar char="p"/>
            </a:pPr>
            <a:r>
              <a:rPr lang="zh-CN" altLang="en-US" sz="3200" strike="noStrike" noProof="1" dirty="0">
                <a:gradFill>
                  <a:gsLst>
                    <a:gs pos="0">
                      <a:srgbClr val="E30000"/>
                    </a:gs>
                    <a:gs pos="100000">
                      <a:srgbClr val="760303"/>
                    </a:gs>
                  </a:gsLst>
                  <a:lin scaled="0"/>
                </a:gradFill>
                <a:latin typeface="黑体" panose="02010609060101010101" pitchFamily="1" charset="-122"/>
                <a:ea typeface="黑体" panose="02010609060101010101" pitchFamily="1" charset="-122"/>
                <a:cs typeface="+mn-cs"/>
              </a:rPr>
              <a:t>知识点：</a:t>
            </a:r>
            <a:r>
              <a:rPr lang="zh-CN" altLang="en-US" sz="2800" strike="noStrike" noProof="1" dirty="0">
                <a:solidFill>
                  <a:srgbClr val="0033CC"/>
                </a:solidFill>
                <a:latin typeface="黑体" panose="02010609060101010101" pitchFamily="1" charset="-122"/>
                <a:ea typeface="黑体" panose="02010609060101010101" pitchFamily="1" charset="-122"/>
                <a:cs typeface="+mn-ea"/>
              </a:rPr>
              <a:t>触发器的创建和修改</a:t>
            </a:r>
            <a:endParaRPr lang="zh-CN" altLang="en-US" sz="2800" strike="noStrike" noProof="1" dirty="0">
              <a:solidFill>
                <a:srgbClr val="0033CC"/>
              </a:solidFill>
              <a:latin typeface="黑体" panose="02010609060101010101" pitchFamily="1" charset="-122"/>
              <a:ea typeface="黑体" panose="02010609060101010101" pitchFamily="1" charset="-122"/>
              <a:cs typeface="+mn-ea"/>
            </a:endParaRPr>
          </a:p>
        </p:txBody>
      </p:sp>
      <p:sp>
        <p:nvSpPr>
          <p:cNvPr id="59399"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2" name="文本框 1"/>
          <p:cNvSpPr txBox="1"/>
          <p:nvPr/>
        </p:nvSpPr>
        <p:spPr>
          <a:xfrm>
            <a:off x="595630" y="1420495"/>
            <a:ext cx="7188835" cy="1938020"/>
          </a:xfrm>
          <a:prstGeom prst="rect">
            <a:avLst/>
          </a:prstGeom>
          <a:noFill/>
        </p:spPr>
        <p:txBody>
          <a:bodyPr wrap="square" rtlCol="0" anchor="t">
            <a:spAutoFit/>
          </a:bodyPr>
          <a:p>
            <a:r>
              <a:rPr lang="zh-CN" altLang="en-US" sz="2400"/>
              <a:t>create table bank</a:t>
            </a:r>
            <a:endParaRPr lang="zh-CN" altLang="en-US" sz="2400"/>
          </a:p>
          <a:p>
            <a:r>
              <a:rPr lang="zh-CN" altLang="en-US" sz="2400"/>
              <a:t> (  cardID char(8) primary key,</a:t>
            </a:r>
            <a:endParaRPr lang="zh-CN" altLang="en-US" sz="2400"/>
          </a:p>
          <a:p>
            <a:r>
              <a:rPr lang="zh-CN" altLang="en-US" sz="2400"/>
              <a:t>    currentMoney Money not null,</a:t>
            </a:r>
            <a:endParaRPr lang="zh-CN" altLang="en-US" sz="2400"/>
          </a:p>
          <a:p>
            <a:r>
              <a:rPr lang="zh-CN" altLang="en-US" sz="2400"/>
              <a:t>    DTIME DateTime,</a:t>
            </a:r>
            <a:endParaRPr lang="zh-CN" altLang="en-US" sz="2400"/>
          </a:p>
          <a:p>
            <a:r>
              <a:rPr lang="zh-CN" altLang="en-US" sz="2400"/>
              <a:t>    userID char(18) UNIQUE )</a:t>
            </a:r>
            <a:endParaRPr lang="zh-CN" altLang="en-US" sz="2400"/>
          </a:p>
        </p:txBody>
      </p:sp>
      <p:sp>
        <p:nvSpPr>
          <p:cNvPr id="5" name="文本框 4"/>
          <p:cNvSpPr txBox="1"/>
          <p:nvPr/>
        </p:nvSpPr>
        <p:spPr>
          <a:xfrm>
            <a:off x="354965" y="3471545"/>
            <a:ext cx="8637905" cy="429895"/>
          </a:xfrm>
          <a:prstGeom prst="rect">
            <a:avLst/>
          </a:prstGeom>
          <a:noFill/>
        </p:spPr>
        <p:txBody>
          <a:bodyPr wrap="square" rtlCol="0" anchor="t">
            <a:spAutoFit/>
          </a:bodyPr>
          <a:p>
            <a:r>
              <a:rPr lang="zh-CN" altLang="en-US" sz="2200">
                <a:solidFill>
                  <a:srgbClr val="0000FF"/>
                </a:solidFill>
              </a:rPr>
              <a:t>insert bank values('1000',1500,GetDate(),'111000111000111000')</a:t>
            </a:r>
            <a:endParaRPr lang="zh-CN" altLang="en-US" sz="2200">
              <a:solidFill>
                <a:srgbClr val="0000FF"/>
              </a:solidFill>
            </a:endParaRPr>
          </a:p>
        </p:txBody>
      </p:sp>
      <p:sp>
        <p:nvSpPr>
          <p:cNvPr id="7" name="文本框 6"/>
          <p:cNvSpPr txBox="1"/>
          <p:nvPr/>
        </p:nvSpPr>
        <p:spPr>
          <a:xfrm>
            <a:off x="595630" y="3901440"/>
            <a:ext cx="7902575" cy="2306955"/>
          </a:xfrm>
          <a:prstGeom prst="rect">
            <a:avLst/>
          </a:prstGeom>
          <a:noFill/>
        </p:spPr>
        <p:txBody>
          <a:bodyPr wrap="square" rtlCol="0" anchor="t">
            <a:spAutoFit/>
          </a:bodyPr>
          <a:p>
            <a:pPr algn="l">
              <a:buClrTx/>
              <a:buSzTx/>
              <a:buNone/>
            </a:pPr>
            <a:r>
              <a:rPr lang="zh-CN" altLang="en-US" sz="2400"/>
              <a:t>create table transInfo</a:t>
            </a:r>
            <a:endParaRPr lang="zh-CN" altLang="en-US" sz="2400"/>
          </a:p>
          <a:p>
            <a:pPr algn="l">
              <a:buClrTx/>
              <a:buSzTx/>
              <a:buNone/>
            </a:pPr>
            <a:r>
              <a:rPr lang="zh-CN" altLang="en-US" sz="2400"/>
              <a:t> (  cardID char(8)</a:t>
            </a:r>
            <a:r>
              <a:rPr lang="en-US" altLang="zh-CN" sz="2400"/>
              <a:t> foreign key references bank(cardID)</a:t>
            </a:r>
            <a:r>
              <a:rPr lang="zh-CN" altLang="en-US" sz="2400"/>
              <a:t>,</a:t>
            </a:r>
            <a:endParaRPr lang="zh-CN" altLang="en-US" sz="2400"/>
          </a:p>
          <a:p>
            <a:pPr algn="l">
              <a:buClrTx/>
              <a:buSzTx/>
              <a:buNone/>
            </a:pPr>
            <a:r>
              <a:rPr lang="zh-CN" altLang="en-US" sz="2400"/>
              <a:t>    TDATE DateTime,</a:t>
            </a:r>
            <a:endParaRPr lang="zh-CN" altLang="en-US" sz="2400"/>
          </a:p>
          <a:p>
            <a:pPr algn="l">
              <a:buClrTx/>
              <a:buSzTx/>
              <a:buNone/>
            </a:pPr>
            <a:r>
              <a:rPr lang="zh-CN" altLang="en-US" sz="2400"/>
              <a:t>    transType char(6) NOT NULL,</a:t>
            </a:r>
            <a:endParaRPr lang="zh-CN" altLang="en-US" sz="2400"/>
          </a:p>
          <a:p>
            <a:pPr algn="l">
              <a:buClrTx/>
              <a:buSzTx/>
              <a:buNone/>
            </a:pPr>
            <a:r>
              <a:rPr lang="zh-CN" altLang="en-US" sz="2400"/>
              <a:t>    transMoney Money NOT NULL</a:t>
            </a:r>
            <a:endParaRPr lang="zh-CN" altLang="en-US" sz="2400"/>
          </a:p>
          <a:p>
            <a:pPr algn="l">
              <a:buClrTx/>
              <a:buSzTx/>
              <a:buNone/>
            </a:pPr>
            <a:r>
              <a:rPr lang="en-US" altLang="zh-CN" sz="2400"/>
              <a:t>    </a:t>
            </a:r>
            <a:r>
              <a:rPr lang="zh-CN" altLang="en-US" sz="2400"/>
              <a:t>primary key(cardID,TDATE)</a:t>
            </a:r>
            <a:r>
              <a:rPr lang="en-US" altLang="zh-CN" sz="2400"/>
              <a:t>  </a:t>
            </a:r>
            <a:r>
              <a:rPr lang="zh-CN" altLang="en-US" sz="2400"/>
              <a:t>)</a:t>
            </a:r>
            <a:endParaRPr lang="zh-CN" altLang="en-US" sz="2400"/>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439420" y="876935"/>
            <a:ext cx="8467090" cy="5357495"/>
          </a:xfrm>
          <a:prstGeom prst="rect">
            <a:avLst/>
          </a:prstGeom>
          <a:noFill/>
        </p:spPr>
        <p:txBody>
          <a:bodyPr wrap="square" rtlCol="0" anchor="t">
            <a:noAutofit/>
          </a:bodyPr>
          <a:p>
            <a:r>
              <a:rPr lang="zh-CN" altLang="en-US"/>
              <a:t>CREATE TRIGGER trig_transInfo_bank  ON transInfo</a:t>
            </a:r>
            <a:endParaRPr lang="zh-CN" altLang="en-US"/>
          </a:p>
          <a:p>
            <a:r>
              <a:rPr lang="zh-CN" altLang="en-US"/>
              <a:t>     FOR INSERT</a:t>
            </a:r>
            <a:endParaRPr lang="zh-CN" altLang="en-US"/>
          </a:p>
          <a:p>
            <a:r>
              <a:rPr lang="zh-CN" altLang="en-US"/>
              <a:t>     AS </a:t>
            </a:r>
            <a:endParaRPr lang="zh-CN" altLang="en-US"/>
          </a:p>
          <a:p>
            <a:r>
              <a:rPr lang="zh-CN" altLang="en-US"/>
              <a:t>          DECLARE @type char(4),@outMoney MONEY</a:t>
            </a:r>
            <a:endParaRPr lang="zh-CN" altLang="en-US"/>
          </a:p>
          <a:p>
            <a:r>
              <a:rPr lang="zh-CN" altLang="en-US"/>
              <a:t>          DECLARE @myCardID char(10),@balance MONEY</a:t>
            </a:r>
            <a:endParaRPr lang="zh-CN" altLang="en-US"/>
          </a:p>
          <a:p>
            <a:r>
              <a:rPr lang="zh-CN" altLang="en-US"/>
              <a:t>          SELECT @type=transType,@outMoney=transMoney,</a:t>
            </a:r>
            <a:endParaRPr lang="zh-CN" altLang="en-US"/>
          </a:p>
          <a:p>
            <a:r>
              <a:rPr lang="zh-CN" altLang="en-US"/>
              <a:t> </a:t>
            </a:r>
            <a:r>
              <a:rPr lang="en-US" altLang="zh-CN"/>
              <a:t>                        </a:t>
            </a:r>
            <a:r>
              <a:rPr lang="zh-CN" altLang="en-US"/>
              <a:t> @myCardID=cardID FROM inserted</a:t>
            </a:r>
            <a:endParaRPr lang="zh-CN" altLang="en-US"/>
          </a:p>
          <a:p>
            <a:r>
              <a:rPr lang="zh-CN" altLang="en-US"/>
              <a:t>            IF (@type='支取')</a:t>
            </a:r>
            <a:endParaRPr lang="zh-CN" altLang="en-US"/>
          </a:p>
          <a:p>
            <a:r>
              <a:rPr lang="zh-CN" altLang="en-US"/>
              <a:t>              BEGIN</a:t>
            </a:r>
            <a:endParaRPr lang="zh-CN" altLang="en-US"/>
          </a:p>
          <a:p>
            <a:r>
              <a:rPr lang="zh-CN" altLang="en-US"/>
              <a:t>	</a:t>
            </a:r>
            <a:r>
              <a:rPr lang="en-US" altLang="zh-CN"/>
              <a:t>   </a:t>
            </a:r>
            <a:r>
              <a:rPr lang="zh-CN" altLang="en-US"/>
              <a:t>UPDATE bank set currentMoney=currentMoney-@outMoney</a:t>
            </a:r>
            <a:endParaRPr lang="zh-CN" altLang="en-US"/>
          </a:p>
          <a:p>
            <a:r>
              <a:rPr lang="zh-CN" altLang="en-US"/>
              <a:t>                  </a:t>
            </a:r>
            <a:r>
              <a:rPr lang="en-US" altLang="zh-CN"/>
              <a:t>   </a:t>
            </a:r>
            <a:r>
              <a:rPr lang="zh-CN" altLang="en-US"/>
              <a:t>WHERE cardID=@myCardID</a:t>
            </a:r>
            <a:endParaRPr lang="zh-CN" altLang="en-US"/>
          </a:p>
          <a:p>
            <a:r>
              <a:rPr lang="zh-CN" altLang="en-US"/>
              <a:t>	print '账户存储金额减少'+convert(char(20),@outMoney)</a:t>
            </a:r>
            <a:endParaRPr lang="zh-CN" altLang="en-US"/>
          </a:p>
          <a:p>
            <a:r>
              <a:rPr lang="zh-CN" altLang="en-US"/>
              <a:t>	END</a:t>
            </a:r>
            <a:endParaRPr lang="zh-CN" altLang="en-US"/>
          </a:p>
          <a:p>
            <a:r>
              <a:rPr lang="zh-CN" altLang="en-US"/>
              <a:t>            ELSE</a:t>
            </a:r>
            <a:endParaRPr lang="zh-CN" altLang="en-US"/>
          </a:p>
          <a:p>
            <a:r>
              <a:rPr lang="zh-CN" altLang="en-US"/>
              <a:t>	BEGIN</a:t>
            </a:r>
            <a:endParaRPr lang="zh-CN" altLang="en-US"/>
          </a:p>
          <a:p>
            <a:r>
              <a:rPr lang="zh-CN" altLang="en-US"/>
              <a:t>                UPDATE bank set currentMoney=currentMoney+@outMoney</a:t>
            </a:r>
            <a:endParaRPr lang="zh-CN" altLang="en-US"/>
          </a:p>
          <a:p>
            <a:r>
              <a:rPr lang="zh-CN" altLang="en-US"/>
              <a:t>                    WHERE cardID=@myCardID</a:t>
            </a:r>
            <a:endParaRPr lang="zh-CN" altLang="en-US"/>
          </a:p>
          <a:p>
            <a:r>
              <a:rPr lang="zh-CN" altLang="en-US"/>
              <a:t>	</a:t>
            </a:r>
            <a:r>
              <a:rPr lang="en-US" altLang="zh-CN"/>
              <a:t> </a:t>
            </a:r>
            <a:r>
              <a:rPr lang="zh-CN" altLang="en-US"/>
              <a:t>print '账户存储金额增加'+convert(char(20),@outMoney)</a:t>
            </a:r>
            <a:endParaRPr lang="zh-CN" altLang="en-US"/>
          </a:p>
          <a:p>
            <a:r>
              <a:rPr lang="zh-CN" altLang="en-US"/>
              <a:t>            END	</a:t>
            </a:r>
            <a:endParaRPr lang="zh-CN" altLang="en-US"/>
          </a:p>
          <a:p>
            <a:r>
              <a:rPr lang="zh-CN" altLang="en-US"/>
              <a:t>GO</a:t>
            </a:r>
            <a:endParaRPr lang="zh-CN" altLang="en-US"/>
          </a:p>
        </p:txBody>
      </p:sp>
      <p:cxnSp>
        <p:nvCxnSpPr>
          <p:cNvPr id="5" name="直接连接符 4"/>
          <p:cNvCxnSpPr/>
          <p:nvPr/>
        </p:nvCxnSpPr>
        <p:spPr>
          <a:xfrm flipV="1">
            <a:off x="2379663" y="2818130"/>
            <a:ext cx="3360738" cy="9525"/>
          </a:xfrm>
          <a:prstGeom prst="line">
            <a:avLst/>
          </a:prstGeom>
          <a:ln>
            <a:solidFill>
              <a:srgbClr val="CC00FF"/>
            </a:solidFill>
          </a:ln>
        </p:spPr>
        <p:style>
          <a:lnRef idx="1">
            <a:schemeClr val="accent1"/>
          </a:lnRef>
          <a:fillRef idx="0">
            <a:schemeClr val="accent1"/>
          </a:fillRef>
          <a:effectRef idx="0">
            <a:schemeClr val="accent1"/>
          </a:effectRef>
          <a:fontRef idx="minor">
            <a:schemeClr val="tx1"/>
          </a:fontRef>
        </p:style>
      </p:cxnSp>
      <p:sp>
        <p:nvSpPr>
          <p:cNvPr id="8" name="圆角矩形标注 7"/>
          <p:cNvSpPr/>
          <p:nvPr/>
        </p:nvSpPr>
        <p:spPr>
          <a:xfrm>
            <a:off x="6146800" y="2827655"/>
            <a:ext cx="2276475" cy="509905"/>
          </a:xfrm>
          <a:prstGeom prst="wedgeRoundRectCallout">
            <a:avLst>
              <a:gd name="adj1" fmla="val -96284"/>
              <a:gd name="adj2" fmla="val -50312"/>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buNone/>
            </a:pPr>
            <a:r>
              <a:rPr lang="zh-CN" altLang="en-US" strike="noStrike" noProof="1">
                <a:solidFill>
                  <a:srgbClr val="FF0000"/>
                </a:solidFill>
              </a:rPr>
              <a:t>从</a:t>
            </a:r>
            <a:r>
              <a:rPr lang="en-US" altLang="zh-CN" strike="noStrike" noProof="1">
                <a:solidFill>
                  <a:srgbClr val="FF0000"/>
                </a:solidFill>
              </a:rPr>
              <a:t>inserted</a:t>
            </a:r>
            <a:r>
              <a:rPr lang="zh-CN" altLang="en-US" strike="noStrike" noProof="1">
                <a:solidFill>
                  <a:srgbClr val="FF0000"/>
                </a:solidFill>
              </a:rPr>
              <a:t>表中获取用户交易</a:t>
            </a:r>
            <a:r>
              <a:rPr lang="zh-CN" altLang="en-US" strike="noStrike" noProof="1">
                <a:solidFill>
                  <a:srgbClr val="FF0000"/>
                </a:solidFill>
              </a:rPr>
              <a:t>金额</a:t>
            </a:r>
            <a:endParaRPr lang="zh-CN" altLang="en-US" strike="noStrike" noProof="1">
              <a:solidFill>
                <a:srgbClr val="FF0000"/>
              </a:solidFill>
            </a:endParaRPr>
          </a:p>
        </p:txBody>
      </p:sp>
      <p:cxnSp>
        <p:nvCxnSpPr>
          <p:cNvPr id="3" name="直接连接符 2"/>
          <p:cNvCxnSpPr/>
          <p:nvPr/>
        </p:nvCxnSpPr>
        <p:spPr>
          <a:xfrm>
            <a:off x="1706563" y="3687445"/>
            <a:ext cx="6329045" cy="9525"/>
          </a:xfrm>
          <a:prstGeom prst="line">
            <a:avLst/>
          </a:prstGeom>
          <a:ln>
            <a:solidFill>
              <a:srgbClr val="CC00FF"/>
            </a:solidFill>
          </a:ln>
        </p:spPr>
        <p:style>
          <a:lnRef idx="1">
            <a:schemeClr val="accent1"/>
          </a:lnRef>
          <a:fillRef idx="0">
            <a:schemeClr val="accent1"/>
          </a:fillRef>
          <a:effectRef idx="0">
            <a:schemeClr val="accent1"/>
          </a:effectRef>
          <a:fontRef idx="minor">
            <a:schemeClr val="tx1"/>
          </a:fontRef>
        </p:style>
      </p:cxnSp>
      <p:sp>
        <p:nvSpPr>
          <p:cNvPr id="4" name="圆角矩形标注 3"/>
          <p:cNvSpPr/>
          <p:nvPr/>
        </p:nvSpPr>
        <p:spPr>
          <a:xfrm>
            <a:off x="6146800" y="3933190"/>
            <a:ext cx="2021205" cy="519430"/>
          </a:xfrm>
          <a:prstGeom prst="wedgeRoundRectCallout">
            <a:avLst>
              <a:gd name="adj1" fmla="val -94863"/>
              <a:gd name="adj2" fmla="val -97555"/>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buNone/>
            </a:pPr>
            <a:r>
              <a:rPr lang="zh-CN" altLang="en-US" strike="noStrike" noProof="1">
                <a:solidFill>
                  <a:srgbClr val="FF0000"/>
                </a:solidFill>
              </a:rPr>
              <a:t>根据支取金额更新</a:t>
            </a:r>
            <a:r>
              <a:rPr lang="zh-CN" altLang="en-US" strike="noStrike" noProof="1">
                <a:solidFill>
                  <a:srgbClr val="FF0000"/>
                </a:solidFill>
              </a:rPr>
              <a:t>账户</a:t>
            </a:r>
            <a:endParaRPr lang="zh-CN" altLang="en-US" strike="noStrike" noProof="1">
              <a:solidFill>
                <a:srgbClr val="FF0000"/>
              </a:solidFill>
            </a:endParaRPr>
          </a:p>
        </p:txBody>
      </p:sp>
      <p:cxnSp>
        <p:nvCxnSpPr>
          <p:cNvPr id="6" name="直接连接符 5"/>
          <p:cNvCxnSpPr/>
          <p:nvPr/>
        </p:nvCxnSpPr>
        <p:spPr>
          <a:xfrm>
            <a:off x="1706563" y="5302250"/>
            <a:ext cx="6329045" cy="9525"/>
          </a:xfrm>
          <a:prstGeom prst="line">
            <a:avLst/>
          </a:prstGeom>
          <a:ln>
            <a:solidFill>
              <a:srgbClr val="CC00FF"/>
            </a:solidFill>
          </a:ln>
        </p:spPr>
        <p:style>
          <a:lnRef idx="1">
            <a:schemeClr val="accent1"/>
          </a:lnRef>
          <a:fillRef idx="0">
            <a:schemeClr val="accent1"/>
          </a:fillRef>
          <a:effectRef idx="0">
            <a:schemeClr val="accent1"/>
          </a:effectRef>
          <a:fontRef idx="minor">
            <a:schemeClr val="tx1"/>
          </a:fontRef>
        </p:style>
      </p:cxnSp>
      <p:sp>
        <p:nvSpPr>
          <p:cNvPr id="7" name="圆角矩形标注 6"/>
          <p:cNvSpPr/>
          <p:nvPr/>
        </p:nvSpPr>
        <p:spPr>
          <a:xfrm>
            <a:off x="6146800" y="5547995"/>
            <a:ext cx="2021205" cy="519430"/>
          </a:xfrm>
          <a:prstGeom prst="wedgeRoundRectCallout">
            <a:avLst>
              <a:gd name="adj1" fmla="val -94863"/>
              <a:gd name="adj2" fmla="val -97555"/>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buNone/>
            </a:pPr>
            <a:r>
              <a:rPr lang="zh-CN" altLang="en-US" strike="noStrike" noProof="1">
                <a:solidFill>
                  <a:srgbClr val="FF0000"/>
                </a:solidFill>
              </a:rPr>
              <a:t>根据</a:t>
            </a:r>
            <a:r>
              <a:rPr lang="zh-CN" altLang="en-US" strike="noStrike" noProof="1">
                <a:solidFill>
                  <a:srgbClr val="FF0000"/>
                </a:solidFill>
              </a:rPr>
              <a:t>存储金额更新</a:t>
            </a:r>
            <a:r>
              <a:rPr lang="zh-CN" altLang="en-US" strike="noStrike" noProof="1">
                <a:solidFill>
                  <a:srgbClr val="FF0000"/>
                </a:solidFill>
              </a:rPr>
              <a:t>账户</a:t>
            </a:r>
            <a:endParaRPr lang="zh-CN" altLang="en-US" strike="noStrike" noProof="1">
              <a:solidFill>
                <a:srgbClr val="FF0000"/>
              </a:solidFill>
            </a:endParaRPr>
          </a:p>
        </p:txBody>
      </p:sp>
      <p:sp>
        <p:nvSpPr>
          <p:cNvPr id="60420"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10" name="文本框 9"/>
          <p:cNvSpPr txBox="1"/>
          <p:nvPr/>
        </p:nvSpPr>
        <p:spPr>
          <a:xfrm>
            <a:off x="439420" y="6067425"/>
            <a:ext cx="8229600" cy="398145"/>
          </a:xfrm>
          <a:prstGeom prst="rect">
            <a:avLst/>
          </a:prstGeom>
          <a:solidFill>
            <a:schemeClr val="accent3">
              <a:lumMod val="95000"/>
            </a:schemeClr>
          </a:solidFill>
        </p:spPr>
        <p:txBody>
          <a:bodyPr wrap="square" rtlCol="0" anchor="t">
            <a:noAutofit/>
          </a:bodyPr>
          <a:p>
            <a:r>
              <a:rPr lang="zh-CN" altLang="en-US" sz="2000"/>
              <a:t>insert transInfo values('1000','2001-02-15','存储',500)</a:t>
            </a:r>
            <a:endParaRPr lang="zh-CN" altLang="en-US" sz="20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ppt_x</p:attrName>
                                        </p:attrNameLst>
                                      </p:cBhvr>
                                      <p:tavLst>
                                        <p:tav tm="0">
                                          <p:val>
                                            <p:strVal val="#ppt_x"/>
                                          </p:val>
                                        </p:tav>
                                        <p:tav tm="100000">
                                          <p:val>
                                            <p:strVal val="#ppt_x"/>
                                          </p:val>
                                        </p:tav>
                                      </p:tavLst>
                                    </p:anim>
                                    <p:anim calcmode="lin" valueType="num">
                                      <p:cBhvr>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p:cTn id="11" dur="500" fill="hold"/>
                                        <p:tgtEl>
                                          <p:spTgt spid="8"/>
                                        </p:tgtEl>
                                        <p:attrNameLst>
                                          <p:attrName>ppt_x</p:attrName>
                                        </p:attrNameLst>
                                      </p:cBhvr>
                                      <p:tavLst>
                                        <p:tav tm="0">
                                          <p:val>
                                            <p:strVal val="#ppt_x"/>
                                          </p:val>
                                        </p:tav>
                                        <p:tav tm="100000">
                                          <p:val>
                                            <p:strVal val="#ppt_x"/>
                                          </p:val>
                                        </p:tav>
                                      </p:tavLst>
                                    </p:anim>
                                    <p:anim calcmode="lin" valueType="num">
                                      <p:cBhvr>
                                        <p:cTn id="1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p:cTn id="17" dur="500" fill="hold"/>
                                        <p:tgtEl>
                                          <p:spTgt spid="3"/>
                                        </p:tgtEl>
                                        <p:attrNameLst>
                                          <p:attrName>ppt_x</p:attrName>
                                        </p:attrNameLst>
                                      </p:cBhvr>
                                      <p:tavLst>
                                        <p:tav tm="0">
                                          <p:val>
                                            <p:strVal val="#ppt_x"/>
                                          </p:val>
                                        </p:tav>
                                        <p:tav tm="100000">
                                          <p:val>
                                            <p:strVal val="#ppt_x"/>
                                          </p:val>
                                        </p:tav>
                                      </p:tavLst>
                                    </p:anim>
                                    <p:anim calcmode="lin" valueType="num">
                                      <p:cBhvr>
                                        <p:cTn id="18" dur="500" fill="hold"/>
                                        <p:tgtEl>
                                          <p:spTgt spid="3"/>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anim calcmode="lin" valueType="num">
                                      <p:cBhvr>
                                        <p:cTn id="21" dur="500" fill="hold"/>
                                        <p:tgtEl>
                                          <p:spTgt spid="4"/>
                                        </p:tgtEl>
                                        <p:attrNameLst>
                                          <p:attrName>ppt_x</p:attrName>
                                        </p:attrNameLst>
                                      </p:cBhvr>
                                      <p:tavLst>
                                        <p:tav tm="0">
                                          <p:val>
                                            <p:strVal val="#ppt_x"/>
                                          </p:val>
                                        </p:tav>
                                        <p:tav tm="100000">
                                          <p:val>
                                            <p:strVal val="#ppt_x"/>
                                          </p:val>
                                        </p:tav>
                                      </p:tavLst>
                                    </p:anim>
                                    <p:anim calcmode="lin" valueType="num">
                                      <p:cBhvr>
                                        <p:cTn id="2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p:cTn id="27" dur="500" fill="hold"/>
                                        <p:tgtEl>
                                          <p:spTgt spid="6"/>
                                        </p:tgtEl>
                                        <p:attrNameLst>
                                          <p:attrName>ppt_x</p:attrName>
                                        </p:attrNameLst>
                                      </p:cBhvr>
                                      <p:tavLst>
                                        <p:tav tm="0">
                                          <p:val>
                                            <p:strVal val="#ppt_x"/>
                                          </p:val>
                                        </p:tav>
                                        <p:tav tm="100000">
                                          <p:val>
                                            <p:strVal val="#ppt_x"/>
                                          </p:val>
                                        </p:tav>
                                      </p:tavLst>
                                    </p:anim>
                                    <p:anim calcmode="lin" valueType="num">
                                      <p:cBhvr>
                                        <p:cTn id="28" dur="500" fill="hold"/>
                                        <p:tgtEl>
                                          <p:spTgt spid="6"/>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p:cTn id="31" dur="500" fill="hold"/>
                                        <p:tgtEl>
                                          <p:spTgt spid="7"/>
                                        </p:tgtEl>
                                        <p:attrNameLst>
                                          <p:attrName>ppt_x</p:attrName>
                                        </p:attrNameLst>
                                      </p:cBhvr>
                                      <p:tavLst>
                                        <p:tav tm="0">
                                          <p:val>
                                            <p:strVal val="#ppt_x"/>
                                          </p:val>
                                        </p:tav>
                                        <p:tav tm="100000">
                                          <p:val>
                                            <p:strVal val="#ppt_x"/>
                                          </p:val>
                                        </p:tav>
                                      </p:tavLst>
                                    </p:anim>
                                    <p:anim calcmode="lin" valueType="num">
                                      <p:cBhvr>
                                        <p:cTn id="3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500" fill="hold"/>
                                        <p:tgtEl>
                                          <p:spTgt spid="10"/>
                                        </p:tgtEl>
                                        <p:attrNameLst>
                                          <p:attrName>ppt_x</p:attrName>
                                        </p:attrNameLst>
                                      </p:cBhvr>
                                      <p:tavLst>
                                        <p:tav tm="0">
                                          <p:val>
                                            <p:strVal val="#ppt_x"/>
                                          </p:val>
                                        </p:tav>
                                        <p:tav tm="100000">
                                          <p:val>
                                            <p:strVal val="#ppt_x"/>
                                          </p:val>
                                        </p:tav>
                                      </p:tavLst>
                                    </p:anim>
                                    <p:anim calcmode="lin" valueType="num">
                                      <p:cBhvr additive="base">
                                        <p:cTn id="3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4" grpId="0" bldLvl="0" animBg="1"/>
      <p:bldP spid="7" grpId="0" bldLvl="0" animBg="1"/>
      <p:bldP spid="10" grpId="0" animBg="1"/>
      <p:bldP spid="10" grpId="1"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Rectangle 3"/>
          <p:cNvSpPr>
            <a:spLocks noGrp="1"/>
          </p:cNvSpPr>
          <p:nvPr/>
        </p:nvSpPr>
        <p:spPr>
          <a:xfrm>
            <a:off x="650875" y="1395413"/>
            <a:ext cx="8353425" cy="509588"/>
          </a:xfrm>
          <a:prstGeom prst="rect">
            <a:avLst/>
          </a:prstGeom>
          <a:noFill/>
          <a:ln w="9525">
            <a:noFill/>
          </a:ln>
        </p:spPr>
        <p:txBody>
          <a:bodyPr/>
          <a:p>
            <a:pPr marL="342900" lvl="0" indent="-342900" eaLnBrk="1" fontAlgn="base" hangingPunct="1">
              <a:lnSpc>
                <a:spcPct val="135000"/>
              </a:lnSpc>
              <a:spcBef>
                <a:spcPct val="20000"/>
              </a:spcBef>
              <a:buClr>
                <a:srgbClr val="C00000"/>
              </a:buClr>
              <a:buSzPct val="100000"/>
              <a:buFont typeface="Wingdings" panose="05000000000000000000" pitchFamily="2" charset="2"/>
              <a:buChar char="p"/>
            </a:pPr>
            <a:r>
              <a:rPr lang="en-US" altLang="zh-CN" sz="2200" strike="noStrike" noProof="1" dirty="0">
                <a:solidFill>
                  <a:srgbClr val="FF0000"/>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DELE</a:t>
            </a:r>
            <a:r>
              <a:rPr lang="en-US" altLang="zh-CN" sz="2200" strike="noStrike" noProof="1" dirty="0">
                <a:solidFill>
                  <a:srgbClr val="FF0000"/>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TED</a:t>
            </a:r>
            <a:r>
              <a:rPr lang="zh-CN" altLang="en-US" sz="2200" strike="noStrike" noProof="1" dirty="0">
                <a:solidFill>
                  <a:srgbClr val="FF0000"/>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触发器实例</a:t>
            </a:r>
            <a:endParaRPr lang="zh-CN" altLang="en-US" sz="2200" strike="noStrike" noProof="1" dirty="0">
              <a:solidFill>
                <a:srgbClr val="FF0000"/>
              </a:solidFill>
              <a:effectLst>
                <a:outerShdw blurRad="38100" dist="38100" dir="2700000">
                  <a:srgbClr val="C0C0C0"/>
                </a:outerShdw>
              </a:effectLst>
              <a:latin typeface="Arial" panose="020B0604020202020204" pitchFamily="34" charset="0"/>
              <a:ea typeface="宋体" panose="02010600030101010101" pitchFamily="2" charset="-122"/>
              <a:sym typeface="Arial" panose="020B0604020202020204" pitchFamily="34" charset="0"/>
            </a:endParaRPr>
          </a:p>
          <a:p>
            <a:pPr lvl="0" eaLnBrk="1" fontAlgn="base" hangingPunct="1">
              <a:lnSpc>
                <a:spcPct val="135000"/>
              </a:lnSpc>
              <a:spcBef>
                <a:spcPct val="20000"/>
              </a:spcBef>
              <a:buClr>
                <a:srgbClr val="0033CC"/>
              </a:buClr>
              <a:buSzPct val="80000"/>
              <a:buFont typeface="Wingdings" panose="05000000000000000000" pitchFamily="2" charset="2"/>
            </a:pPr>
            <a:r>
              <a:rPr lang="zh-CN" altLang="en-US" sz="2000" strike="noStrike" noProof="1" dirty="0">
                <a:solidFill>
                  <a:srgbClr val="0033CC"/>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  </a:t>
            </a:r>
            <a:endParaRPr lang="zh-CN" altLang="en-US" sz="2000" strike="noStrike" noProof="1" dirty="0">
              <a:solidFill>
                <a:srgbClr val="0033CC"/>
              </a:solidFill>
              <a:effectLst>
                <a:outerShdw blurRad="38100" dist="38100" dir="2700000">
                  <a:srgbClr val="C0C0C0"/>
                </a:outerShdw>
              </a:effectLst>
              <a:latin typeface="Arial" panose="020B0604020202020204" pitchFamily="34" charset="0"/>
              <a:ea typeface="宋体" panose="02010600030101010101" pitchFamily="2" charset="-122"/>
              <a:sym typeface="Arial" panose="020B0604020202020204" pitchFamily="34" charset="0"/>
            </a:endParaRPr>
          </a:p>
        </p:txBody>
      </p:sp>
      <p:sp>
        <p:nvSpPr>
          <p:cNvPr id="4" name="Rectangle 3"/>
          <p:cNvSpPr>
            <a:spLocks noGrp="1"/>
          </p:cNvSpPr>
          <p:nvPr/>
        </p:nvSpPr>
        <p:spPr>
          <a:xfrm>
            <a:off x="706438" y="1935163"/>
            <a:ext cx="7939088" cy="509588"/>
          </a:xfrm>
          <a:prstGeom prst="rect">
            <a:avLst/>
          </a:prstGeom>
          <a:noFill/>
          <a:ln w="9525">
            <a:noFill/>
          </a:ln>
        </p:spPr>
        <p:txBody>
          <a:bodyPr/>
          <a:p>
            <a:pPr marL="342900" lvl="0" indent="-342900" eaLnBrk="1" fontAlgn="base" hangingPunct="1">
              <a:lnSpc>
                <a:spcPct val="100000"/>
              </a:lnSpc>
              <a:spcBef>
                <a:spcPct val="20000"/>
              </a:spcBef>
              <a:buClr>
                <a:srgbClr val="0033CC"/>
              </a:buClr>
              <a:buSzPct val="80000"/>
              <a:buFont typeface="Wingdings" panose="05000000000000000000" charset="0"/>
              <a:buChar char="Ø"/>
            </a:pPr>
            <a:r>
              <a:rPr lang="zh-CN" altLang="en-US" sz="2400" strike="noStrike" noProof="1" dirty="0">
                <a:solidFill>
                  <a:srgbClr val="0033CC"/>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问题：</a:t>
            </a:r>
            <a:r>
              <a:rPr lang="zh-CN" altLang="en-US"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当删除交易信息时，要求自动备份被删除的数据到表</a:t>
            </a:r>
            <a:r>
              <a:rPr lang="en-US" altLang="zh-CN"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backupTable</a:t>
            </a:r>
            <a:r>
              <a:rPr lang="zh-CN" altLang="en-US"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中（相当于数据归档）</a:t>
            </a:r>
            <a:r>
              <a:rPr lang="zh-CN" altLang="en-US"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a:t>
            </a:r>
            <a:endParaRPr lang="zh-CN" altLang="en-US"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sym typeface="Arial" panose="020B0604020202020204" pitchFamily="34" charset="0"/>
            </a:endParaRPr>
          </a:p>
        </p:txBody>
      </p:sp>
      <p:sp>
        <p:nvSpPr>
          <p:cNvPr id="5" name="Rectangle 3"/>
          <p:cNvSpPr>
            <a:spLocks noGrp="1"/>
          </p:cNvSpPr>
          <p:nvPr/>
        </p:nvSpPr>
        <p:spPr>
          <a:xfrm>
            <a:off x="696913" y="2832100"/>
            <a:ext cx="7939088" cy="509588"/>
          </a:xfrm>
          <a:prstGeom prst="rect">
            <a:avLst/>
          </a:prstGeom>
          <a:noFill/>
          <a:ln w="9525">
            <a:noFill/>
          </a:ln>
        </p:spPr>
        <p:txBody>
          <a:bodyPr/>
          <a:p>
            <a:pPr marL="342900" lvl="0" indent="-342900" eaLnBrk="1" fontAlgn="base" hangingPunct="1">
              <a:lnSpc>
                <a:spcPct val="100000"/>
              </a:lnSpc>
              <a:spcBef>
                <a:spcPct val="20000"/>
              </a:spcBef>
              <a:buClr>
                <a:srgbClr val="0033CC"/>
              </a:buClr>
              <a:buSzPct val="80000"/>
              <a:buFont typeface="Wingdings" panose="05000000000000000000" charset="0"/>
              <a:buChar char="Ø"/>
            </a:pPr>
            <a:r>
              <a:rPr lang="zh-CN" altLang="en-US" sz="2400" strike="noStrike" noProof="1" dirty="0">
                <a:solidFill>
                  <a:srgbClr val="0033CC"/>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分析：</a:t>
            </a:r>
            <a:r>
              <a:rPr lang="zh-CN" altLang="en-US"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在交易信息表上创建</a:t>
            </a:r>
            <a:r>
              <a:rPr lang="en-US" altLang="zh-CN"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DELETE</a:t>
            </a:r>
            <a:r>
              <a:rPr lang="zh-CN" altLang="en-US"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触发器；被删除的数据可以从</a:t>
            </a:r>
            <a:r>
              <a:rPr lang="en-US" altLang="zh-CN"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deleted</a:t>
            </a:r>
            <a:r>
              <a:rPr lang="zh-CN" altLang="en-US"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表中获取</a:t>
            </a:r>
            <a:r>
              <a:rPr lang="zh-CN" altLang="en-US"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a:t>
            </a:r>
            <a:endParaRPr lang="zh-CN" altLang="en-US"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sym typeface="Arial" panose="020B0604020202020204" pitchFamily="34" charset="0"/>
            </a:endParaRPr>
          </a:p>
        </p:txBody>
      </p:sp>
      <p:graphicFrame>
        <p:nvGraphicFramePr>
          <p:cNvPr id="3" name="对象 2"/>
          <p:cNvGraphicFramePr/>
          <p:nvPr/>
        </p:nvGraphicFramePr>
        <p:xfrm>
          <a:off x="1504950" y="2040890"/>
          <a:ext cx="7296785" cy="4008120"/>
        </p:xfrm>
        <a:graphic>
          <a:graphicData uri="http://schemas.openxmlformats.org/presentationml/2006/ole">
            <mc:AlternateContent xmlns:mc="http://schemas.openxmlformats.org/markup-compatibility/2006">
              <mc:Choice xmlns:v="urn:schemas-microsoft-com:vml" Requires="v">
                <p:oleObj spid="_x0000_s3079" name="" r:id="rId1" imgW="6972300" imgH="3835400" progId="Paint.Picture">
                  <p:embed/>
                </p:oleObj>
              </mc:Choice>
              <mc:Fallback>
                <p:oleObj name="" r:id="rId1" imgW="6972300" imgH="3835400" progId="Paint.Picture">
                  <p:embed/>
                  <p:pic>
                    <p:nvPicPr>
                      <p:cNvPr id="0" name="图片 3078"/>
                      <p:cNvPicPr/>
                      <p:nvPr/>
                    </p:nvPicPr>
                    <p:blipFill>
                      <a:blip r:embed="rId2"/>
                      <a:stretch>
                        <a:fillRect/>
                      </a:stretch>
                    </p:blipFill>
                    <p:spPr>
                      <a:xfrm>
                        <a:off x="1504950" y="2040890"/>
                        <a:ext cx="7296785" cy="4008120"/>
                      </a:xfrm>
                      <a:prstGeom prst="rect">
                        <a:avLst/>
                      </a:prstGeom>
                      <a:noFill/>
                      <a:ln w="38100">
                        <a:noFill/>
                        <a:miter/>
                      </a:ln>
                    </p:spPr>
                  </p:pic>
                </p:oleObj>
              </mc:Fallback>
            </mc:AlternateContent>
          </a:graphicData>
        </a:graphic>
      </p:graphicFrame>
      <p:sp>
        <p:nvSpPr>
          <p:cNvPr id="2" name="矩形 1"/>
          <p:cNvSpPr/>
          <p:nvPr/>
        </p:nvSpPr>
        <p:spPr>
          <a:xfrm>
            <a:off x="509270" y="690245"/>
            <a:ext cx="8375650" cy="755650"/>
          </a:xfrm>
          <a:prstGeom prst="rect">
            <a:avLst/>
          </a:prstGeom>
          <a:noFill/>
          <a:ln w="9525">
            <a:noFill/>
          </a:ln>
        </p:spPr>
        <p:txBody>
          <a:bodyPr anchor="t">
            <a:spAutoFit/>
          </a:bodyPr>
          <a:p>
            <a:pPr algn="l" fontAlgn="base">
              <a:lnSpc>
                <a:spcPct val="135000"/>
              </a:lnSpc>
              <a:buClrTx/>
              <a:buSzTx/>
              <a:buFont typeface="Wingdings" panose="05000000000000000000" charset="0"/>
              <a:buChar char="p"/>
            </a:pPr>
            <a:r>
              <a:rPr lang="zh-CN" altLang="en-US" sz="3200" strike="noStrike" noProof="1" dirty="0">
                <a:gradFill>
                  <a:gsLst>
                    <a:gs pos="0">
                      <a:srgbClr val="E30000"/>
                    </a:gs>
                    <a:gs pos="100000">
                      <a:srgbClr val="760303"/>
                    </a:gs>
                  </a:gsLst>
                  <a:lin scaled="0"/>
                </a:gradFill>
                <a:latin typeface="黑体" panose="02010609060101010101" pitchFamily="1" charset="-122"/>
                <a:ea typeface="黑体" panose="02010609060101010101" pitchFamily="1" charset="-122"/>
                <a:cs typeface="+mn-cs"/>
              </a:rPr>
              <a:t>知识点：</a:t>
            </a:r>
            <a:r>
              <a:rPr lang="zh-CN" altLang="en-US" sz="2800" strike="noStrike" noProof="1" dirty="0">
                <a:solidFill>
                  <a:srgbClr val="0033CC"/>
                </a:solidFill>
                <a:latin typeface="黑体" panose="02010609060101010101" pitchFamily="1" charset="-122"/>
                <a:ea typeface="黑体" panose="02010609060101010101" pitchFamily="1" charset="-122"/>
                <a:cs typeface="+mn-ea"/>
              </a:rPr>
              <a:t>触发器</a:t>
            </a:r>
            <a:r>
              <a:rPr lang="zh-CN" altLang="en-US" sz="2800" strike="noStrike" noProof="1" dirty="0">
                <a:solidFill>
                  <a:srgbClr val="0033CC"/>
                </a:solidFill>
                <a:latin typeface="黑体" panose="02010609060101010101" pitchFamily="1" charset="-122"/>
                <a:ea typeface="黑体" panose="02010609060101010101" pitchFamily="1" charset="-122"/>
                <a:cs typeface="+mn-ea"/>
              </a:rPr>
              <a:t>的创建和修改</a:t>
            </a:r>
            <a:endParaRPr lang="zh-CN" altLang="en-US" sz="2800" strike="noStrike" noProof="1" dirty="0">
              <a:solidFill>
                <a:srgbClr val="0033CC"/>
              </a:solidFill>
              <a:latin typeface="黑体" panose="02010609060101010101" pitchFamily="1" charset="-122"/>
              <a:ea typeface="黑体" panose="02010609060101010101" pitchFamily="1" charset="-122"/>
              <a:cs typeface="+mn-ea"/>
            </a:endParaRPr>
          </a:p>
        </p:txBody>
      </p:sp>
      <p:sp>
        <p:nvSpPr>
          <p:cNvPr id="61446" name="文本框 6"/>
          <p:cNvSpPr txBox="1"/>
          <p:nvPr/>
        </p:nvSpPr>
        <p:spPr>
          <a:xfrm>
            <a:off x="6132195" y="1114425"/>
            <a:ext cx="2669540" cy="768350"/>
          </a:xfrm>
          <a:prstGeom prst="rect">
            <a:avLst/>
          </a:prstGeom>
          <a:solidFill>
            <a:schemeClr val="accent1"/>
          </a:solidFill>
          <a:ln w="9525">
            <a:noFill/>
          </a:ln>
        </p:spPr>
        <p:txBody>
          <a:bodyPr wrap="square" anchor="t" anchorCtr="0">
            <a:spAutoFit/>
          </a:bodyPr>
          <a:p>
            <a:pPr>
              <a:buSzTx/>
            </a:pPr>
            <a:r>
              <a:rPr lang="zh-CN" altLang="en-US" sz="2200">
                <a:solidFill>
                  <a:srgbClr val="FF0000"/>
                </a:solidFill>
                <a:latin typeface="Arial" panose="020B0604020202020204" pitchFamily="34" charset="0"/>
                <a:ea typeface="宋体" panose="02010600030101010101" pitchFamily="2" charset="-122"/>
              </a:rPr>
              <a:t>实例</a:t>
            </a:r>
            <a:r>
              <a:rPr lang="en-US" altLang="zh-CN" sz="2200">
                <a:solidFill>
                  <a:srgbClr val="FF0000"/>
                </a:solidFill>
                <a:latin typeface="Arial" panose="020B0604020202020204" pitchFamily="34" charset="0"/>
                <a:ea typeface="宋体" panose="02010600030101010101" pitchFamily="2" charset="-122"/>
              </a:rPr>
              <a:t>3—</a:t>
            </a:r>
            <a:r>
              <a:rPr lang="zh-CN" altLang="en-US" sz="2200">
                <a:solidFill>
                  <a:srgbClr val="FF0000"/>
                </a:solidFill>
                <a:latin typeface="Arial" panose="020B0604020202020204" pitchFamily="34" charset="0"/>
                <a:ea typeface="宋体" panose="02010600030101010101" pitchFamily="2" charset="-122"/>
              </a:rPr>
              <a:t>用触发器实现业务数据的备份</a:t>
            </a:r>
            <a:endParaRPr lang="zh-CN" altLang="en-US" sz="2200">
              <a:solidFill>
                <a:srgbClr val="FF0000"/>
              </a:solidFill>
              <a:latin typeface="Arial" panose="020B0604020202020204" pitchFamily="34" charset="0"/>
              <a:ea typeface="宋体" panose="02010600030101010101" pitchFamily="2" charset="-122"/>
            </a:endParaRPr>
          </a:p>
        </p:txBody>
      </p:sp>
      <p:sp>
        <p:nvSpPr>
          <p:cNvPr id="61447"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6802"/>
                                        </p:tgtEl>
                                        <p:attrNameLst>
                                          <p:attrName>style.visibility</p:attrName>
                                        </p:attrNameLst>
                                      </p:cBhvr>
                                      <p:to>
                                        <p:strVal val="visible"/>
                                      </p:to>
                                    </p:set>
                                    <p:anim calcmode="lin" valueType="num">
                                      <p:cBhvr>
                                        <p:cTn id="7" dur="500" fill="hold"/>
                                        <p:tgtEl>
                                          <p:spTgt spid="76802"/>
                                        </p:tgtEl>
                                        <p:attrNameLst>
                                          <p:attrName>ppt_x</p:attrName>
                                        </p:attrNameLst>
                                      </p:cBhvr>
                                      <p:tavLst>
                                        <p:tav tm="0">
                                          <p:val>
                                            <p:strVal val="#ppt_x"/>
                                          </p:val>
                                        </p:tav>
                                        <p:tav tm="100000">
                                          <p:val>
                                            <p:strVal val="#ppt_x"/>
                                          </p:val>
                                        </p:tav>
                                      </p:tavLst>
                                    </p:anim>
                                    <p:anim calcmode="lin" valueType="num">
                                      <p:cBhvr>
                                        <p:cTn id="8" dur="500" fill="hold"/>
                                        <p:tgtEl>
                                          <p:spTgt spid="7680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500" fill="hold"/>
                                        <p:tgtEl>
                                          <p:spTgt spid="5"/>
                                        </p:tgtEl>
                                        <p:attrNameLst>
                                          <p:attrName>ppt_x</p:attrName>
                                        </p:attrNameLst>
                                      </p:cBhvr>
                                      <p:tavLst>
                                        <p:tav tm="0">
                                          <p:val>
                                            <p:strVal val="#ppt_x"/>
                                          </p:val>
                                        </p:tav>
                                        <p:tav tm="100000">
                                          <p:val>
                                            <p:strVal val="#ppt_x"/>
                                          </p:val>
                                        </p:tav>
                                      </p:tavLst>
                                    </p:anim>
                                    <p:anim calcmode="lin" valueType="num">
                                      <p:cBhvr>
                                        <p:cTn id="12" dur="500" fill="hold"/>
                                        <p:tgtEl>
                                          <p:spTgt spid="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p:cTn id="15" dur="500" fill="hold"/>
                                        <p:tgtEl>
                                          <p:spTgt spid="4"/>
                                        </p:tgtEl>
                                        <p:attrNameLst>
                                          <p:attrName>ppt_x</p:attrName>
                                        </p:attrNameLst>
                                      </p:cBhvr>
                                      <p:tavLst>
                                        <p:tav tm="0">
                                          <p:val>
                                            <p:strVal val="#ppt_x"/>
                                          </p:val>
                                        </p:tav>
                                        <p:tav tm="100000">
                                          <p:val>
                                            <p:strVal val="#ppt_x"/>
                                          </p:val>
                                        </p:tav>
                                      </p:tavLst>
                                    </p:anim>
                                    <p:anim calcmode="lin" valueType="num">
                                      <p:cBhvr>
                                        <p:cTn id="1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p:cTn id="21" dur="500" fill="hold"/>
                                        <p:tgtEl>
                                          <p:spTgt spid="3"/>
                                        </p:tgtEl>
                                        <p:attrNameLst>
                                          <p:attrName>ppt_x</p:attrName>
                                        </p:attrNameLst>
                                      </p:cBhvr>
                                      <p:tavLst>
                                        <p:tav tm="0">
                                          <p:val>
                                            <p:strVal val="#ppt_x"/>
                                          </p:val>
                                        </p:tav>
                                        <p:tav tm="100000">
                                          <p:val>
                                            <p:strVal val="#ppt_x"/>
                                          </p:val>
                                        </p:tav>
                                      </p:tavLst>
                                    </p:anim>
                                    <p:anim calcmode="lin" valueType="num">
                                      <p:cBhvr>
                                        <p:cTn id="2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2" grpId="0"/>
      <p:bldP spid="4" grpId="0"/>
      <p:bldP spid="5"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62465" name="对象 2"/>
          <p:cNvGraphicFramePr/>
          <p:nvPr/>
        </p:nvGraphicFramePr>
        <p:xfrm>
          <a:off x="504190" y="1695450"/>
          <a:ext cx="8424000" cy="4608000"/>
        </p:xfrm>
        <a:graphic>
          <a:graphicData uri="http://schemas.openxmlformats.org/presentationml/2006/ole">
            <mc:AlternateContent xmlns:mc="http://schemas.openxmlformats.org/markup-compatibility/2006">
              <mc:Choice xmlns:v="urn:schemas-microsoft-com:vml" Requires="v">
                <p:oleObj spid="_x0000_s3078" name="" r:id="rId1" imgW="6997700" imgH="3740150" progId="Paint.Picture">
                  <p:embed/>
                </p:oleObj>
              </mc:Choice>
              <mc:Fallback>
                <p:oleObj name="" r:id="rId1" imgW="6997700" imgH="3740150" progId="Paint.Picture">
                  <p:embed/>
                  <p:pic>
                    <p:nvPicPr>
                      <p:cNvPr id="0" name="图片 3077"/>
                      <p:cNvPicPr/>
                      <p:nvPr/>
                    </p:nvPicPr>
                    <p:blipFill>
                      <a:blip r:embed="rId2"/>
                      <a:stretch>
                        <a:fillRect/>
                      </a:stretch>
                    </p:blipFill>
                    <p:spPr>
                      <a:xfrm>
                        <a:off x="504190" y="1695450"/>
                        <a:ext cx="8424000" cy="4608000"/>
                      </a:xfrm>
                      <a:prstGeom prst="rect">
                        <a:avLst/>
                      </a:prstGeom>
                      <a:noFill/>
                      <a:ln w="38100">
                        <a:noFill/>
                        <a:miter/>
                      </a:ln>
                    </p:spPr>
                  </p:pic>
                </p:oleObj>
              </mc:Fallback>
            </mc:AlternateContent>
          </a:graphicData>
        </a:graphic>
      </p:graphicFrame>
      <p:sp>
        <p:nvSpPr>
          <p:cNvPr id="76802" name="Rectangle 3"/>
          <p:cNvSpPr>
            <a:spLocks noGrp="1"/>
          </p:cNvSpPr>
          <p:nvPr/>
        </p:nvSpPr>
        <p:spPr>
          <a:xfrm>
            <a:off x="5943600" y="1184275"/>
            <a:ext cx="2984500" cy="511175"/>
          </a:xfrm>
          <a:prstGeom prst="rect">
            <a:avLst/>
          </a:prstGeom>
          <a:noFill/>
          <a:ln w="9525">
            <a:noFill/>
          </a:ln>
        </p:spPr>
        <p:txBody>
          <a:bodyPr/>
          <a:p>
            <a:pPr lvl="0" eaLnBrk="1" fontAlgn="base" hangingPunct="1">
              <a:lnSpc>
                <a:spcPct val="135000"/>
              </a:lnSpc>
              <a:spcBef>
                <a:spcPct val="20000"/>
              </a:spcBef>
              <a:buClr>
                <a:srgbClr val="C00000"/>
              </a:buClr>
              <a:buSzPct val="100000"/>
              <a:buFont typeface="Wingdings" panose="05000000000000000000" pitchFamily="2" charset="2"/>
              <a:buNone/>
            </a:pPr>
            <a:r>
              <a:rPr lang="en-US" altLang="zh-CN" sz="2200" strike="noStrike" noProof="1" dirty="0">
                <a:solidFill>
                  <a:srgbClr val="FF0000"/>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DELE</a:t>
            </a:r>
            <a:r>
              <a:rPr lang="en-US" altLang="zh-CN" sz="2200" strike="noStrike" noProof="1" dirty="0">
                <a:solidFill>
                  <a:srgbClr val="FF0000"/>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TED</a:t>
            </a:r>
            <a:r>
              <a:rPr lang="zh-CN" altLang="en-US" sz="2200" strike="noStrike" noProof="1" dirty="0">
                <a:solidFill>
                  <a:srgbClr val="FF0000"/>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触发器实例</a:t>
            </a:r>
            <a:endParaRPr lang="zh-CN" altLang="en-US" sz="2000" strike="noStrike" noProof="1" dirty="0">
              <a:solidFill>
                <a:srgbClr val="0033CC"/>
              </a:solidFill>
              <a:effectLst>
                <a:outerShdw blurRad="38100" dist="38100" dir="2700000">
                  <a:srgbClr val="C0C0C0"/>
                </a:outerShdw>
              </a:effectLst>
              <a:latin typeface="Arial" panose="020B0604020202020204" pitchFamily="34" charset="0"/>
              <a:ea typeface="宋体" panose="02010600030101010101" pitchFamily="2" charset="-122"/>
              <a:sym typeface="Arial" panose="020B0604020202020204" pitchFamily="34" charset="0"/>
            </a:endParaRPr>
          </a:p>
        </p:txBody>
      </p:sp>
      <p:sp>
        <p:nvSpPr>
          <p:cNvPr id="2" name="矩形 1"/>
          <p:cNvSpPr/>
          <p:nvPr/>
        </p:nvSpPr>
        <p:spPr>
          <a:xfrm>
            <a:off x="407670" y="690245"/>
            <a:ext cx="8375650" cy="755650"/>
          </a:xfrm>
          <a:prstGeom prst="rect">
            <a:avLst/>
          </a:prstGeom>
          <a:noFill/>
          <a:ln w="9525">
            <a:noFill/>
          </a:ln>
        </p:spPr>
        <p:txBody>
          <a:bodyPr anchor="t">
            <a:spAutoFit/>
          </a:bodyPr>
          <a:p>
            <a:pPr algn="l" fontAlgn="base">
              <a:lnSpc>
                <a:spcPct val="135000"/>
              </a:lnSpc>
              <a:buClrTx/>
              <a:buSzTx/>
              <a:buFont typeface="Wingdings" panose="05000000000000000000" charset="0"/>
              <a:buChar char="p"/>
            </a:pPr>
            <a:r>
              <a:rPr lang="zh-CN" altLang="en-US" sz="3200" strike="noStrike" noProof="1" dirty="0">
                <a:gradFill>
                  <a:gsLst>
                    <a:gs pos="0">
                      <a:srgbClr val="E30000"/>
                    </a:gs>
                    <a:gs pos="100000">
                      <a:srgbClr val="760303"/>
                    </a:gs>
                  </a:gsLst>
                  <a:lin scaled="0"/>
                </a:gradFill>
                <a:latin typeface="黑体" panose="02010609060101010101" pitchFamily="1" charset="-122"/>
                <a:ea typeface="黑体" panose="02010609060101010101" pitchFamily="1" charset="-122"/>
                <a:cs typeface="+mn-cs"/>
              </a:rPr>
              <a:t>知识点：</a:t>
            </a:r>
            <a:r>
              <a:rPr lang="zh-CN" altLang="en-US" sz="2800" strike="noStrike" noProof="1" dirty="0">
                <a:solidFill>
                  <a:srgbClr val="0033CC"/>
                </a:solidFill>
                <a:latin typeface="黑体" panose="02010609060101010101" pitchFamily="1" charset="-122"/>
                <a:ea typeface="黑体" panose="02010609060101010101" pitchFamily="1" charset="-122"/>
                <a:cs typeface="+mn-ea"/>
              </a:rPr>
              <a:t>触发器</a:t>
            </a:r>
            <a:r>
              <a:rPr lang="zh-CN" altLang="en-US" sz="2800" strike="noStrike" noProof="1" dirty="0">
                <a:solidFill>
                  <a:srgbClr val="0033CC"/>
                </a:solidFill>
                <a:latin typeface="黑体" panose="02010609060101010101" pitchFamily="1" charset="-122"/>
                <a:ea typeface="黑体" panose="02010609060101010101" pitchFamily="1" charset="-122"/>
                <a:cs typeface="+mn-ea"/>
              </a:rPr>
              <a:t>的创建和修改</a:t>
            </a:r>
            <a:endParaRPr lang="zh-CN" altLang="en-US" sz="2800" strike="noStrike" noProof="1" dirty="0">
              <a:solidFill>
                <a:srgbClr val="0033CC"/>
              </a:solidFill>
              <a:latin typeface="黑体" panose="02010609060101010101" pitchFamily="1" charset="-122"/>
              <a:ea typeface="黑体" panose="02010609060101010101" pitchFamily="1" charset="-122"/>
              <a:cs typeface="+mn-ea"/>
            </a:endParaRPr>
          </a:p>
        </p:txBody>
      </p:sp>
      <p:sp>
        <p:nvSpPr>
          <p:cNvPr id="62468"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3"/>
          <p:cNvSpPr>
            <a:spLocks noGrp="1"/>
          </p:cNvSpPr>
          <p:nvPr/>
        </p:nvSpPr>
        <p:spPr>
          <a:xfrm>
            <a:off x="706438" y="1935163"/>
            <a:ext cx="7939088" cy="509588"/>
          </a:xfrm>
          <a:prstGeom prst="rect">
            <a:avLst/>
          </a:prstGeom>
          <a:noFill/>
          <a:ln w="9525">
            <a:noFill/>
          </a:ln>
        </p:spPr>
        <p:txBody>
          <a:bodyPr/>
          <a:p>
            <a:pPr marL="342900" lvl="0" indent="-342900" eaLnBrk="1" fontAlgn="base" hangingPunct="1">
              <a:lnSpc>
                <a:spcPct val="100000"/>
              </a:lnSpc>
              <a:spcBef>
                <a:spcPct val="20000"/>
              </a:spcBef>
              <a:buClr>
                <a:srgbClr val="0033CC"/>
              </a:buClr>
              <a:buSzPct val="80000"/>
              <a:buFont typeface="Wingdings" panose="05000000000000000000" charset="0"/>
              <a:buChar char="Ø"/>
            </a:pPr>
            <a:r>
              <a:rPr lang="zh-CN" altLang="en-US" sz="2400" strike="noStrike" noProof="1" dirty="0">
                <a:solidFill>
                  <a:srgbClr val="0033CC"/>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问题：</a:t>
            </a:r>
            <a:r>
              <a:rPr lang="zh-CN" altLang="en-US"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跟踪用户的交易，交易金额超过</a:t>
            </a:r>
            <a:r>
              <a:rPr lang="en-US" altLang="zh-CN"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20000</a:t>
            </a:r>
            <a:r>
              <a:rPr lang="zh-CN" altLang="en-US"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元，则取消交易，并给出错误提示</a:t>
            </a:r>
            <a:r>
              <a:rPr lang="zh-CN" altLang="en-US"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a:t>
            </a:r>
            <a:endParaRPr lang="zh-CN" altLang="en-US"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sym typeface="Arial" panose="020B0604020202020204" pitchFamily="34" charset="0"/>
            </a:endParaRPr>
          </a:p>
        </p:txBody>
      </p:sp>
      <p:sp>
        <p:nvSpPr>
          <p:cNvPr id="5" name="Rectangle 3"/>
          <p:cNvSpPr>
            <a:spLocks noGrp="1"/>
          </p:cNvSpPr>
          <p:nvPr/>
        </p:nvSpPr>
        <p:spPr>
          <a:xfrm>
            <a:off x="696913" y="2832100"/>
            <a:ext cx="7939088" cy="509588"/>
          </a:xfrm>
          <a:prstGeom prst="rect">
            <a:avLst/>
          </a:prstGeom>
          <a:noFill/>
          <a:ln w="9525">
            <a:noFill/>
          </a:ln>
        </p:spPr>
        <p:txBody>
          <a:bodyPr/>
          <a:p>
            <a:pPr marL="342900" lvl="0" indent="-342900" eaLnBrk="1" fontAlgn="base" hangingPunct="1">
              <a:lnSpc>
                <a:spcPct val="100000"/>
              </a:lnSpc>
              <a:spcBef>
                <a:spcPct val="20000"/>
              </a:spcBef>
              <a:buClr>
                <a:srgbClr val="0033CC"/>
              </a:buClr>
              <a:buSzPct val="80000"/>
              <a:buFont typeface="Wingdings" panose="05000000000000000000" charset="0"/>
              <a:buChar char="Ø"/>
            </a:pPr>
            <a:r>
              <a:rPr lang="zh-CN" altLang="en-US" sz="2400" strike="noStrike" noProof="1" dirty="0">
                <a:solidFill>
                  <a:srgbClr val="0033CC"/>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分析：</a:t>
            </a:r>
            <a:r>
              <a:rPr lang="zh-CN" altLang="en-US"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在</a:t>
            </a:r>
            <a:r>
              <a:rPr lang="en-US" altLang="zh-CN"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bank</a:t>
            </a:r>
            <a:r>
              <a:rPr lang="zh-CN" altLang="en-US"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表上创建</a:t>
            </a:r>
            <a:r>
              <a:rPr lang="en-US" altLang="zh-CN"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UPDATE</a:t>
            </a:r>
            <a:r>
              <a:rPr lang="zh-CN" altLang="en-US"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触发器；修改前数据可以从</a:t>
            </a:r>
            <a:r>
              <a:rPr lang="en-US" altLang="zh-CN"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deleted</a:t>
            </a:r>
            <a:r>
              <a:rPr lang="zh-CN" altLang="en-US"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表中获取；修改后数据可以从</a:t>
            </a:r>
            <a:r>
              <a:rPr lang="en-US" altLang="zh-CN"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inserted</a:t>
            </a:r>
            <a:r>
              <a:rPr lang="zh-CN" altLang="en-US"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表中获取</a:t>
            </a:r>
            <a:r>
              <a:rPr lang="zh-CN" altLang="en-US"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a:t>
            </a:r>
            <a:endParaRPr lang="zh-CN" altLang="en-US"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sym typeface="Arial" panose="020B0604020202020204" pitchFamily="34" charset="0"/>
            </a:endParaRPr>
          </a:p>
        </p:txBody>
      </p:sp>
      <p:graphicFrame>
        <p:nvGraphicFramePr>
          <p:cNvPr id="63491" name="对象 5"/>
          <p:cNvGraphicFramePr/>
          <p:nvPr/>
        </p:nvGraphicFramePr>
        <p:xfrm>
          <a:off x="913130" y="1935480"/>
          <a:ext cx="8004175" cy="4070350"/>
        </p:xfrm>
        <a:graphic>
          <a:graphicData uri="http://schemas.openxmlformats.org/presentationml/2006/ole">
            <mc:AlternateContent xmlns:mc="http://schemas.openxmlformats.org/markup-compatibility/2006">
              <mc:Choice xmlns:v="urn:schemas-microsoft-com:vml" Requires="v">
                <p:oleObj spid="_x0000_s3076" name="" r:id="rId1" imgW="7677150" imgH="4051300" progId="Paint.Picture">
                  <p:embed/>
                </p:oleObj>
              </mc:Choice>
              <mc:Fallback>
                <p:oleObj name="" r:id="rId1" imgW="7677150" imgH="4051300" progId="Paint.Picture">
                  <p:embed/>
                  <p:pic>
                    <p:nvPicPr>
                      <p:cNvPr id="0" name="图片 3075"/>
                      <p:cNvPicPr/>
                      <p:nvPr/>
                    </p:nvPicPr>
                    <p:blipFill>
                      <a:blip r:embed="rId2"/>
                      <a:srcRect t="1981"/>
                      <a:stretch>
                        <a:fillRect/>
                      </a:stretch>
                    </p:blipFill>
                    <p:spPr>
                      <a:xfrm>
                        <a:off x="913130" y="1935480"/>
                        <a:ext cx="8004175" cy="4070350"/>
                      </a:xfrm>
                      <a:prstGeom prst="rect">
                        <a:avLst/>
                      </a:prstGeom>
                      <a:noFill/>
                      <a:ln w="38100">
                        <a:noFill/>
                        <a:miter/>
                      </a:ln>
                    </p:spPr>
                  </p:pic>
                </p:oleObj>
              </mc:Fallback>
            </mc:AlternateContent>
          </a:graphicData>
        </a:graphic>
      </p:graphicFrame>
      <p:sp>
        <p:nvSpPr>
          <p:cNvPr id="2" name="矩形 1"/>
          <p:cNvSpPr/>
          <p:nvPr/>
        </p:nvSpPr>
        <p:spPr>
          <a:xfrm>
            <a:off x="407670" y="690245"/>
            <a:ext cx="8375650" cy="755650"/>
          </a:xfrm>
          <a:prstGeom prst="rect">
            <a:avLst/>
          </a:prstGeom>
          <a:noFill/>
          <a:ln w="9525">
            <a:noFill/>
          </a:ln>
        </p:spPr>
        <p:txBody>
          <a:bodyPr anchor="t">
            <a:spAutoFit/>
          </a:bodyPr>
          <a:p>
            <a:pPr algn="l" fontAlgn="base">
              <a:lnSpc>
                <a:spcPct val="135000"/>
              </a:lnSpc>
              <a:buClrTx/>
              <a:buSzTx/>
              <a:buFont typeface="Wingdings" panose="05000000000000000000" charset="0"/>
              <a:buChar char="p"/>
            </a:pPr>
            <a:r>
              <a:rPr lang="zh-CN" altLang="en-US" sz="3200" strike="noStrike" noProof="1" dirty="0">
                <a:gradFill>
                  <a:gsLst>
                    <a:gs pos="0">
                      <a:srgbClr val="E30000"/>
                    </a:gs>
                    <a:gs pos="100000">
                      <a:srgbClr val="760303"/>
                    </a:gs>
                  </a:gsLst>
                  <a:lin scaled="0"/>
                </a:gradFill>
                <a:latin typeface="黑体" panose="02010609060101010101" pitchFamily="1" charset="-122"/>
                <a:ea typeface="黑体" panose="02010609060101010101" pitchFamily="1" charset="-122"/>
                <a:cs typeface="+mn-cs"/>
              </a:rPr>
              <a:t>知识点：</a:t>
            </a:r>
            <a:r>
              <a:rPr lang="zh-CN" altLang="en-US" sz="2800" strike="noStrike" noProof="1" dirty="0">
                <a:solidFill>
                  <a:srgbClr val="0033CC"/>
                </a:solidFill>
                <a:latin typeface="黑体" panose="02010609060101010101" pitchFamily="1" charset="-122"/>
                <a:ea typeface="黑体" panose="02010609060101010101" pitchFamily="1" charset="-122"/>
                <a:cs typeface="+mn-ea"/>
              </a:rPr>
              <a:t>触发器</a:t>
            </a:r>
            <a:r>
              <a:rPr lang="zh-CN" altLang="en-US" sz="2800" strike="noStrike" noProof="1" dirty="0">
                <a:solidFill>
                  <a:srgbClr val="0033CC"/>
                </a:solidFill>
                <a:latin typeface="黑体" panose="02010609060101010101" pitchFamily="1" charset="-122"/>
                <a:ea typeface="黑体" panose="02010609060101010101" pitchFamily="1" charset="-122"/>
                <a:cs typeface="+mn-ea"/>
              </a:rPr>
              <a:t>的创建和修改</a:t>
            </a:r>
            <a:endParaRPr lang="zh-CN" altLang="en-US" sz="2800" strike="noStrike" noProof="1" dirty="0">
              <a:solidFill>
                <a:srgbClr val="0033CC"/>
              </a:solidFill>
              <a:latin typeface="黑体" panose="02010609060101010101" pitchFamily="1" charset="-122"/>
              <a:ea typeface="黑体" panose="02010609060101010101" pitchFamily="1" charset="-122"/>
              <a:cs typeface="+mn-ea"/>
            </a:endParaRPr>
          </a:p>
        </p:txBody>
      </p:sp>
      <p:sp>
        <p:nvSpPr>
          <p:cNvPr id="63493" name="文本框 2"/>
          <p:cNvSpPr txBox="1"/>
          <p:nvPr/>
        </p:nvSpPr>
        <p:spPr>
          <a:xfrm>
            <a:off x="5849938" y="1114425"/>
            <a:ext cx="3067050" cy="768350"/>
          </a:xfrm>
          <a:prstGeom prst="rect">
            <a:avLst/>
          </a:prstGeom>
          <a:solidFill>
            <a:schemeClr val="accent1"/>
          </a:solidFill>
          <a:ln w="9525">
            <a:noFill/>
          </a:ln>
        </p:spPr>
        <p:txBody>
          <a:bodyPr wrap="square" anchor="t" anchorCtr="0">
            <a:spAutoFit/>
          </a:bodyPr>
          <a:p>
            <a:pPr>
              <a:buSzTx/>
            </a:pPr>
            <a:r>
              <a:rPr lang="zh-CN" altLang="en-US" sz="2200">
                <a:solidFill>
                  <a:srgbClr val="FF0000"/>
                </a:solidFill>
                <a:latin typeface="Arial" panose="020B0604020202020204" pitchFamily="34" charset="0"/>
                <a:ea typeface="宋体" panose="02010600030101010101" pitchFamily="2" charset="-122"/>
              </a:rPr>
              <a:t>实例</a:t>
            </a:r>
            <a:r>
              <a:rPr lang="en-US" altLang="zh-CN" sz="2200">
                <a:solidFill>
                  <a:srgbClr val="FF0000"/>
                </a:solidFill>
                <a:latin typeface="Arial" panose="020B0604020202020204" pitchFamily="34" charset="0"/>
                <a:ea typeface="宋体" panose="02010600030101010101" pitchFamily="2" charset="-122"/>
              </a:rPr>
              <a:t>4—</a:t>
            </a:r>
            <a:r>
              <a:rPr lang="zh-CN" altLang="en-US" sz="2200">
                <a:solidFill>
                  <a:srgbClr val="FF0000"/>
                </a:solidFill>
                <a:latin typeface="Arial" panose="020B0604020202020204" pitchFamily="34" charset="0"/>
                <a:ea typeface="宋体" panose="02010600030101010101" pitchFamily="2" charset="-122"/>
              </a:rPr>
              <a:t>用触发器实现数据的动态完整性校验</a:t>
            </a:r>
            <a:endParaRPr lang="zh-CN" altLang="en-US" sz="2200">
              <a:solidFill>
                <a:srgbClr val="FF0000"/>
              </a:solidFill>
              <a:latin typeface="Arial" panose="020B0604020202020204" pitchFamily="34" charset="0"/>
              <a:ea typeface="宋体" panose="02010600030101010101" pitchFamily="2" charset="-122"/>
            </a:endParaRPr>
          </a:p>
        </p:txBody>
      </p:sp>
      <p:sp>
        <p:nvSpPr>
          <p:cNvPr id="63494"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ppt_x</p:attrName>
                                        </p:attrNameLst>
                                      </p:cBhvr>
                                      <p:tavLst>
                                        <p:tav tm="0">
                                          <p:val>
                                            <p:strVal val="#ppt_x"/>
                                          </p:val>
                                        </p:tav>
                                        <p:tav tm="100000">
                                          <p:val>
                                            <p:strVal val="#ppt_x"/>
                                          </p:val>
                                        </p:tav>
                                      </p:tavLst>
                                    </p:anim>
                                    <p:anim calcmode="lin" valueType="num">
                                      <p:cBhvr>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p:cTn id="11" dur="500" fill="hold"/>
                                        <p:tgtEl>
                                          <p:spTgt spid="4"/>
                                        </p:tgtEl>
                                        <p:attrNameLst>
                                          <p:attrName>ppt_x</p:attrName>
                                        </p:attrNameLst>
                                      </p:cBhvr>
                                      <p:tavLst>
                                        <p:tav tm="0">
                                          <p:val>
                                            <p:strVal val="#ppt_x"/>
                                          </p:val>
                                        </p:tav>
                                        <p:tav tm="100000">
                                          <p:val>
                                            <p:strVal val="#ppt_x"/>
                                          </p:val>
                                        </p:tav>
                                      </p:tavLst>
                                    </p:anim>
                                    <p:anim calcmode="lin" valueType="num">
                                      <p:cBhvr>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63491"/>
                                        </p:tgtEl>
                                        <p:attrNameLst>
                                          <p:attrName>style.visibility</p:attrName>
                                        </p:attrNameLst>
                                      </p:cBhvr>
                                      <p:to>
                                        <p:strVal val="visible"/>
                                      </p:to>
                                    </p:set>
                                    <p:anim calcmode="lin" valueType="num">
                                      <p:cBhvr additive="base">
                                        <p:cTn id="17" dur="500" fill="hold"/>
                                        <p:tgtEl>
                                          <p:spTgt spid="63491"/>
                                        </p:tgtEl>
                                        <p:attrNameLst>
                                          <p:attrName>ppt_x</p:attrName>
                                        </p:attrNameLst>
                                      </p:cBhvr>
                                      <p:tavLst>
                                        <p:tav tm="0">
                                          <p:val>
                                            <p:strVal val="#ppt_x"/>
                                          </p:val>
                                        </p:tav>
                                        <p:tav tm="100000">
                                          <p:val>
                                            <p:strVal val="#ppt_x"/>
                                          </p:val>
                                        </p:tav>
                                      </p:tavLst>
                                    </p:anim>
                                    <p:anim calcmode="lin" valueType="num">
                                      <p:cBhvr additive="base">
                                        <p:cTn id="18" dur="500" fill="hold"/>
                                        <p:tgtEl>
                                          <p:spTgt spid="6349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539115" y="1561465"/>
            <a:ext cx="8482330" cy="4831080"/>
          </a:xfrm>
          <a:prstGeom prst="rect">
            <a:avLst/>
          </a:prstGeom>
          <a:noFill/>
        </p:spPr>
        <p:txBody>
          <a:bodyPr wrap="square" rtlCol="0" anchor="t">
            <a:spAutoFit/>
          </a:bodyPr>
          <a:p>
            <a:pPr>
              <a:lnSpc>
                <a:spcPct val="110000"/>
              </a:lnSpc>
            </a:pPr>
            <a:r>
              <a:rPr lang="zh-CN" altLang="en-US" sz="2000"/>
              <a:t>CREATE TRIGGER trig_update_bank  ON bank</a:t>
            </a:r>
            <a:endParaRPr lang="zh-CN" altLang="en-US" sz="2000"/>
          </a:p>
          <a:p>
            <a:pPr>
              <a:lnSpc>
                <a:spcPct val="110000"/>
              </a:lnSpc>
            </a:pPr>
            <a:r>
              <a:rPr lang="zh-CN" altLang="en-US" sz="2000"/>
              <a:t>     FOR UPDATE</a:t>
            </a:r>
            <a:endParaRPr lang="zh-CN" altLang="en-US" sz="2000"/>
          </a:p>
          <a:p>
            <a:pPr>
              <a:lnSpc>
                <a:spcPct val="110000"/>
              </a:lnSpc>
            </a:pPr>
            <a:r>
              <a:rPr lang="zh-CN" altLang="en-US" sz="2000"/>
              <a:t>     AS </a:t>
            </a:r>
            <a:endParaRPr lang="zh-CN" altLang="en-US" sz="2000"/>
          </a:p>
          <a:p>
            <a:pPr>
              <a:lnSpc>
                <a:spcPct val="110000"/>
              </a:lnSpc>
            </a:pPr>
            <a:r>
              <a:rPr lang="zh-CN" altLang="en-US" sz="2000"/>
              <a:t>          DECLARE @beforeMoney MONEY,@afterMoney MONEY</a:t>
            </a:r>
            <a:endParaRPr lang="zh-CN" altLang="en-US" sz="2000"/>
          </a:p>
          <a:p>
            <a:pPr>
              <a:lnSpc>
                <a:spcPct val="110000"/>
              </a:lnSpc>
            </a:pPr>
            <a:r>
              <a:rPr lang="zh-CN" altLang="en-US" sz="2000"/>
              <a:t>          SELECT @beforeMoney=currentMoney FROM </a:t>
            </a:r>
            <a:r>
              <a:rPr lang="zh-CN" altLang="en-US" sz="2000">
                <a:solidFill>
                  <a:srgbClr val="FF0000"/>
                </a:solidFill>
              </a:rPr>
              <a:t>deleted</a:t>
            </a:r>
            <a:endParaRPr lang="zh-CN" altLang="en-US" sz="2000">
              <a:solidFill>
                <a:srgbClr val="FF0000"/>
              </a:solidFill>
            </a:endParaRPr>
          </a:p>
          <a:p>
            <a:pPr>
              <a:lnSpc>
                <a:spcPct val="110000"/>
              </a:lnSpc>
            </a:pPr>
            <a:r>
              <a:rPr lang="zh-CN" altLang="en-US" sz="2000"/>
              <a:t>          SELECT @afterMoney=currentMoney FROM </a:t>
            </a:r>
            <a:r>
              <a:rPr lang="zh-CN" altLang="en-US" sz="2000">
                <a:solidFill>
                  <a:srgbClr val="FF0000"/>
                </a:solidFill>
              </a:rPr>
              <a:t>inserted</a:t>
            </a:r>
            <a:endParaRPr lang="zh-CN" altLang="en-US" sz="2000">
              <a:solidFill>
                <a:srgbClr val="FF0000"/>
              </a:solidFill>
            </a:endParaRPr>
          </a:p>
          <a:p>
            <a:pPr>
              <a:lnSpc>
                <a:spcPct val="110000"/>
              </a:lnSpc>
            </a:pPr>
            <a:r>
              <a:rPr lang="zh-CN" altLang="en-US" sz="2000"/>
              <a:t>          IF ABS(@beforeMoney-@afterMoney)&gt;20000</a:t>
            </a:r>
            <a:endParaRPr lang="zh-CN" altLang="en-US" sz="2000"/>
          </a:p>
          <a:p>
            <a:pPr>
              <a:lnSpc>
                <a:spcPct val="110000"/>
              </a:lnSpc>
            </a:pPr>
            <a:r>
              <a:rPr lang="zh-CN" altLang="en-US" sz="2000"/>
              <a:t>              BEGIN</a:t>
            </a:r>
            <a:endParaRPr lang="zh-CN" altLang="en-US" sz="2000"/>
          </a:p>
          <a:p>
            <a:pPr>
              <a:lnSpc>
                <a:spcPct val="110000"/>
              </a:lnSpc>
            </a:pPr>
            <a:r>
              <a:rPr lang="zh-CN" altLang="en-US" sz="2000"/>
              <a:t>                 print '交易金额.'+convert(varchar(8),</a:t>
            </a:r>
            <a:endParaRPr lang="zh-CN" altLang="en-US" sz="2000"/>
          </a:p>
          <a:p>
            <a:pPr>
              <a:lnSpc>
                <a:spcPct val="110000"/>
              </a:lnSpc>
            </a:pPr>
            <a:r>
              <a:rPr lang="zh-CN" altLang="en-US" sz="2000"/>
              <a:t> </a:t>
            </a:r>
            <a:r>
              <a:rPr lang="en-US" altLang="zh-CN" sz="2000"/>
              <a:t>                     </a:t>
            </a:r>
            <a:r>
              <a:rPr lang="zh-CN" altLang="en-US" sz="2000"/>
              <a:t>ABS(@afterMoney-@beforeMoney))</a:t>
            </a:r>
            <a:endParaRPr lang="zh-CN" altLang="en-US" sz="2000"/>
          </a:p>
          <a:p>
            <a:pPr>
              <a:lnSpc>
                <a:spcPct val="110000"/>
              </a:lnSpc>
            </a:pPr>
            <a:r>
              <a:rPr lang="zh-CN" altLang="en-US" sz="2000"/>
              <a:t>              RAISERROR('每笔交易不能超过2万元，交易失败',16,1)</a:t>
            </a:r>
            <a:endParaRPr lang="zh-CN" altLang="en-US" sz="2000"/>
          </a:p>
          <a:p>
            <a:pPr>
              <a:lnSpc>
                <a:spcPct val="110000"/>
              </a:lnSpc>
            </a:pPr>
            <a:r>
              <a:rPr lang="zh-CN" altLang="en-US" sz="2000"/>
              <a:t>              ROLLBACK TRANSACTION</a:t>
            </a:r>
            <a:endParaRPr lang="zh-CN" altLang="en-US" sz="2000"/>
          </a:p>
          <a:p>
            <a:pPr>
              <a:lnSpc>
                <a:spcPct val="110000"/>
              </a:lnSpc>
            </a:pPr>
            <a:r>
              <a:rPr lang="zh-CN" altLang="en-US" sz="2000"/>
              <a:t>          END</a:t>
            </a:r>
            <a:endParaRPr lang="zh-CN" altLang="en-US" sz="2000"/>
          </a:p>
          <a:p>
            <a:pPr>
              <a:lnSpc>
                <a:spcPct val="110000"/>
              </a:lnSpc>
            </a:pPr>
            <a:r>
              <a:rPr lang="zh-CN" altLang="en-US" sz="2000"/>
              <a:t>GO</a:t>
            </a:r>
            <a:endParaRPr lang="zh-CN" altLang="en-US" sz="2000"/>
          </a:p>
        </p:txBody>
      </p:sp>
      <p:sp>
        <p:nvSpPr>
          <p:cNvPr id="76802" name="Rectangle 3"/>
          <p:cNvSpPr>
            <a:spLocks noGrp="1"/>
          </p:cNvSpPr>
          <p:nvPr/>
        </p:nvSpPr>
        <p:spPr>
          <a:xfrm>
            <a:off x="5721350" y="946150"/>
            <a:ext cx="3006725" cy="511175"/>
          </a:xfrm>
          <a:prstGeom prst="rect">
            <a:avLst/>
          </a:prstGeom>
          <a:noFill/>
          <a:ln w="9525">
            <a:noFill/>
          </a:ln>
        </p:spPr>
        <p:txBody>
          <a:bodyPr/>
          <a:p>
            <a:pPr lvl="0" eaLnBrk="1" fontAlgn="base" hangingPunct="1">
              <a:lnSpc>
                <a:spcPct val="135000"/>
              </a:lnSpc>
              <a:spcBef>
                <a:spcPct val="20000"/>
              </a:spcBef>
              <a:buClr>
                <a:srgbClr val="C00000"/>
              </a:buClr>
              <a:buSzPct val="100000"/>
              <a:buFont typeface="Wingdings" panose="05000000000000000000" pitchFamily="2" charset="2"/>
              <a:buNone/>
            </a:pPr>
            <a:r>
              <a:rPr lang="en-US" altLang="zh-CN" sz="2200" strike="noStrike" noProof="1" dirty="0">
                <a:solidFill>
                  <a:srgbClr val="FF0000"/>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UPDA</a:t>
            </a:r>
            <a:r>
              <a:rPr lang="en-US" altLang="zh-CN" sz="2200" strike="noStrike" noProof="1" dirty="0">
                <a:solidFill>
                  <a:srgbClr val="FF0000"/>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TED</a:t>
            </a:r>
            <a:r>
              <a:rPr lang="zh-CN" altLang="en-US" sz="2200" strike="noStrike" noProof="1" dirty="0">
                <a:solidFill>
                  <a:srgbClr val="FF0000"/>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触发器实例</a:t>
            </a:r>
            <a:endParaRPr lang="zh-CN" altLang="en-US" sz="2000" strike="noStrike" noProof="1" dirty="0">
              <a:solidFill>
                <a:srgbClr val="0033CC"/>
              </a:solidFill>
              <a:effectLst>
                <a:outerShdw blurRad="38100" dist="38100" dir="2700000">
                  <a:srgbClr val="C0C0C0"/>
                </a:outerShdw>
              </a:effectLst>
              <a:latin typeface="Arial" panose="020B0604020202020204" pitchFamily="34" charset="0"/>
              <a:ea typeface="宋体" panose="02010600030101010101" pitchFamily="2" charset="-122"/>
              <a:sym typeface="Arial" panose="020B0604020202020204" pitchFamily="34" charset="0"/>
            </a:endParaRPr>
          </a:p>
        </p:txBody>
      </p:sp>
      <p:sp>
        <p:nvSpPr>
          <p:cNvPr id="3" name="矩形 2"/>
          <p:cNvSpPr/>
          <p:nvPr/>
        </p:nvSpPr>
        <p:spPr>
          <a:xfrm>
            <a:off x="468630" y="690245"/>
            <a:ext cx="8375650" cy="755650"/>
          </a:xfrm>
          <a:prstGeom prst="rect">
            <a:avLst/>
          </a:prstGeom>
          <a:noFill/>
          <a:ln w="9525">
            <a:noFill/>
          </a:ln>
        </p:spPr>
        <p:txBody>
          <a:bodyPr anchor="t">
            <a:spAutoFit/>
          </a:bodyPr>
          <a:p>
            <a:pPr algn="l" fontAlgn="base">
              <a:lnSpc>
                <a:spcPct val="135000"/>
              </a:lnSpc>
              <a:buClrTx/>
              <a:buSzTx/>
              <a:buFont typeface="Wingdings" panose="05000000000000000000" charset="0"/>
              <a:buChar char="p"/>
            </a:pPr>
            <a:r>
              <a:rPr lang="zh-CN" altLang="en-US" sz="3200" strike="noStrike" noProof="1" dirty="0">
                <a:gradFill>
                  <a:gsLst>
                    <a:gs pos="0">
                      <a:srgbClr val="E30000"/>
                    </a:gs>
                    <a:gs pos="100000">
                      <a:srgbClr val="760303"/>
                    </a:gs>
                  </a:gsLst>
                  <a:lin scaled="0"/>
                </a:gradFill>
                <a:latin typeface="黑体" panose="02010609060101010101" pitchFamily="1" charset="-122"/>
                <a:ea typeface="黑体" panose="02010609060101010101" pitchFamily="1" charset="-122"/>
                <a:cs typeface="+mn-cs"/>
              </a:rPr>
              <a:t>知识点：</a:t>
            </a:r>
            <a:r>
              <a:rPr lang="zh-CN" altLang="en-US" sz="2800" strike="noStrike" noProof="1" dirty="0">
                <a:solidFill>
                  <a:srgbClr val="0033CC"/>
                </a:solidFill>
                <a:latin typeface="黑体" panose="02010609060101010101" pitchFamily="1" charset="-122"/>
                <a:ea typeface="黑体" panose="02010609060101010101" pitchFamily="1" charset="-122"/>
                <a:cs typeface="+mn-ea"/>
              </a:rPr>
              <a:t>触发器</a:t>
            </a:r>
            <a:r>
              <a:rPr lang="zh-CN" altLang="en-US" sz="2800" strike="noStrike" noProof="1" dirty="0">
                <a:solidFill>
                  <a:srgbClr val="0033CC"/>
                </a:solidFill>
                <a:latin typeface="黑体" panose="02010609060101010101" pitchFamily="1" charset="-122"/>
                <a:ea typeface="黑体" panose="02010609060101010101" pitchFamily="1" charset="-122"/>
                <a:cs typeface="+mn-ea"/>
              </a:rPr>
              <a:t>的创建和修改</a:t>
            </a:r>
            <a:endParaRPr lang="zh-CN" altLang="en-US" sz="2800" strike="noStrike" noProof="1" dirty="0">
              <a:solidFill>
                <a:srgbClr val="0033CC"/>
              </a:solidFill>
              <a:latin typeface="黑体" panose="02010609060101010101" pitchFamily="1" charset="-122"/>
              <a:ea typeface="黑体" panose="02010609060101010101" pitchFamily="1" charset="-122"/>
              <a:cs typeface="+mn-ea"/>
            </a:endParaRPr>
          </a:p>
        </p:txBody>
      </p:sp>
      <p:sp>
        <p:nvSpPr>
          <p:cNvPr id="64516"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4" name="圆角矩形标注 3"/>
          <p:cNvSpPr/>
          <p:nvPr/>
        </p:nvSpPr>
        <p:spPr>
          <a:xfrm>
            <a:off x="6530975" y="1967865"/>
            <a:ext cx="2490470" cy="821690"/>
          </a:xfrm>
          <a:prstGeom prst="wedgeRoundRectCallout">
            <a:avLst>
              <a:gd name="adj1" fmla="val -29927"/>
              <a:gd name="adj2" fmla="val 82534"/>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l">
              <a:lnSpc>
                <a:spcPct val="90000"/>
              </a:lnSpc>
              <a:buNone/>
            </a:pPr>
            <a:r>
              <a:rPr lang="zh-CN" altLang="en-US" sz="1600" strike="noStrike" noProof="1">
                <a:solidFill>
                  <a:srgbClr val="FF0000"/>
                </a:solidFill>
              </a:rPr>
              <a:t>从</a:t>
            </a:r>
            <a:r>
              <a:rPr lang="en-US" altLang="zh-CN" sz="1600" strike="noStrike" noProof="1">
                <a:solidFill>
                  <a:srgbClr val="FF0000"/>
                </a:solidFill>
              </a:rPr>
              <a:t>deleted</a:t>
            </a:r>
            <a:r>
              <a:rPr lang="zh-CN" altLang="en-US" sz="1600" strike="noStrike" noProof="1">
                <a:solidFill>
                  <a:srgbClr val="FF0000"/>
                </a:solidFill>
              </a:rPr>
              <a:t>表获取交易之前的金额，从</a:t>
            </a:r>
            <a:r>
              <a:rPr lang="zh-CN" altLang="en-US" sz="1600">
                <a:solidFill>
                  <a:srgbClr val="FF0000"/>
                </a:solidFill>
                <a:sym typeface="+mn-ea"/>
              </a:rPr>
              <a:t>inserted表获取交易后的</a:t>
            </a:r>
            <a:r>
              <a:rPr lang="zh-CN" altLang="en-US" sz="1600">
                <a:solidFill>
                  <a:srgbClr val="FF0000"/>
                </a:solidFill>
                <a:sym typeface="+mn-ea"/>
              </a:rPr>
              <a:t>余额</a:t>
            </a:r>
            <a:endParaRPr lang="zh-CN" altLang="en-US" sz="1600">
              <a:solidFill>
                <a:srgbClr val="FF0000"/>
              </a:solidFill>
              <a:sym typeface="+mn-ea"/>
            </a:endParaRPr>
          </a:p>
        </p:txBody>
      </p:sp>
      <p:sp>
        <p:nvSpPr>
          <p:cNvPr id="5" name="圆角矩形标注 4"/>
          <p:cNvSpPr/>
          <p:nvPr/>
        </p:nvSpPr>
        <p:spPr>
          <a:xfrm>
            <a:off x="6530975" y="3940175"/>
            <a:ext cx="2406015" cy="481965"/>
          </a:xfrm>
          <a:prstGeom prst="wedgeRoundRectCallout">
            <a:avLst>
              <a:gd name="adj1" fmla="val -79817"/>
              <a:gd name="adj2" fmla="val -48531"/>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l">
              <a:lnSpc>
                <a:spcPct val="90000"/>
              </a:lnSpc>
              <a:buNone/>
            </a:pPr>
            <a:r>
              <a:rPr lang="zh-CN" altLang="en-US" sz="1600" strike="noStrike" noProof="1">
                <a:solidFill>
                  <a:srgbClr val="FF0000"/>
                </a:solidFill>
              </a:rPr>
              <a:t>交易金额是否大于</a:t>
            </a:r>
            <a:r>
              <a:rPr lang="en-US" altLang="zh-CN" sz="1600" strike="noStrike" noProof="1">
                <a:solidFill>
                  <a:srgbClr val="FF0000"/>
                </a:solidFill>
              </a:rPr>
              <a:t>2</a:t>
            </a:r>
            <a:r>
              <a:rPr lang="zh-CN" altLang="en-US" sz="1600" strike="noStrike" noProof="1">
                <a:solidFill>
                  <a:srgbClr val="FF0000"/>
                </a:solidFill>
              </a:rPr>
              <a:t>万</a:t>
            </a:r>
            <a:endParaRPr lang="zh-CN" altLang="en-US" sz="1600" strike="noStrike" noProof="1">
              <a:solidFill>
                <a:srgbClr val="FF0000"/>
              </a:solidFill>
            </a:endParaRPr>
          </a:p>
        </p:txBody>
      </p:sp>
      <p:cxnSp>
        <p:nvCxnSpPr>
          <p:cNvPr id="6" name="直接连接符 5"/>
          <p:cNvCxnSpPr/>
          <p:nvPr/>
        </p:nvCxnSpPr>
        <p:spPr>
          <a:xfrm flipV="1">
            <a:off x="2683828" y="3234055"/>
            <a:ext cx="5248910" cy="24130"/>
          </a:xfrm>
          <a:prstGeom prst="line">
            <a:avLst/>
          </a:prstGeom>
          <a:ln>
            <a:solidFill>
              <a:srgbClr val="CC00FF"/>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flipV="1">
            <a:off x="2598738" y="3587115"/>
            <a:ext cx="5333365" cy="20320"/>
          </a:xfrm>
          <a:prstGeom prst="line">
            <a:avLst/>
          </a:prstGeom>
          <a:ln>
            <a:solidFill>
              <a:srgbClr val="CC00FF"/>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V="1">
            <a:off x="1439228" y="3947795"/>
            <a:ext cx="5193030" cy="0"/>
          </a:xfrm>
          <a:prstGeom prst="line">
            <a:avLst/>
          </a:prstGeom>
          <a:ln>
            <a:solidFill>
              <a:srgbClr val="CC00FF"/>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flipV="1">
            <a:off x="1629728" y="5572125"/>
            <a:ext cx="3566795" cy="24765"/>
          </a:xfrm>
          <a:prstGeom prst="line">
            <a:avLst/>
          </a:prstGeom>
          <a:ln>
            <a:solidFill>
              <a:srgbClr val="CC00FF"/>
            </a:solidFill>
          </a:ln>
        </p:spPr>
        <p:style>
          <a:lnRef idx="1">
            <a:schemeClr val="accent1"/>
          </a:lnRef>
          <a:fillRef idx="0">
            <a:schemeClr val="accent1"/>
          </a:fillRef>
          <a:effectRef idx="0">
            <a:schemeClr val="accent1"/>
          </a:effectRef>
          <a:fontRef idx="minor">
            <a:schemeClr val="tx1"/>
          </a:fontRef>
        </p:style>
      </p:cxnSp>
      <p:sp>
        <p:nvSpPr>
          <p:cNvPr id="10" name="圆角矩形标注 9"/>
          <p:cNvSpPr/>
          <p:nvPr/>
        </p:nvSpPr>
        <p:spPr>
          <a:xfrm>
            <a:off x="5721350" y="5597525"/>
            <a:ext cx="2406015" cy="481965"/>
          </a:xfrm>
          <a:prstGeom prst="wedgeRoundRectCallout">
            <a:avLst>
              <a:gd name="adj1" fmla="val -79817"/>
              <a:gd name="adj2" fmla="val -48531"/>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l">
              <a:lnSpc>
                <a:spcPct val="90000"/>
              </a:lnSpc>
              <a:buNone/>
            </a:pPr>
            <a:r>
              <a:rPr lang="zh-CN" altLang="en-US" sz="1600" strike="noStrike" noProof="1">
                <a:solidFill>
                  <a:srgbClr val="FF0000"/>
                </a:solidFill>
              </a:rPr>
              <a:t>回滚事务，取消</a:t>
            </a:r>
            <a:r>
              <a:rPr lang="zh-CN" altLang="en-US" sz="1600" strike="noStrike" noProof="1">
                <a:solidFill>
                  <a:srgbClr val="FF0000"/>
                </a:solidFill>
              </a:rPr>
              <a:t>交易</a:t>
            </a:r>
            <a:endParaRPr lang="zh-CN" altLang="en-US" sz="1600" strike="noStrike" noProof="1">
              <a:solidFill>
                <a:srgbClr val="FF0000"/>
              </a:solidFill>
            </a:endParaRPr>
          </a:p>
        </p:txBody>
      </p:sp>
      <p:sp>
        <p:nvSpPr>
          <p:cNvPr id="11" name="文本框 10"/>
          <p:cNvSpPr txBox="1"/>
          <p:nvPr/>
        </p:nvSpPr>
        <p:spPr>
          <a:xfrm>
            <a:off x="595630" y="3933190"/>
            <a:ext cx="8341360" cy="829945"/>
          </a:xfrm>
          <a:prstGeom prst="rect">
            <a:avLst/>
          </a:prstGeom>
          <a:solidFill>
            <a:schemeClr val="bg1"/>
          </a:solidFill>
        </p:spPr>
        <p:txBody>
          <a:bodyPr wrap="square" rtlCol="0" anchor="t">
            <a:spAutoFit/>
          </a:bodyPr>
          <a:p>
            <a:r>
              <a:rPr lang="zh-CN" altLang="en-US" sz="2400">
                <a:solidFill>
                  <a:srgbClr val="0000FF"/>
                </a:solidFill>
                <a:sym typeface="+mn-ea"/>
              </a:rPr>
              <a:t>update bank set currentMoney=30000 where cardID='1000'</a:t>
            </a:r>
            <a:endParaRPr lang="zh-CN" altLang="en-US" sz="2400">
              <a:solidFill>
                <a:srgbClr val="0000FF"/>
              </a:solidFill>
              <a:sym typeface="+mn-ea"/>
            </a:endParaRPr>
          </a:p>
        </p:txBody>
      </p:sp>
      <p:pic>
        <p:nvPicPr>
          <p:cNvPr id="12" name="图片 11"/>
          <p:cNvPicPr>
            <a:picLocks noChangeAspect="1"/>
          </p:cNvPicPr>
          <p:nvPr/>
        </p:nvPicPr>
        <p:blipFill>
          <a:blip r:embed="rId1"/>
          <a:srcRect t="2279"/>
          <a:stretch>
            <a:fillRect/>
          </a:stretch>
        </p:blipFill>
        <p:spPr>
          <a:xfrm>
            <a:off x="671195" y="4404995"/>
            <a:ext cx="7642860" cy="1742440"/>
          </a:xfrm>
          <a:prstGeom prst="rect">
            <a:avLst/>
          </a:prstGeom>
          <a:solidFill>
            <a:schemeClr val="bg1"/>
          </a:solidFill>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fill="hold"/>
                                        <p:tgtEl>
                                          <p:spTgt spid="4"/>
                                        </p:tgtEl>
                                        <p:attrNameLst>
                                          <p:attrName>ppt_x</p:attrName>
                                        </p:attrNameLst>
                                      </p:cBhvr>
                                      <p:tavLst>
                                        <p:tav tm="0">
                                          <p:val>
                                            <p:strVal val="#ppt_x"/>
                                          </p:val>
                                        </p:tav>
                                        <p:tav tm="100000">
                                          <p:val>
                                            <p:strVal val="#ppt_x"/>
                                          </p:val>
                                        </p:tav>
                                      </p:tavLst>
                                    </p:anim>
                                    <p:anim calcmode="lin" valueType="num">
                                      <p:cBhvr additive="base">
                                        <p:cTn id="1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9"/>
                                        </p:tgtEl>
                                        <p:attrNameLst>
                                          <p:attrName>style.visibility</p:attrName>
                                        </p:attrNameLst>
                                      </p:cBhvr>
                                      <p:to>
                                        <p:strVal val="visible"/>
                                      </p:to>
                                    </p:set>
                                    <p:anim calcmode="lin" valueType="num">
                                      <p:cBhvr additive="base">
                                        <p:cTn id="29" dur="500" fill="hold"/>
                                        <p:tgtEl>
                                          <p:spTgt spid="9"/>
                                        </p:tgtEl>
                                        <p:attrNameLst>
                                          <p:attrName>ppt_x</p:attrName>
                                        </p:attrNameLst>
                                      </p:cBhvr>
                                      <p:tavLst>
                                        <p:tav tm="0">
                                          <p:val>
                                            <p:strVal val="#ppt_x"/>
                                          </p:val>
                                        </p:tav>
                                        <p:tav tm="100000">
                                          <p:val>
                                            <p:strVal val="#ppt_x"/>
                                          </p:val>
                                        </p:tav>
                                      </p:tavLst>
                                    </p:anim>
                                    <p:anim calcmode="lin" valueType="num">
                                      <p:cBhvr additive="base">
                                        <p:cTn id="3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500" fill="hold"/>
                                        <p:tgtEl>
                                          <p:spTgt spid="10"/>
                                        </p:tgtEl>
                                        <p:attrNameLst>
                                          <p:attrName>ppt_x</p:attrName>
                                        </p:attrNameLst>
                                      </p:cBhvr>
                                      <p:tavLst>
                                        <p:tav tm="0">
                                          <p:val>
                                            <p:strVal val="#ppt_x"/>
                                          </p:val>
                                        </p:tav>
                                        <p:tav tm="100000">
                                          <p:val>
                                            <p:strVal val="#ppt_x"/>
                                          </p:val>
                                        </p:tav>
                                      </p:tavLst>
                                    </p:anim>
                                    <p:anim calcmode="lin" valueType="num">
                                      <p:cBhvr additive="base">
                                        <p:cTn id="3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11"/>
                                        </p:tgtEl>
                                        <p:attrNameLst>
                                          <p:attrName>style.visibility</p:attrName>
                                        </p:attrNameLst>
                                      </p:cBhvr>
                                      <p:to>
                                        <p:strVal val="visible"/>
                                      </p:to>
                                    </p:set>
                                    <p:anim calcmode="lin" valueType="num">
                                      <p:cBhvr additive="base">
                                        <p:cTn id="41" dur="500" fill="hold"/>
                                        <p:tgtEl>
                                          <p:spTgt spid="11"/>
                                        </p:tgtEl>
                                        <p:attrNameLst>
                                          <p:attrName>ppt_x</p:attrName>
                                        </p:attrNameLst>
                                      </p:cBhvr>
                                      <p:tavLst>
                                        <p:tav tm="0">
                                          <p:val>
                                            <p:strVal val="#ppt_x"/>
                                          </p:val>
                                        </p:tav>
                                        <p:tav tm="100000">
                                          <p:val>
                                            <p:strVal val="#ppt_x"/>
                                          </p:val>
                                        </p:tav>
                                      </p:tavLst>
                                    </p:anim>
                                    <p:anim calcmode="lin" valueType="num">
                                      <p:cBhvr additive="base">
                                        <p:cTn id="42" dur="500" fill="hold"/>
                                        <p:tgtEl>
                                          <p:spTgt spid="11"/>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12"/>
                                        </p:tgtEl>
                                        <p:attrNameLst>
                                          <p:attrName>style.visibility</p:attrName>
                                        </p:attrNameLst>
                                      </p:cBhvr>
                                      <p:to>
                                        <p:strVal val="visible"/>
                                      </p:to>
                                    </p:set>
                                    <p:anim calcmode="lin" valueType="num">
                                      <p:cBhvr additive="base">
                                        <p:cTn id="45" dur="500" fill="hold"/>
                                        <p:tgtEl>
                                          <p:spTgt spid="12"/>
                                        </p:tgtEl>
                                        <p:attrNameLst>
                                          <p:attrName>ppt_x</p:attrName>
                                        </p:attrNameLst>
                                      </p:cBhvr>
                                      <p:tavLst>
                                        <p:tav tm="0">
                                          <p:val>
                                            <p:strVal val="#ppt_x"/>
                                          </p:val>
                                        </p:tav>
                                        <p:tav tm="100000">
                                          <p:val>
                                            <p:strVal val="#ppt_x"/>
                                          </p:val>
                                        </p:tav>
                                      </p:tavLst>
                                    </p:anim>
                                    <p:anim calcmode="lin" valueType="num">
                                      <p:cBhvr additive="base">
                                        <p:cTn id="4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P spid="10" grpId="0" bldLvl="0" animBg="1"/>
      <p:bldP spid="10" grpId="1" animBg="1"/>
      <p:bldP spid="11" grpId="0" bldLvl="0" animBg="1"/>
      <p:bldP spid="11" grpId="1"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矩形 2"/>
          <p:cNvSpPr/>
          <p:nvPr/>
        </p:nvSpPr>
        <p:spPr>
          <a:xfrm>
            <a:off x="468630" y="690245"/>
            <a:ext cx="8375650" cy="755650"/>
          </a:xfrm>
          <a:prstGeom prst="rect">
            <a:avLst/>
          </a:prstGeom>
          <a:noFill/>
          <a:ln w="9525">
            <a:noFill/>
          </a:ln>
        </p:spPr>
        <p:txBody>
          <a:bodyPr anchor="t">
            <a:spAutoFit/>
          </a:bodyPr>
          <a:p>
            <a:pPr algn="l" fontAlgn="base">
              <a:lnSpc>
                <a:spcPct val="135000"/>
              </a:lnSpc>
              <a:buClrTx/>
              <a:buSzTx/>
              <a:buFont typeface="Wingdings" panose="05000000000000000000" charset="0"/>
              <a:buChar char="p"/>
            </a:pPr>
            <a:r>
              <a:rPr lang="zh-CN" altLang="en-US" sz="3200" strike="noStrike" noProof="1" dirty="0">
                <a:gradFill>
                  <a:gsLst>
                    <a:gs pos="0">
                      <a:srgbClr val="E30000"/>
                    </a:gs>
                    <a:gs pos="100000">
                      <a:srgbClr val="760303"/>
                    </a:gs>
                  </a:gsLst>
                  <a:lin scaled="0"/>
                </a:gradFill>
                <a:latin typeface="黑体" panose="02010609060101010101" pitchFamily="1" charset="-122"/>
                <a:ea typeface="黑体" panose="02010609060101010101" pitchFamily="1" charset="-122"/>
                <a:cs typeface="+mn-cs"/>
              </a:rPr>
              <a:t>知识点：</a:t>
            </a:r>
            <a:r>
              <a:rPr lang="zh-CN" altLang="en-US" sz="2800" strike="noStrike" noProof="1" dirty="0">
                <a:solidFill>
                  <a:srgbClr val="0033CC"/>
                </a:solidFill>
                <a:latin typeface="黑体" panose="02010609060101010101" pitchFamily="1" charset="-122"/>
                <a:ea typeface="黑体" panose="02010609060101010101" pitchFamily="1" charset="-122"/>
                <a:cs typeface="+mn-ea"/>
              </a:rPr>
              <a:t>触发器的启动、</a:t>
            </a:r>
            <a:r>
              <a:rPr lang="zh-CN" altLang="en-US" sz="2800" strike="noStrike" noProof="1" dirty="0">
                <a:solidFill>
                  <a:srgbClr val="0033CC"/>
                </a:solidFill>
                <a:latin typeface="黑体" panose="02010609060101010101" pitchFamily="1" charset="-122"/>
                <a:ea typeface="黑体" panose="02010609060101010101" pitchFamily="1" charset="-122"/>
                <a:cs typeface="+mn-ea"/>
                <a:sym typeface="+mn-ea"/>
              </a:rPr>
              <a:t>禁止和删除</a:t>
            </a:r>
            <a:endParaRPr lang="zh-CN" altLang="en-US" sz="2800" strike="noStrike" noProof="1" dirty="0">
              <a:solidFill>
                <a:srgbClr val="0033CC"/>
              </a:solidFill>
              <a:latin typeface="黑体" panose="02010609060101010101" pitchFamily="1" charset="-122"/>
              <a:ea typeface="黑体" panose="02010609060101010101" pitchFamily="1" charset="-122"/>
              <a:cs typeface="+mn-ea"/>
              <a:sym typeface="+mn-ea"/>
            </a:endParaRPr>
          </a:p>
        </p:txBody>
      </p:sp>
      <p:sp>
        <p:nvSpPr>
          <p:cNvPr id="4" name="Rectangle 3"/>
          <p:cNvSpPr>
            <a:spLocks noGrp="1"/>
          </p:cNvSpPr>
          <p:nvPr/>
        </p:nvSpPr>
        <p:spPr>
          <a:xfrm>
            <a:off x="468313" y="1454150"/>
            <a:ext cx="8180388" cy="809625"/>
          </a:xfrm>
          <a:prstGeom prst="rect">
            <a:avLst/>
          </a:prstGeom>
          <a:noFill/>
          <a:ln w="9525">
            <a:noFill/>
          </a:ln>
        </p:spPr>
        <p:txBody>
          <a:bodyPr/>
          <a:p>
            <a:pPr lvl="0" eaLnBrk="1" fontAlgn="base" hangingPunct="1">
              <a:lnSpc>
                <a:spcPct val="115000"/>
              </a:lnSpc>
              <a:spcBef>
                <a:spcPts val="20"/>
              </a:spcBef>
              <a:spcAft>
                <a:spcPts val="0"/>
              </a:spcAft>
              <a:buClr>
                <a:srgbClr val="0033CC"/>
              </a:buClr>
              <a:buSzPct val="80000"/>
              <a:buFont typeface="Wingdings" panose="05000000000000000000" charset="0"/>
              <a:buNone/>
            </a:pPr>
            <a:r>
              <a:rPr lang="en-US" altLang="zh-CN" sz="2000" strike="noStrike" noProof="1" dirty="0">
                <a:solidFill>
                  <a:srgbClr val="0033CC"/>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     </a:t>
            </a:r>
            <a:r>
              <a:rPr lang="en-US" altLang="zh-CN" sz="20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  </a:t>
            </a:r>
            <a:r>
              <a:rPr lang="zh-CN" altLang="en-US" sz="20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针对某个表创建的触发器，可以根据需要，禁止或启用其执行。禁止触发器或启用触发器执行只能在查询分析器中进行，其语法格式为：</a:t>
            </a:r>
            <a:endParaRPr lang="zh-CN" altLang="en-US" sz="20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sym typeface="Arial" panose="020B0604020202020204" pitchFamily="34" charset="0"/>
            </a:endParaRPr>
          </a:p>
          <a:p>
            <a:pPr lvl="0" eaLnBrk="1" fontAlgn="base" hangingPunct="1">
              <a:lnSpc>
                <a:spcPct val="115000"/>
              </a:lnSpc>
              <a:spcBef>
                <a:spcPts val="20"/>
              </a:spcBef>
              <a:spcAft>
                <a:spcPts val="0"/>
              </a:spcAft>
              <a:buClr>
                <a:srgbClr val="0033CC"/>
              </a:buClr>
              <a:buSzPct val="80000"/>
              <a:buFont typeface="Wingdings" panose="05000000000000000000" charset="0"/>
              <a:buNone/>
            </a:pPr>
            <a:r>
              <a:rPr lang="zh-CN" altLang="en-US" sz="20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       </a:t>
            </a:r>
            <a:endParaRPr lang="zh-CN" altLang="en-US" sz="20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sym typeface="Arial" panose="020B0604020202020204" pitchFamily="34" charset="0"/>
            </a:endParaRPr>
          </a:p>
        </p:txBody>
      </p:sp>
      <p:sp>
        <p:nvSpPr>
          <p:cNvPr id="65539" name="文本框 4"/>
          <p:cNvSpPr txBox="1"/>
          <p:nvPr/>
        </p:nvSpPr>
        <p:spPr>
          <a:xfrm>
            <a:off x="1212850" y="2330450"/>
            <a:ext cx="4168775" cy="1296988"/>
          </a:xfrm>
          <a:prstGeom prst="rect">
            <a:avLst/>
          </a:prstGeom>
          <a:noFill/>
          <a:ln w="9525">
            <a:noFill/>
          </a:ln>
        </p:spPr>
        <p:txBody>
          <a:bodyPr wrap="none" anchor="t" anchorCtr="0">
            <a:spAutoFit/>
          </a:bodyPr>
          <a:p>
            <a:r>
              <a:rPr lang="en-US" altLang="zh-CN" sz="2000">
                <a:solidFill>
                  <a:srgbClr val="C00000"/>
                </a:solidFill>
                <a:latin typeface="Arial" panose="020B0604020202020204" pitchFamily="34" charset="0"/>
                <a:ea typeface="宋体" panose="02010600030101010101" pitchFamily="2" charset="-122"/>
              </a:rPr>
              <a:t>ALTER TABLE </a:t>
            </a:r>
            <a:r>
              <a:rPr lang="zh-CN" altLang="en-US" sz="2000">
                <a:solidFill>
                  <a:srgbClr val="C00000"/>
                </a:solidFill>
                <a:latin typeface="Arial" panose="020B0604020202020204" pitchFamily="34" charset="0"/>
                <a:ea typeface="宋体" panose="02010600030101010101" pitchFamily="2" charset="-122"/>
              </a:rPr>
              <a:t>表名</a:t>
            </a:r>
            <a:endParaRPr lang="zh-CN" altLang="en-US" sz="2000">
              <a:solidFill>
                <a:srgbClr val="C00000"/>
              </a:solidFill>
              <a:latin typeface="Arial" panose="020B0604020202020204" pitchFamily="34" charset="0"/>
              <a:ea typeface="宋体" panose="02010600030101010101" pitchFamily="2" charset="-122"/>
            </a:endParaRPr>
          </a:p>
          <a:p>
            <a:r>
              <a:rPr lang="en-US" altLang="zh-CN" sz="2000">
                <a:solidFill>
                  <a:srgbClr val="C00000"/>
                </a:solidFill>
                <a:latin typeface="Arial" panose="020B0604020202020204" pitchFamily="34" charset="0"/>
                <a:ea typeface="宋体" panose="02010600030101010101" pitchFamily="2" charset="-122"/>
              </a:rPr>
              <a:t>{ ENABLE | DISABLE} </a:t>
            </a:r>
            <a:r>
              <a:rPr lang="zh-CN" altLang="en-US" sz="2000">
                <a:solidFill>
                  <a:srgbClr val="C00000"/>
                </a:solidFill>
                <a:latin typeface="Arial" panose="020B0604020202020204" pitchFamily="34" charset="0"/>
                <a:ea typeface="宋体" panose="02010600030101010101" pitchFamily="2" charset="-122"/>
              </a:rPr>
              <a:t>触发器名称</a:t>
            </a:r>
            <a:endParaRPr lang="zh-CN" altLang="en-US" sz="2000">
              <a:solidFill>
                <a:srgbClr val="C00000"/>
              </a:solidFill>
              <a:latin typeface="Arial" panose="020B0604020202020204" pitchFamily="34" charset="0"/>
              <a:ea typeface="宋体" panose="02010600030101010101" pitchFamily="2" charset="-122"/>
            </a:endParaRPr>
          </a:p>
          <a:p>
            <a:r>
              <a:rPr lang="en-US" altLang="zh-CN">
                <a:latin typeface="Arial" panose="020B0604020202020204" pitchFamily="34" charset="0"/>
                <a:ea typeface="宋体" panose="02010600030101010101" pitchFamily="2" charset="-122"/>
              </a:rPr>
              <a:t> </a:t>
            </a:r>
            <a:endParaRPr lang="en-US" altLang="zh-CN">
              <a:latin typeface="Arial" panose="020B0604020202020204" pitchFamily="34" charset="0"/>
              <a:ea typeface="宋体" panose="02010600030101010101" pitchFamily="2" charset="-122"/>
            </a:endParaRPr>
          </a:p>
        </p:txBody>
      </p:sp>
      <p:sp>
        <p:nvSpPr>
          <p:cNvPr id="6" name="椭圆形标注 5"/>
          <p:cNvSpPr/>
          <p:nvPr/>
        </p:nvSpPr>
        <p:spPr>
          <a:xfrm>
            <a:off x="881063" y="3497263"/>
            <a:ext cx="1878013" cy="477838"/>
          </a:xfrm>
          <a:prstGeom prst="wedgeEllipseCallout">
            <a:avLst>
              <a:gd name="adj1" fmla="val 9229"/>
              <a:gd name="adj2" fmla="val -107853"/>
            </a:avLst>
          </a:prstGeom>
        </p:spPr>
        <p:style>
          <a:lnRef idx="2">
            <a:schemeClr val="accent1">
              <a:shade val="50000"/>
            </a:schemeClr>
          </a:lnRef>
          <a:fillRef idx="1">
            <a:schemeClr val="accent1"/>
          </a:fillRef>
          <a:effectRef idx="0">
            <a:schemeClr val="accent1"/>
          </a:effectRef>
          <a:fontRef idx="minor">
            <a:schemeClr val="lt1"/>
          </a:fontRef>
        </p:style>
        <p:txBody>
          <a:bodyPr lIns="36195" rIns="36195" rtlCol="0" anchor="ctr"/>
          <a:p>
            <a:pPr algn="ctr" fontAlgn="base">
              <a:buNone/>
            </a:pPr>
            <a:r>
              <a:rPr lang="zh-CN" altLang="en-US" strike="noStrike" noProof="1">
                <a:solidFill>
                  <a:srgbClr val="C00000"/>
                </a:solidFill>
              </a:rPr>
              <a:t>启动触发器</a:t>
            </a:r>
            <a:endParaRPr lang="zh-CN" altLang="en-US" strike="noStrike" noProof="1">
              <a:solidFill>
                <a:srgbClr val="C00000"/>
              </a:solidFill>
            </a:endParaRPr>
          </a:p>
        </p:txBody>
      </p:sp>
      <p:sp>
        <p:nvSpPr>
          <p:cNvPr id="7" name="椭圆形标注 6"/>
          <p:cNvSpPr/>
          <p:nvPr/>
        </p:nvSpPr>
        <p:spPr>
          <a:xfrm>
            <a:off x="3009900" y="3497263"/>
            <a:ext cx="1878013" cy="477838"/>
          </a:xfrm>
          <a:prstGeom prst="wedgeEllipseCallout">
            <a:avLst>
              <a:gd name="adj1" fmla="val -31609"/>
              <a:gd name="adj2" fmla="val -128087"/>
            </a:avLst>
          </a:prstGeom>
        </p:spPr>
        <p:style>
          <a:lnRef idx="2">
            <a:schemeClr val="accent1">
              <a:shade val="50000"/>
            </a:schemeClr>
          </a:lnRef>
          <a:fillRef idx="1">
            <a:schemeClr val="accent1"/>
          </a:fillRef>
          <a:effectRef idx="0">
            <a:schemeClr val="accent1"/>
          </a:effectRef>
          <a:fontRef idx="minor">
            <a:schemeClr val="lt1"/>
          </a:fontRef>
        </p:style>
        <p:txBody>
          <a:bodyPr lIns="36195" rIns="36195" rtlCol="0" anchor="ctr"/>
          <a:p>
            <a:pPr algn="ctr" fontAlgn="base">
              <a:buNone/>
            </a:pPr>
            <a:r>
              <a:rPr lang="zh-CN" altLang="en-US" strike="noStrike" noProof="1">
                <a:solidFill>
                  <a:srgbClr val="C00000"/>
                </a:solidFill>
              </a:rPr>
              <a:t>禁用</a:t>
            </a:r>
            <a:r>
              <a:rPr lang="zh-CN" altLang="en-US" strike="noStrike" noProof="1">
                <a:solidFill>
                  <a:srgbClr val="C00000"/>
                </a:solidFill>
              </a:rPr>
              <a:t>触发器</a:t>
            </a:r>
            <a:endParaRPr lang="zh-CN" altLang="en-US" strike="noStrike" noProof="1">
              <a:solidFill>
                <a:srgbClr val="C00000"/>
              </a:solidFill>
            </a:endParaRPr>
          </a:p>
        </p:txBody>
      </p:sp>
      <p:sp>
        <p:nvSpPr>
          <p:cNvPr id="8" name="Rectangle 3"/>
          <p:cNvSpPr>
            <a:spLocks noGrp="1"/>
          </p:cNvSpPr>
          <p:nvPr/>
        </p:nvSpPr>
        <p:spPr>
          <a:xfrm>
            <a:off x="566738" y="4111625"/>
            <a:ext cx="8180388" cy="809625"/>
          </a:xfrm>
          <a:prstGeom prst="rect">
            <a:avLst/>
          </a:prstGeom>
          <a:noFill/>
          <a:ln w="9525">
            <a:noFill/>
          </a:ln>
        </p:spPr>
        <p:txBody>
          <a:bodyPr/>
          <a:p>
            <a:pPr lvl="0" eaLnBrk="1" fontAlgn="base" hangingPunct="1">
              <a:lnSpc>
                <a:spcPct val="115000"/>
              </a:lnSpc>
              <a:spcBef>
                <a:spcPts val="20"/>
              </a:spcBef>
              <a:spcAft>
                <a:spcPts val="0"/>
              </a:spcAft>
              <a:buClr>
                <a:srgbClr val="0033CC"/>
              </a:buClr>
              <a:buSzPct val="80000"/>
              <a:buFont typeface="Wingdings" panose="05000000000000000000" charset="0"/>
              <a:buNone/>
            </a:pPr>
            <a:r>
              <a:rPr lang="en-US" altLang="zh-CN" sz="2000" strike="noStrike" noProof="1" dirty="0">
                <a:solidFill>
                  <a:srgbClr val="0033CC"/>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     </a:t>
            </a:r>
            <a:r>
              <a:rPr lang="en-US" altLang="zh-CN" sz="20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  </a:t>
            </a:r>
            <a:r>
              <a:rPr lang="zh-CN" altLang="en-US" sz="20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当某个触发器不再被需求时，可通过下面的语法将其删除。</a:t>
            </a:r>
            <a:endParaRPr lang="zh-CN" altLang="en-US" sz="20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sym typeface="Arial" panose="020B0604020202020204" pitchFamily="34" charset="0"/>
            </a:endParaRPr>
          </a:p>
          <a:p>
            <a:pPr lvl="0" eaLnBrk="1" fontAlgn="base" hangingPunct="1">
              <a:lnSpc>
                <a:spcPct val="115000"/>
              </a:lnSpc>
              <a:spcBef>
                <a:spcPts val="20"/>
              </a:spcBef>
              <a:spcAft>
                <a:spcPts val="0"/>
              </a:spcAft>
              <a:buClr>
                <a:srgbClr val="0033CC"/>
              </a:buClr>
              <a:buSzPct val="80000"/>
              <a:buFont typeface="Wingdings" panose="05000000000000000000" charset="0"/>
              <a:buNone/>
            </a:pPr>
            <a:r>
              <a:rPr lang="zh-CN" altLang="en-US" sz="20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       </a:t>
            </a:r>
            <a:endParaRPr lang="zh-CN" altLang="en-US" sz="20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sym typeface="Arial" panose="020B0604020202020204" pitchFamily="34" charset="0"/>
            </a:endParaRPr>
          </a:p>
        </p:txBody>
      </p:sp>
      <p:sp>
        <p:nvSpPr>
          <p:cNvPr id="9" name="文本框 8"/>
          <p:cNvSpPr txBox="1"/>
          <p:nvPr/>
        </p:nvSpPr>
        <p:spPr>
          <a:xfrm>
            <a:off x="1109663" y="4575175"/>
            <a:ext cx="5340350" cy="881063"/>
          </a:xfrm>
          <a:prstGeom prst="rect">
            <a:avLst/>
          </a:prstGeom>
          <a:noFill/>
          <a:ln w="9525">
            <a:noFill/>
          </a:ln>
        </p:spPr>
        <p:txBody>
          <a:bodyPr wrap="square" anchor="t" anchorCtr="0">
            <a:spAutoFit/>
          </a:bodyPr>
          <a:p>
            <a:r>
              <a:rPr lang="en-US" altLang="zh-CN" sz="2000">
                <a:solidFill>
                  <a:srgbClr val="C00000"/>
                </a:solidFill>
                <a:latin typeface="Arial" panose="020B0604020202020204" pitchFamily="34" charset="0"/>
                <a:ea typeface="宋体" panose="02010600030101010101" pitchFamily="2" charset="-122"/>
              </a:rPr>
              <a:t>DROP TRIGGER </a:t>
            </a:r>
            <a:r>
              <a:rPr lang="en-US" altLang="zh-CN" sz="2000">
                <a:solidFill>
                  <a:srgbClr val="C00000"/>
                </a:solidFill>
                <a:latin typeface="Arial" panose="020B0604020202020204" pitchFamily="34" charset="0"/>
                <a:ea typeface="宋体" panose="02010600030101010101" pitchFamily="2" charset="-122"/>
                <a:sym typeface="宋体" panose="02010600030101010101" pitchFamily="2" charset="-122"/>
              </a:rPr>
              <a:t>{</a:t>
            </a:r>
            <a:r>
              <a:rPr lang="zh-CN" altLang="en-US" sz="2000">
                <a:solidFill>
                  <a:srgbClr val="C00000"/>
                </a:solidFill>
                <a:latin typeface="Arial" panose="020B0604020202020204" pitchFamily="34" charset="0"/>
                <a:ea typeface="宋体" panose="02010600030101010101" pitchFamily="2" charset="-122"/>
              </a:rPr>
              <a:t>触发器名</a:t>
            </a:r>
            <a:r>
              <a:rPr lang="en-US" altLang="zh-CN" sz="2000">
                <a:solidFill>
                  <a:srgbClr val="C00000"/>
                </a:solidFill>
                <a:latin typeface="Arial" panose="020B0604020202020204" pitchFamily="34" charset="0"/>
                <a:ea typeface="宋体" panose="02010600030101010101" pitchFamily="2" charset="-122"/>
                <a:sym typeface="宋体" panose="02010600030101010101" pitchFamily="2" charset="-122"/>
              </a:rPr>
              <a:t>}  [,...n]</a:t>
            </a:r>
            <a:endParaRPr lang="zh-CN" altLang="en-US" sz="2000">
              <a:solidFill>
                <a:srgbClr val="C00000"/>
              </a:solidFill>
              <a:latin typeface="Arial" panose="020B0604020202020204" pitchFamily="34" charset="0"/>
              <a:ea typeface="宋体" panose="02010600030101010101" pitchFamily="2" charset="-122"/>
            </a:endParaRPr>
          </a:p>
          <a:p>
            <a:r>
              <a:rPr lang="en-US" altLang="zh-CN">
                <a:latin typeface="Arial" panose="020B0604020202020204" pitchFamily="34" charset="0"/>
                <a:ea typeface="宋体" panose="02010600030101010101" pitchFamily="2" charset="-122"/>
              </a:rPr>
              <a:t> </a:t>
            </a:r>
            <a:endParaRPr lang="en-US" altLang="zh-CN">
              <a:latin typeface="Arial" panose="020B0604020202020204" pitchFamily="34" charset="0"/>
              <a:ea typeface="宋体" panose="02010600030101010101" pitchFamily="2" charset="-122"/>
            </a:endParaRPr>
          </a:p>
        </p:txBody>
      </p:sp>
      <p:sp>
        <p:nvSpPr>
          <p:cNvPr id="10" name="文本框 9"/>
          <p:cNvSpPr txBox="1"/>
          <p:nvPr/>
        </p:nvSpPr>
        <p:spPr>
          <a:xfrm>
            <a:off x="777875" y="5037138"/>
            <a:ext cx="7491413" cy="588962"/>
          </a:xfrm>
          <a:prstGeom prst="rect">
            <a:avLst/>
          </a:prstGeom>
          <a:noFill/>
          <a:ln w="9525">
            <a:noFill/>
          </a:ln>
        </p:spPr>
        <p:txBody>
          <a:bodyPr wrap="square" anchor="t" anchorCtr="0">
            <a:spAutoFit/>
          </a:bodyPr>
          <a:p>
            <a:r>
              <a:rPr lang="zh-CN" altLang="en-US" sz="2400">
                <a:solidFill>
                  <a:srgbClr val="0033CC"/>
                </a:solidFill>
                <a:latin typeface="Arial" panose="020B0604020202020204" pitchFamily="34" charset="0"/>
                <a:ea typeface="宋体" panose="02010600030101010101" pitchFamily="2" charset="-122"/>
              </a:rPr>
              <a:t>注意：在删除表时将自动删除定义在其上的触发器。</a:t>
            </a:r>
            <a:r>
              <a:rPr lang="en-US" altLang="zh-CN" sz="2400">
                <a:solidFill>
                  <a:srgbClr val="0033CC"/>
                </a:solidFill>
                <a:latin typeface="Arial" panose="020B0604020202020204" pitchFamily="34" charset="0"/>
                <a:ea typeface="宋体" panose="02010600030101010101" pitchFamily="2" charset="-122"/>
              </a:rPr>
              <a:t> </a:t>
            </a:r>
            <a:endParaRPr lang="en-US" altLang="zh-CN" sz="2400">
              <a:solidFill>
                <a:srgbClr val="0033CC"/>
              </a:solidFill>
              <a:latin typeface="Arial" panose="020B0604020202020204" pitchFamily="34" charset="0"/>
              <a:ea typeface="宋体" panose="02010600030101010101" pitchFamily="2" charset="-122"/>
            </a:endParaRPr>
          </a:p>
        </p:txBody>
      </p:sp>
      <p:sp>
        <p:nvSpPr>
          <p:cNvPr id="65545"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
                                          </p:val>
                                        </p:tav>
                                        <p:tav tm="100000">
                                          <p:val>
                                            <p:strVal val="#ppt_x"/>
                                          </p:val>
                                        </p:tav>
                                      </p:tavLst>
                                    </p:anim>
                                    <p:anim calcmode="lin" valueType="num">
                                      <p:cBhvr>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ppt_x</p:attrName>
                                        </p:attrNameLst>
                                      </p:cBhvr>
                                      <p:tavLst>
                                        <p:tav tm="0">
                                          <p:val>
                                            <p:strVal val="#ppt_x"/>
                                          </p:val>
                                        </p:tav>
                                        <p:tav tm="100000">
                                          <p:val>
                                            <p:strVal val="#ppt_x"/>
                                          </p:val>
                                        </p:tav>
                                      </p:tavLst>
                                    </p:anim>
                                    <p:anim calcmode="lin" valueType="num">
                                      <p:cBhvr>
                                        <p:cTn id="14" dur="500" fill="hold"/>
                                        <p:tgtEl>
                                          <p:spTgt spid="8"/>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p:cTn id="17" dur="500" fill="hold"/>
                                        <p:tgtEl>
                                          <p:spTgt spid="9"/>
                                        </p:tgtEl>
                                        <p:attrNameLst>
                                          <p:attrName>ppt_x</p:attrName>
                                        </p:attrNameLst>
                                      </p:cBhvr>
                                      <p:tavLst>
                                        <p:tav tm="0">
                                          <p:val>
                                            <p:strVal val="#ppt_x"/>
                                          </p:val>
                                        </p:tav>
                                        <p:tav tm="100000">
                                          <p:val>
                                            <p:strVal val="#ppt_x"/>
                                          </p:val>
                                        </p:tav>
                                      </p:tavLst>
                                    </p:anim>
                                    <p:anim calcmode="lin" valueType="num">
                                      <p:cBhvr>
                                        <p:cTn id="18" dur="500" fill="hold"/>
                                        <p:tgtEl>
                                          <p:spTgt spid="9"/>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p:cTn id="21" dur="500" fill="hold"/>
                                        <p:tgtEl>
                                          <p:spTgt spid="10"/>
                                        </p:tgtEl>
                                        <p:attrNameLst>
                                          <p:attrName>ppt_x</p:attrName>
                                        </p:attrNameLst>
                                      </p:cBhvr>
                                      <p:tavLst>
                                        <p:tav tm="0">
                                          <p:val>
                                            <p:strVal val="#ppt_x"/>
                                          </p:val>
                                        </p:tav>
                                        <p:tav tm="100000">
                                          <p:val>
                                            <p:strVal val="#ppt_x"/>
                                          </p:val>
                                        </p:tav>
                                      </p:tavLst>
                                    </p:anim>
                                    <p:anim calcmode="lin" valueType="num">
                                      <p:cBhvr>
                                        <p:cTn id="2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P spid="9" grpId="0"/>
      <p:bldP spid="10"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文本框 2"/>
          <p:cNvSpPr txBox="1"/>
          <p:nvPr/>
        </p:nvSpPr>
        <p:spPr>
          <a:xfrm>
            <a:off x="458788" y="1155700"/>
            <a:ext cx="8159750" cy="469138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ts val="200"/>
              </a:spcBef>
              <a:buClrTx/>
              <a:buSzTx/>
              <a:buFont typeface="Arial" panose="020B0604020202020204" pitchFamily="34" charset="0"/>
              <a:buNone/>
            </a:pPr>
            <a:r>
              <a:rPr lang="en-US" altLang="zh-CN" sz="1800" dirty="0"/>
              <a:t>1</a:t>
            </a:r>
            <a:r>
              <a:rPr lang="zh-CN" altLang="en-US" sz="1800" dirty="0"/>
              <a:t>、有教师表</a:t>
            </a:r>
            <a:r>
              <a:rPr lang="en-US" altLang="zh-CN" sz="1800" dirty="0"/>
              <a:t>(</a:t>
            </a:r>
            <a:r>
              <a:rPr lang="zh-CN" altLang="en-US" sz="1800" dirty="0"/>
              <a:t>教师号</a:t>
            </a:r>
            <a:r>
              <a:rPr lang="en-US" altLang="zh-CN" sz="1800" dirty="0"/>
              <a:t>,</a:t>
            </a:r>
            <a:r>
              <a:rPr lang="zh-CN" altLang="en-US" sz="1800" dirty="0"/>
              <a:t>教师名</a:t>
            </a:r>
            <a:r>
              <a:rPr lang="en-US" altLang="zh-CN" sz="1800" dirty="0"/>
              <a:t>,</a:t>
            </a:r>
            <a:r>
              <a:rPr lang="zh-CN" altLang="en-US" sz="1800" dirty="0"/>
              <a:t>职称</a:t>
            </a:r>
            <a:r>
              <a:rPr lang="en-US" altLang="zh-CN" sz="1800" dirty="0"/>
              <a:t>,</a:t>
            </a:r>
            <a:r>
              <a:rPr lang="zh-CN" altLang="en-US" sz="1800" dirty="0"/>
              <a:t>基本工资</a:t>
            </a:r>
            <a:r>
              <a:rPr lang="en-US" altLang="zh-CN" sz="1800" dirty="0"/>
              <a:t>)</a:t>
            </a:r>
            <a:r>
              <a:rPr lang="zh-CN" altLang="en-US" sz="1800" dirty="0"/>
              <a:t>，其中基本工工资的取值与教师职称有关。实现这个约束的可行方案是（     ）</a:t>
            </a:r>
            <a:endParaRPr lang="zh-CN" altLang="en-US" sz="1800" dirty="0"/>
          </a:p>
          <a:p>
            <a:pPr marL="0" lvl="0" indent="0" eaLnBrk="1" hangingPunct="1">
              <a:lnSpc>
                <a:spcPct val="120000"/>
              </a:lnSpc>
              <a:spcBef>
                <a:spcPts val="200"/>
              </a:spcBef>
              <a:buClrTx/>
              <a:buSzTx/>
              <a:buFont typeface="Arial" panose="020B0604020202020204" pitchFamily="34" charset="0"/>
              <a:buNone/>
            </a:pPr>
            <a:r>
              <a:rPr lang="zh-CN" altLang="en-US" sz="1800" dirty="0"/>
              <a:t>A．在教师表上定义一个视图                              B．在教师表上定义一个索引</a:t>
            </a:r>
            <a:endParaRPr lang="zh-CN" altLang="en-US" sz="1800" dirty="0"/>
          </a:p>
          <a:p>
            <a:pPr marL="0" lvl="0" indent="0" eaLnBrk="1" hangingPunct="1">
              <a:lnSpc>
                <a:spcPct val="120000"/>
              </a:lnSpc>
              <a:spcBef>
                <a:spcPts val="200"/>
              </a:spcBef>
              <a:buClrTx/>
              <a:buSzTx/>
              <a:buFont typeface="Arial" panose="020B0604020202020204" pitchFamily="34" charset="0"/>
              <a:buNone/>
            </a:pPr>
            <a:r>
              <a:rPr lang="zh-CN" altLang="en-US" sz="1800" dirty="0"/>
              <a:t>C．在教师表上定义插入和修改操作的触发器     D．在教师表上定义一个规则</a:t>
            </a:r>
            <a:endParaRPr lang="zh-CN" altLang="en-US" sz="1800" dirty="0"/>
          </a:p>
          <a:p>
            <a:pPr marL="0" lvl="0" indent="0" eaLnBrk="1" hangingPunct="1">
              <a:lnSpc>
                <a:spcPct val="120000"/>
              </a:lnSpc>
              <a:spcBef>
                <a:spcPts val="200"/>
              </a:spcBef>
              <a:buClrTx/>
              <a:buSzTx/>
              <a:buFont typeface="Arial" panose="020B0604020202020204" pitchFamily="34" charset="0"/>
              <a:buNone/>
            </a:pPr>
            <a:r>
              <a:rPr lang="en-US" altLang="zh-CN" sz="1800" dirty="0"/>
              <a:t>2</a:t>
            </a:r>
            <a:r>
              <a:rPr lang="zh-CN" altLang="en-US" sz="1800" dirty="0"/>
              <a:t>、下列（      ）语句用于创建触发器。</a:t>
            </a:r>
            <a:endParaRPr lang="zh-CN" altLang="en-US" sz="1800" dirty="0"/>
          </a:p>
          <a:p>
            <a:pPr marL="0" lvl="0" indent="0" eaLnBrk="1" hangingPunct="1">
              <a:lnSpc>
                <a:spcPct val="120000"/>
              </a:lnSpc>
              <a:spcBef>
                <a:spcPts val="200"/>
              </a:spcBef>
              <a:buClrTx/>
              <a:buSzTx/>
              <a:buFont typeface="Arial" panose="020B0604020202020204" pitchFamily="34" charset="0"/>
              <a:buNone/>
            </a:pPr>
            <a:r>
              <a:rPr lang="en-US" altLang="zh-CN" sz="1800" dirty="0"/>
              <a:t>A. CREATE PROCEDURE        B. CREATE TRIGGER   </a:t>
            </a:r>
            <a:endParaRPr lang="en-US" altLang="zh-CN" sz="1800" dirty="0"/>
          </a:p>
          <a:p>
            <a:pPr marL="0" lvl="0" indent="0" eaLnBrk="1" hangingPunct="1">
              <a:lnSpc>
                <a:spcPct val="120000"/>
              </a:lnSpc>
              <a:spcBef>
                <a:spcPts val="200"/>
              </a:spcBef>
              <a:buClrTx/>
              <a:buSzTx/>
              <a:buFont typeface="Arial" panose="020B0604020202020204" pitchFamily="34" charset="0"/>
              <a:buNone/>
            </a:pPr>
            <a:r>
              <a:rPr lang="en-US" altLang="zh-CN" sz="1800" dirty="0"/>
              <a:t>C. ALTER TRIGGER                 D. DROP TRIGGER</a:t>
            </a:r>
            <a:endParaRPr lang="en-US" altLang="zh-CN" sz="1800" dirty="0"/>
          </a:p>
          <a:p>
            <a:pPr marL="0" lvl="0" indent="0" eaLnBrk="1" hangingPunct="1">
              <a:lnSpc>
                <a:spcPct val="120000"/>
              </a:lnSpc>
              <a:spcBef>
                <a:spcPts val="200"/>
              </a:spcBef>
              <a:buClrTx/>
              <a:buSzTx/>
              <a:buFont typeface="Arial" panose="020B0604020202020204" pitchFamily="34" charset="0"/>
              <a:buNone/>
            </a:pPr>
            <a:r>
              <a:rPr lang="en-US" altLang="zh-CN" sz="1800" dirty="0"/>
              <a:t>3</a:t>
            </a:r>
            <a:r>
              <a:rPr lang="zh-CN" altLang="en-US" sz="1800" dirty="0"/>
              <a:t>、</a:t>
            </a:r>
            <a:r>
              <a:rPr lang="en-US" altLang="zh-CN" sz="1800" dirty="0"/>
              <a:t>SQL SERVER</a:t>
            </a:r>
            <a:r>
              <a:rPr lang="zh-CN" altLang="en-US" sz="1800" dirty="0"/>
              <a:t>为每个触发器创建了两个临时表，它们</a:t>
            </a:r>
            <a:r>
              <a:rPr lang="zh-CN" altLang="en-US" sz="1800" dirty="0"/>
              <a:t>是（     ）</a:t>
            </a:r>
            <a:endParaRPr lang="zh-CN" altLang="en-US" sz="1800" dirty="0"/>
          </a:p>
          <a:p>
            <a:pPr marL="0" lvl="0" indent="0" eaLnBrk="1" hangingPunct="1">
              <a:lnSpc>
                <a:spcPct val="120000"/>
              </a:lnSpc>
              <a:spcBef>
                <a:spcPts val="200"/>
              </a:spcBef>
              <a:buClrTx/>
              <a:buSzTx/>
              <a:buFont typeface="Arial" panose="020B0604020202020204" pitchFamily="34" charset="0"/>
              <a:buNone/>
            </a:pPr>
            <a:r>
              <a:rPr lang="en-US" altLang="zh-CN" sz="1800" dirty="0"/>
              <a:t>A. Updated</a:t>
            </a:r>
            <a:r>
              <a:rPr lang="zh-CN" altLang="en-US" sz="1800" dirty="0"/>
              <a:t>和</a:t>
            </a:r>
            <a:r>
              <a:rPr lang="en-US" altLang="zh-CN" sz="1800" dirty="0"/>
              <a:t>Deleted                B. Inserted</a:t>
            </a:r>
            <a:r>
              <a:rPr lang="zh-CN" altLang="en-US" sz="1800" dirty="0"/>
              <a:t>和</a:t>
            </a:r>
            <a:r>
              <a:rPr lang="en-US" altLang="zh-CN" sz="1800" dirty="0">
                <a:sym typeface="+mn-ea"/>
              </a:rPr>
              <a:t>Deleted          </a:t>
            </a:r>
            <a:endParaRPr lang="en-US" altLang="zh-CN" sz="1800" dirty="0">
              <a:sym typeface="+mn-ea"/>
            </a:endParaRPr>
          </a:p>
          <a:p>
            <a:pPr marL="0" lvl="0" indent="0" eaLnBrk="1" hangingPunct="1">
              <a:lnSpc>
                <a:spcPct val="120000"/>
              </a:lnSpc>
              <a:spcBef>
                <a:spcPts val="200"/>
              </a:spcBef>
              <a:buClrTx/>
              <a:buSzTx/>
              <a:buFont typeface="Arial" panose="020B0604020202020204" pitchFamily="34" charset="0"/>
              <a:buNone/>
            </a:pPr>
            <a:r>
              <a:rPr lang="en-US" altLang="zh-CN" sz="1800" dirty="0"/>
              <a:t>C. </a:t>
            </a:r>
            <a:r>
              <a:rPr lang="en-US" altLang="zh-CN" sz="1800" dirty="0">
                <a:sym typeface="+mn-ea"/>
              </a:rPr>
              <a:t>Updated</a:t>
            </a:r>
            <a:r>
              <a:rPr lang="zh-CN" altLang="en-US" sz="1800" dirty="0">
                <a:sym typeface="+mn-ea"/>
              </a:rPr>
              <a:t>和</a:t>
            </a:r>
            <a:r>
              <a:rPr lang="en-US" altLang="zh-CN" sz="1800" dirty="0">
                <a:sym typeface="+mn-ea"/>
              </a:rPr>
              <a:t>Inserted               D. Updated</a:t>
            </a:r>
            <a:r>
              <a:rPr lang="zh-CN" altLang="en-US" sz="1800" dirty="0">
                <a:sym typeface="+mn-ea"/>
              </a:rPr>
              <a:t>和</a:t>
            </a:r>
            <a:r>
              <a:rPr lang="en-US" altLang="zh-CN" sz="1800" dirty="0">
                <a:sym typeface="+mn-ea"/>
              </a:rPr>
              <a:t>Selected</a:t>
            </a:r>
            <a:endParaRPr lang="en-US" altLang="zh-CN" sz="1800" dirty="0">
              <a:sym typeface="+mn-ea"/>
            </a:endParaRPr>
          </a:p>
          <a:p>
            <a:pPr marL="0" lvl="0" indent="0" eaLnBrk="1" hangingPunct="1">
              <a:lnSpc>
                <a:spcPct val="120000"/>
              </a:lnSpc>
              <a:spcBef>
                <a:spcPts val="200"/>
              </a:spcBef>
              <a:buClrTx/>
              <a:buSzTx/>
              <a:buFont typeface="Arial" panose="020B0604020202020204" pitchFamily="34" charset="0"/>
              <a:buNone/>
            </a:pPr>
            <a:r>
              <a:rPr lang="en-US" altLang="zh-CN" sz="1800" dirty="0"/>
              <a:t>4</a:t>
            </a:r>
            <a:r>
              <a:rPr lang="zh-CN" altLang="en-US" sz="1800" dirty="0"/>
              <a:t>、关于触发器，下列说法正确的是（          ）。</a:t>
            </a:r>
            <a:endParaRPr lang="zh-CN" altLang="en-US" sz="1800" dirty="0"/>
          </a:p>
          <a:p>
            <a:pPr marL="0" lvl="0" indent="0" eaLnBrk="1" hangingPunct="1">
              <a:lnSpc>
                <a:spcPct val="120000"/>
              </a:lnSpc>
              <a:spcBef>
                <a:spcPts val="200"/>
              </a:spcBef>
              <a:buClrTx/>
              <a:buSzTx/>
              <a:buFont typeface="Arial" panose="020B0604020202020204" pitchFamily="34" charset="0"/>
              <a:buNone/>
            </a:pPr>
            <a:r>
              <a:rPr lang="zh-CN" altLang="en-US" sz="1800" dirty="0"/>
              <a:t>A、必要的时候可以由用户来直接调用      B、可以调用该触发器的名称来调用</a:t>
            </a:r>
            <a:endParaRPr lang="zh-CN" altLang="en-US" sz="1800" dirty="0"/>
          </a:p>
          <a:p>
            <a:pPr marL="0" lvl="0" indent="0" eaLnBrk="1" hangingPunct="1">
              <a:lnSpc>
                <a:spcPct val="120000"/>
              </a:lnSpc>
              <a:spcBef>
                <a:spcPts val="200"/>
              </a:spcBef>
              <a:buClrTx/>
              <a:buSzTx/>
              <a:buFont typeface="Arial" panose="020B0604020202020204" pitchFamily="34" charset="0"/>
              <a:buNone/>
            </a:pPr>
            <a:r>
              <a:rPr lang="zh-CN" altLang="en-US" sz="1800" dirty="0"/>
              <a:t>C、并不需要由用户来直接调用                 D、需要由用户来直接调用</a:t>
            </a:r>
            <a:endParaRPr lang="zh-CN" altLang="en-US" sz="1800" dirty="0"/>
          </a:p>
        </p:txBody>
      </p:sp>
      <p:sp>
        <p:nvSpPr>
          <p:cNvPr id="4" name="文本框 3"/>
          <p:cNvSpPr txBox="1"/>
          <p:nvPr/>
        </p:nvSpPr>
        <p:spPr>
          <a:xfrm>
            <a:off x="4475798" y="1463040"/>
            <a:ext cx="344488" cy="588963"/>
          </a:xfrm>
          <a:prstGeom prst="rect">
            <a:avLst/>
          </a:prstGeom>
          <a:noFill/>
        </p:spPr>
        <p:txBody>
          <a:bodyPr wrap="none">
            <a:spAutoFit/>
          </a:bodyPr>
          <a:lstStyle/>
          <a:p>
            <a:pPr marR="0" defTabSz="914400" eaLnBrk="1" hangingPunct="1">
              <a:buClrTx/>
              <a:buSzTx/>
              <a:buFont typeface="Arial" panose="020B0604020202020204" pitchFamily="34" charset="0"/>
              <a:buNone/>
              <a:defRPr/>
            </a:pPr>
            <a:r>
              <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C</a:t>
            </a:r>
            <a:endPar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endParaRPr>
          </a:p>
        </p:txBody>
      </p:sp>
      <p:sp>
        <p:nvSpPr>
          <p:cNvPr id="45" name="文本框 44"/>
          <p:cNvSpPr txBox="1"/>
          <p:nvPr/>
        </p:nvSpPr>
        <p:spPr>
          <a:xfrm>
            <a:off x="458788" y="-19050"/>
            <a:ext cx="2681288" cy="828675"/>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问题研讨：</a:t>
            </a:r>
            <a:endParaRPr kumimoji="0" lang="zh-CN" altLang="en-US" sz="3200" kern="1200" cap="none" spc="0" normalizeH="0" baseline="0" noProof="0" dirty="0">
              <a:latin typeface="Arial" panose="020B0604020202020204" pitchFamily="34" charset="0"/>
              <a:ea typeface="宋体" panose="02010600030101010101" pitchFamily="2" charset="-122"/>
              <a:cs typeface="+mn-cs"/>
            </a:endParaRPr>
          </a:p>
        </p:txBody>
      </p:sp>
      <p:sp>
        <p:nvSpPr>
          <p:cNvPr id="6" name="文本框 5"/>
          <p:cNvSpPr txBox="1"/>
          <p:nvPr/>
        </p:nvSpPr>
        <p:spPr>
          <a:xfrm>
            <a:off x="1622425" y="2505075"/>
            <a:ext cx="354013" cy="588963"/>
          </a:xfrm>
          <a:prstGeom prst="rect">
            <a:avLst/>
          </a:prstGeom>
          <a:noFill/>
        </p:spPr>
        <p:txBody>
          <a:bodyPr wrap="none">
            <a:spAutoFit/>
          </a:bodyPr>
          <a:lstStyle/>
          <a:p>
            <a:pPr marR="0" defTabSz="914400" eaLnBrk="1" hangingPunct="1">
              <a:buClrTx/>
              <a:buSzTx/>
              <a:buFont typeface="Arial" panose="020B0604020202020204" pitchFamily="34" charset="0"/>
              <a:buNone/>
              <a:defRPr/>
            </a:pPr>
            <a:r>
              <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B</a:t>
            </a:r>
            <a:endPar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endParaRPr>
          </a:p>
        </p:txBody>
      </p:sp>
      <p:sp>
        <p:nvSpPr>
          <p:cNvPr id="8" name="文本框 7"/>
          <p:cNvSpPr txBox="1"/>
          <p:nvPr/>
        </p:nvSpPr>
        <p:spPr>
          <a:xfrm>
            <a:off x="6714173" y="3568700"/>
            <a:ext cx="354013" cy="588963"/>
          </a:xfrm>
          <a:prstGeom prst="rect">
            <a:avLst/>
          </a:prstGeom>
          <a:noFill/>
        </p:spPr>
        <p:txBody>
          <a:bodyPr wrap="none">
            <a:spAutoFit/>
          </a:bodyPr>
          <a:lstStyle/>
          <a:p>
            <a:pPr marR="0" defTabSz="914400" eaLnBrk="1" hangingPunct="1">
              <a:buClrTx/>
              <a:buSzTx/>
              <a:buFont typeface="Arial" panose="020B0604020202020204" pitchFamily="34" charset="0"/>
              <a:buNone/>
              <a:defRPr/>
            </a:pPr>
            <a:r>
              <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B</a:t>
            </a:r>
            <a:endPar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endParaRPr>
          </a:p>
        </p:txBody>
      </p:sp>
      <p:sp>
        <p:nvSpPr>
          <p:cNvPr id="2" name="文本框 1"/>
          <p:cNvSpPr txBox="1"/>
          <p:nvPr/>
        </p:nvSpPr>
        <p:spPr>
          <a:xfrm>
            <a:off x="4525963" y="4619625"/>
            <a:ext cx="344488" cy="590550"/>
          </a:xfrm>
          <a:prstGeom prst="rect">
            <a:avLst/>
          </a:prstGeom>
          <a:noFill/>
        </p:spPr>
        <p:txBody>
          <a:bodyPr wrap="none">
            <a:spAutoFit/>
          </a:bodyPr>
          <a:lstStyle/>
          <a:p>
            <a:pPr marR="0" defTabSz="914400" eaLnBrk="1" hangingPunct="1">
              <a:buClrTx/>
              <a:buSzTx/>
              <a:buFont typeface="Arial" panose="020B0604020202020204" pitchFamily="34" charset="0"/>
              <a:buNone/>
              <a:defRPr/>
            </a:pPr>
            <a:r>
              <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C</a:t>
            </a:r>
            <a:endPar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additive="base">
                                        <p:cTn id="25" dur="500" fill="hold"/>
                                        <p:tgtEl>
                                          <p:spTgt spid="2"/>
                                        </p:tgtEl>
                                        <p:attrNameLst>
                                          <p:attrName>ppt_x</p:attrName>
                                        </p:attrNameLst>
                                      </p:cBhvr>
                                      <p:tavLst>
                                        <p:tav tm="0">
                                          <p:val>
                                            <p:strVal val="#ppt_x"/>
                                          </p:val>
                                        </p:tav>
                                        <p:tav tm="100000">
                                          <p:val>
                                            <p:strVal val="#ppt_x"/>
                                          </p:val>
                                        </p:tav>
                                      </p:tavLst>
                                    </p:anim>
                                    <p:anim calcmode="lin" valueType="num">
                                      <p:cBhvr additive="base">
                                        <p:cTn id="2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8" grpId="0"/>
      <p:bldP spid="2"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5"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三、数据库操纵子语言及其操作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67586" name="Text Box 3"/>
          <p:cNvSpPr txBox="1"/>
          <p:nvPr/>
        </p:nvSpPr>
        <p:spPr>
          <a:xfrm>
            <a:off x="536575" y="1389063"/>
            <a:ext cx="7924800" cy="1755775"/>
          </a:xfrm>
          <a:prstGeom prst="rect">
            <a:avLst/>
          </a:prstGeom>
          <a:noFill/>
          <a:ln w="9525">
            <a:noFill/>
          </a:ln>
        </p:spPr>
        <p:txBody>
          <a:bodyPr anchor="t" anchorCtr="0">
            <a:spAutoFit/>
          </a:bodyPr>
          <a:p>
            <a:pPr>
              <a:lnSpc>
                <a:spcPct val="135000"/>
              </a:lnSpc>
            </a:pPr>
            <a:r>
              <a:rPr lang="zh-CN" altLang="en-US" sz="2800" dirty="0">
                <a:latin typeface="华文楷体" panose="02010600040101010101" pitchFamily="2" charset="-122"/>
                <a:ea typeface="华文楷体" panose="02010600040101010101" pitchFamily="2" charset="-122"/>
              </a:rPr>
              <a:t>      </a:t>
            </a:r>
            <a:r>
              <a:rPr lang="zh-CN" altLang="en-US" sz="2400" dirty="0">
                <a:latin typeface="宋体" panose="02010600030101010101" pitchFamily="2" charset="-122"/>
                <a:ea typeface="宋体" panose="02010600030101010101" pitchFamily="2" charset="-122"/>
              </a:rPr>
              <a:t>利用</a:t>
            </a:r>
            <a:r>
              <a:rPr lang="en-US" altLang="zh-CN" sz="2400" dirty="0">
                <a:latin typeface="宋体" panose="02010600030101010101" pitchFamily="2" charset="-122"/>
                <a:ea typeface="宋体" panose="02010600030101010101" pitchFamily="2" charset="-122"/>
              </a:rPr>
              <a:t>DDL</a:t>
            </a:r>
            <a:r>
              <a:rPr lang="zh-CN" altLang="en-US" sz="2400" dirty="0">
                <a:latin typeface="宋体" panose="02010600030101010101" pitchFamily="2" charset="-122"/>
                <a:ea typeface="宋体" panose="02010600030101010101" pitchFamily="2" charset="-122"/>
              </a:rPr>
              <a:t>定义完数据结构和约束后，就可以利用</a:t>
            </a:r>
            <a:r>
              <a:rPr lang="en-US" altLang="zh-CN" sz="2400" dirty="0">
                <a:latin typeface="宋体" panose="02010600030101010101" pitchFamily="2" charset="-122"/>
                <a:ea typeface="宋体" panose="02010600030101010101" pitchFamily="2" charset="-122"/>
              </a:rPr>
              <a:t>DML</a:t>
            </a:r>
            <a:r>
              <a:rPr lang="zh-CN" altLang="en-US" sz="2400" dirty="0">
                <a:latin typeface="宋体" panose="02010600030101010101" pitchFamily="2" charset="-122"/>
                <a:ea typeface="宋体" panose="02010600030101010101" pitchFamily="2" charset="-122"/>
              </a:rPr>
              <a:t>功能，向数据结构中“加入”数据</a:t>
            </a:r>
            <a:r>
              <a:rPr lang="en-US" altLang="zh-CN" sz="2400" dirty="0">
                <a:latin typeface="宋体" panose="02010600030101010101" pitchFamily="2" charset="-122"/>
                <a:ea typeface="宋体" panose="02010600030101010101" pitchFamily="2" charset="-122"/>
              </a:rPr>
              <a:t>……</a:t>
            </a:r>
            <a:endParaRPr lang="en-US" altLang="zh-CN" sz="2400" dirty="0">
              <a:latin typeface="宋体" panose="02010600030101010101" pitchFamily="2" charset="-122"/>
              <a:ea typeface="宋体" panose="02010600030101010101" pitchFamily="2" charset="-122"/>
            </a:endParaRPr>
          </a:p>
          <a:p>
            <a:pPr>
              <a:lnSpc>
                <a:spcPct val="135000"/>
              </a:lnSpc>
              <a:buFont typeface="Arial" panose="020B0604020202020204" pitchFamily="34" charset="0"/>
              <a:buChar char="•"/>
            </a:pPr>
            <a:endParaRPr lang="en-US" altLang="zh-CN" sz="2800" dirty="0">
              <a:latin typeface="华文楷体" panose="02010600040101010101" pitchFamily="2" charset="-122"/>
              <a:ea typeface="华文楷体" panose="02010600040101010101" pitchFamily="2" charset="-122"/>
            </a:endParaRPr>
          </a:p>
        </p:txBody>
      </p:sp>
      <p:sp>
        <p:nvSpPr>
          <p:cNvPr id="67587" name="矩形 3"/>
          <p:cNvSpPr/>
          <p:nvPr/>
        </p:nvSpPr>
        <p:spPr>
          <a:xfrm>
            <a:off x="655638" y="2513013"/>
            <a:ext cx="5845175" cy="554037"/>
          </a:xfrm>
          <a:prstGeom prst="rect">
            <a:avLst/>
          </a:prstGeom>
          <a:noFill/>
          <a:ln w="9525">
            <a:noFill/>
          </a:ln>
        </p:spPr>
        <p:txBody>
          <a:bodyPr wrap="none" anchor="t" anchorCtr="0">
            <a:spAutoFit/>
          </a:bodyPr>
          <a:p>
            <a:pPr>
              <a:lnSpc>
                <a:spcPct val="135000"/>
              </a:lnSpc>
              <a:buFont typeface="Wingdings" panose="05000000000000000000" pitchFamily="2" charset="2"/>
              <a:buChar char="p"/>
            </a:pPr>
            <a:r>
              <a:rPr lang="zh-CN" altLang="en-US" sz="2600" dirty="0">
                <a:solidFill>
                  <a:srgbClr val="000099"/>
                </a:solidFill>
                <a:latin typeface="宋体" panose="02010600030101010101" pitchFamily="2" charset="-122"/>
                <a:ea typeface="宋体" panose="02010600030101010101" pitchFamily="2" charset="-122"/>
              </a:rPr>
              <a:t> 学习</a:t>
            </a:r>
            <a:r>
              <a:rPr lang="en-US" altLang="zh-CN" sz="2600" dirty="0">
                <a:solidFill>
                  <a:srgbClr val="000099"/>
                </a:solidFill>
                <a:latin typeface="宋体" panose="02010600030101010101" pitchFamily="2" charset="-122"/>
                <a:ea typeface="宋体" panose="02010600030101010101" pitchFamily="2" charset="-122"/>
              </a:rPr>
              <a:t>DML</a:t>
            </a:r>
            <a:r>
              <a:rPr lang="zh-CN" altLang="en-US" sz="2600" dirty="0">
                <a:solidFill>
                  <a:srgbClr val="000099"/>
                </a:solidFill>
                <a:latin typeface="宋体" panose="02010600030101010101" pitchFamily="2" charset="-122"/>
                <a:ea typeface="宋体" panose="02010600030101010101" pitchFamily="2" charset="-122"/>
              </a:rPr>
              <a:t>，需要注意以下几个问题：</a:t>
            </a:r>
            <a:endParaRPr lang="zh-CN" altLang="en-US" sz="2600" dirty="0">
              <a:solidFill>
                <a:srgbClr val="000099"/>
              </a:solidFill>
              <a:latin typeface="宋体" panose="02010600030101010101" pitchFamily="2" charset="-122"/>
              <a:ea typeface="宋体" panose="02010600030101010101" pitchFamily="2" charset="-122"/>
            </a:endParaRPr>
          </a:p>
        </p:txBody>
      </p:sp>
      <p:sp>
        <p:nvSpPr>
          <p:cNvPr id="67588" name="矩形 4"/>
          <p:cNvSpPr/>
          <p:nvPr/>
        </p:nvSpPr>
        <p:spPr>
          <a:xfrm>
            <a:off x="863600" y="3201988"/>
            <a:ext cx="4572000" cy="2546350"/>
          </a:xfrm>
          <a:prstGeom prst="rect">
            <a:avLst/>
          </a:prstGeom>
          <a:noFill/>
          <a:ln w="9525">
            <a:noFill/>
          </a:ln>
        </p:spPr>
        <p:txBody>
          <a:bodyPr anchor="t" anchorCtr="0">
            <a:spAutoFit/>
          </a:bodyPr>
          <a:p>
            <a:pPr>
              <a:lnSpc>
                <a:spcPct val="135000"/>
              </a:lnSpc>
            </a:pPr>
            <a:r>
              <a:rPr lang="en-US" altLang="zh-CN" sz="2400" dirty="0">
                <a:latin typeface="华文楷体" panose="02010600040101010101" pitchFamily="2" charset="-122"/>
                <a:ea typeface="华文楷体" panose="02010600040101010101" pitchFamily="2" charset="-122"/>
              </a:rPr>
              <a:t>--1.DML</a:t>
            </a:r>
            <a:r>
              <a:rPr lang="zh-CN" altLang="en-US" sz="2400" dirty="0">
                <a:latin typeface="华文楷体" panose="02010600040101010101" pitchFamily="2" charset="-122"/>
                <a:ea typeface="华文楷体" panose="02010600040101010101" pitchFamily="2" charset="-122"/>
              </a:rPr>
              <a:t>的四个命令关键字</a:t>
            </a:r>
            <a:endParaRPr lang="zh-CN" altLang="en-US" sz="2400" dirty="0">
              <a:latin typeface="华文楷体" panose="02010600040101010101" pitchFamily="2" charset="-122"/>
              <a:ea typeface="华文楷体" panose="02010600040101010101" pitchFamily="2" charset="-122"/>
            </a:endParaRPr>
          </a:p>
          <a:p>
            <a:pPr>
              <a:lnSpc>
                <a:spcPct val="135000"/>
              </a:lnSpc>
            </a:pPr>
            <a:r>
              <a:rPr lang="en-US" altLang="zh-CN" sz="2400" dirty="0">
                <a:latin typeface="华文楷体" panose="02010600040101010101" pitchFamily="2" charset="-122"/>
                <a:ea typeface="华文楷体" panose="02010600040101010101" pitchFamily="2" charset="-122"/>
              </a:rPr>
              <a:t>--2.</a:t>
            </a:r>
            <a:r>
              <a:rPr lang="zh-CN" altLang="en-US" sz="2400" dirty="0">
                <a:latin typeface="华文楷体" panose="02010600040101010101" pitchFamily="2" charset="-122"/>
                <a:ea typeface="华文楷体" panose="02010600040101010101" pitchFamily="2" charset="-122"/>
              </a:rPr>
              <a:t>如何进行数据插入？ </a:t>
            </a:r>
            <a:endParaRPr lang="zh-CN" altLang="en-US" sz="2400" dirty="0">
              <a:latin typeface="华文楷体" panose="02010600040101010101" pitchFamily="2" charset="-122"/>
              <a:ea typeface="华文楷体" panose="02010600040101010101" pitchFamily="2" charset="-122"/>
            </a:endParaRPr>
          </a:p>
          <a:p>
            <a:pPr>
              <a:lnSpc>
                <a:spcPct val="135000"/>
              </a:lnSpc>
            </a:pPr>
            <a:r>
              <a:rPr lang="en-US" altLang="zh-CN" sz="2400" dirty="0">
                <a:latin typeface="华文楷体" panose="02010600040101010101" pitchFamily="2" charset="-122"/>
                <a:ea typeface="华文楷体" panose="02010600040101010101" pitchFamily="2" charset="-122"/>
              </a:rPr>
              <a:t>--3.</a:t>
            </a:r>
            <a:r>
              <a:rPr lang="zh-CN" altLang="en-US" sz="2400" dirty="0">
                <a:latin typeface="华文楷体" panose="02010600040101010101" pitchFamily="2" charset="-122"/>
                <a:ea typeface="华文楷体" panose="02010600040101010101" pitchFamily="2" charset="-122"/>
              </a:rPr>
              <a:t>如何进行数据修改？ </a:t>
            </a:r>
            <a:endParaRPr lang="zh-CN" altLang="en-US" sz="2400" dirty="0">
              <a:latin typeface="华文楷体" panose="02010600040101010101" pitchFamily="2" charset="-122"/>
              <a:ea typeface="华文楷体" panose="02010600040101010101" pitchFamily="2" charset="-122"/>
            </a:endParaRPr>
          </a:p>
          <a:p>
            <a:pPr>
              <a:lnSpc>
                <a:spcPct val="135000"/>
              </a:lnSpc>
            </a:pPr>
            <a:r>
              <a:rPr lang="en-US" altLang="zh-CN" sz="2400" dirty="0">
                <a:latin typeface="华文楷体" panose="02010600040101010101" pitchFamily="2" charset="-122"/>
                <a:ea typeface="华文楷体" panose="02010600040101010101" pitchFamily="2" charset="-122"/>
              </a:rPr>
              <a:t>--4.</a:t>
            </a:r>
            <a:r>
              <a:rPr lang="zh-CN" altLang="en-US" sz="2400" dirty="0">
                <a:latin typeface="华文楷体" panose="02010600040101010101" pitchFamily="2" charset="-122"/>
                <a:ea typeface="华文楷体" panose="02010600040101010101" pitchFamily="2" charset="-122"/>
              </a:rPr>
              <a:t>如何进行数据删除？</a:t>
            </a:r>
            <a:endParaRPr lang="zh-CN" altLang="en-US" sz="2400" dirty="0">
              <a:latin typeface="华文楷体" panose="02010600040101010101" pitchFamily="2" charset="-122"/>
              <a:ea typeface="华文楷体" panose="02010600040101010101" pitchFamily="2" charset="-122"/>
            </a:endParaRPr>
          </a:p>
          <a:p>
            <a:pPr>
              <a:lnSpc>
                <a:spcPct val="135000"/>
              </a:lnSpc>
            </a:pPr>
            <a:r>
              <a:rPr lang="en-US" altLang="zh-CN" sz="2400" dirty="0">
                <a:latin typeface="华文楷体" panose="02010600040101010101" pitchFamily="2" charset="-122"/>
                <a:ea typeface="华文楷体" panose="02010600040101010101" pitchFamily="2" charset="-122"/>
              </a:rPr>
              <a:t>--5.</a:t>
            </a:r>
            <a:r>
              <a:rPr lang="zh-CN" altLang="en-US" sz="2400" dirty="0">
                <a:latin typeface="华文楷体" panose="02010600040101010101" pitchFamily="2" charset="-122"/>
                <a:ea typeface="华文楷体" panose="02010600040101010101" pitchFamily="2" charset="-122"/>
              </a:rPr>
              <a:t>如何进行数据查询</a:t>
            </a:r>
            <a:r>
              <a:rPr lang="zh-CN" altLang="en-US" sz="2200" dirty="0">
                <a:latin typeface="华文楷体" panose="02010600040101010101" pitchFamily="2" charset="-122"/>
                <a:ea typeface="华文楷体" panose="02010600040101010101" pitchFamily="2" charset="-122"/>
              </a:rPr>
              <a:t>？</a:t>
            </a:r>
            <a:endParaRPr lang="zh-CN" altLang="en-US" sz="2200" dirty="0">
              <a:latin typeface="华文楷体" panose="02010600040101010101" pitchFamily="2" charset="-122"/>
              <a:ea typeface="华文楷体" panose="02010600040101010101" pitchFamily="2" charset="-122"/>
            </a:endParaRPr>
          </a:p>
        </p:txBody>
      </p:sp>
      <p:sp>
        <p:nvSpPr>
          <p:cNvPr id="44038" name="AutoShape 2"/>
          <p:cNvSpPr/>
          <p:nvPr/>
        </p:nvSpPr>
        <p:spPr>
          <a:xfrm>
            <a:off x="581025" y="3281363"/>
            <a:ext cx="7953375" cy="2640013"/>
          </a:xfrm>
          <a:prstGeom prst="roundRect">
            <a:avLst>
              <a:gd name="adj" fmla="val 10375"/>
            </a:avLst>
          </a:prstGeom>
          <a:noFill/>
          <a:ln w="19050" cap="rnd" cmpd="sng">
            <a:solidFill>
              <a:schemeClr val="accent2"/>
            </a:solidFill>
            <a:prstDash val="sysDot"/>
            <a:headEnd type="none" w="med" len="med"/>
            <a:tailEnd type="none" w="med" len="med"/>
          </a:ln>
        </p:spPr>
        <p:txBody>
          <a:bodyPr wrap="none" anchor="ctr"/>
          <a:p>
            <a:pPr lvl="0" eaLnBrk="1" fontAlgn="base" hangingPunct="1">
              <a:lnSpc>
                <a:spcPct val="135000"/>
              </a:lnSpc>
              <a:buChar char="•"/>
            </a:pPr>
            <a:endParaRPr lang="zh-CN" altLang="en-US" strike="noStrike" noProof="1" dirty="0">
              <a:effectLst>
                <a:outerShdw blurRad="38100" dist="38100" dir="2700000">
                  <a:srgbClr val="C0C0C0"/>
                </a:outerShdw>
              </a:effectLst>
              <a:latin typeface="Arial" panose="020B0604020202020204" pitchFamily="34" charset="0"/>
              <a:ea typeface="宋体" panose="02010600030101010101" pitchFamily="2" charset="-122"/>
            </a:endParaRPr>
          </a:p>
        </p:txBody>
      </p:sp>
      <p:sp>
        <p:nvSpPr>
          <p:cNvPr id="67590" name="矩形 6"/>
          <p:cNvSpPr/>
          <p:nvPr/>
        </p:nvSpPr>
        <p:spPr>
          <a:xfrm>
            <a:off x="542925" y="881063"/>
            <a:ext cx="4298950" cy="944562"/>
          </a:xfrm>
          <a:prstGeom prst="rect">
            <a:avLst/>
          </a:prstGeom>
          <a:noFill/>
          <a:ln w="9525">
            <a:noFill/>
          </a:ln>
        </p:spPr>
        <p:txBody>
          <a:bodyPr wrap="none" anchor="t" anchorCtr="0">
            <a:spAutoFit/>
          </a:bodyPr>
          <a:p>
            <a:r>
              <a:rPr lang="en-US" altLang="zh-CN" sz="2800" dirty="0">
                <a:solidFill>
                  <a:srgbClr val="0033CC"/>
                </a:solidFill>
                <a:latin typeface="黑体" panose="02010609060101010101" pitchFamily="1" charset="-122"/>
                <a:ea typeface="黑体" panose="02010609060101010101" pitchFamily="1" charset="-122"/>
              </a:rPr>
              <a:t>1.DML</a:t>
            </a:r>
            <a:r>
              <a:rPr lang="zh-CN" altLang="en-US" sz="2800" dirty="0">
                <a:solidFill>
                  <a:srgbClr val="0033CC"/>
                </a:solidFill>
                <a:latin typeface="黑体" panose="02010609060101010101" pitchFamily="1" charset="-122"/>
                <a:ea typeface="黑体" panose="02010609060101010101" pitchFamily="1" charset="-122"/>
              </a:rPr>
              <a:t>需要注意的几个问题</a:t>
            </a:r>
            <a:endParaRPr lang="zh-CN" altLang="en-US" sz="2400" dirty="0">
              <a:solidFill>
                <a:srgbClr val="FF0000"/>
              </a:solidFill>
              <a:latin typeface="黑体" panose="02010609060101010101" pitchFamily="1" charset="-122"/>
              <a:ea typeface="宋体" panose="02010600030101010101" pitchFamily="2" charset="-122"/>
            </a:endParaRPr>
          </a:p>
          <a:p>
            <a:endParaRPr lang="zh-CN" altLang="en-US" sz="2800" dirty="0">
              <a:solidFill>
                <a:srgbClr val="0033CC"/>
              </a:solidFill>
              <a:latin typeface="黑体" panose="02010609060101010101" pitchFamily="1" charset="-122"/>
              <a:ea typeface="黑体" panose="02010609060101010101" pitchFamily="1" charset="-122"/>
            </a:endParaRPr>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09"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三、数据库操纵子语言及其操作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68610" name="矩形 2"/>
          <p:cNvSpPr/>
          <p:nvPr/>
        </p:nvSpPr>
        <p:spPr>
          <a:xfrm>
            <a:off x="542925" y="881063"/>
            <a:ext cx="3941763" cy="944562"/>
          </a:xfrm>
          <a:prstGeom prst="rect">
            <a:avLst/>
          </a:prstGeom>
          <a:noFill/>
          <a:ln w="9525">
            <a:noFill/>
          </a:ln>
        </p:spPr>
        <p:txBody>
          <a:bodyPr wrap="none" anchor="t" anchorCtr="0">
            <a:spAutoFit/>
          </a:bodyPr>
          <a:p>
            <a:r>
              <a:rPr lang="en-US" altLang="zh-CN" sz="2800" dirty="0">
                <a:solidFill>
                  <a:srgbClr val="0033CC"/>
                </a:solidFill>
                <a:latin typeface="黑体" panose="02010609060101010101" pitchFamily="1" charset="-122"/>
                <a:ea typeface="黑体" panose="02010609060101010101" pitchFamily="1" charset="-122"/>
              </a:rPr>
              <a:t>2.DML</a:t>
            </a:r>
            <a:r>
              <a:rPr lang="zh-CN" altLang="en-US" sz="2800" dirty="0">
                <a:solidFill>
                  <a:srgbClr val="0033CC"/>
                </a:solidFill>
                <a:latin typeface="黑体" panose="02010609060101010101" pitchFamily="1" charset="-122"/>
                <a:ea typeface="黑体" panose="02010609060101010101" pitchFamily="1" charset="-122"/>
              </a:rPr>
              <a:t>的四个关键命令字</a:t>
            </a:r>
            <a:endParaRPr lang="zh-CN" altLang="en-US" sz="2400" dirty="0">
              <a:solidFill>
                <a:srgbClr val="FF0000"/>
              </a:solidFill>
              <a:latin typeface="黑体" panose="02010609060101010101" pitchFamily="1" charset="-122"/>
              <a:ea typeface="宋体" panose="02010600030101010101" pitchFamily="2" charset="-122"/>
            </a:endParaRPr>
          </a:p>
          <a:p>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68611" name="Text Box 4"/>
          <p:cNvSpPr txBox="1"/>
          <p:nvPr/>
        </p:nvSpPr>
        <p:spPr>
          <a:xfrm>
            <a:off x="527050" y="1557338"/>
            <a:ext cx="8424863" cy="588962"/>
          </a:xfrm>
          <a:prstGeom prst="rect">
            <a:avLst/>
          </a:prstGeom>
          <a:noFill/>
          <a:ln w="9525">
            <a:noFill/>
          </a:ln>
        </p:spPr>
        <p:txBody>
          <a:bodyPr anchor="t" anchorCtr="0">
            <a:spAutoFit/>
          </a:bodyPr>
          <a:p>
            <a:pPr marL="457200" indent="-457200">
              <a:lnSpc>
                <a:spcPct val="135000"/>
              </a:lnSpc>
            </a:pPr>
            <a:r>
              <a:rPr lang="zh-CN" altLang="en-US" sz="2600" dirty="0">
                <a:latin typeface="华文楷体" panose="02010600040101010101" pitchFamily="2" charset="-122"/>
                <a:ea typeface="华文楷体" panose="02010600040101010101" pitchFamily="2" charset="-122"/>
              </a:rPr>
              <a:t>（</a:t>
            </a:r>
            <a:r>
              <a:rPr lang="en-US" altLang="zh-CN" sz="2600" dirty="0">
                <a:latin typeface="华文楷体" panose="02010600040101010101" pitchFamily="2" charset="-122"/>
                <a:ea typeface="华文楷体" panose="02010600040101010101" pitchFamily="2" charset="-122"/>
              </a:rPr>
              <a:t>1</a:t>
            </a:r>
            <a:r>
              <a:rPr lang="zh-CN" altLang="en-US" sz="2600" dirty="0">
                <a:latin typeface="华文楷体" panose="02010600040101010101" pitchFamily="2" charset="-122"/>
                <a:ea typeface="华文楷体" panose="02010600040101010101" pitchFamily="2" charset="-122"/>
              </a:rPr>
              <a:t>）</a:t>
            </a:r>
            <a:r>
              <a:rPr lang="en-US" altLang="zh-CN" sz="2600" dirty="0">
                <a:latin typeface="华文楷体" panose="02010600040101010101" pitchFamily="2" charset="-122"/>
                <a:ea typeface="华文楷体" panose="02010600040101010101" pitchFamily="2" charset="-122"/>
              </a:rPr>
              <a:t> Insert  </a:t>
            </a:r>
            <a:r>
              <a:rPr lang="zh-CN" altLang="en-US" sz="2600" dirty="0">
                <a:latin typeface="华文楷体" panose="02010600040101010101" pitchFamily="2" charset="-122"/>
                <a:ea typeface="华文楷体" panose="02010600040101010101" pitchFamily="2" charset="-122"/>
              </a:rPr>
              <a:t>（</a:t>
            </a:r>
            <a:r>
              <a:rPr lang="en-US" altLang="zh-CN" sz="2600" dirty="0">
                <a:latin typeface="华文楷体" panose="02010600040101010101" pitchFamily="2" charset="-122"/>
                <a:ea typeface="华文楷体" panose="02010600040101010101" pitchFamily="2" charset="-122"/>
              </a:rPr>
              <a:t>2</a:t>
            </a:r>
            <a:r>
              <a:rPr lang="zh-CN" altLang="en-US" sz="2600" dirty="0">
                <a:latin typeface="华文楷体" panose="02010600040101010101" pitchFamily="2" charset="-122"/>
                <a:ea typeface="华文楷体" panose="02010600040101010101" pitchFamily="2" charset="-122"/>
              </a:rPr>
              <a:t>）</a:t>
            </a:r>
            <a:r>
              <a:rPr lang="en-US" altLang="zh-CN" sz="2600" dirty="0">
                <a:latin typeface="华文楷体" panose="02010600040101010101" pitchFamily="2" charset="-122"/>
                <a:ea typeface="华文楷体" panose="02010600040101010101" pitchFamily="2" charset="-122"/>
              </a:rPr>
              <a:t>Update </a:t>
            </a:r>
            <a:r>
              <a:rPr lang="zh-CN" altLang="en-US" sz="2600" dirty="0">
                <a:latin typeface="华文楷体" panose="02010600040101010101" pitchFamily="2" charset="-122"/>
                <a:ea typeface="华文楷体" panose="02010600040101010101" pitchFamily="2" charset="-122"/>
              </a:rPr>
              <a:t>   （</a:t>
            </a:r>
            <a:r>
              <a:rPr lang="en-US" altLang="zh-CN" sz="2600" dirty="0">
                <a:latin typeface="华文楷体" panose="02010600040101010101" pitchFamily="2" charset="-122"/>
                <a:ea typeface="华文楷体" panose="02010600040101010101" pitchFamily="2" charset="-122"/>
              </a:rPr>
              <a:t>3</a:t>
            </a:r>
            <a:r>
              <a:rPr lang="zh-CN" altLang="en-US" sz="2600" dirty="0">
                <a:latin typeface="华文楷体" panose="02010600040101010101" pitchFamily="2" charset="-122"/>
                <a:ea typeface="华文楷体" panose="02010600040101010101" pitchFamily="2" charset="-122"/>
              </a:rPr>
              <a:t>）</a:t>
            </a:r>
            <a:r>
              <a:rPr lang="en-US" altLang="zh-CN" sz="2600" dirty="0">
                <a:latin typeface="华文楷体" panose="02010600040101010101" pitchFamily="2" charset="-122"/>
                <a:ea typeface="华文楷体" panose="02010600040101010101" pitchFamily="2" charset="-122"/>
              </a:rPr>
              <a:t>Delete </a:t>
            </a:r>
            <a:r>
              <a:rPr lang="zh-CN" altLang="en-US" sz="2600" dirty="0">
                <a:latin typeface="华文楷体" panose="02010600040101010101" pitchFamily="2" charset="-122"/>
                <a:ea typeface="华文楷体" panose="02010600040101010101" pitchFamily="2" charset="-122"/>
              </a:rPr>
              <a:t>  （</a:t>
            </a:r>
            <a:r>
              <a:rPr lang="en-US" altLang="zh-CN" sz="2600" dirty="0">
                <a:latin typeface="华文楷体" panose="02010600040101010101" pitchFamily="2" charset="-122"/>
                <a:ea typeface="华文楷体" panose="02010600040101010101" pitchFamily="2" charset="-122"/>
              </a:rPr>
              <a:t>4</a:t>
            </a:r>
            <a:r>
              <a:rPr lang="zh-CN" altLang="en-US" sz="2600" dirty="0">
                <a:latin typeface="华文楷体" panose="02010600040101010101" pitchFamily="2" charset="-122"/>
                <a:ea typeface="华文楷体" panose="02010600040101010101" pitchFamily="2" charset="-122"/>
              </a:rPr>
              <a:t>）</a:t>
            </a:r>
            <a:r>
              <a:rPr lang="en-US" altLang="zh-CN" sz="2600" dirty="0">
                <a:latin typeface="华文楷体" panose="02010600040101010101" pitchFamily="2" charset="-122"/>
                <a:ea typeface="华文楷体" panose="02010600040101010101" pitchFamily="2" charset="-122"/>
              </a:rPr>
              <a:t>Select</a:t>
            </a:r>
            <a:endParaRPr lang="en-US" altLang="zh-CN" sz="2600" dirty="0">
              <a:latin typeface="华文楷体" panose="02010600040101010101" pitchFamily="2" charset="-122"/>
              <a:ea typeface="华文楷体" panose="02010600040101010101" pitchFamily="2" charset="-122"/>
            </a:endParaRPr>
          </a:p>
        </p:txBody>
      </p:sp>
      <p:sp>
        <p:nvSpPr>
          <p:cNvPr id="68612" name="Text Box 4"/>
          <p:cNvSpPr txBox="1"/>
          <p:nvPr/>
        </p:nvSpPr>
        <p:spPr>
          <a:xfrm>
            <a:off x="631825" y="3233738"/>
            <a:ext cx="8054975" cy="2141537"/>
          </a:xfrm>
          <a:prstGeom prst="rect">
            <a:avLst/>
          </a:prstGeom>
          <a:noFill/>
          <a:ln w="9525">
            <a:noFill/>
          </a:ln>
        </p:spPr>
        <p:txBody>
          <a:bodyPr wrap="square" anchor="t" anchorCtr="0">
            <a:spAutoFit/>
          </a:bodyPr>
          <a:p>
            <a:pPr marL="457200" indent="-457200">
              <a:lnSpc>
                <a:spcPct val="135000"/>
              </a:lnSpc>
            </a:pPr>
            <a:r>
              <a:rPr lang="zh-CN" altLang="en-US" sz="2400" dirty="0">
                <a:latin typeface="华文楷体" panose="02010600040101010101" pitchFamily="2" charset="-122"/>
                <a:ea typeface="华文楷体" panose="02010600040101010101" pitchFamily="2" charset="-122"/>
              </a:rPr>
              <a:t>   </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以上四个命令，均是针对数据的操作。其操纵的对象是表以及满足条件的视图（如：基于一张表的视图等）。</a:t>
            </a:r>
            <a:endParaRPr lang="en-US" altLang="zh-CN" sz="2400" dirty="0">
              <a:latin typeface="华文楷体" panose="02010600040101010101" pitchFamily="2" charset="-122"/>
              <a:ea typeface="华文楷体" panose="02010600040101010101" pitchFamily="2" charset="-122"/>
            </a:endParaRPr>
          </a:p>
          <a:p>
            <a:pPr marL="457200" indent="-457200">
              <a:lnSpc>
                <a:spcPct val="135000"/>
              </a:lnSpc>
              <a:spcBef>
                <a:spcPts val="600"/>
              </a:spcBef>
            </a:pPr>
            <a:r>
              <a:rPr lang="zh-CN" altLang="en-US" sz="2400" dirty="0">
                <a:latin typeface="华文楷体" panose="02010600040101010101" pitchFamily="2" charset="-122"/>
                <a:ea typeface="华文楷体" panose="02010600040101010101" pitchFamily="2" charset="-122"/>
              </a:rPr>
              <a:t>   </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在定义了约束或限制的情况下，数据的“增删改”操作必须遵守相关的限制条件。</a:t>
            </a:r>
            <a:endParaRPr lang="en-US" altLang="zh-CN" sz="2400" dirty="0">
              <a:latin typeface="华文楷体" panose="02010600040101010101" pitchFamily="2" charset="-122"/>
              <a:ea typeface="华文楷体" panose="02010600040101010101" pitchFamily="2" charset="-122"/>
            </a:endParaRPr>
          </a:p>
        </p:txBody>
      </p:sp>
      <p:sp>
        <p:nvSpPr>
          <p:cNvPr id="68613" name="矩形 5"/>
          <p:cNvSpPr/>
          <p:nvPr/>
        </p:nvSpPr>
        <p:spPr>
          <a:xfrm>
            <a:off x="655638" y="2513013"/>
            <a:ext cx="1654175" cy="554037"/>
          </a:xfrm>
          <a:prstGeom prst="rect">
            <a:avLst/>
          </a:prstGeom>
          <a:noFill/>
          <a:ln w="9525">
            <a:noFill/>
          </a:ln>
        </p:spPr>
        <p:txBody>
          <a:bodyPr wrap="none" anchor="t" anchorCtr="0">
            <a:spAutoFit/>
          </a:bodyPr>
          <a:p>
            <a:pPr>
              <a:lnSpc>
                <a:spcPct val="135000"/>
              </a:lnSpc>
              <a:buFont typeface="Wingdings" panose="05000000000000000000" pitchFamily="2" charset="2"/>
              <a:buChar char="p"/>
            </a:pPr>
            <a:r>
              <a:rPr lang="zh-CN" altLang="en-US" sz="2600" dirty="0">
                <a:solidFill>
                  <a:srgbClr val="000099"/>
                </a:solidFill>
                <a:latin typeface="宋体" panose="02010600030101010101" pitchFamily="2" charset="-122"/>
                <a:ea typeface="宋体" panose="02010600030101010101" pitchFamily="2" charset="-122"/>
              </a:rPr>
              <a:t> 说明：</a:t>
            </a:r>
            <a:endParaRPr lang="zh-CN" altLang="en-US" sz="2600" dirty="0">
              <a:solidFill>
                <a:srgbClr val="000099"/>
              </a:solidFill>
              <a:latin typeface="宋体" panose="02010600030101010101" pitchFamily="2" charset="-122"/>
              <a:ea typeface="宋体" panose="02010600030101010101" pitchFamily="2" charset="-122"/>
            </a:endParaRPr>
          </a:p>
        </p:txBody>
      </p:sp>
      <p:sp>
        <p:nvSpPr>
          <p:cNvPr id="45063" name="AutoShape 2"/>
          <p:cNvSpPr/>
          <p:nvPr/>
        </p:nvSpPr>
        <p:spPr>
          <a:xfrm>
            <a:off x="696913" y="3281363"/>
            <a:ext cx="7953375" cy="2640013"/>
          </a:xfrm>
          <a:prstGeom prst="roundRect">
            <a:avLst>
              <a:gd name="adj" fmla="val 10375"/>
            </a:avLst>
          </a:prstGeom>
          <a:noFill/>
          <a:ln w="19050" cap="rnd" cmpd="sng">
            <a:solidFill>
              <a:schemeClr val="accent2"/>
            </a:solidFill>
            <a:prstDash val="sysDot"/>
            <a:headEnd type="none" w="med" len="med"/>
            <a:tailEnd type="none" w="med" len="med"/>
          </a:ln>
        </p:spPr>
        <p:txBody>
          <a:bodyPr wrap="none" anchor="ctr"/>
          <a:p>
            <a:pPr lvl="0" eaLnBrk="1" fontAlgn="base" hangingPunct="1">
              <a:lnSpc>
                <a:spcPct val="135000"/>
              </a:lnSpc>
              <a:buChar char="•"/>
            </a:pPr>
            <a:endParaRPr lang="zh-CN" altLang="en-US" strike="noStrike" noProof="1" dirty="0">
              <a:effectLst>
                <a:outerShdw blurRad="38100" dist="38100" dir="2700000">
                  <a:srgbClr val="C0C0C0"/>
                </a:outerShdw>
              </a:effectLst>
              <a:latin typeface="Arial" panose="020B0604020202020204" pitchFamily="34" charset="0"/>
              <a:ea typeface="宋体" panose="02010600030101010101" pitchFamily="2" charset="-122"/>
            </a:endParaRPr>
          </a:p>
        </p:txBody>
      </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7"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三、数据库操纵子语言及其操作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70658" name="矩形 2"/>
          <p:cNvSpPr/>
          <p:nvPr/>
        </p:nvSpPr>
        <p:spPr>
          <a:xfrm>
            <a:off x="542925" y="852488"/>
            <a:ext cx="4203700" cy="517525"/>
          </a:xfrm>
          <a:prstGeom prst="rect">
            <a:avLst/>
          </a:prstGeom>
          <a:noFill/>
          <a:ln w="9525">
            <a:noFill/>
          </a:ln>
        </p:spPr>
        <p:txBody>
          <a:bodyPr anchor="t" anchorCtr="0">
            <a:spAutoFit/>
          </a:bodyPr>
          <a:p>
            <a:r>
              <a:rPr lang="en-US" altLang="zh-CN" sz="2800" dirty="0">
                <a:solidFill>
                  <a:srgbClr val="0033CC"/>
                </a:solidFill>
                <a:latin typeface="黑体" panose="02010609060101010101" pitchFamily="1" charset="-122"/>
                <a:ea typeface="黑体" panose="02010609060101010101" pitchFamily="1" charset="-122"/>
              </a:rPr>
              <a:t>3.</a:t>
            </a:r>
            <a:r>
              <a:rPr lang="zh-CN" altLang="en-US" sz="2800" dirty="0">
                <a:solidFill>
                  <a:srgbClr val="0033CC"/>
                </a:solidFill>
                <a:latin typeface="黑体" panose="02010609060101010101" pitchFamily="1" charset="-122"/>
                <a:ea typeface="黑体" panose="02010609060101010101" pitchFamily="1" charset="-122"/>
              </a:rPr>
              <a:t>数据插入</a:t>
            </a:r>
            <a:r>
              <a:rPr lang="en-US" altLang="zh-CN" sz="2800" dirty="0">
                <a:solidFill>
                  <a:srgbClr val="0033CC"/>
                </a:solidFill>
                <a:latin typeface="黑体" panose="02010609060101010101" pitchFamily="1" charset="-122"/>
                <a:ea typeface="黑体" panose="02010609060101010101" pitchFamily="1" charset="-122"/>
              </a:rPr>
              <a:t>(Insert)</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70659" name="Text Box 4"/>
          <p:cNvSpPr txBox="1"/>
          <p:nvPr/>
        </p:nvSpPr>
        <p:spPr>
          <a:xfrm>
            <a:off x="611188" y="1341438"/>
            <a:ext cx="8208962" cy="5173662"/>
          </a:xfrm>
          <a:prstGeom prst="rect">
            <a:avLst/>
          </a:prstGeom>
          <a:noFill/>
          <a:ln w="9525">
            <a:noFill/>
          </a:ln>
        </p:spPr>
        <p:txBody>
          <a:bodyPr anchor="t" anchorCtr="0">
            <a:spAutoFit/>
          </a:bodyPr>
          <a:p>
            <a:pPr>
              <a:lnSpc>
                <a:spcPct val="110000"/>
              </a:lnSpc>
            </a:pPr>
            <a:r>
              <a:rPr lang="zh-CN" altLang="en-US" sz="2400" dirty="0">
                <a:latin typeface="宋体" panose="02010600030101010101" pitchFamily="2" charset="-122"/>
                <a:ea typeface="宋体" panose="02010600030101010101" pitchFamily="2" charset="-122"/>
              </a:rPr>
              <a:t>向表中加入数据的两种方式：</a:t>
            </a:r>
            <a:endParaRPr lang="zh-CN" altLang="en-US" sz="2400" dirty="0">
              <a:latin typeface="宋体" panose="02010600030101010101" pitchFamily="2" charset="-122"/>
              <a:ea typeface="宋体" panose="02010600030101010101" pitchFamily="2" charset="-122"/>
            </a:endParaRPr>
          </a:p>
          <a:p>
            <a:r>
              <a:rPr lang="zh-CN" altLang="en-US" sz="2400" dirty="0">
                <a:solidFill>
                  <a:srgbClr val="FF0000"/>
                </a:solidFill>
                <a:latin typeface="宋体" panose="02010600030101010101" pitchFamily="2" charset="-122"/>
                <a:ea typeface="宋体" panose="02010600030101010101" pitchFamily="2" charset="-122"/>
              </a:rPr>
              <a:t>（</a:t>
            </a:r>
            <a:r>
              <a:rPr lang="en-US" altLang="zh-CN" sz="2400" dirty="0">
                <a:solidFill>
                  <a:srgbClr val="FF0000"/>
                </a:solidFill>
                <a:latin typeface="宋体" panose="02010600030101010101" pitchFamily="2" charset="-122"/>
                <a:ea typeface="宋体" panose="02010600030101010101" pitchFamily="2" charset="-122"/>
              </a:rPr>
              <a:t>1</a:t>
            </a:r>
            <a:r>
              <a:rPr lang="zh-CN" altLang="en-US" sz="2400" dirty="0">
                <a:solidFill>
                  <a:srgbClr val="FF0000"/>
                </a:solidFill>
                <a:latin typeface="宋体" panose="02010600030101010101" pitchFamily="2" charset="-122"/>
                <a:ea typeface="宋体" panose="02010600030101010101" pitchFamily="2" charset="-122"/>
              </a:rPr>
              <a:t>）插入一行</a:t>
            </a:r>
            <a:endParaRPr lang="zh-CN" altLang="en-US" sz="2400" dirty="0">
              <a:solidFill>
                <a:srgbClr val="FF0000"/>
              </a:solidFill>
              <a:latin typeface="宋体" panose="02010600030101010101" pitchFamily="2" charset="-122"/>
              <a:ea typeface="宋体" panose="02010600030101010101" pitchFamily="2" charset="-122"/>
            </a:endParaRPr>
          </a:p>
          <a:p>
            <a:r>
              <a:rPr lang="zh-CN" altLang="en-US" sz="2400" dirty="0">
                <a:latin typeface="宋体" panose="02010600030101010101" pitchFamily="2" charset="-122"/>
                <a:ea typeface="宋体" panose="02010600030101010101" pitchFamily="2" charset="-122"/>
              </a:rPr>
              <a:t>   </a:t>
            </a:r>
            <a:r>
              <a:rPr lang="en-US" altLang="zh-CN" sz="2400" dirty="0">
                <a:latin typeface="宋体" panose="02010600030101010101" pitchFamily="2" charset="-122"/>
                <a:ea typeface="宋体" panose="02010600030101010101" pitchFamily="2" charset="-122"/>
              </a:rPr>
              <a:t>INSERT [INTO] </a:t>
            </a:r>
            <a:r>
              <a:rPr lang="zh-CN" altLang="en-US" sz="2400" dirty="0">
                <a:latin typeface="宋体" panose="02010600030101010101" pitchFamily="2" charset="-122"/>
                <a:ea typeface="宋体" panose="02010600030101010101" pitchFamily="2" charset="-122"/>
              </a:rPr>
              <a:t>表名或视图名 </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属性名序列</a:t>
            </a:r>
            <a:r>
              <a:rPr lang="en-US" altLang="zh-CN" sz="2400" dirty="0">
                <a:latin typeface="宋体" panose="02010600030101010101" pitchFamily="2" charset="-122"/>
                <a:ea typeface="宋体" panose="02010600030101010101" pitchFamily="2" charset="-122"/>
              </a:rPr>
              <a:t>)]  </a:t>
            </a:r>
            <a:endParaRPr lang="en-US" altLang="zh-CN" sz="2400" dirty="0">
              <a:latin typeface="宋体" panose="02010600030101010101" pitchFamily="2" charset="-122"/>
              <a:ea typeface="宋体" panose="02010600030101010101" pitchFamily="2" charset="-122"/>
            </a:endParaRPr>
          </a:p>
          <a:p>
            <a:r>
              <a:rPr lang="en-US" altLang="zh-CN" sz="2400" dirty="0">
                <a:latin typeface="宋体" panose="02010600030101010101" pitchFamily="2" charset="-122"/>
                <a:ea typeface="宋体" panose="02010600030101010101" pitchFamily="2" charset="-122"/>
              </a:rPr>
              <a:t>     VALUES (</a:t>
            </a:r>
            <a:r>
              <a:rPr lang="zh-CN" altLang="en-US" sz="2400" dirty="0">
                <a:latin typeface="宋体" panose="02010600030101010101" pitchFamily="2" charset="-122"/>
                <a:ea typeface="宋体" panose="02010600030101010101" pitchFamily="2" charset="-122"/>
              </a:rPr>
              <a:t>一行中各列的值</a:t>
            </a:r>
            <a:r>
              <a:rPr lang="en-US" altLang="zh-CN" sz="2400" dirty="0">
                <a:latin typeface="宋体" panose="02010600030101010101" pitchFamily="2" charset="-122"/>
                <a:ea typeface="宋体" panose="02010600030101010101" pitchFamily="2" charset="-122"/>
              </a:rPr>
              <a:t>)</a:t>
            </a:r>
            <a:endParaRPr lang="en-US" altLang="zh-CN" sz="2400" dirty="0">
              <a:latin typeface="宋体" panose="02010600030101010101" pitchFamily="2" charset="-122"/>
              <a:ea typeface="宋体" panose="02010600030101010101" pitchFamily="2" charset="-122"/>
            </a:endParaRPr>
          </a:p>
          <a:p>
            <a:r>
              <a:rPr lang="zh-CN" altLang="en-US" sz="2400" dirty="0">
                <a:latin typeface="宋体" panose="02010600030101010101" pitchFamily="2" charset="-122"/>
                <a:ea typeface="宋体" panose="02010600030101010101" pitchFamily="2" charset="-122"/>
              </a:rPr>
              <a:t>例如：</a:t>
            </a:r>
            <a:endParaRPr lang="zh-CN" altLang="en-US" sz="2400" dirty="0">
              <a:latin typeface="宋体" panose="02010600030101010101" pitchFamily="2" charset="-122"/>
              <a:ea typeface="宋体" panose="02010600030101010101" pitchFamily="2" charset="-122"/>
            </a:endParaRPr>
          </a:p>
          <a:p>
            <a:pPr lvl="1" indent="0" eaLnBrk="1" hangingPunct="1"/>
            <a:r>
              <a:rPr lang="en-US" altLang="zh-CN" sz="2400" dirty="0">
                <a:latin typeface="华文楷体" panose="02010600040101010101" pitchFamily="2" charset="-122"/>
                <a:ea typeface="华文楷体" panose="02010600040101010101" pitchFamily="2" charset="-122"/>
              </a:rPr>
              <a:t>CREATE TABLE T</a:t>
            </a:r>
            <a:endParaRPr lang="en-US" altLang="zh-CN" sz="2400" dirty="0">
              <a:latin typeface="华文楷体" panose="02010600040101010101" pitchFamily="2" charset="-122"/>
              <a:ea typeface="华文楷体" panose="02010600040101010101" pitchFamily="2" charset="-122"/>
            </a:endParaRPr>
          </a:p>
          <a:p>
            <a:pPr lvl="1" indent="0" eaLnBrk="1" hangingPunct="1"/>
            <a:r>
              <a:rPr lang="zh-CN" altLang="en-US" sz="2400" dirty="0">
                <a:latin typeface="华文楷体" panose="02010600040101010101" pitchFamily="2" charset="-122"/>
                <a:ea typeface="华文楷体" panose="02010600040101010101" pitchFamily="2" charset="-122"/>
              </a:rPr>
              <a:t>   </a:t>
            </a:r>
            <a:r>
              <a:rPr lang="en-US" altLang="zh-CN" sz="2400" dirty="0">
                <a:latin typeface="华文楷体" panose="02010600040101010101" pitchFamily="2" charset="-122"/>
                <a:ea typeface="华文楷体" panose="02010600040101010101" pitchFamily="2" charset="-122"/>
              </a:rPr>
              <a:t>(Tid     int  identity(1,1) PRIMARY KEY, </a:t>
            </a:r>
            <a:endParaRPr lang="en-US" altLang="zh-CN" sz="2400" dirty="0">
              <a:latin typeface="华文楷体" panose="02010600040101010101" pitchFamily="2" charset="-122"/>
              <a:ea typeface="华文楷体" panose="02010600040101010101" pitchFamily="2" charset="-122"/>
            </a:endParaRPr>
          </a:p>
          <a:p>
            <a:r>
              <a:rPr lang="zh-CN" altLang="en-US" sz="2400" dirty="0">
                <a:latin typeface="华文楷体" panose="02010600040101010101" pitchFamily="2" charset="-122"/>
                <a:ea typeface="华文楷体" panose="02010600040101010101" pitchFamily="2" charset="-122"/>
              </a:rPr>
              <a:t>           </a:t>
            </a:r>
            <a:r>
              <a:rPr lang="en-US" altLang="zh-CN" sz="2400" dirty="0">
                <a:latin typeface="华文楷体" panose="02010600040101010101" pitchFamily="2" charset="-122"/>
                <a:ea typeface="华文楷体" panose="02010600040101010101" pitchFamily="2" charset="-122"/>
              </a:rPr>
              <a:t>Tname   CHAR(8)    NOT NULL,</a:t>
            </a:r>
            <a:endParaRPr lang="en-US" altLang="zh-CN" sz="2400" dirty="0">
              <a:latin typeface="华文楷体" panose="02010600040101010101" pitchFamily="2" charset="-122"/>
              <a:ea typeface="华文楷体" panose="02010600040101010101" pitchFamily="2" charset="-122"/>
            </a:endParaRPr>
          </a:p>
          <a:p>
            <a:r>
              <a:rPr lang="zh-CN" altLang="en-US" sz="2400" dirty="0">
                <a:latin typeface="华文楷体" panose="02010600040101010101" pitchFamily="2" charset="-122"/>
                <a:ea typeface="华文楷体" panose="02010600040101010101" pitchFamily="2" charset="-122"/>
              </a:rPr>
              <a:t>           </a:t>
            </a:r>
            <a:r>
              <a:rPr lang="en-US" altLang="zh-CN" sz="2400" dirty="0">
                <a:latin typeface="华文楷体" panose="02010600040101010101" pitchFamily="2" charset="-122"/>
                <a:ea typeface="华文楷体" panose="02010600040101010101" pitchFamily="2" charset="-122"/>
              </a:rPr>
              <a:t>TITLE   CHAR(10))</a:t>
            </a:r>
            <a:endParaRPr lang="en-US" altLang="zh-CN" sz="2400" dirty="0">
              <a:latin typeface="华文楷体" panose="02010600040101010101" pitchFamily="2" charset="-122"/>
              <a:ea typeface="华文楷体" panose="02010600040101010101" pitchFamily="2" charset="-122"/>
            </a:endParaRPr>
          </a:p>
          <a:p>
            <a:pPr>
              <a:spcBef>
                <a:spcPts val="600"/>
              </a:spcBef>
            </a:pPr>
            <a:r>
              <a:rPr lang="zh-CN" altLang="en-US" sz="2400" dirty="0">
                <a:solidFill>
                  <a:srgbClr val="000099"/>
                </a:solidFill>
                <a:latin typeface="华文楷体" panose="02010600040101010101" pitchFamily="2" charset="-122"/>
                <a:ea typeface="华文楷体" panose="02010600040101010101" pitchFamily="2" charset="-122"/>
              </a:rPr>
              <a:t>       </a:t>
            </a:r>
            <a:r>
              <a:rPr lang="en-US" altLang="zh-CN" sz="2400" dirty="0">
                <a:solidFill>
                  <a:srgbClr val="000099"/>
                </a:solidFill>
                <a:latin typeface="华文楷体" panose="02010600040101010101" pitchFamily="2" charset="-122"/>
                <a:ea typeface="华文楷体" panose="02010600040101010101" pitchFamily="2" charset="-122"/>
              </a:rPr>
              <a:t>INSERT INTO T   VALUES (5,'WANG','Lecturer')</a:t>
            </a:r>
            <a:endParaRPr lang="en-US" altLang="zh-CN" sz="2400" dirty="0">
              <a:solidFill>
                <a:srgbClr val="000099"/>
              </a:solidFill>
              <a:latin typeface="华文楷体" panose="02010600040101010101" pitchFamily="2" charset="-122"/>
              <a:ea typeface="华文楷体" panose="02010600040101010101" pitchFamily="2" charset="-122"/>
            </a:endParaRPr>
          </a:p>
          <a:p>
            <a:r>
              <a:rPr lang="en-US" altLang="zh-CN" sz="2400" dirty="0">
                <a:solidFill>
                  <a:srgbClr val="000099"/>
                </a:solidFill>
                <a:latin typeface="华文楷体" panose="02010600040101010101" pitchFamily="2" charset="-122"/>
                <a:ea typeface="华文楷体" panose="02010600040101010101" pitchFamily="2" charset="-122"/>
              </a:rPr>
              <a:t>       INSERT INTO T    VALUES ('Zhang','Lecturer')</a:t>
            </a:r>
            <a:endParaRPr lang="en-US" altLang="zh-CN" sz="2400" dirty="0">
              <a:solidFill>
                <a:srgbClr val="000099"/>
              </a:solidFill>
              <a:latin typeface="华文楷体" panose="02010600040101010101" pitchFamily="2" charset="-122"/>
              <a:ea typeface="华文楷体" panose="02010600040101010101" pitchFamily="2" charset="-122"/>
            </a:endParaRPr>
          </a:p>
          <a:p>
            <a:r>
              <a:rPr lang="en-US" altLang="zh-CN" sz="2400" dirty="0">
                <a:solidFill>
                  <a:srgbClr val="000099"/>
                </a:solidFill>
                <a:latin typeface="华文楷体" panose="02010600040101010101" pitchFamily="2" charset="-122"/>
                <a:ea typeface="华文楷体" panose="02010600040101010101" pitchFamily="2" charset="-122"/>
              </a:rPr>
              <a:t>       INSERT INTO T(Tname) VALUES('LI')</a:t>
            </a:r>
            <a:endParaRPr lang="en-US" altLang="zh-CN" sz="2400" dirty="0">
              <a:solidFill>
                <a:srgbClr val="000099"/>
              </a:solidFill>
              <a:latin typeface="华文楷体" panose="02010600040101010101" pitchFamily="2" charset="-122"/>
              <a:ea typeface="华文楷体" panose="02010600040101010101" pitchFamily="2" charset="-122"/>
            </a:endParaRPr>
          </a:p>
          <a:p>
            <a:r>
              <a:rPr lang="en-US" altLang="zh-CN" sz="2400" dirty="0">
                <a:solidFill>
                  <a:srgbClr val="000099"/>
                </a:solidFill>
                <a:latin typeface="华文楷体" panose="02010600040101010101" pitchFamily="2" charset="-122"/>
                <a:ea typeface="华文楷体" panose="02010600040101010101" pitchFamily="2" charset="-122"/>
              </a:rPr>
              <a:t>       INSERT INTO T(TITLE) VALUES('PROFESSOR')</a:t>
            </a:r>
            <a:r>
              <a:rPr lang="en-US" altLang="zh-CN" sz="2400" dirty="0">
                <a:solidFill>
                  <a:srgbClr val="006600"/>
                </a:solidFill>
                <a:latin typeface="华文楷体" panose="02010600040101010101" pitchFamily="2" charset="-122"/>
                <a:ea typeface="华文楷体" panose="02010600040101010101" pitchFamily="2" charset="-122"/>
              </a:rPr>
              <a:t>       </a:t>
            </a:r>
            <a:endParaRPr lang="zh-CN" altLang="en-US" sz="2400" dirty="0">
              <a:solidFill>
                <a:srgbClr val="000099"/>
              </a:solidFill>
              <a:latin typeface="华文楷体" panose="02010600040101010101" pitchFamily="2" charset="-122"/>
              <a:ea typeface="华文楷体" panose="02010600040101010101" pitchFamily="2" charset="-122"/>
            </a:endParaRPr>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1"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三、数据库操纵子语言及其操作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71682" name="矩形 2"/>
          <p:cNvSpPr/>
          <p:nvPr/>
        </p:nvSpPr>
        <p:spPr>
          <a:xfrm>
            <a:off x="542925" y="852488"/>
            <a:ext cx="4203700" cy="517525"/>
          </a:xfrm>
          <a:prstGeom prst="rect">
            <a:avLst/>
          </a:prstGeom>
          <a:noFill/>
          <a:ln w="9525">
            <a:noFill/>
          </a:ln>
        </p:spPr>
        <p:txBody>
          <a:bodyPr anchor="t" anchorCtr="0">
            <a:spAutoFit/>
          </a:bodyPr>
          <a:p>
            <a:r>
              <a:rPr lang="en-US" altLang="zh-CN" sz="2800" dirty="0">
                <a:solidFill>
                  <a:srgbClr val="0033CC"/>
                </a:solidFill>
                <a:latin typeface="黑体" panose="02010609060101010101" pitchFamily="1" charset="-122"/>
                <a:ea typeface="黑体" panose="02010609060101010101" pitchFamily="1" charset="-122"/>
              </a:rPr>
              <a:t>3.</a:t>
            </a:r>
            <a:r>
              <a:rPr lang="zh-CN" altLang="en-US" sz="2800" dirty="0">
                <a:solidFill>
                  <a:srgbClr val="0033CC"/>
                </a:solidFill>
                <a:latin typeface="黑体" panose="02010609060101010101" pitchFamily="1" charset="-122"/>
                <a:ea typeface="黑体" panose="02010609060101010101" pitchFamily="1" charset="-122"/>
              </a:rPr>
              <a:t>数据插入</a:t>
            </a:r>
            <a:r>
              <a:rPr lang="en-US" altLang="zh-CN" sz="2800" dirty="0">
                <a:solidFill>
                  <a:srgbClr val="0033CC"/>
                </a:solidFill>
                <a:latin typeface="黑体" panose="02010609060101010101" pitchFamily="1" charset="-122"/>
                <a:ea typeface="黑体" panose="02010609060101010101" pitchFamily="1" charset="-122"/>
              </a:rPr>
              <a:t>(Insert)</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71683" name="Rectangle 3"/>
          <p:cNvSpPr txBox="1"/>
          <p:nvPr/>
        </p:nvSpPr>
        <p:spPr>
          <a:xfrm>
            <a:off x="555625" y="1450975"/>
            <a:ext cx="8137525" cy="3309938"/>
          </a:xfrm>
          <a:prstGeom prst="rect">
            <a:avLst/>
          </a:prstGeom>
          <a:noFill/>
          <a:ln w="9525">
            <a:noFill/>
          </a:ln>
        </p:spPr>
        <p:txBody>
          <a:bodyPr anchor="t" anchorCtr="0"/>
          <a:p>
            <a:pPr>
              <a:lnSpc>
                <a:spcPct val="125000"/>
              </a:lnSpc>
              <a:buClr>
                <a:srgbClr val="0033CC"/>
              </a:buClr>
              <a:buSzPct val="80000"/>
            </a:pPr>
            <a:r>
              <a:rPr lang="zh-CN" altLang="en-US" sz="2400" dirty="0">
                <a:solidFill>
                  <a:srgbClr val="FF0000"/>
                </a:solidFill>
                <a:latin typeface="华文楷体" panose="02010600040101010101" pitchFamily="2" charset="-122"/>
                <a:ea typeface="宋体" panose="02010600030101010101" pitchFamily="2" charset="-122"/>
              </a:rPr>
              <a:t>（</a:t>
            </a:r>
            <a:r>
              <a:rPr lang="en-US" altLang="zh-CN" sz="2400" dirty="0">
                <a:solidFill>
                  <a:srgbClr val="FF0000"/>
                </a:solidFill>
                <a:latin typeface="华文楷体" panose="02010600040101010101" pitchFamily="2" charset="-122"/>
                <a:ea typeface="宋体" panose="02010600030101010101" pitchFamily="2" charset="-122"/>
              </a:rPr>
              <a:t>2</a:t>
            </a:r>
            <a:r>
              <a:rPr lang="zh-CN" altLang="en-US" sz="2400" dirty="0">
                <a:solidFill>
                  <a:srgbClr val="FF0000"/>
                </a:solidFill>
                <a:latin typeface="华文楷体" panose="02010600040101010101" pitchFamily="2" charset="-122"/>
                <a:ea typeface="宋体" panose="02010600030101010101" pitchFamily="2" charset="-122"/>
              </a:rPr>
              <a:t>）插入多行</a:t>
            </a:r>
            <a:endParaRPr lang="zh-CN" altLang="en-US" sz="2400" dirty="0">
              <a:solidFill>
                <a:srgbClr val="FF0000"/>
              </a:solidFill>
              <a:latin typeface="华文楷体" panose="02010600040101010101" pitchFamily="2" charset="-122"/>
              <a:ea typeface="宋体" panose="02010600030101010101" pitchFamily="2" charset="-122"/>
            </a:endParaRPr>
          </a:p>
          <a:p>
            <a:pPr>
              <a:lnSpc>
                <a:spcPct val="125000"/>
              </a:lnSpc>
              <a:spcBef>
                <a:spcPts val="300"/>
              </a:spcBef>
              <a:buClr>
                <a:srgbClr val="0033CC"/>
              </a:buClr>
              <a:buSzPct val="80000"/>
            </a:pPr>
            <a:r>
              <a:rPr lang="zh-CN" altLang="en-US" sz="2400" dirty="0">
                <a:solidFill>
                  <a:srgbClr val="000099"/>
                </a:solidFill>
                <a:latin typeface="华文楷体" panose="02010600040101010101" pitchFamily="2" charset="-122"/>
                <a:ea typeface="宋体" panose="02010600030101010101" pitchFamily="2" charset="-122"/>
              </a:rPr>
              <a:t>      </a:t>
            </a:r>
            <a:r>
              <a:rPr lang="en-US" altLang="zh-CN" sz="2400" dirty="0">
                <a:latin typeface="华文楷体" panose="02010600040101010101" pitchFamily="2" charset="-122"/>
                <a:ea typeface="宋体" panose="02010600030101010101" pitchFamily="2" charset="-122"/>
              </a:rPr>
              <a:t>INSERT [INTO] </a:t>
            </a:r>
            <a:r>
              <a:rPr lang="zh-CN" altLang="en-US" sz="2400" dirty="0">
                <a:latin typeface="华文楷体" panose="02010600040101010101" pitchFamily="2" charset="-122"/>
                <a:ea typeface="宋体" panose="02010600030101010101" pitchFamily="2" charset="-122"/>
              </a:rPr>
              <a:t>表名或视图名 </a:t>
            </a:r>
            <a:r>
              <a:rPr lang="en-US" altLang="zh-CN" sz="2400" dirty="0">
                <a:latin typeface="华文楷体" panose="02010600040101010101" pitchFamily="2" charset="-122"/>
                <a:ea typeface="宋体" panose="02010600030101010101" pitchFamily="2" charset="-122"/>
              </a:rPr>
              <a:t>[(</a:t>
            </a:r>
            <a:r>
              <a:rPr lang="zh-CN" altLang="en-US" sz="2400" dirty="0">
                <a:latin typeface="华文楷体" panose="02010600040101010101" pitchFamily="2" charset="-122"/>
                <a:ea typeface="宋体" panose="02010600030101010101" pitchFamily="2" charset="-122"/>
              </a:rPr>
              <a:t>属性名序列</a:t>
            </a:r>
            <a:r>
              <a:rPr lang="en-US" altLang="zh-CN" sz="2400" dirty="0">
                <a:latin typeface="华文楷体" panose="02010600040101010101" pitchFamily="2" charset="-122"/>
                <a:ea typeface="宋体" panose="02010600030101010101" pitchFamily="2" charset="-122"/>
              </a:rPr>
              <a:t>)]  </a:t>
            </a:r>
            <a:endParaRPr lang="en-US" altLang="zh-CN" sz="2400" dirty="0">
              <a:latin typeface="华文楷体" panose="02010600040101010101" pitchFamily="2" charset="-122"/>
              <a:ea typeface="宋体" panose="02010600030101010101" pitchFamily="2" charset="-122"/>
            </a:endParaRPr>
          </a:p>
          <a:p>
            <a:pPr>
              <a:lnSpc>
                <a:spcPct val="125000"/>
              </a:lnSpc>
              <a:spcBef>
                <a:spcPts val="300"/>
              </a:spcBef>
              <a:buClr>
                <a:srgbClr val="0033CC"/>
              </a:buClr>
              <a:buSzPct val="80000"/>
            </a:pPr>
            <a:r>
              <a:rPr lang="en-US" altLang="zh-CN" sz="2400" dirty="0">
                <a:latin typeface="华文楷体" panose="02010600040101010101" pitchFamily="2" charset="-122"/>
                <a:ea typeface="宋体" panose="02010600030101010101" pitchFamily="2" charset="-122"/>
              </a:rPr>
              <a:t>      SELECT</a:t>
            </a:r>
            <a:r>
              <a:rPr lang="zh-CN" altLang="en-US" sz="2400" dirty="0">
                <a:latin typeface="华文楷体" panose="02010600040101010101" pitchFamily="2" charset="-122"/>
                <a:ea typeface="宋体" panose="02010600030101010101" pitchFamily="2" charset="-122"/>
              </a:rPr>
              <a:t>子句 </a:t>
            </a:r>
            <a:endParaRPr lang="zh-CN" altLang="en-US" sz="2400" dirty="0">
              <a:latin typeface="华文楷体" panose="02010600040101010101" pitchFamily="2" charset="-122"/>
              <a:ea typeface="宋体" panose="02010600030101010101" pitchFamily="2" charset="-122"/>
            </a:endParaRPr>
          </a:p>
          <a:p>
            <a:pPr>
              <a:lnSpc>
                <a:spcPct val="125000"/>
              </a:lnSpc>
              <a:spcBef>
                <a:spcPts val="600"/>
              </a:spcBef>
              <a:buClr>
                <a:srgbClr val="0033CC"/>
              </a:buClr>
              <a:buSzPct val="80000"/>
            </a:pPr>
            <a:r>
              <a:rPr lang="zh-CN" altLang="en-US" sz="2400" dirty="0">
                <a:latin typeface="华文楷体" panose="02010600040101010101" pitchFamily="2" charset="-122"/>
                <a:ea typeface="宋体" panose="02010600030101010101" pitchFamily="2" charset="-122"/>
              </a:rPr>
              <a:t>这个语句把一个</a:t>
            </a:r>
            <a:r>
              <a:rPr lang="en-US" altLang="zh-CN" sz="2400" dirty="0">
                <a:latin typeface="华文楷体" panose="02010600040101010101" pitchFamily="2" charset="-122"/>
                <a:ea typeface="宋体" panose="02010600030101010101" pitchFamily="2" charset="-122"/>
              </a:rPr>
              <a:t>SELECT</a:t>
            </a:r>
            <a:r>
              <a:rPr lang="zh-CN" altLang="en-US" sz="2400" dirty="0">
                <a:latin typeface="华文楷体" panose="02010600040101010101" pitchFamily="2" charset="-122"/>
                <a:ea typeface="宋体" panose="02010600030101010101" pitchFamily="2" charset="-122"/>
              </a:rPr>
              <a:t>语句的查询结果插入到表中。</a:t>
            </a:r>
            <a:endParaRPr lang="zh-CN" altLang="en-US" sz="2400" dirty="0">
              <a:latin typeface="华文楷体" panose="02010600040101010101" pitchFamily="2" charset="-122"/>
              <a:ea typeface="宋体" panose="02010600030101010101" pitchFamily="2" charset="-122"/>
            </a:endParaRPr>
          </a:p>
          <a:p>
            <a:pPr>
              <a:lnSpc>
                <a:spcPct val="125000"/>
              </a:lnSpc>
              <a:spcBef>
                <a:spcPts val="300"/>
              </a:spcBef>
              <a:buClr>
                <a:srgbClr val="0033CC"/>
              </a:buClr>
              <a:buSzPct val="80000"/>
            </a:pPr>
            <a:r>
              <a:rPr lang="zh-CN" altLang="en-US" sz="2400" u="sng" dirty="0">
                <a:solidFill>
                  <a:srgbClr val="FF0000"/>
                </a:solidFill>
                <a:latin typeface="华文楷体" panose="02010600040101010101" pitchFamily="2" charset="-122"/>
                <a:ea typeface="宋体" panose="02010600030101010101" pitchFamily="2" charset="-122"/>
              </a:rPr>
              <a:t>例如：</a:t>
            </a:r>
            <a:r>
              <a:rPr lang="zh-CN" altLang="en-US" sz="2400" dirty="0">
                <a:latin typeface="华文楷体" panose="02010600040101010101" pitchFamily="2" charset="-122"/>
                <a:ea typeface="宋体" panose="02010600030101010101" pitchFamily="2" charset="-122"/>
              </a:rPr>
              <a:t>有一个表 </a:t>
            </a:r>
            <a:r>
              <a:rPr lang="en-US" altLang="zh-CN" sz="2400" dirty="0">
                <a:latin typeface="华文楷体" panose="02010600040101010101" pitchFamily="2" charset="-122"/>
                <a:ea typeface="宋体" panose="02010600030101010101" pitchFamily="2" charset="-122"/>
              </a:rPr>
              <a:t>SC1</a:t>
            </a:r>
            <a:r>
              <a:rPr lang="zh-CN" altLang="en-US" sz="2400" dirty="0">
                <a:latin typeface="华文楷体" panose="02010600040101010101" pitchFamily="2" charset="-122"/>
                <a:ea typeface="宋体" panose="02010600030101010101" pitchFamily="2" charset="-122"/>
              </a:rPr>
              <a:t>（</a:t>
            </a:r>
            <a:r>
              <a:rPr lang="en-US" altLang="zh-CN" sz="2400" u="sng" dirty="0">
                <a:latin typeface="华文楷体" panose="02010600040101010101" pitchFamily="2" charset="-122"/>
                <a:ea typeface="宋体" panose="02010600030101010101" pitchFamily="2" charset="-122"/>
              </a:rPr>
              <a:t>Sid</a:t>
            </a:r>
            <a:r>
              <a:rPr lang="zh-CN" altLang="en-US" sz="2400" u="sng" dirty="0">
                <a:latin typeface="华文楷体" panose="02010600040101010101" pitchFamily="2" charset="-122"/>
                <a:ea typeface="宋体" panose="02010600030101010101" pitchFamily="2" charset="-122"/>
              </a:rPr>
              <a:t>， </a:t>
            </a:r>
            <a:r>
              <a:rPr lang="en-US" altLang="zh-CN" sz="2400" u="sng" dirty="0">
                <a:latin typeface="华文楷体" panose="02010600040101010101" pitchFamily="2" charset="-122"/>
                <a:ea typeface="宋体" panose="02010600030101010101" pitchFamily="2" charset="-122"/>
              </a:rPr>
              <a:t>Cid</a:t>
            </a:r>
            <a:r>
              <a:rPr lang="zh-CN" altLang="en-US" sz="2400" dirty="0">
                <a:latin typeface="华文楷体" panose="02010600040101010101" pitchFamily="2" charset="-122"/>
                <a:ea typeface="宋体" panose="02010600030101010101" pitchFamily="2" charset="-122"/>
              </a:rPr>
              <a:t>， </a:t>
            </a:r>
            <a:r>
              <a:rPr lang="en-US" altLang="zh-CN" sz="2400" dirty="0">
                <a:latin typeface="华文楷体" panose="02010600040101010101" pitchFamily="2" charset="-122"/>
                <a:ea typeface="宋体" panose="02010600030101010101" pitchFamily="2" charset="-122"/>
              </a:rPr>
              <a:t>Score) </a:t>
            </a:r>
            <a:endParaRPr lang="en-US" altLang="zh-CN" sz="2400" dirty="0">
              <a:latin typeface="华文楷体" panose="02010600040101010101" pitchFamily="2" charset="-122"/>
              <a:ea typeface="宋体" panose="02010600030101010101" pitchFamily="2" charset="-122"/>
            </a:endParaRPr>
          </a:p>
          <a:p>
            <a:pPr>
              <a:lnSpc>
                <a:spcPct val="125000"/>
              </a:lnSpc>
              <a:spcBef>
                <a:spcPts val="300"/>
              </a:spcBef>
              <a:buClr>
                <a:srgbClr val="0033CC"/>
              </a:buClr>
              <a:buSzPct val="80000"/>
            </a:pPr>
            <a:r>
              <a:rPr lang="en-US" altLang="zh-CN" sz="2400" dirty="0">
                <a:latin typeface="华文楷体" panose="02010600040101010101" pitchFamily="2" charset="-122"/>
                <a:ea typeface="宋体" panose="02010600030101010101" pitchFamily="2" charset="-122"/>
              </a:rPr>
              <a:t>Create table SC1</a:t>
            </a:r>
            <a:endParaRPr lang="en-US" altLang="zh-CN" sz="2400" dirty="0">
              <a:latin typeface="华文楷体" panose="02010600040101010101" pitchFamily="2" charset="-122"/>
              <a:ea typeface="宋体" panose="02010600030101010101" pitchFamily="2" charset="-122"/>
            </a:endParaRPr>
          </a:p>
          <a:p>
            <a:pPr>
              <a:lnSpc>
                <a:spcPct val="125000"/>
              </a:lnSpc>
              <a:spcBef>
                <a:spcPts val="300"/>
              </a:spcBef>
              <a:buClr>
                <a:srgbClr val="0033CC"/>
              </a:buClr>
              <a:buSzPct val="80000"/>
            </a:pPr>
            <a:r>
              <a:rPr lang="en-US" altLang="zh-CN" sz="2400" dirty="0">
                <a:latin typeface="华文楷体" panose="02010600040101010101" pitchFamily="2" charset="-122"/>
                <a:ea typeface="宋体" panose="02010600030101010101" pitchFamily="2" charset="-122"/>
              </a:rPr>
              <a:t>( Sid Char(10),  Cid varchar(10),  score smallint )</a:t>
            </a:r>
            <a:endParaRPr lang="en-US" altLang="zh-CN" sz="2400" dirty="0">
              <a:latin typeface="华文楷体" panose="02010600040101010101" pitchFamily="2" charset="-122"/>
              <a:ea typeface="宋体" panose="02010600030101010101" pitchFamily="2" charset="-122"/>
            </a:endParaRPr>
          </a:p>
          <a:p>
            <a:pPr>
              <a:lnSpc>
                <a:spcPct val="125000"/>
              </a:lnSpc>
              <a:spcBef>
                <a:spcPts val="300"/>
              </a:spcBef>
              <a:buClr>
                <a:srgbClr val="0033CC"/>
              </a:buClr>
              <a:buSzPct val="80000"/>
            </a:pPr>
            <a:r>
              <a:rPr lang="en-US" altLang="zh-CN" sz="2400" dirty="0">
                <a:solidFill>
                  <a:srgbClr val="000099"/>
                </a:solidFill>
                <a:latin typeface="华文楷体" panose="02010600040101010101" pitchFamily="2" charset="-122"/>
                <a:ea typeface="宋体" panose="02010600030101010101" pitchFamily="2" charset="-122"/>
              </a:rPr>
              <a:t>  INSERT      SC1     SELECT   Sid, Cid,Score      FROM      SC</a:t>
            </a:r>
            <a:endParaRPr lang="en-US" altLang="zh-CN" sz="2400" dirty="0">
              <a:solidFill>
                <a:srgbClr val="000099"/>
              </a:solidFill>
              <a:latin typeface="华文楷体" panose="02010600040101010101" pitchFamily="2" charset="-122"/>
              <a:ea typeface="宋体" panose="02010600030101010101" pitchFamily="2" charset="-122"/>
            </a:endParaRPr>
          </a:p>
          <a:p>
            <a:pPr>
              <a:lnSpc>
                <a:spcPct val="125000"/>
              </a:lnSpc>
              <a:spcBef>
                <a:spcPts val="300"/>
              </a:spcBef>
              <a:buClr>
                <a:srgbClr val="0033CC"/>
              </a:buClr>
              <a:buSzPct val="80000"/>
            </a:pPr>
            <a:r>
              <a:rPr lang="en-US" altLang="zh-CN" sz="2400" dirty="0">
                <a:solidFill>
                  <a:srgbClr val="000099"/>
                </a:solidFill>
                <a:latin typeface="华文楷体" panose="02010600040101010101" pitchFamily="2" charset="-122"/>
                <a:ea typeface="宋体" panose="02010600030101010101" pitchFamily="2" charset="-122"/>
              </a:rPr>
              <a:t>     WHERE   Score &gt;= 85</a:t>
            </a:r>
            <a:endParaRPr lang="en-US" altLang="zh-CN" sz="2400" dirty="0">
              <a:solidFill>
                <a:srgbClr val="000099"/>
              </a:solidFill>
              <a:latin typeface="华文楷体" panose="02010600040101010101" pitchFamily="2" charset="-122"/>
              <a:ea typeface="宋体" panose="02010600030101010101" pitchFamily="2" charset="-122"/>
            </a:endParaRPr>
          </a:p>
        </p:txBody>
      </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5"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三、数据库操纵子语言及其操作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72706" name="矩形 2"/>
          <p:cNvSpPr/>
          <p:nvPr/>
        </p:nvSpPr>
        <p:spPr>
          <a:xfrm>
            <a:off x="542925" y="852488"/>
            <a:ext cx="4203700" cy="517525"/>
          </a:xfrm>
          <a:prstGeom prst="rect">
            <a:avLst/>
          </a:prstGeom>
          <a:noFill/>
          <a:ln w="9525">
            <a:noFill/>
          </a:ln>
        </p:spPr>
        <p:txBody>
          <a:bodyPr anchor="t" anchorCtr="0">
            <a:spAutoFit/>
          </a:bodyPr>
          <a:p>
            <a:r>
              <a:rPr lang="en-US" altLang="zh-CN" sz="2800" dirty="0">
                <a:solidFill>
                  <a:srgbClr val="0033CC"/>
                </a:solidFill>
                <a:latin typeface="黑体" panose="02010609060101010101" pitchFamily="1" charset="-122"/>
                <a:ea typeface="黑体" panose="02010609060101010101" pitchFamily="1" charset="-122"/>
              </a:rPr>
              <a:t>3.</a:t>
            </a:r>
            <a:r>
              <a:rPr lang="zh-CN" altLang="en-US" sz="2800" dirty="0">
                <a:solidFill>
                  <a:srgbClr val="0033CC"/>
                </a:solidFill>
                <a:latin typeface="黑体" panose="02010609060101010101" pitchFamily="1" charset="-122"/>
                <a:ea typeface="黑体" panose="02010609060101010101" pitchFamily="1" charset="-122"/>
              </a:rPr>
              <a:t>数据插入</a:t>
            </a:r>
            <a:r>
              <a:rPr lang="en-US" altLang="zh-CN" sz="2800" dirty="0">
                <a:solidFill>
                  <a:srgbClr val="0033CC"/>
                </a:solidFill>
                <a:latin typeface="黑体" panose="02010609060101010101" pitchFamily="1" charset="-122"/>
                <a:ea typeface="黑体" panose="02010609060101010101" pitchFamily="1" charset="-122"/>
              </a:rPr>
              <a:t>(Insert)</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72707" name="Rectangle 3"/>
          <p:cNvSpPr txBox="1"/>
          <p:nvPr/>
        </p:nvSpPr>
        <p:spPr>
          <a:xfrm>
            <a:off x="555625" y="1450975"/>
            <a:ext cx="8137525" cy="3309938"/>
          </a:xfrm>
          <a:prstGeom prst="rect">
            <a:avLst/>
          </a:prstGeom>
          <a:noFill/>
          <a:ln w="9525">
            <a:noFill/>
          </a:ln>
        </p:spPr>
        <p:txBody>
          <a:bodyPr anchor="t" anchorCtr="0"/>
          <a:p>
            <a:pPr>
              <a:lnSpc>
                <a:spcPct val="125000"/>
              </a:lnSpc>
              <a:buClr>
                <a:srgbClr val="0033CC"/>
              </a:buClr>
              <a:buSzPct val="80000"/>
            </a:pPr>
            <a:r>
              <a:rPr lang="zh-CN" altLang="en-US" sz="2400" dirty="0">
                <a:solidFill>
                  <a:srgbClr val="FF0000"/>
                </a:solidFill>
                <a:latin typeface="华文楷体" panose="02010600040101010101" pitchFamily="2" charset="-122"/>
                <a:ea typeface="宋体" panose="02010600030101010101" pitchFamily="2" charset="-122"/>
              </a:rPr>
              <a:t>（</a:t>
            </a:r>
            <a:r>
              <a:rPr lang="en-US" altLang="zh-CN" sz="2400" dirty="0">
                <a:solidFill>
                  <a:srgbClr val="FF0000"/>
                </a:solidFill>
                <a:latin typeface="华文楷体" panose="02010600040101010101" pitchFamily="2" charset="-122"/>
                <a:ea typeface="宋体" panose="02010600030101010101" pitchFamily="2" charset="-122"/>
              </a:rPr>
              <a:t>2</a:t>
            </a:r>
            <a:r>
              <a:rPr lang="zh-CN" altLang="en-US" sz="2400" dirty="0">
                <a:solidFill>
                  <a:srgbClr val="FF0000"/>
                </a:solidFill>
                <a:latin typeface="华文楷体" panose="02010600040101010101" pitchFamily="2" charset="-122"/>
                <a:ea typeface="宋体" panose="02010600030101010101" pitchFamily="2" charset="-122"/>
              </a:rPr>
              <a:t>）插入多行</a:t>
            </a:r>
            <a:endParaRPr lang="zh-CN" altLang="en-US" sz="2400" dirty="0">
              <a:solidFill>
                <a:srgbClr val="FF0000"/>
              </a:solidFill>
              <a:latin typeface="华文楷体" panose="02010600040101010101" pitchFamily="2" charset="-122"/>
              <a:ea typeface="宋体" panose="02010600030101010101" pitchFamily="2" charset="-122"/>
            </a:endParaRPr>
          </a:p>
          <a:p>
            <a:pPr>
              <a:lnSpc>
                <a:spcPct val="125000"/>
              </a:lnSpc>
              <a:spcBef>
                <a:spcPts val="300"/>
              </a:spcBef>
              <a:buClr>
                <a:srgbClr val="0033CC"/>
              </a:buClr>
              <a:buSzPct val="80000"/>
            </a:pPr>
            <a:r>
              <a:rPr lang="zh-CN" altLang="en-US" sz="2400" dirty="0">
                <a:solidFill>
                  <a:srgbClr val="000099"/>
                </a:solidFill>
                <a:latin typeface="华文楷体" panose="02010600040101010101" pitchFamily="2" charset="-122"/>
                <a:ea typeface="宋体" panose="02010600030101010101" pitchFamily="2" charset="-122"/>
              </a:rPr>
              <a:t>      </a:t>
            </a:r>
            <a:r>
              <a:rPr lang="en-US" altLang="zh-CN" sz="2400" dirty="0">
                <a:latin typeface="华文楷体" panose="02010600040101010101" pitchFamily="2" charset="-122"/>
                <a:ea typeface="宋体" panose="02010600030101010101" pitchFamily="2" charset="-122"/>
              </a:rPr>
              <a:t>INSERT [INTO] </a:t>
            </a:r>
            <a:r>
              <a:rPr lang="zh-CN" altLang="en-US" sz="2400" dirty="0">
                <a:latin typeface="华文楷体" panose="02010600040101010101" pitchFamily="2" charset="-122"/>
                <a:ea typeface="宋体" panose="02010600030101010101" pitchFamily="2" charset="-122"/>
              </a:rPr>
              <a:t>表名或视图名 </a:t>
            </a:r>
            <a:r>
              <a:rPr lang="en-US" altLang="zh-CN" sz="2400" dirty="0">
                <a:latin typeface="华文楷体" panose="02010600040101010101" pitchFamily="2" charset="-122"/>
                <a:ea typeface="宋体" panose="02010600030101010101" pitchFamily="2" charset="-122"/>
              </a:rPr>
              <a:t>[(</a:t>
            </a:r>
            <a:r>
              <a:rPr lang="zh-CN" altLang="en-US" sz="2400" dirty="0">
                <a:latin typeface="华文楷体" panose="02010600040101010101" pitchFamily="2" charset="-122"/>
                <a:ea typeface="宋体" panose="02010600030101010101" pitchFamily="2" charset="-122"/>
              </a:rPr>
              <a:t>属性名序列</a:t>
            </a:r>
            <a:r>
              <a:rPr lang="en-US" altLang="zh-CN" sz="2400" dirty="0">
                <a:latin typeface="华文楷体" panose="02010600040101010101" pitchFamily="2" charset="-122"/>
                <a:ea typeface="宋体" panose="02010600030101010101" pitchFamily="2" charset="-122"/>
              </a:rPr>
              <a:t>)]  </a:t>
            </a:r>
            <a:endParaRPr lang="en-US" altLang="zh-CN" sz="2400" dirty="0">
              <a:latin typeface="华文楷体" panose="02010600040101010101" pitchFamily="2" charset="-122"/>
              <a:ea typeface="宋体" panose="02010600030101010101" pitchFamily="2" charset="-122"/>
            </a:endParaRPr>
          </a:p>
          <a:p>
            <a:pPr>
              <a:lnSpc>
                <a:spcPct val="125000"/>
              </a:lnSpc>
              <a:spcBef>
                <a:spcPts val="300"/>
              </a:spcBef>
              <a:buClr>
                <a:srgbClr val="0033CC"/>
              </a:buClr>
              <a:buSzPct val="80000"/>
            </a:pPr>
            <a:r>
              <a:rPr lang="en-US" altLang="zh-CN" sz="2400" dirty="0">
                <a:latin typeface="华文楷体" panose="02010600040101010101" pitchFamily="2" charset="-122"/>
                <a:ea typeface="宋体" panose="02010600030101010101" pitchFamily="2" charset="-122"/>
              </a:rPr>
              <a:t>      SELECT</a:t>
            </a:r>
            <a:r>
              <a:rPr lang="zh-CN" altLang="en-US" sz="2400" dirty="0">
                <a:latin typeface="华文楷体" panose="02010600040101010101" pitchFamily="2" charset="-122"/>
                <a:ea typeface="宋体" panose="02010600030101010101" pitchFamily="2" charset="-122"/>
              </a:rPr>
              <a:t> </a:t>
            </a:r>
            <a:r>
              <a:rPr lang="en-US" altLang="zh-CN" sz="2400" dirty="0">
                <a:latin typeface="华文楷体" panose="02010600040101010101" pitchFamily="2" charset="-122"/>
                <a:ea typeface="宋体" panose="02010600030101010101" pitchFamily="2" charset="-122"/>
              </a:rPr>
              <a:t> </a:t>
            </a:r>
            <a:r>
              <a:rPr lang="zh-CN" altLang="en-US" sz="2400" dirty="0">
                <a:latin typeface="华文楷体" panose="02010600040101010101" pitchFamily="2" charset="-122"/>
                <a:ea typeface="宋体" panose="02010600030101010101" pitchFamily="2" charset="-122"/>
              </a:rPr>
              <a:t>属性值列表  </a:t>
            </a:r>
            <a:r>
              <a:rPr lang="en-US" altLang="zh-CN" sz="2400" dirty="0">
                <a:latin typeface="华文楷体" panose="02010600040101010101" pitchFamily="2" charset="-122"/>
                <a:ea typeface="宋体" panose="02010600030101010101" pitchFamily="2" charset="-122"/>
              </a:rPr>
              <a:t>UNION  SELECT</a:t>
            </a:r>
            <a:r>
              <a:rPr lang="zh-CN" altLang="en-US" sz="2400" dirty="0">
                <a:latin typeface="华文楷体" panose="02010600040101010101" pitchFamily="2" charset="-122"/>
                <a:ea typeface="宋体" panose="02010600030101010101" pitchFamily="2" charset="-122"/>
              </a:rPr>
              <a:t> </a:t>
            </a:r>
            <a:r>
              <a:rPr lang="en-US" altLang="zh-CN" sz="2400" dirty="0">
                <a:latin typeface="华文楷体" panose="02010600040101010101" pitchFamily="2" charset="-122"/>
                <a:ea typeface="宋体" panose="02010600030101010101" pitchFamily="2" charset="-122"/>
              </a:rPr>
              <a:t> </a:t>
            </a:r>
            <a:r>
              <a:rPr lang="zh-CN" altLang="en-US" sz="2400" dirty="0">
                <a:latin typeface="华文楷体" panose="02010600040101010101" pitchFamily="2" charset="-122"/>
                <a:ea typeface="宋体" panose="02010600030101010101" pitchFamily="2" charset="-122"/>
              </a:rPr>
              <a:t>属性值列表 </a:t>
            </a:r>
            <a:endParaRPr lang="zh-CN" altLang="en-US" sz="2400" dirty="0">
              <a:latin typeface="华文楷体" panose="02010600040101010101" pitchFamily="2" charset="-122"/>
              <a:ea typeface="宋体" panose="02010600030101010101" pitchFamily="2" charset="-122"/>
            </a:endParaRPr>
          </a:p>
          <a:p>
            <a:pPr>
              <a:lnSpc>
                <a:spcPct val="125000"/>
              </a:lnSpc>
              <a:spcBef>
                <a:spcPts val="300"/>
              </a:spcBef>
              <a:buClr>
                <a:srgbClr val="0033CC"/>
              </a:buClr>
              <a:buSzPct val="80000"/>
            </a:pPr>
            <a:r>
              <a:rPr lang="zh-CN" altLang="en-US" sz="2400" u="sng" dirty="0">
                <a:solidFill>
                  <a:srgbClr val="FF0000"/>
                </a:solidFill>
                <a:latin typeface="华文楷体" panose="02010600040101010101" pitchFamily="2" charset="-122"/>
                <a:ea typeface="宋体" panose="02010600030101010101" pitchFamily="2" charset="-122"/>
              </a:rPr>
              <a:t>例如：</a:t>
            </a:r>
            <a:endParaRPr lang="en-US" altLang="zh-CN" sz="2400" dirty="0">
              <a:latin typeface="华文楷体" panose="02010600040101010101" pitchFamily="2" charset="-122"/>
              <a:ea typeface="宋体" panose="02010600030101010101" pitchFamily="2" charset="-122"/>
            </a:endParaRPr>
          </a:p>
          <a:p>
            <a:pPr>
              <a:lnSpc>
                <a:spcPct val="125000"/>
              </a:lnSpc>
              <a:spcBef>
                <a:spcPts val="300"/>
              </a:spcBef>
              <a:buClr>
                <a:srgbClr val="0033CC"/>
              </a:buClr>
              <a:buSzPct val="80000"/>
            </a:pPr>
            <a:r>
              <a:rPr lang="en-US" altLang="zh-CN" sz="2800" dirty="0">
                <a:solidFill>
                  <a:srgbClr val="0033CC"/>
                </a:solidFill>
                <a:latin typeface="华文楷体" panose="02010600040101010101" pitchFamily="2" charset="-122"/>
                <a:ea typeface="宋体" panose="02010600030101010101" pitchFamily="2" charset="-122"/>
              </a:rPr>
              <a:t> insert  t(tname,title)    </a:t>
            </a:r>
            <a:endParaRPr lang="en-US" altLang="zh-CN" sz="2800" dirty="0">
              <a:solidFill>
                <a:srgbClr val="0033CC"/>
              </a:solidFill>
              <a:latin typeface="华文楷体" panose="02010600040101010101" pitchFamily="2" charset="-122"/>
              <a:ea typeface="宋体" panose="02010600030101010101" pitchFamily="2" charset="-122"/>
            </a:endParaRPr>
          </a:p>
          <a:p>
            <a:pPr>
              <a:lnSpc>
                <a:spcPct val="125000"/>
              </a:lnSpc>
              <a:spcBef>
                <a:spcPts val="300"/>
              </a:spcBef>
              <a:buClr>
                <a:srgbClr val="0033CC"/>
              </a:buClr>
              <a:buSzPct val="80000"/>
            </a:pPr>
            <a:r>
              <a:rPr lang="en-US" altLang="zh-CN" sz="2800" dirty="0">
                <a:solidFill>
                  <a:srgbClr val="0033CC"/>
                </a:solidFill>
                <a:latin typeface="华文楷体" panose="02010600040101010101" pitchFamily="2" charset="-122"/>
                <a:ea typeface="宋体" panose="02010600030101010101" pitchFamily="2" charset="-122"/>
              </a:rPr>
              <a:t> </a:t>
            </a:r>
            <a:r>
              <a:rPr lang="en-US" altLang="zh-CN" sz="2800" dirty="0">
                <a:solidFill>
                  <a:srgbClr val="000099"/>
                </a:solidFill>
                <a:latin typeface="华文楷体" panose="02010600040101010101" pitchFamily="2" charset="-122"/>
                <a:ea typeface="宋体" panose="02010600030101010101" pitchFamily="2" charset="-122"/>
              </a:rPr>
              <a:t>select  'Zhang','Lecturer'  </a:t>
            </a:r>
            <a:r>
              <a:rPr lang="en-US" altLang="zh-CN" sz="2800" dirty="0">
                <a:solidFill>
                  <a:srgbClr val="FF0000"/>
                </a:solidFill>
                <a:latin typeface="华文楷体" panose="02010600040101010101" pitchFamily="2" charset="-122"/>
                <a:ea typeface="宋体" panose="02010600030101010101" pitchFamily="2" charset="-122"/>
              </a:rPr>
              <a:t>Union</a:t>
            </a:r>
            <a:r>
              <a:rPr lang="en-US" altLang="zh-CN" sz="2800" dirty="0">
                <a:solidFill>
                  <a:srgbClr val="000099"/>
                </a:solidFill>
                <a:latin typeface="华文楷体" panose="02010600040101010101" pitchFamily="2" charset="-122"/>
                <a:ea typeface="宋体" panose="02010600030101010101" pitchFamily="2" charset="-122"/>
              </a:rPr>
              <a:t>  </a:t>
            </a:r>
            <a:endParaRPr lang="en-US" altLang="zh-CN" sz="2800" dirty="0">
              <a:solidFill>
                <a:srgbClr val="000099"/>
              </a:solidFill>
              <a:latin typeface="华文楷体" panose="02010600040101010101" pitchFamily="2" charset="-122"/>
              <a:ea typeface="宋体" panose="02010600030101010101" pitchFamily="2" charset="-122"/>
            </a:endParaRPr>
          </a:p>
          <a:p>
            <a:pPr>
              <a:lnSpc>
                <a:spcPct val="125000"/>
              </a:lnSpc>
              <a:spcBef>
                <a:spcPts val="300"/>
              </a:spcBef>
              <a:buClr>
                <a:srgbClr val="0033CC"/>
              </a:buClr>
              <a:buSzPct val="80000"/>
            </a:pPr>
            <a:r>
              <a:rPr lang="en-US" altLang="zh-CN" sz="2800" dirty="0">
                <a:solidFill>
                  <a:srgbClr val="000099"/>
                </a:solidFill>
                <a:latin typeface="华文楷体" panose="02010600040101010101" pitchFamily="2" charset="-122"/>
                <a:ea typeface="宋体" panose="02010600030101010101" pitchFamily="2" charset="-122"/>
              </a:rPr>
              <a:t>select  'WANG','Lecturer'  </a:t>
            </a:r>
            <a:r>
              <a:rPr lang="en-US" altLang="zh-CN" sz="2800" dirty="0">
                <a:solidFill>
                  <a:srgbClr val="FF0000"/>
                </a:solidFill>
                <a:latin typeface="华文楷体" panose="02010600040101010101" pitchFamily="2" charset="-122"/>
                <a:ea typeface="宋体" panose="02010600030101010101" pitchFamily="2" charset="-122"/>
              </a:rPr>
              <a:t>Union </a:t>
            </a:r>
            <a:endParaRPr lang="en-US" altLang="zh-CN" sz="2800" dirty="0">
              <a:solidFill>
                <a:srgbClr val="FF0000"/>
              </a:solidFill>
              <a:latin typeface="华文楷体" panose="02010600040101010101" pitchFamily="2" charset="-122"/>
              <a:ea typeface="宋体" panose="02010600030101010101" pitchFamily="2" charset="-122"/>
            </a:endParaRPr>
          </a:p>
          <a:p>
            <a:pPr>
              <a:lnSpc>
                <a:spcPct val="125000"/>
              </a:lnSpc>
              <a:spcBef>
                <a:spcPts val="300"/>
              </a:spcBef>
              <a:buClr>
                <a:srgbClr val="0033CC"/>
              </a:buClr>
              <a:buSzPct val="80000"/>
            </a:pPr>
            <a:r>
              <a:rPr lang="en-US" altLang="zh-CN" sz="2800" dirty="0">
                <a:solidFill>
                  <a:srgbClr val="000099"/>
                </a:solidFill>
                <a:latin typeface="华文楷体" panose="02010600040101010101" pitchFamily="2" charset="-122"/>
                <a:ea typeface="宋体" panose="02010600030101010101" pitchFamily="2" charset="-122"/>
              </a:rPr>
              <a:t>select  'LI','Lecturer'</a:t>
            </a:r>
            <a:endParaRPr lang="en-US" altLang="zh-CN" sz="2800" dirty="0">
              <a:latin typeface="华文楷体" panose="02010600040101010101" pitchFamily="2" charset="-122"/>
              <a:ea typeface="宋体" panose="02010600030101010101" pitchFamily="2" charset="-122"/>
            </a:endParaRPr>
          </a:p>
        </p:txBody>
      </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29"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三、数据库操纵子语言及其操作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73730" name="矩形 2"/>
          <p:cNvSpPr/>
          <p:nvPr/>
        </p:nvSpPr>
        <p:spPr>
          <a:xfrm>
            <a:off x="542925" y="838200"/>
            <a:ext cx="4203700" cy="522288"/>
          </a:xfrm>
          <a:prstGeom prst="rect">
            <a:avLst/>
          </a:prstGeom>
          <a:noFill/>
          <a:ln w="9525">
            <a:noFill/>
          </a:ln>
        </p:spPr>
        <p:txBody>
          <a:bodyPr anchor="t" anchorCtr="0">
            <a:spAutoFit/>
          </a:bodyPr>
          <a:p>
            <a:r>
              <a:rPr lang="en-US" altLang="zh-CN" sz="2800" dirty="0">
                <a:solidFill>
                  <a:srgbClr val="0033CC"/>
                </a:solidFill>
                <a:latin typeface="黑体" panose="02010609060101010101" pitchFamily="1" charset="-122"/>
                <a:ea typeface="黑体" panose="02010609060101010101" pitchFamily="1" charset="-122"/>
              </a:rPr>
              <a:t>4.</a:t>
            </a:r>
            <a:r>
              <a:rPr lang="zh-CN" altLang="en-US" sz="2800" dirty="0">
                <a:solidFill>
                  <a:srgbClr val="0033CC"/>
                </a:solidFill>
                <a:latin typeface="黑体" panose="02010609060101010101" pitchFamily="1" charset="-122"/>
                <a:ea typeface="黑体" panose="02010609060101010101" pitchFamily="1" charset="-122"/>
              </a:rPr>
              <a:t> 数据修改</a:t>
            </a:r>
            <a:r>
              <a:rPr lang="en-US" altLang="zh-CN" sz="2800" dirty="0">
                <a:solidFill>
                  <a:srgbClr val="0033CC"/>
                </a:solidFill>
                <a:latin typeface="黑体" panose="02010609060101010101" pitchFamily="1" charset="-122"/>
                <a:ea typeface="黑体" panose="02010609060101010101" pitchFamily="1" charset="-122"/>
              </a:rPr>
              <a:t>(Update)</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73731" name="Text Box 3"/>
          <p:cNvSpPr txBox="1"/>
          <p:nvPr/>
        </p:nvSpPr>
        <p:spPr>
          <a:xfrm>
            <a:off x="641350" y="1412875"/>
            <a:ext cx="8064500" cy="3208338"/>
          </a:xfrm>
          <a:prstGeom prst="rect">
            <a:avLst/>
          </a:prstGeom>
          <a:noFill/>
          <a:ln w="9525">
            <a:noFill/>
          </a:ln>
        </p:spPr>
        <p:txBody>
          <a:bodyPr anchor="t" anchorCtr="0">
            <a:spAutoFit/>
          </a:bodyPr>
          <a:p>
            <a:pPr>
              <a:lnSpc>
                <a:spcPct val="120000"/>
              </a:lnSpc>
              <a:spcBef>
                <a:spcPts val="1200"/>
              </a:spcBef>
            </a:pPr>
            <a:r>
              <a:rPr lang="en-US" altLang="zh-CN" sz="2400" dirty="0">
                <a:solidFill>
                  <a:srgbClr val="CC0000"/>
                </a:solidFill>
                <a:latin typeface="宋体" panose="02010600030101010101" pitchFamily="2" charset="-122"/>
                <a:ea typeface="宋体" panose="02010600030101010101" pitchFamily="2" charset="-122"/>
              </a:rPr>
              <a:t>UPDATE </a:t>
            </a:r>
            <a:br>
              <a:rPr lang="en-US" altLang="zh-CN" sz="2400" dirty="0">
                <a:solidFill>
                  <a:srgbClr val="CC0000"/>
                </a:solidFill>
                <a:latin typeface="宋体" panose="02010600030101010101" pitchFamily="2" charset="-122"/>
                <a:ea typeface="宋体" panose="02010600030101010101" pitchFamily="2" charset="-122"/>
              </a:rPr>
            </a:br>
            <a:r>
              <a:rPr lang="en-US" altLang="zh-CN" sz="2400" dirty="0">
                <a:solidFill>
                  <a:srgbClr val="000099"/>
                </a:solidFill>
                <a:latin typeface="宋体" panose="02010600030101010101" pitchFamily="2" charset="-122"/>
                <a:ea typeface="宋体" panose="02010600030101010101" pitchFamily="2" charset="-122"/>
              </a:rPr>
              <a:t> </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表名 </a:t>
            </a:r>
            <a:r>
              <a:rPr lang="en-US" altLang="zh-CN" sz="2400" dirty="0">
                <a:latin typeface="宋体" panose="02010600030101010101" pitchFamily="2" charset="-122"/>
                <a:ea typeface="宋体" panose="02010600030101010101" pitchFamily="2" charset="-122"/>
              </a:rPr>
              <a:t>[ WITH ( &lt; </a:t>
            </a:r>
            <a:r>
              <a:rPr lang="zh-CN" altLang="en-US" sz="2400" dirty="0">
                <a:latin typeface="宋体" panose="02010600030101010101" pitchFamily="2" charset="-122"/>
                <a:ea typeface="宋体" panose="02010600030101010101" pitchFamily="2" charset="-122"/>
              </a:rPr>
              <a:t>表更新选项 </a:t>
            </a:r>
            <a:r>
              <a:rPr lang="en-US" altLang="zh-CN" sz="2400" dirty="0">
                <a:latin typeface="宋体" panose="02010600030101010101" pitchFamily="2" charset="-122"/>
                <a:ea typeface="宋体" panose="02010600030101010101" pitchFamily="2" charset="-122"/>
              </a:rPr>
              <a:t>&gt; [ ...n ])] |</a:t>
            </a:r>
            <a:r>
              <a:rPr lang="zh-CN" altLang="en-US" sz="2400" dirty="0">
                <a:latin typeface="宋体" panose="02010600030101010101" pitchFamily="2" charset="-122"/>
                <a:ea typeface="宋体" panose="02010600030101010101" pitchFamily="2" charset="-122"/>
              </a:rPr>
              <a:t>视图名</a:t>
            </a:r>
            <a:r>
              <a:rPr lang="en-US" altLang="zh-CN" sz="2400" dirty="0">
                <a:latin typeface="宋体" panose="02010600030101010101" pitchFamily="2" charset="-122"/>
                <a:ea typeface="宋体" panose="02010600030101010101" pitchFamily="2" charset="-122"/>
              </a:rPr>
              <a:t>}</a:t>
            </a:r>
            <a:r>
              <a:rPr lang="en-US" altLang="zh-CN" sz="2400" dirty="0">
                <a:solidFill>
                  <a:srgbClr val="000099"/>
                </a:solidFill>
                <a:latin typeface="宋体" panose="02010600030101010101" pitchFamily="2" charset="-122"/>
                <a:ea typeface="宋体" panose="02010600030101010101" pitchFamily="2" charset="-122"/>
              </a:rPr>
              <a:t> </a:t>
            </a:r>
            <a:br>
              <a:rPr lang="en-US" altLang="zh-CN" sz="2400" dirty="0">
                <a:solidFill>
                  <a:srgbClr val="000099"/>
                </a:solidFill>
                <a:latin typeface="宋体" panose="02010600030101010101" pitchFamily="2" charset="-122"/>
                <a:ea typeface="宋体" panose="02010600030101010101" pitchFamily="2" charset="-122"/>
              </a:rPr>
            </a:br>
            <a:r>
              <a:rPr lang="en-US" altLang="zh-CN" sz="2400" dirty="0">
                <a:solidFill>
                  <a:srgbClr val="CC0000"/>
                </a:solidFill>
                <a:latin typeface="宋体" panose="02010600030101010101" pitchFamily="2" charset="-122"/>
                <a:ea typeface="宋体" panose="02010600030101010101" pitchFamily="2" charset="-122"/>
              </a:rPr>
              <a:t>SET </a:t>
            </a:r>
            <a:r>
              <a:rPr lang="en-US" altLang="zh-CN" sz="2400" dirty="0">
                <a:solidFill>
                  <a:srgbClr val="000099"/>
                </a:solidFill>
                <a:latin typeface="宋体" panose="02010600030101010101" pitchFamily="2" charset="-122"/>
                <a:ea typeface="宋体" panose="02010600030101010101" pitchFamily="2" charset="-122"/>
              </a:rPr>
              <a:t> </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列名 </a:t>
            </a:r>
            <a:r>
              <a:rPr lang="en-US" altLang="zh-CN" sz="2400" dirty="0">
                <a:latin typeface="宋体" panose="02010600030101010101" pitchFamily="2" charset="-122"/>
                <a:ea typeface="宋体" panose="02010600030101010101" pitchFamily="2" charset="-122"/>
              </a:rPr>
              <a:t>= {</a:t>
            </a:r>
            <a:r>
              <a:rPr lang="zh-CN" altLang="en-US" sz="2400" dirty="0">
                <a:latin typeface="宋体" panose="02010600030101010101" pitchFamily="2" charset="-122"/>
                <a:ea typeface="宋体" panose="02010600030101010101" pitchFamily="2" charset="-122"/>
              </a:rPr>
              <a:t>表达式</a:t>
            </a:r>
            <a:r>
              <a:rPr lang="en-US" altLang="zh-CN" sz="2400" dirty="0">
                <a:latin typeface="宋体" panose="02010600030101010101" pitchFamily="2" charset="-122"/>
                <a:ea typeface="宋体" panose="02010600030101010101" pitchFamily="2" charset="-122"/>
              </a:rPr>
              <a:t>|DEFAULT|NULL}}[ ,...n ]} </a:t>
            </a:r>
            <a:br>
              <a:rPr lang="en-US" altLang="zh-CN" sz="2400" dirty="0">
                <a:latin typeface="宋体" panose="02010600030101010101" pitchFamily="2" charset="-122"/>
                <a:ea typeface="宋体" panose="02010600030101010101" pitchFamily="2" charset="-122"/>
              </a:rPr>
            </a:br>
            <a:r>
              <a:rPr lang="en-US" altLang="zh-CN" sz="2400" dirty="0">
                <a:solidFill>
                  <a:srgbClr val="000099"/>
                </a:solidFill>
                <a:latin typeface="宋体" panose="02010600030101010101" pitchFamily="2" charset="-122"/>
                <a:ea typeface="宋体" panose="02010600030101010101" pitchFamily="2" charset="-122"/>
              </a:rPr>
              <a:t>[</a:t>
            </a:r>
            <a:r>
              <a:rPr lang="en-US" altLang="zh-CN" sz="2400" dirty="0">
                <a:solidFill>
                  <a:srgbClr val="CC0000"/>
                </a:solidFill>
                <a:latin typeface="宋体" panose="02010600030101010101" pitchFamily="2" charset="-122"/>
                <a:ea typeface="宋体" panose="02010600030101010101" pitchFamily="2" charset="-122"/>
              </a:rPr>
              <a:t>FROM</a:t>
            </a:r>
            <a:r>
              <a:rPr lang="en-US" altLang="zh-CN" sz="2400" dirty="0">
                <a:solidFill>
                  <a:srgbClr val="000099"/>
                </a:solidFill>
                <a:latin typeface="宋体" panose="02010600030101010101" pitchFamily="2" charset="-122"/>
                <a:ea typeface="宋体" panose="02010600030101010101" pitchFamily="2" charset="-122"/>
              </a:rPr>
              <a:t> </a:t>
            </a:r>
            <a:r>
              <a:rPr lang="en-US" altLang="zh-CN" sz="2400" dirty="0">
                <a:latin typeface="宋体" panose="02010600030101010101" pitchFamily="2" charset="-122"/>
                <a:ea typeface="宋体" panose="02010600030101010101" pitchFamily="2" charset="-122"/>
              </a:rPr>
              <a:t>{ &lt; </a:t>
            </a:r>
            <a:r>
              <a:rPr lang="zh-CN" altLang="en-US" sz="2400" dirty="0">
                <a:latin typeface="宋体" panose="02010600030101010101" pitchFamily="2" charset="-122"/>
                <a:ea typeface="宋体" panose="02010600030101010101" pitchFamily="2" charset="-122"/>
              </a:rPr>
              <a:t>源表</a:t>
            </a:r>
            <a:r>
              <a:rPr lang="en-US" altLang="zh-CN" sz="2400" dirty="0">
                <a:latin typeface="宋体" panose="02010600030101010101" pitchFamily="2" charset="-122"/>
                <a:ea typeface="宋体" panose="02010600030101010101" pitchFamily="2" charset="-122"/>
              </a:rPr>
              <a:t>&gt; }[ ,...n ]] </a:t>
            </a:r>
            <a:endParaRPr lang="en-US" altLang="zh-CN" sz="2400" dirty="0">
              <a:latin typeface="宋体" panose="02010600030101010101" pitchFamily="2" charset="-122"/>
              <a:ea typeface="宋体" panose="02010600030101010101" pitchFamily="2" charset="-122"/>
            </a:endParaRPr>
          </a:p>
          <a:p>
            <a:pPr>
              <a:lnSpc>
                <a:spcPct val="120000"/>
              </a:lnSpc>
              <a:spcBef>
                <a:spcPts val="300"/>
              </a:spcBef>
            </a:pPr>
            <a:r>
              <a:rPr lang="en-US" altLang="zh-CN" sz="2400" dirty="0">
                <a:solidFill>
                  <a:srgbClr val="000099"/>
                </a:solidFill>
                <a:latin typeface="宋体" panose="02010600030101010101" pitchFamily="2" charset="-122"/>
                <a:ea typeface="宋体" panose="02010600030101010101" pitchFamily="2" charset="-122"/>
              </a:rPr>
              <a:t>[</a:t>
            </a:r>
            <a:r>
              <a:rPr lang="en-US" altLang="zh-CN" sz="2400" dirty="0">
                <a:solidFill>
                  <a:srgbClr val="CC0000"/>
                </a:solidFill>
                <a:latin typeface="宋体" panose="02010600030101010101" pitchFamily="2" charset="-122"/>
                <a:ea typeface="宋体" panose="02010600030101010101" pitchFamily="2" charset="-122"/>
              </a:rPr>
              <a:t>WHERE</a:t>
            </a:r>
            <a:r>
              <a:rPr lang="en-US" altLang="zh-CN" sz="2400" dirty="0">
                <a:solidFill>
                  <a:srgbClr val="000099"/>
                </a:solidFill>
                <a:latin typeface="宋体" panose="02010600030101010101" pitchFamily="2" charset="-122"/>
                <a:ea typeface="宋体" panose="02010600030101010101" pitchFamily="2" charset="-122"/>
              </a:rPr>
              <a:t> </a:t>
            </a:r>
            <a:r>
              <a:rPr lang="en-US" altLang="zh-CN" sz="2400" dirty="0">
                <a:latin typeface="宋体" panose="02010600030101010101" pitchFamily="2" charset="-122"/>
                <a:ea typeface="宋体" panose="02010600030101010101" pitchFamily="2" charset="-122"/>
              </a:rPr>
              <a:t>&lt; </a:t>
            </a:r>
            <a:r>
              <a:rPr lang="zh-CN" altLang="en-US" sz="2400" dirty="0">
                <a:latin typeface="宋体" panose="02010600030101010101" pitchFamily="2" charset="-122"/>
                <a:ea typeface="宋体" panose="02010600030101010101" pitchFamily="2" charset="-122"/>
              </a:rPr>
              <a:t>条件表达式 </a:t>
            </a:r>
            <a:r>
              <a:rPr lang="en-US" altLang="zh-CN" sz="2400" dirty="0">
                <a:latin typeface="宋体" panose="02010600030101010101" pitchFamily="2" charset="-122"/>
                <a:ea typeface="宋体" panose="02010600030101010101" pitchFamily="2" charset="-122"/>
              </a:rPr>
              <a:t>&gt; ] </a:t>
            </a:r>
            <a:br>
              <a:rPr lang="en-US" altLang="zh-CN" sz="2800" dirty="0">
                <a:latin typeface="华文楷体" panose="02010600040101010101" pitchFamily="2" charset="-122"/>
                <a:ea typeface="华文楷体" panose="02010600040101010101" pitchFamily="2" charset="-122"/>
              </a:rPr>
            </a:br>
            <a:r>
              <a:rPr lang="zh-CN" altLang="en-US" sz="2400" dirty="0">
                <a:latin typeface="华文楷体" panose="02010600040101010101" pitchFamily="2" charset="-122"/>
                <a:ea typeface="华文楷体" panose="02010600040101010101" pitchFamily="2" charset="-122"/>
              </a:rPr>
              <a:t>注：</a:t>
            </a:r>
            <a:r>
              <a:rPr lang="en-US" altLang="zh-CN" sz="2400" dirty="0">
                <a:solidFill>
                  <a:srgbClr val="000099"/>
                </a:solidFill>
                <a:latin typeface="华文楷体" panose="02010600040101010101" pitchFamily="2" charset="-122"/>
                <a:ea typeface="华文楷体" panose="02010600040101010101" pitchFamily="2" charset="-122"/>
              </a:rPr>
              <a:t> </a:t>
            </a:r>
            <a:r>
              <a:rPr lang="en-US" altLang="zh-CN" sz="2400" dirty="0">
                <a:latin typeface="华文楷体" panose="02010600040101010101" pitchFamily="2" charset="-122"/>
                <a:ea typeface="华文楷体" panose="02010600040101010101" pitchFamily="2" charset="-122"/>
              </a:rPr>
              <a:t>&lt; </a:t>
            </a:r>
            <a:r>
              <a:rPr lang="zh-CN" altLang="en-US" sz="2400" dirty="0">
                <a:latin typeface="华文楷体" panose="02010600040101010101" pitchFamily="2" charset="-122"/>
                <a:ea typeface="华文楷体" panose="02010600040101010101" pitchFamily="2" charset="-122"/>
              </a:rPr>
              <a:t>表更新选项 </a:t>
            </a:r>
            <a:r>
              <a:rPr lang="en-US" altLang="zh-CN" sz="2400" dirty="0">
                <a:latin typeface="华文楷体" panose="02010600040101010101" pitchFamily="2" charset="-122"/>
                <a:ea typeface="华文楷体" panose="02010600040101010101" pitchFamily="2" charset="-122"/>
              </a:rPr>
              <a:t>&gt; &lt; </a:t>
            </a:r>
            <a:r>
              <a:rPr lang="zh-CN" altLang="en-US" sz="2400" dirty="0">
                <a:latin typeface="华文楷体" panose="02010600040101010101" pitchFamily="2" charset="-122"/>
                <a:ea typeface="华文楷体" panose="02010600040101010101" pitchFamily="2" charset="-122"/>
              </a:rPr>
              <a:t>源表</a:t>
            </a:r>
            <a:r>
              <a:rPr lang="en-US" altLang="zh-CN" sz="2400" dirty="0">
                <a:latin typeface="华文楷体" panose="02010600040101010101" pitchFamily="2" charset="-122"/>
                <a:ea typeface="华文楷体" panose="02010600040101010101" pitchFamily="2" charset="-122"/>
              </a:rPr>
              <a:t>&gt; </a:t>
            </a:r>
            <a:r>
              <a:rPr lang="zh-CN" altLang="en-US" sz="2400" dirty="0">
                <a:latin typeface="华文楷体" panose="02010600040101010101" pitchFamily="2" charset="-122"/>
                <a:ea typeface="华文楷体" panose="02010600040101010101" pitchFamily="2" charset="-122"/>
              </a:rPr>
              <a:t>等的语法可参看教材</a:t>
            </a:r>
            <a:r>
              <a:rPr lang="en-US" altLang="zh-CN" sz="2400" dirty="0">
                <a:latin typeface="华文楷体" panose="02010600040101010101" pitchFamily="2" charset="-122"/>
                <a:ea typeface="华文楷体" panose="02010600040101010101" pitchFamily="2" charset="-122"/>
              </a:rPr>
              <a:t>pp130</a:t>
            </a:r>
            <a:r>
              <a:rPr lang="zh-CN" altLang="en-US" sz="2400" dirty="0">
                <a:latin typeface="华文楷体" panose="02010600040101010101" pitchFamily="2" charset="-122"/>
                <a:ea typeface="华文楷体" panose="02010600040101010101" pitchFamily="2" charset="-122"/>
              </a:rPr>
              <a:t>。加锁控制在本章不详细讲解。</a:t>
            </a:r>
            <a:endParaRPr lang="zh-CN" altLang="en-US" sz="2400" dirty="0">
              <a:latin typeface="华文楷体" panose="02010600040101010101" pitchFamily="2" charset="-122"/>
              <a:ea typeface="华文楷体" panose="02010600040101010101" pitchFamily="2" charset="-122"/>
            </a:endParaRPr>
          </a:p>
        </p:txBody>
      </p:sp>
      <p:sp>
        <p:nvSpPr>
          <p:cNvPr id="73732" name="矩形 4"/>
          <p:cNvSpPr/>
          <p:nvPr/>
        </p:nvSpPr>
        <p:spPr>
          <a:xfrm>
            <a:off x="723900" y="4641850"/>
            <a:ext cx="7594600" cy="1447800"/>
          </a:xfrm>
          <a:prstGeom prst="rect">
            <a:avLst/>
          </a:prstGeom>
          <a:noFill/>
          <a:ln w="9525">
            <a:noFill/>
          </a:ln>
        </p:spPr>
        <p:txBody>
          <a:bodyPr anchor="t" anchorCtr="0">
            <a:spAutoFit/>
          </a:bodyPr>
          <a:p>
            <a:pPr marL="457200" indent="-457200">
              <a:lnSpc>
                <a:spcPct val="120000"/>
              </a:lnSpc>
            </a:pPr>
            <a:r>
              <a:rPr lang="zh-CN" altLang="en-US" sz="2400" u="sng" dirty="0">
                <a:solidFill>
                  <a:srgbClr val="FF0000"/>
                </a:solidFill>
                <a:latin typeface="华文楷体" panose="02010600040101010101" pitchFamily="2" charset="-122"/>
                <a:ea typeface="宋体" panose="02010600030101010101" pitchFamily="2" charset="-122"/>
              </a:rPr>
              <a:t>例</a:t>
            </a:r>
            <a:r>
              <a:rPr lang="en-US" altLang="zh-CN" sz="2400" u="sng" dirty="0">
                <a:solidFill>
                  <a:srgbClr val="FF0000"/>
                </a:solidFill>
                <a:latin typeface="华文楷体" panose="02010600040101010101" pitchFamily="2" charset="-122"/>
                <a:ea typeface="宋体" panose="02010600030101010101" pitchFamily="2" charset="-122"/>
              </a:rPr>
              <a:t>1</a:t>
            </a:r>
            <a:r>
              <a:rPr lang="zh-CN" altLang="en-US" sz="2400" u="sng" dirty="0">
                <a:solidFill>
                  <a:srgbClr val="FF0000"/>
                </a:solidFill>
                <a:latin typeface="华文楷体" panose="02010600040101010101" pitchFamily="2" charset="-122"/>
                <a:ea typeface="宋体" panose="02010600030101010101" pitchFamily="2" charset="-122"/>
              </a:rPr>
              <a:t>：简单的更新</a:t>
            </a:r>
            <a:endParaRPr lang="zh-CN" altLang="en-US" sz="2400" u="sng" dirty="0">
              <a:solidFill>
                <a:srgbClr val="FF0000"/>
              </a:solidFill>
              <a:latin typeface="华文楷体" panose="02010600040101010101" pitchFamily="2" charset="-122"/>
              <a:ea typeface="宋体" panose="02010600030101010101" pitchFamily="2" charset="-122"/>
            </a:endParaRPr>
          </a:p>
          <a:p>
            <a:pPr marL="457200" indent="-457200">
              <a:lnSpc>
                <a:spcPct val="120000"/>
              </a:lnSpc>
            </a:pPr>
            <a:r>
              <a:rPr lang="en-US" altLang="zh-CN" sz="2400" dirty="0">
                <a:solidFill>
                  <a:srgbClr val="006600"/>
                </a:solidFill>
                <a:latin typeface="华文楷体" panose="02010600040101010101" pitchFamily="2" charset="-122"/>
                <a:ea typeface="宋体" panose="02010600030101010101" pitchFamily="2" charset="-122"/>
              </a:rPr>
              <a:t>UPDATE</a:t>
            </a:r>
            <a:r>
              <a:rPr lang="en-US" altLang="zh-CN" sz="2400" dirty="0">
                <a:solidFill>
                  <a:srgbClr val="000099"/>
                </a:solidFill>
                <a:latin typeface="华文楷体" panose="02010600040101010101" pitchFamily="2" charset="-122"/>
                <a:ea typeface="宋体" panose="02010600030101010101" pitchFamily="2" charset="-122"/>
              </a:rPr>
              <a:t>  </a:t>
            </a:r>
            <a:r>
              <a:rPr lang="en-US" altLang="zh-CN" sz="2400" dirty="0">
                <a:latin typeface="华文楷体" panose="02010600040101010101" pitchFamily="2" charset="-122"/>
                <a:ea typeface="宋体" panose="02010600030101010101" pitchFamily="2" charset="-122"/>
              </a:rPr>
              <a:t>publishers </a:t>
            </a:r>
            <a:r>
              <a:rPr lang="zh-CN" altLang="en-US" sz="2400" dirty="0">
                <a:latin typeface="华文楷体" panose="02010600040101010101" pitchFamily="2" charset="-122"/>
                <a:ea typeface="宋体" panose="02010600030101010101" pitchFamily="2" charset="-122"/>
              </a:rPr>
              <a:t>  </a:t>
            </a:r>
            <a:r>
              <a:rPr lang="en-US" altLang="zh-CN" sz="2400" dirty="0">
                <a:solidFill>
                  <a:srgbClr val="006600"/>
                </a:solidFill>
                <a:latin typeface="华文楷体" panose="02010600040101010101" pitchFamily="2" charset="-122"/>
                <a:ea typeface="宋体" panose="02010600030101010101" pitchFamily="2" charset="-122"/>
              </a:rPr>
              <a:t>SET </a:t>
            </a:r>
            <a:r>
              <a:rPr lang="en-US" altLang="zh-CN" sz="2400" dirty="0">
                <a:solidFill>
                  <a:srgbClr val="000099"/>
                </a:solidFill>
                <a:latin typeface="华文楷体" panose="02010600040101010101" pitchFamily="2" charset="-122"/>
                <a:ea typeface="宋体" panose="02010600030101010101" pitchFamily="2" charset="-122"/>
              </a:rPr>
              <a:t>  </a:t>
            </a:r>
            <a:r>
              <a:rPr lang="en-US" altLang="zh-CN" sz="2400" dirty="0">
                <a:latin typeface="华文楷体" panose="02010600040101010101" pitchFamily="2" charset="-122"/>
                <a:ea typeface="宋体" panose="02010600030101010101" pitchFamily="2" charset="-122"/>
              </a:rPr>
              <a:t>city = 'Atlanta', state ='GA'</a:t>
            </a:r>
            <a:endParaRPr lang="en-US" altLang="zh-CN" sz="2400" dirty="0">
              <a:latin typeface="华文楷体" panose="02010600040101010101" pitchFamily="2" charset="-122"/>
              <a:ea typeface="宋体" panose="02010600030101010101" pitchFamily="2" charset="-122"/>
            </a:endParaRPr>
          </a:p>
          <a:p>
            <a:pPr marL="457200" indent="-457200">
              <a:lnSpc>
                <a:spcPct val="120000"/>
              </a:lnSpc>
            </a:pPr>
            <a:r>
              <a:rPr lang="en-US" altLang="zh-CN" sz="2400" dirty="0">
                <a:solidFill>
                  <a:srgbClr val="006600"/>
                </a:solidFill>
                <a:latin typeface="华文楷体" panose="02010600040101010101" pitchFamily="2" charset="-122"/>
                <a:ea typeface="宋体" panose="02010600030101010101" pitchFamily="2" charset="-122"/>
              </a:rPr>
              <a:t>UPDATE</a:t>
            </a:r>
            <a:r>
              <a:rPr lang="en-US" altLang="zh-CN" sz="2400" dirty="0">
                <a:solidFill>
                  <a:srgbClr val="000099"/>
                </a:solidFill>
                <a:latin typeface="华文楷体" panose="02010600040101010101" pitchFamily="2" charset="-122"/>
                <a:ea typeface="宋体" panose="02010600030101010101" pitchFamily="2" charset="-122"/>
              </a:rPr>
              <a:t>  SC </a:t>
            </a:r>
            <a:r>
              <a:rPr lang="zh-CN" altLang="en-US" sz="2400" dirty="0">
                <a:solidFill>
                  <a:srgbClr val="000099"/>
                </a:solidFill>
                <a:latin typeface="华文楷体" panose="02010600040101010101" pitchFamily="2" charset="-122"/>
                <a:ea typeface="宋体" panose="02010600030101010101" pitchFamily="2" charset="-122"/>
              </a:rPr>
              <a:t>   </a:t>
            </a:r>
            <a:r>
              <a:rPr lang="en-US" altLang="zh-CN" sz="2400" dirty="0">
                <a:solidFill>
                  <a:srgbClr val="006600"/>
                </a:solidFill>
                <a:latin typeface="华文楷体" panose="02010600040101010101" pitchFamily="2" charset="-122"/>
                <a:ea typeface="宋体" panose="02010600030101010101" pitchFamily="2" charset="-122"/>
              </a:rPr>
              <a:t>SET</a:t>
            </a:r>
            <a:r>
              <a:rPr lang="en-US" altLang="zh-CN" sz="2400" dirty="0">
                <a:solidFill>
                  <a:srgbClr val="000099"/>
                </a:solidFill>
                <a:latin typeface="华文楷体" panose="02010600040101010101" pitchFamily="2" charset="-122"/>
                <a:ea typeface="宋体" panose="02010600030101010101" pitchFamily="2" charset="-122"/>
              </a:rPr>
              <a:t> </a:t>
            </a:r>
            <a:r>
              <a:rPr lang="en-US" altLang="zh-CN" sz="2400" dirty="0">
                <a:latin typeface="华文楷体" panose="02010600040101010101" pitchFamily="2" charset="-122"/>
                <a:ea typeface="宋体" panose="02010600030101010101" pitchFamily="2" charset="-122"/>
              </a:rPr>
              <a:t>Score = Score + 10 </a:t>
            </a:r>
            <a:endParaRPr lang="en-US" altLang="zh-CN" sz="2400" dirty="0">
              <a:latin typeface="华文楷体" panose="02010600040101010101" pitchFamily="2" charset="-122"/>
              <a:ea typeface="宋体" panose="02010600030101010101" pitchFamily="2" charset="-122"/>
            </a:endParaRPr>
          </a:p>
        </p:txBody>
      </p:sp>
      <p:sp>
        <p:nvSpPr>
          <p:cNvPr id="51206" name="AutoShape 5"/>
          <p:cNvSpPr/>
          <p:nvPr/>
        </p:nvSpPr>
        <p:spPr>
          <a:xfrm>
            <a:off x="5392738" y="3513138"/>
            <a:ext cx="3302000" cy="1271587"/>
          </a:xfrm>
          <a:prstGeom prst="wedgeRoundRectCallout">
            <a:avLst>
              <a:gd name="adj1" fmla="val 12264"/>
              <a:gd name="adj2" fmla="val 83903"/>
              <a:gd name="adj3" fmla="val 16667"/>
            </a:avLst>
          </a:prstGeom>
          <a:solidFill>
            <a:srgbClr val="CCFFFF"/>
          </a:solidFill>
          <a:ln w="9525" cap="flat" cmpd="sng">
            <a:solidFill>
              <a:schemeClr val="tx1"/>
            </a:solidFill>
            <a:prstDash val="solid"/>
            <a:miter/>
            <a:headEnd type="none" w="med" len="med"/>
            <a:tailEnd type="none" w="med" len="med"/>
          </a:ln>
        </p:spPr>
        <p:txBody>
          <a:bodyPr lIns="36000" tIns="46800" rIns="36000" bIns="46800" anchor="t" anchorCtr="0"/>
          <a:p>
            <a:pPr>
              <a:lnSpc>
                <a:spcPct val="110000"/>
              </a:lnSpc>
            </a:pPr>
            <a:r>
              <a:rPr lang="zh-CN" altLang="en-US" sz="2200" dirty="0">
                <a:latin typeface="宋体" panose="02010600030101010101" pitchFamily="2" charset="-122"/>
                <a:ea typeface="宋体" panose="02010600030101010101" pitchFamily="2" charset="-122"/>
              </a:rPr>
              <a:t>简单数据更新中的例子里，表中的所有元组对应的属性值都更改成为新值。</a:t>
            </a:r>
            <a:endParaRPr lang="zh-CN" altLang="en-US" sz="2200" dirty="0">
              <a:latin typeface="宋体" panose="02010600030101010101" pitchFamily="2" charset="-122"/>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grpId="0" nodeType="clickEffect">
                                  <p:stCondLst>
                                    <p:cond delay="0"/>
                                  </p:stCondLst>
                                  <p:childTnLst>
                                    <p:set>
                                      <p:cBhvr>
                                        <p:cTn id="6" dur="1" fill="hold">
                                          <p:stCondLst>
                                            <p:cond delay="0"/>
                                          </p:stCondLst>
                                        </p:cTn>
                                        <p:tgtEl>
                                          <p:spTgt spid="51206"/>
                                        </p:tgtEl>
                                        <p:attrNameLst>
                                          <p:attrName>style.visibility</p:attrName>
                                        </p:attrNameLst>
                                      </p:cBhvr>
                                      <p:to>
                                        <p:strVal val="visible"/>
                                      </p:to>
                                    </p:set>
                                    <p:animEffect transition="in" filter="plus(in)">
                                      <p:cBhvr>
                                        <p:cTn id="7" dur="2000"/>
                                        <p:tgtEl>
                                          <p:spTgt spid="512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6"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3"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三、数据库操纵子语言及其操作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74754" name="矩形 2"/>
          <p:cNvSpPr/>
          <p:nvPr/>
        </p:nvSpPr>
        <p:spPr>
          <a:xfrm>
            <a:off x="542925" y="838200"/>
            <a:ext cx="4203700" cy="522288"/>
          </a:xfrm>
          <a:prstGeom prst="rect">
            <a:avLst/>
          </a:prstGeom>
          <a:noFill/>
          <a:ln w="9525">
            <a:noFill/>
          </a:ln>
        </p:spPr>
        <p:txBody>
          <a:bodyPr anchor="t" anchorCtr="0">
            <a:spAutoFit/>
          </a:bodyPr>
          <a:p>
            <a:r>
              <a:rPr lang="en-US" altLang="zh-CN" sz="2800" dirty="0">
                <a:solidFill>
                  <a:srgbClr val="0033CC"/>
                </a:solidFill>
                <a:latin typeface="黑体" panose="02010609060101010101" pitchFamily="1" charset="-122"/>
                <a:ea typeface="黑体" panose="02010609060101010101" pitchFamily="1" charset="-122"/>
              </a:rPr>
              <a:t>4.</a:t>
            </a:r>
            <a:r>
              <a:rPr lang="zh-CN" altLang="en-US" sz="2800" dirty="0">
                <a:solidFill>
                  <a:srgbClr val="0033CC"/>
                </a:solidFill>
                <a:latin typeface="黑体" panose="02010609060101010101" pitchFamily="1" charset="-122"/>
                <a:ea typeface="黑体" panose="02010609060101010101" pitchFamily="1" charset="-122"/>
              </a:rPr>
              <a:t> 数据修改</a:t>
            </a:r>
            <a:r>
              <a:rPr lang="en-US" altLang="zh-CN" sz="2800" dirty="0">
                <a:solidFill>
                  <a:srgbClr val="0033CC"/>
                </a:solidFill>
                <a:latin typeface="黑体" panose="02010609060101010101" pitchFamily="1" charset="-122"/>
                <a:ea typeface="黑体" panose="02010609060101010101" pitchFamily="1" charset="-122"/>
              </a:rPr>
              <a:t>(Update)</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52228" name="矩形 3"/>
          <p:cNvSpPr/>
          <p:nvPr/>
        </p:nvSpPr>
        <p:spPr>
          <a:xfrm>
            <a:off x="609600" y="1500188"/>
            <a:ext cx="8026400" cy="1423987"/>
          </a:xfrm>
          <a:prstGeom prst="rect">
            <a:avLst/>
          </a:prstGeom>
          <a:noFill/>
          <a:ln w="9525">
            <a:noFill/>
          </a:ln>
        </p:spPr>
        <p:txBody>
          <a:bodyPr anchor="t" anchorCtr="0">
            <a:spAutoFit/>
          </a:bodyPr>
          <a:p>
            <a:pPr marL="457200" indent="-457200">
              <a:lnSpc>
                <a:spcPct val="90000"/>
              </a:lnSpc>
            </a:pPr>
            <a:r>
              <a:rPr lang="zh-CN" altLang="en-US" sz="2400" u="sng" dirty="0">
                <a:solidFill>
                  <a:srgbClr val="FF0000"/>
                </a:solidFill>
                <a:latin typeface="华文楷体" panose="02010600040101010101" pitchFamily="2" charset="-122"/>
                <a:ea typeface="宋体" panose="02010600030101010101" pitchFamily="2" charset="-122"/>
              </a:rPr>
              <a:t>例</a:t>
            </a:r>
            <a:r>
              <a:rPr lang="en-US" altLang="zh-CN" sz="2400" u="sng" dirty="0">
                <a:solidFill>
                  <a:srgbClr val="FF0000"/>
                </a:solidFill>
                <a:latin typeface="华文楷体" panose="02010600040101010101" pitchFamily="2" charset="-122"/>
                <a:ea typeface="宋体" panose="02010600030101010101" pitchFamily="2" charset="-122"/>
              </a:rPr>
              <a:t>2</a:t>
            </a:r>
            <a:r>
              <a:rPr lang="zh-CN" altLang="en-US" sz="2400" u="sng" dirty="0">
                <a:solidFill>
                  <a:srgbClr val="FF0000"/>
                </a:solidFill>
                <a:latin typeface="华文楷体" panose="02010600040101010101" pitchFamily="2" charset="-122"/>
                <a:ea typeface="宋体" panose="02010600030101010101" pitchFamily="2" charset="-122"/>
              </a:rPr>
              <a:t>：带</a:t>
            </a:r>
            <a:r>
              <a:rPr lang="en-US" altLang="zh-CN" sz="2400" u="sng" dirty="0">
                <a:solidFill>
                  <a:srgbClr val="FF0000"/>
                </a:solidFill>
                <a:latin typeface="华文楷体" panose="02010600040101010101" pitchFamily="2" charset="-122"/>
                <a:ea typeface="宋体" panose="02010600030101010101" pitchFamily="2" charset="-122"/>
              </a:rPr>
              <a:t>WHERE</a:t>
            </a:r>
            <a:r>
              <a:rPr lang="zh-CN" altLang="en-US" sz="2400" u="sng" dirty="0">
                <a:solidFill>
                  <a:srgbClr val="FF0000"/>
                </a:solidFill>
                <a:latin typeface="华文楷体" panose="02010600040101010101" pitchFamily="2" charset="-122"/>
                <a:ea typeface="宋体" panose="02010600030101010101" pitchFamily="2" charset="-122"/>
              </a:rPr>
              <a:t>子句的更新</a:t>
            </a:r>
            <a:endParaRPr lang="zh-CN" altLang="en-US" dirty="0">
              <a:solidFill>
                <a:srgbClr val="000099"/>
              </a:solidFill>
              <a:latin typeface="华文楷体" panose="02010600040101010101" pitchFamily="2" charset="-122"/>
              <a:ea typeface="宋体" panose="02010600030101010101" pitchFamily="2" charset="-122"/>
            </a:endParaRPr>
          </a:p>
          <a:p>
            <a:pPr marL="457200" indent="-457200">
              <a:lnSpc>
                <a:spcPct val="120000"/>
              </a:lnSpc>
              <a:spcBef>
                <a:spcPts val="300"/>
              </a:spcBef>
            </a:pPr>
            <a:r>
              <a:rPr lang="en-US" altLang="zh-CN" sz="2400" dirty="0">
                <a:solidFill>
                  <a:srgbClr val="006600"/>
                </a:solidFill>
                <a:latin typeface="华文楷体" panose="02010600040101010101" pitchFamily="2" charset="-122"/>
                <a:ea typeface="宋体" panose="02010600030101010101" pitchFamily="2" charset="-122"/>
              </a:rPr>
              <a:t>UPDATE</a:t>
            </a:r>
            <a:r>
              <a:rPr lang="en-US" altLang="zh-CN" sz="2400" dirty="0">
                <a:solidFill>
                  <a:srgbClr val="000099"/>
                </a:solidFill>
                <a:latin typeface="华文楷体" panose="02010600040101010101" pitchFamily="2" charset="-122"/>
                <a:ea typeface="宋体" panose="02010600030101010101" pitchFamily="2" charset="-122"/>
              </a:rPr>
              <a:t>  authors </a:t>
            </a:r>
            <a:r>
              <a:rPr lang="zh-CN" altLang="en-US" sz="2400" dirty="0">
                <a:solidFill>
                  <a:srgbClr val="000099"/>
                </a:solidFill>
                <a:latin typeface="华文楷体" panose="02010600040101010101" pitchFamily="2" charset="-122"/>
                <a:ea typeface="宋体" panose="02010600030101010101" pitchFamily="2" charset="-122"/>
              </a:rPr>
              <a:t>  </a:t>
            </a:r>
            <a:r>
              <a:rPr lang="en-US" altLang="zh-CN" sz="2400" dirty="0">
                <a:solidFill>
                  <a:srgbClr val="006600"/>
                </a:solidFill>
                <a:latin typeface="华文楷体" panose="02010600040101010101" pitchFamily="2" charset="-122"/>
                <a:ea typeface="宋体" panose="02010600030101010101" pitchFamily="2" charset="-122"/>
              </a:rPr>
              <a:t>SET</a:t>
            </a:r>
            <a:r>
              <a:rPr lang="en-US" altLang="zh-CN" sz="2400" dirty="0">
                <a:solidFill>
                  <a:srgbClr val="000099"/>
                </a:solidFill>
                <a:latin typeface="华文楷体" panose="02010600040101010101" pitchFamily="2" charset="-122"/>
                <a:ea typeface="宋体" panose="02010600030101010101" pitchFamily="2" charset="-122"/>
              </a:rPr>
              <a:t>  </a:t>
            </a:r>
            <a:r>
              <a:rPr lang="en-US" altLang="zh-CN" sz="2400" dirty="0">
                <a:latin typeface="华文楷体" panose="02010600040101010101" pitchFamily="2" charset="-122"/>
                <a:ea typeface="宋体" panose="02010600030101010101" pitchFamily="2" charset="-122"/>
              </a:rPr>
              <a:t>state = 'PC', city = 'Bay City'</a:t>
            </a:r>
            <a:r>
              <a:rPr lang="en-US" altLang="zh-CN" sz="2400" dirty="0">
                <a:solidFill>
                  <a:srgbClr val="000099"/>
                </a:solidFill>
                <a:latin typeface="华文楷体" panose="02010600040101010101" pitchFamily="2" charset="-122"/>
                <a:ea typeface="宋体" panose="02010600030101010101" pitchFamily="2" charset="-122"/>
              </a:rPr>
              <a:t> </a:t>
            </a:r>
            <a:endParaRPr lang="en-US" altLang="zh-CN" sz="2400" dirty="0">
              <a:solidFill>
                <a:srgbClr val="000099"/>
              </a:solidFill>
              <a:latin typeface="华文楷体" panose="02010600040101010101" pitchFamily="2" charset="-122"/>
              <a:ea typeface="宋体" panose="02010600030101010101" pitchFamily="2" charset="-122"/>
            </a:endParaRPr>
          </a:p>
          <a:p>
            <a:pPr marL="457200" indent="-457200">
              <a:lnSpc>
                <a:spcPct val="120000"/>
              </a:lnSpc>
              <a:spcBef>
                <a:spcPts val="300"/>
              </a:spcBef>
            </a:pPr>
            <a:r>
              <a:rPr lang="en-US" altLang="zh-CN" sz="2400" dirty="0">
                <a:solidFill>
                  <a:srgbClr val="006600"/>
                </a:solidFill>
                <a:latin typeface="华文楷体" panose="02010600040101010101" pitchFamily="2" charset="-122"/>
                <a:ea typeface="宋体" panose="02010600030101010101" pitchFamily="2" charset="-122"/>
              </a:rPr>
              <a:t>WHERE</a:t>
            </a:r>
            <a:r>
              <a:rPr lang="en-US" altLang="zh-CN" sz="2400" dirty="0">
                <a:solidFill>
                  <a:srgbClr val="000099"/>
                </a:solidFill>
                <a:latin typeface="华文楷体" panose="02010600040101010101" pitchFamily="2" charset="-122"/>
                <a:ea typeface="宋体" panose="02010600030101010101" pitchFamily="2" charset="-122"/>
              </a:rPr>
              <a:t>  </a:t>
            </a:r>
            <a:r>
              <a:rPr lang="en-US" altLang="zh-CN" sz="2400" dirty="0">
                <a:latin typeface="华文楷体" panose="02010600040101010101" pitchFamily="2" charset="-122"/>
                <a:ea typeface="宋体" panose="02010600030101010101" pitchFamily="2" charset="-122"/>
              </a:rPr>
              <a:t>state = 'CA' AND city = 'Oakland'</a:t>
            </a:r>
            <a:endParaRPr lang="en-US" altLang="zh-CN" sz="2400" dirty="0">
              <a:latin typeface="华文楷体" panose="02010600040101010101" pitchFamily="2" charset="-122"/>
              <a:ea typeface="宋体" panose="02010600030101010101" pitchFamily="2" charset="-122"/>
            </a:endParaRPr>
          </a:p>
        </p:txBody>
      </p:sp>
      <p:sp>
        <p:nvSpPr>
          <p:cNvPr id="52229" name="AutoShape 6"/>
          <p:cNvSpPr/>
          <p:nvPr/>
        </p:nvSpPr>
        <p:spPr>
          <a:xfrm>
            <a:off x="4864100" y="885825"/>
            <a:ext cx="3732213" cy="866775"/>
          </a:xfrm>
          <a:prstGeom prst="wedgeRoundRectCallout">
            <a:avLst>
              <a:gd name="adj1" fmla="val -39250"/>
              <a:gd name="adj2" fmla="val 84667"/>
              <a:gd name="adj3" fmla="val 16667"/>
            </a:avLst>
          </a:prstGeom>
          <a:solidFill>
            <a:srgbClr val="CCFFFF"/>
          </a:solidFill>
          <a:ln w="9525" cap="flat" cmpd="sng">
            <a:solidFill>
              <a:schemeClr val="tx1"/>
            </a:solidFill>
            <a:prstDash val="solid"/>
            <a:miter/>
            <a:headEnd type="none" w="med" len="med"/>
            <a:tailEnd type="none" w="med" len="med"/>
          </a:ln>
        </p:spPr>
        <p:txBody>
          <a:bodyPr lIns="17780" tIns="46990" rIns="17780" bIns="46990" anchor="t" anchorCtr="0"/>
          <a:p>
            <a:pPr>
              <a:lnSpc>
                <a:spcPct val="114000"/>
              </a:lnSpc>
            </a:pPr>
            <a:r>
              <a:rPr lang="zh-CN" altLang="en-US" sz="2200" dirty="0">
                <a:latin typeface="宋体" panose="02010600030101010101" pitchFamily="2" charset="-122"/>
                <a:ea typeface="宋体" panose="02010600030101010101" pitchFamily="2" charset="-122"/>
              </a:rPr>
              <a:t>表中符合条件的所有元组对应的属性值都改成为新值。</a:t>
            </a:r>
            <a:endParaRPr lang="zh-CN" altLang="en-US" sz="2200" dirty="0">
              <a:latin typeface="宋体" panose="02010600030101010101" pitchFamily="2" charset="-122"/>
              <a:ea typeface="宋体" panose="02010600030101010101" pitchFamily="2" charset="-122"/>
            </a:endParaRPr>
          </a:p>
        </p:txBody>
      </p:sp>
      <p:sp>
        <p:nvSpPr>
          <p:cNvPr id="52230" name="矩形 5"/>
          <p:cNvSpPr/>
          <p:nvPr/>
        </p:nvSpPr>
        <p:spPr>
          <a:xfrm>
            <a:off x="584200" y="2979738"/>
            <a:ext cx="8166100" cy="3254375"/>
          </a:xfrm>
          <a:prstGeom prst="rect">
            <a:avLst/>
          </a:prstGeom>
          <a:noFill/>
          <a:ln w="9525">
            <a:noFill/>
          </a:ln>
        </p:spPr>
        <p:txBody>
          <a:bodyPr anchor="t" anchorCtr="0">
            <a:spAutoFit/>
          </a:bodyPr>
          <a:p>
            <a:pPr lvl="1" indent="-457200" eaLnBrk="1" hangingPunct="1">
              <a:lnSpc>
                <a:spcPct val="90000"/>
              </a:lnSpc>
            </a:pPr>
            <a:r>
              <a:rPr lang="zh-CN" altLang="en-US" sz="2400" u="sng" dirty="0">
                <a:solidFill>
                  <a:srgbClr val="FF0000"/>
                </a:solidFill>
                <a:latin typeface="华文楷体" panose="02010600040101010101" pitchFamily="2" charset="-122"/>
                <a:ea typeface="宋体" panose="02010600030101010101" pitchFamily="2" charset="-122"/>
              </a:rPr>
              <a:t>例</a:t>
            </a:r>
            <a:r>
              <a:rPr lang="en-US" altLang="zh-CN" sz="2400" u="sng" dirty="0">
                <a:solidFill>
                  <a:srgbClr val="FF0000"/>
                </a:solidFill>
                <a:latin typeface="华文楷体" panose="02010600040101010101" pitchFamily="2" charset="-122"/>
                <a:ea typeface="宋体" panose="02010600030101010101" pitchFamily="2" charset="-122"/>
              </a:rPr>
              <a:t>3. </a:t>
            </a:r>
            <a:r>
              <a:rPr lang="zh-CN" altLang="en-US" sz="2400" u="sng" dirty="0">
                <a:solidFill>
                  <a:srgbClr val="FF0000"/>
                </a:solidFill>
                <a:latin typeface="华文楷体" panose="02010600040101010101" pitchFamily="2" charset="-122"/>
                <a:ea typeface="宋体" panose="02010600030101010101" pitchFamily="2" charset="-122"/>
              </a:rPr>
              <a:t>利用</a:t>
            </a:r>
            <a:r>
              <a:rPr lang="en-US" altLang="zh-CN" sz="2400" u="sng" dirty="0">
                <a:solidFill>
                  <a:srgbClr val="FF0000"/>
                </a:solidFill>
                <a:latin typeface="华文楷体" panose="02010600040101010101" pitchFamily="2" charset="-122"/>
                <a:ea typeface="宋体" panose="02010600030101010101" pitchFamily="2" charset="-122"/>
              </a:rPr>
              <a:t>SELECT</a:t>
            </a:r>
            <a:r>
              <a:rPr lang="zh-CN" altLang="en-US" sz="2400" u="sng" dirty="0">
                <a:solidFill>
                  <a:srgbClr val="FF0000"/>
                </a:solidFill>
                <a:latin typeface="华文楷体" panose="02010600040101010101" pitchFamily="2" charset="-122"/>
                <a:ea typeface="宋体" panose="02010600030101010101" pitchFamily="2" charset="-122"/>
              </a:rPr>
              <a:t>查询子句的结果进行数据修改</a:t>
            </a:r>
            <a:endParaRPr lang="zh-CN" altLang="en-US" sz="2400" u="sng" dirty="0">
              <a:solidFill>
                <a:srgbClr val="FF0000"/>
              </a:solidFill>
              <a:latin typeface="华文楷体" panose="02010600040101010101" pitchFamily="2" charset="-122"/>
              <a:ea typeface="宋体" panose="02010600030101010101" pitchFamily="2" charset="-122"/>
            </a:endParaRPr>
          </a:p>
          <a:p>
            <a:pPr lvl="1" indent="-457200" eaLnBrk="1" hangingPunct="1">
              <a:lnSpc>
                <a:spcPct val="135000"/>
              </a:lnSpc>
            </a:pPr>
            <a:r>
              <a:rPr lang="zh-CN" altLang="en-US" sz="2400" dirty="0">
                <a:latin typeface="华文楷体" panose="02010600040101010101" pitchFamily="2" charset="-122"/>
                <a:ea typeface="华文楷体" panose="02010600040101010101" pitchFamily="2" charset="-122"/>
              </a:rPr>
              <a:t>学生表 </a:t>
            </a:r>
            <a:r>
              <a:rPr lang="en-US" altLang="zh-CN" sz="2400" dirty="0">
                <a:latin typeface="华文楷体" panose="02010600040101010101" pitchFamily="2" charset="-122"/>
                <a:ea typeface="华文楷体" panose="02010600040101010101" pitchFamily="2" charset="-122"/>
              </a:rPr>
              <a:t>S</a:t>
            </a:r>
            <a:r>
              <a:rPr lang="zh-CN" altLang="en-US" sz="2400" dirty="0">
                <a:latin typeface="华文楷体" panose="02010600040101010101" pitchFamily="2" charset="-122"/>
                <a:ea typeface="华文楷体" panose="02010600040101010101" pitchFamily="2" charset="-122"/>
              </a:rPr>
              <a:t>（</a:t>
            </a:r>
            <a:r>
              <a:rPr lang="en-US" altLang="zh-CN" sz="2400" u="sng" dirty="0">
                <a:latin typeface="华文楷体" panose="02010600040101010101" pitchFamily="2" charset="-122"/>
                <a:ea typeface="华文楷体" panose="02010600040101010101" pitchFamily="2" charset="-122"/>
              </a:rPr>
              <a:t>Sid</a:t>
            </a: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Sname, Age</a:t>
            </a: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Gender</a:t>
            </a:r>
            <a:r>
              <a:rPr lang="zh-CN" altLang="en-US" sz="2400" dirty="0">
                <a:latin typeface="华文楷体" panose="02010600040101010101" pitchFamily="2" charset="-122"/>
                <a:ea typeface="华文楷体" panose="02010600040101010101" pitchFamily="2" charset="-122"/>
              </a:rPr>
              <a:t>）</a:t>
            </a:r>
            <a:endParaRPr lang="zh-CN" altLang="en-US" sz="2400" dirty="0">
              <a:latin typeface="华文楷体" panose="02010600040101010101" pitchFamily="2" charset="-122"/>
              <a:ea typeface="华文楷体" panose="02010600040101010101" pitchFamily="2" charset="-122"/>
            </a:endParaRPr>
          </a:p>
          <a:p>
            <a:pPr lvl="1" indent="-457200" eaLnBrk="1" hangingPunct="1">
              <a:lnSpc>
                <a:spcPct val="135000"/>
              </a:lnSpc>
            </a:pPr>
            <a:r>
              <a:rPr lang="zh-CN" altLang="en-US" sz="2400" dirty="0">
                <a:latin typeface="华文楷体" panose="02010600040101010101" pitchFamily="2" charset="-122"/>
                <a:ea typeface="华文楷体" panose="02010600040101010101" pitchFamily="2" charset="-122"/>
              </a:rPr>
              <a:t>选课表 </a:t>
            </a:r>
            <a:r>
              <a:rPr lang="en-US" altLang="zh-CN" sz="2400" dirty="0">
                <a:latin typeface="华文楷体" panose="02010600040101010101" pitchFamily="2" charset="-122"/>
                <a:ea typeface="华文楷体" panose="02010600040101010101" pitchFamily="2" charset="-122"/>
              </a:rPr>
              <a:t>SC</a:t>
            </a:r>
            <a:r>
              <a:rPr lang="zh-CN" altLang="en-US" sz="2400" dirty="0">
                <a:latin typeface="华文楷体" panose="02010600040101010101" pitchFamily="2" charset="-122"/>
                <a:ea typeface="华文楷体" panose="02010600040101010101" pitchFamily="2" charset="-122"/>
              </a:rPr>
              <a:t>（</a:t>
            </a:r>
            <a:r>
              <a:rPr lang="en-US" altLang="zh-CN" sz="2400" u="sng" dirty="0">
                <a:latin typeface="华文楷体" panose="02010600040101010101" pitchFamily="2" charset="-122"/>
                <a:ea typeface="华文楷体" panose="02010600040101010101" pitchFamily="2" charset="-122"/>
              </a:rPr>
              <a:t>Sid</a:t>
            </a:r>
            <a:r>
              <a:rPr lang="zh-CN" altLang="en-US" sz="2400" u="sng" dirty="0">
                <a:latin typeface="华文楷体" panose="02010600040101010101" pitchFamily="2" charset="-122"/>
                <a:ea typeface="华文楷体" panose="02010600040101010101" pitchFamily="2" charset="-122"/>
              </a:rPr>
              <a:t>， </a:t>
            </a:r>
            <a:r>
              <a:rPr lang="en-US" altLang="zh-CN" sz="2400" u="sng" dirty="0">
                <a:latin typeface="华文楷体" panose="02010600040101010101" pitchFamily="2" charset="-122"/>
                <a:ea typeface="华文楷体" panose="02010600040101010101" pitchFamily="2" charset="-122"/>
              </a:rPr>
              <a:t>Cid</a:t>
            </a:r>
            <a:r>
              <a:rPr lang="zh-CN" altLang="en-US" sz="2400" dirty="0">
                <a:latin typeface="华文楷体" panose="02010600040101010101" pitchFamily="2" charset="-122"/>
                <a:ea typeface="华文楷体" panose="02010600040101010101" pitchFamily="2" charset="-122"/>
              </a:rPr>
              <a:t>， </a:t>
            </a:r>
            <a:r>
              <a:rPr lang="en-US" altLang="zh-CN" sz="2400" dirty="0">
                <a:latin typeface="华文楷体" panose="02010600040101010101" pitchFamily="2" charset="-122"/>
                <a:ea typeface="华文楷体" panose="02010600040101010101" pitchFamily="2" charset="-122"/>
              </a:rPr>
              <a:t>Score) </a:t>
            </a:r>
            <a:endParaRPr lang="en-US" altLang="zh-CN" sz="2400" dirty="0">
              <a:latin typeface="华文楷体" panose="02010600040101010101" pitchFamily="2" charset="-122"/>
              <a:ea typeface="华文楷体" panose="02010600040101010101" pitchFamily="2" charset="-122"/>
            </a:endParaRPr>
          </a:p>
          <a:p>
            <a:pPr lvl="1" indent="-457200" eaLnBrk="1" hangingPunct="1">
              <a:lnSpc>
                <a:spcPct val="135000"/>
              </a:lnSpc>
            </a:pPr>
            <a:r>
              <a:rPr lang="zh-CN" altLang="en-US" sz="2400" dirty="0">
                <a:solidFill>
                  <a:srgbClr val="FF0000"/>
                </a:solidFill>
                <a:latin typeface="华文楷体" panose="02010600040101010101" pitchFamily="2" charset="-122"/>
                <a:ea typeface="华文楷体" panose="02010600040101010101" pitchFamily="2" charset="-122"/>
              </a:rPr>
              <a:t>例如：把女同学的成绩提高</a:t>
            </a:r>
            <a:r>
              <a:rPr lang="en-US" altLang="zh-CN" sz="2400" dirty="0">
                <a:solidFill>
                  <a:srgbClr val="FF0000"/>
                </a:solidFill>
                <a:latin typeface="华文楷体" panose="02010600040101010101" pitchFamily="2" charset="-122"/>
                <a:ea typeface="华文楷体" panose="02010600040101010101" pitchFamily="2" charset="-122"/>
              </a:rPr>
              <a:t>10%</a:t>
            </a:r>
            <a:endParaRPr lang="en-US" altLang="zh-CN" sz="2400" dirty="0">
              <a:solidFill>
                <a:srgbClr val="FF0000"/>
              </a:solidFill>
              <a:latin typeface="华文楷体" panose="02010600040101010101" pitchFamily="2" charset="-122"/>
              <a:ea typeface="华文楷体" panose="02010600040101010101" pitchFamily="2" charset="-122"/>
            </a:endParaRPr>
          </a:p>
          <a:p>
            <a:pPr>
              <a:lnSpc>
                <a:spcPct val="110000"/>
              </a:lnSpc>
              <a:spcBef>
                <a:spcPts val="300"/>
              </a:spcBef>
            </a:pPr>
            <a:r>
              <a:rPr lang="zh-CN" altLang="en-US" sz="2400" dirty="0">
                <a:solidFill>
                  <a:srgbClr val="006600"/>
                </a:solidFill>
                <a:latin typeface="华文楷体" panose="02010600040101010101" pitchFamily="2" charset="-122"/>
                <a:ea typeface="华文楷体" panose="02010600040101010101" pitchFamily="2" charset="-122"/>
              </a:rPr>
              <a:t>   </a:t>
            </a:r>
            <a:r>
              <a:rPr lang="en-US" altLang="zh-CN" sz="2400" dirty="0">
                <a:solidFill>
                  <a:srgbClr val="006600"/>
                </a:solidFill>
                <a:latin typeface="华文楷体" panose="02010600040101010101" pitchFamily="2" charset="-122"/>
                <a:ea typeface="华文楷体" panose="02010600040101010101" pitchFamily="2" charset="-122"/>
              </a:rPr>
              <a:t>UPDATE</a:t>
            </a:r>
            <a:r>
              <a:rPr lang="en-US" altLang="zh-CN" sz="2400" dirty="0">
                <a:latin typeface="华文楷体" panose="02010600040101010101" pitchFamily="2" charset="-122"/>
                <a:ea typeface="华文楷体" panose="02010600040101010101" pitchFamily="2" charset="-122"/>
              </a:rPr>
              <a:t> SC </a:t>
            </a:r>
            <a:r>
              <a:rPr lang="zh-CN" altLang="en-US" sz="2400" dirty="0">
                <a:solidFill>
                  <a:srgbClr val="006600"/>
                </a:solidFill>
                <a:latin typeface="华文楷体" panose="02010600040101010101" pitchFamily="2" charset="-122"/>
                <a:ea typeface="华文楷体" panose="02010600040101010101" pitchFamily="2" charset="-122"/>
              </a:rPr>
              <a:t>   </a:t>
            </a:r>
            <a:r>
              <a:rPr lang="en-US" altLang="zh-CN" sz="2400" dirty="0">
                <a:solidFill>
                  <a:srgbClr val="006600"/>
                </a:solidFill>
                <a:latin typeface="华文楷体" panose="02010600040101010101" pitchFamily="2" charset="-122"/>
                <a:ea typeface="华文楷体" panose="02010600040101010101" pitchFamily="2" charset="-122"/>
              </a:rPr>
              <a:t>SET</a:t>
            </a:r>
            <a:r>
              <a:rPr lang="en-US" altLang="zh-CN" sz="2400" dirty="0">
                <a:latin typeface="华文楷体" panose="02010600040101010101" pitchFamily="2" charset="-122"/>
                <a:ea typeface="华文楷体" panose="02010600040101010101" pitchFamily="2" charset="-122"/>
              </a:rPr>
              <a:t> Score = Score * </a:t>
            </a: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1+10%)</a:t>
            </a:r>
            <a:endParaRPr lang="en-US" altLang="zh-CN" sz="2400" dirty="0">
              <a:latin typeface="华文楷体" panose="02010600040101010101" pitchFamily="2" charset="-122"/>
              <a:ea typeface="华文楷体" panose="02010600040101010101" pitchFamily="2" charset="-122"/>
            </a:endParaRPr>
          </a:p>
          <a:p>
            <a:pPr>
              <a:lnSpc>
                <a:spcPct val="110000"/>
              </a:lnSpc>
              <a:spcBef>
                <a:spcPts val="300"/>
              </a:spcBef>
            </a:pPr>
            <a:r>
              <a:rPr lang="zh-CN" altLang="en-US" sz="2400" dirty="0">
                <a:solidFill>
                  <a:srgbClr val="006600"/>
                </a:solidFill>
                <a:latin typeface="华文楷体" panose="02010600040101010101" pitchFamily="2" charset="-122"/>
                <a:ea typeface="华文楷体" panose="02010600040101010101" pitchFamily="2" charset="-122"/>
              </a:rPr>
              <a:t>   </a:t>
            </a:r>
            <a:r>
              <a:rPr lang="en-US" altLang="zh-CN" sz="2400" dirty="0">
                <a:solidFill>
                  <a:srgbClr val="006600"/>
                </a:solidFill>
                <a:latin typeface="华文楷体" panose="02010600040101010101" pitchFamily="2" charset="-122"/>
                <a:ea typeface="华文楷体" panose="02010600040101010101" pitchFamily="2" charset="-122"/>
              </a:rPr>
              <a:t>WHERE</a:t>
            </a:r>
            <a:r>
              <a:rPr lang="en-US" altLang="zh-CN" sz="2400" dirty="0">
                <a:latin typeface="华文楷体" panose="02010600040101010101" pitchFamily="2" charset="-122"/>
                <a:ea typeface="华文楷体" panose="02010600040101010101" pitchFamily="2" charset="-122"/>
              </a:rPr>
              <a:t> SC.Sid IN</a:t>
            </a:r>
            <a:endParaRPr lang="en-US" altLang="zh-CN" sz="2400" dirty="0">
              <a:latin typeface="华文楷体" panose="02010600040101010101" pitchFamily="2" charset="-122"/>
              <a:ea typeface="华文楷体" panose="02010600040101010101" pitchFamily="2" charset="-122"/>
            </a:endParaRPr>
          </a:p>
          <a:p>
            <a:pPr>
              <a:lnSpc>
                <a:spcPct val="110000"/>
              </a:lnSpc>
              <a:spcBef>
                <a:spcPts val="300"/>
              </a:spcBef>
            </a:pPr>
            <a:r>
              <a:rPr lang="zh-CN" altLang="en-US" sz="2400" dirty="0">
                <a:latin typeface="华文楷体" panose="02010600040101010101" pitchFamily="2" charset="-122"/>
                <a:ea typeface="华文楷体" panose="02010600040101010101" pitchFamily="2" charset="-122"/>
              </a:rPr>
              <a:t>   （</a:t>
            </a:r>
            <a:r>
              <a:rPr lang="en-US" altLang="zh-CN" sz="2400" dirty="0">
                <a:latin typeface="华文楷体" panose="02010600040101010101" pitchFamily="2" charset="-122"/>
                <a:ea typeface="华文楷体" panose="02010600040101010101" pitchFamily="2" charset="-122"/>
              </a:rPr>
              <a:t>SELECT Sid FROM S WHERE GENDER=</a:t>
            </a:r>
            <a:r>
              <a:rPr lang="en-US" altLang="zh-CN" sz="2400" dirty="0">
                <a:latin typeface="华文楷体" panose="02010600040101010101" pitchFamily="2" charset="-122"/>
                <a:ea typeface="宋体" panose="02010600030101010101" pitchFamily="2" charset="-122"/>
              </a:rPr>
              <a:t>'</a:t>
            </a:r>
            <a:r>
              <a:rPr lang="en-US" altLang="zh-CN" sz="2400" dirty="0">
                <a:latin typeface="华文楷体" panose="02010600040101010101" pitchFamily="2" charset="-122"/>
                <a:ea typeface="华文楷体" panose="02010600040101010101" pitchFamily="2" charset="-122"/>
              </a:rPr>
              <a:t>F</a:t>
            </a:r>
            <a:r>
              <a:rPr lang="en-US" altLang="zh-CN" sz="2400" dirty="0">
                <a:latin typeface="华文楷体" panose="02010600040101010101" pitchFamily="2" charset="-122"/>
                <a:ea typeface="宋体" panose="02010600030101010101" pitchFamily="2" charset="-122"/>
              </a:rPr>
              <a:t>'</a:t>
            </a:r>
            <a:r>
              <a:rPr lang="en-US" altLang="zh-CN" sz="2400" dirty="0">
                <a:latin typeface="华文楷体" panose="02010600040101010101" pitchFamily="2" charset="-122"/>
                <a:ea typeface="华文楷体" panose="02010600040101010101" pitchFamily="2" charset="-122"/>
              </a:rPr>
              <a:t>)</a:t>
            </a:r>
            <a:endParaRPr lang="en-US" altLang="zh-CN" sz="2400" dirty="0">
              <a:latin typeface="华文楷体" panose="02010600040101010101" pitchFamily="2" charset="-122"/>
              <a:ea typeface="华文楷体" panose="020106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2228">
                                            <p:txEl>
                                              <p:charRg st="0" end="15"/>
                                            </p:txEl>
                                          </p:spTgt>
                                        </p:tgtEl>
                                        <p:attrNameLst>
                                          <p:attrName>style.visibility</p:attrName>
                                        </p:attrNameLst>
                                      </p:cBhvr>
                                      <p:to>
                                        <p:strVal val="visible"/>
                                      </p:to>
                                    </p:set>
                                    <p:animEffect transition="in" filter="wipe(down)">
                                      <p:cBhvr>
                                        <p:cTn id="7" dur="500"/>
                                        <p:tgtEl>
                                          <p:spTgt spid="52228">
                                            <p:txEl>
                                              <p:charRg st="0" end="15"/>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52228">
                                            <p:txEl>
                                              <p:charRg st="15" end="71"/>
                                            </p:txEl>
                                          </p:spTgt>
                                        </p:tgtEl>
                                        <p:attrNameLst>
                                          <p:attrName>style.visibility</p:attrName>
                                        </p:attrNameLst>
                                      </p:cBhvr>
                                      <p:to>
                                        <p:strVal val="visible"/>
                                      </p:to>
                                    </p:set>
                                    <p:animEffect transition="in" filter="wipe(down)">
                                      <p:cBhvr>
                                        <p:cTn id="10" dur="500"/>
                                        <p:tgtEl>
                                          <p:spTgt spid="52228">
                                            <p:txEl>
                                              <p:charRg st="15" end="71"/>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52228">
                                            <p:txEl>
                                              <p:charRg st="71" end="112"/>
                                            </p:txEl>
                                          </p:spTgt>
                                        </p:tgtEl>
                                        <p:attrNameLst>
                                          <p:attrName>style.visibility</p:attrName>
                                        </p:attrNameLst>
                                      </p:cBhvr>
                                      <p:to>
                                        <p:strVal val="visible"/>
                                      </p:to>
                                    </p:set>
                                    <p:animEffect transition="in" filter="wipe(down)">
                                      <p:cBhvr>
                                        <p:cTn id="13" dur="500"/>
                                        <p:tgtEl>
                                          <p:spTgt spid="52228">
                                            <p:txEl>
                                              <p:charRg st="71" end="11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52229"/>
                                        </p:tgtEl>
                                        <p:attrNameLst>
                                          <p:attrName>style.visibility</p:attrName>
                                        </p:attrNameLst>
                                      </p:cBhvr>
                                      <p:to>
                                        <p:strVal val="visible"/>
                                      </p:to>
                                    </p:set>
                                    <p:animEffect transition="in" filter="wipe(down)">
                                      <p:cBhvr>
                                        <p:cTn id="18" dur="500"/>
                                        <p:tgtEl>
                                          <p:spTgt spid="52229"/>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52229">
                                            <p:txEl>
                                              <p:charRg st="0" end="25"/>
                                            </p:txEl>
                                          </p:spTgt>
                                        </p:tgtEl>
                                        <p:attrNameLst>
                                          <p:attrName>style.visibility</p:attrName>
                                        </p:attrNameLst>
                                      </p:cBhvr>
                                      <p:to>
                                        <p:strVal val="visible"/>
                                      </p:to>
                                    </p:set>
                                    <p:animEffect transition="in" filter="wipe(down)">
                                      <p:cBhvr>
                                        <p:cTn id="21" dur="500"/>
                                        <p:tgtEl>
                                          <p:spTgt spid="52229">
                                            <p:txEl>
                                              <p:charRg st="0" end="2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52230">
                                            <p:txEl>
                                              <p:charRg st="0" end="26"/>
                                            </p:txEl>
                                          </p:spTgt>
                                        </p:tgtEl>
                                        <p:attrNameLst>
                                          <p:attrName>style.visibility</p:attrName>
                                        </p:attrNameLst>
                                      </p:cBhvr>
                                      <p:to>
                                        <p:strVal val="visible"/>
                                      </p:to>
                                    </p:set>
                                    <p:animEffect transition="in" filter="wipe(down)">
                                      <p:cBhvr>
                                        <p:cTn id="26" dur="500"/>
                                        <p:tgtEl>
                                          <p:spTgt spid="52230">
                                            <p:txEl>
                                              <p:charRg st="0" end="26"/>
                                            </p:txEl>
                                          </p:spTgt>
                                        </p:tgtEl>
                                      </p:cBhvr>
                                    </p:animEffect>
                                  </p:childTnLst>
                                </p:cTn>
                              </p:par>
                              <p:par>
                                <p:cTn id="27" presetID="22" presetClass="entr" presetSubtype="4" fill="hold" grpId="0" nodeType="withEffect">
                                  <p:stCondLst>
                                    <p:cond delay="0"/>
                                  </p:stCondLst>
                                  <p:childTnLst>
                                    <p:set>
                                      <p:cBhvr>
                                        <p:cTn id="28" dur="1" fill="hold">
                                          <p:stCondLst>
                                            <p:cond delay="0"/>
                                          </p:stCondLst>
                                        </p:cTn>
                                        <p:tgtEl>
                                          <p:spTgt spid="52230">
                                            <p:txEl>
                                              <p:charRg st="26" end="55"/>
                                            </p:txEl>
                                          </p:spTgt>
                                        </p:tgtEl>
                                        <p:attrNameLst>
                                          <p:attrName>style.visibility</p:attrName>
                                        </p:attrNameLst>
                                      </p:cBhvr>
                                      <p:to>
                                        <p:strVal val="visible"/>
                                      </p:to>
                                    </p:set>
                                    <p:animEffect transition="in" filter="wipe(down)">
                                      <p:cBhvr>
                                        <p:cTn id="29" dur="500"/>
                                        <p:tgtEl>
                                          <p:spTgt spid="52230">
                                            <p:txEl>
                                              <p:charRg st="26" end="55"/>
                                            </p:txEl>
                                          </p:spTgt>
                                        </p:tgtEl>
                                      </p:cBhvr>
                                    </p:animEffect>
                                  </p:childTnLst>
                                </p:cTn>
                              </p:par>
                              <p:par>
                                <p:cTn id="30" presetID="22" presetClass="entr" presetSubtype="4" fill="hold" grpId="0" nodeType="withEffect">
                                  <p:stCondLst>
                                    <p:cond delay="0"/>
                                  </p:stCondLst>
                                  <p:childTnLst>
                                    <p:set>
                                      <p:cBhvr>
                                        <p:cTn id="31" dur="1" fill="hold">
                                          <p:stCondLst>
                                            <p:cond delay="0"/>
                                          </p:stCondLst>
                                        </p:cTn>
                                        <p:tgtEl>
                                          <p:spTgt spid="52230">
                                            <p:txEl>
                                              <p:charRg st="55" end="80"/>
                                            </p:txEl>
                                          </p:spTgt>
                                        </p:tgtEl>
                                        <p:attrNameLst>
                                          <p:attrName>style.visibility</p:attrName>
                                        </p:attrNameLst>
                                      </p:cBhvr>
                                      <p:to>
                                        <p:strVal val="visible"/>
                                      </p:to>
                                    </p:set>
                                    <p:animEffect transition="in" filter="wipe(down)">
                                      <p:cBhvr>
                                        <p:cTn id="32" dur="500"/>
                                        <p:tgtEl>
                                          <p:spTgt spid="52230">
                                            <p:txEl>
                                              <p:charRg st="55" end="80"/>
                                            </p:txEl>
                                          </p:spTgt>
                                        </p:tgtEl>
                                      </p:cBhvr>
                                    </p:animEffect>
                                  </p:childTnLst>
                                </p:cTn>
                              </p:par>
                              <p:par>
                                <p:cTn id="33" presetID="22" presetClass="entr" presetSubtype="4" fill="hold" grpId="0" nodeType="withEffect">
                                  <p:stCondLst>
                                    <p:cond delay="0"/>
                                  </p:stCondLst>
                                  <p:childTnLst>
                                    <p:set>
                                      <p:cBhvr>
                                        <p:cTn id="34" dur="1" fill="hold">
                                          <p:stCondLst>
                                            <p:cond delay="0"/>
                                          </p:stCondLst>
                                        </p:cTn>
                                        <p:tgtEl>
                                          <p:spTgt spid="52230">
                                            <p:txEl>
                                              <p:charRg st="80" end="96"/>
                                            </p:txEl>
                                          </p:spTgt>
                                        </p:tgtEl>
                                        <p:attrNameLst>
                                          <p:attrName>style.visibility</p:attrName>
                                        </p:attrNameLst>
                                      </p:cBhvr>
                                      <p:to>
                                        <p:strVal val="visible"/>
                                      </p:to>
                                    </p:set>
                                    <p:animEffect transition="in" filter="wipe(down)">
                                      <p:cBhvr>
                                        <p:cTn id="35" dur="500"/>
                                        <p:tgtEl>
                                          <p:spTgt spid="52230">
                                            <p:txEl>
                                              <p:charRg st="80" end="96"/>
                                            </p:txEl>
                                          </p:spTgt>
                                        </p:tgtEl>
                                      </p:cBhvr>
                                    </p:animEffect>
                                  </p:childTnLst>
                                </p:cTn>
                              </p:par>
                              <p:par>
                                <p:cTn id="36" presetID="22" presetClass="entr" presetSubtype="4" fill="hold" grpId="0" nodeType="withEffect">
                                  <p:stCondLst>
                                    <p:cond delay="0"/>
                                  </p:stCondLst>
                                  <p:childTnLst>
                                    <p:set>
                                      <p:cBhvr>
                                        <p:cTn id="37" dur="1" fill="hold">
                                          <p:stCondLst>
                                            <p:cond delay="0"/>
                                          </p:stCondLst>
                                        </p:cTn>
                                        <p:tgtEl>
                                          <p:spTgt spid="52230">
                                            <p:txEl>
                                              <p:charRg st="96" end="140"/>
                                            </p:txEl>
                                          </p:spTgt>
                                        </p:tgtEl>
                                        <p:attrNameLst>
                                          <p:attrName>style.visibility</p:attrName>
                                        </p:attrNameLst>
                                      </p:cBhvr>
                                      <p:to>
                                        <p:strVal val="visible"/>
                                      </p:to>
                                    </p:set>
                                    <p:animEffect transition="in" filter="wipe(down)">
                                      <p:cBhvr>
                                        <p:cTn id="38" dur="500"/>
                                        <p:tgtEl>
                                          <p:spTgt spid="52230">
                                            <p:txEl>
                                              <p:charRg st="96" end="140"/>
                                            </p:txEl>
                                          </p:spTgt>
                                        </p:tgtEl>
                                      </p:cBhvr>
                                    </p:animEffect>
                                  </p:childTnLst>
                                </p:cTn>
                              </p:par>
                              <p:par>
                                <p:cTn id="39" presetID="22" presetClass="entr" presetSubtype="4" fill="hold" grpId="0" nodeType="withEffect">
                                  <p:stCondLst>
                                    <p:cond delay="0"/>
                                  </p:stCondLst>
                                  <p:childTnLst>
                                    <p:set>
                                      <p:cBhvr>
                                        <p:cTn id="40" dur="1" fill="hold">
                                          <p:stCondLst>
                                            <p:cond delay="0"/>
                                          </p:stCondLst>
                                        </p:cTn>
                                        <p:tgtEl>
                                          <p:spTgt spid="52230">
                                            <p:txEl>
                                              <p:charRg st="140" end="159"/>
                                            </p:txEl>
                                          </p:spTgt>
                                        </p:tgtEl>
                                        <p:attrNameLst>
                                          <p:attrName>style.visibility</p:attrName>
                                        </p:attrNameLst>
                                      </p:cBhvr>
                                      <p:to>
                                        <p:strVal val="visible"/>
                                      </p:to>
                                    </p:set>
                                    <p:animEffect transition="in" filter="wipe(down)">
                                      <p:cBhvr>
                                        <p:cTn id="41" dur="500"/>
                                        <p:tgtEl>
                                          <p:spTgt spid="52230">
                                            <p:txEl>
                                              <p:charRg st="140" end="159"/>
                                            </p:txEl>
                                          </p:spTgt>
                                        </p:tgtEl>
                                      </p:cBhvr>
                                    </p:animEffect>
                                  </p:childTnLst>
                                </p:cTn>
                              </p:par>
                              <p:par>
                                <p:cTn id="42" presetID="22" presetClass="entr" presetSubtype="4" fill="hold" grpId="0" nodeType="withEffect">
                                  <p:stCondLst>
                                    <p:cond delay="0"/>
                                  </p:stCondLst>
                                  <p:childTnLst>
                                    <p:set>
                                      <p:cBhvr>
                                        <p:cTn id="43" dur="1" fill="hold">
                                          <p:stCondLst>
                                            <p:cond delay="0"/>
                                          </p:stCondLst>
                                        </p:cTn>
                                        <p:tgtEl>
                                          <p:spTgt spid="52230">
                                            <p:txEl>
                                              <p:charRg st="159" end="199"/>
                                            </p:txEl>
                                          </p:spTgt>
                                        </p:tgtEl>
                                        <p:attrNameLst>
                                          <p:attrName>style.visibility</p:attrName>
                                        </p:attrNameLst>
                                      </p:cBhvr>
                                      <p:to>
                                        <p:strVal val="visible"/>
                                      </p:to>
                                    </p:set>
                                    <p:animEffect transition="in" filter="wipe(down)">
                                      <p:cBhvr>
                                        <p:cTn id="44" dur="500"/>
                                        <p:tgtEl>
                                          <p:spTgt spid="52230">
                                            <p:txEl>
                                              <p:charRg st="159" end="19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8" grpId="0" build="allAtOnce"/>
      <p:bldP spid="52229" grpId="0" animBg="1" build="allAtOnce"/>
      <p:bldP spid="52230" grpId="0" build="allAtOnce"/>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49"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三、数据库操纵子语言及其操作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78850" name="矩形 3"/>
          <p:cNvSpPr/>
          <p:nvPr/>
        </p:nvSpPr>
        <p:spPr>
          <a:xfrm>
            <a:off x="542925" y="838200"/>
            <a:ext cx="4203700" cy="517525"/>
          </a:xfrm>
          <a:prstGeom prst="rect">
            <a:avLst/>
          </a:prstGeom>
          <a:noFill/>
          <a:ln w="9525">
            <a:noFill/>
          </a:ln>
        </p:spPr>
        <p:txBody>
          <a:bodyPr anchor="t" anchorCtr="0">
            <a:spAutoFit/>
          </a:bodyPr>
          <a:p>
            <a:pPr marL="457200" indent="-457200">
              <a:buFont typeface="Wingdings" panose="05000000000000000000" charset="0"/>
              <a:buChar char="p"/>
            </a:pPr>
            <a:r>
              <a:rPr lang="zh-CN" altLang="en-US" sz="2800" dirty="0">
                <a:solidFill>
                  <a:srgbClr val="0033CC"/>
                </a:solidFill>
                <a:latin typeface="黑体" panose="02010609060101010101" pitchFamily="1" charset="-122"/>
                <a:ea typeface="黑体" panose="02010609060101010101" pitchFamily="1" charset="-122"/>
              </a:rPr>
              <a:t>课堂练习</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78851" name="Text Box 4"/>
          <p:cNvSpPr txBox="1"/>
          <p:nvPr/>
        </p:nvSpPr>
        <p:spPr>
          <a:xfrm>
            <a:off x="698500" y="1278255"/>
            <a:ext cx="7664450" cy="1258570"/>
          </a:xfrm>
          <a:prstGeom prst="rect">
            <a:avLst/>
          </a:prstGeom>
          <a:noFill/>
          <a:ln w="9525">
            <a:noFill/>
          </a:ln>
        </p:spPr>
        <p:txBody>
          <a:bodyPr wrap="square" anchor="t" anchorCtr="0">
            <a:spAutoFit/>
          </a:bodyPr>
          <a:p>
            <a:pPr marL="457200" indent="-457200">
              <a:lnSpc>
                <a:spcPct val="115000"/>
              </a:lnSpc>
              <a:spcBef>
                <a:spcPts val="0"/>
              </a:spcBef>
              <a:spcAft>
                <a:spcPts val="0"/>
              </a:spcAft>
            </a:pPr>
            <a:r>
              <a:rPr lang="zh-CN" altLang="en-US" sz="2200" dirty="0">
                <a:latin typeface="宋体" panose="02010600030101010101" pitchFamily="2" charset="-122"/>
                <a:ea typeface="宋体" panose="02010600030101010101" pitchFamily="2" charset="-122"/>
              </a:rPr>
              <a:t>有如下关系：学生</a:t>
            </a:r>
            <a:r>
              <a:rPr lang="en-US" altLang="zh-CN" sz="2200" dirty="0">
                <a:latin typeface="宋体" panose="02010600030101010101" pitchFamily="2" charset="-122"/>
                <a:ea typeface="宋体" panose="02010600030101010101" pitchFamily="2" charset="-122"/>
              </a:rPr>
              <a:t>S(</a:t>
            </a:r>
            <a:r>
              <a:rPr lang="en-US" altLang="zh-CN" sz="2200" u="sng" dirty="0">
                <a:latin typeface="宋体" panose="02010600030101010101" pitchFamily="2" charset="-122"/>
                <a:ea typeface="宋体" panose="02010600030101010101" pitchFamily="2" charset="-122"/>
              </a:rPr>
              <a:t>SID</a:t>
            </a:r>
            <a:r>
              <a:rPr lang="en-US" altLang="zh-CN" sz="2200" dirty="0">
                <a:latin typeface="宋体" panose="02010600030101010101" pitchFamily="2" charset="-122"/>
                <a:ea typeface="宋体" panose="02010600030101010101" pitchFamily="2" charset="-122"/>
              </a:rPr>
              <a:t>,SName,SGender,SAge)</a:t>
            </a:r>
            <a:endParaRPr lang="en-US" altLang="zh-CN" sz="2200" dirty="0">
              <a:latin typeface="宋体" panose="02010600030101010101" pitchFamily="2" charset="-122"/>
              <a:ea typeface="宋体" panose="02010600030101010101" pitchFamily="2" charset="-122"/>
            </a:endParaRPr>
          </a:p>
          <a:p>
            <a:pPr marL="457200" indent="-457200">
              <a:lnSpc>
                <a:spcPct val="115000"/>
              </a:lnSpc>
              <a:spcBef>
                <a:spcPts val="0"/>
              </a:spcBef>
              <a:spcAft>
                <a:spcPts val="0"/>
              </a:spcAft>
            </a:pPr>
            <a:r>
              <a:rPr lang="en-US" altLang="zh-CN" sz="2200" dirty="0">
                <a:latin typeface="宋体" panose="02010600030101010101" pitchFamily="2" charset="-122"/>
                <a:ea typeface="宋体" panose="02010600030101010101" pitchFamily="2" charset="-122"/>
              </a:rPr>
              <a:t>            </a:t>
            </a:r>
            <a:r>
              <a:rPr lang="zh-CN" altLang="zh-CN" sz="2200" dirty="0">
                <a:latin typeface="宋体" panose="02010600030101010101" pitchFamily="2" charset="-122"/>
                <a:ea typeface="宋体" panose="02010600030101010101" pitchFamily="2" charset="-122"/>
              </a:rPr>
              <a:t>课程</a:t>
            </a:r>
            <a:r>
              <a:rPr lang="en-US" altLang="zh-CN" sz="2200" dirty="0">
                <a:latin typeface="宋体" panose="02010600030101010101" pitchFamily="2" charset="-122"/>
                <a:ea typeface="宋体" panose="02010600030101010101" pitchFamily="2" charset="-122"/>
              </a:rPr>
              <a:t>C(</a:t>
            </a:r>
            <a:r>
              <a:rPr lang="en-US" altLang="zh-CN" sz="2200" u="sng" dirty="0">
                <a:latin typeface="宋体" panose="02010600030101010101" pitchFamily="2" charset="-122"/>
                <a:ea typeface="宋体" panose="02010600030101010101" pitchFamily="2" charset="-122"/>
              </a:rPr>
              <a:t>CID</a:t>
            </a:r>
            <a:r>
              <a:rPr lang="en-US" altLang="zh-CN" sz="2200" dirty="0">
                <a:latin typeface="宋体" panose="02010600030101010101" pitchFamily="2" charset="-122"/>
                <a:ea typeface="宋体" panose="02010600030101010101" pitchFamily="2" charset="-122"/>
              </a:rPr>
              <a:t>,CName,CRedit)</a:t>
            </a:r>
            <a:endParaRPr lang="en-US" altLang="zh-CN" sz="2200" dirty="0">
              <a:latin typeface="宋体" panose="02010600030101010101" pitchFamily="2" charset="-122"/>
              <a:ea typeface="宋体" panose="02010600030101010101" pitchFamily="2" charset="-122"/>
            </a:endParaRPr>
          </a:p>
          <a:p>
            <a:pPr marL="457200" indent="-457200">
              <a:lnSpc>
                <a:spcPct val="115000"/>
              </a:lnSpc>
              <a:spcBef>
                <a:spcPts val="0"/>
              </a:spcBef>
              <a:spcAft>
                <a:spcPts val="0"/>
              </a:spcAft>
            </a:pPr>
            <a:r>
              <a:rPr lang="en-US" altLang="zh-CN" sz="2200" dirty="0">
                <a:latin typeface="宋体" panose="02010600030101010101" pitchFamily="2" charset="-122"/>
                <a:ea typeface="宋体" panose="02010600030101010101" pitchFamily="2" charset="-122"/>
              </a:rPr>
              <a:t>            </a:t>
            </a:r>
            <a:r>
              <a:rPr lang="zh-CN" altLang="zh-CN" sz="2200" dirty="0">
                <a:latin typeface="宋体" panose="02010600030101010101" pitchFamily="2" charset="-122"/>
                <a:ea typeface="宋体" panose="02010600030101010101" pitchFamily="2" charset="-122"/>
              </a:rPr>
              <a:t>选课</a:t>
            </a:r>
            <a:r>
              <a:rPr lang="en-US" altLang="zh-CN" sz="2200" dirty="0">
                <a:latin typeface="宋体" panose="02010600030101010101" pitchFamily="2" charset="-122"/>
                <a:ea typeface="宋体" panose="02010600030101010101" pitchFamily="2" charset="-122"/>
              </a:rPr>
              <a:t>SC(</a:t>
            </a:r>
            <a:r>
              <a:rPr lang="en-US" altLang="zh-CN" sz="2200" u="sng" dirty="0">
                <a:latin typeface="宋体" panose="02010600030101010101" pitchFamily="2" charset="-122"/>
                <a:ea typeface="宋体" panose="02010600030101010101" pitchFamily="2" charset="-122"/>
              </a:rPr>
              <a:t>SID,CID</a:t>
            </a:r>
            <a:r>
              <a:rPr lang="en-US" altLang="zh-CN" sz="2200" dirty="0">
                <a:latin typeface="宋体" panose="02010600030101010101" pitchFamily="2" charset="-122"/>
                <a:ea typeface="宋体" panose="02010600030101010101" pitchFamily="2" charset="-122"/>
              </a:rPr>
              <a:t>,Score)</a:t>
            </a:r>
            <a:r>
              <a:rPr lang="en-US" altLang="zh-CN" sz="2200" u="sng" dirty="0">
                <a:latin typeface="宋体" panose="02010600030101010101" pitchFamily="2" charset="-122"/>
                <a:ea typeface="宋体" panose="02010600030101010101" pitchFamily="2" charset="-122"/>
              </a:rPr>
              <a:t>SID,CID</a:t>
            </a:r>
            <a:r>
              <a:rPr lang="zh-CN" altLang="zh-CN" sz="2200" u="sng" dirty="0">
                <a:latin typeface="宋体" panose="02010600030101010101" pitchFamily="2" charset="-122"/>
                <a:ea typeface="宋体" panose="02010600030101010101" pitchFamily="2" charset="-122"/>
              </a:rPr>
              <a:t>为外键</a:t>
            </a:r>
            <a:endParaRPr lang="zh-CN" altLang="zh-CN" sz="2200" u="sng" dirty="0">
              <a:latin typeface="宋体" panose="02010600030101010101" pitchFamily="2" charset="-122"/>
              <a:ea typeface="宋体" panose="02010600030101010101" pitchFamily="2" charset="-122"/>
            </a:endParaRPr>
          </a:p>
        </p:txBody>
      </p:sp>
      <p:sp>
        <p:nvSpPr>
          <p:cNvPr id="78852" name="Text Box 4"/>
          <p:cNvSpPr txBox="1"/>
          <p:nvPr/>
        </p:nvSpPr>
        <p:spPr>
          <a:xfrm>
            <a:off x="698500" y="2495550"/>
            <a:ext cx="7664450" cy="2325370"/>
          </a:xfrm>
          <a:prstGeom prst="rect">
            <a:avLst/>
          </a:prstGeom>
          <a:noFill/>
          <a:ln w="9525">
            <a:noFill/>
          </a:ln>
        </p:spPr>
        <p:txBody>
          <a:bodyPr wrap="square" anchor="t" anchorCtr="0">
            <a:spAutoFit/>
          </a:bodyPr>
          <a:p>
            <a:pPr marL="457200" indent="-457200">
              <a:lnSpc>
                <a:spcPct val="115000"/>
              </a:lnSpc>
              <a:spcBef>
                <a:spcPts val="0"/>
              </a:spcBef>
              <a:spcAft>
                <a:spcPts val="0"/>
              </a:spcAft>
            </a:pPr>
            <a:r>
              <a:rPr lang="zh-CN" altLang="zh-CN" sz="2200" u="sng" dirty="0">
                <a:latin typeface="宋体" panose="02010600030101010101" pitchFamily="2" charset="-122"/>
                <a:ea typeface="宋体" panose="02010600030101010101" pitchFamily="2" charset="-122"/>
                <a:sym typeface="宋体" panose="02010600030101010101" pitchFamily="2" charset="-122"/>
              </a:rPr>
              <a:t>（</a:t>
            </a:r>
            <a:r>
              <a:rPr lang="en-US" altLang="zh-CN" sz="2200" u="sng" dirty="0">
                <a:latin typeface="宋体" panose="02010600030101010101" pitchFamily="2" charset="-122"/>
                <a:ea typeface="宋体" panose="02010600030101010101" pitchFamily="2" charset="-122"/>
                <a:sym typeface="宋体" panose="02010600030101010101" pitchFamily="2" charset="-122"/>
              </a:rPr>
              <a:t>1</a:t>
            </a:r>
            <a:r>
              <a:rPr lang="zh-CN" altLang="en-US" sz="2200" u="sng" dirty="0">
                <a:latin typeface="宋体" panose="02010600030101010101" pitchFamily="2" charset="-122"/>
                <a:ea typeface="宋体" panose="02010600030101010101" pitchFamily="2" charset="-122"/>
                <a:sym typeface="宋体" panose="02010600030101010101" pitchFamily="2" charset="-122"/>
              </a:rPr>
              <a:t>）向表</a:t>
            </a:r>
            <a:r>
              <a:rPr lang="en-US" altLang="zh-CN" sz="2200" u="sng" dirty="0">
                <a:latin typeface="宋体" panose="02010600030101010101" pitchFamily="2" charset="-122"/>
                <a:ea typeface="宋体" panose="02010600030101010101" pitchFamily="2" charset="-122"/>
                <a:sym typeface="宋体" panose="02010600030101010101" pitchFamily="2" charset="-122"/>
              </a:rPr>
              <a:t>S</a:t>
            </a:r>
            <a:r>
              <a:rPr lang="zh-CN" altLang="zh-CN" sz="2200" u="sng" dirty="0">
                <a:latin typeface="宋体" panose="02010600030101010101" pitchFamily="2" charset="-122"/>
                <a:ea typeface="宋体" panose="02010600030101010101" pitchFamily="2" charset="-122"/>
                <a:sym typeface="宋体" panose="02010600030101010101" pitchFamily="2" charset="-122"/>
              </a:rPr>
              <a:t>插入</a:t>
            </a:r>
            <a:r>
              <a:rPr lang="en-US" altLang="zh-CN" sz="2200" u="sng" dirty="0">
                <a:latin typeface="宋体" panose="02010600030101010101" pitchFamily="2" charset="-122"/>
                <a:ea typeface="宋体" panose="02010600030101010101" pitchFamily="2" charset="-122"/>
                <a:sym typeface="宋体" panose="02010600030101010101" pitchFamily="2" charset="-122"/>
              </a:rPr>
              <a:t>'20150101','</a:t>
            </a:r>
            <a:r>
              <a:rPr lang="zh-CN" altLang="zh-CN" sz="2200" u="sng" dirty="0">
                <a:latin typeface="宋体" panose="02010600030101010101" pitchFamily="2" charset="-122"/>
                <a:ea typeface="宋体" panose="02010600030101010101" pitchFamily="2" charset="-122"/>
                <a:sym typeface="宋体" panose="02010600030101010101" pitchFamily="2" charset="-122"/>
              </a:rPr>
              <a:t>王恒</a:t>
            </a:r>
            <a:r>
              <a:rPr lang="en-US" altLang="zh-CN" sz="2200" u="sng" dirty="0">
                <a:latin typeface="宋体" panose="02010600030101010101" pitchFamily="2" charset="-122"/>
                <a:ea typeface="宋体" panose="02010600030101010101" pitchFamily="2" charset="-122"/>
                <a:sym typeface="宋体" panose="02010600030101010101" pitchFamily="2" charset="-122"/>
              </a:rPr>
              <a:t>','</a:t>
            </a:r>
            <a:r>
              <a:rPr lang="zh-CN" altLang="zh-CN" sz="2200" u="sng" dirty="0">
                <a:latin typeface="宋体" panose="02010600030101010101" pitchFamily="2" charset="-122"/>
                <a:ea typeface="宋体" panose="02010600030101010101" pitchFamily="2" charset="-122"/>
                <a:sym typeface="宋体" panose="02010600030101010101" pitchFamily="2" charset="-122"/>
              </a:rPr>
              <a:t>男</a:t>
            </a:r>
            <a:r>
              <a:rPr lang="en-US" altLang="zh-CN" sz="2200" u="sng" dirty="0">
                <a:latin typeface="宋体" panose="02010600030101010101" pitchFamily="2" charset="-122"/>
                <a:ea typeface="宋体" panose="02010600030101010101" pitchFamily="2" charset="-122"/>
                <a:sym typeface="宋体" panose="02010600030101010101" pitchFamily="2" charset="-122"/>
              </a:rPr>
              <a:t>',21</a:t>
            </a:r>
            <a:endParaRPr lang="en-US" altLang="zh-CN" sz="2200" u="sng" dirty="0">
              <a:latin typeface="宋体" panose="02010600030101010101" pitchFamily="2" charset="-122"/>
              <a:ea typeface="宋体" panose="02010600030101010101" pitchFamily="2" charset="-122"/>
              <a:sym typeface="宋体" panose="02010600030101010101" pitchFamily="2" charset="-122"/>
            </a:endParaRPr>
          </a:p>
          <a:p>
            <a:pPr marL="457200" indent="-457200">
              <a:lnSpc>
                <a:spcPct val="115000"/>
              </a:lnSpc>
              <a:spcBef>
                <a:spcPts val="0"/>
              </a:spcBef>
              <a:spcAft>
                <a:spcPts val="0"/>
              </a:spcAft>
            </a:pPr>
            <a:endParaRPr lang="en-US" altLang="zh-CN" sz="2200" u="sng" dirty="0">
              <a:latin typeface="宋体" panose="02010600030101010101" pitchFamily="2" charset="-122"/>
              <a:ea typeface="宋体" panose="02010600030101010101" pitchFamily="2" charset="-122"/>
              <a:sym typeface="宋体" panose="02010600030101010101" pitchFamily="2" charset="-122"/>
            </a:endParaRPr>
          </a:p>
          <a:p>
            <a:pPr marL="457200" indent="-457200">
              <a:lnSpc>
                <a:spcPct val="100000"/>
              </a:lnSpc>
              <a:spcBef>
                <a:spcPts val="0"/>
              </a:spcBef>
              <a:spcAft>
                <a:spcPts val="0"/>
              </a:spcAft>
            </a:pPr>
            <a:endParaRPr lang="en-US" altLang="zh-CN" sz="2200" u="sng" dirty="0">
              <a:latin typeface="宋体" panose="02010600030101010101" pitchFamily="2" charset="-122"/>
              <a:ea typeface="宋体" panose="02010600030101010101" pitchFamily="2" charset="-122"/>
              <a:sym typeface="宋体" panose="02010600030101010101" pitchFamily="2" charset="-122"/>
            </a:endParaRPr>
          </a:p>
          <a:p>
            <a:pPr marL="457200" indent="-457200">
              <a:lnSpc>
                <a:spcPct val="100000"/>
              </a:lnSpc>
              <a:spcBef>
                <a:spcPts val="0"/>
              </a:spcBef>
              <a:spcAft>
                <a:spcPts val="0"/>
              </a:spcAft>
            </a:pPr>
            <a:r>
              <a:rPr lang="zh-CN" altLang="zh-CN" sz="2200" u="sng" dirty="0">
                <a:latin typeface="宋体" panose="02010600030101010101" pitchFamily="2" charset="-122"/>
                <a:ea typeface="宋体" panose="02010600030101010101" pitchFamily="2" charset="-122"/>
                <a:sym typeface="宋体" panose="02010600030101010101" pitchFamily="2" charset="-122"/>
              </a:rPr>
              <a:t>（</a:t>
            </a:r>
            <a:r>
              <a:rPr lang="en-US" altLang="zh-CN" sz="2200" u="sng" dirty="0">
                <a:latin typeface="宋体" panose="02010600030101010101" pitchFamily="2" charset="-122"/>
                <a:ea typeface="宋体" panose="02010600030101010101" pitchFamily="2" charset="-122"/>
                <a:sym typeface="宋体" panose="02010600030101010101" pitchFamily="2" charset="-122"/>
              </a:rPr>
              <a:t>2</a:t>
            </a:r>
            <a:r>
              <a:rPr lang="zh-CN" altLang="en-US" sz="2200" u="sng" dirty="0">
                <a:latin typeface="宋体" panose="02010600030101010101" pitchFamily="2" charset="-122"/>
                <a:ea typeface="宋体" panose="02010600030101010101" pitchFamily="2" charset="-122"/>
                <a:sym typeface="宋体" panose="02010600030101010101" pitchFamily="2" charset="-122"/>
              </a:rPr>
              <a:t>）将表</a:t>
            </a:r>
            <a:r>
              <a:rPr lang="en-US" altLang="zh-CN" sz="2200" u="sng" dirty="0">
                <a:latin typeface="宋体" panose="02010600030101010101" pitchFamily="2" charset="-122"/>
                <a:ea typeface="宋体" panose="02010600030101010101" pitchFamily="2" charset="-122"/>
                <a:sym typeface="宋体" panose="02010600030101010101" pitchFamily="2" charset="-122"/>
              </a:rPr>
              <a:t>C</a:t>
            </a:r>
            <a:r>
              <a:rPr lang="zh-CN" altLang="zh-CN" sz="2200" u="sng" dirty="0">
                <a:latin typeface="宋体" panose="02010600030101010101" pitchFamily="2" charset="-122"/>
                <a:ea typeface="宋体" panose="02010600030101010101" pitchFamily="2" charset="-122"/>
                <a:sym typeface="宋体" panose="02010600030101010101" pitchFamily="2" charset="-122"/>
              </a:rPr>
              <a:t>中</a:t>
            </a:r>
            <a:r>
              <a:rPr lang="en-US" altLang="zh-CN" sz="2200" u="sng" dirty="0">
                <a:latin typeface="宋体" panose="02010600030101010101" pitchFamily="2" charset="-122"/>
                <a:ea typeface="宋体" panose="02010600030101010101" pitchFamily="2" charset="-122"/>
                <a:sym typeface="宋体" panose="02010600030101010101" pitchFamily="2" charset="-122"/>
              </a:rPr>
              <a:t>‘</a:t>
            </a:r>
            <a:r>
              <a:rPr lang="zh-CN" altLang="en-US" sz="2200" u="sng" dirty="0">
                <a:latin typeface="宋体" panose="02010600030101010101" pitchFamily="2" charset="-122"/>
                <a:ea typeface="宋体" panose="02010600030101010101" pitchFamily="2" charset="-122"/>
                <a:sym typeface="宋体" panose="02010600030101010101" pitchFamily="2" charset="-122"/>
              </a:rPr>
              <a:t>数据库原理与设计</a:t>
            </a:r>
            <a:r>
              <a:rPr lang="en-US" altLang="zh-CN" sz="2200" u="sng" dirty="0">
                <a:latin typeface="宋体" panose="02010600030101010101" pitchFamily="2" charset="-122"/>
                <a:ea typeface="宋体" panose="02010600030101010101" pitchFamily="2" charset="-122"/>
                <a:sym typeface="宋体" panose="02010600030101010101" pitchFamily="2" charset="-122"/>
              </a:rPr>
              <a:t>’</a:t>
            </a:r>
            <a:r>
              <a:rPr lang="zh-CN" altLang="en-US" sz="2200" u="sng" dirty="0">
                <a:latin typeface="宋体" panose="02010600030101010101" pitchFamily="2" charset="-122"/>
                <a:ea typeface="宋体" panose="02010600030101010101" pitchFamily="2" charset="-122"/>
                <a:sym typeface="宋体" panose="02010600030101010101" pitchFamily="2" charset="-122"/>
              </a:rPr>
              <a:t>学分由</a:t>
            </a:r>
            <a:r>
              <a:rPr lang="en-US" altLang="zh-CN" sz="2200" u="sng" dirty="0">
                <a:latin typeface="宋体" panose="02010600030101010101" pitchFamily="2" charset="-122"/>
                <a:ea typeface="宋体" panose="02010600030101010101" pitchFamily="2" charset="-122"/>
                <a:sym typeface="宋体" panose="02010600030101010101" pitchFamily="2" charset="-122"/>
              </a:rPr>
              <a:t>4</a:t>
            </a:r>
            <a:r>
              <a:rPr lang="zh-CN" altLang="en-US" sz="2200" u="sng" dirty="0">
                <a:latin typeface="宋体" panose="02010600030101010101" pitchFamily="2" charset="-122"/>
                <a:ea typeface="宋体" panose="02010600030101010101" pitchFamily="2" charset="-122"/>
                <a:sym typeface="宋体" panose="02010600030101010101" pitchFamily="2" charset="-122"/>
              </a:rPr>
              <a:t>变为</a:t>
            </a:r>
            <a:r>
              <a:rPr lang="en-US" altLang="zh-CN" sz="2200" u="sng" dirty="0">
                <a:latin typeface="宋体" panose="02010600030101010101" pitchFamily="2" charset="-122"/>
                <a:ea typeface="宋体" panose="02010600030101010101" pitchFamily="2" charset="-122"/>
                <a:sym typeface="宋体" panose="02010600030101010101" pitchFamily="2" charset="-122"/>
              </a:rPr>
              <a:t>2</a:t>
            </a:r>
            <a:endParaRPr lang="en-US" altLang="zh-CN" sz="2200" u="sng" dirty="0">
              <a:latin typeface="宋体" panose="02010600030101010101" pitchFamily="2" charset="-122"/>
              <a:ea typeface="宋体" panose="02010600030101010101" pitchFamily="2" charset="-122"/>
              <a:sym typeface="宋体" panose="02010600030101010101" pitchFamily="2" charset="-122"/>
            </a:endParaRPr>
          </a:p>
          <a:p>
            <a:pPr marL="457200" indent="-457200">
              <a:lnSpc>
                <a:spcPct val="115000"/>
              </a:lnSpc>
              <a:spcBef>
                <a:spcPts val="0"/>
              </a:spcBef>
              <a:spcAft>
                <a:spcPts val="0"/>
              </a:spcAft>
            </a:pPr>
            <a:endParaRPr lang="en-US" altLang="zh-CN" sz="2200" u="sng" dirty="0">
              <a:latin typeface="宋体" panose="02010600030101010101" pitchFamily="2" charset="-122"/>
              <a:ea typeface="宋体" panose="02010600030101010101" pitchFamily="2" charset="-122"/>
              <a:sym typeface="宋体" panose="02010600030101010101" pitchFamily="2" charset="-122"/>
            </a:endParaRPr>
          </a:p>
          <a:p>
            <a:pPr marL="457200" indent="-457200">
              <a:lnSpc>
                <a:spcPct val="115000"/>
              </a:lnSpc>
              <a:spcBef>
                <a:spcPts val="0"/>
              </a:spcBef>
              <a:spcAft>
                <a:spcPts val="0"/>
              </a:spcAft>
            </a:pPr>
            <a:r>
              <a:rPr lang="zh-CN" altLang="en-US" sz="2200" u="sng" dirty="0">
                <a:latin typeface="宋体" panose="02010600030101010101" pitchFamily="2" charset="-122"/>
                <a:ea typeface="宋体" panose="02010600030101010101" pitchFamily="2" charset="-122"/>
                <a:sym typeface="宋体" panose="02010600030101010101" pitchFamily="2" charset="-122"/>
              </a:rPr>
              <a:t>（</a:t>
            </a:r>
            <a:r>
              <a:rPr lang="en-US" altLang="zh-CN" sz="2200" u="sng" dirty="0">
                <a:latin typeface="宋体" panose="02010600030101010101" pitchFamily="2" charset="-122"/>
                <a:ea typeface="宋体" panose="02010600030101010101" pitchFamily="2" charset="-122"/>
                <a:sym typeface="宋体" panose="02010600030101010101" pitchFamily="2" charset="-122"/>
              </a:rPr>
              <a:t>3</a:t>
            </a:r>
            <a:r>
              <a:rPr lang="zh-CN" altLang="en-US" sz="2200" u="sng" dirty="0">
                <a:latin typeface="宋体" panose="02010600030101010101" pitchFamily="2" charset="-122"/>
                <a:ea typeface="宋体" panose="02010600030101010101" pitchFamily="2" charset="-122"/>
                <a:sym typeface="宋体" panose="02010600030101010101" pitchFamily="2" charset="-122"/>
              </a:rPr>
              <a:t>）将学生名为</a:t>
            </a:r>
            <a:r>
              <a:rPr lang="en-US" altLang="zh-CN" sz="2200" u="sng" dirty="0">
                <a:latin typeface="宋体" panose="02010600030101010101" pitchFamily="2" charset="-122"/>
                <a:ea typeface="宋体" panose="02010600030101010101" pitchFamily="2" charset="-122"/>
                <a:sym typeface="宋体" panose="02010600030101010101" pitchFamily="2" charset="-122"/>
              </a:rPr>
              <a:t>'</a:t>
            </a:r>
            <a:r>
              <a:rPr lang="zh-CN" altLang="zh-CN" sz="2200" u="sng" dirty="0">
                <a:latin typeface="宋体" panose="02010600030101010101" pitchFamily="2" charset="-122"/>
                <a:ea typeface="宋体" panose="02010600030101010101" pitchFamily="2" charset="-122"/>
                <a:sym typeface="宋体" panose="02010600030101010101" pitchFamily="2" charset="-122"/>
              </a:rPr>
              <a:t>赵楠</a:t>
            </a:r>
            <a:r>
              <a:rPr lang="en-US" altLang="zh-CN" sz="2200" u="sng" dirty="0">
                <a:latin typeface="宋体" panose="02010600030101010101" pitchFamily="2" charset="-122"/>
                <a:ea typeface="宋体" panose="02010600030101010101" pitchFamily="2" charset="-122"/>
                <a:sym typeface="宋体" panose="02010600030101010101" pitchFamily="2" charset="-122"/>
              </a:rPr>
              <a:t>'</a:t>
            </a:r>
            <a:r>
              <a:rPr lang="zh-CN" altLang="zh-CN" sz="2200" u="sng" dirty="0">
                <a:latin typeface="宋体" panose="02010600030101010101" pitchFamily="2" charset="-122"/>
                <a:ea typeface="宋体" panose="02010600030101010101" pitchFamily="2" charset="-122"/>
                <a:sym typeface="宋体" panose="02010600030101010101" pitchFamily="2" charset="-122"/>
              </a:rPr>
              <a:t>的同学的每科成绩增加</a:t>
            </a:r>
            <a:r>
              <a:rPr lang="en-US" altLang="zh-CN" sz="2200" u="sng" dirty="0">
                <a:latin typeface="宋体" panose="02010600030101010101" pitchFamily="2" charset="-122"/>
                <a:ea typeface="宋体" panose="02010600030101010101" pitchFamily="2" charset="-122"/>
                <a:sym typeface="宋体" panose="02010600030101010101" pitchFamily="2" charset="-122"/>
              </a:rPr>
              <a:t>10%</a:t>
            </a:r>
            <a:r>
              <a:rPr lang="zh-CN" altLang="en-US" sz="2200" u="sng" dirty="0">
                <a:latin typeface="宋体" panose="02010600030101010101" pitchFamily="2" charset="-122"/>
                <a:ea typeface="宋体" panose="02010600030101010101" pitchFamily="2" charset="-122"/>
                <a:sym typeface="宋体" panose="02010600030101010101" pitchFamily="2" charset="-122"/>
              </a:rPr>
              <a:t> </a:t>
            </a:r>
            <a:endParaRPr lang="zh-CN" altLang="en-US" sz="2200" u="sng" dirty="0">
              <a:latin typeface="宋体" panose="02010600030101010101" pitchFamily="2" charset="-122"/>
              <a:ea typeface="宋体" panose="02010600030101010101" pitchFamily="2" charset="-122"/>
              <a:sym typeface="宋体" panose="02010600030101010101" pitchFamily="2" charset="-122"/>
            </a:endParaRPr>
          </a:p>
        </p:txBody>
      </p:sp>
      <p:sp>
        <p:nvSpPr>
          <p:cNvPr id="78853" name="矩形 3"/>
          <p:cNvSpPr/>
          <p:nvPr/>
        </p:nvSpPr>
        <p:spPr>
          <a:xfrm>
            <a:off x="542925" y="838200"/>
            <a:ext cx="4203700" cy="517525"/>
          </a:xfrm>
          <a:prstGeom prst="rect">
            <a:avLst/>
          </a:prstGeom>
          <a:noFill/>
          <a:ln w="9525">
            <a:noFill/>
          </a:ln>
        </p:spPr>
        <p:txBody>
          <a:bodyPr anchor="t" anchorCtr="0">
            <a:spAutoFit/>
          </a:bodyPr>
          <a:p>
            <a:pPr marL="457200" indent="-457200">
              <a:buFont typeface="Wingdings" panose="05000000000000000000" charset="0"/>
              <a:buChar char="p"/>
            </a:pPr>
            <a:r>
              <a:rPr lang="zh-CN" altLang="en-US" sz="2800" dirty="0">
                <a:solidFill>
                  <a:srgbClr val="0033CC"/>
                </a:solidFill>
                <a:latin typeface="黑体" panose="02010609060101010101" pitchFamily="1" charset="-122"/>
                <a:ea typeface="黑体" panose="02010609060101010101" pitchFamily="1" charset="-122"/>
              </a:rPr>
              <a:t>课堂练习</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12" name="文本框 11"/>
          <p:cNvSpPr txBox="1"/>
          <p:nvPr/>
        </p:nvSpPr>
        <p:spPr>
          <a:xfrm>
            <a:off x="107315" y="2933700"/>
            <a:ext cx="8918575" cy="39878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00000"/>
              </a:lnSpc>
              <a:spcBef>
                <a:spcPct val="0"/>
              </a:spcBef>
              <a:buClrTx/>
              <a:buSzTx/>
              <a:buFont typeface="Arial" panose="020B0604020202020204" pitchFamily="34" charset="0"/>
              <a:buNone/>
            </a:pPr>
            <a:r>
              <a:rPr lang="en-US" altLang="zh-CN" sz="1800" dirty="0">
                <a:solidFill>
                  <a:srgbClr val="0000FF"/>
                </a:solidFill>
                <a:sym typeface="+mn-ea"/>
              </a:rPr>
              <a:t> </a:t>
            </a:r>
            <a:r>
              <a:rPr lang="en-US" altLang="zh-CN" dirty="0">
                <a:solidFill>
                  <a:srgbClr val="0000FF"/>
                </a:solidFill>
                <a:sym typeface="+mn-ea"/>
              </a:rPr>
              <a:t>Insert into S(</a:t>
            </a:r>
            <a:r>
              <a:rPr lang="en-US" altLang="zh-CN" dirty="0">
                <a:solidFill>
                  <a:srgbClr val="0000FF"/>
                </a:solidFill>
                <a:sym typeface="+mn-ea"/>
              </a:rPr>
              <a:t>SID,SName,SGender,SAge) values(</a:t>
            </a:r>
            <a:r>
              <a:rPr lang="en-US" altLang="zh-CN" dirty="0">
                <a:solidFill>
                  <a:srgbClr val="0000FF"/>
                </a:solidFill>
                <a:sym typeface="宋体" panose="02010600030101010101" pitchFamily="2" charset="-122"/>
              </a:rPr>
              <a:t>'20150101','王恒','男',21)</a:t>
            </a:r>
            <a:endParaRPr lang="en-US" altLang="zh-CN" dirty="0">
              <a:solidFill>
                <a:srgbClr val="0000FF"/>
              </a:solidFill>
              <a:sym typeface="宋体" panose="02010600030101010101" pitchFamily="2" charset="-122"/>
            </a:endParaRPr>
          </a:p>
        </p:txBody>
      </p:sp>
      <p:sp>
        <p:nvSpPr>
          <p:cNvPr id="2" name="文本框 1"/>
          <p:cNvSpPr txBox="1"/>
          <p:nvPr/>
        </p:nvSpPr>
        <p:spPr>
          <a:xfrm>
            <a:off x="88265" y="3214370"/>
            <a:ext cx="8918575" cy="42989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ct val="0"/>
              </a:spcBef>
              <a:buClrTx/>
              <a:buSzTx/>
              <a:buFont typeface="Arial" panose="020B0604020202020204" pitchFamily="34" charset="0"/>
              <a:buNone/>
            </a:pPr>
            <a:r>
              <a:rPr lang="en-US" altLang="zh-CN" sz="1800" dirty="0">
                <a:solidFill>
                  <a:srgbClr val="0000FF"/>
                </a:solidFill>
                <a:sym typeface="+mn-ea"/>
              </a:rPr>
              <a:t> </a:t>
            </a:r>
            <a:r>
              <a:rPr lang="en-US" altLang="zh-CN" dirty="0">
                <a:solidFill>
                  <a:srgbClr val="0000FF"/>
                </a:solidFill>
                <a:sym typeface="+mn-ea"/>
              </a:rPr>
              <a:t>Insert into S(</a:t>
            </a:r>
            <a:r>
              <a:rPr lang="en-US" altLang="zh-CN" dirty="0">
                <a:solidFill>
                  <a:srgbClr val="0000FF"/>
                </a:solidFill>
                <a:sym typeface="+mn-ea"/>
              </a:rPr>
              <a:t>SID,SName,SGender,SAge) select </a:t>
            </a:r>
            <a:r>
              <a:rPr lang="en-US" altLang="zh-CN" dirty="0">
                <a:solidFill>
                  <a:srgbClr val="0000FF"/>
                </a:solidFill>
                <a:sym typeface="宋体" panose="02010600030101010101" pitchFamily="2" charset="-122"/>
              </a:rPr>
              <a:t>'20150101','王恒','男',21</a:t>
            </a:r>
            <a:endParaRPr lang="en-US" altLang="zh-CN" dirty="0">
              <a:solidFill>
                <a:srgbClr val="0000FF"/>
              </a:solidFill>
              <a:sym typeface="宋体" panose="02010600030101010101" pitchFamily="2" charset="-122"/>
            </a:endParaRPr>
          </a:p>
        </p:txBody>
      </p:sp>
      <p:sp>
        <p:nvSpPr>
          <p:cNvPr id="3" name="文本框 2"/>
          <p:cNvSpPr txBox="1"/>
          <p:nvPr/>
        </p:nvSpPr>
        <p:spPr>
          <a:xfrm>
            <a:off x="225425" y="3956050"/>
            <a:ext cx="8918575" cy="42989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ct val="0"/>
              </a:spcBef>
              <a:buClrTx/>
              <a:buSzTx/>
              <a:buFont typeface="Arial" panose="020B0604020202020204" pitchFamily="34" charset="0"/>
              <a:buNone/>
            </a:pPr>
            <a:r>
              <a:rPr lang="en-US" altLang="zh-CN" sz="1800" dirty="0">
                <a:solidFill>
                  <a:srgbClr val="0000FF"/>
                </a:solidFill>
                <a:sym typeface="+mn-ea"/>
              </a:rPr>
              <a:t> </a:t>
            </a:r>
            <a:r>
              <a:rPr lang="en-US" altLang="zh-CN" dirty="0">
                <a:solidFill>
                  <a:srgbClr val="0000FF"/>
                </a:solidFill>
                <a:sym typeface="+mn-ea"/>
              </a:rPr>
              <a:t>Update C set </a:t>
            </a:r>
            <a:r>
              <a:rPr lang="en-US" altLang="zh-CN" dirty="0">
                <a:solidFill>
                  <a:srgbClr val="0000FF"/>
                </a:solidFill>
                <a:sym typeface="+mn-ea"/>
              </a:rPr>
              <a:t>CRedit=2 where CName=</a:t>
            </a:r>
            <a:r>
              <a:rPr lang="en-US" altLang="zh-CN" dirty="0">
                <a:solidFill>
                  <a:srgbClr val="0000FF"/>
                </a:solidFill>
                <a:sym typeface="宋体" panose="02010600030101010101" pitchFamily="2" charset="-122"/>
              </a:rPr>
              <a:t>‘数据库原理与设计’and </a:t>
            </a:r>
            <a:r>
              <a:rPr lang="en-US" altLang="zh-CN" dirty="0">
                <a:solidFill>
                  <a:srgbClr val="0000FF"/>
                </a:solidFill>
                <a:sym typeface="+mn-ea"/>
              </a:rPr>
              <a:t>CRedit=4</a:t>
            </a:r>
            <a:r>
              <a:rPr lang="en-US" altLang="zh-CN" dirty="0">
                <a:solidFill>
                  <a:srgbClr val="0000FF"/>
                </a:solidFill>
                <a:sym typeface="宋体" panose="02010600030101010101" pitchFamily="2" charset="-122"/>
              </a:rPr>
              <a:t> </a:t>
            </a:r>
            <a:r>
              <a:rPr lang="en-US" altLang="zh-CN" dirty="0">
                <a:solidFill>
                  <a:srgbClr val="0000FF"/>
                </a:solidFill>
                <a:sym typeface="+mn-ea"/>
              </a:rPr>
              <a:t> </a:t>
            </a:r>
            <a:r>
              <a:rPr lang="en-US" altLang="zh-CN" dirty="0">
                <a:solidFill>
                  <a:srgbClr val="0000FF"/>
                </a:solidFill>
                <a:sym typeface="+mn-ea"/>
              </a:rPr>
              <a:t> </a:t>
            </a:r>
            <a:endParaRPr lang="en-US" altLang="zh-CN" dirty="0">
              <a:solidFill>
                <a:srgbClr val="0000FF"/>
              </a:solidFill>
              <a:sym typeface="宋体" panose="02010600030101010101" pitchFamily="2" charset="-122"/>
            </a:endParaRPr>
          </a:p>
        </p:txBody>
      </p:sp>
      <p:sp>
        <p:nvSpPr>
          <p:cNvPr id="4" name="文本框 3"/>
          <p:cNvSpPr txBox="1"/>
          <p:nvPr/>
        </p:nvSpPr>
        <p:spPr>
          <a:xfrm>
            <a:off x="278130" y="4820920"/>
            <a:ext cx="8918575" cy="144526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ct val="0"/>
              </a:spcBef>
              <a:buClrTx/>
              <a:buSzTx/>
              <a:buFont typeface="Arial" panose="020B0604020202020204" pitchFamily="34" charset="0"/>
              <a:buNone/>
            </a:pPr>
            <a:r>
              <a:rPr lang="en-US" altLang="zh-CN" dirty="0">
                <a:solidFill>
                  <a:srgbClr val="0000FF"/>
                </a:solidFill>
                <a:sym typeface="+mn-ea"/>
              </a:rPr>
              <a:t>Update SC set </a:t>
            </a:r>
            <a:r>
              <a:rPr lang="en-US" altLang="zh-CN" dirty="0">
                <a:solidFill>
                  <a:srgbClr val="0000FF"/>
                </a:solidFill>
                <a:sym typeface="+mn-ea"/>
              </a:rPr>
              <a:t>Score=Score*1.1 from SC,S</a:t>
            </a:r>
            <a:r>
              <a:rPr lang="en-US" altLang="zh-CN" dirty="0">
                <a:solidFill>
                  <a:srgbClr val="0000FF"/>
                </a:solidFill>
                <a:sym typeface="+mn-ea"/>
              </a:rPr>
              <a:t> where SName=</a:t>
            </a:r>
            <a:r>
              <a:rPr lang="en-US" altLang="zh-CN" dirty="0">
                <a:solidFill>
                  <a:srgbClr val="0000FF"/>
                </a:solidFill>
                <a:sym typeface="宋体" panose="02010600030101010101" pitchFamily="2" charset="-122"/>
              </a:rPr>
              <a:t>‘</a:t>
            </a:r>
            <a:r>
              <a:rPr lang="zh-CN" altLang="en-US" dirty="0">
                <a:solidFill>
                  <a:srgbClr val="0000FF"/>
                </a:solidFill>
                <a:sym typeface="宋体" panose="02010600030101010101" pitchFamily="2" charset="-122"/>
              </a:rPr>
              <a:t>赵楠</a:t>
            </a:r>
            <a:r>
              <a:rPr lang="en-US" altLang="zh-CN" dirty="0">
                <a:solidFill>
                  <a:srgbClr val="0000FF"/>
                </a:solidFill>
                <a:sym typeface="宋体" panose="02010600030101010101" pitchFamily="2" charset="-122"/>
              </a:rPr>
              <a:t>’ and </a:t>
            </a:r>
            <a:r>
              <a:rPr lang="en-US" altLang="zh-CN" dirty="0">
                <a:solidFill>
                  <a:srgbClr val="0000FF"/>
                </a:solidFill>
                <a:sym typeface="+mn-ea"/>
              </a:rPr>
              <a:t> SC.SID=S.SID</a:t>
            </a:r>
            <a:endParaRPr lang="en-US" altLang="zh-CN" dirty="0">
              <a:solidFill>
                <a:srgbClr val="0000FF"/>
              </a:solidFill>
              <a:sym typeface="+mn-ea"/>
            </a:endParaRPr>
          </a:p>
          <a:p>
            <a:pPr marL="0" lvl="0" indent="0" eaLnBrk="1" hangingPunct="1">
              <a:lnSpc>
                <a:spcPct val="110000"/>
              </a:lnSpc>
              <a:spcBef>
                <a:spcPct val="0"/>
              </a:spcBef>
              <a:buClrTx/>
              <a:buSzTx/>
              <a:buFont typeface="Arial" panose="020B0604020202020204" pitchFamily="34" charset="0"/>
              <a:buNone/>
            </a:pPr>
            <a:r>
              <a:rPr lang="en-US" altLang="zh-CN" dirty="0">
                <a:solidFill>
                  <a:srgbClr val="0000FF"/>
                </a:solidFill>
                <a:sym typeface="+mn-ea"/>
              </a:rPr>
              <a:t>Update SC set Score=Score*1.1 where SID in (select SID from S where SName=’</a:t>
            </a:r>
            <a:r>
              <a:rPr lang="zh-CN" altLang="en-US" dirty="0">
                <a:solidFill>
                  <a:srgbClr val="0000FF"/>
                </a:solidFill>
                <a:sym typeface="+mn-ea"/>
              </a:rPr>
              <a:t>赵楠</a:t>
            </a:r>
            <a:r>
              <a:rPr lang="en-US" altLang="zh-CN" dirty="0">
                <a:solidFill>
                  <a:srgbClr val="0000FF"/>
                </a:solidFill>
                <a:sym typeface="+mn-ea"/>
              </a:rPr>
              <a:t>’)</a:t>
            </a:r>
            <a:endParaRPr lang="en-US" altLang="zh-CN" dirty="0">
              <a:solidFill>
                <a:srgbClr val="0000FF"/>
              </a:solidFill>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ppt_x"/>
                                          </p:val>
                                        </p:tav>
                                        <p:tav tm="100000">
                                          <p:val>
                                            <p:strVal val="#ppt_x"/>
                                          </p:val>
                                        </p:tav>
                                      </p:tavLst>
                                    </p:anim>
                                    <p:anim calcmode="lin" valueType="num">
                                      <p:cBhvr additive="base">
                                        <p:cTn id="1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anim calcmode="lin" valueType="num">
                                      <p:cBhvr additive="base">
                                        <p:cTn id="23" dur="500" fill="hold"/>
                                        <p:tgtEl>
                                          <p:spTgt spid="4"/>
                                        </p:tgtEl>
                                        <p:attrNameLst>
                                          <p:attrName>ppt_x</p:attrName>
                                        </p:attrNameLst>
                                      </p:cBhvr>
                                      <p:tavLst>
                                        <p:tav tm="0">
                                          <p:val>
                                            <p:strVal val="#ppt_x"/>
                                          </p:val>
                                        </p:tav>
                                        <p:tav tm="100000">
                                          <p:val>
                                            <p:strVal val="#ppt_x"/>
                                          </p:val>
                                        </p:tav>
                                      </p:tavLst>
                                    </p:anim>
                                    <p:anim calcmode="lin" valueType="num">
                                      <p:cBhvr additive="base">
                                        <p:cTn id="2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2" grpId="0"/>
      <p:bldP spid="12" grpId="1"/>
      <p:bldP spid="2" grpId="1"/>
      <p:bldP spid="3" grpId="0"/>
      <p:bldP spid="3" grpId="1"/>
      <p:bldP spid="4" grpId="0"/>
      <p:bldP spid="4" grpId="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Text Box 3"/>
          <p:cNvSpPr txBox="1"/>
          <p:nvPr/>
        </p:nvSpPr>
        <p:spPr>
          <a:xfrm>
            <a:off x="604838" y="1379538"/>
            <a:ext cx="8074025" cy="4884737"/>
          </a:xfrm>
          <a:prstGeom prst="rect">
            <a:avLst/>
          </a:prstGeom>
          <a:noFill/>
          <a:ln w="9525">
            <a:noFill/>
          </a:ln>
        </p:spPr>
        <p:txBody>
          <a:bodyPr anchor="t" anchorCtr="0">
            <a:spAutoFit/>
          </a:bodyPr>
          <a:p>
            <a:pPr>
              <a:lnSpc>
                <a:spcPct val="120000"/>
              </a:lnSpc>
              <a:spcBef>
                <a:spcPts val="600"/>
              </a:spcBef>
              <a:buFont typeface="Wingdings" panose="05000000000000000000" pitchFamily="2" charset="2"/>
              <a:buChar char="p"/>
            </a:pPr>
            <a:r>
              <a:rPr lang="zh-CN" altLang="en-US" sz="2800" dirty="0">
                <a:solidFill>
                  <a:srgbClr val="0033CC"/>
                </a:solidFill>
                <a:latin typeface="华文楷体" panose="02010600040101010101" pitchFamily="2" charset="-122"/>
                <a:ea typeface="华文楷体" panose="02010600040101010101" pitchFamily="2" charset="-122"/>
              </a:rPr>
              <a:t>数据删除命令的语法</a:t>
            </a:r>
            <a:endParaRPr lang="zh-CN" altLang="en-US" sz="2800" dirty="0">
              <a:solidFill>
                <a:srgbClr val="0033CC"/>
              </a:solidFill>
              <a:latin typeface="华文楷体" panose="02010600040101010101" pitchFamily="2" charset="-122"/>
              <a:ea typeface="华文楷体" panose="02010600040101010101" pitchFamily="2" charset="-122"/>
            </a:endParaRPr>
          </a:p>
          <a:p>
            <a:r>
              <a:rPr lang="zh-CN" altLang="en-US" sz="2600" dirty="0">
                <a:latin typeface="华文楷体" panose="02010600040101010101" pitchFamily="2" charset="-122"/>
                <a:ea typeface="华文楷体" panose="02010600040101010101" pitchFamily="2" charset="-122"/>
              </a:rPr>
              <a:t> </a:t>
            </a:r>
            <a:r>
              <a:rPr lang="en-US" altLang="zh-CN" sz="2600" dirty="0">
                <a:solidFill>
                  <a:srgbClr val="006600"/>
                </a:solidFill>
                <a:latin typeface="华文楷体" panose="02010600040101010101" pitchFamily="2" charset="-122"/>
                <a:ea typeface="华文楷体" panose="02010600040101010101" pitchFamily="2" charset="-122"/>
              </a:rPr>
              <a:t>DELETE</a:t>
            </a:r>
            <a:r>
              <a:rPr lang="en-US" altLang="zh-CN" sz="2600" dirty="0">
                <a:latin typeface="华文楷体" panose="02010600040101010101" pitchFamily="2" charset="-122"/>
                <a:ea typeface="华文楷体" panose="02010600040101010101" pitchFamily="2" charset="-122"/>
              </a:rPr>
              <a:t> [</a:t>
            </a:r>
            <a:r>
              <a:rPr lang="en-US" altLang="zh-CN" sz="2600" dirty="0">
                <a:solidFill>
                  <a:srgbClr val="006600"/>
                </a:solidFill>
                <a:latin typeface="华文楷体" panose="02010600040101010101" pitchFamily="2" charset="-122"/>
                <a:ea typeface="华文楷体" panose="02010600040101010101" pitchFamily="2" charset="-122"/>
              </a:rPr>
              <a:t>FROM</a:t>
            </a:r>
            <a:r>
              <a:rPr lang="en-US" altLang="zh-CN" sz="2600" dirty="0">
                <a:latin typeface="华文楷体" panose="02010600040101010101" pitchFamily="2" charset="-122"/>
                <a:ea typeface="华文楷体" panose="02010600040101010101" pitchFamily="2" charset="-122"/>
              </a:rPr>
              <a:t>]{</a:t>
            </a:r>
            <a:r>
              <a:rPr lang="zh-CN" altLang="en-US" sz="2600" dirty="0">
                <a:latin typeface="华文楷体" panose="02010600040101010101" pitchFamily="2" charset="-122"/>
                <a:ea typeface="华文楷体" panose="02010600040101010101" pitchFamily="2" charset="-122"/>
              </a:rPr>
              <a:t>表名 </a:t>
            </a:r>
            <a:r>
              <a:rPr lang="en-US" altLang="zh-CN" sz="2600" dirty="0">
                <a:latin typeface="华文楷体" panose="02010600040101010101" pitchFamily="2" charset="-122"/>
                <a:ea typeface="华文楷体" panose="02010600040101010101" pitchFamily="2" charset="-122"/>
              </a:rPr>
              <a:t>[WITH (&lt;</a:t>
            </a:r>
            <a:r>
              <a:rPr lang="zh-CN" altLang="en-US" sz="2600" dirty="0">
                <a:latin typeface="华文楷体" panose="02010600040101010101" pitchFamily="2" charset="-122"/>
                <a:ea typeface="华文楷体" panose="02010600040101010101" pitchFamily="2" charset="-122"/>
              </a:rPr>
              <a:t>表更新选项</a:t>
            </a:r>
            <a:r>
              <a:rPr lang="en-US" altLang="zh-CN" sz="2600" dirty="0">
                <a:latin typeface="华文楷体" panose="02010600040101010101" pitchFamily="2" charset="-122"/>
                <a:ea typeface="华文楷体" panose="02010600040101010101" pitchFamily="2" charset="-122"/>
              </a:rPr>
              <a:t>&gt;[ ...n ] )] </a:t>
            </a:r>
            <a:br>
              <a:rPr lang="en-US" altLang="zh-CN" sz="2600" dirty="0">
                <a:latin typeface="华文楷体" panose="02010600040101010101" pitchFamily="2" charset="-122"/>
                <a:ea typeface="华文楷体" panose="02010600040101010101" pitchFamily="2" charset="-122"/>
              </a:rPr>
            </a:br>
            <a:r>
              <a:rPr lang="en-US" altLang="zh-CN" sz="2600" dirty="0">
                <a:latin typeface="华文楷体" panose="02010600040101010101" pitchFamily="2" charset="-122"/>
                <a:ea typeface="华文楷体" panose="02010600040101010101" pitchFamily="2" charset="-122"/>
              </a:rPr>
              <a:t>              | </a:t>
            </a:r>
            <a:r>
              <a:rPr lang="zh-CN" altLang="en-US" sz="2600" dirty="0">
                <a:latin typeface="华文楷体" panose="02010600040101010101" pitchFamily="2" charset="-122"/>
                <a:ea typeface="华文楷体" panose="02010600040101010101" pitchFamily="2" charset="-122"/>
              </a:rPr>
              <a:t>视图名 </a:t>
            </a:r>
            <a:r>
              <a:rPr lang="en-US" altLang="zh-CN" sz="2600" dirty="0">
                <a:latin typeface="华文楷体" panose="02010600040101010101" pitchFamily="2" charset="-122"/>
                <a:ea typeface="华文楷体" panose="02010600040101010101" pitchFamily="2" charset="-122"/>
              </a:rPr>
              <a:t>} </a:t>
            </a:r>
            <a:br>
              <a:rPr lang="en-US" altLang="zh-CN" sz="2600" dirty="0">
                <a:latin typeface="华文楷体" panose="02010600040101010101" pitchFamily="2" charset="-122"/>
                <a:ea typeface="华文楷体" panose="02010600040101010101" pitchFamily="2" charset="-122"/>
              </a:rPr>
            </a:br>
            <a:r>
              <a:rPr lang="en-US" altLang="zh-CN" sz="2600" dirty="0">
                <a:latin typeface="华文楷体" panose="02010600040101010101" pitchFamily="2" charset="-122"/>
                <a:ea typeface="华文楷体" panose="02010600040101010101" pitchFamily="2" charset="-122"/>
              </a:rPr>
              <a:t> [</a:t>
            </a:r>
            <a:r>
              <a:rPr lang="en-US" altLang="zh-CN" sz="2600" dirty="0">
                <a:solidFill>
                  <a:srgbClr val="006600"/>
                </a:solidFill>
                <a:latin typeface="华文楷体" panose="02010600040101010101" pitchFamily="2" charset="-122"/>
                <a:ea typeface="华文楷体" panose="02010600040101010101" pitchFamily="2" charset="-122"/>
              </a:rPr>
              <a:t>FROM</a:t>
            </a:r>
            <a:r>
              <a:rPr lang="en-US" altLang="zh-CN" sz="2600" dirty="0">
                <a:latin typeface="华文楷体" panose="02010600040101010101" pitchFamily="2" charset="-122"/>
                <a:ea typeface="华文楷体" panose="02010600040101010101" pitchFamily="2" charset="-122"/>
              </a:rPr>
              <a:t> { &lt; </a:t>
            </a:r>
            <a:r>
              <a:rPr lang="zh-CN" altLang="en-US" sz="2600" dirty="0">
                <a:latin typeface="华文楷体" panose="02010600040101010101" pitchFamily="2" charset="-122"/>
                <a:ea typeface="华文楷体" panose="02010600040101010101" pitchFamily="2" charset="-122"/>
              </a:rPr>
              <a:t>源表 </a:t>
            </a:r>
            <a:r>
              <a:rPr lang="en-US" altLang="zh-CN" sz="2600" dirty="0">
                <a:latin typeface="华文楷体" panose="02010600040101010101" pitchFamily="2" charset="-122"/>
                <a:ea typeface="华文楷体" panose="02010600040101010101" pitchFamily="2" charset="-122"/>
              </a:rPr>
              <a:t>&gt; } [ ,...n ] ] </a:t>
            </a:r>
            <a:endParaRPr lang="en-US" altLang="zh-CN" sz="2600" dirty="0">
              <a:latin typeface="华文楷体" panose="02010600040101010101" pitchFamily="2" charset="-122"/>
              <a:ea typeface="华文楷体" panose="02010600040101010101" pitchFamily="2" charset="-122"/>
            </a:endParaRPr>
          </a:p>
          <a:p>
            <a:pPr>
              <a:spcBef>
                <a:spcPts val="600"/>
              </a:spcBef>
            </a:pPr>
            <a:r>
              <a:rPr lang="en-US" altLang="zh-CN" sz="2600" dirty="0">
                <a:latin typeface="华文楷体" panose="02010600040101010101" pitchFamily="2" charset="-122"/>
                <a:ea typeface="华文楷体" panose="02010600040101010101" pitchFamily="2" charset="-122"/>
              </a:rPr>
              <a:t> [</a:t>
            </a:r>
            <a:r>
              <a:rPr lang="en-US" altLang="zh-CN" sz="2600" dirty="0">
                <a:solidFill>
                  <a:srgbClr val="006600"/>
                </a:solidFill>
                <a:latin typeface="华文楷体" panose="02010600040101010101" pitchFamily="2" charset="-122"/>
                <a:ea typeface="华文楷体" panose="02010600040101010101" pitchFamily="2" charset="-122"/>
              </a:rPr>
              <a:t>WHERE</a:t>
            </a:r>
            <a:r>
              <a:rPr lang="en-US" altLang="zh-CN" sz="2600" dirty="0">
                <a:latin typeface="华文楷体" panose="02010600040101010101" pitchFamily="2" charset="-122"/>
                <a:ea typeface="华文楷体" panose="02010600040101010101" pitchFamily="2" charset="-122"/>
              </a:rPr>
              <a:t> { &lt; </a:t>
            </a:r>
            <a:r>
              <a:rPr lang="zh-CN" altLang="en-US" sz="2600" dirty="0">
                <a:latin typeface="华文楷体" panose="02010600040101010101" pitchFamily="2" charset="-122"/>
                <a:ea typeface="华文楷体" panose="02010600040101010101" pitchFamily="2" charset="-122"/>
              </a:rPr>
              <a:t>条件表达式 </a:t>
            </a:r>
            <a:r>
              <a:rPr lang="en-US" altLang="zh-CN" sz="2600" dirty="0">
                <a:latin typeface="华文楷体" panose="02010600040101010101" pitchFamily="2" charset="-122"/>
                <a:ea typeface="华文楷体" panose="02010600040101010101" pitchFamily="2" charset="-122"/>
              </a:rPr>
              <a:t>&gt; } ] </a:t>
            </a:r>
            <a:endParaRPr lang="en-US" altLang="zh-CN" sz="2600" dirty="0">
              <a:latin typeface="华文楷体" panose="02010600040101010101" pitchFamily="2" charset="-122"/>
              <a:ea typeface="华文楷体" panose="02010600040101010101" pitchFamily="2" charset="-122"/>
            </a:endParaRPr>
          </a:p>
          <a:p>
            <a:pPr>
              <a:lnSpc>
                <a:spcPct val="110000"/>
              </a:lnSpc>
              <a:spcBef>
                <a:spcPts val="300"/>
              </a:spcBef>
              <a:buFont typeface="Wingdings" panose="05000000000000000000" pitchFamily="2" charset="2"/>
              <a:buChar char="ü"/>
            </a:pPr>
            <a:r>
              <a:rPr lang="zh-CN" altLang="en-US" sz="2400" dirty="0">
                <a:latin typeface="华文楷体" panose="02010600040101010101" pitchFamily="2" charset="-122"/>
                <a:ea typeface="华文楷体" panose="02010600040101010101" pitchFamily="2" charset="-122"/>
              </a:rPr>
              <a:t>执行时，首先从表中找到所有满足条件的元组，然后删除。</a:t>
            </a:r>
            <a:endParaRPr lang="zh-CN" altLang="en-US" sz="2400" dirty="0">
              <a:latin typeface="华文楷体" panose="02010600040101010101" pitchFamily="2" charset="-122"/>
              <a:ea typeface="华文楷体" panose="02010600040101010101" pitchFamily="2" charset="-122"/>
            </a:endParaRPr>
          </a:p>
          <a:p>
            <a:pPr>
              <a:lnSpc>
                <a:spcPct val="110000"/>
              </a:lnSpc>
              <a:spcBef>
                <a:spcPts val="300"/>
              </a:spcBef>
              <a:buFont typeface="Wingdings" panose="05000000000000000000" pitchFamily="2" charset="2"/>
              <a:buChar char="ü"/>
            </a:pPr>
            <a:r>
              <a:rPr lang="en-US" altLang="zh-CN" sz="2400" dirty="0">
                <a:latin typeface="华文楷体" panose="02010600040101010101" pitchFamily="2" charset="-122"/>
                <a:ea typeface="华文楷体" panose="02010600040101010101" pitchFamily="2" charset="-122"/>
              </a:rPr>
              <a:t>DELETE </a:t>
            </a:r>
            <a:r>
              <a:rPr lang="zh-CN" altLang="en-US" sz="2400" dirty="0">
                <a:latin typeface="华文楷体" panose="02010600040101010101" pitchFamily="2" charset="-122"/>
                <a:ea typeface="华文楷体" panose="02010600040101010101" pitchFamily="2" charset="-122"/>
              </a:rPr>
              <a:t>语句只能从一个基本表中删除元组。如果想从多个基本表中删除元组，就必须为每一个基本表写一条</a:t>
            </a:r>
            <a:r>
              <a:rPr lang="en-US" altLang="zh-CN" sz="2400" dirty="0">
                <a:latin typeface="华文楷体" panose="02010600040101010101" pitchFamily="2" charset="-122"/>
                <a:ea typeface="华文楷体" panose="02010600040101010101" pitchFamily="2" charset="-122"/>
              </a:rPr>
              <a:t>DELETE</a:t>
            </a:r>
            <a:r>
              <a:rPr lang="zh-CN" altLang="en-US" sz="2400" dirty="0">
                <a:latin typeface="华文楷体" panose="02010600040101010101" pitchFamily="2" charset="-122"/>
                <a:ea typeface="华文楷体" panose="02010600040101010101" pitchFamily="2" charset="-122"/>
              </a:rPr>
              <a:t>语句。</a:t>
            </a:r>
            <a:endParaRPr lang="zh-CN" altLang="en-US" sz="2400" dirty="0">
              <a:latin typeface="华文楷体" panose="02010600040101010101" pitchFamily="2" charset="-122"/>
              <a:ea typeface="华文楷体" panose="02010600040101010101" pitchFamily="2" charset="-122"/>
            </a:endParaRPr>
          </a:p>
          <a:p>
            <a:pPr>
              <a:lnSpc>
                <a:spcPct val="110000"/>
              </a:lnSpc>
              <a:spcBef>
                <a:spcPts val="300"/>
              </a:spcBef>
              <a:buFont typeface="Wingdings" panose="05000000000000000000" pitchFamily="2" charset="2"/>
              <a:buChar char="ü"/>
            </a:pPr>
            <a:r>
              <a:rPr lang="zh-CN" altLang="en-US" sz="2400" dirty="0">
                <a:latin typeface="华文楷体" panose="02010600040101010101" pitchFamily="2" charset="-122"/>
                <a:ea typeface="华文楷体" panose="02010600040101010101" pitchFamily="2" charset="-122"/>
              </a:rPr>
              <a:t>如果省略</a:t>
            </a:r>
            <a:r>
              <a:rPr lang="en-US" altLang="zh-CN" sz="2400" dirty="0">
                <a:latin typeface="华文楷体" panose="02010600040101010101" pitchFamily="2" charset="-122"/>
                <a:ea typeface="华文楷体" panose="02010600040101010101" pitchFamily="2" charset="-122"/>
              </a:rPr>
              <a:t>WHERE</a:t>
            </a:r>
            <a:r>
              <a:rPr lang="zh-CN" altLang="en-US" sz="2400" dirty="0">
                <a:latin typeface="华文楷体" panose="02010600040101010101" pitchFamily="2" charset="-122"/>
                <a:ea typeface="华文楷体" panose="02010600040101010101" pitchFamily="2" charset="-122"/>
              </a:rPr>
              <a:t>子句，则基本表中所有元组被删除，要慎重。</a:t>
            </a:r>
            <a:endParaRPr lang="zh-CN" altLang="en-US" sz="2400" dirty="0">
              <a:latin typeface="华文楷体" panose="02010600040101010101" pitchFamily="2" charset="-122"/>
              <a:ea typeface="华文楷体" panose="02010600040101010101" pitchFamily="2" charset="-122"/>
            </a:endParaRPr>
          </a:p>
        </p:txBody>
      </p:sp>
      <p:sp>
        <p:nvSpPr>
          <p:cNvPr id="75778"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三、数据库操纵子语言及其操作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75779" name="矩形 3"/>
          <p:cNvSpPr/>
          <p:nvPr/>
        </p:nvSpPr>
        <p:spPr>
          <a:xfrm>
            <a:off x="542925" y="838200"/>
            <a:ext cx="4203700" cy="522288"/>
          </a:xfrm>
          <a:prstGeom prst="rect">
            <a:avLst/>
          </a:prstGeom>
          <a:noFill/>
          <a:ln w="9525">
            <a:noFill/>
          </a:ln>
        </p:spPr>
        <p:txBody>
          <a:bodyPr anchor="t" anchorCtr="0">
            <a:spAutoFit/>
          </a:bodyPr>
          <a:p>
            <a:r>
              <a:rPr lang="en-US" altLang="zh-CN" sz="2800" dirty="0">
                <a:solidFill>
                  <a:srgbClr val="0033CC"/>
                </a:solidFill>
                <a:latin typeface="黑体" panose="02010609060101010101" pitchFamily="1" charset="-122"/>
                <a:ea typeface="黑体" panose="02010609060101010101" pitchFamily="1" charset="-122"/>
              </a:rPr>
              <a:t>5.</a:t>
            </a:r>
            <a:r>
              <a:rPr lang="zh-CN" altLang="en-US" sz="2800" dirty="0">
                <a:solidFill>
                  <a:srgbClr val="0033CC"/>
                </a:solidFill>
                <a:latin typeface="黑体" panose="02010609060101010101" pitchFamily="1" charset="-122"/>
                <a:ea typeface="黑体" panose="02010609060101010101" pitchFamily="1" charset="-122"/>
              </a:rPr>
              <a:t> 数据删除</a:t>
            </a:r>
            <a:r>
              <a:rPr lang="en-US" altLang="zh-CN" sz="2800" dirty="0">
                <a:solidFill>
                  <a:srgbClr val="0033CC"/>
                </a:solidFill>
                <a:latin typeface="黑体" panose="02010609060101010101" pitchFamily="1" charset="-122"/>
                <a:ea typeface="黑体" panose="02010609060101010101" pitchFamily="1" charset="-122"/>
              </a:rPr>
              <a:t>(Delete)</a:t>
            </a:r>
            <a:endParaRPr lang="zh-CN" altLang="en-US" sz="2800" dirty="0">
              <a:solidFill>
                <a:srgbClr val="0033CC"/>
              </a:solidFill>
              <a:latin typeface="黑体" panose="02010609060101010101" pitchFamily="1" charset="-122"/>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3250"/>
                                        </p:tgtEl>
                                        <p:attrNameLst>
                                          <p:attrName>style.visibility</p:attrName>
                                        </p:attrNameLst>
                                      </p:cBhvr>
                                      <p:to>
                                        <p:strVal val="visible"/>
                                      </p:to>
                                    </p:set>
                                    <p:animEffect transition="in" filter="box(in)">
                                      <p:cBhvr>
                                        <p:cTn id="7" dur="500"/>
                                        <p:tgtEl>
                                          <p:spTgt spid="532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0"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1"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三、数据库操纵子语言及其操作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76802" name="矩形 2"/>
          <p:cNvSpPr/>
          <p:nvPr/>
        </p:nvSpPr>
        <p:spPr>
          <a:xfrm>
            <a:off x="542925" y="838200"/>
            <a:ext cx="4203700" cy="522288"/>
          </a:xfrm>
          <a:prstGeom prst="rect">
            <a:avLst/>
          </a:prstGeom>
          <a:noFill/>
          <a:ln w="9525">
            <a:noFill/>
          </a:ln>
        </p:spPr>
        <p:txBody>
          <a:bodyPr anchor="t" anchorCtr="0">
            <a:spAutoFit/>
          </a:bodyPr>
          <a:p>
            <a:r>
              <a:rPr lang="en-US" altLang="zh-CN" sz="2800" dirty="0">
                <a:solidFill>
                  <a:srgbClr val="0033CC"/>
                </a:solidFill>
                <a:latin typeface="黑体" panose="02010609060101010101" pitchFamily="1" charset="-122"/>
                <a:ea typeface="黑体" panose="02010609060101010101" pitchFamily="1" charset="-122"/>
              </a:rPr>
              <a:t>5.</a:t>
            </a:r>
            <a:r>
              <a:rPr lang="zh-CN" altLang="en-US" sz="2800" dirty="0">
                <a:solidFill>
                  <a:srgbClr val="0033CC"/>
                </a:solidFill>
                <a:latin typeface="黑体" panose="02010609060101010101" pitchFamily="1" charset="-122"/>
                <a:ea typeface="黑体" panose="02010609060101010101" pitchFamily="1" charset="-122"/>
              </a:rPr>
              <a:t> 数据删除</a:t>
            </a:r>
            <a:r>
              <a:rPr lang="en-US" altLang="zh-CN" sz="2800" dirty="0">
                <a:solidFill>
                  <a:srgbClr val="0033CC"/>
                </a:solidFill>
                <a:latin typeface="黑体" panose="02010609060101010101" pitchFamily="1" charset="-122"/>
                <a:ea typeface="黑体" panose="02010609060101010101" pitchFamily="1" charset="-122"/>
              </a:rPr>
              <a:t>(Delete)</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54276" name="Text Box 2"/>
          <p:cNvSpPr txBox="1"/>
          <p:nvPr/>
        </p:nvSpPr>
        <p:spPr>
          <a:xfrm>
            <a:off x="569913" y="1957388"/>
            <a:ext cx="8245475" cy="425450"/>
          </a:xfrm>
          <a:prstGeom prst="rect">
            <a:avLst/>
          </a:prstGeom>
          <a:noFill/>
          <a:ln w="9525">
            <a:noFill/>
          </a:ln>
        </p:spPr>
        <p:txBody>
          <a:bodyPr anchor="t" anchorCtr="0">
            <a:spAutoFit/>
          </a:bodyPr>
          <a:p>
            <a:pPr lvl="1" indent="-457200" eaLnBrk="1" hangingPunct="1">
              <a:lnSpc>
                <a:spcPct val="90000"/>
              </a:lnSpc>
            </a:pPr>
            <a:r>
              <a:rPr lang="zh-CN" altLang="en-US" sz="2400" u="sng" dirty="0">
                <a:solidFill>
                  <a:srgbClr val="FF0000"/>
                </a:solidFill>
                <a:latin typeface="华文楷体" panose="02010600040101010101" pitchFamily="2" charset="-122"/>
                <a:ea typeface="宋体" panose="02010600030101010101" pitchFamily="2" charset="-122"/>
              </a:rPr>
              <a:t>例</a:t>
            </a:r>
            <a:r>
              <a:rPr lang="en-US" altLang="zh-CN" sz="2400" u="sng" dirty="0">
                <a:solidFill>
                  <a:srgbClr val="FF0000"/>
                </a:solidFill>
                <a:latin typeface="华文楷体" panose="02010600040101010101" pitchFamily="2" charset="-122"/>
                <a:ea typeface="宋体" panose="02010600030101010101" pitchFamily="2" charset="-122"/>
              </a:rPr>
              <a:t>1</a:t>
            </a:r>
            <a:r>
              <a:rPr lang="zh-CN" altLang="en-US" sz="2400" u="sng" dirty="0">
                <a:solidFill>
                  <a:srgbClr val="FF0000"/>
                </a:solidFill>
                <a:latin typeface="华文楷体" panose="02010600040101010101" pitchFamily="2" charset="-122"/>
                <a:ea typeface="宋体" panose="02010600030101010101" pitchFamily="2" charset="-122"/>
              </a:rPr>
              <a:t>：把课程名为</a:t>
            </a:r>
            <a:r>
              <a:rPr lang="en-US" altLang="zh-CN" sz="2400" u="sng" dirty="0">
                <a:solidFill>
                  <a:srgbClr val="FF0000"/>
                </a:solidFill>
                <a:latin typeface="华文楷体" panose="02010600040101010101" pitchFamily="2" charset="-122"/>
                <a:ea typeface="宋体" panose="02010600030101010101" pitchFamily="2" charset="-122"/>
              </a:rPr>
              <a:t>MATHS</a:t>
            </a:r>
            <a:r>
              <a:rPr lang="zh-CN" altLang="en-US" sz="2400" u="sng" dirty="0">
                <a:solidFill>
                  <a:srgbClr val="FF0000"/>
                </a:solidFill>
                <a:latin typeface="华文楷体" panose="02010600040101010101" pitchFamily="2" charset="-122"/>
                <a:ea typeface="宋体" panose="02010600030101010101" pitchFamily="2" charset="-122"/>
              </a:rPr>
              <a:t>的选课记录从</a:t>
            </a:r>
            <a:r>
              <a:rPr lang="en-US" altLang="zh-CN" sz="2400" u="sng" dirty="0">
                <a:solidFill>
                  <a:srgbClr val="FF0000"/>
                </a:solidFill>
                <a:latin typeface="华文楷体" panose="02010600040101010101" pitchFamily="2" charset="-122"/>
                <a:ea typeface="宋体" panose="02010600030101010101" pitchFamily="2" charset="-122"/>
              </a:rPr>
              <a:t>SC</a:t>
            </a:r>
            <a:r>
              <a:rPr lang="zh-CN" altLang="en-US" sz="2400" u="sng" dirty="0">
                <a:solidFill>
                  <a:srgbClr val="FF0000"/>
                </a:solidFill>
                <a:latin typeface="华文楷体" panose="02010600040101010101" pitchFamily="2" charset="-122"/>
                <a:ea typeface="宋体" panose="02010600030101010101" pitchFamily="2" charset="-122"/>
              </a:rPr>
              <a:t>中删除。</a:t>
            </a:r>
            <a:endParaRPr lang="zh-CN" altLang="en-US" sz="2400" u="sng" dirty="0">
              <a:solidFill>
                <a:srgbClr val="FF0000"/>
              </a:solidFill>
              <a:latin typeface="华文楷体" panose="02010600040101010101" pitchFamily="2" charset="-122"/>
              <a:ea typeface="宋体" panose="02010600030101010101" pitchFamily="2" charset="-122"/>
            </a:endParaRPr>
          </a:p>
        </p:txBody>
      </p:sp>
      <p:sp>
        <p:nvSpPr>
          <p:cNvPr id="76804" name="Text Box 4"/>
          <p:cNvSpPr txBox="1"/>
          <p:nvPr/>
        </p:nvSpPr>
        <p:spPr>
          <a:xfrm>
            <a:off x="396875" y="1325563"/>
            <a:ext cx="5089525" cy="631825"/>
          </a:xfrm>
          <a:prstGeom prst="rect">
            <a:avLst/>
          </a:prstGeom>
          <a:noFill/>
          <a:ln w="9525">
            <a:noFill/>
          </a:ln>
        </p:spPr>
        <p:txBody>
          <a:bodyPr anchor="t" anchorCtr="0">
            <a:spAutoFit/>
          </a:bodyPr>
          <a:p>
            <a:pPr marL="457200" indent="-457200">
              <a:lnSpc>
                <a:spcPct val="135000"/>
              </a:lnSpc>
            </a:pPr>
            <a:r>
              <a:rPr lang="zh-CN" altLang="en-US" sz="2600" dirty="0">
                <a:latin typeface="宋体" panose="02010600030101010101" pitchFamily="2" charset="-122"/>
                <a:ea typeface="宋体" panose="02010600030101010101" pitchFamily="2" charset="-122"/>
              </a:rPr>
              <a:t>（</a:t>
            </a:r>
            <a:r>
              <a:rPr lang="en-US" altLang="zh-CN" sz="2600" dirty="0">
                <a:latin typeface="宋体" panose="02010600030101010101" pitchFamily="2" charset="-122"/>
                <a:ea typeface="宋体" panose="02010600030101010101" pitchFamily="2" charset="-122"/>
              </a:rPr>
              <a:t>1</a:t>
            </a:r>
            <a:r>
              <a:rPr lang="zh-CN" altLang="en-US" sz="2600" dirty="0">
                <a:latin typeface="宋体" panose="02010600030101010101" pitchFamily="2" charset="-122"/>
                <a:ea typeface="宋体" panose="02010600030101010101" pitchFamily="2" charset="-122"/>
              </a:rPr>
              <a:t>）单表数据删除</a:t>
            </a:r>
            <a:endParaRPr lang="en-US" altLang="zh-CN" sz="2600" dirty="0">
              <a:latin typeface="宋体" panose="02010600030101010101" pitchFamily="2" charset="-122"/>
              <a:ea typeface="宋体" panose="02010600030101010101" pitchFamily="2" charset="-122"/>
            </a:endParaRPr>
          </a:p>
        </p:txBody>
      </p:sp>
      <p:sp>
        <p:nvSpPr>
          <p:cNvPr id="54278" name="Text Box 2"/>
          <p:cNvSpPr txBox="1"/>
          <p:nvPr/>
        </p:nvSpPr>
        <p:spPr>
          <a:xfrm>
            <a:off x="519113" y="3854450"/>
            <a:ext cx="8245475" cy="757238"/>
          </a:xfrm>
          <a:prstGeom prst="rect">
            <a:avLst/>
          </a:prstGeom>
          <a:noFill/>
          <a:ln w="9525">
            <a:noFill/>
          </a:ln>
        </p:spPr>
        <p:txBody>
          <a:bodyPr anchor="t" anchorCtr="0">
            <a:spAutoFit/>
          </a:bodyPr>
          <a:p>
            <a:pPr lvl="1" indent="-457200" eaLnBrk="1" hangingPunct="1">
              <a:lnSpc>
                <a:spcPct val="90000"/>
              </a:lnSpc>
            </a:pPr>
            <a:r>
              <a:rPr lang="zh-CN" altLang="en-US" sz="2400" u="sng" dirty="0">
                <a:solidFill>
                  <a:srgbClr val="FF0000"/>
                </a:solidFill>
                <a:latin typeface="华文楷体" panose="02010600040101010101" pitchFamily="2" charset="-122"/>
                <a:ea typeface="宋体" panose="02010600030101010101" pitchFamily="2" charset="-122"/>
              </a:rPr>
              <a:t>例</a:t>
            </a:r>
            <a:r>
              <a:rPr lang="en-US" altLang="zh-CN" sz="2400" u="sng" dirty="0">
                <a:solidFill>
                  <a:srgbClr val="FF0000"/>
                </a:solidFill>
                <a:latin typeface="华文楷体" panose="02010600040101010101" pitchFamily="2" charset="-122"/>
                <a:ea typeface="宋体" panose="02010600030101010101" pitchFamily="2" charset="-122"/>
              </a:rPr>
              <a:t>2</a:t>
            </a:r>
            <a:r>
              <a:rPr lang="zh-CN" altLang="en-US" sz="2400" u="sng" dirty="0">
                <a:solidFill>
                  <a:srgbClr val="FF0000"/>
                </a:solidFill>
                <a:latin typeface="华文楷体" panose="02010600040101010101" pitchFamily="2" charset="-122"/>
                <a:ea typeface="宋体" panose="02010600030101010101" pitchFamily="2" charset="-122"/>
              </a:rPr>
              <a:t>：把选了</a:t>
            </a:r>
            <a:r>
              <a:rPr lang="en-US" altLang="zh-CN" sz="2400" u="sng" dirty="0">
                <a:solidFill>
                  <a:srgbClr val="FF0000"/>
                </a:solidFill>
                <a:latin typeface="华文楷体" panose="02010600040101010101" pitchFamily="2" charset="-122"/>
                <a:ea typeface="宋体" panose="02010600030101010101" pitchFamily="2" charset="-122"/>
              </a:rPr>
              <a:t>C4</a:t>
            </a:r>
            <a:r>
              <a:rPr lang="zh-CN" altLang="en-US" sz="2400" u="sng" dirty="0">
                <a:solidFill>
                  <a:srgbClr val="FF0000"/>
                </a:solidFill>
                <a:latin typeface="华文楷体" panose="02010600040101010101" pitchFamily="2" charset="-122"/>
                <a:ea typeface="宋体" panose="02010600030101010101" pitchFamily="2" charset="-122"/>
              </a:rPr>
              <a:t>课程，但小于该课程平均成绩的元组从基本表</a:t>
            </a:r>
            <a:r>
              <a:rPr lang="en-US" altLang="zh-CN" sz="2400" u="sng" dirty="0">
                <a:solidFill>
                  <a:srgbClr val="FF0000"/>
                </a:solidFill>
                <a:latin typeface="华文楷体" panose="02010600040101010101" pitchFamily="2" charset="-122"/>
                <a:ea typeface="宋体" panose="02010600030101010101" pitchFamily="2" charset="-122"/>
              </a:rPr>
              <a:t>SC</a:t>
            </a:r>
            <a:r>
              <a:rPr lang="zh-CN" altLang="en-US" sz="2400" u="sng" dirty="0">
                <a:solidFill>
                  <a:srgbClr val="FF0000"/>
                </a:solidFill>
                <a:latin typeface="华文楷体" panose="02010600040101010101" pitchFamily="2" charset="-122"/>
                <a:ea typeface="宋体" panose="02010600030101010101" pitchFamily="2" charset="-122"/>
              </a:rPr>
              <a:t>中删除。</a:t>
            </a:r>
            <a:endParaRPr lang="zh-CN" altLang="en-US" sz="2400" u="sng" dirty="0">
              <a:solidFill>
                <a:srgbClr val="FF0000"/>
              </a:solidFill>
              <a:latin typeface="华文楷体" panose="02010600040101010101" pitchFamily="2" charset="-122"/>
              <a:ea typeface="宋体" panose="02010600030101010101" pitchFamily="2" charset="-122"/>
            </a:endParaRPr>
          </a:p>
        </p:txBody>
      </p:sp>
      <p:sp>
        <p:nvSpPr>
          <p:cNvPr id="54279" name="Text Box 2"/>
          <p:cNvSpPr txBox="1"/>
          <p:nvPr/>
        </p:nvSpPr>
        <p:spPr>
          <a:xfrm>
            <a:off x="593725" y="2438400"/>
            <a:ext cx="8245475" cy="1349375"/>
          </a:xfrm>
          <a:prstGeom prst="rect">
            <a:avLst/>
          </a:prstGeom>
          <a:noFill/>
          <a:ln w="9525">
            <a:noFill/>
          </a:ln>
        </p:spPr>
        <p:txBody>
          <a:bodyPr anchor="t" anchorCtr="0">
            <a:spAutoFit/>
          </a:bodyPr>
          <a:p>
            <a:pPr lvl="1" indent="-457200" eaLnBrk="1" hangingPunct="1">
              <a:lnSpc>
                <a:spcPct val="90000"/>
              </a:lnSpc>
            </a:pPr>
            <a:r>
              <a:rPr lang="en-US" altLang="zh-CN" sz="2400" dirty="0">
                <a:solidFill>
                  <a:srgbClr val="006600"/>
                </a:solidFill>
                <a:latin typeface="华文楷体" panose="02010600040101010101" pitchFamily="2" charset="-122"/>
                <a:ea typeface="华文楷体" panose="02010600040101010101" pitchFamily="2" charset="-122"/>
              </a:rPr>
              <a:t>DELETE  FROM</a:t>
            </a:r>
            <a:r>
              <a:rPr lang="en-US" altLang="zh-CN" sz="2400" dirty="0">
                <a:solidFill>
                  <a:srgbClr val="0000CC"/>
                </a:solidFill>
                <a:latin typeface="华文楷体" panose="02010600040101010101" pitchFamily="2" charset="-122"/>
                <a:ea typeface="华文楷体" panose="02010600040101010101" pitchFamily="2" charset="-122"/>
              </a:rPr>
              <a:t> </a:t>
            </a:r>
            <a:r>
              <a:rPr lang="en-US" altLang="zh-CN" sz="2400" dirty="0">
                <a:latin typeface="华文楷体" panose="02010600040101010101" pitchFamily="2" charset="-122"/>
                <a:ea typeface="华文楷体" panose="02010600040101010101" pitchFamily="2" charset="-122"/>
              </a:rPr>
              <a:t>SC </a:t>
            </a:r>
            <a:endParaRPr lang="en-US" altLang="zh-CN" sz="2400" dirty="0">
              <a:latin typeface="华文楷体" panose="02010600040101010101" pitchFamily="2" charset="-122"/>
              <a:ea typeface="华文楷体" panose="02010600040101010101" pitchFamily="2" charset="-122"/>
            </a:endParaRPr>
          </a:p>
          <a:p>
            <a:pPr>
              <a:lnSpc>
                <a:spcPct val="125000"/>
              </a:lnSpc>
            </a:pPr>
            <a:r>
              <a:rPr lang="zh-CN" altLang="en-US" sz="2400" dirty="0">
                <a:solidFill>
                  <a:srgbClr val="006600"/>
                </a:solidFill>
                <a:latin typeface="华文楷体" panose="02010600040101010101" pitchFamily="2" charset="-122"/>
                <a:ea typeface="华文楷体" panose="02010600040101010101" pitchFamily="2" charset="-122"/>
              </a:rPr>
              <a:t>       </a:t>
            </a:r>
            <a:r>
              <a:rPr lang="en-US" altLang="zh-CN" sz="2400" dirty="0">
                <a:solidFill>
                  <a:srgbClr val="006600"/>
                </a:solidFill>
                <a:latin typeface="华文楷体" panose="02010600040101010101" pitchFamily="2" charset="-122"/>
                <a:ea typeface="华文楷体" panose="02010600040101010101" pitchFamily="2" charset="-122"/>
              </a:rPr>
              <a:t>WHERE</a:t>
            </a:r>
            <a:r>
              <a:rPr lang="en-US" altLang="zh-CN" sz="2400" dirty="0">
                <a:solidFill>
                  <a:srgbClr val="0000CC"/>
                </a:solidFill>
                <a:latin typeface="华文楷体" panose="02010600040101010101" pitchFamily="2" charset="-122"/>
                <a:ea typeface="华文楷体" panose="02010600040101010101" pitchFamily="2" charset="-122"/>
              </a:rPr>
              <a:t> </a:t>
            </a:r>
            <a:r>
              <a:rPr lang="en-US" altLang="zh-CN" sz="2400" dirty="0">
                <a:latin typeface="华文楷体" panose="02010600040101010101" pitchFamily="2" charset="-122"/>
                <a:ea typeface="华文楷体" panose="02010600040101010101" pitchFamily="2" charset="-122"/>
              </a:rPr>
              <a:t>Cid IN ( SELECT Cid  FROM C </a:t>
            </a:r>
            <a:endParaRPr lang="en-US" altLang="zh-CN" sz="2400" dirty="0">
              <a:latin typeface="华文楷体" panose="02010600040101010101" pitchFamily="2" charset="-122"/>
              <a:ea typeface="华文楷体" panose="02010600040101010101" pitchFamily="2" charset="-122"/>
            </a:endParaRPr>
          </a:p>
          <a:p>
            <a:pPr>
              <a:lnSpc>
                <a:spcPct val="125000"/>
              </a:lnSpc>
            </a:pPr>
            <a:r>
              <a:rPr lang="en-US" altLang="zh-CN" sz="2400" dirty="0">
                <a:latin typeface="华文楷体" panose="02010600040101010101" pitchFamily="2" charset="-122"/>
                <a:ea typeface="华文楷体" panose="02010600040101010101" pitchFamily="2" charset="-122"/>
              </a:rPr>
              <a:t>		      WHERE Cname = </a:t>
            </a:r>
            <a:r>
              <a:rPr lang="en-US" altLang="zh-CN" sz="2400" dirty="0">
                <a:latin typeface="华文楷体" panose="02010600040101010101" pitchFamily="2" charset="-122"/>
                <a:ea typeface="宋体" panose="02010600030101010101" pitchFamily="2" charset="-122"/>
              </a:rPr>
              <a:t>'</a:t>
            </a:r>
            <a:r>
              <a:rPr lang="en-US" altLang="zh-CN" sz="2400" dirty="0">
                <a:latin typeface="华文楷体" panose="02010600040101010101" pitchFamily="2" charset="-122"/>
                <a:ea typeface="华文楷体" panose="02010600040101010101" pitchFamily="2" charset="-122"/>
              </a:rPr>
              <a:t>Maths</a:t>
            </a:r>
            <a:r>
              <a:rPr lang="en-US" altLang="zh-CN" sz="2400" dirty="0">
                <a:latin typeface="华文楷体" panose="02010600040101010101" pitchFamily="2" charset="-122"/>
                <a:ea typeface="宋体" panose="02010600030101010101" pitchFamily="2" charset="-122"/>
              </a:rPr>
              <a:t>'</a:t>
            </a:r>
            <a:r>
              <a:rPr lang="en-US" altLang="zh-CN" sz="2400" dirty="0">
                <a:latin typeface="华文楷体" panose="02010600040101010101" pitchFamily="2" charset="-122"/>
                <a:ea typeface="华文楷体" panose="02010600040101010101" pitchFamily="2" charset="-122"/>
              </a:rPr>
              <a:t> ) </a:t>
            </a:r>
            <a:endParaRPr lang="en-US" altLang="zh-CN" sz="2400" dirty="0">
              <a:solidFill>
                <a:srgbClr val="0000CC"/>
              </a:solidFill>
              <a:latin typeface="华文楷体" panose="02010600040101010101" pitchFamily="2" charset="-122"/>
              <a:ea typeface="华文楷体" panose="02010600040101010101" pitchFamily="2" charset="-122"/>
            </a:endParaRPr>
          </a:p>
        </p:txBody>
      </p:sp>
      <p:sp>
        <p:nvSpPr>
          <p:cNvPr id="54280" name="Text Box 2"/>
          <p:cNvSpPr txBox="1"/>
          <p:nvPr/>
        </p:nvSpPr>
        <p:spPr>
          <a:xfrm>
            <a:off x="555625" y="4702175"/>
            <a:ext cx="8245475" cy="1439863"/>
          </a:xfrm>
          <a:prstGeom prst="rect">
            <a:avLst/>
          </a:prstGeom>
          <a:noFill/>
          <a:ln w="9525">
            <a:noFill/>
          </a:ln>
        </p:spPr>
        <p:txBody>
          <a:bodyPr anchor="t" anchorCtr="0">
            <a:spAutoFit/>
          </a:bodyPr>
          <a:p>
            <a:pPr>
              <a:lnSpc>
                <a:spcPct val="125000"/>
              </a:lnSpc>
            </a:pPr>
            <a:r>
              <a:rPr lang="en-US" altLang="zh-CN" sz="2400" dirty="0">
                <a:solidFill>
                  <a:srgbClr val="006600"/>
                </a:solidFill>
                <a:latin typeface="华文楷体" panose="02010600040101010101" pitchFamily="2" charset="-122"/>
                <a:ea typeface="华文楷体" panose="02010600040101010101" pitchFamily="2" charset="-122"/>
              </a:rPr>
              <a:t>DELETE  FROM</a:t>
            </a:r>
            <a:r>
              <a:rPr lang="en-US" altLang="zh-CN" sz="2400" dirty="0">
                <a:solidFill>
                  <a:srgbClr val="0000CC"/>
                </a:solidFill>
                <a:latin typeface="华文楷体" panose="02010600040101010101" pitchFamily="2" charset="-122"/>
                <a:ea typeface="华文楷体" panose="02010600040101010101" pitchFamily="2" charset="-122"/>
              </a:rPr>
              <a:t> SC </a:t>
            </a:r>
            <a:r>
              <a:rPr lang="zh-CN" altLang="en-US" sz="2400" dirty="0">
                <a:solidFill>
                  <a:srgbClr val="0000CC"/>
                </a:solidFill>
                <a:latin typeface="华文楷体" panose="02010600040101010101" pitchFamily="2" charset="-122"/>
                <a:ea typeface="华文楷体" panose="02010600040101010101" pitchFamily="2" charset="-122"/>
              </a:rPr>
              <a:t>   </a:t>
            </a:r>
            <a:r>
              <a:rPr lang="en-US" altLang="zh-CN" sz="2400" dirty="0">
                <a:solidFill>
                  <a:srgbClr val="006600"/>
                </a:solidFill>
                <a:latin typeface="华文楷体" panose="02010600040101010101" pitchFamily="2" charset="-122"/>
                <a:ea typeface="华文楷体" panose="02010600040101010101" pitchFamily="2" charset="-122"/>
              </a:rPr>
              <a:t>WHERE</a:t>
            </a:r>
            <a:r>
              <a:rPr lang="en-US" altLang="zh-CN" sz="2400" dirty="0">
                <a:solidFill>
                  <a:srgbClr val="0000CC"/>
                </a:solidFill>
                <a:latin typeface="华文楷体" panose="02010600040101010101" pitchFamily="2" charset="-122"/>
                <a:ea typeface="华文楷体" panose="02010600040101010101" pitchFamily="2" charset="-122"/>
              </a:rPr>
              <a:t> Cid =</a:t>
            </a:r>
            <a:r>
              <a:rPr lang="en-US" altLang="zh-CN" sz="2400" dirty="0">
                <a:latin typeface="华文楷体" panose="02010600040101010101" pitchFamily="2" charset="-122"/>
                <a:ea typeface="宋体" panose="02010600030101010101" pitchFamily="2" charset="-122"/>
              </a:rPr>
              <a:t>'</a:t>
            </a:r>
            <a:r>
              <a:rPr lang="en-US" altLang="zh-CN" sz="2400" dirty="0">
                <a:solidFill>
                  <a:srgbClr val="0000CC"/>
                </a:solidFill>
                <a:latin typeface="华文楷体" panose="02010600040101010101" pitchFamily="2" charset="-122"/>
                <a:ea typeface="华文楷体" panose="02010600040101010101" pitchFamily="2" charset="-122"/>
              </a:rPr>
              <a:t>C4</a:t>
            </a:r>
            <a:r>
              <a:rPr lang="en-US" altLang="zh-CN" sz="2400" dirty="0">
                <a:latin typeface="华文楷体" panose="02010600040101010101" pitchFamily="2" charset="-122"/>
                <a:ea typeface="宋体" panose="02010600030101010101" pitchFamily="2" charset="-122"/>
              </a:rPr>
              <a:t>'</a:t>
            </a:r>
            <a:endParaRPr lang="en-US" altLang="zh-CN" sz="2400" dirty="0">
              <a:solidFill>
                <a:srgbClr val="0000CC"/>
              </a:solidFill>
              <a:latin typeface="华文楷体" panose="02010600040101010101" pitchFamily="2" charset="-122"/>
              <a:ea typeface="华文楷体" panose="02010600040101010101" pitchFamily="2" charset="-122"/>
            </a:endParaRPr>
          </a:p>
          <a:p>
            <a:pPr>
              <a:lnSpc>
                <a:spcPct val="120000"/>
              </a:lnSpc>
            </a:pPr>
            <a:r>
              <a:rPr lang="zh-CN" altLang="en-US" sz="2400" dirty="0">
                <a:solidFill>
                  <a:srgbClr val="0000CC"/>
                </a:solidFill>
                <a:latin typeface="华文楷体" panose="02010600040101010101" pitchFamily="2" charset="-122"/>
                <a:ea typeface="华文楷体" panose="02010600040101010101" pitchFamily="2" charset="-122"/>
              </a:rPr>
              <a:t>    </a:t>
            </a:r>
            <a:r>
              <a:rPr lang="en-US" altLang="zh-CN" sz="2400" dirty="0">
                <a:solidFill>
                  <a:srgbClr val="0000CC"/>
                </a:solidFill>
                <a:latin typeface="华文楷体" panose="02010600040101010101" pitchFamily="2" charset="-122"/>
                <a:ea typeface="华文楷体" panose="02010600040101010101" pitchFamily="2" charset="-122"/>
              </a:rPr>
              <a:t>  AND SCORE &lt; ( SELECT </a:t>
            </a:r>
            <a:r>
              <a:rPr lang="en-US" altLang="zh-CN" sz="2400" dirty="0">
                <a:solidFill>
                  <a:srgbClr val="CC0000"/>
                </a:solidFill>
                <a:latin typeface="华文楷体" panose="02010600040101010101" pitchFamily="2" charset="-122"/>
                <a:ea typeface="华文楷体" panose="02010600040101010101" pitchFamily="2" charset="-122"/>
              </a:rPr>
              <a:t>AVG (SCORE)</a:t>
            </a:r>
            <a:endParaRPr lang="en-US" altLang="zh-CN" sz="2400" dirty="0">
              <a:solidFill>
                <a:srgbClr val="CC0000"/>
              </a:solidFill>
              <a:latin typeface="华文楷体" panose="02010600040101010101" pitchFamily="2" charset="-122"/>
              <a:ea typeface="华文楷体" panose="02010600040101010101" pitchFamily="2" charset="-122"/>
            </a:endParaRPr>
          </a:p>
          <a:p>
            <a:pPr>
              <a:lnSpc>
                <a:spcPct val="120000"/>
              </a:lnSpc>
            </a:pPr>
            <a:r>
              <a:rPr lang="zh-CN" altLang="en-US" sz="2400" dirty="0">
                <a:solidFill>
                  <a:srgbClr val="0000CC"/>
                </a:solidFill>
                <a:latin typeface="华文楷体" panose="02010600040101010101" pitchFamily="2" charset="-122"/>
                <a:ea typeface="华文楷体" panose="02010600040101010101" pitchFamily="2" charset="-122"/>
              </a:rPr>
              <a:t>      </a:t>
            </a:r>
            <a:r>
              <a:rPr lang="en-US" altLang="zh-CN" sz="2400" dirty="0">
                <a:solidFill>
                  <a:srgbClr val="0000CC"/>
                </a:solidFill>
                <a:latin typeface="华文楷体" panose="02010600040101010101" pitchFamily="2" charset="-122"/>
                <a:ea typeface="华文楷体" panose="02010600040101010101" pitchFamily="2" charset="-122"/>
              </a:rPr>
              <a:t>FROM SC </a:t>
            </a:r>
            <a:r>
              <a:rPr lang="zh-CN" altLang="en-US" sz="2400" dirty="0">
                <a:solidFill>
                  <a:srgbClr val="0000CC"/>
                </a:solidFill>
                <a:latin typeface="华文楷体" panose="02010600040101010101" pitchFamily="2" charset="-122"/>
                <a:ea typeface="华文楷体" panose="02010600040101010101" pitchFamily="2" charset="-122"/>
              </a:rPr>
              <a:t>   </a:t>
            </a:r>
            <a:r>
              <a:rPr lang="en-US" altLang="zh-CN" sz="2400" dirty="0">
                <a:solidFill>
                  <a:srgbClr val="0000CC"/>
                </a:solidFill>
                <a:latin typeface="华文楷体" panose="02010600040101010101" pitchFamily="2" charset="-122"/>
                <a:ea typeface="华文楷体" panose="02010600040101010101" pitchFamily="2" charset="-122"/>
              </a:rPr>
              <a:t>WHERE Cid = </a:t>
            </a:r>
            <a:r>
              <a:rPr lang="en-US" altLang="zh-CN" sz="2400" dirty="0">
                <a:latin typeface="华文楷体" panose="02010600040101010101" pitchFamily="2" charset="-122"/>
                <a:ea typeface="宋体" panose="02010600030101010101" pitchFamily="2" charset="-122"/>
              </a:rPr>
              <a:t>'</a:t>
            </a:r>
            <a:r>
              <a:rPr lang="en-US" altLang="zh-CN" sz="2400" dirty="0">
                <a:solidFill>
                  <a:srgbClr val="0000CC"/>
                </a:solidFill>
                <a:latin typeface="华文楷体" panose="02010600040101010101" pitchFamily="2" charset="-122"/>
                <a:ea typeface="华文楷体" panose="02010600040101010101" pitchFamily="2" charset="-122"/>
              </a:rPr>
              <a:t>C4</a:t>
            </a:r>
            <a:r>
              <a:rPr lang="en-US" altLang="zh-CN" sz="2400" dirty="0">
                <a:latin typeface="华文楷体" panose="02010600040101010101" pitchFamily="2" charset="-122"/>
                <a:ea typeface="宋体" panose="02010600030101010101" pitchFamily="2" charset="-122"/>
              </a:rPr>
              <a:t>'</a:t>
            </a:r>
            <a:r>
              <a:rPr lang="en-US" altLang="zh-CN" sz="2400" dirty="0">
                <a:solidFill>
                  <a:srgbClr val="0000CC"/>
                </a:solidFill>
                <a:latin typeface="华文楷体" panose="02010600040101010101" pitchFamily="2" charset="-122"/>
                <a:ea typeface="华文楷体" panose="02010600040101010101" pitchFamily="2" charset="-122"/>
              </a:rPr>
              <a:t> )</a:t>
            </a:r>
            <a:endParaRPr lang="en-US" altLang="zh-CN" sz="2400" dirty="0">
              <a:solidFill>
                <a:srgbClr val="0000CC"/>
              </a:solidFill>
              <a:latin typeface="华文楷体" panose="02010600040101010101" pitchFamily="2" charset="-122"/>
              <a:ea typeface="华文楷体" panose="020106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4276"/>
                                        </p:tgtEl>
                                        <p:attrNameLst>
                                          <p:attrName>style.visibility</p:attrName>
                                        </p:attrNameLst>
                                      </p:cBhvr>
                                      <p:to>
                                        <p:strVal val="visible"/>
                                      </p:to>
                                    </p:set>
                                    <p:anim calcmode="lin" valueType="num">
                                      <p:cBhvr additive="base">
                                        <p:cTn id="7" dur="500" fill="hold"/>
                                        <p:tgtEl>
                                          <p:spTgt spid="54276"/>
                                        </p:tgtEl>
                                        <p:attrNameLst>
                                          <p:attrName>ppt_x</p:attrName>
                                        </p:attrNameLst>
                                      </p:cBhvr>
                                      <p:tavLst>
                                        <p:tav tm="0">
                                          <p:val>
                                            <p:strVal val="#ppt_x"/>
                                          </p:val>
                                        </p:tav>
                                        <p:tav tm="100000">
                                          <p:val>
                                            <p:strVal val="#ppt_x"/>
                                          </p:val>
                                        </p:tav>
                                      </p:tavLst>
                                    </p:anim>
                                    <p:anim calcmode="lin" valueType="num">
                                      <p:cBhvr additive="base">
                                        <p:cTn id="8" dur="500" fill="hold"/>
                                        <p:tgtEl>
                                          <p:spTgt spid="5427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4279"/>
                                        </p:tgtEl>
                                        <p:attrNameLst>
                                          <p:attrName>style.visibility</p:attrName>
                                        </p:attrNameLst>
                                      </p:cBhvr>
                                      <p:to>
                                        <p:strVal val="visible"/>
                                      </p:to>
                                    </p:set>
                                    <p:anim calcmode="lin" valueType="num">
                                      <p:cBhvr additive="base">
                                        <p:cTn id="13" dur="500" fill="hold"/>
                                        <p:tgtEl>
                                          <p:spTgt spid="54279"/>
                                        </p:tgtEl>
                                        <p:attrNameLst>
                                          <p:attrName>ppt_x</p:attrName>
                                        </p:attrNameLst>
                                      </p:cBhvr>
                                      <p:tavLst>
                                        <p:tav tm="0">
                                          <p:val>
                                            <p:strVal val="#ppt_x"/>
                                          </p:val>
                                        </p:tav>
                                        <p:tav tm="100000">
                                          <p:val>
                                            <p:strVal val="#ppt_x"/>
                                          </p:val>
                                        </p:tav>
                                      </p:tavLst>
                                    </p:anim>
                                    <p:anim calcmode="lin" valueType="num">
                                      <p:cBhvr additive="base">
                                        <p:cTn id="14" dur="500" fill="hold"/>
                                        <p:tgtEl>
                                          <p:spTgt spid="5427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54278">
                                            <p:txEl>
                                              <p:charRg st="0" end="35"/>
                                            </p:txEl>
                                          </p:spTgt>
                                        </p:tgtEl>
                                        <p:attrNameLst>
                                          <p:attrName>style.visibility</p:attrName>
                                        </p:attrNameLst>
                                      </p:cBhvr>
                                      <p:to>
                                        <p:strVal val="visible"/>
                                      </p:to>
                                    </p:set>
                                    <p:animEffect transition="in" filter="wipe(down)">
                                      <p:cBhvr>
                                        <p:cTn id="19" dur="500"/>
                                        <p:tgtEl>
                                          <p:spTgt spid="54278">
                                            <p:txEl>
                                              <p:charRg st="0" end="35"/>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54280">
                                            <p:txEl>
                                              <p:charRg st="0" end="35"/>
                                            </p:txEl>
                                          </p:spTgt>
                                        </p:tgtEl>
                                        <p:attrNameLst>
                                          <p:attrName>style.visibility</p:attrName>
                                        </p:attrNameLst>
                                      </p:cBhvr>
                                      <p:to>
                                        <p:strVal val="visible"/>
                                      </p:to>
                                    </p:set>
                                    <p:animEffect transition="in" filter="wipe(down)">
                                      <p:cBhvr>
                                        <p:cTn id="24" dur="500"/>
                                        <p:tgtEl>
                                          <p:spTgt spid="54280">
                                            <p:txEl>
                                              <p:charRg st="0" end="35"/>
                                            </p:txEl>
                                          </p:spTgt>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54280">
                                            <p:txEl>
                                              <p:charRg st="35" end="74"/>
                                            </p:txEl>
                                          </p:spTgt>
                                        </p:tgtEl>
                                        <p:attrNameLst>
                                          <p:attrName>style.visibility</p:attrName>
                                        </p:attrNameLst>
                                      </p:cBhvr>
                                      <p:to>
                                        <p:strVal val="visible"/>
                                      </p:to>
                                    </p:set>
                                    <p:animEffect transition="in" filter="wipe(down)">
                                      <p:cBhvr>
                                        <p:cTn id="27" dur="500"/>
                                        <p:tgtEl>
                                          <p:spTgt spid="54280">
                                            <p:txEl>
                                              <p:charRg st="35" end="74"/>
                                            </p:txEl>
                                          </p:spTgt>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54280">
                                            <p:txEl>
                                              <p:charRg st="74" end="110"/>
                                            </p:txEl>
                                          </p:spTgt>
                                        </p:tgtEl>
                                        <p:attrNameLst>
                                          <p:attrName>style.visibility</p:attrName>
                                        </p:attrNameLst>
                                      </p:cBhvr>
                                      <p:to>
                                        <p:strVal val="visible"/>
                                      </p:to>
                                    </p:set>
                                    <p:animEffect transition="in" filter="wipe(down)">
                                      <p:cBhvr>
                                        <p:cTn id="30" dur="500"/>
                                        <p:tgtEl>
                                          <p:spTgt spid="54280">
                                            <p:txEl>
                                              <p:charRg st="74" end="1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6" grpId="0"/>
      <p:bldP spid="54278" grpId="0" build="allAtOnce"/>
      <p:bldP spid="54279" grpId="0"/>
      <p:bldP spid="54280" grpId="0" build="allAtOnce"/>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Rectangle 3"/>
          <p:cNvSpPr txBox="1"/>
          <p:nvPr/>
        </p:nvSpPr>
        <p:spPr>
          <a:xfrm>
            <a:off x="623888" y="2046288"/>
            <a:ext cx="8175625" cy="3614737"/>
          </a:xfrm>
          <a:prstGeom prst="rect">
            <a:avLst/>
          </a:prstGeom>
          <a:noFill/>
          <a:ln w="9525">
            <a:noFill/>
          </a:ln>
        </p:spPr>
        <p:txBody>
          <a:bodyPr anchor="t" anchorCtr="0"/>
          <a:p>
            <a:pPr marL="342900" indent="-342900">
              <a:spcBef>
                <a:spcPct val="20000"/>
              </a:spcBef>
              <a:buClr>
                <a:srgbClr val="0033CC"/>
              </a:buClr>
              <a:buSzPct val="80000"/>
            </a:pPr>
            <a:r>
              <a:rPr lang="zh-CN" altLang="en-US" sz="2400" u="sng" dirty="0">
                <a:solidFill>
                  <a:srgbClr val="FF0000"/>
                </a:solidFill>
                <a:latin typeface="华文楷体" panose="02010600040101010101" pitchFamily="2" charset="-122"/>
                <a:ea typeface="宋体" panose="02010600030101010101" pitchFamily="2" charset="-122"/>
              </a:rPr>
              <a:t>例：从选课表中删除学生“李舢”的记录。</a:t>
            </a:r>
            <a:endParaRPr lang="zh-CN" altLang="en-US" sz="2400" u="sng" dirty="0">
              <a:solidFill>
                <a:srgbClr val="FF0000"/>
              </a:solidFill>
              <a:latin typeface="华文楷体" panose="02010600040101010101" pitchFamily="2" charset="-122"/>
              <a:ea typeface="宋体" panose="02010600030101010101" pitchFamily="2" charset="-122"/>
            </a:endParaRPr>
          </a:p>
          <a:p>
            <a:pPr marL="342900" indent="-342900">
              <a:spcBef>
                <a:spcPct val="20000"/>
              </a:spcBef>
              <a:buClr>
                <a:srgbClr val="0033CC"/>
              </a:buClr>
              <a:buSzPct val="80000"/>
            </a:pPr>
            <a:r>
              <a:rPr lang="zh-CN" altLang="en-US" sz="2400" dirty="0">
                <a:latin typeface="华文楷体" panose="02010600040101010101" pitchFamily="2" charset="-122"/>
                <a:ea typeface="宋体" panose="02010600030101010101" pitchFamily="2" charset="-122"/>
              </a:rPr>
              <a:t>  </a:t>
            </a:r>
            <a:r>
              <a:rPr lang="en-US" altLang="zh-CN" sz="2400" dirty="0">
                <a:latin typeface="华文楷体" panose="02010600040101010101" pitchFamily="2" charset="-122"/>
                <a:ea typeface="宋体" panose="02010600030101010101" pitchFamily="2" charset="-122"/>
              </a:rPr>
              <a:t>Delete SC </a:t>
            </a:r>
            <a:r>
              <a:rPr lang="zh-CN" altLang="en-US" sz="2400" dirty="0">
                <a:latin typeface="华文楷体" panose="02010600040101010101" pitchFamily="2" charset="-122"/>
                <a:ea typeface="宋体" panose="02010600030101010101" pitchFamily="2" charset="-122"/>
              </a:rPr>
              <a:t>  </a:t>
            </a:r>
            <a:r>
              <a:rPr lang="en-US" altLang="zh-CN" sz="2400" dirty="0">
                <a:latin typeface="华文楷体" panose="02010600040101010101" pitchFamily="2" charset="-122"/>
                <a:ea typeface="宋体" panose="02010600030101010101" pitchFamily="2" charset="-122"/>
              </a:rPr>
              <a:t>From SC, S</a:t>
            </a:r>
            <a:endParaRPr lang="en-US" altLang="zh-CN" sz="2400" dirty="0">
              <a:latin typeface="华文楷体" panose="02010600040101010101" pitchFamily="2" charset="-122"/>
              <a:ea typeface="宋体" panose="02010600030101010101" pitchFamily="2" charset="-122"/>
            </a:endParaRPr>
          </a:p>
          <a:p>
            <a:pPr marL="342900" indent="-342900">
              <a:spcBef>
                <a:spcPct val="20000"/>
              </a:spcBef>
              <a:buClr>
                <a:srgbClr val="0033CC"/>
              </a:buClr>
              <a:buSzPct val="80000"/>
            </a:pPr>
            <a:r>
              <a:rPr lang="en-US" altLang="zh-CN" sz="2400" dirty="0">
                <a:latin typeface="华文楷体" panose="02010600040101010101" pitchFamily="2" charset="-122"/>
                <a:ea typeface="宋体" panose="02010600030101010101" pitchFamily="2" charset="-122"/>
              </a:rPr>
              <a:t>  Where SC.sid=S.sid AND S.name='</a:t>
            </a:r>
            <a:r>
              <a:rPr lang="zh-CN" altLang="en-US" sz="2400" dirty="0">
                <a:latin typeface="华文楷体" panose="02010600040101010101" pitchFamily="2" charset="-122"/>
                <a:ea typeface="宋体" panose="02010600030101010101" pitchFamily="2" charset="-122"/>
              </a:rPr>
              <a:t>李舢</a:t>
            </a:r>
            <a:r>
              <a:rPr lang="en-US" altLang="zh-CN" sz="2400" dirty="0">
                <a:latin typeface="华文楷体" panose="02010600040101010101" pitchFamily="2" charset="-122"/>
                <a:ea typeface="宋体" panose="02010600030101010101" pitchFamily="2" charset="-122"/>
              </a:rPr>
              <a:t>'</a:t>
            </a:r>
            <a:endParaRPr lang="zh-CN" altLang="en-US" sz="2400" dirty="0">
              <a:latin typeface="华文楷体" panose="02010600040101010101" pitchFamily="2" charset="-122"/>
              <a:ea typeface="宋体" panose="02010600030101010101" pitchFamily="2" charset="-122"/>
            </a:endParaRPr>
          </a:p>
          <a:p>
            <a:pPr marL="342900" indent="-342900">
              <a:spcBef>
                <a:spcPct val="20000"/>
              </a:spcBef>
              <a:buClr>
                <a:srgbClr val="0033CC"/>
              </a:buClr>
              <a:buSzPct val="80000"/>
            </a:pPr>
            <a:r>
              <a:rPr lang="zh-CN" altLang="en-US" sz="2400" dirty="0">
                <a:latin typeface="华文楷体" panose="02010600040101010101" pitchFamily="2" charset="-122"/>
                <a:ea typeface="宋体" panose="02010600030101010101" pitchFamily="2" charset="-122"/>
              </a:rPr>
              <a:t>或</a:t>
            </a:r>
            <a:endParaRPr lang="zh-CN" altLang="en-US" sz="2400" dirty="0">
              <a:latin typeface="华文楷体" panose="02010600040101010101" pitchFamily="2" charset="-122"/>
              <a:ea typeface="宋体" panose="02010600030101010101" pitchFamily="2" charset="-122"/>
            </a:endParaRPr>
          </a:p>
          <a:p>
            <a:pPr marL="342900" indent="-342900">
              <a:spcBef>
                <a:spcPct val="20000"/>
              </a:spcBef>
              <a:buClr>
                <a:srgbClr val="0033CC"/>
              </a:buClr>
              <a:buSzPct val="80000"/>
            </a:pPr>
            <a:r>
              <a:rPr lang="zh-CN" altLang="en-US" sz="2400" dirty="0">
                <a:latin typeface="华文楷体" panose="02010600040101010101" pitchFamily="2" charset="-122"/>
                <a:ea typeface="宋体" panose="02010600030101010101" pitchFamily="2" charset="-122"/>
              </a:rPr>
              <a:t>  </a:t>
            </a:r>
            <a:r>
              <a:rPr lang="en-US" altLang="zh-CN" sz="2400" dirty="0">
                <a:solidFill>
                  <a:srgbClr val="A50021"/>
                </a:solidFill>
                <a:latin typeface="华文楷体" panose="02010600040101010101" pitchFamily="2" charset="-122"/>
                <a:ea typeface="宋体" panose="02010600030101010101" pitchFamily="2" charset="-122"/>
              </a:rPr>
              <a:t>Delete    From SC </a:t>
            </a:r>
            <a:endParaRPr lang="en-US" altLang="zh-CN" sz="2400" dirty="0">
              <a:solidFill>
                <a:srgbClr val="A50021"/>
              </a:solidFill>
              <a:latin typeface="华文楷体" panose="02010600040101010101" pitchFamily="2" charset="-122"/>
              <a:ea typeface="宋体" panose="02010600030101010101" pitchFamily="2" charset="-122"/>
            </a:endParaRPr>
          </a:p>
          <a:p>
            <a:pPr marL="342900" indent="-342900">
              <a:spcBef>
                <a:spcPct val="20000"/>
              </a:spcBef>
              <a:buClr>
                <a:srgbClr val="0033CC"/>
              </a:buClr>
              <a:buSzPct val="80000"/>
            </a:pPr>
            <a:r>
              <a:rPr lang="en-US" altLang="zh-CN" sz="2400" dirty="0">
                <a:solidFill>
                  <a:srgbClr val="A50021"/>
                </a:solidFill>
                <a:latin typeface="华文楷体" panose="02010600040101010101" pitchFamily="2" charset="-122"/>
                <a:ea typeface="宋体" panose="02010600030101010101" pitchFamily="2" charset="-122"/>
              </a:rPr>
              <a:t>  Where sid in </a:t>
            </a:r>
            <a:endParaRPr lang="en-US" altLang="zh-CN" sz="2400" dirty="0">
              <a:solidFill>
                <a:srgbClr val="A50021"/>
              </a:solidFill>
              <a:latin typeface="华文楷体" panose="02010600040101010101" pitchFamily="2" charset="-122"/>
              <a:ea typeface="宋体" panose="02010600030101010101" pitchFamily="2" charset="-122"/>
            </a:endParaRPr>
          </a:p>
          <a:p>
            <a:pPr marL="342900" indent="-342900">
              <a:spcBef>
                <a:spcPct val="20000"/>
              </a:spcBef>
              <a:buClr>
                <a:srgbClr val="0033CC"/>
              </a:buClr>
              <a:buSzPct val="80000"/>
            </a:pPr>
            <a:r>
              <a:rPr lang="en-US" altLang="zh-CN" sz="2400" dirty="0">
                <a:solidFill>
                  <a:srgbClr val="A50021"/>
                </a:solidFill>
                <a:latin typeface="华文楷体" panose="02010600040101010101" pitchFamily="2" charset="-122"/>
                <a:ea typeface="宋体" panose="02010600030101010101" pitchFamily="2" charset="-122"/>
              </a:rPr>
              <a:t>       </a:t>
            </a:r>
            <a:r>
              <a:rPr lang="zh-CN" altLang="en-US" sz="2400" dirty="0">
                <a:solidFill>
                  <a:srgbClr val="A50021"/>
                </a:solidFill>
                <a:latin typeface="华文楷体" panose="02010600040101010101" pitchFamily="2" charset="-122"/>
                <a:ea typeface="宋体" panose="02010600030101010101" pitchFamily="2" charset="-122"/>
              </a:rPr>
              <a:t>（</a:t>
            </a:r>
            <a:r>
              <a:rPr lang="en-US" altLang="zh-CN" sz="2400" dirty="0">
                <a:solidFill>
                  <a:srgbClr val="A50021"/>
                </a:solidFill>
                <a:latin typeface="华文楷体" panose="02010600040101010101" pitchFamily="2" charset="-122"/>
                <a:ea typeface="宋体" panose="02010600030101010101" pitchFamily="2" charset="-122"/>
              </a:rPr>
              <a:t>SELECT sid  FROM S </a:t>
            </a:r>
            <a:endParaRPr lang="en-US" altLang="zh-CN" sz="2400" dirty="0">
              <a:solidFill>
                <a:srgbClr val="A50021"/>
              </a:solidFill>
              <a:latin typeface="华文楷体" panose="02010600040101010101" pitchFamily="2" charset="-122"/>
              <a:ea typeface="宋体" panose="02010600030101010101" pitchFamily="2" charset="-122"/>
            </a:endParaRPr>
          </a:p>
          <a:p>
            <a:pPr marL="342900" indent="-342900">
              <a:spcBef>
                <a:spcPct val="20000"/>
              </a:spcBef>
              <a:buClr>
                <a:srgbClr val="0033CC"/>
              </a:buClr>
              <a:buSzPct val="80000"/>
            </a:pPr>
            <a:r>
              <a:rPr lang="en-US" altLang="zh-CN" sz="2400" dirty="0">
                <a:solidFill>
                  <a:srgbClr val="A50021"/>
                </a:solidFill>
                <a:latin typeface="华文楷体" panose="02010600040101010101" pitchFamily="2" charset="-122"/>
                <a:ea typeface="宋体" panose="02010600030101010101" pitchFamily="2" charset="-122"/>
              </a:rPr>
              <a:t>		      WHERE Sname = </a:t>
            </a:r>
            <a:r>
              <a:rPr lang="en-US" altLang="zh-CN" sz="2400" dirty="0">
                <a:latin typeface="华文楷体" panose="02010600040101010101" pitchFamily="2" charset="-122"/>
                <a:ea typeface="宋体" panose="02010600030101010101" pitchFamily="2" charset="-122"/>
              </a:rPr>
              <a:t>'</a:t>
            </a:r>
            <a:r>
              <a:rPr lang="zh-CN" altLang="en-US" sz="2400" dirty="0">
                <a:solidFill>
                  <a:srgbClr val="A50021"/>
                </a:solidFill>
                <a:latin typeface="华文楷体" panose="02010600040101010101" pitchFamily="2" charset="-122"/>
                <a:ea typeface="宋体" panose="02010600030101010101" pitchFamily="2" charset="-122"/>
              </a:rPr>
              <a:t>李舢</a:t>
            </a:r>
            <a:r>
              <a:rPr lang="en-US" altLang="zh-CN" sz="2400" dirty="0">
                <a:latin typeface="华文楷体" panose="02010600040101010101" pitchFamily="2" charset="-122"/>
                <a:ea typeface="宋体" panose="02010600030101010101" pitchFamily="2" charset="-122"/>
              </a:rPr>
              <a:t>'</a:t>
            </a:r>
            <a:r>
              <a:rPr lang="zh-CN" altLang="en-US" sz="2400" dirty="0">
                <a:solidFill>
                  <a:srgbClr val="A50021"/>
                </a:solidFill>
                <a:latin typeface="华文楷体" panose="02010600040101010101" pitchFamily="2" charset="-122"/>
                <a:ea typeface="宋体" panose="02010600030101010101" pitchFamily="2" charset="-122"/>
              </a:rPr>
              <a:t>） </a:t>
            </a:r>
            <a:endParaRPr lang="zh-CN" altLang="en-US" sz="2400" dirty="0">
              <a:solidFill>
                <a:srgbClr val="A50021"/>
              </a:solidFill>
              <a:latin typeface="华文楷体" panose="02010600040101010101" pitchFamily="2" charset="-122"/>
              <a:ea typeface="宋体" panose="02010600030101010101" pitchFamily="2" charset="-122"/>
            </a:endParaRPr>
          </a:p>
        </p:txBody>
      </p:sp>
      <p:sp>
        <p:nvSpPr>
          <p:cNvPr id="77826"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三、数据库操纵子语言及其操作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77827" name="矩形 3"/>
          <p:cNvSpPr/>
          <p:nvPr/>
        </p:nvSpPr>
        <p:spPr>
          <a:xfrm>
            <a:off x="542925" y="838200"/>
            <a:ext cx="4203700" cy="522288"/>
          </a:xfrm>
          <a:prstGeom prst="rect">
            <a:avLst/>
          </a:prstGeom>
          <a:noFill/>
          <a:ln w="9525">
            <a:noFill/>
          </a:ln>
        </p:spPr>
        <p:txBody>
          <a:bodyPr anchor="t" anchorCtr="0">
            <a:spAutoFit/>
          </a:bodyPr>
          <a:p>
            <a:r>
              <a:rPr lang="en-US" altLang="zh-CN" sz="2800" dirty="0">
                <a:solidFill>
                  <a:srgbClr val="0033CC"/>
                </a:solidFill>
                <a:latin typeface="黑体" panose="02010609060101010101" pitchFamily="1" charset="-122"/>
                <a:ea typeface="黑体" panose="02010609060101010101" pitchFamily="1" charset="-122"/>
              </a:rPr>
              <a:t>5.</a:t>
            </a:r>
            <a:r>
              <a:rPr lang="zh-CN" altLang="en-US" sz="2800" dirty="0">
                <a:solidFill>
                  <a:srgbClr val="0033CC"/>
                </a:solidFill>
                <a:latin typeface="黑体" panose="02010609060101010101" pitchFamily="1" charset="-122"/>
                <a:ea typeface="黑体" panose="02010609060101010101" pitchFamily="1" charset="-122"/>
              </a:rPr>
              <a:t> 数据删除</a:t>
            </a:r>
            <a:r>
              <a:rPr lang="en-US" altLang="zh-CN" sz="2800" dirty="0">
                <a:solidFill>
                  <a:srgbClr val="0033CC"/>
                </a:solidFill>
                <a:latin typeface="黑体" panose="02010609060101010101" pitchFamily="1" charset="-122"/>
                <a:ea typeface="黑体" panose="02010609060101010101" pitchFamily="1" charset="-122"/>
              </a:rPr>
              <a:t>(Delete)</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77828" name="Text Box 4"/>
          <p:cNvSpPr txBox="1"/>
          <p:nvPr/>
        </p:nvSpPr>
        <p:spPr>
          <a:xfrm>
            <a:off x="396875" y="1368425"/>
            <a:ext cx="5089525" cy="633413"/>
          </a:xfrm>
          <a:prstGeom prst="rect">
            <a:avLst/>
          </a:prstGeom>
          <a:noFill/>
          <a:ln w="9525">
            <a:noFill/>
          </a:ln>
        </p:spPr>
        <p:txBody>
          <a:bodyPr anchor="t" anchorCtr="0">
            <a:spAutoFit/>
          </a:bodyPr>
          <a:p>
            <a:pPr marL="457200" indent="-457200">
              <a:lnSpc>
                <a:spcPct val="135000"/>
              </a:lnSpc>
            </a:pPr>
            <a:r>
              <a:rPr lang="zh-CN" altLang="en-US" sz="2600" dirty="0">
                <a:latin typeface="宋体" panose="02010600030101010101" pitchFamily="2" charset="-122"/>
                <a:ea typeface="宋体" panose="02010600030101010101" pitchFamily="2" charset="-122"/>
              </a:rPr>
              <a:t>（</a:t>
            </a:r>
            <a:r>
              <a:rPr lang="en-US" altLang="zh-CN" sz="2600" dirty="0">
                <a:latin typeface="宋体" panose="02010600030101010101" pitchFamily="2" charset="-122"/>
                <a:ea typeface="宋体" panose="02010600030101010101" pitchFamily="2" charset="-122"/>
              </a:rPr>
              <a:t>2</a:t>
            </a:r>
            <a:r>
              <a:rPr lang="zh-CN" altLang="en-US" sz="2600" dirty="0">
                <a:latin typeface="宋体" panose="02010600030101010101" pitchFamily="2" charset="-122"/>
                <a:ea typeface="宋体" panose="02010600030101010101" pitchFamily="2" charset="-122"/>
              </a:rPr>
              <a:t>）多表联接数据删除</a:t>
            </a:r>
            <a:endParaRPr lang="en-US" altLang="zh-CN" sz="2600" dirty="0">
              <a:latin typeface="宋体" panose="02010600030101010101" pitchFamily="2" charset="-122"/>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nodeType="clickEffect">
                                  <p:stCondLst>
                                    <p:cond delay="0"/>
                                  </p:stCondLst>
                                  <p:childTnLst>
                                    <p:set>
                                      <p:cBhvr>
                                        <p:cTn id="6" dur="1" fill="hold">
                                          <p:stCondLst>
                                            <p:cond delay="0"/>
                                          </p:stCondLst>
                                        </p:cTn>
                                        <p:tgtEl>
                                          <p:spTgt spid="55298">
                                            <p:txEl>
                                              <p:charRg st="84" end="105"/>
                                            </p:txEl>
                                          </p:spTgt>
                                        </p:tgtEl>
                                        <p:attrNameLst>
                                          <p:attrName>style.visibility</p:attrName>
                                        </p:attrNameLst>
                                      </p:cBhvr>
                                      <p:to>
                                        <p:strVal val="visible"/>
                                      </p:to>
                                    </p:set>
                                    <p:animEffect transition="in" filter="wedge">
                                      <p:cBhvr>
                                        <p:cTn id="7" dur="1000"/>
                                        <p:tgtEl>
                                          <p:spTgt spid="55298">
                                            <p:txEl>
                                              <p:charRg st="84" end="105"/>
                                            </p:txEl>
                                          </p:spTgt>
                                        </p:tgtEl>
                                      </p:cBhvr>
                                    </p:animEffect>
                                  </p:childTnLst>
                                </p:cTn>
                              </p:par>
                              <p:par>
                                <p:cTn id="8" presetID="20" presetClass="entr" presetSubtype="0" fill="hold" nodeType="withEffect">
                                  <p:stCondLst>
                                    <p:cond delay="0"/>
                                  </p:stCondLst>
                                  <p:childTnLst>
                                    <p:set>
                                      <p:cBhvr>
                                        <p:cTn id="9" dur="1" fill="hold">
                                          <p:stCondLst>
                                            <p:cond delay="0"/>
                                          </p:stCondLst>
                                        </p:cTn>
                                        <p:tgtEl>
                                          <p:spTgt spid="55298">
                                            <p:txEl>
                                              <p:charRg st="105" end="121"/>
                                            </p:txEl>
                                          </p:spTgt>
                                        </p:tgtEl>
                                        <p:attrNameLst>
                                          <p:attrName>style.visibility</p:attrName>
                                        </p:attrNameLst>
                                      </p:cBhvr>
                                      <p:to>
                                        <p:strVal val="visible"/>
                                      </p:to>
                                    </p:set>
                                    <p:animEffect transition="in" filter="wedge">
                                      <p:cBhvr>
                                        <p:cTn id="10" dur="1000"/>
                                        <p:tgtEl>
                                          <p:spTgt spid="55298">
                                            <p:txEl>
                                              <p:charRg st="105" end="121"/>
                                            </p:txEl>
                                          </p:spTgt>
                                        </p:tgtEl>
                                      </p:cBhvr>
                                    </p:animEffect>
                                  </p:childTnLst>
                                </p:cTn>
                              </p:par>
                              <p:par>
                                <p:cTn id="11" presetID="20" presetClass="entr" presetSubtype="0" fill="hold" nodeType="withEffect">
                                  <p:stCondLst>
                                    <p:cond delay="0"/>
                                  </p:stCondLst>
                                  <p:childTnLst>
                                    <p:set>
                                      <p:cBhvr>
                                        <p:cTn id="12" dur="1" fill="hold">
                                          <p:stCondLst>
                                            <p:cond delay="0"/>
                                          </p:stCondLst>
                                        </p:cTn>
                                        <p:tgtEl>
                                          <p:spTgt spid="55298">
                                            <p:txEl>
                                              <p:charRg st="121" end="149"/>
                                            </p:txEl>
                                          </p:spTgt>
                                        </p:tgtEl>
                                        <p:attrNameLst>
                                          <p:attrName>style.visibility</p:attrName>
                                        </p:attrNameLst>
                                      </p:cBhvr>
                                      <p:to>
                                        <p:strVal val="visible"/>
                                      </p:to>
                                    </p:set>
                                    <p:animEffect transition="in" filter="wedge">
                                      <p:cBhvr>
                                        <p:cTn id="13" dur="1000"/>
                                        <p:tgtEl>
                                          <p:spTgt spid="55298">
                                            <p:txEl>
                                              <p:charRg st="121" end="149"/>
                                            </p:txEl>
                                          </p:spTgt>
                                        </p:tgtEl>
                                      </p:cBhvr>
                                    </p:animEffect>
                                  </p:childTnLst>
                                </p:cTn>
                              </p:par>
                              <p:par>
                                <p:cTn id="14" presetID="20" presetClass="entr" presetSubtype="0" fill="hold" nodeType="withEffect">
                                  <p:stCondLst>
                                    <p:cond delay="0"/>
                                  </p:stCondLst>
                                  <p:childTnLst>
                                    <p:set>
                                      <p:cBhvr>
                                        <p:cTn id="15" dur="1" fill="hold">
                                          <p:stCondLst>
                                            <p:cond delay="0"/>
                                          </p:stCondLst>
                                        </p:cTn>
                                        <p:tgtEl>
                                          <p:spTgt spid="55298">
                                            <p:txEl>
                                              <p:charRg st="149" end="178"/>
                                            </p:txEl>
                                          </p:spTgt>
                                        </p:tgtEl>
                                        <p:attrNameLst>
                                          <p:attrName>style.visibility</p:attrName>
                                        </p:attrNameLst>
                                      </p:cBhvr>
                                      <p:to>
                                        <p:strVal val="visible"/>
                                      </p:to>
                                    </p:set>
                                    <p:animEffect transition="in" filter="wedge">
                                      <p:cBhvr>
                                        <p:cTn id="16" dur="1000"/>
                                        <p:tgtEl>
                                          <p:spTgt spid="55298">
                                            <p:txEl>
                                              <p:charRg st="149" end="17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 name="文本框 44"/>
          <p:cNvSpPr txBox="1"/>
          <p:nvPr/>
        </p:nvSpPr>
        <p:spPr>
          <a:xfrm>
            <a:off x="479425" y="0"/>
            <a:ext cx="2681288" cy="830263"/>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问题研讨：</a:t>
            </a:r>
            <a:endParaRPr kumimoji="0" lang="zh-CN" altLang="en-US" sz="3200" kern="1200" cap="none" spc="0" normalizeH="0" baseline="0" noProof="0" dirty="0">
              <a:latin typeface="Arial" panose="020B0604020202020204" pitchFamily="34" charset="0"/>
              <a:ea typeface="宋体" panose="02010600030101010101" pitchFamily="2" charset="-122"/>
              <a:cs typeface="+mn-cs"/>
            </a:endParaRPr>
          </a:p>
        </p:txBody>
      </p:sp>
      <p:sp>
        <p:nvSpPr>
          <p:cNvPr id="86019" name="文本框 99"/>
          <p:cNvSpPr txBox="1"/>
          <p:nvPr/>
        </p:nvSpPr>
        <p:spPr>
          <a:xfrm>
            <a:off x="563563" y="901700"/>
            <a:ext cx="7805737" cy="51847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0"/>
              </a:spcBef>
              <a:spcAft>
                <a:spcPts val="100"/>
              </a:spcAft>
              <a:buClrTx/>
              <a:buSzTx/>
              <a:buFont typeface="Arial" panose="020B0604020202020204" pitchFamily="34" charset="0"/>
              <a:buNone/>
            </a:pPr>
            <a:r>
              <a:rPr lang="en-US" altLang="zh-CN" dirty="0">
                <a:latin typeface="Calibri" panose="020F0502020204030204" pitchFamily="34" charset="0"/>
                <a:cs typeface="Times New Roman" panose="02020603050405020304" pitchFamily="2" charset="0"/>
              </a:rPr>
              <a:t>1</a:t>
            </a:r>
            <a:r>
              <a:rPr lang="zh-CN" altLang="zh-CN" dirty="0">
                <a:latin typeface="Calibri" panose="020F0502020204030204" pitchFamily="34" charset="0"/>
              </a:rPr>
              <a:t>、以下删除记录正确的是（     </a:t>
            </a:r>
            <a:r>
              <a:rPr lang="en-US" altLang="zh-CN" dirty="0">
                <a:latin typeface="Calibri" panose="020F0502020204030204" pitchFamily="34" charset="0"/>
              </a:rPr>
              <a:t>  </a:t>
            </a:r>
            <a:r>
              <a:rPr lang="zh-CN" altLang="zh-CN" dirty="0">
                <a:latin typeface="Calibri" panose="020F0502020204030204" pitchFamily="34" charset="0"/>
              </a:rPr>
              <a:t>）</a:t>
            </a:r>
            <a:endParaRPr lang="en-US" altLang="zh-CN" b="0" dirty="0">
              <a:latin typeface="Calibri" panose="020F0502020204030204" pitchFamily="34" charset="0"/>
              <a:cs typeface="Times New Roman" panose="02020603050405020304" pitchFamily="2" charset="0"/>
            </a:endParaRPr>
          </a:p>
          <a:p>
            <a:pPr marL="0" lvl="0" indent="0" eaLnBrk="1" hangingPunct="1">
              <a:lnSpc>
                <a:spcPct val="120000"/>
              </a:lnSpc>
              <a:spcBef>
                <a:spcPct val="0"/>
              </a:spcBef>
              <a:spcAft>
                <a:spcPts val="100"/>
              </a:spcAft>
              <a:buClrTx/>
              <a:buSzTx/>
              <a:buFont typeface="Arial" panose="020B0604020202020204" pitchFamily="34" charset="0"/>
              <a:buNone/>
            </a:pPr>
            <a:r>
              <a:rPr lang="en-US" altLang="zh-CN" b="0" dirty="0">
                <a:latin typeface="Calibri" panose="020F0502020204030204" pitchFamily="34" charset="0"/>
                <a:cs typeface="Times New Roman" panose="02020603050405020304" pitchFamily="2" charset="0"/>
              </a:rPr>
              <a:t>  A. Delete from emp where name=’dony’        </a:t>
            </a:r>
            <a:endParaRPr lang="en-US" altLang="zh-CN" b="0" dirty="0">
              <a:latin typeface="Calibri" panose="020F0502020204030204" pitchFamily="34" charset="0"/>
              <a:cs typeface="Times New Roman" panose="02020603050405020304" pitchFamily="2" charset="0"/>
            </a:endParaRPr>
          </a:p>
          <a:p>
            <a:pPr marL="0" lvl="0" indent="0" eaLnBrk="1" hangingPunct="1">
              <a:spcBef>
                <a:spcPct val="0"/>
              </a:spcBef>
              <a:buClrTx/>
              <a:buSzTx/>
              <a:buFont typeface="Arial" panose="020B0604020202020204" pitchFamily="34" charset="0"/>
              <a:buNone/>
            </a:pPr>
            <a:r>
              <a:rPr lang="en-US" altLang="zh-CN" b="0" dirty="0">
                <a:latin typeface="Calibri" panose="020F0502020204030204" pitchFamily="34" charset="0"/>
                <a:cs typeface="Times New Roman" panose="02020603050405020304" pitchFamily="2" charset="0"/>
              </a:rPr>
              <a:t>  B. Delete * from emp where name=’dony’</a:t>
            </a:r>
            <a:endParaRPr lang="en-US" altLang="zh-CN" b="0" dirty="0">
              <a:latin typeface="Calibri" panose="020F0502020204030204" pitchFamily="34" charset="0"/>
              <a:cs typeface="Times New Roman" panose="02020603050405020304" pitchFamily="2" charset="0"/>
            </a:endParaRPr>
          </a:p>
          <a:p>
            <a:pPr marL="0" lvl="0" indent="0" eaLnBrk="1" hangingPunct="1">
              <a:spcBef>
                <a:spcPct val="0"/>
              </a:spcBef>
              <a:buClrTx/>
              <a:buSzTx/>
              <a:buFont typeface="Arial" panose="020B0604020202020204" pitchFamily="34" charset="0"/>
              <a:buNone/>
            </a:pPr>
            <a:r>
              <a:rPr lang="en-US" altLang="zh-CN" b="0" dirty="0">
                <a:latin typeface="Calibri" panose="020F0502020204030204" pitchFamily="34" charset="0"/>
                <a:cs typeface="Times New Roman" panose="02020603050405020304" pitchFamily="2" charset="0"/>
              </a:rPr>
              <a:t>  C. Drop from emp where name=’dony’         </a:t>
            </a:r>
            <a:endParaRPr lang="en-US" altLang="zh-CN" b="0" dirty="0">
              <a:latin typeface="Calibri" panose="020F0502020204030204" pitchFamily="34" charset="0"/>
              <a:cs typeface="Times New Roman" panose="02020603050405020304" pitchFamily="2" charset="0"/>
            </a:endParaRPr>
          </a:p>
          <a:p>
            <a:pPr marL="0" lvl="0" indent="0" eaLnBrk="1" hangingPunct="1">
              <a:spcBef>
                <a:spcPct val="0"/>
              </a:spcBef>
              <a:buClrTx/>
              <a:buSzTx/>
              <a:buFont typeface="Arial" panose="020B0604020202020204" pitchFamily="34" charset="0"/>
              <a:buNone/>
            </a:pPr>
            <a:r>
              <a:rPr lang="en-US" altLang="zh-CN" b="0" dirty="0">
                <a:latin typeface="Calibri" panose="020F0502020204030204" pitchFamily="34" charset="0"/>
                <a:cs typeface="Times New Roman" panose="02020603050405020304" pitchFamily="2" charset="0"/>
              </a:rPr>
              <a:t>  D. Drop * from emp where name=’dony’ </a:t>
            </a:r>
            <a:endParaRPr lang="en-US" altLang="zh-CN" b="0" dirty="0">
              <a:latin typeface="Calibri" panose="020F0502020204030204" pitchFamily="34" charset="0"/>
              <a:cs typeface="Times New Roman" panose="02020603050405020304" pitchFamily="2" charset="0"/>
            </a:endParaRPr>
          </a:p>
          <a:p>
            <a:pPr marL="0" lvl="0" indent="0" eaLnBrk="1" hangingPunct="1">
              <a:lnSpc>
                <a:spcPct val="120000"/>
              </a:lnSpc>
              <a:spcBef>
                <a:spcPts val="200"/>
              </a:spcBef>
              <a:buClrTx/>
              <a:buSzTx/>
              <a:buFont typeface="Arial" panose="020B0604020202020204" pitchFamily="34" charset="0"/>
              <a:buNone/>
            </a:pPr>
            <a:r>
              <a:rPr lang="en-US" altLang="zh-CN" dirty="0"/>
              <a:t>2</a:t>
            </a:r>
            <a:r>
              <a:rPr lang="zh-CN" altLang="en-US" dirty="0"/>
              <a:t>、delete from employee语句的作用是（      ）</a:t>
            </a:r>
            <a:endParaRPr lang="zh-CN" altLang="en-US" dirty="0"/>
          </a:p>
          <a:p>
            <a:pPr marL="0" lvl="0" indent="0" eaLnBrk="1" hangingPunct="1">
              <a:spcBef>
                <a:spcPct val="0"/>
              </a:spcBef>
              <a:buClrTx/>
              <a:buSzTx/>
              <a:buFont typeface="Arial" panose="020B0604020202020204" pitchFamily="34" charset="0"/>
              <a:buNone/>
            </a:pPr>
            <a:r>
              <a:rPr lang="zh-CN" altLang="en-US" b="0" dirty="0"/>
              <a:t>  </a:t>
            </a:r>
            <a:r>
              <a:rPr lang="en-US" altLang="zh-CN" b="0" dirty="0">
                <a:latin typeface="Calibri" panose="020F0502020204030204" pitchFamily="34" charset="0"/>
                <a:cs typeface="Times New Roman" panose="02020603050405020304" pitchFamily="2" charset="0"/>
                <a:sym typeface="+mn-ea"/>
              </a:rPr>
              <a:t>A. </a:t>
            </a:r>
            <a:r>
              <a:rPr lang="zh-CN" altLang="en-US" b="0" dirty="0"/>
              <a:t>删除当前数据库中整个employee表，包括表结构</a:t>
            </a:r>
            <a:endParaRPr lang="zh-CN" altLang="en-US" b="0" dirty="0"/>
          </a:p>
          <a:p>
            <a:pPr marL="0" lvl="0" indent="0" eaLnBrk="1" hangingPunct="1">
              <a:spcBef>
                <a:spcPct val="0"/>
              </a:spcBef>
              <a:buClrTx/>
              <a:buSzTx/>
              <a:buFont typeface="Arial" panose="020B0604020202020204" pitchFamily="34" charset="0"/>
              <a:buNone/>
            </a:pPr>
            <a:r>
              <a:rPr lang="zh-CN" altLang="en-US" b="0" dirty="0"/>
              <a:t>  </a:t>
            </a:r>
            <a:r>
              <a:rPr lang="en-US" altLang="zh-CN" b="0" dirty="0">
                <a:latin typeface="Calibri" panose="020F0502020204030204" pitchFamily="34" charset="0"/>
                <a:cs typeface="Times New Roman" panose="02020603050405020304" pitchFamily="2" charset="0"/>
                <a:sym typeface="+mn-ea"/>
              </a:rPr>
              <a:t>B. </a:t>
            </a:r>
            <a:r>
              <a:rPr lang="zh-CN" altLang="en-US" b="0" dirty="0"/>
              <a:t>删除当前数据库中employee表内所有行</a:t>
            </a:r>
            <a:endParaRPr lang="zh-CN" altLang="en-US" b="0" dirty="0"/>
          </a:p>
          <a:p>
            <a:pPr marL="0" lvl="0" indent="0" eaLnBrk="1" hangingPunct="1">
              <a:spcBef>
                <a:spcPct val="0"/>
              </a:spcBef>
              <a:buClrTx/>
              <a:buSzTx/>
              <a:buFont typeface="Arial" panose="020B0604020202020204" pitchFamily="34" charset="0"/>
              <a:buNone/>
            </a:pPr>
            <a:r>
              <a:rPr lang="zh-CN" altLang="en-US" b="0" dirty="0"/>
              <a:t>  C. 由于没有where子句，因此不删除任何数据</a:t>
            </a:r>
            <a:endParaRPr lang="zh-CN" altLang="en-US" b="0" dirty="0"/>
          </a:p>
          <a:p>
            <a:pPr marL="0" lvl="0" indent="0" eaLnBrk="1" hangingPunct="1">
              <a:spcBef>
                <a:spcPct val="0"/>
              </a:spcBef>
              <a:buClrTx/>
              <a:buSzTx/>
              <a:buFont typeface="Arial" panose="020B0604020202020204" pitchFamily="34" charset="0"/>
              <a:buNone/>
            </a:pPr>
            <a:r>
              <a:rPr lang="zh-CN" altLang="en-US" b="0" dirty="0"/>
              <a:t>  D. 删除当前数据库中employee表内的当前行</a:t>
            </a:r>
            <a:endParaRPr lang="zh-CN" altLang="en-US" b="0" dirty="0"/>
          </a:p>
          <a:p>
            <a:pPr marL="0" lvl="0" indent="0" eaLnBrk="1" hangingPunct="1">
              <a:lnSpc>
                <a:spcPct val="120000"/>
              </a:lnSpc>
              <a:spcBef>
                <a:spcPts val="300"/>
              </a:spcBef>
              <a:buClrTx/>
              <a:buSzTx/>
              <a:buFont typeface="Arial" panose="020B0604020202020204" pitchFamily="34" charset="0"/>
              <a:buNone/>
            </a:pPr>
            <a:r>
              <a:rPr lang="en-US" altLang="zh-CN" dirty="0"/>
              <a:t>3</a:t>
            </a:r>
            <a:r>
              <a:rPr lang="zh-CN" altLang="en-US" dirty="0"/>
              <a:t>、下列关于SQL语句的说法中，错误的是（       ）</a:t>
            </a:r>
            <a:endParaRPr lang="zh-CN" altLang="en-US" dirty="0"/>
          </a:p>
          <a:p>
            <a:pPr marL="0" lvl="0" indent="0" eaLnBrk="1" hangingPunct="1">
              <a:spcBef>
                <a:spcPts val="300"/>
              </a:spcBef>
              <a:buClrTx/>
              <a:buSzTx/>
              <a:buFont typeface="Arial" panose="020B0604020202020204" pitchFamily="34" charset="0"/>
              <a:buNone/>
            </a:pPr>
            <a:r>
              <a:rPr lang="en-US" altLang="zh-CN" b="0" dirty="0">
                <a:latin typeface="Calibri" panose="020F0502020204030204" pitchFamily="34" charset="0"/>
                <a:cs typeface="Times New Roman" panose="02020603050405020304" pitchFamily="2" charset="0"/>
              </a:rPr>
              <a:t>A．INSERT语句可以向数据表中追加新的数据记录</a:t>
            </a:r>
            <a:endParaRPr lang="en-US" altLang="zh-CN" b="0" dirty="0">
              <a:latin typeface="Calibri" panose="020F0502020204030204" pitchFamily="34" charset="0"/>
              <a:cs typeface="Times New Roman" panose="02020603050405020304" pitchFamily="2" charset="0"/>
            </a:endParaRPr>
          </a:p>
          <a:p>
            <a:pPr marL="0" lvl="0" indent="0" eaLnBrk="1" hangingPunct="1">
              <a:spcBef>
                <a:spcPts val="300"/>
              </a:spcBef>
              <a:buClrTx/>
              <a:buSzTx/>
              <a:buFont typeface="Arial" panose="020B0604020202020204" pitchFamily="34" charset="0"/>
              <a:buNone/>
            </a:pPr>
            <a:r>
              <a:rPr lang="en-US" altLang="zh-CN" b="0" dirty="0">
                <a:latin typeface="Calibri" panose="020F0502020204030204" pitchFamily="34" charset="0"/>
                <a:cs typeface="Times New Roman" panose="02020603050405020304" pitchFamily="2" charset="0"/>
              </a:rPr>
              <a:t>B．UPDATE 语句用来修改数据表中已经存在的数据记录</a:t>
            </a:r>
            <a:endParaRPr lang="en-US" altLang="zh-CN" b="0" dirty="0">
              <a:latin typeface="Calibri" panose="020F0502020204030204" pitchFamily="34" charset="0"/>
              <a:cs typeface="Times New Roman" panose="02020603050405020304" pitchFamily="2" charset="0"/>
            </a:endParaRPr>
          </a:p>
          <a:p>
            <a:pPr marL="0" lvl="0" indent="0" eaLnBrk="1" hangingPunct="1">
              <a:spcBef>
                <a:spcPts val="300"/>
              </a:spcBef>
              <a:buClrTx/>
              <a:buSzTx/>
              <a:buFont typeface="Arial" panose="020B0604020202020204" pitchFamily="34" charset="0"/>
              <a:buNone/>
            </a:pPr>
            <a:r>
              <a:rPr lang="en-US" altLang="zh-CN" b="0" dirty="0">
                <a:latin typeface="Calibri" panose="020F0502020204030204" pitchFamily="34" charset="0"/>
                <a:cs typeface="Times New Roman" panose="02020603050405020304" pitchFamily="2" charset="0"/>
              </a:rPr>
              <a:t>C．DELETE语句用来删除数据表中的记录</a:t>
            </a:r>
            <a:endParaRPr lang="en-US" altLang="zh-CN" b="0" dirty="0">
              <a:latin typeface="Calibri" panose="020F0502020204030204" pitchFamily="34" charset="0"/>
              <a:cs typeface="Times New Roman" panose="02020603050405020304" pitchFamily="2" charset="0"/>
            </a:endParaRPr>
          </a:p>
          <a:p>
            <a:pPr marL="0" lvl="0" indent="0" eaLnBrk="1" hangingPunct="1">
              <a:spcBef>
                <a:spcPts val="300"/>
              </a:spcBef>
              <a:buClrTx/>
              <a:buSzTx/>
              <a:buFont typeface="Arial" panose="020B0604020202020204" pitchFamily="34" charset="0"/>
              <a:buNone/>
            </a:pPr>
            <a:r>
              <a:rPr lang="en-US" altLang="zh-CN" b="0" dirty="0">
                <a:latin typeface="Calibri" panose="020F0502020204030204" pitchFamily="34" charset="0"/>
                <a:cs typeface="Times New Roman" panose="02020603050405020304" pitchFamily="2" charset="0"/>
              </a:rPr>
              <a:t>D．CREATE语句用来建立表结构并追加新的记录</a:t>
            </a:r>
            <a:endParaRPr lang="en-US" altLang="zh-CN" b="0" dirty="0">
              <a:latin typeface="Calibri" panose="020F0502020204030204" pitchFamily="34" charset="0"/>
              <a:ea typeface="Times New Roman" panose="02020603050405020304" pitchFamily="2" charset="0"/>
            </a:endParaRPr>
          </a:p>
        </p:txBody>
      </p:sp>
      <p:sp>
        <p:nvSpPr>
          <p:cNvPr id="8" name="文本框 7"/>
          <p:cNvSpPr txBox="1"/>
          <p:nvPr/>
        </p:nvSpPr>
        <p:spPr>
          <a:xfrm>
            <a:off x="3849688" y="866775"/>
            <a:ext cx="403225" cy="58896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400" dirty="0">
                <a:solidFill>
                  <a:srgbClr val="FF0000"/>
                </a:solidFill>
              </a:rPr>
              <a:t>A</a:t>
            </a:r>
            <a:endParaRPr lang="en-US" altLang="zh-CN" sz="2400" dirty="0">
              <a:solidFill>
                <a:srgbClr val="FF0000"/>
              </a:solidFill>
            </a:endParaRPr>
          </a:p>
        </p:txBody>
      </p:sp>
      <p:sp>
        <p:nvSpPr>
          <p:cNvPr id="10" name="文本框 9"/>
          <p:cNvSpPr txBox="1"/>
          <p:nvPr/>
        </p:nvSpPr>
        <p:spPr>
          <a:xfrm>
            <a:off x="5465763" y="2574925"/>
            <a:ext cx="403225" cy="58896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400" dirty="0">
                <a:solidFill>
                  <a:srgbClr val="FF0000"/>
                </a:solidFill>
              </a:rPr>
              <a:t>B </a:t>
            </a:r>
            <a:endParaRPr lang="en-US" altLang="zh-CN" sz="2400" dirty="0">
              <a:solidFill>
                <a:srgbClr val="FF0000"/>
              </a:solidFill>
            </a:endParaRPr>
          </a:p>
        </p:txBody>
      </p:sp>
      <p:sp>
        <p:nvSpPr>
          <p:cNvPr id="11" name="文本框 10"/>
          <p:cNvSpPr txBox="1"/>
          <p:nvPr/>
        </p:nvSpPr>
        <p:spPr>
          <a:xfrm>
            <a:off x="5686425" y="4189413"/>
            <a:ext cx="403225" cy="590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400" dirty="0">
                <a:solidFill>
                  <a:srgbClr val="FF0000"/>
                </a:solidFill>
              </a:rPr>
              <a:t>D </a:t>
            </a:r>
            <a:endParaRPr lang="en-US" altLang="zh-CN" sz="2400" dirty="0">
              <a:solidFill>
                <a:srgbClr val="FF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1"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文本框 1"/>
          <p:cNvSpPr txBox="1"/>
          <p:nvPr/>
        </p:nvSpPr>
        <p:spPr>
          <a:xfrm>
            <a:off x="604838" y="3454400"/>
            <a:ext cx="8385175" cy="18986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t>（</a:t>
            </a:r>
            <a:r>
              <a:rPr lang="en-US" altLang="zh-CN" dirty="0"/>
              <a:t>1</a:t>
            </a:r>
            <a:r>
              <a:rPr lang="zh-CN" altLang="en-US" dirty="0"/>
              <a:t>）将吕燕老师所讲授的课程的成绩均提高</a:t>
            </a:r>
            <a:r>
              <a:rPr lang="en-US" altLang="zh-CN" dirty="0"/>
              <a:t>10%</a:t>
            </a:r>
            <a:endParaRPr lang="en-US" altLang="zh-CN" dirty="0"/>
          </a:p>
          <a:p>
            <a:pPr marL="0" lvl="0" indent="0" eaLnBrk="1" hangingPunct="1">
              <a:lnSpc>
                <a:spcPct val="110000"/>
              </a:lnSpc>
              <a:spcBef>
                <a:spcPct val="0"/>
              </a:spcBef>
              <a:buClrTx/>
              <a:buSzTx/>
              <a:buFont typeface="Arial" panose="020B0604020202020204" pitchFamily="34" charset="0"/>
              <a:buNone/>
            </a:pPr>
            <a:r>
              <a:rPr lang="en-US" altLang="zh-CN" dirty="0"/>
              <a:t>  </a:t>
            </a:r>
            <a:endParaRPr lang="en-US" altLang="zh-CN" dirty="0"/>
          </a:p>
          <a:p>
            <a:pPr marL="0" lvl="0" indent="0" eaLnBrk="1" hangingPunct="1">
              <a:lnSpc>
                <a:spcPct val="110000"/>
              </a:lnSpc>
              <a:spcBef>
                <a:spcPct val="0"/>
              </a:spcBef>
              <a:buClrTx/>
              <a:buSzTx/>
              <a:buFont typeface="Arial" panose="020B0604020202020204" pitchFamily="34" charset="0"/>
              <a:buNone/>
            </a:pPr>
            <a:endParaRPr lang="en-US" altLang="zh-CN" dirty="0"/>
          </a:p>
          <a:p>
            <a:pPr marL="0" lvl="0" indent="0" eaLnBrk="1" hangingPunct="1">
              <a:lnSpc>
                <a:spcPct val="110000"/>
              </a:lnSpc>
              <a:spcBef>
                <a:spcPct val="0"/>
              </a:spcBef>
              <a:buClrTx/>
              <a:buSzTx/>
              <a:buFont typeface="Arial" panose="020B0604020202020204" pitchFamily="34" charset="0"/>
              <a:buNone/>
            </a:pPr>
            <a:endParaRPr lang="zh-CN" altLang="en-US" dirty="0"/>
          </a:p>
          <a:p>
            <a:pPr marL="0" lvl="0" indent="0" eaLnBrk="1" hangingPunct="1">
              <a:lnSpc>
                <a:spcPct val="110000"/>
              </a:lnSpc>
              <a:spcBef>
                <a:spcPts val="300"/>
              </a:spcBef>
              <a:buClrTx/>
              <a:buSzTx/>
              <a:buFont typeface="Arial" panose="020B0604020202020204" pitchFamily="34" charset="0"/>
              <a:buNone/>
            </a:pPr>
            <a:endParaRPr lang="en-US" altLang="zh-CN" dirty="0"/>
          </a:p>
        </p:txBody>
      </p:sp>
      <p:graphicFrame>
        <p:nvGraphicFramePr>
          <p:cNvPr id="3" name="表格 2"/>
          <p:cNvGraphicFramePr/>
          <p:nvPr/>
        </p:nvGraphicFramePr>
        <p:xfrm>
          <a:off x="2159000" y="1379538"/>
          <a:ext cx="4519613" cy="381000"/>
        </p:xfrm>
        <a:graphic>
          <a:graphicData uri="http://schemas.openxmlformats.org/drawingml/2006/table">
            <a:tbl>
              <a:tblPr firstRow="1" bandRow="1">
                <a:tableStyleId>{5C22544A-7EE6-4342-B048-85BDC9FD1C3A}</a:tableStyleId>
              </a:tblPr>
              <a:tblGrid>
                <a:gridCol w="1067845"/>
                <a:gridCol w="1224657"/>
                <a:gridCol w="1124348"/>
                <a:gridCol w="1102763"/>
              </a:tblGrid>
              <a:tr h="381000">
                <a:tc>
                  <a:txBody>
                    <a:bodyPr/>
                    <a:lstStyle/>
                    <a:p>
                      <a:pPr>
                        <a:buNone/>
                      </a:pPr>
                      <a:r>
                        <a:rPr lang="zh-CN" altLang="en-US" u="sng">
                          <a:solidFill>
                            <a:schemeClr val="tx1"/>
                          </a:solidFill>
                        </a:rPr>
                        <a:t>sno</a:t>
                      </a:r>
                      <a:endParaRPr lang="zh-CN" altLang="en-US" u="sng">
                        <a:solidFill>
                          <a:schemeClr val="tx1"/>
                        </a:solidFill>
                      </a:endParaRPr>
                    </a:p>
                  </a:txBody>
                  <a:tcPr marL="91421" marR="91421"/>
                </a:tc>
                <a:tc>
                  <a:txBody>
                    <a:bodyPr/>
                    <a:lstStyle/>
                    <a:p>
                      <a:pPr>
                        <a:buNone/>
                      </a:pPr>
                      <a:r>
                        <a:rPr lang="en-US" altLang="zh-CN">
                          <a:solidFill>
                            <a:schemeClr val="tx1"/>
                          </a:solidFill>
                        </a:rPr>
                        <a:t>sname</a:t>
                      </a:r>
                      <a:endParaRPr lang="en-US" altLang="zh-CN">
                        <a:solidFill>
                          <a:schemeClr val="tx1"/>
                        </a:solidFill>
                      </a:endParaRPr>
                    </a:p>
                  </a:txBody>
                  <a:tcPr marL="91421" marR="91421"/>
                </a:tc>
                <a:tc>
                  <a:txBody>
                    <a:bodyPr/>
                    <a:lstStyle/>
                    <a:p>
                      <a:pPr>
                        <a:buNone/>
                      </a:pPr>
                      <a:r>
                        <a:rPr lang="en-US" altLang="zh-CN">
                          <a:solidFill>
                            <a:schemeClr val="tx1"/>
                          </a:solidFill>
                        </a:rPr>
                        <a:t>sage</a:t>
                      </a:r>
                      <a:endParaRPr lang="en-US" altLang="zh-CN">
                        <a:solidFill>
                          <a:schemeClr val="tx1"/>
                        </a:solidFill>
                      </a:endParaRPr>
                    </a:p>
                  </a:txBody>
                  <a:tcPr marL="91421" marR="91421"/>
                </a:tc>
                <a:tc>
                  <a:txBody>
                    <a:bodyPr/>
                    <a:lstStyle/>
                    <a:p>
                      <a:pPr>
                        <a:buNone/>
                      </a:pPr>
                      <a:r>
                        <a:rPr lang="zh-CN" altLang="en-US">
                          <a:solidFill>
                            <a:schemeClr val="tx1"/>
                          </a:solidFill>
                        </a:rPr>
                        <a:t>ssex</a:t>
                      </a:r>
                      <a:endParaRPr lang="zh-CN" altLang="en-US">
                        <a:solidFill>
                          <a:schemeClr val="tx1"/>
                        </a:solidFill>
                      </a:endParaRPr>
                    </a:p>
                  </a:txBody>
                  <a:tcPr marL="91421" marR="91421"/>
                </a:tc>
              </a:tr>
            </a:tbl>
          </a:graphicData>
        </a:graphic>
      </p:graphicFrame>
      <p:sp>
        <p:nvSpPr>
          <p:cNvPr id="87055" name="文本框 3"/>
          <p:cNvSpPr txBox="1"/>
          <p:nvPr/>
        </p:nvSpPr>
        <p:spPr>
          <a:xfrm>
            <a:off x="757238" y="1293813"/>
            <a:ext cx="1401762" cy="54768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t>student</a:t>
            </a:r>
            <a:endParaRPr lang="zh-CN" altLang="en-US" sz="2200" dirty="0"/>
          </a:p>
        </p:txBody>
      </p:sp>
      <p:sp>
        <p:nvSpPr>
          <p:cNvPr id="87056" name="文本框 4"/>
          <p:cNvSpPr txBox="1"/>
          <p:nvPr/>
        </p:nvSpPr>
        <p:spPr>
          <a:xfrm>
            <a:off x="755650" y="1841500"/>
            <a:ext cx="1403350" cy="546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t>teacher</a:t>
            </a:r>
            <a:endParaRPr lang="zh-CN" altLang="en-US" sz="2200" dirty="0"/>
          </a:p>
        </p:txBody>
      </p:sp>
      <p:graphicFrame>
        <p:nvGraphicFramePr>
          <p:cNvPr id="6" name="表格 5"/>
          <p:cNvGraphicFramePr/>
          <p:nvPr/>
        </p:nvGraphicFramePr>
        <p:xfrm>
          <a:off x="2159000" y="1927225"/>
          <a:ext cx="2292350" cy="381000"/>
        </p:xfrm>
        <a:graphic>
          <a:graphicData uri="http://schemas.openxmlformats.org/drawingml/2006/table">
            <a:tbl>
              <a:tblPr firstRow="1" bandRow="1">
                <a:tableStyleId>{5C22544A-7EE6-4342-B048-85BDC9FD1C3A}</a:tableStyleId>
              </a:tblPr>
              <a:tblGrid>
                <a:gridCol w="1067774"/>
                <a:gridCol w="1224576"/>
              </a:tblGrid>
              <a:tr h="381000">
                <a:tc>
                  <a:txBody>
                    <a:bodyPr/>
                    <a:lstStyle/>
                    <a:p>
                      <a:pPr>
                        <a:buNone/>
                      </a:pPr>
                      <a:r>
                        <a:rPr lang="en-US" altLang="zh-CN" u="sng">
                          <a:solidFill>
                            <a:schemeClr val="tx1"/>
                          </a:solidFill>
                        </a:rPr>
                        <a:t>t</a:t>
                      </a:r>
                      <a:r>
                        <a:rPr lang="zh-CN" altLang="en-US" u="sng">
                          <a:solidFill>
                            <a:schemeClr val="tx1"/>
                          </a:solidFill>
                        </a:rPr>
                        <a:t>no</a:t>
                      </a:r>
                      <a:endParaRPr lang="zh-CN" altLang="en-US" u="sng">
                        <a:solidFill>
                          <a:schemeClr val="tx1"/>
                        </a:solidFill>
                      </a:endParaRPr>
                    </a:p>
                  </a:txBody>
                  <a:tcPr marL="91415" marR="91415"/>
                </a:tc>
                <a:tc>
                  <a:txBody>
                    <a:bodyPr/>
                    <a:lstStyle/>
                    <a:p>
                      <a:pPr>
                        <a:buNone/>
                      </a:pPr>
                      <a:r>
                        <a:rPr lang="en-US" altLang="zh-CN">
                          <a:solidFill>
                            <a:schemeClr val="tx1"/>
                          </a:solidFill>
                        </a:rPr>
                        <a:t>tname</a:t>
                      </a:r>
                      <a:endParaRPr lang="en-US" altLang="zh-CN">
                        <a:solidFill>
                          <a:schemeClr val="tx1"/>
                        </a:solidFill>
                      </a:endParaRPr>
                    </a:p>
                  </a:txBody>
                  <a:tcPr marL="91415" marR="91415"/>
                </a:tc>
              </a:tr>
            </a:tbl>
          </a:graphicData>
        </a:graphic>
      </p:graphicFrame>
      <p:sp>
        <p:nvSpPr>
          <p:cNvPr id="87065" name="文本框 6"/>
          <p:cNvSpPr txBox="1"/>
          <p:nvPr/>
        </p:nvSpPr>
        <p:spPr>
          <a:xfrm>
            <a:off x="755650" y="2387600"/>
            <a:ext cx="1403350" cy="5476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t>course</a:t>
            </a:r>
            <a:endParaRPr lang="zh-CN" altLang="en-US" sz="2200" dirty="0"/>
          </a:p>
        </p:txBody>
      </p:sp>
      <p:graphicFrame>
        <p:nvGraphicFramePr>
          <p:cNvPr id="8" name="表格 7"/>
          <p:cNvGraphicFramePr/>
          <p:nvPr/>
        </p:nvGraphicFramePr>
        <p:xfrm>
          <a:off x="2159000" y="2473325"/>
          <a:ext cx="3417888" cy="381000"/>
        </p:xfrm>
        <a:graphic>
          <a:graphicData uri="http://schemas.openxmlformats.org/drawingml/2006/table">
            <a:tbl>
              <a:tblPr firstRow="1" bandRow="1">
                <a:tableStyleId>{5C22544A-7EE6-4342-B048-85BDC9FD1C3A}</a:tableStyleId>
              </a:tblPr>
              <a:tblGrid>
                <a:gridCol w="1068169"/>
                <a:gridCol w="1225029"/>
                <a:gridCol w="1124690"/>
              </a:tblGrid>
              <a:tr h="381000">
                <a:tc>
                  <a:txBody>
                    <a:bodyPr/>
                    <a:lstStyle/>
                    <a:p>
                      <a:pPr>
                        <a:buNone/>
                      </a:pPr>
                      <a:r>
                        <a:rPr lang="en-US" altLang="zh-CN" u="sng">
                          <a:solidFill>
                            <a:schemeClr val="tx1"/>
                          </a:solidFill>
                        </a:rPr>
                        <a:t>c</a:t>
                      </a:r>
                      <a:r>
                        <a:rPr lang="zh-CN" altLang="en-US" u="sng">
                          <a:solidFill>
                            <a:schemeClr val="tx1"/>
                          </a:solidFill>
                        </a:rPr>
                        <a:t>no</a:t>
                      </a:r>
                      <a:endParaRPr lang="zh-CN" altLang="en-US" u="sng">
                        <a:solidFill>
                          <a:schemeClr val="tx1"/>
                        </a:solidFill>
                      </a:endParaRPr>
                    </a:p>
                  </a:txBody>
                  <a:tcPr marL="91449" marR="91449"/>
                </a:tc>
                <a:tc>
                  <a:txBody>
                    <a:bodyPr/>
                    <a:lstStyle/>
                    <a:p>
                      <a:pPr>
                        <a:buNone/>
                      </a:pPr>
                      <a:r>
                        <a:rPr lang="en-US" altLang="zh-CN">
                          <a:solidFill>
                            <a:schemeClr val="tx1"/>
                          </a:solidFill>
                        </a:rPr>
                        <a:t>cname</a:t>
                      </a:r>
                      <a:endParaRPr lang="en-US" altLang="zh-CN">
                        <a:solidFill>
                          <a:schemeClr val="tx1"/>
                        </a:solidFill>
                      </a:endParaRPr>
                    </a:p>
                  </a:txBody>
                  <a:tcPr marL="91449" marR="91449"/>
                </a:tc>
                <a:tc>
                  <a:txBody>
                    <a:bodyPr/>
                    <a:lstStyle/>
                    <a:p>
                      <a:pPr>
                        <a:buNone/>
                      </a:pPr>
                      <a:r>
                        <a:rPr lang="en-US" altLang="zh-CN">
                          <a:solidFill>
                            <a:srgbClr val="0033CC"/>
                          </a:solidFill>
                        </a:rPr>
                        <a:t>tno</a:t>
                      </a:r>
                      <a:endParaRPr lang="en-US" altLang="zh-CN">
                        <a:solidFill>
                          <a:srgbClr val="0033CC"/>
                        </a:solidFill>
                      </a:endParaRPr>
                    </a:p>
                  </a:txBody>
                  <a:tcPr marL="91449" marR="91449"/>
                </a:tc>
              </a:tr>
            </a:tbl>
          </a:graphicData>
        </a:graphic>
      </p:graphicFrame>
      <p:sp>
        <p:nvSpPr>
          <p:cNvPr id="87076" name="文本框 8"/>
          <p:cNvSpPr txBox="1"/>
          <p:nvPr/>
        </p:nvSpPr>
        <p:spPr>
          <a:xfrm>
            <a:off x="771525" y="2825750"/>
            <a:ext cx="1401763" cy="546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200" dirty="0"/>
              <a:t>sc</a:t>
            </a:r>
            <a:endParaRPr lang="en-US" altLang="zh-CN" sz="2200" dirty="0"/>
          </a:p>
        </p:txBody>
      </p:sp>
      <p:graphicFrame>
        <p:nvGraphicFramePr>
          <p:cNvPr id="10" name="表格 9"/>
          <p:cNvGraphicFramePr/>
          <p:nvPr/>
        </p:nvGraphicFramePr>
        <p:xfrm>
          <a:off x="2159000" y="2971800"/>
          <a:ext cx="3416300" cy="381000"/>
        </p:xfrm>
        <a:graphic>
          <a:graphicData uri="http://schemas.openxmlformats.org/drawingml/2006/table">
            <a:tbl>
              <a:tblPr firstRow="1" bandRow="1">
                <a:tableStyleId>{5C22544A-7EE6-4342-B048-85BDC9FD1C3A}</a:tableStyleId>
              </a:tblPr>
              <a:tblGrid>
                <a:gridCol w="1067673"/>
                <a:gridCol w="1224460"/>
                <a:gridCol w="1124167"/>
              </a:tblGrid>
              <a:tr h="381000">
                <a:tc>
                  <a:txBody>
                    <a:bodyPr/>
                    <a:lstStyle/>
                    <a:p>
                      <a:pPr>
                        <a:buNone/>
                      </a:pPr>
                      <a:r>
                        <a:rPr lang="en-US" altLang="zh-CN" u="sng">
                          <a:solidFill>
                            <a:srgbClr val="0033CC"/>
                          </a:solidFill>
                        </a:rPr>
                        <a:t>s</a:t>
                      </a:r>
                      <a:r>
                        <a:rPr lang="zh-CN" altLang="en-US" u="sng">
                          <a:solidFill>
                            <a:srgbClr val="0033CC"/>
                          </a:solidFill>
                        </a:rPr>
                        <a:t>no</a:t>
                      </a:r>
                      <a:endParaRPr lang="zh-CN" altLang="en-US" u="sng">
                        <a:solidFill>
                          <a:srgbClr val="0033CC"/>
                        </a:solidFill>
                      </a:endParaRPr>
                    </a:p>
                  </a:txBody>
                  <a:tcPr marL="91406" marR="91406"/>
                </a:tc>
                <a:tc>
                  <a:txBody>
                    <a:bodyPr/>
                    <a:lstStyle/>
                    <a:p>
                      <a:pPr>
                        <a:buNone/>
                      </a:pPr>
                      <a:r>
                        <a:rPr lang="en-US" altLang="zh-CN" u="sng">
                          <a:solidFill>
                            <a:srgbClr val="0033CC"/>
                          </a:solidFill>
                        </a:rPr>
                        <a:t>cno</a:t>
                      </a:r>
                      <a:endParaRPr lang="en-US" altLang="zh-CN" u="sng">
                        <a:solidFill>
                          <a:srgbClr val="0033CC"/>
                        </a:solidFill>
                      </a:endParaRPr>
                    </a:p>
                  </a:txBody>
                  <a:tcPr marL="91406" marR="91406"/>
                </a:tc>
                <a:tc>
                  <a:txBody>
                    <a:bodyPr/>
                    <a:lstStyle/>
                    <a:p>
                      <a:pPr>
                        <a:buNone/>
                      </a:pPr>
                      <a:r>
                        <a:rPr lang="en-US" altLang="zh-CN">
                          <a:solidFill>
                            <a:schemeClr val="tx1"/>
                          </a:solidFill>
                        </a:rPr>
                        <a:t>score</a:t>
                      </a:r>
                      <a:endParaRPr lang="en-US" altLang="zh-CN">
                        <a:solidFill>
                          <a:schemeClr val="tx1"/>
                        </a:solidFill>
                      </a:endParaRPr>
                    </a:p>
                  </a:txBody>
                  <a:tcPr marL="91406" marR="91406"/>
                </a:tc>
              </a:tr>
            </a:tbl>
          </a:graphicData>
        </a:graphic>
      </p:graphicFrame>
      <p:sp>
        <p:nvSpPr>
          <p:cNvPr id="87087" name="文本框 10"/>
          <p:cNvSpPr txBox="1"/>
          <p:nvPr/>
        </p:nvSpPr>
        <p:spPr>
          <a:xfrm>
            <a:off x="604838" y="860425"/>
            <a:ext cx="4330700" cy="5524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ct val="0"/>
              </a:spcBef>
              <a:buClrTx/>
              <a:buSzTx/>
              <a:buFont typeface="Arial" panose="020B0604020202020204" pitchFamily="34" charset="0"/>
              <a:buNone/>
            </a:pPr>
            <a:r>
              <a:rPr lang="en-US" altLang="zh-CN" sz="2400" dirty="0">
                <a:sym typeface="+mn-ea"/>
              </a:rPr>
              <a:t>4</a:t>
            </a:r>
            <a:r>
              <a:rPr lang="zh-CN" altLang="en-US" sz="2400" dirty="0">
                <a:sym typeface="+mn-ea"/>
              </a:rPr>
              <a:t>、设学生数据库有如下关系：</a:t>
            </a:r>
            <a:endParaRPr lang="zh-CN" altLang="en-US" sz="2400" dirty="0">
              <a:sym typeface="+mn-ea"/>
            </a:endParaRPr>
          </a:p>
        </p:txBody>
      </p:sp>
      <p:sp>
        <p:nvSpPr>
          <p:cNvPr id="12" name="文本框 11"/>
          <p:cNvSpPr txBox="1"/>
          <p:nvPr/>
        </p:nvSpPr>
        <p:spPr>
          <a:xfrm>
            <a:off x="757238" y="3984625"/>
            <a:ext cx="8118475" cy="11064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ct val="0"/>
              </a:spcBef>
              <a:buClrTx/>
              <a:buSzTx/>
              <a:buFont typeface="Arial" panose="020B0604020202020204" pitchFamily="34" charset="0"/>
              <a:buNone/>
            </a:pPr>
            <a:r>
              <a:rPr lang="en-US" altLang="zh-CN" sz="1800" dirty="0">
                <a:sym typeface="+mn-ea"/>
              </a:rPr>
              <a:t> </a:t>
            </a:r>
            <a:r>
              <a:rPr lang="en-US" altLang="zh-CN" dirty="0">
                <a:sym typeface="+mn-ea"/>
              </a:rPr>
              <a:t>update sc set Score=Score*(1+10%) from </a:t>
            </a:r>
            <a:r>
              <a:rPr lang="en-US" altLang="zh-CN" dirty="0">
                <a:solidFill>
                  <a:srgbClr val="0033CC"/>
                </a:solidFill>
                <a:sym typeface="+mn-ea"/>
              </a:rPr>
              <a:t>sc,course,teacher</a:t>
            </a:r>
            <a:r>
              <a:rPr lang="en-US" altLang="zh-CN" dirty="0">
                <a:sym typeface="+mn-ea"/>
              </a:rPr>
              <a:t> </a:t>
            </a:r>
            <a:endParaRPr lang="en-US" altLang="zh-CN" dirty="0"/>
          </a:p>
          <a:p>
            <a:pPr marL="0" lvl="0" indent="0" eaLnBrk="1" hangingPunct="1">
              <a:lnSpc>
                <a:spcPct val="110000"/>
              </a:lnSpc>
              <a:spcBef>
                <a:spcPct val="0"/>
              </a:spcBef>
              <a:buClrTx/>
              <a:buSzTx/>
              <a:buFont typeface="Arial" panose="020B0604020202020204" pitchFamily="34" charset="0"/>
              <a:buNone/>
            </a:pPr>
            <a:r>
              <a:rPr lang="en-US" altLang="zh-CN" dirty="0">
                <a:sym typeface="+mn-ea"/>
              </a:rPr>
              <a:t>   </a:t>
            </a:r>
            <a:r>
              <a:rPr lang="en-US" altLang="zh-CN" dirty="0">
                <a:solidFill>
                  <a:srgbClr val="0033CC"/>
                </a:solidFill>
                <a:sym typeface="+mn-ea"/>
              </a:rPr>
              <a:t>   where sc.cno=course.cno and course.tno=teacher.tno </a:t>
            </a:r>
            <a:endParaRPr lang="en-US" altLang="zh-CN" dirty="0">
              <a:solidFill>
                <a:srgbClr val="0033CC"/>
              </a:solidFill>
            </a:endParaRPr>
          </a:p>
          <a:p>
            <a:pPr marL="0" lvl="0" indent="0" eaLnBrk="1" hangingPunct="1">
              <a:lnSpc>
                <a:spcPct val="110000"/>
              </a:lnSpc>
              <a:spcBef>
                <a:spcPct val="0"/>
              </a:spcBef>
              <a:buClrTx/>
              <a:buSzTx/>
              <a:buFont typeface="Arial" panose="020B0604020202020204" pitchFamily="34" charset="0"/>
              <a:buNone/>
            </a:pPr>
            <a:r>
              <a:rPr lang="en-US" altLang="zh-CN" dirty="0">
                <a:sym typeface="+mn-ea"/>
              </a:rPr>
              <a:t>      and</a:t>
            </a:r>
            <a:r>
              <a:rPr lang="en-US" altLang="zh-CN" dirty="0">
                <a:solidFill>
                  <a:srgbClr val="CC00FF"/>
                </a:solidFill>
                <a:sym typeface="+mn-ea"/>
              </a:rPr>
              <a:t>Tname='</a:t>
            </a:r>
            <a:r>
              <a:rPr lang="zh-CN" altLang="en-US" dirty="0">
                <a:solidFill>
                  <a:srgbClr val="CC00FF"/>
                </a:solidFill>
                <a:sym typeface="+mn-ea"/>
              </a:rPr>
              <a:t>吕燕</a:t>
            </a:r>
            <a:r>
              <a:rPr lang="en-US" altLang="zh-CN" dirty="0">
                <a:solidFill>
                  <a:srgbClr val="CC00FF"/>
                </a:solidFill>
                <a:sym typeface="+mn-ea"/>
              </a:rPr>
              <a:t>'</a:t>
            </a:r>
            <a:endParaRPr lang="zh-CN" altLang="en-US" dirty="0"/>
          </a:p>
        </p:txBody>
      </p:sp>
      <p:sp>
        <p:nvSpPr>
          <p:cNvPr id="14" name="文本框 13"/>
          <p:cNvSpPr txBox="1"/>
          <p:nvPr/>
        </p:nvSpPr>
        <p:spPr>
          <a:xfrm>
            <a:off x="758825" y="5005388"/>
            <a:ext cx="7877175" cy="110648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ct val="0"/>
              </a:spcBef>
              <a:buClrTx/>
              <a:buSzTx/>
              <a:buFont typeface="Arial" panose="020B0604020202020204" pitchFamily="34" charset="0"/>
              <a:buNone/>
            </a:pPr>
            <a:r>
              <a:rPr lang="en-US" altLang="zh-CN" dirty="0">
                <a:sym typeface="+mn-ea"/>
              </a:rPr>
              <a:t>update</a:t>
            </a:r>
            <a:r>
              <a:rPr lang="zh-CN" altLang="en-US" dirty="0">
                <a:sym typeface="+mn-ea"/>
              </a:rPr>
              <a:t> sc </a:t>
            </a:r>
            <a:r>
              <a:rPr lang="en-US" altLang="zh-CN" dirty="0">
                <a:sym typeface="+mn-ea"/>
              </a:rPr>
              <a:t>set Score=Score*(1+10%)  </a:t>
            </a:r>
            <a:r>
              <a:rPr lang="zh-CN" altLang="en-US" dirty="0">
                <a:sym typeface="+mn-ea"/>
              </a:rPr>
              <a:t>where cno in </a:t>
            </a:r>
            <a:endParaRPr lang="zh-CN" altLang="en-US" dirty="0">
              <a:sym typeface="+mn-ea"/>
            </a:endParaRPr>
          </a:p>
          <a:p>
            <a:pPr marL="0" lvl="0" indent="0" eaLnBrk="1" hangingPunct="1">
              <a:lnSpc>
                <a:spcPct val="110000"/>
              </a:lnSpc>
              <a:spcBef>
                <a:spcPct val="0"/>
              </a:spcBef>
              <a:buClrTx/>
              <a:buSzTx/>
              <a:buFont typeface="Arial" panose="020B0604020202020204" pitchFamily="34" charset="0"/>
              <a:buNone/>
            </a:pPr>
            <a:r>
              <a:rPr lang="zh-CN" altLang="en-US" dirty="0">
                <a:sym typeface="+mn-ea"/>
              </a:rPr>
              <a:t>      (select c.cno </a:t>
            </a:r>
            <a:r>
              <a:rPr lang="zh-CN" altLang="en-US" dirty="0">
                <a:solidFill>
                  <a:srgbClr val="0033CC"/>
                </a:solidFill>
                <a:sym typeface="+mn-ea"/>
              </a:rPr>
              <a:t>from course c,teacher t where c.tno=t.tno</a:t>
            </a:r>
            <a:r>
              <a:rPr lang="zh-CN" altLang="en-US" dirty="0">
                <a:sym typeface="+mn-ea"/>
              </a:rPr>
              <a:t> and</a:t>
            </a:r>
            <a:endParaRPr lang="zh-CN" altLang="en-US" dirty="0">
              <a:sym typeface="+mn-ea"/>
            </a:endParaRPr>
          </a:p>
          <a:p>
            <a:pPr marL="0" lvl="0" indent="0" eaLnBrk="1" hangingPunct="1">
              <a:lnSpc>
                <a:spcPct val="110000"/>
              </a:lnSpc>
              <a:spcBef>
                <a:spcPct val="0"/>
              </a:spcBef>
              <a:buClrTx/>
              <a:buSzTx/>
              <a:buFont typeface="Arial" panose="020B0604020202020204" pitchFamily="34" charset="0"/>
              <a:buNone/>
            </a:pPr>
            <a:r>
              <a:rPr lang="zh-CN" altLang="en-US" dirty="0">
                <a:sym typeface="+mn-ea"/>
              </a:rPr>
              <a:t>      </a:t>
            </a:r>
            <a:r>
              <a:rPr lang="zh-CN" altLang="en-US" dirty="0">
                <a:solidFill>
                  <a:srgbClr val="CC00FF"/>
                </a:solidFill>
                <a:sym typeface="+mn-ea"/>
              </a:rPr>
              <a:t>t.tname=</a:t>
            </a:r>
            <a:r>
              <a:rPr lang="en-US" altLang="zh-CN" dirty="0">
                <a:solidFill>
                  <a:srgbClr val="CC00FF"/>
                </a:solidFill>
                <a:sym typeface="+mn-ea"/>
              </a:rPr>
              <a:t>'</a:t>
            </a:r>
            <a:r>
              <a:rPr lang="zh-CN" altLang="en-US" dirty="0">
                <a:solidFill>
                  <a:srgbClr val="CC00FF"/>
                </a:solidFill>
                <a:sym typeface="+mn-ea"/>
              </a:rPr>
              <a:t>吕燕</a:t>
            </a:r>
            <a:r>
              <a:rPr lang="en-US" altLang="zh-CN" dirty="0">
                <a:solidFill>
                  <a:srgbClr val="CC00FF"/>
                </a:solidFill>
                <a:sym typeface="+mn-ea"/>
              </a:rPr>
              <a:t>'</a:t>
            </a:r>
            <a:r>
              <a:rPr lang="zh-CN" altLang="en-US" dirty="0">
                <a:sym typeface="+mn-ea"/>
              </a:rPr>
              <a:t>)</a:t>
            </a:r>
            <a:endParaRPr lang="zh-CN" altLang="en-US" dirty="0"/>
          </a:p>
        </p:txBody>
      </p:sp>
      <p:sp>
        <p:nvSpPr>
          <p:cNvPr id="15" name="文本框 14"/>
          <p:cNvSpPr txBox="1"/>
          <p:nvPr/>
        </p:nvSpPr>
        <p:spPr>
          <a:xfrm>
            <a:off x="479425" y="0"/>
            <a:ext cx="2681288" cy="830263"/>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问题研讨：</a:t>
            </a:r>
            <a:endParaRPr kumimoji="0" lang="zh-CN" altLang="en-US" sz="3200" kern="1200" cap="none" spc="0" normalizeH="0" baseline="0" noProof="0" dirty="0">
              <a:latin typeface="Arial" panose="020B0604020202020204" pitchFamily="34" charset="0"/>
              <a:ea typeface="宋体" panose="02010600030101010101" pitchFamily="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fill="hold"/>
                                        <p:tgtEl>
                                          <p:spTgt spid="14"/>
                                        </p:tgtEl>
                                        <p:attrNameLst>
                                          <p:attrName>ppt_x</p:attrName>
                                        </p:attrNameLst>
                                      </p:cBhvr>
                                      <p:tavLst>
                                        <p:tav tm="0">
                                          <p:val>
                                            <p:strVal val="#ppt_x"/>
                                          </p:val>
                                        </p:tav>
                                        <p:tav tm="100000">
                                          <p:val>
                                            <p:strVal val="#ppt_x"/>
                                          </p:val>
                                        </p:tav>
                                      </p:tavLst>
                                    </p:anim>
                                    <p:anim calcmode="lin" valueType="num">
                                      <p:cBhvr additive="base">
                                        <p:cTn id="1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 name="表格 2"/>
          <p:cNvGraphicFramePr/>
          <p:nvPr/>
        </p:nvGraphicFramePr>
        <p:xfrm>
          <a:off x="2159000" y="1400175"/>
          <a:ext cx="4519613" cy="420688"/>
        </p:xfrm>
        <a:graphic>
          <a:graphicData uri="http://schemas.openxmlformats.org/drawingml/2006/table">
            <a:tbl>
              <a:tblPr firstRow="1" bandRow="1">
                <a:tableStyleId>{5C22544A-7EE6-4342-B048-85BDC9FD1C3A}</a:tableStyleId>
              </a:tblPr>
              <a:tblGrid>
                <a:gridCol w="1067845"/>
                <a:gridCol w="1224657"/>
                <a:gridCol w="1124348"/>
                <a:gridCol w="1102763"/>
              </a:tblGrid>
              <a:tr h="420688">
                <a:tc>
                  <a:txBody>
                    <a:bodyPr/>
                    <a:lstStyle/>
                    <a:p>
                      <a:pPr>
                        <a:lnSpc>
                          <a:spcPct val="120000"/>
                        </a:lnSpc>
                        <a:buNone/>
                      </a:pPr>
                      <a:r>
                        <a:rPr lang="zh-CN" altLang="en-US" sz="1800" u="sng">
                          <a:solidFill>
                            <a:schemeClr val="tx1"/>
                          </a:solidFill>
                        </a:rPr>
                        <a:t>sno</a:t>
                      </a:r>
                      <a:endParaRPr lang="zh-CN" altLang="en-US" sz="1800" u="sng">
                        <a:solidFill>
                          <a:schemeClr val="tx1"/>
                        </a:solidFill>
                      </a:endParaRPr>
                    </a:p>
                  </a:txBody>
                  <a:tcPr marL="91421" marR="91421" marT="45727" marB="45727"/>
                </a:tc>
                <a:tc>
                  <a:txBody>
                    <a:bodyPr/>
                    <a:lstStyle/>
                    <a:p>
                      <a:pPr>
                        <a:lnSpc>
                          <a:spcPct val="120000"/>
                        </a:lnSpc>
                        <a:buNone/>
                      </a:pPr>
                      <a:r>
                        <a:rPr lang="en-US" altLang="zh-CN" sz="1800">
                          <a:solidFill>
                            <a:schemeClr val="tx1"/>
                          </a:solidFill>
                        </a:rPr>
                        <a:t>sname</a:t>
                      </a:r>
                      <a:endParaRPr lang="en-US" altLang="zh-CN" sz="1800">
                        <a:solidFill>
                          <a:schemeClr val="tx1"/>
                        </a:solidFill>
                      </a:endParaRPr>
                    </a:p>
                  </a:txBody>
                  <a:tcPr marL="91421" marR="91421" marT="45727" marB="45727"/>
                </a:tc>
                <a:tc>
                  <a:txBody>
                    <a:bodyPr/>
                    <a:lstStyle/>
                    <a:p>
                      <a:pPr>
                        <a:lnSpc>
                          <a:spcPct val="120000"/>
                        </a:lnSpc>
                        <a:buNone/>
                      </a:pPr>
                      <a:r>
                        <a:rPr lang="en-US" altLang="zh-CN" sz="1800">
                          <a:solidFill>
                            <a:schemeClr val="tx1"/>
                          </a:solidFill>
                        </a:rPr>
                        <a:t>sage</a:t>
                      </a:r>
                      <a:endParaRPr lang="en-US" altLang="zh-CN" sz="1800">
                        <a:solidFill>
                          <a:schemeClr val="tx1"/>
                        </a:solidFill>
                      </a:endParaRPr>
                    </a:p>
                  </a:txBody>
                  <a:tcPr marL="91421" marR="91421" marT="45727" marB="45727"/>
                </a:tc>
                <a:tc>
                  <a:txBody>
                    <a:bodyPr/>
                    <a:lstStyle/>
                    <a:p>
                      <a:pPr>
                        <a:lnSpc>
                          <a:spcPct val="120000"/>
                        </a:lnSpc>
                        <a:buNone/>
                      </a:pPr>
                      <a:r>
                        <a:rPr lang="zh-CN" altLang="en-US" sz="1800">
                          <a:solidFill>
                            <a:schemeClr val="tx1"/>
                          </a:solidFill>
                        </a:rPr>
                        <a:t>ssex</a:t>
                      </a:r>
                      <a:endParaRPr lang="zh-CN" altLang="en-US" sz="1800">
                        <a:solidFill>
                          <a:schemeClr val="tx1"/>
                        </a:solidFill>
                      </a:endParaRPr>
                    </a:p>
                  </a:txBody>
                  <a:tcPr marL="91421" marR="91421" marT="45727" marB="45727"/>
                </a:tc>
              </a:tr>
            </a:tbl>
          </a:graphicData>
        </a:graphic>
      </p:graphicFrame>
      <p:sp>
        <p:nvSpPr>
          <p:cNvPr id="88078" name="文本框 3"/>
          <p:cNvSpPr txBox="1"/>
          <p:nvPr/>
        </p:nvSpPr>
        <p:spPr>
          <a:xfrm>
            <a:off x="757238" y="1293813"/>
            <a:ext cx="1401762" cy="54768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t>student</a:t>
            </a:r>
            <a:endParaRPr lang="zh-CN" altLang="en-US" sz="2200" dirty="0"/>
          </a:p>
        </p:txBody>
      </p:sp>
      <p:sp>
        <p:nvSpPr>
          <p:cNvPr id="88079" name="文本框 4"/>
          <p:cNvSpPr txBox="1"/>
          <p:nvPr/>
        </p:nvSpPr>
        <p:spPr>
          <a:xfrm>
            <a:off x="755650" y="1790700"/>
            <a:ext cx="1403350" cy="546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t>teacher</a:t>
            </a:r>
            <a:endParaRPr lang="zh-CN" altLang="en-US" sz="2200" dirty="0"/>
          </a:p>
        </p:txBody>
      </p:sp>
      <p:graphicFrame>
        <p:nvGraphicFramePr>
          <p:cNvPr id="6" name="表格 5"/>
          <p:cNvGraphicFramePr/>
          <p:nvPr/>
        </p:nvGraphicFramePr>
        <p:xfrm>
          <a:off x="2159000" y="1876425"/>
          <a:ext cx="2292350" cy="420688"/>
        </p:xfrm>
        <a:graphic>
          <a:graphicData uri="http://schemas.openxmlformats.org/drawingml/2006/table">
            <a:tbl>
              <a:tblPr firstRow="1" bandRow="1">
                <a:tableStyleId>{5C22544A-7EE6-4342-B048-85BDC9FD1C3A}</a:tableStyleId>
              </a:tblPr>
              <a:tblGrid>
                <a:gridCol w="1067774"/>
                <a:gridCol w="1224576"/>
              </a:tblGrid>
              <a:tr h="420688">
                <a:tc>
                  <a:txBody>
                    <a:bodyPr/>
                    <a:lstStyle/>
                    <a:p>
                      <a:pPr>
                        <a:lnSpc>
                          <a:spcPct val="120000"/>
                        </a:lnSpc>
                        <a:buNone/>
                      </a:pPr>
                      <a:r>
                        <a:rPr lang="en-US" altLang="zh-CN" sz="1800" u="sng">
                          <a:solidFill>
                            <a:schemeClr val="tx1"/>
                          </a:solidFill>
                        </a:rPr>
                        <a:t>t</a:t>
                      </a:r>
                      <a:r>
                        <a:rPr lang="zh-CN" altLang="en-US" sz="1800" u="sng">
                          <a:solidFill>
                            <a:schemeClr val="tx1"/>
                          </a:solidFill>
                        </a:rPr>
                        <a:t>no</a:t>
                      </a:r>
                      <a:endParaRPr lang="zh-CN" altLang="en-US" sz="1800" u="sng">
                        <a:solidFill>
                          <a:schemeClr val="tx1"/>
                        </a:solidFill>
                      </a:endParaRPr>
                    </a:p>
                  </a:txBody>
                  <a:tcPr marL="91415" marR="91415" marT="45727" marB="45727"/>
                </a:tc>
                <a:tc>
                  <a:txBody>
                    <a:bodyPr/>
                    <a:lstStyle/>
                    <a:p>
                      <a:pPr>
                        <a:lnSpc>
                          <a:spcPct val="120000"/>
                        </a:lnSpc>
                        <a:buNone/>
                      </a:pPr>
                      <a:r>
                        <a:rPr lang="en-US" altLang="zh-CN" sz="1800">
                          <a:solidFill>
                            <a:schemeClr val="tx1"/>
                          </a:solidFill>
                        </a:rPr>
                        <a:t>tname</a:t>
                      </a:r>
                      <a:endParaRPr lang="en-US" altLang="zh-CN" sz="1800">
                        <a:solidFill>
                          <a:schemeClr val="tx1"/>
                        </a:solidFill>
                      </a:endParaRPr>
                    </a:p>
                  </a:txBody>
                  <a:tcPr marL="91415" marR="91415" marT="45727" marB="45727"/>
                </a:tc>
              </a:tr>
            </a:tbl>
          </a:graphicData>
        </a:graphic>
      </p:graphicFrame>
      <p:sp>
        <p:nvSpPr>
          <p:cNvPr id="88088" name="文本框 6"/>
          <p:cNvSpPr txBox="1"/>
          <p:nvPr/>
        </p:nvSpPr>
        <p:spPr>
          <a:xfrm>
            <a:off x="755650" y="2246313"/>
            <a:ext cx="1403350" cy="54768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t>course</a:t>
            </a:r>
            <a:endParaRPr lang="zh-CN" altLang="en-US" sz="2200" dirty="0"/>
          </a:p>
        </p:txBody>
      </p:sp>
      <p:graphicFrame>
        <p:nvGraphicFramePr>
          <p:cNvPr id="8" name="表格 7"/>
          <p:cNvGraphicFramePr/>
          <p:nvPr/>
        </p:nvGraphicFramePr>
        <p:xfrm>
          <a:off x="2159000" y="2332038"/>
          <a:ext cx="3417888" cy="420688"/>
        </p:xfrm>
        <a:graphic>
          <a:graphicData uri="http://schemas.openxmlformats.org/drawingml/2006/table">
            <a:tbl>
              <a:tblPr firstRow="1" bandRow="1">
                <a:tableStyleId>{5C22544A-7EE6-4342-B048-85BDC9FD1C3A}</a:tableStyleId>
              </a:tblPr>
              <a:tblGrid>
                <a:gridCol w="1068169"/>
                <a:gridCol w="1225029"/>
                <a:gridCol w="1124690"/>
              </a:tblGrid>
              <a:tr h="420687">
                <a:tc>
                  <a:txBody>
                    <a:bodyPr/>
                    <a:lstStyle/>
                    <a:p>
                      <a:pPr>
                        <a:lnSpc>
                          <a:spcPct val="120000"/>
                        </a:lnSpc>
                        <a:buNone/>
                      </a:pPr>
                      <a:r>
                        <a:rPr lang="en-US" altLang="zh-CN" sz="1800" u="sng">
                          <a:solidFill>
                            <a:schemeClr val="tx1"/>
                          </a:solidFill>
                        </a:rPr>
                        <a:t>c</a:t>
                      </a:r>
                      <a:r>
                        <a:rPr lang="zh-CN" altLang="en-US" sz="1800" u="sng">
                          <a:solidFill>
                            <a:schemeClr val="tx1"/>
                          </a:solidFill>
                        </a:rPr>
                        <a:t>no</a:t>
                      </a:r>
                      <a:endParaRPr lang="zh-CN" altLang="en-US" sz="1800" u="sng">
                        <a:solidFill>
                          <a:schemeClr val="tx1"/>
                        </a:solidFill>
                      </a:endParaRPr>
                    </a:p>
                  </a:txBody>
                  <a:tcPr marL="91449" marR="91449" marT="45727" marB="45727"/>
                </a:tc>
                <a:tc>
                  <a:txBody>
                    <a:bodyPr/>
                    <a:lstStyle/>
                    <a:p>
                      <a:pPr>
                        <a:lnSpc>
                          <a:spcPct val="120000"/>
                        </a:lnSpc>
                        <a:buNone/>
                      </a:pPr>
                      <a:r>
                        <a:rPr lang="en-US" altLang="zh-CN" sz="1800">
                          <a:solidFill>
                            <a:schemeClr val="tx1"/>
                          </a:solidFill>
                        </a:rPr>
                        <a:t>cname</a:t>
                      </a:r>
                      <a:endParaRPr lang="en-US" altLang="zh-CN" sz="1800">
                        <a:solidFill>
                          <a:schemeClr val="tx1"/>
                        </a:solidFill>
                      </a:endParaRPr>
                    </a:p>
                  </a:txBody>
                  <a:tcPr marL="91449" marR="91449" marT="45727" marB="45727"/>
                </a:tc>
                <a:tc>
                  <a:txBody>
                    <a:bodyPr/>
                    <a:lstStyle/>
                    <a:p>
                      <a:pPr>
                        <a:lnSpc>
                          <a:spcPct val="120000"/>
                        </a:lnSpc>
                        <a:buNone/>
                      </a:pPr>
                      <a:r>
                        <a:rPr lang="en-US" altLang="zh-CN" sz="1800">
                          <a:solidFill>
                            <a:srgbClr val="0033CC"/>
                          </a:solidFill>
                        </a:rPr>
                        <a:t>tno</a:t>
                      </a:r>
                      <a:endParaRPr lang="en-US" altLang="zh-CN" sz="1800">
                        <a:solidFill>
                          <a:srgbClr val="0033CC"/>
                        </a:solidFill>
                      </a:endParaRPr>
                    </a:p>
                  </a:txBody>
                  <a:tcPr marL="91449" marR="91449" marT="45727" marB="45727"/>
                </a:tc>
              </a:tr>
            </a:tbl>
          </a:graphicData>
        </a:graphic>
      </p:graphicFrame>
      <p:sp>
        <p:nvSpPr>
          <p:cNvPr id="88099" name="文本框 8"/>
          <p:cNvSpPr txBox="1"/>
          <p:nvPr/>
        </p:nvSpPr>
        <p:spPr>
          <a:xfrm>
            <a:off x="771525" y="2641600"/>
            <a:ext cx="1401763" cy="5476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200" dirty="0"/>
              <a:t>sc</a:t>
            </a:r>
            <a:endParaRPr lang="en-US" altLang="zh-CN" sz="2200" dirty="0"/>
          </a:p>
        </p:txBody>
      </p:sp>
      <p:graphicFrame>
        <p:nvGraphicFramePr>
          <p:cNvPr id="10" name="表格 9"/>
          <p:cNvGraphicFramePr/>
          <p:nvPr/>
        </p:nvGraphicFramePr>
        <p:xfrm>
          <a:off x="2159000" y="2789238"/>
          <a:ext cx="3416300" cy="420688"/>
        </p:xfrm>
        <a:graphic>
          <a:graphicData uri="http://schemas.openxmlformats.org/drawingml/2006/table">
            <a:tbl>
              <a:tblPr firstRow="1" bandRow="1">
                <a:tableStyleId>{5C22544A-7EE6-4342-B048-85BDC9FD1C3A}</a:tableStyleId>
              </a:tblPr>
              <a:tblGrid>
                <a:gridCol w="1067673"/>
                <a:gridCol w="1224460"/>
                <a:gridCol w="1124167"/>
              </a:tblGrid>
              <a:tr h="420687">
                <a:tc>
                  <a:txBody>
                    <a:bodyPr/>
                    <a:lstStyle/>
                    <a:p>
                      <a:pPr>
                        <a:lnSpc>
                          <a:spcPct val="120000"/>
                        </a:lnSpc>
                        <a:buNone/>
                      </a:pPr>
                      <a:r>
                        <a:rPr lang="en-US" altLang="zh-CN" sz="1800" u="sng">
                          <a:solidFill>
                            <a:srgbClr val="0033CC"/>
                          </a:solidFill>
                        </a:rPr>
                        <a:t>s</a:t>
                      </a:r>
                      <a:r>
                        <a:rPr lang="zh-CN" altLang="en-US" sz="1800" u="sng">
                          <a:solidFill>
                            <a:srgbClr val="0033CC"/>
                          </a:solidFill>
                        </a:rPr>
                        <a:t>no</a:t>
                      </a:r>
                      <a:endParaRPr lang="zh-CN" altLang="en-US" sz="1800" u="sng">
                        <a:solidFill>
                          <a:srgbClr val="0033CC"/>
                        </a:solidFill>
                      </a:endParaRPr>
                    </a:p>
                  </a:txBody>
                  <a:tcPr marL="91406" marR="91406" marT="45727" marB="45727"/>
                </a:tc>
                <a:tc>
                  <a:txBody>
                    <a:bodyPr/>
                    <a:lstStyle/>
                    <a:p>
                      <a:pPr>
                        <a:lnSpc>
                          <a:spcPct val="120000"/>
                        </a:lnSpc>
                        <a:buNone/>
                      </a:pPr>
                      <a:r>
                        <a:rPr lang="en-US" altLang="zh-CN" sz="1800" u="sng">
                          <a:solidFill>
                            <a:srgbClr val="0033CC"/>
                          </a:solidFill>
                        </a:rPr>
                        <a:t>cno</a:t>
                      </a:r>
                      <a:endParaRPr lang="en-US" altLang="zh-CN" sz="1800" u="sng">
                        <a:solidFill>
                          <a:srgbClr val="0033CC"/>
                        </a:solidFill>
                      </a:endParaRPr>
                    </a:p>
                  </a:txBody>
                  <a:tcPr marL="91406" marR="91406" marT="45727" marB="45727"/>
                </a:tc>
                <a:tc>
                  <a:txBody>
                    <a:bodyPr/>
                    <a:lstStyle/>
                    <a:p>
                      <a:pPr>
                        <a:lnSpc>
                          <a:spcPct val="120000"/>
                        </a:lnSpc>
                        <a:buNone/>
                      </a:pPr>
                      <a:r>
                        <a:rPr lang="en-US" altLang="zh-CN" sz="1800">
                          <a:solidFill>
                            <a:schemeClr val="tx1"/>
                          </a:solidFill>
                        </a:rPr>
                        <a:t>score</a:t>
                      </a:r>
                      <a:endParaRPr lang="en-US" altLang="zh-CN" sz="1800">
                        <a:solidFill>
                          <a:schemeClr val="tx1"/>
                        </a:solidFill>
                      </a:endParaRPr>
                    </a:p>
                  </a:txBody>
                  <a:tcPr marL="91406" marR="91406" marT="45727" marB="45727"/>
                </a:tc>
              </a:tr>
            </a:tbl>
          </a:graphicData>
        </a:graphic>
      </p:graphicFrame>
      <p:sp>
        <p:nvSpPr>
          <p:cNvPr id="88110" name="文本框 10"/>
          <p:cNvSpPr txBox="1"/>
          <p:nvPr/>
        </p:nvSpPr>
        <p:spPr>
          <a:xfrm>
            <a:off x="604838" y="860425"/>
            <a:ext cx="4330700" cy="5524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ct val="0"/>
              </a:spcBef>
              <a:buClrTx/>
              <a:buSzTx/>
              <a:buFont typeface="Arial" panose="020B0604020202020204" pitchFamily="34" charset="0"/>
              <a:buNone/>
            </a:pPr>
            <a:r>
              <a:rPr lang="en-US" altLang="zh-CN" sz="2400" dirty="0">
                <a:sym typeface="+mn-ea"/>
              </a:rPr>
              <a:t>4</a:t>
            </a:r>
            <a:r>
              <a:rPr lang="zh-CN" altLang="en-US" sz="2400" dirty="0">
                <a:sym typeface="+mn-ea"/>
              </a:rPr>
              <a:t>、设学生数据库有如下关系：</a:t>
            </a:r>
            <a:endParaRPr lang="zh-CN" altLang="en-US" sz="2400" dirty="0">
              <a:sym typeface="+mn-ea"/>
            </a:endParaRPr>
          </a:p>
        </p:txBody>
      </p:sp>
      <p:sp>
        <p:nvSpPr>
          <p:cNvPr id="88111" name="文本框 1"/>
          <p:cNvSpPr txBox="1"/>
          <p:nvPr/>
        </p:nvSpPr>
        <p:spPr>
          <a:xfrm>
            <a:off x="604838" y="3302000"/>
            <a:ext cx="8385175" cy="135318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t>（</a:t>
            </a:r>
            <a:r>
              <a:rPr lang="en-US" altLang="zh-CN" dirty="0"/>
              <a:t>2</a:t>
            </a:r>
            <a:r>
              <a:rPr lang="zh-CN" altLang="en-US" dirty="0"/>
              <a:t>）删除学号为</a:t>
            </a:r>
            <a:r>
              <a:rPr lang="en-US" altLang="zh-CN" dirty="0">
                <a:sym typeface="+mn-ea"/>
              </a:rPr>
              <a:t>2018001122</a:t>
            </a:r>
            <a:r>
              <a:rPr lang="zh-CN" altLang="en-US" dirty="0">
                <a:sym typeface="+mn-ea"/>
              </a:rPr>
              <a:t>学生的选课记录</a:t>
            </a:r>
            <a:endParaRPr lang="zh-CN" altLang="en-US" dirty="0">
              <a:sym typeface="+mn-ea"/>
            </a:endParaRPr>
          </a:p>
          <a:p>
            <a:pPr marL="0" lvl="0" indent="0" eaLnBrk="1" hangingPunct="1">
              <a:spcBef>
                <a:spcPct val="0"/>
              </a:spcBef>
              <a:buClrTx/>
              <a:buSzTx/>
              <a:buFont typeface="Arial" panose="020B0604020202020204" pitchFamily="34" charset="0"/>
              <a:buNone/>
            </a:pPr>
            <a:endParaRPr lang="en-US" altLang="zh-CN" dirty="0">
              <a:sym typeface="+mn-ea"/>
            </a:endParaRPr>
          </a:p>
          <a:p>
            <a:pPr marL="0" lvl="0" indent="0" eaLnBrk="1" hangingPunct="1">
              <a:lnSpc>
                <a:spcPct val="100000"/>
              </a:lnSpc>
              <a:spcBef>
                <a:spcPct val="0"/>
              </a:spcBef>
              <a:buClrTx/>
              <a:buSzTx/>
              <a:buFont typeface="Arial" panose="020B0604020202020204" pitchFamily="34" charset="0"/>
              <a:buNone/>
            </a:pPr>
            <a:endParaRPr lang="zh-CN" altLang="en-US" dirty="0"/>
          </a:p>
          <a:p>
            <a:pPr marL="0" lvl="0" indent="0" eaLnBrk="1" hangingPunct="1">
              <a:lnSpc>
                <a:spcPct val="110000"/>
              </a:lnSpc>
              <a:spcBef>
                <a:spcPct val="0"/>
              </a:spcBef>
              <a:buClrTx/>
              <a:buSzTx/>
              <a:buFont typeface="Arial" panose="020B0604020202020204" pitchFamily="34" charset="0"/>
              <a:buNone/>
            </a:pPr>
            <a:r>
              <a:rPr lang="zh-CN" altLang="en-US" dirty="0"/>
              <a:t>（</a:t>
            </a:r>
            <a:r>
              <a:rPr lang="en-US" altLang="zh-CN" dirty="0"/>
              <a:t>3</a:t>
            </a:r>
            <a:r>
              <a:rPr lang="zh-CN" altLang="en-US" dirty="0"/>
              <a:t>）将吕燕老师所讲授的课程选课信息全部删除</a:t>
            </a:r>
            <a:r>
              <a:rPr lang="en-US" altLang="zh-CN" dirty="0"/>
              <a:t> </a:t>
            </a:r>
            <a:endParaRPr lang="en-US" altLang="zh-CN" dirty="0"/>
          </a:p>
        </p:txBody>
      </p:sp>
      <p:sp>
        <p:nvSpPr>
          <p:cNvPr id="12" name="文本框 11"/>
          <p:cNvSpPr txBox="1"/>
          <p:nvPr/>
        </p:nvSpPr>
        <p:spPr>
          <a:xfrm>
            <a:off x="771525" y="4562475"/>
            <a:ext cx="8118475" cy="7683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ct val="0"/>
              </a:spcBef>
              <a:buClrTx/>
              <a:buSzTx/>
              <a:buFont typeface="Arial" panose="020B0604020202020204" pitchFamily="34" charset="0"/>
              <a:buNone/>
            </a:pPr>
            <a:r>
              <a:rPr lang="en-US" altLang="zh-CN" sz="1800" dirty="0">
                <a:sym typeface="+mn-ea"/>
              </a:rPr>
              <a:t>delete</a:t>
            </a:r>
            <a:r>
              <a:rPr lang="en-US" altLang="zh-CN" dirty="0">
                <a:sym typeface="+mn-ea"/>
              </a:rPr>
              <a:t> sc from </a:t>
            </a:r>
            <a:r>
              <a:rPr lang="en-US" altLang="zh-CN" dirty="0">
                <a:solidFill>
                  <a:srgbClr val="0033CC"/>
                </a:solidFill>
                <a:sym typeface="+mn-ea"/>
              </a:rPr>
              <a:t>sc,course,teacher</a:t>
            </a:r>
            <a:r>
              <a:rPr lang="en-US" altLang="zh-CN" dirty="0">
                <a:sym typeface="+mn-ea"/>
              </a:rPr>
              <a:t> </a:t>
            </a:r>
            <a:r>
              <a:rPr lang="en-US" altLang="zh-CN" dirty="0">
                <a:solidFill>
                  <a:srgbClr val="0033CC"/>
                </a:solidFill>
                <a:sym typeface="+mn-ea"/>
              </a:rPr>
              <a:t> where sc.cno=course.cno and</a:t>
            </a:r>
            <a:endParaRPr lang="en-US" altLang="zh-CN" dirty="0">
              <a:solidFill>
                <a:srgbClr val="0033CC"/>
              </a:solidFill>
              <a:sym typeface="+mn-ea"/>
            </a:endParaRPr>
          </a:p>
          <a:p>
            <a:pPr marL="0" lvl="0" indent="0" eaLnBrk="1" hangingPunct="1">
              <a:lnSpc>
                <a:spcPct val="110000"/>
              </a:lnSpc>
              <a:spcBef>
                <a:spcPct val="0"/>
              </a:spcBef>
              <a:buClrTx/>
              <a:buSzTx/>
              <a:buFont typeface="Arial" panose="020B0604020202020204" pitchFamily="34" charset="0"/>
              <a:buNone/>
            </a:pPr>
            <a:r>
              <a:rPr lang="en-US" altLang="zh-CN" dirty="0">
                <a:solidFill>
                  <a:srgbClr val="0033CC"/>
                </a:solidFill>
                <a:sym typeface="+mn-ea"/>
              </a:rPr>
              <a:t>    course.tno=teacher.tno </a:t>
            </a:r>
            <a:r>
              <a:rPr lang="en-US" altLang="zh-CN" dirty="0">
                <a:sym typeface="+mn-ea"/>
              </a:rPr>
              <a:t>  and</a:t>
            </a:r>
            <a:r>
              <a:rPr lang="en-US" altLang="zh-CN" dirty="0">
                <a:solidFill>
                  <a:srgbClr val="CC00FF"/>
                </a:solidFill>
                <a:sym typeface="+mn-ea"/>
              </a:rPr>
              <a:t>Tname='</a:t>
            </a:r>
            <a:r>
              <a:rPr lang="zh-CN" altLang="en-US" dirty="0">
                <a:solidFill>
                  <a:srgbClr val="CC00FF"/>
                </a:solidFill>
                <a:sym typeface="+mn-ea"/>
              </a:rPr>
              <a:t>吕燕</a:t>
            </a:r>
            <a:r>
              <a:rPr lang="en-US" altLang="zh-CN" dirty="0">
                <a:solidFill>
                  <a:srgbClr val="CC00FF"/>
                </a:solidFill>
                <a:sym typeface="+mn-ea"/>
              </a:rPr>
              <a:t>'</a:t>
            </a:r>
            <a:endParaRPr lang="zh-CN" altLang="en-US" dirty="0"/>
          </a:p>
        </p:txBody>
      </p:sp>
      <p:sp>
        <p:nvSpPr>
          <p:cNvPr id="13" name="文本框 12"/>
          <p:cNvSpPr txBox="1"/>
          <p:nvPr/>
        </p:nvSpPr>
        <p:spPr>
          <a:xfrm>
            <a:off x="679450" y="5330825"/>
            <a:ext cx="8137525" cy="7683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ct val="0"/>
              </a:spcBef>
              <a:buClrTx/>
              <a:buSzTx/>
              <a:buFont typeface="Arial" panose="020B0604020202020204" pitchFamily="34" charset="0"/>
              <a:buNone/>
            </a:pPr>
            <a:r>
              <a:rPr lang="zh-CN" altLang="en-US" dirty="0">
                <a:sym typeface="+mn-ea"/>
              </a:rPr>
              <a:t>delete sc where cno in (select c.cno </a:t>
            </a:r>
            <a:r>
              <a:rPr lang="zh-CN" altLang="en-US" dirty="0">
                <a:solidFill>
                  <a:srgbClr val="0033CC"/>
                </a:solidFill>
                <a:sym typeface="+mn-ea"/>
              </a:rPr>
              <a:t>from course c,teacher t</a:t>
            </a:r>
            <a:endParaRPr lang="zh-CN" altLang="en-US" dirty="0">
              <a:solidFill>
                <a:srgbClr val="0033CC"/>
              </a:solidFill>
              <a:sym typeface="+mn-ea"/>
            </a:endParaRPr>
          </a:p>
          <a:p>
            <a:pPr marL="0" lvl="0" indent="0" eaLnBrk="1" hangingPunct="1">
              <a:lnSpc>
                <a:spcPct val="110000"/>
              </a:lnSpc>
              <a:spcBef>
                <a:spcPct val="0"/>
              </a:spcBef>
              <a:buClrTx/>
              <a:buSzTx/>
              <a:buFont typeface="Arial" panose="020B0604020202020204" pitchFamily="34" charset="0"/>
              <a:buNone/>
            </a:pPr>
            <a:r>
              <a:rPr lang="zh-CN" altLang="en-US" dirty="0">
                <a:solidFill>
                  <a:srgbClr val="0033CC"/>
                </a:solidFill>
                <a:sym typeface="+mn-ea"/>
              </a:rPr>
              <a:t>     where c.tno=t.tno</a:t>
            </a:r>
            <a:r>
              <a:rPr lang="zh-CN" altLang="en-US" dirty="0">
                <a:sym typeface="+mn-ea"/>
              </a:rPr>
              <a:t> and t.tname=</a:t>
            </a:r>
            <a:r>
              <a:rPr lang="en-US" altLang="zh-CN" dirty="0">
                <a:solidFill>
                  <a:srgbClr val="CC00FF"/>
                </a:solidFill>
                <a:sym typeface="+mn-ea"/>
              </a:rPr>
              <a:t>'</a:t>
            </a:r>
            <a:r>
              <a:rPr lang="zh-CN" altLang="en-US" dirty="0">
                <a:solidFill>
                  <a:srgbClr val="CC00FF"/>
                </a:solidFill>
                <a:sym typeface="+mn-ea"/>
              </a:rPr>
              <a:t>吕燕</a:t>
            </a:r>
            <a:r>
              <a:rPr lang="en-US" altLang="zh-CN" dirty="0">
                <a:solidFill>
                  <a:srgbClr val="CC00FF"/>
                </a:solidFill>
                <a:sym typeface="+mn-ea"/>
              </a:rPr>
              <a:t>'</a:t>
            </a:r>
            <a:r>
              <a:rPr lang="zh-CN" altLang="en-US" dirty="0">
                <a:sym typeface="+mn-ea"/>
              </a:rPr>
              <a:t>)</a:t>
            </a:r>
            <a:endParaRPr lang="zh-CN" altLang="en-US" dirty="0"/>
          </a:p>
        </p:txBody>
      </p:sp>
      <p:sp>
        <p:nvSpPr>
          <p:cNvPr id="14" name="文本框 13"/>
          <p:cNvSpPr txBox="1"/>
          <p:nvPr/>
        </p:nvSpPr>
        <p:spPr>
          <a:xfrm>
            <a:off x="966788" y="3788093"/>
            <a:ext cx="4257675" cy="5064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sym typeface="+mn-ea"/>
              </a:rPr>
              <a:t>delete sc </a:t>
            </a:r>
            <a:r>
              <a:rPr lang="en-US" altLang="zh-CN" dirty="0">
                <a:solidFill>
                  <a:srgbClr val="CC00FF"/>
                </a:solidFill>
                <a:sym typeface="+mn-ea"/>
              </a:rPr>
              <a:t>where sno='2018001122'</a:t>
            </a:r>
            <a:endParaRPr lang="en-US" altLang="zh-CN" dirty="0">
              <a:solidFill>
                <a:srgbClr val="CC00FF"/>
              </a:solidFill>
              <a:sym typeface="+mn-ea"/>
            </a:endParaRPr>
          </a:p>
        </p:txBody>
      </p:sp>
      <p:sp>
        <p:nvSpPr>
          <p:cNvPr id="15" name="文本框 14"/>
          <p:cNvSpPr txBox="1"/>
          <p:nvPr/>
        </p:nvSpPr>
        <p:spPr>
          <a:xfrm>
            <a:off x="479425" y="0"/>
            <a:ext cx="2681288" cy="830263"/>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问题研讨：</a:t>
            </a:r>
            <a:endParaRPr kumimoji="0" lang="zh-CN" altLang="en-US" sz="3200" kern="1200" cap="none" spc="0" normalizeH="0" baseline="0" noProof="0" dirty="0">
              <a:latin typeface="Arial" panose="020B0604020202020204" pitchFamily="34" charset="0"/>
              <a:ea typeface="宋体" panose="02010600030101010101" pitchFamily="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ppt_x"/>
                                          </p:val>
                                        </p:tav>
                                        <p:tav tm="100000">
                                          <p:val>
                                            <p:strVal val="#ppt_x"/>
                                          </p:val>
                                        </p:tav>
                                      </p:tavLst>
                                    </p:anim>
                                    <p:anim calcmode="lin" valueType="num">
                                      <p:cBhvr additive="base">
                                        <p:cTn id="2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Text Box 4"/>
          <p:cNvSpPr txBox="1"/>
          <p:nvPr/>
        </p:nvSpPr>
        <p:spPr>
          <a:xfrm>
            <a:off x="698500" y="930275"/>
            <a:ext cx="7664450" cy="11080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200" dirty="0">
                <a:latin typeface="宋体" panose="02010600030101010101" pitchFamily="2" charset="-122"/>
              </a:rPr>
              <a:t>5</a:t>
            </a:r>
            <a:r>
              <a:rPr lang="zh-CN" altLang="en-US" sz="2200" dirty="0">
                <a:latin typeface="宋体" panose="02010600030101010101" pitchFamily="2" charset="-122"/>
              </a:rPr>
              <a:t>、有如下关系：学生</a:t>
            </a:r>
            <a:r>
              <a:rPr lang="en-US" altLang="zh-CN" sz="2200" dirty="0">
                <a:latin typeface="宋体" panose="02010600030101010101" pitchFamily="2" charset="-122"/>
              </a:rPr>
              <a:t>S(</a:t>
            </a:r>
            <a:r>
              <a:rPr lang="en-US" altLang="zh-CN" sz="2200" u="sng" dirty="0">
                <a:latin typeface="宋体" panose="02010600030101010101" pitchFamily="2" charset="-122"/>
              </a:rPr>
              <a:t>SID</a:t>
            </a:r>
            <a:r>
              <a:rPr lang="en-US" altLang="zh-CN" sz="2200" dirty="0">
                <a:latin typeface="宋体" panose="02010600030101010101" pitchFamily="2" charset="-122"/>
              </a:rPr>
              <a:t>,SName,SGender,SAge)</a:t>
            </a:r>
            <a:endParaRPr lang="en-US" altLang="zh-CN" sz="2200" dirty="0">
              <a:latin typeface="宋体" panose="02010600030101010101" pitchFamily="2" charset="-122"/>
            </a:endParaRPr>
          </a:p>
          <a:p>
            <a:pPr marL="0" lvl="0" indent="0" eaLnBrk="1" hangingPunct="1">
              <a:spcBef>
                <a:spcPct val="0"/>
              </a:spcBef>
              <a:buClrTx/>
              <a:buSzTx/>
              <a:buFont typeface="Arial" panose="020B0604020202020204" pitchFamily="34" charset="0"/>
              <a:buNone/>
            </a:pPr>
            <a:r>
              <a:rPr lang="en-US" altLang="zh-CN" sz="2200" dirty="0">
                <a:latin typeface="宋体" panose="02010600030101010101" pitchFamily="2" charset="-122"/>
              </a:rPr>
              <a:t>               </a:t>
            </a:r>
            <a:r>
              <a:rPr lang="zh-CN" altLang="zh-CN" sz="2200" dirty="0">
                <a:latin typeface="宋体" panose="02010600030101010101" pitchFamily="2" charset="-122"/>
              </a:rPr>
              <a:t>课程</a:t>
            </a:r>
            <a:r>
              <a:rPr lang="en-US" altLang="zh-CN" sz="2200" dirty="0">
                <a:latin typeface="宋体" panose="02010600030101010101" pitchFamily="2" charset="-122"/>
              </a:rPr>
              <a:t>C(</a:t>
            </a:r>
            <a:r>
              <a:rPr lang="en-US" altLang="zh-CN" sz="2200" u="sng" dirty="0">
                <a:latin typeface="宋体" panose="02010600030101010101" pitchFamily="2" charset="-122"/>
              </a:rPr>
              <a:t>CID</a:t>
            </a:r>
            <a:r>
              <a:rPr lang="en-US" altLang="zh-CN" sz="2200" dirty="0">
                <a:latin typeface="宋体" panose="02010600030101010101" pitchFamily="2" charset="-122"/>
              </a:rPr>
              <a:t>,CName,CRedit)</a:t>
            </a:r>
            <a:endParaRPr lang="en-US" altLang="zh-CN" sz="2200" dirty="0">
              <a:latin typeface="宋体" panose="02010600030101010101" pitchFamily="2" charset="-122"/>
            </a:endParaRPr>
          </a:p>
          <a:p>
            <a:pPr marL="0" lvl="0" indent="0" eaLnBrk="1" hangingPunct="1">
              <a:spcBef>
                <a:spcPct val="0"/>
              </a:spcBef>
              <a:buClrTx/>
              <a:buSzTx/>
              <a:buFont typeface="Arial" panose="020B0604020202020204" pitchFamily="34" charset="0"/>
              <a:buNone/>
            </a:pPr>
            <a:r>
              <a:rPr lang="zh-CN" altLang="zh-CN" sz="2200" dirty="0">
                <a:latin typeface="宋体" panose="02010600030101010101" pitchFamily="2" charset="-122"/>
              </a:rPr>
              <a:t>               选课</a:t>
            </a:r>
            <a:r>
              <a:rPr lang="en-US" altLang="zh-CN" sz="2200" dirty="0">
                <a:latin typeface="宋体" panose="02010600030101010101" pitchFamily="2" charset="-122"/>
              </a:rPr>
              <a:t>SC(</a:t>
            </a:r>
            <a:r>
              <a:rPr lang="en-US" altLang="zh-CN" sz="2200" u="sng" dirty="0">
                <a:latin typeface="宋体" panose="02010600030101010101" pitchFamily="2" charset="-122"/>
              </a:rPr>
              <a:t>SID,CID</a:t>
            </a:r>
            <a:r>
              <a:rPr lang="en-US" altLang="zh-CN" sz="2200" dirty="0">
                <a:latin typeface="宋体" panose="02010600030101010101" pitchFamily="2" charset="-122"/>
              </a:rPr>
              <a:t>,Score)</a:t>
            </a:r>
            <a:r>
              <a:rPr lang="en-US" altLang="zh-CN" sz="2200" u="sng" dirty="0">
                <a:latin typeface="宋体" panose="02010600030101010101" pitchFamily="2" charset="-122"/>
              </a:rPr>
              <a:t>SID,CID</a:t>
            </a:r>
            <a:r>
              <a:rPr lang="zh-CN" altLang="zh-CN" sz="2200" u="sng" dirty="0">
                <a:latin typeface="宋体" panose="02010600030101010101" pitchFamily="2" charset="-122"/>
              </a:rPr>
              <a:t>为外键</a:t>
            </a:r>
            <a:endParaRPr lang="zh-CN" altLang="zh-CN" sz="2200" u="sng" dirty="0">
              <a:latin typeface="宋体" panose="02010600030101010101" pitchFamily="2" charset="-122"/>
            </a:endParaRPr>
          </a:p>
        </p:txBody>
      </p:sp>
      <p:sp>
        <p:nvSpPr>
          <p:cNvPr id="89091" name="Text Box 4"/>
          <p:cNvSpPr txBox="1"/>
          <p:nvPr/>
        </p:nvSpPr>
        <p:spPr>
          <a:xfrm>
            <a:off x="698500" y="1973263"/>
            <a:ext cx="7664450" cy="346138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zh-CN" dirty="0">
                <a:latin typeface="宋体" panose="02010600030101010101" pitchFamily="2" charset="-122"/>
                <a:sym typeface="宋体" panose="02010600030101010101" pitchFamily="2" charset="-122"/>
              </a:rPr>
              <a:t>（</a:t>
            </a:r>
            <a:r>
              <a:rPr lang="en-US" altLang="zh-CN" dirty="0">
                <a:latin typeface="宋体" panose="02010600030101010101" pitchFamily="2" charset="-122"/>
                <a:sym typeface="宋体" panose="02010600030101010101" pitchFamily="2" charset="-122"/>
              </a:rPr>
              <a:t>1</a:t>
            </a:r>
            <a:r>
              <a:rPr lang="zh-CN" altLang="en-US" dirty="0">
                <a:latin typeface="宋体" panose="02010600030101010101" pitchFamily="2" charset="-122"/>
                <a:sym typeface="宋体" panose="02010600030101010101" pitchFamily="2" charset="-122"/>
              </a:rPr>
              <a:t>）向表</a:t>
            </a:r>
            <a:r>
              <a:rPr lang="en-US" altLang="zh-CN" dirty="0">
                <a:latin typeface="宋体" panose="02010600030101010101" pitchFamily="2" charset="-122"/>
                <a:sym typeface="宋体" panose="02010600030101010101" pitchFamily="2" charset="-122"/>
              </a:rPr>
              <a:t>S</a:t>
            </a:r>
            <a:r>
              <a:rPr lang="zh-CN" altLang="zh-CN" dirty="0">
                <a:latin typeface="宋体" panose="02010600030101010101" pitchFamily="2" charset="-122"/>
                <a:sym typeface="宋体" panose="02010600030101010101" pitchFamily="2" charset="-122"/>
              </a:rPr>
              <a:t>插入</a:t>
            </a:r>
            <a:r>
              <a:rPr lang="en-US" altLang="zh-CN" dirty="0">
                <a:latin typeface="宋体" panose="02010600030101010101" pitchFamily="2" charset="-122"/>
                <a:sym typeface="宋体" panose="02010600030101010101" pitchFamily="2" charset="-122"/>
              </a:rPr>
              <a:t>'20150101','</a:t>
            </a:r>
            <a:r>
              <a:rPr lang="zh-CN" altLang="zh-CN" dirty="0">
                <a:latin typeface="宋体" panose="02010600030101010101" pitchFamily="2" charset="-122"/>
                <a:sym typeface="宋体" panose="02010600030101010101" pitchFamily="2" charset="-122"/>
              </a:rPr>
              <a:t>王恒</a:t>
            </a:r>
            <a:r>
              <a:rPr lang="en-US" altLang="zh-CN" dirty="0">
                <a:latin typeface="宋体" panose="02010600030101010101" pitchFamily="2" charset="-122"/>
                <a:sym typeface="宋体" panose="02010600030101010101" pitchFamily="2" charset="-122"/>
              </a:rPr>
              <a:t>','</a:t>
            </a:r>
            <a:r>
              <a:rPr lang="zh-CN" altLang="zh-CN" dirty="0">
                <a:latin typeface="宋体" panose="02010600030101010101" pitchFamily="2" charset="-122"/>
                <a:sym typeface="宋体" panose="02010600030101010101" pitchFamily="2" charset="-122"/>
              </a:rPr>
              <a:t>男</a:t>
            </a:r>
            <a:r>
              <a:rPr lang="en-US" altLang="zh-CN" dirty="0">
                <a:latin typeface="宋体" panose="02010600030101010101" pitchFamily="2" charset="-122"/>
                <a:sym typeface="宋体" panose="02010600030101010101" pitchFamily="2" charset="-122"/>
              </a:rPr>
              <a:t>',21</a:t>
            </a:r>
            <a:endParaRPr lang="en-US" altLang="zh-CN" dirty="0">
              <a:latin typeface="宋体" panose="02010600030101010101" pitchFamily="2" charset="-122"/>
              <a:sym typeface="宋体" panose="02010600030101010101" pitchFamily="2" charset="-122"/>
            </a:endParaRPr>
          </a:p>
          <a:p>
            <a:pPr marL="0" lvl="0" indent="0" eaLnBrk="1" hangingPunct="1">
              <a:lnSpc>
                <a:spcPct val="135000"/>
              </a:lnSpc>
              <a:spcBef>
                <a:spcPct val="0"/>
              </a:spcBef>
              <a:buClrTx/>
              <a:buSzTx/>
              <a:buFont typeface="Arial" panose="020B0604020202020204" pitchFamily="34" charset="0"/>
              <a:buNone/>
            </a:pPr>
            <a:endParaRPr lang="en-US" altLang="zh-CN" dirty="0">
              <a:latin typeface="宋体" panose="02010600030101010101" pitchFamily="2" charset="-122"/>
              <a:sym typeface="宋体" panose="02010600030101010101" pitchFamily="2" charset="-122"/>
            </a:endParaRPr>
          </a:p>
          <a:p>
            <a:pPr marL="0" lvl="0" indent="0" eaLnBrk="1" hangingPunct="1">
              <a:lnSpc>
                <a:spcPct val="110000"/>
              </a:lnSpc>
              <a:spcBef>
                <a:spcPct val="0"/>
              </a:spcBef>
              <a:buClrTx/>
              <a:buSzTx/>
              <a:buFont typeface="Arial" panose="020B0604020202020204" pitchFamily="34" charset="0"/>
              <a:buNone/>
            </a:pPr>
            <a:r>
              <a:rPr lang="zh-CN" altLang="zh-CN" dirty="0">
                <a:latin typeface="宋体" panose="02010600030101010101" pitchFamily="2" charset="-122"/>
                <a:sym typeface="宋体" panose="02010600030101010101" pitchFamily="2" charset="-122"/>
              </a:rPr>
              <a:t>（</a:t>
            </a:r>
            <a:r>
              <a:rPr lang="en-US" altLang="zh-CN" dirty="0">
                <a:latin typeface="宋体" panose="02010600030101010101" pitchFamily="2" charset="-122"/>
                <a:sym typeface="宋体" panose="02010600030101010101" pitchFamily="2" charset="-122"/>
              </a:rPr>
              <a:t>2</a:t>
            </a:r>
            <a:r>
              <a:rPr lang="zh-CN" altLang="en-US" dirty="0">
                <a:latin typeface="宋体" panose="02010600030101010101" pitchFamily="2" charset="-122"/>
                <a:sym typeface="宋体" panose="02010600030101010101" pitchFamily="2" charset="-122"/>
              </a:rPr>
              <a:t>）将表</a:t>
            </a:r>
            <a:r>
              <a:rPr lang="en-US" altLang="zh-CN" dirty="0">
                <a:latin typeface="宋体" panose="02010600030101010101" pitchFamily="2" charset="-122"/>
                <a:sym typeface="宋体" panose="02010600030101010101" pitchFamily="2" charset="-122"/>
              </a:rPr>
              <a:t>C</a:t>
            </a:r>
            <a:r>
              <a:rPr lang="zh-CN" altLang="zh-CN" dirty="0">
                <a:latin typeface="宋体" panose="02010600030101010101" pitchFamily="2" charset="-122"/>
                <a:sym typeface="宋体" panose="02010600030101010101" pitchFamily="2" charset="-122"/>
              </a:rPr>
              <a:t>中</a:t>
            </a:r>
            <a:r>
              <a:rPr lang="en-US" altLang="zh-CN" dirty="0">
                <a:latin typeface="宋体" panose="02010600030101010101" pitchFamily="2" charset="-122"/>
                <a:sym typeface="宋体" panose="02010600030101010101" pitchFamily="2" charset="-122"/>
              </a:rPr>
              <a:t>‘</a:t>
            </a:r>
            <a:r>
              <a:rPr lang="zh-CN" altLang="en-US" dirty="0">
                <a:latin typeface="宋体" panose="02010600030101010101" pitchFamily="2" charset="-122"/>
                <a:sym typeface="宋体" panose="02010600030101010101" pitchFamily="2" charset="-122"/>
              </a:rPr>
              <a:t>数据库原理与设计</a:t>
            </a:r>
            <a:r>
              <a:rPr lang="en-US" altLang="zh-CN" dirty="0">
                <a:latin typeface="宋体" panose="02010600030101010101" pitchFamily="2" charset="-122"/>
                <a:sym typeface="宋体" panose="02010600030101010101" pitchFamily="2" charset="-122"/>
              </a:rPr>
              <a:t>’</a:t>
            </a:r>
            <a:r>
              <a:rPr lang="zh-CN" altLang="en-US" dirty="0">
                <a:latin typeface="宋体" panose="02010600030101010101" pitchFamily="2" charset="-122"/>
                <a:sym typeface="宋体" panose="02010600030101010101" pitchFamily="2" charset="-122"/>
              </a:rPr>
              <a:t>学分由</a:t>
            </a:r>
            <a:r>
              <a:rPr lang="en-US" altLang="zh-CN" dirty="0">
                <a:latin typeface="宋体" panose="02010600030101010101" pitchFamily="2" charset="-122"/>
                <a:sym typeface="宋体" panose="02010600030101010101" pitchFamily="2" charset="-122"/>
              </a:rPr>
              <a:t>4</a:t>
            </a:r>
            <a:r>
              <a:rPr lang="zh-CN" altLang="en-US" dirty="0">
                <a:latin typeface="宋体" panose="02010600030101010101" pitchFamily="2" charset="-122"/>
                <a:sym typeface="宋体" panose="02010600030101010101" pitchFamily="2" charset="-122"/>
              </a:rPr>
              <a:t>变为</a:t>
            </a:r>
            <a:r>
              <a:rPr lang="en-US" altLang="zh-CN" dirty="0">
                <a:latin typeface="宋体" panose="02010600030101010101" pitchFamily="2" charset="-122"/>
                <a:sym typeface="宋体" panose="02010600030101010101" pitchFamily="2" charset="-122"/>
              </a:rPr>
              <a:t>2</a:t>
            </a:r>
            <a:endParaRPr lang="en-US" altLang="zh-CN" dirty="0">
              <a:latin typeface="宋体" panose="02010600030101010101" pitchFamily="2" charset="-122"/>
              <a:sym typeface="宋体" panose="02010600030101010101" pitchFamily="2" charset="-122"/>
            </a:endParaRPr>
          </a:p>
          <a:p>
            <a:pPr marL="0" lvl="0" indent="0" eaLnBrk="1" hangingPunct="1">
              <a:lnSpc>
                <a:spcPct val="135000"/>
              </a:lnSpc>
              <a:spcBef>
                <a:spcPct val="0"/>
              </a:spcBef>
              <a:buClrTx/>
              <a:buSzTx/>
              <a:buFont typeface="Arial" panose="020B0604020202020204" pitchFamily="34" charset="0"/>
              <a:buNone/>
            </a:pPr>
            <a:endParaRPr lang="en-US" altLang="zh-CN" dirty="0">
              <a:latin typeface="宋体" panose="02010600030101010101" pitchFamily="2" charset="-122"/>
              <a:sym typeface="宋体" panose="02010600030101010101" pitchFamily="2" charset="-122"/>
            </a:endParaRPr>
          </a:p>
          <a:p>
            <a:pPr marL="0" lvl="0" indent="0" eaLnBrk="1" hangingPunct="1">
              <a:spcBef>
                <a:spcPct val="0"/>
              </a:spcBef>
              <a:buClrTx/>
              <a:buSzTx/>
              <a:buFont typeface="Arial" panose="020B0604020202020204" pitchFamily="34" charset="0"/>
              <a:buNone/>
            </a:pPr>
            <a:r>
              <a:rPr lang="zh-CN" altLang="en-US" dirty="0">
                <a:latin typeface="宋体" panose="02010600030101010101" pitchFamily="2" charset="-122"/>
                <a:sym typeface="宋体" panose="02010600030101010101" pitchFamily="2" charset="-122"/>
              </a:rPr>
              <a:t>（</a:t>
            </a:r>
            <a:r>
              <a:rPr lang="en-US" altLang="zh-CN" dirty="0">
                <a:latin typeface="宋体" panose="02010600030101010101" pitchFamily="2" charset="-122"/>
                <a:sym typeface="宋体" panose="02010600030101010101" pitchFamily="2" charset="-122"/>
              </a:rPr>
              <a:t>3</a:t>
            </a:r>
            <a:r>
              <a:rPr lang="zh-CN" altLang="en-US" dirty="0">
                <a:latin typeface="宋体" panose="02010600030101010101" pitchFamily="2" charset="-122"/>
                <a:sym typeface="宋体" panose="02010600030101010101" pitchFamily="2" charset="-122"/>
              </a:rPr>
              <a:t>）将学生名为</a:t>
            </a:r>
            <a:r>
              <a:rPr lang="en-US" altLang="zh-CN" dirty="0">
                <a:latin typeface="宋体" panose="02010600030101010101" pitchFamily="2" charset="-122"/>
                <a:sym typeface="宋体" panose="02010600030101010101" pitchFamily="2" charset="-122"/>
              </a:rPr>
              <a:t>'</a:t>
            </a:r>
            <a:r>
              <a:rPr lang="zh-CN" altLang="zh-CN" dirty="0">
                <a:latin typeface="宋体" panose="02010600030101010101" pitchFamily="2" charset="-122"/>
                <a:sym typeface="宋体" panose="02010600030101010101" pitchFamily="2" charset="-122"/>
              </a:rPr>
              <a:t>赵楠</a:t>
            </a:r>
            <a:r>
              <a:rPr lang="en-US" altLang="zh-CN" dirty="0">
                <a:latin typeface="宋体" panose="02010600030101010101" pitchFamily="2" charset="-122"/>
                <a:sym typeface="宋体" panose="02010600030101010101" pitchFamily="2" charset="-122"/>
              </a:rPr>
              <a:t>'</a:t>
            </a:r>
            <a:r>
              <a:rPr lang="zh-CN" altLang="zh-CN" dirty="0">
                <a:latin typeface="宋体" panose="02010600030101010101" pitchFamily="2" charset="-122"/>
                <a:sym typeface="宋体" panose="02010600030101010101" pitchFamily="2" charset="-122"/>
              </a:rPr>
              <a:t>的同学的每科成绩增加</a:t>
            </a:r>
            <a:r>
              <a:rPr lang="en-US" altLang="zh-CN" dirty="0">
                <a:latin typeface="宋体" panose="02010600030101010101" pitchFamily="2" charset="-122"/>
                <a:sym typeface="宋体" panose="02010600030101010101" pitchFamily="2" charset="-122"/>
              </a:rPr>
              <a:t>10%</a:t>
            </a:r>
            <a:r>
              <a:rPr lang="zh-CN" altLang="en-US" dirty="0">
                <a:latin typeface="宋体" panose="02010600030101010101" pitchFamily="2" charset="-122"/>
                <a:sym typeface="宋体" panose="02010600030101010101" pitchFamily="2" charset="-122"/>
              </a:rPr>
              <a:t> </a:t>
            </a:r>
            <a:endParaRPr lang="zh-CN" altLang="en-US" dirty="0">
              <a:latin typeface="宋体" panose="02010600030101010101" pitchFamily="2" charset="-122"/>
              <a:sym typeface="宋体" panose="02010600030101010101" pitchFamily="2" charset="-122"/>
            </a:endParaRPr>
          </a:p>
          <a:p>
            <a:pPr marL="0" lvl="0" indent="0" eaLnBrk="1" hangingPunct="1">
              <a:spcBef>
                <a:spcPct val="0"/>
              </a:spcBef>
              <a:buClrTx/>
              <a:buSzTx/>
              <a:buFont typeface="Arial" panose="020B0604020202020204" pitchFamily="34" charset="0"/>
              <a:buNone/>
            </a:pPr>
            <a:endParaRPr lang="zh-CN" altLang="en-US" dirty="0">
              <a:latin typeface="宋体" panose="02010600030101010101" pitchFamily="2" charset="-122"/>
              <a:sym typeface="宋体" panose="02010600030101010101" pitchFamily="2" charset="-122"/>
            </a:endParaRPr>
          </a:p>
          <a:p>
            <a:pPr marL="0" lvl="0" indent="0" eaLnBrk="1" hangingPunct="1">
              <a:lnSpc>
                <a:spcPct val="135000"/>
              </a:lnSpc>
              <a:spcBef>
                <a:spcPct val="0"/>
              </a:spcBef>
              <a:buClrTx/>
              <a:buSzTx/>
              <a:buFont typeface="Arial" panose="020B0604020202020204" pitchFamily="34" charset="0"/>
              <a:buNone/>
            </a:pPr>
            <a:endParaRPr lang="zh-CN" altLang="en-US" dirty="0">
              <a:latin typeface="宋体" panose="02010600030101010101" pitchFamily="2" charset="-122"/>
              <a:sym typeface="宋体" panose="02010600030101010101" pitchFamily="2" charset="-122"/>
            </a:endParaRPr>
          </a:p>
          <a:p>
            <a:pPr marL="0" lvl="0" indent="0" eaLnBrk="1" hangingPunct="1">
              <a:lnSpc>
                <a:spcPct val="110000"/>
              </a:lnSpc>
              <a:spcBef>
                <a:spcPct val="0"/>
              </a:spcBef>
              <a:buClrTx/>
              <a:buSzTx/>
              <a:buFont typeface="Arial" panose="020B0604020202020204" pitchFamily="34" charset="0"/>
              <a:buNone/>
            </a:pPr>
            <a:r>
              <a:rPr lang="zh-CN" altLang="en-US" dirty="0">
                <a:latin typeface="宋体" panose="02010600030101010101" pitchFamily="2" charset="-122"/>
                <a:sym typeface="宋体" panose="02010600030101010101" pitchFamily="2" charset="-122"/>
              </a:rPr>
              <a:t>（</a:t>
            </a:r>
            <a:r>
              <a:rPr lang="en-US" altLang="zh-CN" dirty="0">
                <a:latin typeface="宋体" panose="02010600030101010101" pitchFamily="2" charset="-122"/>
                <a:sym typeface="宋体" panose="02010600030101010101" pitchFamily="2" charset="-122"/>
              </a:rPr>
              <a:t>4</a:t>
            </a:r>
            <a:r>
              <a:rPr lang="zh-CN" altLang="en-US" dirty="0">
                <a:latin typeface="宋体" panose="02010600030101010101" pitchFamily="2" charset="-122"/>
                <a:sym typeface="宋体" panose="02010600030101010101" pitchFamily="2" charset="-122"/>
              </a:rPr>
              <a:t>）将课程名为</a:t>
            </a:r>
            <a:r>
              <a:rPr lang="en-US" altLang="zh-CN" dirty="0">
                <a:latin typeface="宋体" panose="02010600030101010101" pitchFamily="2" charset="-122"/>
                <a:sym typeface="宋体" panose="02010600030101010101" pitchFamily="2" charset="-122"/>
              </a:rPr>
              <a:t>'</a:t>
            </a:r>
            <a:r>
              <a:rPr lang="zh-CN" altLang="en-US" dirty="0">
                <a:latin typeface="宋体" panose="02010600030101010101" pitchFamily="2" charset="-122"/>
                <a:sym typeface="宋体" panose="02010600030101010101" pitchFamily="2" charset="-122"/>
              </a:rPr>
              <a:t>高等代数</a:t>
            </a:r>
            <a:r>
              <a:rPr lang="en-US" altLang="zh-CN" dirty="0">
                <a:latin typeface="宋体" panose="02010600030101010101" pitchFamily="2" charset="-122"/>
                <a:sym typeface="宋体" panose="02010600030101010101" pitchFamily="2" charset="-122"/>
              </a:rPr>
              <a:t>’</a:t>
            </a:r>
            <a:r>
              <a:rPr lang="zh-CN" altLang="en-US" dirty="0">
                <a:latin typeface="宋体" panose="02010600030101010101" pitchFamily="2" charset="-122"/>
                <a:sym typeface="宋体" panose="02010600030101010101" pitchFamily="2" charset="-122"/>
              </a:rPr>
              <a:t>的选课信息删除</a:t>
            </a:r>
            <a:endParaRPr lang="zh-CN" altLang="en-US" dirty="0">
              <a:latin typeface="宋体" panose="02010600030101010101" pitchFamily="2" charset="-122"/>
              <a:sym typeface="宋体" panose="02010600030101010101" pitchFamily="2" charset="-122"/>
            </a:endParaRPr>
          </a:p>
          <a:p>
            <a:pPr marL="0" lvl="0" indent="0" eaLnBrk="1" hangingPunct="1">
              <a:lnSpc>
                <a:spcPct val="135000"/>
              </a:lnSpc>
              <a:spcBef>
                <a:spcPct val="0"/>
              </a:spcBef>
              <a:buClrTx/>
              <a:buSzTx/>
              <a:buFont typeface="Arial" panose="020B0604020202020204" pitchFamily="34" charset="0"/>
              <a:buNone/>
            </a:pPr>
            <a:endParaRPr lang="zh-CN" altLang="en-US" dirty="0">
              <a:latin typeface="宋体" panose="02010600030101010101" pitchFamily="2" charset="-122"/>
              <a:sym typeface="宋体" panose="02010600030101010101" pitchFamily="2" charset="-122"/>
            </a:endParaRPr>
          </a:p>
        </p:txBody>
      </p:sp>
      <p:sp>
        <p:nvSpPr>
          <p:cNvPr id="8" name="文本框 7"/>
          <p:cNvSpPr txBox="1"/>
          <p:nvPr/>
        </p:nvSpPr>
        <p:spPr>
          <a:xfrm>
            <a:off x="884238" y="2430463"/>
            <a:ext cx="6499860" cy="42989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200" dirty="0">
                <a:solidFill>
                  <a:srgbClr val="0033CC"/>
                </a:solidFill>
              </a:rPr>
              <a:t>INSERT INTO S VALUES('</a:t>
            </a:r>
            <a:r>
              <a:rPr lang="en-US" altLang="zh-CN" sz="2200" dirty="0">
                <a:solidFill>
                  <a:srgbClr val="0033CC"/>
                </a:solidFill>
                <a:latin typeface="宋体" panose="02010600030101010101" pitchFamily="2" charset="-122"/>
                <a:sym typeface="宋体" panose="02010600030101010101" pitchFamily="2" charset="-122"/>
              </a:rPr>
              <a:t>20150101</a:t>
            </a:r>
            <a:r>
              <a:rPr lang="en-US" altLang="zh-CN" sz="2200" dirty="0">
                <a:solidFill>
                  <a:srgbClr val="0033CC"/>
                </a:solidFill>
              </a:rPr>
              <a:t>','</a:t>
            </a:r>
            <a:r>
              <a:rPr lang="zh-CN" altLang="zh-CN" sz="2200" dirty="0">
                <a:solidFill>
                  <a:srgbClr val="0033CC"/>
                </a:solidFill>
                <a:latin typeface="宋体" panose="02010600030101010101" pitchFamily="2" charset="-122"/>
                <a:sym typeface="宋体" panose="02010600030101010101" pitchFamily="2" charset="-122"/>
              </a:rPr>
              <a:t>王恒</a:t>
            </a:r>
            <a:r>
              <a:rPr lang="en-US" altLang="zh-CN" sz="2200" dirty="0">
                <a:solidFill>
                  <a:srgbClr val="0033CC"/>
                </a:solidFill>
              </a:rPr>
              <a:t>','</a:t>
            </a:r>
            <a:r>
              <a:rPr lang="zh-CN" altLang="en-US" sz="2200" dirty="0">
                <a:solidFill>
                  <a:srgbClr val="0033CC"/>
                </a:solidFill>
              </a:rPr>
              <a:t>男</a:t>
            </a:r>
            <a:r>
              <a:rPr lang="en-US" altLang="zh-CN" sz="2200" dirty="0">
                <a:solidFill>
                  <a:srgbClr val="0033CC"/>
                </a:solidFill>
              </a:rPr>
              <a:t>',21)</a:t>
            </a:r>
            <a:endParaRPr lang="en-US" altLang="zh-CN" sz="2200" dirty="0">
              <a:solidFill>
                <a:srgbClr val="0033CC"/>
              </a:solidFill>
            </a:endParaRPr>
          </a:p>
        </p:txBody>
      </p:sp>
      <p:sp>
        <p:nvSpPr>
          <p:cNvPr id="2" name="文本框 1"/>
          <p:cNvSpPr txBox="1"/>
          <p:nvPr/>
        </p:nvSpPr>
        <p:spPr>
          <a:xfrm>
            <a:off x="884238" y="3154998"/>
            <a:ext cx="8107362" cy="42989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solidFill>
                  <a:srgbClr val="0033CC"/>
                </a:solidFill>
              </a:rPr>
              <a:t>UPDATE </a:t>
            </a:r>
            <a:r>
              <a:rPr lang="en-US" altLang="zh-CN" sz="2200" dirty="0">
                <a:solidFill>
                  <a:srgbClr val="0033CC"/>
                </a:solidFill>
              </a:rPr>
              <a:t>C SET Credit=2  where CName=‘</a:t>
            </a:r>
            <a:r>
              <a:rPr lang="zh-CN" altLang="en-US" sz="2200" dirty="0">
                <a:solidFill>
                  <a:srgbClr val="0033CC"/>
                </a:solidFill>
                <a:latin typeface="宋体" panose="02010600030101010101" pitchFamily="2" charset="-122"/>
                <a:sym typeface="宋体" panose="02010600030101010101" pitchFamily="2" charset="-122"/>
              </a:rPr>
              <a:t>数据库原理与设计</a:t>
            </a:r>
            <a:r>
              <a:rPr lang="en-US" altLang="zh-CN" sz="2200" dirty="0">
                <a:solidFill>
                  <a:srgbClr val="0033CC"/>
                </a:solidFill>
              </a:rPr>
              <a:t>’</a:t>
            </a:r>
            <a:endParaRPr lang="en-US" altLang="zh-CN" sz="2200" dirty="0">
              <a:solidFill>
                <a:srgbClr val="0033CC"/>
              </a:solidFill>
            </a:endParaRPr>
          </a:p>
        </p:txBody>
      </p:sp>
      <p:sp>
        <p:nvSpPr>
          <p:cNvPr id="3" name="文本框 2"/>
          <p:cNvSpPr txBox="1"/>
          <p:nvPr/>
        </p:nvSpPr>
        <p:spPr>
          <a:xfrm>
            <a:off x="884238" y="3891280"/>
            <a:ext cx="8107362" cy="70675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solidFill>
                  <a:srgbClr val="0033CC"/>
                </a:solidFill>
              </a:rPr>
              <a:t>UPDATE SC SET Score=</a:t>
            </a:r>
            <a:r>
              <a:rPr lang="en-US" altLang="zh-CN" dirty="0">
                <a:solidFill>
                  <a:srgbClr val="0033CC"/>
                </a:solidFill>
                <a:sym typeface="+mn-ea"/>
              </a:rPr>
              <a:t>Score*1.1</a:t>
            </a:r>
            <a:r>
              <a:rPr lang="en-US" altLang="zh-CN" dirty="0">
                <a:solidFill>
                  <a:srgbClr val="0033CC"/>
                </a:solidFill>
              </a:rPr>
              <a:t> from S,SC where S.SID=SC.SID and SName='</a:t>
            </a:r>
            <a:r>
              <a:rPr lang="zh-CN" altLang="en-US" dirty="0">
                <a:solidFill>
                  <a:srgbClr val="0033CC"/>
                </a:solidFill>
              </a:rPr>
              <a:t>赵楠</a:t>
            </a:r>
            <a:r>
              <a:rPr lang="en-US" altLang="zh-CN" dirty="0">
                <a:solidFill>
                  <a:srgbClr val="0033CC"/>
                </a:solidFill>
              </a:rPr>
              <a:t>'</a:t>
            </a:r>
            <a:endParaRPr lang="en-US" altLang="zh-CN" dirty="0">
              <a:solidFill>
                <a:srgbClr val="0033CC"/>
              </a:solidFill>
            </a:endParaRPr>
          </a:p>
        </p:txBody>
      </p:sp>
      <p:sp>
        <p:nvSpPr>
          <p:cNvPr id="4" name="文本框 3"/>
          <p:cNvSpPr txBox="1"/>
          <p:nvPr/>
        </p:nvSpPr>
        <p:spPr>
          <a:xfrm>
            <a:off x="884238" y="4932680"/>
            <a:ext cx="8107362" cy="70675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solidFill>
                  <a:srgbClr val="0033CC"/>
                </a:solidFill>
              </a:rPr>
              <a:t>DELETE SC from C,SC where C.CID=SC.CID and CName=</a:t>
            </a:r>
            <a:endParaRPr lang="en-US" altLang="zh-CN" dirty="0">
              <a:solidFill>
                <a:srgbClr val="0033CC"/>
              </a:solidFill>
            </a:endParaRPr>
          </a:p>
          <a:p>
            <a:pPr marL="0" lvl="0" indent="0" eaLnBrk="1" hangingPunct="1">
              <a:spcBef>
                <a:spcPct val="0"/>
              </a:spcBef>
              <a:buClrTx/>
              <a:buSzTx/>
              <a:buFont typeface="Arial" panose="020B0604020202020204" pitchFamily="34" charset="0"/>
              <a:buNone/>
            </a:pPr>
            <a:r>
              <a:rPr lang="en-US" altLang="zh-CN" dirty="0">
                <a:solidFill>
                  <a:srgbClr val="0033CC"/>
                </a:solidFill>
              </a:rPr>
              <a:t>'</a:t>
            </a:r>
            <a:r>
              <a:rPr lang="zh-CN" altLang="en-US" dirty="0">
                <a:solidFill>
                  <a:srgbClr val="0033CC"/>
                </a:solidFill>
              </a:rPr>
              <a:t>高等代数</a:t>
            </a:r>
            <a:r>
              <a:rPr lang="en-US" altLang="zh-CN" dirty="0">
                <a:solidFill>
                  <a:srgbClr val="0033CC"/>
                </a:solidFill>
              </a:rPr>
              <a:t>'</a:t>
            </a:r>
            <a:endParaRPr lang="en-US" altLang="zh-CN" dirty="0">
              <a:solidFill>
                <a:srgbClr val="0033CC"/>
              </a:solidFill>
            </a:endParaRPr>
          </a:p>
        </p:txBody>
      </p:sp>
      <p:sp>
        <p:nvSpPr>
          <p:cNvPr id="9" name="文本框 8"/>
          <p:cNvSpPr txBox="1"/>
          <p:nvPr/>
        </p:nvSpPr>
        <p:spPr>
          <a:xfrm>
            <a:off x="479425" y="0"/>
            <a:ext cx="2681288" cy="830263"/>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问题研讨：</a:t>
            </a:r>
            <a:endParaRPr kumimoji="0" lang="zh-CN" altLang="en-US" sz="3200" kern="1200" cap="none" spc="0" normalizeH="0" baseline="0" noProof="0" dirty="0">
              <a:latin typeface="Arial" panose="020B0604020202020204" pitchFamily="34" charset="0"/>
              <a:ea typeface="宋体" panose="02010600030101010101" pitchFamily="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P spid="3" grpId="0"/>
      <p:bldP spid="4"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 name="文本框 44"/>
          <p:cNvSpPr txBox="1"/>
          <p:nvPr/>
        </p:nvSpPr>
        <p:spPr>
          <a:xfrm>
            <a:off x="492125" y="0"/>
            <a:ext cx="2681288" cy="830263"/>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问题研讨：</a:t>
            </a:r>
            <a:endParaRPr kumimoji="0" lang="zh-CN" altLang="en-US" sz="3200" kern="1200" cap="none" spc="0" normalizeH="0" baseline="0" noProof="0" dirty="0">
              <a:latin typeface="Arial" panose="020B0604020202020204" pitchFamily="34" charset="0"/>
              <a:ea typeface="宋体" panose="02010600030101010101" pitchFamily="2" charset="-122"/>
              <a:cs typeface="+mn-cs"/>
            </a:endParaRPr>
          </a:p>
        </p:txBody>
      </p:sp>
      <p:sp>
        <p:nvSpPr>
          <p:cNvPr id="73731" name="文本框 7"/>
          <p:cNvSpPr txBox="1"/>
          <p:nvPr/>
        </p:nvSpPr>
        <p:spPr>
          <a:xfrm>
            <a:off x="492125" y="1047750"/>
            <a:ext cx="8159750" cy="124523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ct val="0"/>
              </a:spcBef>
              <a:buClrTx/>
              <a:buSzTx/>
              <a:buFont typeface="Arial" panose="020B0604020202020204" pitchFamily="34" charset="0"/>
              <a:buNone/>
            </a:pPr>
            <a:r>
              <a:rPr lang="en-US" altLang="zh-CN" dirty="0"/>
              <a:t>6</a:t>
            </a:r>
            <a:r>
              <a:rPr lang="zh-CN" altLang="en-US" dirty="0"/>
              <a:t>、班级表</a:t>
            </a:r>
            <a:r>
              <a:rPr lang="en-US" altLang="zh-CN" dirty="0"/>
              <a:t>:Class(CNo,CName)</a:t>
            </a:r>
            <a:r>
              <a:rPr lang="zh-CN" altLang="en-US" dirty="0"/>
              <a:t>和学生表</a:t>
            </a:r>
            <a:r>
              <a:rPr lang="en-US" altLang="zh-CN" dirty="0"/>
              <a:t>:Student(SNo,SName,CNo).</a:t>
            </a:r>
            <a:endParaRPr lang="en-US" altLang="zh-CN" dirty="0"/>
          </a:p>
          <a:p>
            <a:pPr marL="0" lvl="0" indent="0" eaLnBrk="1" hangingPunct="1">
              <a:lnSpc>
                <a:spcPct val="125000"/>
              </a:lnSpc>
              <a:spcBef>
                <a:spcPct val="0"/>
              </a:spcBef>
              <a:buClrTx/>
              <a:buSzTx/>
              <a:buFont typeface="Arial" panose="020B0604020202020204" pitchFamily="34" charset="0"/>
              <a:buNone/>
            </a:pPr>
            <a:r>
              <a:rPr lang="en-US" altLang="zh-CN" dirty="0"/>
              <a:t> </a:t>
            </a:r>
            <a:r>
              <a:rPr lang="zh-CN" altLang="en-US" dirty="0"/>
              <a:t>为班级表创建</a:t>
            </a:r>
            <a:r>
              <a:rPr lang="en-US" altLang="zh-CN" dirty="0"/>
              <a:t>DELETE</a:t>
            </a:r>
            <a:r>
              <a:rPr lang="zh-CN" altLang="en-US" dirty="0"/>
              <a:t>触发器，当删除班级时，删除对应的学生记录。</a:t>
            </a:r>
            <a:endParaRPr lang="zh-CN" altLang="en-US" dirty="0"/>
          </a:p>
          <a:p>
            <a:pPr marL="0" lvl="0" indent="0" eaLnBrk="1" hangingPunct="1">
              <a:lnSpc>
                <a:spcPct val="125000"/>
              </a:lnSpc>
              <a:spcBef>
                <a:spcPct val="0"/>
              </a:spcBef>
              <a:buClrTx/>
              <a:buSzTx/>
              <a:buFont typeface="Arial" panose="020B0604020202020204" pitchFamily="34" charset="0"/>
              <a:buNone/>
            </a:pPr>
            <a:r>
              <a:rPr lang="zh-CN" altLang="en-US" dirty="0"/>
              <a:t>（提示</a:t>
            </a:r>
            <a:r>
              <a:rPr lang="en-US" altLang="zh-CN" dirty="0"/>
              <a:t>:</a:t>
            </a:r>
            <a:r>
              <a:rPr lang="zh-CN" altLang="en-US" dirty="0"/>
              <a:t>删除 </a:t>
            </a:r>
            <a:r>
              <a:rPr lang="en-US" altLang="zh-CN" dirty="0"/>
              <a:t>delete </a:t>
            </a:r>
            <a:r>
              <a:rPr lang="zh-CN" altLang="en-US" dirty="0"/>
              <a:t>表名 </a:t>
            </a:r>
            <a:r>
              <a:rPr lang="en-US" altLang="zh-CN" dirty="0"/>
              <a:t>[from </a:t>
            </a:r>
            <a:r>
              <a:rPr lang="zh-CN" altLang="en-US" dirty="0"/>
              <a:t>条件源表</a:t>
            </a:r>
            <a:r>
              <a:rPr lang="en-US" altLang="zh-CN" dirty="0"/>
              <a:t>[...n]] [where </a:t>
            </a:r>
            <a:r>
              <a:rPr lang="zh-CN" altLang="en-US" dirty="0"/>
              <a:t>条件表达式</a:t>
            </a:r>
            <a:r>
              <a:rPr lang="en-US" altLang="zh-CN" dirty="0"/>
              <a:t>].</a:t>
            </a:r>
            <a:endParaRPr lang="en-US" altLang="zh-CN" dirty="0"/>
          </a:p>
        </p:txBody>
      </p:sp>
      <p:sp>
        <p:nvSpPr>
          <p:cNvPr id="9" name="文本框 8"/>
          <p:cNvSpPr txBox="1"/>
          <p:nvPr/>
        </p:nvSpPr>
        <p:spPr>
          <a:xfrm>
            <a:off x="623888" y="2344738"/>
            <a:ext cx="7700963" cy="1936750"/>
          </a:xfrm>
          <a:prstGeom prst="rect">
            <a:avLst/>
          </a:prstGeom>
          <a:noFill/>
        </p:spPr>
        <p:txBody>
          <a:bodyPr>
            <a:spAutoFit/>
          </a:bodyPr>
          <a:lstStyle/>
          <a:p>
            <a:pPr marR="0" defTabSz="914400" eaLnBrk="1" hangingPunct="1">
              <a:buClrTx/>
              <a:buSzTx/>
              <a:buFont typeface="Arial" panose="020B0604020202020204" pitchFamily="34" charset="0"/>
              <a:buNone/>
              <a:defRPr/>
            </a:pPr>
            <a:r>
              <a:rPr kumimoji="0" lang="en-US" altLang="zh-CN" sz="2000" kern="1200" cap="none" spc="0" normalizeH="0" baseline="0" noProof="0">
                <a:solidFill>
                  <a:srgbClr val="C00000"/>
                </a:solidFill>
                <a:latin typeface="Arial" panose="020B0604020202020204" pitchFamily="34" charset="0"/>
                <a:ea typeface="宋体" panose="02010600030101010101" pitchFamily="2" charset="-122"/>
                <a:cs typeface="+mn-ea"/>
                <a:sym typeface="+mn-ea"/>
              </a:rPr>
              <a:t>CREATE  TRIGGER </a:t>
            </a:r>
            <a:r>
              <a:rPr kumimoji="0" lang="en-US" altLang="zh-CN" sz="2000" kern="1200" cap="none" spc="0" normalizeH="0" baseline="0" noProof="0" dirty="0">
                <a:solidFill>
                  <a:srgbClr val="C00000"/>
                </a:solidFill>
                <a:latin typeface="华文楷体" panose="02010600040101010101" pitchFamily="2" charset="-122"/>
                <a:ea typeface="华文楷体" panose="02010600040101010101" pitchFamily="2" charset="-122"/>
                <a:cs typeface="+mn-cs"/>
                <a:sym typeface="+mn-ea"/>
              </a:rPr>
              <a:t> Cls_Delete   </a:t>
            </a:r>
            <a:r>
              <a:rPr kumimoji="0" lang="en-US" altLang="zh-CN" sz="2000" kern="1200" cap="none" spc="0" normalizeH="0" baseline="0" noProof="0" dirty="0">
                <a:solidFill>
                  <a:srgbClr val="006600"/>
                </a:solidFill>
                <a:latin typeface="华文楷体" panose="02010600040101010101" pitchFamily="2" charset="-122"/>
                <a:ea typeface="华文楷体" panose="02010600040101010101" pitchFamily="2" charset="-122"/>
                <a:cs typeface="+mn-cs"/>
                <a:sym typeface="+mn-ea"/>
              </a:rPr>
              <a:t>ON  </a:t>
            </a:r>
            <a:r>
              <a:rPr kumimoji="0" lang="en-US" altLang="zh-CN" sz="20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Class</a:t>
            </a:r>
            <a:endParaRPr kumimoji="0" lang="en-US" altLang="zh-CN" sz="2000" kern="1200" cap="none" spc="0" normalizeH="0" baseline="0" noProof="0">
              <a:solidFill>
                <a:srgbClr val="006600"/>
              </a:solidFill>
              <a:latin typeface="Arial" panose="020B0604020202020204" pitchFamily="34" charset="0"/>
              <a:ea typeface="宋体" panose="02010600030101010101" pitchFamily="2" charset="-122"/>
              <a:cs typeface="+mn-cs"/>
              <a:sym typeface="+mn-ea"/>
            </a:endParaRPr>
          </a:p>
          <a:p>
            <a:pPr marR="0" defTabSz="914400" eaLnBrk="1" hangingPunct="1">
              <a:buClrTx/>
              <a:buSzTx/>
              <a:buFont typeface="Arial" panose="020B0604020202020204" pitchFamily="34" charset="0"/>
              <a:buNone/>
              <a:defRPr/>
            </a:pPr>
            <a:r>
              <a:rPr kumimoji="0" lang="en-US" altLang="zh-CN" sz="2000" kern="1200" cap="none" spc="0" normalizeH="0" baseline="0" noProof="0" dirty="0">
                <a:solidFill>
                  <a:srgbClr val="006600"/>
                </a:solidFill>
                <a:latin typeface="华文楷体" panose="02010600040101010101" pitchFamily="2" charset="-122"/>
                <a:ea typeface="华文楷体" panose="02010600040101010101" pitchFamily="2" charset="-122"/>
                <a:cs typeface="+mn-cs"/>
                <a:sym typeface="+mn-ea"/>
              </a:rPr>
              <a:t> </a:t>
            </a:r>
            <a:r>
              <a:rPr kumimoji="0" lang="en-US" altLang="zh-CN" sz="2000" kern="1200" cap="none" spc="0" normalizeH="0" baseline="0" noProof="0" dirty="0">
                <a:solidFill>
                  <a:srgbClr val="0033CC"/>
                </a:solidFill>
                <a:latin typeface="华文楷体" panose="02010600040101010101" pitchFamily="2" charset="-122"/>
                <a:ea typeface="华文楷体" panose="02010600040101010101" pitchFamily="2" charset="-122"/>
                <a:cs typeface="+mn-cs"/>
                <a:sym typeface="+mn-ea"/>
              </a:rPr>
              <a:t> FOR  DELETE  </a:t>
            </a:r>
            <a:endParaRPr kumimoji="0" lang="en-US" altLang="zh-CN" sz="2000" kern="1200" cap="none" spc="0" normalizeH="0" baseline="0" noProof="0" dirty="0">
              <a:solidFill>
                <a:srgbClr val="0033CC"/>
              </a:solidFill>
              <a:latin typeface="华文楷体" panose="02010600040101010101" pitchFamily="2" charset="-122"/>
              <a:ea typeface="华文楷体" panose="02010600040101010101" pitchFamily="2" charset="-122"/>
              <a:cs typeface="+mn-cs"/>
              <a:sym typeface="+mn-ea"/>
            </a:endParaRPr>
          </a:p>
          <a:p>
            <a:pPr marR="0" defTabSz="914400" eaLnBrk="1" hangingPunct="1">
              <a:buClrTx/>
              <a:buSzTx/>
              <a:buFont typeface="Arial" panose="020B0604020202020204" pitchFamily="34" charset="0"/>
              <a:buNone/>
              <a:defRPr/>
            </a:pPr>
            <a:r>
              <a:rPr kumimoji="0" lang="en-US" altLang="zh-CN" sz="2000" kern="1200" cap="none" spc="0" normalizeH="0" baseline="0" noProof="0" dirty="0">
                <a:solidFill>
                  <a:srgbClr val="0033CC"/>
                </a:solidFill>
                <a:latin typeface="华文楷体" panose="02010600040101010101" pitchFamily="2" charset="-122"/>
                <a:ea typeface="华文楷体" panose="02010600040101010101" pitchFamily="2" charset="-122"/>
                <a:cs typeface="+mn-cs"/>
                <a:sym typeface="+mn-ea"/>
              </a:rPr>
              <a:t>  AS</a:t>
            </a:r>
            <a:endParaRPr kumimoji="0" lang="en-US" altLang="zh-CN" sz="2000" kern="1200" cap="none" spc="0" normalizeH="0" baseline="0" noProof="0" dirty="0">
              <a:solidFill>
                <a:srgbClr val="0033CC"/>
              </a:solidFill>
              <a:latin typeface="华文楷体" panose="02010600040101010101" pitchFamily="2" charset="-122"/>
              <a:ea typeface="华文楷体" panose="02010600040101010101" pitchFamily="2" charset="-122"/>
              <a:cs typeface="+mn-cs"/>
              <a:sym typeface="+mn-ea"/>
            </a:endParaRPr>
          </a:p>
          <a:p>
            <a:pPr marR="0" defTabSz="914400" eaLnBrk="1" hangingPunct="1">
              <a:buClrTx/>
              <a:buSzTx/>
              <a:buFont typeface="Arial" panose="020B0604020202020204" pitchFamily="34" charset="0"/>
              <a:buNone/>
              <a:defRPr/>
            </a:pPr>
            <a:r>
              <a:rPr kumimoji="0" lang="en-US" altLang="zh-CN" sz="2000" kern="1200" cap="none" spc="0" normalizeH="0" baseline="0" noProof="0" dirty="0">
                <a:solidFill>
                  <a:srgbClr val="0033CC"/>
                </a:solidFill>
                <a:latin typeface="华文楷体" panose="02010600040101010101" pitchFamily="2" charset="-122"/>
                <a:ea typeface="华文楷体" panose="02010600040101010101" pitchFamily="2" charset="-122"/>
                <a:cs typeface="+mn-cs"/>
                <a:sym typeface="+mn-ea"/>
              </a:rPr>
              <a:t>     DELETE </a:t>
            </a:r>
            <a:r>
              <a:rPr kumimoji="0" lang="en-US" altLang="zh-CN" sz="20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Student from deleted,Student where </a:t>
            </a:r>
            <a:endParaRPr kumimoji="0" lang="en-US" altLang="zh-CN" sz="2000" kern="1200" cap="none" spc="0" normalizeH="0" baseline="0" noProof="0">
              <a:solidFill>
                <a:srgbClr val="006600"/>
              </a:solidFill>
              <a:latin typeface="Arial" panose="020B0604020202020204" pitchFamily="34" charset="0"/>
              <a:ea typeface="宋体" panose="02010600030101010101" pitchFamily="2" charset="-122"/>
              <a:cs typeface="+mn-cs"/>
              <a:sym typeface="+mn-ea"/>
            </a:endParaRPr>
          </a:p>
          <a:p>
            <a:pPr marR="0" defTabSz="914400" eaLnBrk="1" hangingPunct="1">
              <a:buClrTx/>
              <a:buSzTx/>
              <a:buFont typeface="Arial" panose="020B0604020202020204" pitchFamily="34" charset="0"/>
              <a:buNone/>
              <a:defRPr/>
            </a:pPr>
            <a:r>
              <a:rPr kumimoji="0" lang="en-US" altLang="zh-CN" sz="20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    Student.CNo=deleted.CNo</a:t>
            </a:r>
            <a:endParaRPr kumimoji="0" lang="en-US" altLang="zh-CN" sz="2000" kern="1200" cap="none" spc="0" normalizeH="0" baseline="0" noProof="0">
              <a:solidFill>
                <a:srgbClr val="006600"/>
              </a:solidFill>
              <a:latin typeface="Arial" panose="020B0604020202020204" pitchFamily="34" charset="0"/>
              <a:ea typeface="宋体" panose="02010600030101010101" pitchFamily="2" charset="-122"/>
              <a:cs typeface="+mn-cs"/>
              <a:sym typeface="+mn-ea"/>
            </a:endParaRPr>
          </a:p>
          <a:p>
            <a:pPr marR="0" defTabSz="914400" eaLnBrk="1" hangingPunct="1">
              <a:buClrTx/>
              <a:buSzTx/>
              <a:buFont typeface="Arial" panose="020B0604020202020204" pitchFamily="34" charset="0"/>
              <a:buNone/>
              <a:defRPr/>
            </a:pPr>
            <a:r>
              <a:rPr kumimoji="0" lang="en-US" altLang="zh-CN" sz="2000" kern="1200" cap="none" spc="0" normalizeH="0" baseline="0" noProof="0">
                <a:solidFill>
                  <a:srgbClr val="0033CC"/>
                </a:solidFill>
                <a:latin typeface="Arial" panose="020B0604020202020204" pitchFamily="34" charset="0"/>
                <a:ea typeface="宋体" panose="02010600030101010101" pitchFamily="2" charset="-122"/>
                <a:cs typeface="+mn-cs"/>
                <a:sym typeface="+mn-ea"/>
              </a:rPr>
              <a:t>Go</a:t>
            </a:r>
            <a:endParaRPr kumimoji="0" lang="en-US" altLang="zh-CN" sz="2000" kern="1200" cap="none" spc="0" normalizeH="0" baseline="0" noProof="0">
              <a:solidFill>
                <a:srgbClr val="0033CC"/>
              </a:solidFill>
              <a:latin typeface="Arial" panose="020B0604020202020204" pitchFamily="34" charset="0"/>
              <a:ea typeface="宋体" panose="02010600030101010101" pitchFamily="2" charset="-122"/>
              <a:cs typeface="+mn-cs"/>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7"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三、数据库操纵子语言及其操作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80898" name="矩形 2"/>
          <p:cNvSpPr/>
          <p:nvPr/>
        </p:nvSpPr>
        <p:spPr>
          <a:xfrm>
            <a:off x="542925" y="838200"/>
            <a:ext cx="4203700" cy="517525"/>
          </a:xfrm>
          <a:prstGeom prst="rect">
            <a:avLst/>
          </a:prstGeom>
          <a:noFill/>
          <a:ln w="9525">
            <a:noFill/>
          </a:ln>
        </p:spPr>
        <p:txBody>
          <a:bodyPr anchor="t" anchorCtr="0">
            <a:spAutoFit/>
          </a:bodyPr>
          <a:p>
            <a:r>
              <a:rPr lang="en-US" altLang="zh-CN" sz="2800" dirty="0">
                <a:solidFill>
                  <a:srgbClr val="0033CC"/>
                </a:solidFill>
                <a:latin typeface="黑体" panose="02010609060101010101" pitchFamily="1" charset="-122"/>
                <a:ea typeface="黑体" panose="02010609060101010101" pitchFamily="1" charset="-122"/>
              </a:rPr>
              <a:t>6.</a:t>
            </a:r>
            <a:r>
              <a:rPr lang="zh-CN" altLang="en-US" sz="2800" dirty="0">
                <a:solidFill>
                  <a:srgbClr val="0033CC"/>
                </a:solidFill>
                <a:latin typeface="黑体" panose="02010609060101010101" pitchFamily="1" charset="-122"/>
                <a:ea typeface="黑体" panose="02010609060101010101" pitchFamily="1" charset="-122"/>
              </a:rPr>
              <a:t>数据查询</a:t>
            </a:r>
            <a:r>
              <a:rPr lang="en-US" altLang="zh-CN" sz="2800" dirty="0">
                <a:solidFill>
                  <a:srgbClr val="0033CC"/>
                </a:solidFill>
                <a:latin typeface="黑体" panose="02010609060101010101" pitchFamily="1" charset="-122"/>
                <a:ea typeface="黑体" panose="02010609060101010101" pitchFamily="1" charset="-122"/>
              </a:rPr>
              <a:t>(Select)</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56324" name="Text Box 4"/>
          <p:cNvSpPr txBox="1"/>
          <p:nvPr/>
        </p:nvSpPr>
        <p:spPr>
          <a:xfrm>
            <a:off x="538163" y="1839913"/>
            <a:ext cx="8605837" cy="4438650"/>
          </a:xfrm>
          <a:prstGeom prst="rect">
            <a:avLst/>
          </a:prstGeom>
          <a:noFill/>
          <a:ln w="9525">
            <a:noFill/>
          </a:ln>
        </p:spPr>
        <p:txBody>
          <a:bodyPr anchor="t" anchorCtr="0">
            <a:spAutoFit/>
          </a:bodyPr>
          <a:p>
            <a:pPr>
              <a:lnSpc>
                <a:spcPct val="110000"/>
              </a:lnSpc>
              <a:spcBef>
                <a:spcPts val="300"/>
              </a:spcBef>
            </a:pPr>
            <a:r>
              <a:rPr lang="en-US" altLang="zh-CN" sz="2400" dirty="0">
                <a:solidFill>
                  <a:srgbClr val="A50021"/>
                </a:solidFill>
                <a:latin typeface="华文楷体" panose="02010600040101010101" pitchFamily="2" charset="-122"/>
                <a:ea typeface="华文楷体" panose="02010600040101010101" pitchFamily="2" charset="-122"/>
              </a:rPr>
              <a:t>SELECT </a:t>
            </a:r>
            <a:r>
              <a:rPr lang="zh-CN" altLang="en-US" sz="2400" dirty="0">
                <a:latin typeface="华文楷体" panose="02010600040101010101" pitchFamily="2" charset="-122"/>
                <a:ea typeface="华文楷体" panose="02010600040101010101" pitchFamily="2" charset="-122"/>
              </a:rPr>
              <a:t>列表  </a:t>
            </a:r>
            <a:r>
              <a:rPr lang="en-US" altLang="zh-CN" sz="2400" dirty="0">
                <a:latin typeface="华文楷体" panose="02010600040101010101" pitchFamily="2" charset="-122"/>
                <a:ea typeface="华文楷体" panose="02010600040101010101" pitchFamily="2" charset="-122"/>
              </a:rPr>
              <a:t>[ INTO  </a:t>
            </a:r>
            <a:r>
              <a:rPr lang="zh-CN" altLang="en-US" sz="2400" dirty="0">
                <a:latin typeface="华文楷体" panose="02010600040101010101" pitchFamily="2" charset="-122"/>
                <a:ea typeface="华文楷体" panose="02010600040101010101" pitchFamily="2" charset="-122"/>
              </a:rPr>
              <a:t>新表名 </a:t>
            </a:r>
            <a:r>
              <a:rPr lang="en-US" altLang="zh-CN" sz="2400" dirty="0">
                <a:latin typeface="华文楷体" panose="02010600040101010101" pitchFamily="2" charset="-122"/>
                <a:ea typeface="华文楷体" panose="02010600040101010101" pitchFamily="2" charset="-122"/>
              </a:rPr>
              <a:t>] </a:t>
            </a:r>
            <a:r>
              <a:rPr lang="zh-CN" altLang="en-US" sz="2400" dirty="0">
                <a:latin typeface="华文楷体" panose="02010600040101010101" pitchFamily="2" charset="-122"/>
                <a:ea typeface="华文楷体" panose="02010600040101010101" pitchFamily="2" charset="-122"/>
              </a:rPr>
              <a:t> </a:t>
            </a:r>
            <a:r>
              <a:rPr lang="en-US" altLang="zh-CN" sz="2400" dirty="0">
                <a:solidFill>
                  <a:srgbClr val="A50021"/>
                </a:solidFill>
                <a:latin typeface="华文楷体" panose="02010600040101010101" pitchFamily="2" charset="-122"/>
                <a:ea typeface="华文楷体" panose="02010600040101010101" pitchFamily="2" charset="-122"/>
              </a:rPr>
              <a:t>FROM</a:t>
            </a:r>
            <a:r>
              <a:rPr lang="en-US" altLang="zh-CN" sz="2400" dirty="0">
                <a:latin typeface="华文楷体" panose="02010600040101010101" pitchFamily="2" charset="-122"/>
                <a:ea typeface="华文楷体" panose="02010600040101010101" pitchFamily="2" charset="-122"/>
              </a:rPr>
              <a:t> &lt;</a:t>
            </a:r>
            <a:r>
              <a:rPr lang="zh-CN" altLang="en-US" sz="2400" dirty="0">
                <a:latin typeface="华文楷体" panose="02010600040101010101" pitchFamily="2" charset="-122"/>
                <a:ea typeface="华文楷体" panose="02010600040101010101" pitchFamily="2" charset="-122"/>
              </a:rPr>
              <a:t>源表</a:t>
            </a:r>
            <a:r>
              <a:rPr lang="en-US" altLang="zh-CN" sz="2400" dirty="0">
                <a:latin typeface="华文楷体" panose="02010600040101010101" pitchFamily="2" charset="-122"/>
                <a:ea typeface="华文楷体" panose="02010600040101010101" pitchFamily="2" charset="-122"/>
              </a:rPr>
              <a:t>&gt;</a:t>
            </a:r>
            <a:endParaRPr lang="en-US" altLang="zh-CN" sz="2400" dirty="0">
              <a:latin typeface="华文楷体" panose="02010600040101010101" pitchFamily="2" charset="-122"/>
              <a:ea typeface="华文楷体" panose="02010600040101010101" pitchFamily="2" charset="-122"/>
            </a:endParaRPr>
          </a:p>
          <a:p>
            <a:pPr>
              <a:spcBef>
                <a:spcPts val="300"/>
              </a:spcBef>
            </a:pPr>
            <a:r>
              <a:rPr lang="zh-CN" altLang="en-US" sz="2400" dirty="0">
                <a:latin typeface="华文楷体" panose="02010600040101010101" pitchFamily="2" charset="-122"/>
                <a:ea typeface="华文楷体" panose="02010600040101010101" pitchFamily="2" charset="-122"/>
              </a:rPr>
              <a:t>    </a:t>
            </a:r>
            <a:r>
              <a:rPr lang="en-US" altLang="zh-CN" sz="2400" dirty="0">
                <a:latin typeface="华文楷体" panose="02010600040101010101" pitchFamily="2" charset="-122"/>
                <a:ea typeface="华文楷体" panose="02010600040101010101" pitchFamily="2" charset="-122"/>
              </a:rPr>
              <a:t>[</a:t>
            </a:r>
            <a:r>
              <a:rPr lang="en-US" altLang="zh-CN" sz="2400" dirty="0">
                <a:solidFill>
                  <a:srgbClr val="A50021"/>
                </a:solidFill>
                <a:latin typeface="华文楷体" panose="02010600040101010101" pitchFamily="2" charset="-122"/>
                <a:ea typeface="华文楷体" panose="02010600040101010101" pitchFamily="2" charset="-122"/>
              </a:rPr>
              <a:t>WHERE</a:t>
            </a:r>
            <a:r>
              <a:rPr lang="en-US" altLang="zh-CN" sz="2400" dirty="0">
                <a:latin typeface="华文楷体" panose="02010600040101010101" pitchFamily="2" charset="-122"/>
                <a:ea typeface="华文楷体" panose="02010600040101010101" pitchFamily="2" charset="-122"/>
              </a:rPr>
              <a:t> </a:t>
            </a:r>
            <a:r>
              <a:rPr lang="zh-CN" altLang="en-US" sz="2400" dirty="0">
                <a:latin typeface="华文楷体" panose="02010600040101010101" pitchFamily="2" charset="-122"/>
                <a:ea typeface="华文楷体" panose="02010600040101010101" pitchFamily="2" charset="-122"/>
              </a:rPr>
              <a:t>条件表达式 </a:t>
            </a:r>
            <a:r>
              <a:rPr lang="en-US" altLang="zh-CN" sz="2400" dirty="0">
                <a:latin typeface="华文楷体" panose="02010600040101010101" pitchFamily="2" charset="-122"/>
                <a:ea typeface="华文楷体" panose="02010600040101010101" pitchFamily="2" charset="-122"/>
              </a:rPr>
              <a:t>] </a:t>
            </a:r>
            <a:r>
              <a:rPr lang="zh-CN" altLang="en-US" sz="2400" dirty="0">
                <a:latin typeface="华文楷体" panose="02010600040101010101" pitchFamily="2" charset="-122"/>
                <a:ea typeface="华文楷体" panose="02010600040101010101" pitchFamily="2" charset="-122"/>
              </a:rPr>
              <a:t>   </a:t>
            </a:r>
            <a:endParaRPr lang="en-US" altLang="zh-CN" sz="2400" dirty="0">
              <a:latin typeface="华文楷体" panose="02010600040101010101" pitchFamily="2" charset="-122"/>
              <a:ea typeface="华文楷体" panose="02010600040101010101" pitchFamily="2" charset="-122"/>
            </a:endParaRPr>
          </a:p>
          <a:p>
            <a:pPr>
              <a:spcBef>
                <a:spcPts val="300"/>
              </a:spcBef>
            </a:pPr>
            <a:r>
              <a:rPr lang="en-US" altLang="zh-CN" sz="2400" dirty="0">
                <a:latin typeface="华文楷体" panose="02010600040101010101" pitchFamily="2" charset="-122"/>
                <a:ea typeface="华文楷体" panose="02010600040101010101" pitchFamily="2" charset="-122"/>
              </a:rPr>
              <a:t>   </a:t>
            </a:r>
            <a:r>
              <a:rPr lang="zh-CN" altLang="en-US" sz="2400" dirty="0">
                <a:latin typeface="华文楷体" panose="02010600040101010101" pitchFamily="2" charset="-122"/>
                <a:ea typeface="华文楷体" panose="02010600040101010101" pitchFamily="2" charset="-122"/>
              </a:rPr>
              <a:t> </a:t>
            </a:r>
            <a:r>
              <a:rPr lang="en-US" altLang="zh-CN" sz="2400" dirty="0">
                <a:latin typeface="华文楷体" panose="02010600040101010101" pitchFamily="2" charset="-122"/>
                <a:ea typeface="华文楷体" panose="02010600040101010101" pitchFamily="2" charset="-122"/>
              </a:rPr>
              <a:t>[ GROUP BY </a:t>
            </a:r>
            <a:r>
              <a:rPr lang="zh-CN" altLang="en-US" sz="2400" dirty="0">
                <a:latin typeface="华文楷体" panose="02010600040101010101" pitchFamily="2" charset="-122"/>
                <a:ea typeface="华文楷体" panose="02010600040101010101" pitchFamily="2" charset="-122"/>
              </a:rPr>
              <a:t>分组表达式 </a:t>
            </a:r>
            <a:r>
              <a:rPr lang="en-US" altLang="zh-CN" sz="2400" dirty="0">
                <a:latin typeface="华文楷体" panose="02010600040101010101" pitchFamily="2" charset="-122"/>
                <a:ea typeface="华文楷体" panose="02010600040101010101" pitchFamily="2" charset="-122"/>
              </a:rPr>
              <a:t>] </a:t>
            </a:r>
            <a:endParaRPr lang="en-US" altLang="zh-CN" sz="2400" dirty="0">
              <a:latin typeface="华文楷体" panose="02010600040101010101" pitchFamily="2" charset="-122"/>
              <a:ea typeface="华文楷体" panose="02010600040101010101" pitchFamily="2" charset="-122"/>
            </a:endParaRPr>
          </a:p>
          <a:p>
            <a:pPr>
              <a:spcBef>
                <a:spcPts val="300"/>
              </a:spcBef>
            </a:pPr>
            <a:r>
              <a:rPr lang="zh-CN" altLang="en-US" sz="2400" dirty="0">
                <a:latin typeface="华文楷体" panose="02010600040101010101" pitchFamily="2" charset="-122"/>
                <a:ea typeface="华文楷体" panose="02010600040101010101" pitchFamily="2" charset="-122"/>
              </a:rPr>
              <a:t>    </a:t>
            </a:r>
            <a:r>
              <a:rPr lang="en-US" altLang="zh-CN" sz="2400" dirty="0">
                <a:latin typeface="华文楷体" panose="02010600040101010101" pitchFamily="2" charset="-122"/>
                <a:ea typeface="华文楷体" panose="02010600040101010101" pitchFamily="2" charset="-122"/>
              </a:rPr>
              <a:t>[ HAVING  </a:t>
            </a:r>
            <a:r>
              <a:rPr lang="zh-CN" altLang="en-US" sz="2400" dirty="0">
                <a:latin typeface="华文楷体" panose="02010600040101010101" pitchFamily="2" charset="-122"/>
                <a:ea typeface="华文楷体" panose="02010600040101010101" pitchFamily="2" charset="-122"/>
              </a:rPr>
              <a:t>组内数据条件表达式 </a:t>
            </a:r>
            <a:r>
              <a:rPr lang="en-US" altLang="zh-CN" sz="2400" dirty="0">
                <a:latin typeface="华文楷体" panose="02010600040101010101" pitchFamily="2" charset="-122"/>
                <a:ea typeface="华文楷体" panose="02010600040101010101" pitchFamily="2" charset="-122"/>
              </a:rPr>
              <a:t>] </a:t>
            </a:r>
            <a:endParaRPr lang="en-US" altLang="zh-CN" sz="2400" dirty="0">
              <a:latin typeface="华文楷体" panose="02010600040101010101" pitchFamily="2" charset="-122"/>
              <a:ea typeface="华文楷体" panose="02010600040101010101" pitchFamily="2" charset="-122"/>
            </a:endParaRPr>
          </a:p>
          <a:p>
            <a:pPr>
              <a:spcBef>
                <a:spcPts val="300"/>
              </a:spcBef>
            </a:pPr>
            <a:r>
              <a:rPr lang="zh-CN" altLang="en-US" sz="2400" dirty="0">
                <a:latin typeface="华文楷体" panose="02010600040101010101" pitchFamily="2" charset="-122"/>
                <a:ea typeface="华文楷体" panose="02010600040101010101" pitchFamily="2" charset="-122"/>
              </a:rPr>
              <a:t>   </a:t>
            </a:r>
            <a:r>
              <a:rPr lang="en-US" altLang="zh-CN" sz="2400" dirty="0">
                <a:latin typeface="华文楷体" panose="02010600040101010101" pitchFamily="2" charset="-122"/>
                <a:ea typeface="华文楷体" panose="02010600040101010101" pitchFamily="2" charset="-122"/>
              </a:rPr>
              <a:t> [ ORDER BY  </a:t>
            </a:r>
            <a:r>
              <a:rPr lang="zh-CN" altLang="en-US" sz="2400" dirty="0">
                <a:latin typeface="华文楷体" panose="02010600040101010101" pitchFamily="2" charset="-122"/>
                <a:ea typeface="华文楷体" panose="02010600040101010101" pitchFamily="2" charset="-122"/>
              </a:rPr>
              <a:t>排序表达式 </a:t>
            </a:r>
            <a:r>
              <a:rPr lang="en-US" altLang="zh-CN" sz="2400" dirty="0">
                <a:latin typeface="华文楷体" panose="02010600040101010101" pitchFamily="2" charset="-122"/>
                <a:ea typeface="华文楷体" panose="02010600040101010101" pitchFamily="2" charset="-122"/>
              </a:rPr>
              <a:t>[ ASC | DESC ] ] </a:t>
            </a:r>
            <a:endParaRPr lang="en-US" altLang="zh-CN" sz="2400" dirty="0">
              <a:latin typeface="华文楷体" panose="02010600040101010101" pitchFamily="2" charset="-122"/>
              <a:ea typeface="华文楷体" panose="02010600040101010101" pitchFamily="2" charset="-122"/>
            </a:endParaRPr>
          </a:p>
          <a:p>
            <a:pPr>
              <a:spcBef>
                <a:spcPts val="300"/>
              </a:spcBef>
            </a:pPr>
            <a:r>
              <a:rPr lang="zh-CN" altLang="en-US" sz="2400" dirty="0">
                <a:latin typeface="华文楷体" panose="02010600040101010101" pitchFamily="2" charset="-122"/>
                <a:ea typeface="华文楷体" panose="02010600040101010101" pitchFamily="2" charset="-122"/>
              </a:rPr>
              <a:t>   </a:t>
            </a:r>
            <a:r>
              <a:rPr lang="en-US" altLang="zh-CN" sz="2400" dirty="0">
                <a:latin typeface="华文楷体" panose="02010600040101010101" pitchFamily="2" charset="-122"/>
                <a:ea typeface="华文楷体" panose="02010600040101010101" pitchFamily="2" charset="-122"/>
              </a:rPr>
              <a:t> [ COMPUTE </a:t>
            </a:r>
            <a:endParaRPr lang="en-US" altLang="zh-CN" sz="2400" dirty="0">
              <a:latin typeface="华文楷体" panose="02010600040101010101" pitchFamily="2" charset="-122"/>
              <a:ea typeface="华文楷体" panose="02010600040101010101" pitchFamily="2" charset="-122"/>
            </a:endParaRPr>
          </a:p>
          <a:p>
            <a:pPr>
              <a:spcBef>
                <a:spcPts val="300"/>
              </a:spcBef>
            </a:pPr>
            <a:r>
              <a:rPr lang="zh-CN" altLang="en-US" sz="2400" dirty="0">
                <a:latin typeface="华文楷体" panose="02010600040101010101" pitchFamily="2" charset="-122"/>
                <a:ea typeface="华文楷体" panose="02010600040101010101" pitchFamily="2" charset="-122"/>
              </a:rPr>
              <a:t>    </a:t>
            </a:r>
            <a:r>
              <a:rPr lang="en-US" altLang="zh-CN" sz="2400" dirty="0">
                <a:latin typeface="华文楷体" panose="02010600040101010101" pitchFamily="2" charset="-122"/>
                <a:ea typeface="华文楷体" panose="02010600040101010101" pitchFamily="2" charset="-122"/>
              </a:rPr>
              <a:t> {{AVG|COUNT|MAX|MIN|SUM}(</a:t>
            </a:r>
            <a:r>
              <a:rPr lang="zh-CN" altLang="en-US" sz="2400" dirty="0">
                <a:latin typeface="华文楷体" panose="02010600040101010101" pitchFamily="2" charset="-122"/>
                <a:ea typeface="华文楷体" panose="02010600040101010101" pitchFamily="2" charset="-122"/>
              </a:rPr>
              <a:t>表达式</a:t>
            </a:r>
            <a:r>
              <a:rPr lang="en-US" altLang="zh-CN" sz="2400" dirty="0">
                <a:latin typeface="华文楷体" panose="02010600040101010101" pitchFamily="2" charset="-122"/>
                <a:ea typeface="华文楷体" panose="02010600040101010101" pitchFamily="2" charset="-122"/>
              </a:rPr>
              <a:t>)}[,...n] </a:t>
            </a:r>
            <a:br>
              <a:rPr lang="en-US" altLang="zh-CN" sz="2400" dirty="0">
                <a:latin typeface="华文楷体" panose="02010600040101010101" pitchFamily="2" charset="-122"/>
                <a:ea typeface="华文楷体" panose="02010600040101010101" pitchFamily="2" charset="-122"/>
              </a:rPr>
            </a:br>
            <a:r>
              <a:rPr lang="en-US" altLang="zh-CN" sz="2400" dirty="0">
                <a:latin typeface="华文楷体" panose="02010600040101010101" pitchFamily="2" charset="-122"/>
                <a:ea typeface="华文楷体" panose="02010600040101010101" pitchFamily="2" charset="-122"/>
              </a:rPr>
              <a:t>          [ BY expression [ ,...n ] ]]</a:t>
            </a:r>
            <a:endParaRPr lang="en-US" altLang="zh-CN" sz="2400" dirty="0">
              <a:latin typeface="华文楷体" panose="02010600040101010101" pitchFamily="2" charset="-122"/>
              <a:ea typeface="华文楷体" panose="02010600040101010101" pitchFamily="2" charset="-122"/>
            </a:endParaRPr>
          </a:p>
          <a:p>
            <a:pPr>
              <a:spcBef>
                <a:spcPts val="600"/>
              </a:spcBef>
            </a:pPr>
            <a:r>
              <a:rPr lang="zh-CN" altLang="en-US" sz="2400" u="sng" dirty="0">
                <a:solidFill>
                  <a:srgbClr val="FF0000"/>
                </a:solidFill>
                <a:latin typeface="宋体" panose="02010600030101010101" pitchFamily="2" charset="-122"/>
                <a:ea typeface="宋体" panose="02010600030101010101" pitchFamily="2" charset="-122"/>
              </a:rPr>
              <a:t>说明：</a:t>
            </a:r>
            <a:r>
              <a:rPr lang="zh-CN" altLang="en-US" sz="2200" dirty="0">
                <a:latin typeface="华文楷体" panose="02010600040101010101" pitchFamily="2" charset="-122"/>
                <a:ea typeface="华文楷体" panose="02010600040101010101" pitchFamily="2" charset="-122"/>
              </a:rPr>
              <a:t>查询主要由一些子句构成，如：</a:t>
            </a:r>
            <a:r>
              <a:rPr lang="en-US" altLang="zh-CN" sz="2200" dirty="0">
                <a:latin typeface="华文楷体" panose="02010600040101010101" pitchFamily="2" charset="-122"/>
                <a:ea typeface="华文楷体" panose="02010600040101010101" pitchFamily="2" charset="-122"/>
              </a:rPr>
              <a:t>SELECT</a:t>
            </a:r>
            <a:r>
              <a:rPr lang="zh-CN" altLang="en-US" sz="2200" dirty="0">
                <a:latin typeface="华文楷体" panose="02010600040101010101" pitchFamily="2" charset="-122"/>
                <a:ea typeface="华文楷体" panose="02010600040101010101" pitchFamily="2" charset="-122"/>
              </a:rPr>
              <a:t>子句、</a:t>
            </a:r>
            <a:r>
              <a:rPr lang="en-US" altLang="zh-CN" sz="2200" dirty="0">
                <a:latin typeface="华文楷体" panose="02010600040101010101" pitchFamily="2" charset="-122"/>
                <a:ea typeface="华文楷体" panose="02010600040101010101" pitchFamily="2" charset="-122"/>
              </a:rPr>
              <a:t>INTO</a:t>
            </a:r>
            <a:r>
              <a:rPr lang="zh-CN" altLang="en-US" sz="2200" dirty="0">
                <a:latin typeface="华文楷体" panose="02010600040101010101" pitchFamily="2" charset="-122"/>
                <a:ea typeface="华文楷体" panose="02010600040101010101" pitchFamily="2" charset="-122"/>
              </a:rPr>
              <a:t>子句</a:t>
            </a:r>
            <a:r>
              <a:rPr lang="en-US" altLang="zh-CN" sz="2200" dirty="0">
                <a:latin typeface="华文楷体" panose="02010600040101010101" pitchFamily="2" charset="-122"/>
                <a:ea typeface="华文楷体" panose="02010600040101010101" pitchFamily="2" charset="-122"/>
              </a:rPr>
              <a:t>(Clause)</a:t>
            </a:r>
            <a:r>
              <a:rPr lang="zh-CN" altLang="en-US" sz="2200" dirty="0">
                <a:latin typeface="华文楷体" panose="02010600040101010101" pitchFamily="2" charset="-122"/>
                <a:ea typeface="华文楷体" panose="02010600040101010101" pitchFamily="2" charset="-122"/>
              </a:rPr>
              <a:t>、</a:t>
            </a:r>
            <a:r>
              <a:rPr lang="en-US" altLang="zh-CN" sz="2200" dirty="0">
                <a:latin typeface="华文楷体" panose="02010600040101010101" pitchFamily="2" charset="-122"/>
                <a:ea typeface="华文楷体" panose="02010600040101010101" pitchFamily="2" charset="-122"/>
              </a:rPr>
              <a:t>FROM</a:t>
            </a:r>
            <a:r>
              <a:rPr lang="zh-CN" altLang="en-US" sz="2200" dirty="0">
                <a:latin typeface="华文楷体" panose="02010600040101010101" pitchFamily="2" charset="-122"/>
                <a:ea typeface="华文楷体" panose="02010600040101010101" pitchFamily="2" charset="-122"/>
              </a:rPr>
              <a:t>子句、</a:t>
            </a:r>
            <a:r>
              <a:rPr lang="en-US" altLang="zh-CN" sz="2200" dirty="0">
                <a:latin typeface="华文楷体" panose="02010600040101010101" pitchFamily="2" charset="-122"/>
                <a:ea typeface="华文楷体" panose="02010600040101010101" pitchFamily="2" charset="-122"/>
              </a:rPr>
              <a:t>WHERE</a:t>
            </a:r>
            <a:r>
              <a:rPr lang="zh-CN" altLang="en-US" sz="2200" dirty="0">
                <a:latin typeface="华文楷体" panose="02010600040101010101" pitchFamily="2" charset="-122"/>
                <a:ea typeface="华文楷体" panose="02010600040101010101" pitchFamily="2" charset="-122"/>
              </a:rPr>
              <a:t>子句、</a:t>
            </a:r>
            <a:r>
              <a:rPr lang="en-US" altLang="zh-CN" sz="2200" dirty="0">
                <a:latin typeface="华文楷体" panose="02010600040101010101" pitchFamily="2" charset="-122"/>
                <a:ea typeface="华文楷体" panose="02010600040101010101" pitchFamily="2" charset="-122"/>
              </a:rPr>
              <a:t>GROUP BY</a:t>
            </a:r>
            <a:r>
              <a:rPr lang="zh-CN" altLang="en-US" sz="2200" dirty="0">
                <a:latin typeface="华文楷体" panose="02010600040101010101" pitchFamily="2" charset="-122"/>
                <a:ea typeface="华文楷体" panose="02010600040101010101" pitchFamily="2" charset="-122"/>
              </a:rPr>
              <a:t>子句、</a:t>
            </a:r>
            <a:r>
              <a:rPr lang="en-US" altLang="zh-CN" sz="2200" dirty="0">
                <a:latin typeface="华文楷体" panose="02010600040101010101" pitchFamily="2" charset="-122"/>
                <a:ea typeface="华文楷体" panose="02010600040101010101" pitchFamily="2" charset="-122"/>
              </a:rPr>
              <a:t>HAVING</a:t>
            </a:r>
            <a:r>
              <a:rPr lang="zh-CN" altLang="en-US" sz="2200" dirty="0">
                <a:latin typeface="华文楷体" panose="02010600040101010101" pitchFamily="2" charset="-122"/>
                <a:ea typeface="华文楷体" panose="02010600040101010101" pitchFamily="2" charset="-122"/>
              </a:rPr>
              <a:t>子句、</a:t>
            </a:r>
            <a:r>
              <a:rPr lang="en-US" altLang="zh-CN" sz="2200" dirty="0">
                <a:latin typeface="华文楷体" panose="02010600040101010101" pitchFamily="2" charset="-122"/>
                <a:ea typeface="华文楷体" panose="02010600040101010101" pitchFamily="2" charset="-122"/>
              </a:rPr>
              <a:t>ORDER BY</a:t>
            </a:r>
            <a:r>
              <a:rPr lang="zh-CN" altLang="en-US" sz="2200" dirty="0">
                <a:latin typeface="华文楷体" panose="02010600040101010101" pitchFamily="2" charset="-122"/>
                <a:ea typeface="华文楷体" panose="02010600040101010101" pitchFamily="2" charset="-122"/>
              </a:rPr>
              <a:t>子句、</a:t>
            </a:r>
            <a:r>
              <a:rPr lang="en-US" altLang="zh-CN" sz="2200" dirty="0">
                <a:latin typeface="华文楷体" panose="02010600040101010101" pitchFamily="2" charset="-122"/>
                <a:ea typeface="华文楷体" panose="02010600040101010101" pitchFamily="2" charset="-122"/>
              </a:rPr>
              <a:t>COMPUTE</a:t>
            </a:r>
            <a:r>
              <a:rPr lang="zh-CN" altLang="en-US" sz="2200" dirty="0">
                <a:latin typeface="华文楷体" panose="02010600040101010101" pitchFamily="2" charset="-122"/>
                <a:ea typeface="华文楷体" panose="02010600040101010101" pitchFamily="2" charset="-122"/>
              </a:rPr>
              <a:t>子句等。</a:t>
            </a:r>
            <a:endParaRPr lang="zh-CN" altLang="en-US" sz="2200" dirty="0">
              <a:latin typeface="华文楷体" panose="02010600040101010101" pitchFamily="2" charset="-122"/>
              <a:ea typeface="华文楷体" panose="02010600040101010101" pitchFamily="2" charset="-122"/>
            </a:endParaRPr>
          </a:p>
        </p:txBody>
      </p:sp>
      <p:sp>
        <p:nvSpPr>
          <p:cNvPr id="80900" name="Text Box 4"/>
          <p:cNvSpPr txBox="1"/>
          <p:nvPr/>
        </p:nvSpPr>
        <p:spPr>
          <a:xfrm>
            <a:off x="527050" y="1282700"/>
            <a:ext cx="5089525" cy="552450"/>
          </a:xfrm>
          <a:prstGeom prst="rect">
            <a:avLst/>
          </a:prstGeom>
          <a:noFill/>
          <a:ln w="9525">
            <a:noFill/>
          </a:ln>
        </p:spPr>
        <p:txBody>
          <a:bodyPr anchor="t" anchorCtr="0">
            <a:spAutoFit/>
          </a:bodyPr>
          <a:p>
            <a:pPr marL="457200" indent="-457200">
              <a:lnSpc>
                <a:spcPct val="135000"/>
              </a:lnSpc>
              <a:buFont typeface="Wingdings" panose="05000000000000000000" pitchFamily="2" charset="2"/>
              <a:buChar char="p"/>
            </a:pPr>
            <a:r>
              <a:rPr lang="zh-CN" altLang="en-US" sz="2600" dirty="0">
                <a:solidFill>
                  <a:srgbClr val="FF0000"/>
                </a:solidFill>
                <a:latin typeface="宋体" panose="02010600030101010101" pitchFamily="2" charset="-122"/>
                <a:ea typeface="宋体" panose="02010600030101010101" pitchFamily="2" charset="-122"/>
              </a:rPr>
              <a:t>查询命令语法</a:t>
            </a:r>
            <a:endParaRPr lang="en-US" altLang="zh-CN" sz="2600" dirty="0">
              <a:solidFill>
                <a:srgbClr val="FF0000"/>
              </a:solidFill>
              <a:latin typeface="宋体" panose="02010600030101010101" pitchFamily="2" charset="-122"/>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6324"/>
                                        </p:tgtEl>
                                        <p:attrNameLst>
                                          <p:attrName>style.visibility</p:attrName>
                                        </p:attrNameLst>
                                      </p:cBhvr>
                                      <p:to>
                                        <p:strVal val="visible"/>
                                      </p:to>
                                    </p:set>
                                    <p:animEffect transition="in" filter="box(in)">
                                      <p:cBhvr>
                                        <p:cTn id="7" dur="500"/>
                                        <p:tgtEl>
                                          <p:spTgt spid="563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4"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1"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三、数据库操纵子语言及其操作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81922" name="矩形 2"/>
          <p:cNvSpPr/>
          <p:nvPr/>
        </p:nvSpPr>
        <p:spPr>
          <a:xfrm>
            <a:off x="542925" y="866775"/>
            <a:ext cx="4203700" cy="517525"/>
          </a:xfrm>
          <a:prstGeom prst="rect">
            <a:avLst/>
          </a:prstGeom>
          <a:noFill/>
          <a:ln w="9525">
            <a:noFill/>
          </a:ln>
        </p:spPr>
        <p:txBody>
          <a:bodyPr anchor="t" anchorCtr="0">
            <a:spAutoFit/>
          </a:bodyPr>
          <a:p>
            <a:r>
              <a:rPr lang="en-US" altLang="zh-CN" sz="2800" dirty="0">
                <a:solidFill>
                  <a:srgbClr val="0033CC"/>
                </a:solidFill>
                <a:latin typeface="黑体" panose="02010609060101010101" pitchFamily="1" charset="-122"/>
                <a:ea typeface="黑体" panose="02010609060101010101" pitchFamily="1" charset="-122"/>
              </a:rPr>
              <a:t>6.</a:t>
            </a:r>
            <a:r>
              <a:rPr lang="zh-CN" altLang="en-US" sz="2800" dirty="0">
                <a:solidFill>
                  <a:srgbClr val="0033CC"/>
                </a:solidFill>
                <a:latin typeface="黑体" panose="02010609060101010101" pitchFamily="1" charset="-122"/>
                <a:ea typeface="黑体" panose="02010609060101010101" pitchFamily="1" charset="-122"/>
              </a:rPr>
              <a:t>数据查询</a:t>
            </a:r>
            <a:r>
              <a:rPr lang="en-US" altLang="zh-CN" sz="2800" dirty="0">
                <a:solidFill>
                  <a:srgbClr val="0033CC"/>
                </a:solidFill>
                <a:latin typeface="黑体" panose="02010609060101010101" pitchFamily="1" charset="-122"/>
                <a:ea typeface="黑体" panose="02010609060101010101" pitchFamily="1" charset="-122"/>
              </a:rPr>
              <a:t>(Select)</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57348" name="Text Box 3"/>
          <p:cNvSpPr txBox="1"/>
          <p:nvPr/>
        </p:nvSpPr>
        <p:spPr>
          <a:xfrm>
            <a:off x="655638" y="1755775"/>
            <a:ext cx="8027987" cy="4410075"/>
          </a:xfrm>
          <a:prstGeom prst="rect">
            <a:avLst/>
          </a:prstGeom>
          <a:noFill/>
          <a:ln w="9525">
            <a:noFill/>
          </a:ln>
        </p:spPr>
        <p:txBody>
          <a:bodyPr anchor="t" anchorCtr="0">
            <a:spAutoFit/>
          </a:bodyPr>
          <a:p>
            <a:pPr marL="457200" indent="-457200">
              <a:lnSpc>
                <a:spcPct val="120000"/>
              </a:lnSpc>
            </a:pPr>
            <a:r>
              <a:rPr lang="en-US" altLang="zh-CN" sz="2400" dirty="0">
                <a:latin typeface="华文楷体" panose="02010600040101010101" pitchFamily="2" charset="-122"/>
                <a:ea typeface="华文楷体" panose="02010600040101010101" pitchFamily="2" charset="-122"/>
              </a:rPr>
              <a:t>SELECT [ ALL | DISTINCT ]</a:t>
            </a:r>
            <a:r>
              <a:rPr lang="en-US" altLang="zh-CN" sz="2400" dirty="0">
                <a:solidFill>
                  <a:srgbClr val="0000CC"/>
                </a:solidFill>
                <a:latin typeface="华文楷体" panose="02010600040101010101" pitchFamily="2" charset="-122"/>
                <a:ea typeface="华文楷体" panose="02010600040101010101" pitchFamily="2" charset="-122"/>
              </a:rPr>
              <a:t>  </a:t>
            </a:r>
            <a:r>
              <a:rPr lang="en-US" altLang="zh-CN" sz="2400" dirty="0">
                <a:solidFill>
                  <a:srgbClr val="A50021"/>
                </a:solidFill>
                <a:latin typeface="华文楷体" panose="02010600040101010101" pitchFamily="2" charset="-122"/>
                <a:ea typeface="华文楷体" panose="02010600040101010101" pitchFamily="2" charset="-122"/>
              </a:rPr>
              <a:t>&lt; select_list &gt; </a:t>
            </a:r>
            <a:r>
              <a:rPr lang="en-US" altLang="zh-CN" sz="2400" dirty="0">
                <a:solidFill>
                  <a:srgbClr val="0000CC"/>
                </a:solidFill>
                <a:latin typeface="华文楷体" panose="02010600040101010101" pitchFamily="2" charset="-122"/>
                <a:ea typeface="华文楷体" panose="02010600040101010101" pitchFamily="2" charset="-122"/>
              </a:rPr>
              <a:t> </a:t>
            </a:r>
            <a:endParaRPr lang="en-US" altLang="zh-CN" sz="2400" dirty="0">
              <a:solidFill>
                <a:srgbClr val="0000CC"/>
              </a:solidFill>
              <a:latin typeface="华文楷体" panose="02010600040101010101" pitchFamily="2" charset="-122"/>
              <a:ea typeface="华文楷体" panose="02010600040101010101" pitchFamily="2" charset="-122"/>
            </a:endParaRPr>
          </a:p>
          <a:p>
            <a:pPr marL="457200" indent="-457200">
              <a:lnSpc>
                <a:spcPct val="120000"/>
              </a:lnSpc>
            </a:pPr>
            <a:r>
              <a:rPr lang="en-US" altLang="zh-CN" sz="2400" dirty="0">
                <a:solidFill>
                  <a:srgbClr val="A50021"/>
                </a:solidFill>
                <a:latin typeface="华文楷体" panose="02010600040101010101" pitchFamily="2" charset="-122"/>
                <a:ea typeface="华文楷体" panose="02010600040101010101" pitchFamily="2" charset="-122"/>
              </a:rPr>
              <a:t>  &lt; select_list &gt;</a:t>
            </a:r>
            <a:r>
              <a:rPr lang="en-US" altLang="zh-CN" sz="2400" dirty="0">
                <a:solidFill>
                  <a:srgbClr val="0000CC"/>
                </a:solidFill>
                <a:latin typeface="华文楷体" panose="02010600040101010101" pitchFamily="2" charset="-122"/>
                <a:ea typeface="华文楷体" panose="02010600040101010101" pitchFamily="2" charset="-122"/>
              </a:rPr>
              <a:t> </a:t>
            </a:r>
            <a:r>
              <a:rPr lang="en-US" altLang="zh-CN" sz="2400" dirty="0">
                <a:latin typeface="华文楷体" panose="02010600040101010101" pitchFamily="2" charset="-122"/>
                <a:ea typeface="华文楷体" panose="02010600040101010101" pitchFamily="2" charset="-122"/>
              </a:rPr>
              <a:t>::= </a:t>
            </a:r>
            <a:endParaRPr lang="en-US" altLang="zh-CN" sz="2400" dirty="0">
              <a:latin typeface="华文楷体" panose="02010600040101010101" pitchFamily="2" charset="-122"/>
              <a:ea typeface="华文楷体" panose="02010600040101010101" pitchFamily="2" charset="-122"/>
            </a:endParaRPr>
          </a:p>
          <a:p>
            <a:pPr marL="457200" indent="-457200">
              <a:lnSpc>
                <a:spcPct val="120000"/>
              </a:lnSpc>
            </a:pPr>
            <a:r>
              <a:rPr lang="en-US" altLang="zh-CN" sz="2400" dirty="0">
                <a:latin typeface="华文楷体" panose="02010600040101010101" pitchFamily="2" charset="-122"/>
                <a:ea typeface="华文楷体" panose="02010600040101010101" pitchFamily="2" charset="-122"/>
              </a:rPr>
              <a:t>       { * | { </a:t>
            </a:r>
            <a:r>
              <a:rPr lang="zh-CN" altLang="en-US" sz="2400" dirty="0">
                <a:latin typeface="华文楷体" panose="02010600040101010101" pitchFamily="2" charset="-122"/>
                <a:ea typeface="华文楷体" panose="02010600040101010101" pitchFamily="2" charset="-122"/>
              </a:rPr>
              <a:t>表名 </a:t>
            </a:r>
            <a:r>
              <a:rPr lang="en-US" altLang="zh-CN" sz="2400" dirty="0">
                <a:latin typeface="华文楷体" panose="02010600040101010101" pitchFamily="2" charset="-122"/>
                <a:ea typeface="华文楷体" panose="02010600040101010101" pitchFamily="2" charset="-122"/>
              </a:rPr>
              <a:t>| </a:t>
            </a:r>
            <a:r>
              <a:rPr lang="zh-CN" altLang="en-US" sz="2400" dirty="0">
                <a:latin typeface="华文楷体" panose="02010600040101010101" pitchFamily="2" charset="-122"/>
                <a:ea typeface="华文楷体" panose="02010600040101010101" pitchFamily="2" charset="-122"/>
              </a:rPr>
              <a:t>视图名 </a:t>
            </a:r>
            <a:r>
              <a:rPr lang="en-US" altLang="zh-CN" sz="2400" dirty="0">
                <a:latin typeface="华文楷体" panose="02010600040101010101" pitchFamily="2" charset="-122"/>
                <a:ea typeface="华文楷体" panose="02010600040101010101" pitchFamily="2" charset="-122"/>
              </a:rPr>
              <a:t>| </a:t>
            </a:r>
            <a:r>
              <a:rPr lang="zh-CN" altLang="en-US" sz="2400" dirty="0">
                <a:latin typeface="华文楷体" panose="02010600040101010101" pitchFamily="2" charset="-122"/>
                <a:ea typeface="华文楷体" panose="02010600040101010101" pitchFamily="2" charset="-122"/>
              </a:rPr>
              <a:t>表别名 </a:t>
            </a:r>
            <a:r>
              <a:rPr lang="en-US" altLang="zh-CN" sz="2400" dirty="0">
                <a:latin typeface="华文楷体" panose="02010600040101010101" pitchFamily="2" charset="-122"/>
                <a:ea typeface="华文楷体" panose="02010600040101010101" pitchFamily="2" charset="-122"/>
              </a:rPr>
              <a:t>}.* </a:t>
            </a:r>
            <a:br>
              <a:rPr lang="en-US" altLang="zh-CN" sz="2400" dirty="0">
                <a:latin typeface="华文楷体" panose="02010600040101010101" pitchFamily="2" charset="-122"/>
                <a:ea typeface="华文楷体" panose="02010600040101010101" pitchFamily="2" charset="-122"/>
              </a:rPr>
            </a:br>
            <a:r>
              <a:rPr lang="en-US" altLang="zh-CN" sz="2400" dirty="0">
                <a:latin typeface="华文楷体" panose="02010600040101010101" pitchFamily="2" charset="-122"/>
                <a:ea typeface="华文楷体" panose="02010600040101010101" pitchFamily="2" charset="-122"/>
              </a:rPr>
              <a:t>  | { </a:t>
            </a:r>
            <a:r>
              <a:rPr lang="zh-CN" altLang="en-US" sz="2400" dirty="0">
                <a:latin typeface="华文楷体" panose="02010600040101010101" pitchFamily="2" charset="-122"/>
                <a:ea typeface="华文楷体" panose="02010600040101010101" pitchFamily="2" charset="-122"/>
              </a:rPr>
              <a:t>列名 </a:t>
            </a:r>
            <a:r>
              <a:rPr lang="en-US" altLang="zh-CN" sz="2400" dirty="0">
                <a:latin typeface="华文楷体" panose="02010600040101010101" pitchFamily="2" charset="-122"/>
                <a:ea typeface="华文楷体" panose="02010600040101010101" pitchFamily="2" charset="-122"/>
              </a:rPr>
              <a:t>| </a:t>
            </a:r>
            <a:r>
              <a:rPr lang="zh-CN" altLang="en-US" sz="2400" dirty="0">
                <a:solidFill>
                  <a:srgbClr val="A50021"/>
                </a:solidFill>
                <a:latin typeface="华文楷体" panose="02010600040101010101" pitchFamily="2" charset="-122"/>
                <a:ea typeface="华文楷体" panose="02010600040101010101" pitchFamily="2" charset="-122"/>
              </a:rPr>
              <a:t>表达式</a:t>
            </a:r>
            <a:r>
              <a:rPr lang="en-US" altLang="zh-CN" sz="2400" dirty="0">
                <a:latin typeface="华文楷体" panose="02010600040101010101" pitchFamily="2" charset="-122"/>
                <a:ea typeface="华文楷体" panose="02010600040101010101" pitchFamily="2" charset="-122"/>
              </a:rPr>
              <a:t>} [ [ AS ] </a:t>
            </a:r>
            <a:r>
              <a:rPr lang="zh-CN" altLang="en-US" sz="2400" dirty="0">
                <a:latin typeface="华文楷体" panose="02010600040101010101" pitchFamily="2" charset="-122"/>
                <a:ea typeface="华文楷体" panose="02010600040101010101" pitchFamily="2" charset="-122"/>
              </a:rPr>
              <a:t>列别名 </a:t>
            </a:r>
            <a:r>
              <a:rPr lang="en-US" altLang="zh-CN" sz="2400" dirty="0">
                <a:latin typeface="华文楷体" panose="02010600040101010101" pitchFamily="2" charset="-122"/>
                <a:ea typeface="华文楷体" panose="02010600040101010101" pitchFamily="2" charset="-122"/>
              </a:rPr>
              <a:t>] </a:t>
            </a:r>
            <a:br>
              <a:rPr lang="en-US" altLang="zh-CN" sz="2400" dirty="0">
                <a:latin typeface="华文楷体" panose="02010600040101010101" pitchFamily="2" charset="-122"/>
                <a:ea typeface="华文楷体" panose="02010600040101010101" pitchFamily="2" charset="-122"/>
              </a:rPr>
            </a:br>
            <a:r>
              <a:rPr lang="en-US" altLang="zh-CN" sz="2400" dirty="0">
                <a:latin typeface="华文楷体" panose="02010600040101010101" pitchFamily="2" charset="-122"/>
                <a:ea typeface="华文楷体" panose="02010600040101010101" pitchFamily="2" charset="-122"/>
              </a:rPr>
              <a:t>  | </a:t>
            </a:r>
            <a:r>
              <a:rPr lang="zh-CN" altLang="en-US" sz="2400" dirty="0">
                <a:latin typeface="华文楷体" panose="02010600040101010101" pitchFamily="2" charset="-122"/>
                <a:ea typeface="华文楷体" panose="02010600040101010101" pitchFamily="2" charset="-122"/>
              </a:rPr>
              <a:t>列别名 </a:t>
            </a:r>
            <a:r>
              <a:rPr lang="en-US" altLang="zh-CN" sz="2400" dirty="0">
                <a:latin typeface="华文楷体" panose="02010600040101010101" pitchFamily="2" charset="-122"/>
                <a:ea typeface="华文楷体" panose="02010600040101010101" pitchFamily="2" charset="-122"/>
              </a:rPr>
              <a:t>= </a:t>
            </a:r>
            <a:r>
              <a:rPr lang="zh-CN" altLang="en-US" sz="2400" dirty="0">
                <a:latin typeface="华文楷体" panose="02010600040101010101" pitchFamily="2" charset="-122"/>
                <a:ea typeface="华文楷体" panose="02010600040101010101" pitchFamily="2" charset="-122"/>
              </a:rPr>
              <a:t>表达式 </a:t>
            </a:r>
            <a:r>
              <a:rPr lang="en-US" altLang="zh-CN" sz="2400" dirty="0">
                <a:latin typeface="华文楷体" panose="02010600040101010101" pitchFamily="2" charset="-122"/>
                <a:ea typeface="华文楷体" panose="02010600040101010101" pitchFamily="2" charset="-122"/>
              </a:rPr>
              <a:t>}    [ ,...n ] </a:t>
            </a:r>
            <a:endParaRPr lang="en-US" altLang="zh-CN" sz="2400" dirty="0">
              <a:latin typeface="华文楷体" panose="02010600040101010101" pitchFamily="2" charset="-122"/>
              <a:ea typeface="华文楷体" panose="02010600040101010101" pitchFamily="2" charset="-122"/>
            </a:endParaRPr>
          </a:p>
          <a:p>
            <a:pPr marL="457200" indent="-457200">
              <a:lnSpc>
                <a:spcPct val="110000"/>
              </a:lnSpc>
              <a:spcBef>
                <a:spcPts val="300"/>
              </a:spcBef>
            </a:pPr>
            <a:r>
              <a:rPr lang="en-US" altLang="zh-CN" sz="2400" dirty="0">
                <a:solidFill>
                  <a:srgbClr val="A50021"/>
                </a:solidFill>
                <a:latin typeface="华文楷体" panose="02010600040101010101" pitchFamily="2" charset="-122"/>
                <a:ea typeface="华文楷体" panose="02010600040101010101" pitchFamily="2" charset="-122"/>
              </a:rPr>
              <a:t>    1</a:t>
            </a:r>
            <a:r>
              <a:rPr lang="zh-CN" altLang="en-US" sz="2400" dirty="0">
                <a:solidFill>
                  <a:srgbClr val="A50021"/>
                </a:solidFill>
                <a:latin typeface="华文楷体" panose="02010600040101010101" pitchFamily="2" charset="-122"/>
                <a:ea typeface="华文楷体" panose="02010600040101010101" pitchFamily="2" charset="-122"/>
              </a:rPr>
              <a:t>）</a:t>
            </a:r>
            <a:r>
              <a:rPr lang="en-US" altLang="zh-CN" sz="2400" dirty="0">
                <a:solidFill>
                  <a:srgbClr val="A50021"/>
                </a:solidFill>
                <a:latin typeface="华文楷体" panose="02010600040101010101" pitchFamily="2" charset="-122"/>
                <a:ea typeface="华文楷体" panose="02010600040101010101" pitchFamily="2" charset="-122"/>
              </a:rPr>
              <a:t>ALL</a:t>
            </a:r>
            <a:r>
              <a:rPr lang="zh-CN" altLang="en-US" sz="2400" dirty="0">
                <a:latin typeface="华文楷体" panose="02010600040101010101" pitchFamily="2" charset="-122"/>
                <a:ea typeface="华文楷体" panose="02010600040101010101" pitchFamily="2" charset="-122"/>
              </a:rPr>
              <a:t>表示重复行可出现于结果中，</a:t>
            </a:r>
            <a:r>
              <a:rPr lang="en-US" altLang="zh-CN" sz="2400" dirty="0">
                <a:solidFill>
                  <a:srgbClr val="A50021"/>
                </a:solidFill>
                <a:latin typeface="华文楷体" panose="02010600040101010101" pitchFamily="2" charset="-122"/>
                <a:ea typeface="华文楷体" panose="02010600040101010101" pitchFamily="2" charset="-122"/>
              </a:rPr>
              <a:t>DISTINCT</a:t>
            </a:r>
            <a:r>
              <a:rPr lang="zh-CN" altLang="en-US" sz="2400" dirty="0">
                <a:latin typeface="华文楷体" panose="02010600040101010101" pitchFamily="2" charset="-122"/>
                <a:ea typeface="华文楷体" panose="02010600040101010101" pitchFamily="2" charset="-122"/>
              </a:rPr>
              <a:t>则相反，</a:t>
            </a:r>
            <a:r>
              <a:rPr lang="en-US" altLang="zh-CN" sz="2400" dirty="0">
                <a:solidFill>
                  <a:srgbClr val="A50021"/>
                </a:solidFill>
                <a:latin typeface="华文楷体" panose="02010600040101010101" pitchFamily="2" charset="-122"/>
                <a:ea typeface="华文楷体" panose="02010600040101010101" pitchFamily="2" charset="-122"/>
              </a:rPr>
              <a:t>ALL</a:t>
            </a:r>
            <a:r>
              <a:rPr lang="zh-CN" altLang="en-US" sz="2400" dirty="0">
                <a:latin typeface="华文楷体" panose="02010600040101010101" pitchFamily="2" charset="-122"/>
                <a:ea typeface="华文楷体" panose="02010600040101010101" pitchFamily="2" charset="-122"/>
              </a:rPr>
              <a:t>为缺省情况；</a:t>
            </a:r>
            <a:endParaRPr lang="zh-CN" altLang="en-US" sz="2400" dirty="0">
              <a:latin typeface="华文楷体" panose="02010600040101010101" pitchFamily="2" charset="-122"/>
              <a:ea typeface="华文楷体" panose="02010600040101010101" pitchFamily="2" charset="-122"/>
            </a:endParaRPr>
          </a:p>
          <a:p>
            <a:pPr marL="457200" indent="-457200">
              <a:lnSpc>
                <a:spcPct val="110000"/>
              </a:lnSpc>
              <a:spcBef>
                <a:spcPts val="300"/>
              </a:spcBef>
            </a:pPr>
            <a:r>
              <a:rPr lang="en-US" altLang="zh-CN" sz="2400" dirty="0">
                <a:latin typeface="华文楷体" panose="02010600040101010101" pitchFamily="2" charset="-122"/>
                <a:ea typeface="华文楷体" panose="02010600040101010101" pitchFamily="2" charset="-122"/>
              </a:rPr>
              <a:t>    2</a:t>
            </a:r>
            <a:r>
              <a:rPr lang="zh-CN" altLang="en-US" sz="2400" dirty="0">
                <a:latin typeface="华文楷体" panose="02010600040101010101" pitchFamily="2" charset="-122"/>
                <a:ea typeface="华文楷体" panose="02010600040101010101" pitchFamily="2" charset="-122"/>
              </a:rPr>
              <a:t>） </a:t>
            </a:r>
            <a:r>
              <a:rPr lang="zh-CN" altLang="en-US" sz="2400" dirty="0">
                <a:solidFill>
                  <a:srgbClr val="A50021"/>
                </a:solidFill>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 表示</a:t>
            </a:r>
            <a:r>
              <a:rPr lang="en-US" altLang="zh-CN" sz="2400" dirty="0">
                <a:latin typeface="华文楷体" panose="02010600040101010101" pitchFamily="2" charset="-122"/>
                <a:ea typeface="华文楷体" panose="02010600040101010101" pitchFamily="2" charset="-122"/>
              </a:rPr>
              <a:t>FROM</a:t>
            </a:r>
            <a:r>
              <a:rPr lang="zh-CN" altLang="en-US" sz="2400" dirty="0">
                <a:latin typeface="华文楷体" panose="02010600040101010101" pitchFamily="2" charset="-122"/>
                <a:ea typeface="华文楷体" panose="02010600040101010101" pitchFamily="2" charset="-122"/>
              </a:rPr>
              <a:t>子句的表、视图中的</a:t>
            </a:r>
            <a:r>
              <a:rPr lang="zh-CN" altLang="en-US" sz="2400" dirty="0">
                <a:solidFill>
                  <a:srgbClr val="A50021"/>
                </a:solidFill>
                <a:latin typeface="华文楷体" panose="02010600040101010101" pitchFamily="2" charset="-122"/>
                <a:ea typeface="华文楷体" panose="02010600040101010101" pitchFamily="2" charset="-122"/>
              </a:rPr>
              <a:t>所有列</a:t>
            </a:r>
            <a:r>
              <a:rPr lang="zh-CN" altLang="en-US" sz="2400" dirty="0">
                <a:latin typeface="华文楷体" panose="02010600040101010101" pitchFamily="2" charset="-122"/>
                <a:ea typeface="华文楷体" panose="02010600040101010101" pitchFamily="2" charset="-122"/>
              </a:rPr>
              <a:t>均出现于结果中，其顺序遵照表、视图中的顺序。</a:t>
            </a:r>
            <a:endParaRPr lang="en-US" altLang="zh-CN" sz="2400" dirty="0">
              <a:latin typeface="华文楷体" panose="02010600040101010101" pitchFamily="2" charset="-122"/>
              <a:ea typeface="华文楷体" panose="02010600040101010101" pitchFamily="2" charset="-122"/>
            </a:endParaRPr>
          </a:p>
          <a:p>
            <a:pPr marL="457200" indent="-457200">
              <a:lnSpc>
                <a:spcPct val="110000"/>
              </a:lnSpc>
              <a:spcBef>
                <a:spcPts val="300"/>
              </a:spcBef>
            </a:pPr>
            <a:r>
              <a:rPr lang="en-US" altLang="zh-CN" sz="2400" dirty="0">
                <a:latin typeface="华文楷体" panose="02010600040101010101" pitchFamily="2" charset="-122"/>
                <a:ea typeface="华文楷体" panose="02010600040101010101" pitchFamily="2" charset="-122"/>
              </a:rPr>
              <a:t>    3</a:t>
            </a:r>
            <a:r>
              <a:rPr lang="zh-CN" altLang="en-US" sz="2400" dirty="0">
                <a:latin typeface="华文楷体" panose="02010600040101010101" pitchFamily="2" charset="-122"/>
                <a:ea typeface="华文楷体" panose="02010600040101010101" pitchFamily="2" charset="-122"/>
              </a:rPr>
              <a:t>）表达式中可用聚集函数。</a:t>
            </a:r>
            <a:endParaRPr lang="zh-CN" altLang="en-US" sz="2400" dirty="0">
              <a:latin typeface="华文楷体" panose="02010600040101010101" pitchFamily="2" charset="-122"/>
              <a:ea typeface="华文楷体" panose="02010600040101010101" pitchFamily="2" charset="-122"/>
            </a:endParaRPr>
          </a:p>
        </p:txBody>
      </p:sp>
      <p:sp>
        <p:nvSpPr>
          <p:cNvPr id="81924" name="Text Box 4"/>
          <p:cNvSpPr txBox="1"/>
          <p:nvPr/>
        </p:nvSpPr>
        <p:spPr>
          <a:xfrm>
            <a:off x="352425" y="1266825"/>
            <a:ext cx="5091113" cy="633413"/>
          </a:xfrm>
          <a:prstGeom prst="rect">
            <a:avLst/>
          </a:prstGeom>
          <a:noFill/>
          <a:ln w="9525">
            <a:noFill/>
          </a:ln>
        </p:spPr>
        <p:txBody>
          <a:bodyPr anchor="t" anchorCtr="0">
            <a:spAutoFit/>
          </a:bodyPr>
          <a:p>
            <a:pPr marL="457200" indent="-457200">
              <a:lnSpc>
                <a:spcPct val="135000"/>
              </a:lnSpc>
            </a:pPr>
            <a:r>
              <a:rPr lang="zh-CN" altLang="en-US" sz="2600" dirty="0">
                <a:solidFill>
                  <a:srgbClr val="FF0000"/>
                </a:solidFill>
                <a:latin typeface="宋体" panose="02010600030101010101" pitchFamily="2" charset="-122"/>
                <a:ea typeface="宋体" panose="02010600030101010101" pitchFamily="2" charset="-122"/>
              </a:rPr>
              <a:t>（</a:t>
            </a:r>
            <a:r>
              <a:rPr lang="en-US" altLang="zh-CN" sz="2600" dirty="0">
                <a:solidFill>
                  <a:srgbClr val="FF0000"/>
                </a:solidFill>
                <a:latin typeface="宋体" panose="02010600030101010101" pitchFamily="2" charset="-122"/>
                <a:ea typeface="宋体" panose="02010600030101010101" pitchFamily="2" charset="-122"/>
              </a:rPr>
              <a:t>1</a:t>
            </a:r>
            <a:r>
              <a:rPr lang="zh-CN" altLang="en-US" sz="2600" dirty="0">
                <a:solidFill>
                  <a:srgbClr val="FF0000"/>
                </a:solidFill>
                <a:latin typeface="宋体" panose="02010600030101010101" pitchFamily="2" charset="-122"/>
                <a:ea typeface="宋体" panose="02010600030101010101" pitchFamily="2" charset="-122"/>
              </a:rPr>
              <a:t>）</a:t>
            </a:r>
            <a:r>
              <a:rPr lang="en-US" altLang="zh-CN" sz="2600" dirty="0">
                <a:solidFill>
                  <a:srgbClr val="FF0000"/>
                </a:solidFill>
                <a:latin typeface="宋体" panose="02010600030101010101" pitchFamily="2" charset="-122"/>
                <a:ea typeface="宋体" panose="02010600030101010101" pitchFamily="2" charset="-122"/>
              </a:rPr>
              <a:t>Select</a:t>
            </a:r>
            <a:r>
              <a:rPr lang="zh-CN" altLang="en-US" sz="2600" dirty="0">
                <a:solidFill>
                  <a:srgbClr val="FF0000"/>
                </a:solidFill>
                <a:latin typeface="宋体" panose="02010600030101010101" pitchFamily="2" charset="-122"/>
                <a:ea typeface="宋体" panose="02010600030101010101" pitchFamily="2" charset="-122"/>
              </a:rPr>
              <a:t>子句</a:t>
            </a:r>
            <a:endParaRPr lang="en-US" altLang="zh-CN" sz="2600" dirty="0">
              <a:solidFill>
                <a:srgbClr val="FF0000"/>
              </a:solidFill>
              <a:latin typeface="宋体" panose="02010600030101010101" pitchFamily="2" charset="-122"/>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73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8"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Rectangle 3"/>
          <p:cNvSpPr txBox="1"/>
          <p:nvPr/>
        </p:nvSpPr>
        <p:spPr>
          <a:xfrm>
            <a:off x="555625" y="1450975"/>
            <a:ext cx="8153400" cy="2700338"/>
          </a:xfrm>
          <a:prstGeom prst="rect">
            <a:avLst/>
          </a:prstGeom>
          <a:noFill/>
          <a:ln w="9525">
            <a:noFill/>
          </a:ln>
        </p:spPr>
        <p:txBody>
          <a:bodyPr anchor="t" anchorCtr="0"/>
          <a:p>
            <a:pPr marL="342900" indent="-342900">
              <a:spcBef>
                <a:spcPct val="20000"/>
              </a:spcBef>
              <a:buClr>
                <a:srgbClr val="0033CC"/>
              </a:buClr>
              <a:buSzPct val="80000"/>
            </a:pPr>
            <a:r>
              <a:rPr lang="zh-CN" altLang="en-US" sz="2400" u="sng" dirty="0">
                <a:solidFill>
                  <a:srgbClr val="FF0000"/>
                </a:solidFill>
                <a:latin typeface="华文楷体" panose="02010600040101010101" pitchFamily="2" charset="-122"/>
                <a:ea typeface="宋体" panose="02010600030101010101" pitchFamily="2" charset="-122"/>
              </a:rPr>
              <a:t>例：在</a:t>
            </a:r>
            <a:r>
              <a:rPr lang="en-US" altLang="zh-CN" sz="2400" u="sng" dirty="0">
                <a:solidFill>
                  <a:srgbClr val="FF0000"/>
                </a:solidFill>
                <a:latin typeface="华文楷体" panose="02010600040101010101" pitchFamily="2" charset="-122"/>
                <a:ea typeface="宋体" panose="02010600030101010101" pitchFamily="2" charset="-122"/>
              </a:rPr>
              <a:t>SC</a:t>
            </a:r>
            <a:r>
              <a:rPr lang="zh-CN" altLang="en-US" sz="2400" u="sng" dirty="0">
                <a:solidFill>
                  <a:srgbClr val="FF0000"/>
                </a:solidFill>
                <a:latin typeface="华文楷体" panose="02010600040101010101" pitchFamily="2" charset="-122"/>
                <a:ea typeface="宋体" panose="02010600030101010101" pitchFamily="2" charset="-122"/>
              </a:rPr>
              <a:t>中检索女同学选修的课程号</a:t>
            </a:r>
            <a:endParaRPr lang="zh-CN" altLang="en-US" sz="2400" u="sng" dirty="0">
              <a:solidFill>
                <a:srgbClr val="FF0000"/>
              </a:solidFill>
              <a:latin typeface="华文楷体" panose="02010600040101010101" pitchFamily="2" charset="-122"/>
              <a:ea typeface="宋体" panose="02010600030101010101" pitchFamily="2" charset="-122"/>
            </a:endParaRPr>
          </a:p>
          <a:p>
            <a:pPr marL="342900" indent="-342900">
              <a:lnSpc>
                <a:spcPct val="115000"/>
              </a:lnSpc>
              <a:spcBef>
                <a:spcPts val="20"/>
              </a:spcBef>
              <a:spcAft>
                <a:spcPts val="0"/>
              </a:spcAft>
              <a:buClr>
                <a:srgbClr val="0033CC"/>
              </a:buClr>
              <a:buSzPct val="80000"/>
            </a:pPr>
            <a:r>
              <a:rPr lang="en-US" altLang="zh-CN" sz="2400" dirty="0">
                <a:latin typeface="华文楷体" panose="02010600040101010101" pitchFamily="2" charset="-122"/>
                <a:ea typeface="宋体" panose="02010600030101010101" pitchFamily="2" charset="-122"/>
              </a:rPr>
              <a:t>SELECT </a:t>
            </a:r>
            <a:r>
              <a:rPr lang="en-US" altLang="zh-CN" sz="2400" dirty="0">
                <a:solidFill>
                  <a:srgbClr val="FF0000"/>
                </a:solidFill>
                <a:latin typeface="华文楷体" panose="02010600040101010101" pitchFamily="2" charset="-122"/>
                <a:ea typeface="宋体" panose="02010600030101010101" pitchFamily="2" charset="-122"/>
              </a:rPr>
              <a:t>DISTINCT </a:t>
            </a:r>
            <a:r>
              <a:rPr lang="en-US" altLang="zh-CN" sz="2400" dirty="0">
                <a:latin typeface="华文楷体" panose="02010600040101010101" pitchFamily="2" charset="-122"/>
                <a:ea typeface="宋体" panose="02010600030101010101" pitchFamily="2" charset="-122"/>
              </a:rPr>
              <a:t>cid</a:t>
            </a:r>
            <a:endParaRPr lang="en-US" altLang="zh-CN" sz="2400" dirty="0">
              <a:latin typeface="华文楷体" panose="02010600040101010101" pitchFamily="2" charset="-122"/>
              <a:ea typeface="宋体" panose="02010600030101010101" pitchFamily="2" charset="-122"/>
            </a:endParaRPr>
          </a:p>
          <a:p>
            <a:pPr marL="342900" indent="-342900">
              <a:lnSpc>
                <a:spcPct val="115000"/>
              </a:lnSpc>
              <a:spcBef>
                <a:spcPts val="20"/>
              </a:spcBef>
              <a:spcAft>
                <a:spcPts val="0"/>
              </a:spcAft>
              <a:buClr>
                <a:srgbClr val="0033CC"/>
              </a:buClr>
              <a:buSzPct val="80000"/>
            </a:pPr>
            <a:r>
              <a:rPr lang="en-US" altLang="zh-CN" sz="2400" dirty="0">
                <a:latin typeface="华文楷体" panose="02010600040101010101" pitchFamily="2" charset="-122"/>
                <a:ea typeface="宋体" panose="02010600030101010101" pitchFamily="2" charset="-122"/>
              </a:rPr>
              <a:t>FROM Stu,ctake WHERE Stu.sid=ctake.sid AND SGender= 'F'</a:t>
            </a:r>
            <a:r>
              <a:rPr lang="zh-CN" altLang="en-US" sz="2400" dirty="0">
                <a:latin typeface="华文楷体" panose="02010600040101010101" pitchFamily="2" charset="-122"/>
                <a:ea typeface="宋体" panose="02010600030101010101" pitchFamily="2" charset="-122"/>
              </a:rPr>
              <a:t>     因为一门课程可以有许多男同学选修，因此为避免输出</a:t>
            </a:r>
            <a:endParaRPr lang="en-US" altLang="zh-CN" sz="2400" dirty="0">
              <a:latin typeface="华文楷体" panose="02010600040101010101" pitchFamily="2" charset="-122"/>
              <a:ea typeface="宋体" panose="02010600030101010101" pitchFamily="2" charset="-122"/>
            </a:endParaRPr>
          </a:p>
          <a:p>
            <a:pPr marL="342900" indent="-342900">
              <a:spcBef>
                <a:spcPct val="20000"/>
              </a:spcBef>
              <a:buClr>
                <a:srgbClr val="0033CC"/>
              </a:buClr>
              <a:buSzPct val="80000"/>
            </a:pPr>
            <a:r>
              <a:rPr lang="zh-CN" altLang="en-US" sz="2400" dirty="0">
                <a:latin typeface="华文楷体" panose="02010600040101010101" pitchFamily="2" charset="-122"/>
                <a:ea typeface="宋体" panose="02010600030101010101" pitchFamily="2" charset="-122"/>
              </a:rPr>
              <a:t>重复的课程号，需要加上</a:t>
            </a:r>
            <a:r>
              <a:rPr lang="en-US" altLang="zh-CN" sz="2400" dirty="0">
                <a:latin typeface="华文楷体" panose="02010600040101010101" pitchFamily="2" charset="-122"/>
                <a:ea typeface="宋体" panose="02010600030101010101" pitchFamily="2" charset="-122"/>
              </a:rPr>
              <a:t>DISTINCT.</a:t>
            </a:r>
            <a:endParaRPr lang="en-US" altLang="zh-CN" sz="2400" dirty="0">
              <a:latin typeface="华文楷体" panose="02010600040101010101" pitchFamily="2" charset="-122"/>
              <a:ea typeface="宋体" panose="02010600030101010101" pitchFamily="2" charset="-122"/>
            </a:endParaRPr>
          </a:p>
        </p:txBody>
      </p:sp>
      <p:sp>
        <p:nvSpPr>
          <p:cNvPr id="82946"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三、数据库操纵子语言及其操作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82947" name="矩形 3"/>
          <p:cNvSpPr/>
          <p:nvPr/>
        </p:nvSpPr>
        <p:spPr>
          <a:xfrm>
            <a:off x="542925" y="866775"/>
            <a:ext cx="4203700" cy="517525"/>
          </a:xfrm>
          <a:prstGeom prst="rect">
            <a:avLst/>
          </a:prstGeom>
          <a:noFill/>
          <a:ln w="9525">
            <a:noFill/>
          </a:ln>
        </p:spPr>
        <p:txBody>
          <a:bodyPr anchor="t" anchorCtr="0">
            <a:spAutoFit/>
          </a:bodyPr>
          <a:p>
            <a:r>
              <a:rPr lang="en-US" altLang="zh-CN" sz="2800" dirty="0">
                <a:solidFill>
                  <a:srgbClr val="0033CC"/>
                </a:solidFill>
                <a:latin typeface="黑体" panose="02010609060101010101" pitchFamily="1" charset="-122"/>
                <a:ea typeface="黑体" panose="02010609060101010101" pitchFamily="1" charset="-122"/>
              </a:rPr>
              <a:t>6.</a:t>
            </a:r>
            <a:r>
              <a:rPr lang="zh-CN" altLang="en-US" sz="2800" dirty="0">
                <a:solidFill>
                  <a:srgbClr val="0033CC"/>
                </a:solidFill>
                <a:latin typeface="黑体" panose="02010609060101010101" pitchFamily="1" charset="-122"/>
                <a:ea typeface="黑体" panose="02010609060101010101" pitchFamily="1" charset="-122"/>
              </a:rPr>
              <a:t>数据查询</a:t>
            </a:r>
            <a:r>
              <a:rPr lang="en-US" altLang="zh-CN" sz="2800" dirty="0">
                <a:solidFill>
                  <a:srgbClr val="0033CC"/>
                </a:solidFill>
                <a:latin typeface="黑体" panose="02010609060101010101" pitchFamily="1" charset="-122"/>
                <a:ea typeface="黑体" panose="02010609060101010101" pitchFamily="1" charset="-122"/>
              </a:rPr>
              <a:t>(Select)</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58373" name="Rectangle 3"/>
          <p:cNvSpPr txBox="1"/>
          <p:nvPr/>
        </p:nvSpPr>
        <p:spPr>
          <a:xfrm>
            <a:off x="592455" y="3810000"/>
            <a:ext cx="8336915" cy="2212975"/>
          </a:xfrm>
          <a:prstGeom prst="rect">
            <a:avLst/>
          </a:prstGeom>
          <a:noFill/>
          <a:ln w="9525">
            <a:noFill/>
          </a:ln>
        </p:spPr>
        <p:txBody>
          <a:bodyPr anchor="t" anchorCtr="0"/>
          <a:p>
            <a:pPr marL="342900" indent="-342900">
              <a:spcBef>
                <a:spcPct val="20000"/>
              </a:spcBef>
              <a:buClr>
                <a:srgbClr val="0033CC"/>
              </a:buClr>
              <a:buSzPct val="80000"/>
            </a:pPr>
            <a:r>
              <a:rPr lang="zh-CN" altLang="en-US" sz="2400" u="sng" dirty="0">
                <a:solidFill>
                  <a:srgbClr val="FF0000"/>
                </a:solidFill>
                <a:latin typeface="华文楷体" panose="02010600040101010101" pitchFamily="2" charset="-122"/>
                <a:ea typeface="宋体" panose="02010600030101010101" pitchFamily="2" charset="-122"/>
              </a:rPr>
              <a:t>例：在</a:t>
            </a:r>
            <a:r>
              <a:rPr lang="en-US" altLang="zh-CN" sz="2400" u="sng" dirty="0">
                <a:solidFill>
                  <a:srgbClr val="FF0000"/>
                </a:solidFill>
                <a:latin typeface="华文楷体" panose="02010600040101010101" pitchFamily="2" charset="-122"/>
                <a:ea typeface="宋体" panose="02010600030101010101" pitchFamily="2" charset="-122"/>
              </a:rPr>
              <a:t>SC</a:t>
            </a:r>
            <a:r>
              <a:rPr lang="zh-CN" altLang="en-US" sz="2400" u="sng" dirty="0">
                <a:solidFill>
                  <a:srgbClr val="FF0000"/>
                </a:solidFill>
                <a:latin typeface="华文楷体" panose="02010600040101010101" pitchFamily="2" charset="-122"/>
                <a:ea typeface="宋体" panose="02010600030101010101" pitchFamily="2" charset="-122"/>
              </a:rPr>
              <a:t>、</a:t>
            </a:r>
            <a:r>
              <a:rPr lang="en-US" altLang="zh-CN" sz="2400" u="sng" dirty="0">
                <a:solidFill>
                  <a:srgbClr val="FF0000"/>
                </a:solidFill>
                <a:latin typeface="华文楷体" panose="02010600040101010101" pitchFamily="2" charset="-122"/>
                <a:ea typeface="宋体" panose="02010600030101010101" pitchFamily="2" charset="-122"/>
              </a:rPr>
              <a:t>S</a:t>
            </a:r>
            <a:r>
              <a:rPr lang="zh-CN" altLang="en-US" sz="2400" u="sng" dirty="0">
                <a:solidFill>
                  <a:srgbClr val="FF0000"/>
                </a:solidFill>
                <a:latin typeface="华文楷体" panose="02010600040101010101" pitchFamily="2" charset="-122"/>
                <a:ea typeface="宋体" panose="02010600030101010101" pitchFamily="2" charset="-122"/>
              </a:rPr>
              <a:t>和</a:t>
            </a:r>
            <a:r>
              <a:rPr lang="en-US" altLang="zh-CN" sz="2400" u="sng" dirty="0">
                <a:solidFill>
                  <a:srgbClr val="FF0000"/>
                </a:solidFill>
                <a:latin typeface="华文楷体" panose="02010600040101010101" pitchFamily="2" charset="-122"/>
                <a:ea typeface="宋体" panose="02010600030101010101" pitchFamily="2" charset="-122"/>
              </a:rPr>
              <a:t>C</a:t>
            </a:r>
            <a:r>
              <a:rPr lang="zh-CN" altLang="en-US" sz="2400" u="sng" dirty="0">
                <a:solidFill>
                  <a:srgbClr val="FF0000"/>
                </a:solidFill>
                <a:latin typeface="华文楷体" panose="02010600040101010101" pitchFamily="2" charset="-122"/>
                <a:ea typeface="宋体" panose="02010600030101010101" pitchFamily="2" charset="-122"/>
              </a:rPr>
              <a:t>表中检索数据库原理与设计课程成绩超过</a:t>
            </a:r>
            <a:r>
              <a:rPr lang="en-US" altLang="zh-CN" sz="2400" u="sng" dirty="0">
                <a:solidFill>
                  <a:srgbClr val="FF0000"/>
                </a:solidFill>
                <a:latin typeface="华文楷体" panose="02010600040101010101" pitchFamily="2" charset="-122"/>
                <a:ea typeface="宋体" panose="02010600030101010101" pitchFamily="2" charset="-122"/>
              </a:rPr>
              <a:t>80</a:t>
            </a:r>
            <a:r>
              <a:rPr lang="zh-CN" altLang="en-US" sz="2400" u="sng" dirty="0">
                <a:solidFill>
                  <a:srgbClr val="FF0000"/>
                </a:solidFill>
                <a:latin typeface="华文楷体" panose="02010600040101010101" pitchFamily="2" charset="-122"/>
                <a:ea typeface="宋体" panose="02010600030101010101" pitchFamily="2" charset="-122"/>
              </a:rPr>
              <a:t>分的学生的学号、姓名和成绩</a:t>
            </a:r>
            <a:endParaRPr lang="zh-CN" altLang="en-US" sz="2400" u="sng" dirty="0">
              <a:solidFill>
                <a:srgbClr val="FF0000"/>
              </a:solidFill>
              <a:latin typeface="华文楷体" panose="02010600040101010101" pitchFamily="2" charset="-122"/>
              <a:ea typeface="宋体" panose="02010600030101010101" pitchFamily="2" charset="-122"/>
            </a:endParaRPr>
          </a:p>
          <a:p>
            <a:pPr marL="342900" indent="-342900">
              <a:lnSpc>
                <a:spcPct val="100000"/>
              </a:lnSpc>
              <a:spcBef>
                <a:spcPct val="20000"/>
              </a:spcBef>
              <a:buClr>
                <a:srgbClr val="0033CC"/>
              </a:buClr>
              <a:buSzPct val="80000"/>
            </a:pPr>
            <a:r>
              <a:rPr lang="en-US" altLang="zh-CN" sz="2400" dirty="0">
                <a:latin typeface="华文楷体" panose="02010600040101010101" pitchFamily="2" charset="-122"/>
                <a:ea typeface="宋体" panose="02010600030101010101" pitchFamily="2" charset="-122"/>
              </a:rPr>
              <a:t>SELECT S.Sid </a:t>
            </a:r>
            <a:r>
              <a:rPr lang="zh-CN" altLang="en-US" sz="2400" dirty="0">
                <a:solidFill>
                  <a:srgbClr val="0000FF"/>
                </a:solidFill>
                <a:latin typeface="华文楷体" panose="02010600040101010101" pitchFamily="2" charset="-122"/>
                <a:ea typeface="宋体" panose="02010600030101010101" pitchFamily="2" charset="-122"/>
              </a:rPr>
              <a:t>学号</a:t>
            </a:r>
            <a:r>
              <a:rPr lang="en-US" altLang="zh-CN" sz="2400" dirty="0">
                <a:latin typeface="华文楷体" panose="02010600040101010101" pitchFamily="2" charset="-122"/>
                <a:ea typeface="宋体" panose="02010600030101010101" pitchFamily="2" charset="-122"/>
              </a:rPr>
              <a:t>,Sname </a:t>
            </a:r>
            <a:r>
              <a:rPr lang="zh-CN" altLang="en-US" sz="2400" dirty="0">
                <a:solidFill>
                  <a:srgbClr val="0000FF"/>
                </a:solidFill>
                <a:latin typeface="华文楷体" panose="02010600040101010101" pitchFamily="2" charset="-122"/>
                <a:ea typeface="宋体" panose="02010600030101010101" pitchFamily="2" charset="-122"/>
              </a:rPr>
              <a:t>姓名</a:t>
            </a:r>
            <a:r>
              <a:rPr lang="en-US" altLang="zh-CN" sz="2400" dirty="0">
                <a:latin typeface="华文楷体" panose="02010600040101010101" pitchFamily="2" charset="-122"/>
                <a:ea typeface="宋体" panose="02010600030101010101" pitchFamily="2" charset="-122"/>
              </a:rPr>
              <a:t>,mark </a:t>
            </a:r>
            <a:r>
              <a:rPr lang="zh-CN" altLang="en-US" sz="2400" dirty="0">
                <a:solidFill>
                  <a:srgbClr val="0000FF"/>
                </a:solidFill>
                <a:latin typeface="华文楷体" panose="02010600040101010101" pitchFamily="2" charset="-122"/>
                <a:ea typeface="宋体" panose="02010600030101010101" pitchFamily="2" charset="-122"/>
              </a:rPr>
              <a:t>成绩</a:t>
            </a:r>
            <a:endParaRPr lang="en-US" altLang="zh-CN" sz="2400" dirty="0">
              <a:latin typeface="华文楷体" panose="02010600040101010101" pitchFamily="2" charset="-122"/>
              <a:ea typeface="宋体" panose="02010600030101010101" pitchFamily="2" charset="-122"/>
            </a:endParaRPr>
          </a:p>
          <a:p>
            <a:pPr marL="342900" indent="-342900">
              <a:lnSpc>
                <a:spcPct val="100000"/>
              </a:lnSpc>
              <a:spcBef>
                <a:spcPct val="20000"/>
              </a:spcBef>
              <a:buClr>
                <a:srgbClr val="0033CC"/>
              </a:buClr>
              <a:buSzPct val="80000"/>
            </a:pPr>
            <a:r>
              <a:rPr lang="en-US" altLang="zh-CN" sz="2400" dirty="0">
                <a:latin typeface="华文楷体" panose="02010600040101010101" pitchFamily="2" charset="-122"/>
                <a:ea typeface="宋体" panose="02010600030101010101" pitchFamily="2" charset="-122"/>
              </a:rPr>
              <a:t>FROM Stu S,ctake SC,Course C  WHERE S.sid=SC.sid AND SC.Cid=C.Cid and Cname='数据库原理'  and mark&gt;80</a:t>
            </a:r>
            <a:endParaRPr lang="en-US" altLang="zh-CN" sz="2400" dirty="0">
              <a:latin typeface="华文楷体" panose="02010600040101010101" pitchFamily="2" charset="-122"/>
              <a:ea typeface="宋体" panose="02010600030101010101" pitchFamily="2" charset="-122"/>
            </a:endParaRPr>
          </a:p>
        </p:txBody>
      </p:sp>
      <p:pic>
        <p:nvPicPr>
          <p:cNvPr id="3" name="图片 2"/>
          <p:cNvPicPr>
            <a:picLocks noChangeAspect="1"/>
          </p:cNvPicPr>
          <p:nvPr/>
        </p:nvPicPr>
        <p:blipFill>
          <a:blip r:embed="rId1"/>
          <a:stretch>
            <a:fillRect/>
          </a:stretch>
        </p:blipFill>
        <p:spPr>
          <a:xfrm>
            <a:off x="3054350" y="1450975"/>
            <a:ext cx="5875020" cy="2255520"/>
          </a:xfrm>
          <a:prstGeom prst="rect">
            <a:avLst/>
          </a:prstGeom>
          <a:ln>
            <a:solidFill>
              <a:schemeClr val="accent1"/>
            </a:solidFill>
          </a:ln>
        </p:spPr>
      </p:pic>
      <p:pic>
        <p:nvPicPr>
          <p:cNvPr id="4" name="图片 3"/>
          <p:cNvPicPr>
            <a:picLocks noChangeAspect="1"/>
          </p:cNvPicPr>
          <p:nvPr/>
        </p:nvPicPr>
        <p:blipFill>
          <a:blip r:embed="rId2"/>
          <a:stretch>
            <a:fillRect/>
          </a:stretch>
        </p:blipFill>
        <p:spPr>
          <a:xfrm>
            <a:off x="1569720" y="4066540"/>
            <a:ext cx="7117080" cy="2164080"/>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8373"/>
                                        </p:tgtEl>
                                        <p:attrNameLst>
                                          <p:attrName>style.visibility</p:attrName>
                                        </p:attrNameLst>
                                      </p:cBhvr>
                                      <p:to>
                                        <p:strVal val="visible"/>
                                      </p:to>
                                    </p:set>
                                    <p:anim calcmode="lin" valueType="num">
                                      <p:cBhvr additive="base">
                                        <p:cTn id="13" dur="500" fill="hold"/>
                                        <p:tgtEl>
                                          <p:spTgt spid="58373"/>
                                        </p:tgtEl>
                                        <p:attrNameLst>
                                          <p:attrName>ppt_x</p:attrName>
                                        </p:attrNameLst>
                                      </p:cBhvr>
                                      <p:tavLst>
                                        <p:tav tm="0">
                                          <p:val>
                                            <p:strVal val="#ppt_x"/>
                                          </p:val>
                                        </p:tav>
                                        <p:tav tm="100000">
                                          <p:val>
                                            <p:strVal val="#ppt_x"/>
                                          </p:val>
                                        </p:tav>
                                      </p:tavLst>
                                    </p:anim>
                                    <p:anim calcmode="lin" valueType="num">
                                      <p:cBhvr additive="base">
                                        <p:cTn id="14" dur="500" fill="hold"/>
                                        <p:tgtEl>
                                          <p:spTgt spid="5837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3" grpId="0"/>
      <p:bldP spid="58373" grpId="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69"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三、数据库操纵子语言及其操作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83970" name="矩形 2"/>
          <p:cNvSpPr/>
          <p:nvPr/>
        </p:nvSpPr>
        <p:spPr>
          <a:xfrm>
            <a:off x="542925" y="866775"/>
            <a:ext cx="4203700" cy="522288"/>
          </a:xfrm>
          <a:prstGeom prst="rect">
            <a:avLst/>
          </a:prstGeom>
          <a:noFill/>
          <a:ln w="9525">
            <a:noFill/>
          </a:ln>
        </p:spPr>
        <p:txBody>
          <a:bodyPr anchor="t" anchorCtr="0">
            <a:spAutoFit/>
          </a:bodyPr>
          <a:p>
            <a:r>
              <a:rPr lang="en-US" altLang="zh-CN" sz="2800" dirty="0">
                <a:solidFill>
                  <a:srgbClr val="0033CC"/>
                </a:solidFill>
                <a:latin typeface="黑体" panose="02010609060101010101" pitchFamily="1" charset="-122"/>
                <a:ea typeface="黑体" panose="02010609060101010101" pitchFamily="1" charset="-122"/>
              </a:rPr>
              <a:t>6.</a:t>
            </a:r>
            <a:r>
              <a:rPr lang="zh-CN" altLang="en-US" sz="2800" dirty="0">
                <a:solidFill>
                  <a:srgbClr val="0033CC"/>
                </a:solidFill>
                <a:latin typeface="黑体" panose="02010609060101010101" pitchFamily="1" charset="-122"/>
                <a:ea typeface="黑体" panose="02010609060101010101" pitchFamily="1" charset="-122"/>
              </a:rPr>
              <a:t> 数据查询</a:t>
            </a:r>
            <a:r>
              <a:rPr lang="en-US" altLang="zh-CN" sz="2800" dirty="0">
                <a:solidFill>
                  <a:srgbClr val="0033CC"/>
                </a:solidFill>
                <a:latin typeface="黑体" panose="02010609060101010101" pitchFamily="1" charset="-122"/>
                <a:ea typeface="黑体" panose="02010609060101010101" pitchFamily="1" charset="-122"/>
              </a:rPr>
              <a:t>(Select)</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59396" name="Text Box 4"/>
          <p:cNvSpPr txBox="1"/>
          <p:nvPr/>
        </p:nvSpPr>
        <p:spPr>
          <a:xfrm>
            <a:off x="596900" y="1876425"/>
            <a:ext cx="8208963" cy="4349750"/>
          </a:xfrm>
          <a:prstGeom prst="rect">
            <a:avLst/>
          </a:prstGeom>
          <a:noFill/>
          <a:ln w="9525">
            <a:noFill/>
          </a:ln>
        </p:spPr>
        <p:txBody>
          <a:bodyPr anchor="t" anchorCtr="0">
            <a:spAutoFit/>
          </a:bodyPr>
          <a:p>
            <a:pPr>
              <a:lnSpc>
                <a:spcPct val="135000"/>
              </a:lnSpc>
              <a:buFont typeface="Wingdings" panose="05000000000000000000" pitchFamily="2" charset="2"/>
              <a:buChar char="p"/>
            </a:pPr>
            <a:r>
              <a:rPr lang="zh-CN" altLang="en-US" sz="2400" u="sng" dirty="0">
                <a:solidFill>
                  <a:srgbClr val="000099"/>
                </a:solidFill>
                <a:latin typeface="宋体" panose="02010600030101010101" pitchFamily="2" charset="-122"/>
                <a:ea typeface="宋体" panose="02010600030101010101" pitchFamily="2" charset="-122"/>
              </a:rPr>
              <a:t> 作用：</a:t>
            </a:r>
            <a:r>
              <a:rPr lang="zh-CN" altLang="en-US" sz="2400" dirty="0">
                <a:latin typeface="宋体" panose="02010600030101010101" pitchFamily="2" charset="-122"/>
                <a:ea typeface="宋体" panose="02010600030101010101" pitchFamily="2" charset="-122"/>
              </a:rPr>
              <a:t>创建一新表并将查询的结果数据插入其中。</a:t>
            </a:r>
            <a:endParaRPr lang="zh-CN" altLang="en-US" sz="2400" dirty="0">
              <a:latin typeface="宋体" panose="02010600030101010101" pitchFamily="2" charset="-122"/>
              <a:ea typeface="宋体" panose="02010600030101010101" pitchFamily="2" charset="-122"/>
            </a:endParaRPr>
          </a:p>
          <a:p>
            <a:pPr>
              <a:lnSpc>
                <a:spcPct val="135000"/>
              </a:lnSpc>
              <a:buFont typeface="Wingdings" panose="05000000000000000000" pitchFamily="2" charset="2"/>
              <a:buChar char="p"/>
            </a:pPr>
            <a:r>
              <a:rPr lang="zh-CN" altLang="en-US" sz="2400" u="sng" dirty="0">
                <a:solidFill>
                  <a:srgbClr val="000099"/>
                </a:solidFill>
                <a:latin typeface="宋体" panose="02010600030101010101" pitchFamily="2" charset="-122"/>
                <a:ea typeface="宋体" panose="02010600030101010101" pitchFamily="2" charset="-122"/>
              </a:rPr>
              <a:t> 语法：</a:t>
            </a:r>
            <a:r>
              <a:rPr lang="en-US" altLang="zh-CN" sz="2400" dirty="0">
                <a:latin typeface="宋体" panose="02010600030101010101" pitchFamily="2" charset="-122"/>
                <a:ea typeface="宋体" panose="02010600030101010101" pitchFamily="2" charset="-122"/>
              </a:rPr>
              <a:t>[ INTO </a:t>
            </a:r>
            <a:r>
              <a:rPr lang="zh-CN" altLang="en-US" sz="2400" dirty="0">
                <a:latin typeface="宋体" panose="02010600030101010101" pitchFamily="2" charset="-122"/>
                <a:ea typeface="宋体" panose="02010600030101010101" pitchFamily="2" charset="-122"/>
              </a:rPr>
              <a:t>新表名 </a:t>
            </a:r>
            <a:r>
              <a:rPr lang="en-US" altLang="zh-CN" sz="2400" dirty="0">
                <a:latin typeface="宋体" panose="02010600030101010101" pitchFamily="2" charset="-122"/>
                <a:ea typeface="宋体" panose="02010600030101010101" pitchFamily="2" charset="-122"/>
              </a:rPr>
              <a:t>]</a:t>
            </a:r>
            <a:endParaRPr lang="en-US" altLang="zh-CN" sz="2400" dirty="0">
              <a:latin typeface="宋体" panose="02010600030101010101" pitchFamily="2" charset="-122"/>
              <a:ea typeface="宋体" panose="02010600030101010101" pitchFamily="2" charset="-122"/>
            </a:endParaRPr>
          </a:p>
          <a:p>
            <a:pPr>
              <a:lnSpc>
                <a:spcPct val="135000"/>
              </a:lnSpc>
            </a:pPr>
            <a:r>
              <a:rPr lang="zh-CN" altLang="en-US" sz="2600" u="sng" dirty="0">
                <a:solidFill>
                  <a:srgbClr val="FF0000"/>
                </a:solidFill>
                <a:latin typeface="宋体" panose="02010600030101010101" pitchFamily="2" charset="-122"/>
                <a:ea typeface="宋体" panose="02010600030101010101" pitchFamily="2" charset="-122"/>
              </a:rPr>
              <a:t>说明：</a:t>
            </a:r>
            <a:endParaRPr lang="zh-CN" altLang="en-US" sz="2600" u="sng" dirty="0">
              <a:solidFill>
                <a:srgbClr val="FF0000"/>
              </a:solidFill>
              <a:latin typeface="宋体" panose="02010600030101010101" pitchFamily="2" charset="-122"/>
              <a:ea typeface="宋体" panose="02010600030101010101" pitchFamily="2" charset="-122"/>
            </a:endParaRPr>
          </a:p>
          <a:p>
            <a:pPr>
              <a:lnSpc>
                <a:spcPct val="120000"/>
              </a:lnSpc>
            </a:pPr>
            <a:r>
              <a:rPr lang="zh-CN" altLang="en-US" sz="2400" b="0" dirty="0">
                <a:latin typeface="楷体" panose="02010609060101010101" pitchFamily="1" charset="-122"/>
                <a:ea typeface="楷体" panose="02010609060101010101" pitchFamily="1" charset="-122"/>
              </a:rPr>
              <a:t>（</a:t>
            </a:r>
            <a:r>
              <a:rPr lang="en-US" altLang="zh-CN" sz="2400" b="0" dirty="0">
                <a:latin typeface="楷体" panose="02010609060101010101" pitchFamily="1" charset="-122"/>
                <a:ea typeface="楷体" panose="02010609060101010101" pitchFamily="1" charset="-122"/>
              </a:rPr>
              <a:t>1</a:t>
            </a:r>
            <a:r>
              <a:rPr lang="zh-CN" altLang="en-US" sz="2400" b="0" dirty="0">
                <a:latin typeface="楷体" panose="02010609060101010101" pitchFamily="1" charset="-122"/>
                <a:ea typeface="楷体" panose="02010609060101010101" pitchFamily="1" charset="-122"/>
              </a:rPr>
              <a:t>）</a:t>
            </a:r>
            <a:r>
              <a:rPr lang="en-US" altLang="zh-CN" sz="2400" b="0" dirty="0">
                <a:latin typeface="楷体" panose="02010609060101010101" pitchFamily="1" charset="-122"/>
                <a:ea typeface="楷体" panose="02010609060101010101" pitchFamily="1" charset="-122"/>
              </a:rPr>
              <a:t> SELECT……INTO</a:t>
            </a:r>
            <a:r>
              <a:rPr lang="zh-CN" altLang="en-US" sz="2400" b="0" dirty="0">
                <a:latin typeface="楷体" panose="02010609060101010101" pitchFamily="1" charset="-122"/>
                <a:ea typeface="楷体" panose="02010609060101010101" pitchFamily="1" charset="-122"/>
              </a:rPr>
              <a:t>不能与</a:t>
            </a:r>
            <a:r>
              <a:rPr lang="en-US" altLang="zh-CN" sz="2400" b="0" dirty="0">
                <a:latin typeface="楷体" panose="02010609060101010101" pitchFamily="1" charset="-122"/>
                <a:ea typeface="楷体" panose="02010609060101010101" pitchFamily="1" charset="-122"/>
              </a:rPr>
              <a:t>COMPUTE</a:t>
            </a:r>
            <a:r>
              <a:rPr lang="zh-CN" altLang="en-US" sz="2400" b="0" dirty="0">
                <a:latin typeface="楷体" panose="02010609060101010101" pitchFamily="1" charset="-122"/>
                <a:ea typeface="楷体" panose="02010609060101010101" pitchFamily="1" charset="-122"/>
              </a:rPr>
              <a:t>一起使用；</a:t>
            </a:r>
            <a:endParaRPr lang="zh-CN" altLang="en-US" sz="2400" b="0" dirty="0">
              <a:latin typeface="楷体" panose="02010609060101010101" pitchFamily="1" charset="-122"/>
              <a:ea typeface="楷体" panose="02010609060101010101" pitchFamily="1" charset="-122"/>
            </a:endParaRPr>
          </a:p>
          <a:p>
            <a:pPr>
              <a:lnSpc>
                <a:spcPct val="120000"/>
              </a:lnSpc>
            </a:pPr>
            <a:r>
              <a:rPr lang="zh-CN" altLang="en-US" sz="2400" b="0" dirty="0">
                <a:latin typeface="楷体" panose="02010609060101010101" pitchFamily="1" charset="-122"/>
                <a:ea typeface="楷体" panose="02010609060101010101" pitchFamily="1" charset="-122"/>
              </a:rPr>
              <a:t>（</a:t>
            </a:r>
            <a:r>
              <a:rPr lang="en-US" altLang="zh-CN" sz="2400" b="0" dirty="0">
                <a:latin typeface="楷体" panose="02010609060101010101" pitchFamily="1" charset="-122"/>
                <a:ea typeface="楷体" panose="02010609060101010101" pitchFamily="1" charset="-122"/>
              </a:rPr>
              <a:t>2</a:t>
            </a:r>
            <a:r>
              <a:rPr lang="zh-CN" altLang="en-US" sz="2400" b="0" dirty="0">
                <a:latin typeface="楷体" panose="02010609060101010101" pitchFamily="1" charset="-122"/>
                <a:ea typeface="楷体" panose="02010609060101010101" pitchFamily="1" charset="-122"/>
              </a:rPr>
              <a:t>）可用</a:t>
            </a:r>
            <a:r>
              <a:rPr lang="en-US" altLang="zh-CN" sz="2400" b="0" dirty="0">
                <a:latin typeface="楷体" panose="02010609060101010101" pitchFamily="1" charset="-122"/>
                <a:ea typeface="楷体" panose="02010609060101010101" pitchFamily="1" charset="-122"/>
              </a:rPr>
              <a:t>SELECT……INTO</a:t>
            </a:r>
            <a:r>
              <a:rPr lang="zh-CN" altLang="en-US" sz="2400" b="0" dirty="0">
                <a:latin typeface="楷体" panose="02010609060101010101" pitchFamily="1" charset="-122"/>
                <a:ea typeface="楷体" panose="02010609060101010101" pitchFamily="1" charset="-122"/>
              </a:rPr>
              <a:t>创建一张与</a:t>
            </a:r>
            <a:r>
              <a:rPr lang="en-US" altLang="zh-CN" sz="2400" b="0" dirty="0">
                <a:latin typeface="楷体" panose="02010609060101010101" pitchFamily="1" charset="-122"/>
                <a:ea typeface="楷体" panose="02010609060101010101" pitchFamily="1" charset="-122"/>
              </a:rPr>
              <a:t>FROM</a:t>
            </a:r>
            <a:r>
              <a:rPr lang="zh-CN" altLang="en-US" sz="2400" b="0" dirty="0">
                <a:latin typeface="楷体" panose="02010609060101010101" pitchFamily="1" charset="-122"/>
                <a:ea typeface="楷体" panose="02010609060101010101" pitchFamily="1" charset="-122"/>
              </a:rPr>
              <a:t>子句中的表具有相同结构的、属性名相（不）同的新表。如果不需要数据，可令</a:t>
            </a:r>
            <a:r>
              <a:rPr lang="en-US" altLang="zh-CN" sz="2400" b="0" dirty="0">
                <a:latin typeface="楷体" panose="02010609060101010101" pitchFamily="1" charset="-122"/>
                <a:ea typeface="楷体" panose="02010609060101010101" pitchFamily="1" charset="-122"/>
              </a:rPr>
              <a:t>WHERE</a:t>
            </a:r>
            <a:r>
              <a:rPr lang="zh-CN" altLang="en-US" sz="2400" b="0" dirty="0">
                <a:latin typeface="楷体" panose="02010609060101010101" pitchFamily="1" charset="-122"/>
                <a:ea typeface="楷体" panose="02010609060101010101" pitchFamily="1" charset="-122"/>
              </a:rPr>
              <a:t>子句条件为永假即可（参看</a:t>
            </a:r>
            <a:r>
              <a:rPr lang="en-US" altLang="zh-CN" sz="2400" b="0" dirty="0">
                <a:latin typeface="楷体" panose="02010609060101010101" pitchFamily="1" charset="-122"/>
                <a:ea typeface="楷体" panose="02010609060101010101" pitchFamily="1" charset="-122"/>
              </a:rPr>
              <a:t>pp173/pp134</a:t>
            </a:r>
            <a:r>
              <a:rPr lang="zh-CN" altLang="en-US" sz="2400" b="0" dirty="0">
                <a:latin typeface="楷体" panose="02010609060101010101" pitchFamily="1" charset="-122"/>
                <a:ea typeface="楷体" panose="02010609060101010101" pitchFamily="1" charset="-122"/>
              </a:rPr>
              <a:t>例</a:t>
            </a:r>
            <a:r>
              <a:rPr lang="en-US" altLang="zh-CN" sz="2400" b="0" dirty="0">
                <a:latin typeface="楷体" panose="02010609060101010101" pitchFamily="1" charset="-122"/>
                <a:ea typeface="楷体" panose="02010609060101010101" pitchFamily="1" charset="-122"/>
              </a:rPr>
              <a:t>4-16) </a:t>
            </a:r>
            <a:r>
              <a:rPr lang="zh-CN" altLang="en-US" sz="2400" b="0" dirty="0">
                <a:latin typeface="楷体" panose="02010609060101010101" pitchFamily="1" charset="-122"/>
                <a:ea typeface="楷体" panose="02010609060101010101" pitchFamily="1" charset="-122"/>
              </a:rPr>
              <a:t>。</a:t>
            </a:r>
            <a:endParaRPr lang="zh-CN" altLang="en-US" sz="2400" b="0" dirty="0">
              <a:latin typeface="楷体" panose="02010609060101010101" pitchFamily="1" charset="-122"/>
              <a:ea typeface="楷体" panose="02010609060101010101" pitchFamily="1" charset="-122"/>
            </a:endParaRPr>
          </a:p>
          <a:p>
            <a:pPr>
              <a:lnSpc>
                <a:spcPct val="110000"/>
              </a:lnSpc>
            </a:pPr>
            <a:r>
              <a:rPr lang="en-US" altLang="zh-CN" sz="2800" dirty="0">
                <a:latin typeface="华文楷体" panose="02010600040101010101" pitchFamily="2" charset="-122"/>
                <a:ea typeface="华文楷体" panose="02010600040101010101" pitchFamily="2" charset="-122"/>
              </a:rPr>
              <a:t>Select * into SC1 from SC where Cid=</a:t>
            </a:r>
            <a:endParaRPr lang="en-US" altLang="zh-CN" sz="2800" dirty="0">
              <a:latin typeface="华文楷体" panose="02010600040101010101" pitchFamily="2" charset="-122"/>
              <a:ea typeface="华文楷体" panose="02010600040101010101" pitchFamily="2" charset="-122"/>
            </a:endParaRPr>
          </a:p>
          <a:p>
            <a:pPr>
              <a:lnSpc>
                <a:spcPct val="110000"/>
              </a:lnSpc>
            </a:pPr>
            <a:r>
              <a:rPr lang="en-US" altLang="zh-CN" sz="2800" dirty="0">
                <a:latin typeface="华文楷体" panose="02010600040101010101" pitchFamily="2" charset="-122"/>
                <a:ea typeface="华文楷体" panose="02010600040101010101" pitchFamily="2" charset="-122"/>
              </a:rPr>
              <a:t>Select * into SC2 from SC where 1=2</a:t>
            </a:r>
            <a:endParaRPr lang="en-US" altLang="zh-CN" sz="2800" dirty="0">
              <a:latin typeface="华文楷体" panose="02010600040101010101" pitchFamily="2" charset="-122"/>
              <a:ea typeface="华文楷体" panose="02010600040101010101" pitchFamily="2" charset="-122"/>
            </a:endParaRPr>
          </a:p>
        </p:txBody>
      </p:sp>
      <p:sp>
        <p:nvSpPr>
          <p:cNvPr id="83972" name="Text Box 4"/>
          <p:cNvSpPr txBox="1"/>
          <p:nvPr/>
        </p:nvSpPr>
        <p:spPr>
          <a:xfrm>
            <a:off x="352425" y="1339850"/>
            <a:ext cx="5091113" cy="631825"/>
          </a:xfrm>
          <a:prstGeom prst="rect">
            <a:avLst/>
          </a:prstGeom>
          <a:noFill/>
          <a:ln w="9525">
            <a:noFill/>
          </a:ln>
        </p:spPr>
        <p:txBody>
          <a:bodyPr anchor="t" anchorCtr="0">
            <a:spAutoFit/>
          </a:bodyPr>
          <a:p>
            <a:pPr marL="457200" indent="-457200">
              <a:lnSpc>
                <a:spcPct val="135000"/>
              </a:lnSpc>
            </a:pPr>
            <a:r>
              <a:rPr lang="zh-CN" altLang="en-US" sz="2600" dirty="0">
                <a:solidFill>
                  <a:srgbClr val="FF0000"/>
                </a:solidFill>
                <a:latin typeface="宋体" panose="02010600030101010101" pitchFamily="2" charset="-122"/>
                <a:ea typeface="宋体" panose="02010600030101010101" pitchFamily="2" charset="-122"/>
              </a:rPr>
              <a:t>（</a:t>
            </a:r>
            <a:r>
              <a:rPr lang="en-US" altLang="zh-CN" sz="2600" dirty="0">
                <a:solidFill>
                  <a:srgbClr val="FF0000"/>
                </a:solidFill>
                <a:latin typeface="宋体" panose="02010600030101010101" pitchFamily="2" charset="-122"/>
                <a:ea typeface="宋体" panose="02010600030101010101" pitchFamily="2" charset="-122"/>
              </a:rPr>
              <a:t>2</a:t>
            </a:r>
            <a:r>
              <a:rPr lang="zh-CN" altLang="en-US" sz="2600" dirty="0">
                <a:solidFill>
                  <a:srgbClr val="FF0000"/>
                </a:solidFill>
                <a:latin typeface="宋体" panose="02010600030101010101" pitchFamily="2" charset="-122"/>
                <a:ea typeface="宋体" panose="02010600030101010101" pitchFamily="2" charset="-122"/>
              </a:rPr>
              <a:t>）</a:t>
            </a:r>
            <a:r>
              <a:rPr lang="en-US" altLang="zh-CN" sz="2600" dirty="0">
                <a:solidFill>
                  <a:srgbClr val="FF0000"/>
                </a:solidFill>
                <a:latin typeface="宋体" panose="02010600030101010101" pitchFamily="2" charset="-122"/>
                <a:ea typeface="宋体" panose="02010600030101010101" pitchFamily="2" charset="-122"/>
              </a:rPr>
              <a:t>Into</a:t>
            </a:r>
            <a:r>
              <a:rPr lang="zh-CN" altLang="en-US" sz="2600" dirty="0">
                <a:solidFill>
                  <a:srgbClr val="FF0000"/>
                </a:solidFill>
                <a:latin typeface="宋体" panose="02010600030101010101" pitchFamily="2" charset="-122"/>
                <a:ea typeface="宋体" panose="02010600030101010101" pitchFamily="2" charset="-122"/>
              </a:rPr>
              <a:t>子句</a:t>
            </a:r>
            <a:endParaRPr lang="en-US" altLang="zh-CN" sz="2600" dirty="0">
              <a:solidFill>
                <a:srgbClr val="FF0000"/>
              </a:solidFill>
              <a:latin typeface="宋体" panose="02010600030101010101" pitchFamily="2" charset="-122"/>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9396">
                                            <p:txEl>
                                              <p:charRg st="41" end="45"/>
                                            </p:txEl>
                                          </p:spTgt>
                                        </p:tgtEl>
                                        <p:attrNameLst>
                                          <p:attrName>style.visibility</p:attrName>
                                        </p:attrNameLst>
                                      </p:cBhvr>
                                      <p:to>
                                        <p:strVal val="visible"/>
                                      </p:to>
                                    </p:set>
                                    <p:animEffect transition="in" filter="wipe(down)">
                                      <p:cBhvr>
                                        <p:cTn id="7" dur="500"/>
                                        <p:tgtEl>
                                          <p:spTgt spid="59396">
                                            <p:txEl>
                                              <p:charRg st="41" end="45"/>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59396">
                                            <p:txEl>
                                              <p:charRg st="45" end="77"/>
                                            </p:txEl>
                                          </p:spTgt>
                                        </p:tgtEl>
                                        <p:attrNameLst>
                                          <p:attrName>style.visibility</p:attrName>
                                        </p:attrNameLst>
                                      </p:cBhvr>
                                      <p:to>
                                        <p:strVal val="visible"/>
                                      </p:to>
                                    </p:set>
                                    <p:animEffect transition="in" filter="wipe(down)">
                                      <p:cBhvr>
                                        <p:cTn id="10" dur="500"/>
                                        <p:tgtEl>
                                          <p:spTgt spid="59396">
                                            <p:txEl>
                                              <p:charRg st="45" end="77"/>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59396">
                                            <p:txEl>
                                              <p:charRg st="77" end="175"/>
                                            </p:txEl>
                                          </p:spTgt>
                                        </p:tgtEl>
                                        <p:attrNameLst>
                                          <p:attrName>style.visibility</p:attrName>
                                        </p:attrNameLst>
                                      </p:cBhvr>
                                      <p:to>
                                        <p:strVal val="visible"/>
                                      </p:to>
                                    </p:set>
                                    <p:animEffect transition="in" filter="wipe(down)">
                                      <p:cBhvr>
                                        <p:cTn id="13" dur="500"/>
                                        <p:tgtEl>
                                          <p:spTgt spid="59396">
                                            <p:txEl>
                                              <p:charRg st="77" end="175"/>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59396">
                                            <p:txEl>
                                              <p:charRg st="175" end="212"/>
                                            </p:txEl>
                                          </p:spTgt>
                                        </p:tgtEl>
                                        <p:attrNameLst>
                                          <p:attrName>style.visibility</p:attrName>
                                        </p:attrNameLst>
                                      </p:cBhvr>
                                      <p:to>
                                        <p:strVal val="visible"/>
                                      </p:to>
                                    </p:set>
                                    <p:animEffect transition="in" filter="wipe(down)">
                                      <p:cBhvr>
                                        <p:cTn id="16" dur="500"/>
                                        <p:tgtEl>
                                          <p:spTgt spid="59396">
                                            <p:txEl>
                                              <p:charRg st="175" end="212"/>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59396">
                                            <p:txEl>
                                              <p:charRg st="212" end="248"/>
                                            </p:txEl>
                                          </p:spTgt>
                                        </p:tgtEl>
                                        <p:attrNameLst>
                                          <p:attrName>style.visibility</p:attrName>
                                        </p:attrNameLst>
                                      </p:cBhvr>
                                      <p:to>
                                        <p:strVal val="visible"/>
                                      </p:to>
                                    </p:set>
                                    <p:animEffect transition="in" filter="wipe(down)">
                                      <p:cBhvr>
                                        <p:cTn id="19" dur="500"/>
                                        <p:tgtEl>
                                          <p:spTgt spid="59396">
                                            <p:txEl>
                                              <p:charRg st="212" end="24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3"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三、数据库操纵子语言及其操作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84994" name="矩形 2"/>
          <p:cNvSpPr/>
          <p:nvPr/>
        </p:nvSpPr>
        <p:spPr>
          <a:xfrm>
            <a:off x="542925" y="866775"/>
            <a:ext cx="4203700" cy="522288"/>
          </a:xfrm>
          <a:prstGeom prst="rect">
            <a:avLst/>
          </a:prstGeom>
          <a:noFill/>
          <a:ln w="9525">
            <a:noFill/>
          </a:ln>
        </p:spPr>
        <p:txBody>
          <a:bodyPr anchor="t" anchorCtr="0">
            <a:spAutoFit/>
          </a:bodyPr>
          <a:p>
            <a:r>
              <a:rPr lang="en-US" altLang="zh-CN" sz="2800" dirty="0">
                <a:solidFill>
                  <a:srgbClr val="0033CC"/>
                </a:solidFill>
                <a:latin typeface="黑体" panose="02010609060101010101" pitchFamily="1" charset="-122"/>
                <a:ea typeface="黑体" panose="02010609060101010101" pitchFamily="1" charset="-122"/>
              </a:rPr>
              <a:t>6.</a:t>
            </a:r>
            <a:r>
              <a:rPr lang="zh-CN" altLang="en-US" sz="2800" dirty="0">
                <a:solidFill>
                  <a:srgbClr val="0033CC"/>
                </a:solidFill>
                <a:latin typeface="黑体" panose="02010609060101010101" pitchFamily="1" charset="-122"/>
                <a:ea typeface="黑体" panose="02010609060101010101" pitchFamily="1" charset="-122"/>
              </a:rPr>
              <a:t> 数据查询</a:t>
            </a:r>
            <a:r>
              <a:rPr lang="en-US" altLang="zh-CN" sz="2800" dirty="0">
                <a:solidFill>
                  <a:srgbClr val="0033CC"/>
                </a:solidFill>
                <a:latin typeface="黑体" panose="02010609060101010101" pitchFamily="1" charset="-122"/>
                <a:ea typeface="黑体" panose="02010609060101010101" pitchFamily="1" charset="-122"/>
              </a:rPr>
              <a:t>(Select)</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60420" name="Text Box 3"/>
          <p:cNvSpPr txBox="1"/>
          <p:nvPr/>
        </p:nvSpPr>
        <p:spPr>
          <a:xfrm>
            <a:off x="568325" y="1835150"/>
            <a:ext cx="8081963" cy="1476375"/>
          </a:xfrm>
          <a:prstGeom prst="rect">
            <a:avLst/>
          </a:prstGeom>
          <a:noFill/>
          <a:ln w="9525">
            <a:noFill/>
          </a:ln>
        </p:spPr>
        <p:txBody>
          <a:bodyPr anchor="t" anchorCtr="0">
            <a:spAutoFit/>
          </a:bodyPr>
          <a:p>
            <a:pPr>
              <a:lnSpc>
                <a:spcPct val="125000"/>
              </a:lnSpc>
              <a:buFont typeface="Wingdings" panose="05000000000000000000" pitchFamily="2" charset="2"/>
              <a:buChar char="p"/>
            </a:pPr>
            <a:r>
              <a:rPr lang="en-US" altLang="zh-CN" sz="2400" u="sng" dirty="0">
                <a:solidFill>
                  <a:srgbClr val="FF0000"/>
                </a:solidFill>
                <a:latin typeface="宋体" panose="02010600030101010101" pitchFamily="2" charset="-122"/>
                <a:ea typeface="宋体" panose="02010600030101010101" pitchFamily="2" charset="-122"/>
              </a:rPr>
              <a:t>FROM</a:t>
            </a:r>
            <a:r>
              <a:rPr lang="zh-CN" altLang="en-US" sz="2400" u="sng" dirty="0">
                <a:solidFill>
                  <a:srgbClr val="FF0000"/>
                </a:solidFill>
                <a:latin typeface="宋体" panose="02010600030101010101" pitchFamily="2" charset="-122"/>
                <a:ea typeface="宋体" panose="02010600030101010101" pitchFamily="2" charset="-122"/>
              </a:rPr>
              <a:t>的作用：</a:t>
            </a:r>
            <a:r>
              <a:rPr lang="zh-CN" altLang="en-US" sz="2400" dirty="0">
                <a:latin typeface="华文楷体" panose="02010600040101010101" pitchFamily="2" charset="-122"/>
                <a:ea typeface="华文楷体" panose="02010600040101010101" pitchFamily="2" charset="-122"/>
              </a:rPr>
              <a:t>指定在</a:t>
            </a:r>
            <a:r>
              <a:rPr lang="en-US" altLang="zh-CN" sz="2400" dirty="0">
                <a:latin typeface="华文楷体" panose="02010600040101010101" pitchFamily="2" charset="-122"/>
                <a:ea typeface="华文楷体" panose="02010600040101010101" pitchFamily="2" charset="-122"/>
              </a:rPr>
              <a:t>SELECT</a:t>
            </a: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DELETE</a:t>
            </a:r>
            <a:r>
              <a:rPr lang="zh-CN" altLang="en-US" sz="2400" dirty="0">
                <a:latin typeface="华文楷体" panose="02010600040101010101" pitchFamily="2" charset="-122"/>
                <a:ea typeface="华文楷体" panose="02010600040101010101" pitchFamily="2" charset="-122"/>
              </a:rPr>
              <a:t>及</a:t>
            </a:r>
            <a:r>
              <a:rPr lang="en-US" altLang="zh-CN" sz="2400" dirty="0">
                <a:latin typeface="华文楷体" panose="02010600040101010101" pitchFamily="2" charset="-122"/>
                <a:ea typeface="华文楷体" panose="02010600040101010101" pitchFamily="2" charset="-122"/>
              </a:rPr>
              <a:t>UPDATE</a:t>
            </a:r>
            <a:r>
              <a:rPr lang="zh-CN" altLang="en-US" sz="2400" dirty="0">
                <a:latin typeface="华文楷体" panose="02010600040101010101" pitchFamily="2" charset="-122"/>
                <a:ea typeface="华文楷体" panose="02010600040101010101" pitchFamily="2" charset="-122"/>
              </a:rPr>
              <a:t>语句中所用的表、视图及表连接等。</a:t>
            </a:r>
            <a:endParaRPr lang="zh-CN" altLang="en-US" sz="2400" dirty="0">
              <a:latin typeface="华文楷体" panose="02010600040101010101" pitchFamily="2" charset="-122"/>
              <a:ea typeface="华文楷体" panose="02010600040101010101" pitchFamily="2" charset="-122"/>
            </a:endParaRPr>
          </a:p>
          <a:p>
            <a:pPr>
              <a:lnSpc>
                <a:spcPct val="125000"/>
              </a:lnSpc>
              <a:buFont typeface="Wingdings" panose="05000000000000000000" pitchFamily="2" charset="2"/>
              <a:buChar char="p"/>
            </a:pPr>
            <a:r>
              <a:rPr lang="zh-CN" altLang="en-US" sz="2400" u="sng" dirty="0">
                <a:solidFill>
                  <a:srgbClr val="FF0000"/>
                </a:solidFill>
                <a:latin typeface="宋体" panose="02010600030101010101" pitchFamily="2" charset="-122"/>
                <a:ea typeface="宋体" panose="02010600030101010101" pitchFamily="2" charset="-122"/>
              </a:rPr>
              <a:t>语法：</a:t>
            </a:r>
            <a:r>
              <a:rPr lang="zh-CN" altLang="en-US" sz="2400" dirty="0">
                <a:latin typeface="华文楷体" panose="02010600040101010101" pitchFamily="2" charset="-122"/>
                <a:ea typeface="华文楷体" panose="02010600040101010101" pitchFamily="2" charset="-122"/>
              </a:rPr>
              <a:t>同前面</a:t>
            </a:r>
            <a:r>
              <a:rPr lang="en-US" altLang="zh-CN" sz="2400" dirty="0">
                <a:latin typeface="华文楷体" panose="02010600040101010101" pitchFamily="2" charset="-122"/>
                <a:ea typeface="华文楷体" panose="02010600040101010101" pitchFamily="2" charset="-122"/>
              </a:rPr>
              <a:t>DELETE</a:t>
            </a:r>
            <a:r>
              <a:rPr lang="zh-CN" altLang="en-US" sz="2400" dirty="0">
                <a:latin typeface="华文楷体" panose="02010600040101010101" pitchFamily="2" charset="-122"/>
                <a:ea typeface="华文楷体" panose="02010600040101010101" pitchFamily="2" charset="-122"/>
              </a:rPr>
              <a:t>及</a:t>
            </a:r>
            <a:r>
              <a:rPr lang="en-US" altLang="zh-CN" sz="2400" dirty="0">
                <a:latin typeface="华文楷体" panose="02010600040101010101" pitchFamily="2" charset="-122"/>
                <a:ea typeface="华文楷体" panose="02010600040101010101" pitchFamily="2" charset="-122"/>
              </a:rPr>
              <a:t>UPDATE</a:t>
            </a:r>
            <a:r>
              <a:rPr lang="zh-CN" altLang="en-US" sz="2400" dirty="0">
                <a:latin typeface="华文楷体" panose="02010600040101010101" pitchFamily="2" charset="-122"/>
                <a:ea typeface="华文楷体" panose="02010600040101010101" pitchFamily="2" charset="-122"/>
              </a:rPr>
              <a:t>中的</a:t>
            </a:r>
            <a:r>
              <a:rPr lang="en-US" altLang="zh-CN" sz="2400" dirty="0">
                <a:latin typeface="华文楷体" panose="02010600040101010101" pitchFamily="2" charset="-122"/>
                <a:ea typeface="华文楷体" panose="02010600040101010101" pitchFamily="2" charset="-122"/>
              </a:rPr>
              <a:t>FROM</a:t>
            </a:r>
            <a:r>
              <a:rPr lang="zh-CN" altLang="en-US" sz="2400" dirty="0">
                <a:latin typeface="华文楷体" panose="02010600040101010101" pitchFamily="2" charset="-122"/>
                <a:ea typeface="华文楷体" panose="02010600040101010101" pitchFamily="2" charset="-122"/>
              </a:rPr>
              <a:t>语法。</a:t>
            </a:r>
            <a:endParaRPr lang="zh-CN" altLang="en-US" sz="2400" dirty="0">
              <a:latin typeface="华文楷体" panose="02010600040101010101" pitchFamily="2" charset="-122"/>
              <a:ea typeface="华文楷体" panose="02010600040101010101" pitchFamily="2" charset="-122"/>
            </a:endParaRPr>
          </a:p>
        </p:txBody>
      </p:sp>
      <p:sp>
        <p:nvSpPr>
          <p:cNvPr id="60421" name="Text Box 4"/>
          <p:cNvSpPr txBox="1"/>
          <p:nvPr/>
        </p:nvSpPr>
        <p:spPr>
          <a:xfrm>
            <a:off x="555625" y="3344863"/>
            <a:ext cx="8245475" cy="2843212"/>
          </a:xfrm>
          <a:prstGeom prst="rect">
            <a:avLst/>
          </a:prstGeom>
          <a:noFill/>
          <a:ln w="9525">
            <a:noFill/>
          </a:ln>
        </p:spPr>
        <p:txBody>
          <a:bodyPr anchor="t" anchorCtr="0">
            <a:spAutoFit/>
          </a:bodyPr>
          <a:p>
            <a:pPr>
              <a:lnSpc>
                <a:spcPct val="120000"/>
              </a:lnSpc>
              <a:spcBef>
                <a:spcPts val="300"/>
              </a:spcBef>
              <a:buFont typeface="Wingdings" panose="05000000000000000000" pitchFamily="2" charset="2"/>
              <a:buChar char="p"/>
            </a:pPr>
            <a:r>
              <a:rPr lang="en-US" altLang="zh-CN" sz="2400" u="sng" dirty="0">
                <a:solidFill>
                  <a:srgbClr val="FF0000"/>
                </a:solidFill>
                <a:latin typeface="宋体" panose="02010600030101010101" pitchFamily="2" charset="-122"/>
                <a:ea typeface="宋体" panose="02010600030101010101" pitchFamily="2" charset="-122"/>
              </a:rPr>
              <a:t>WHERE</a:t>
            </a:r>
            <a:r>
              <a:rPr lang="zh-CN" altLang="en-US" sz="2400" u="sng" dirty="0">
                <a:solidFill>
                  <a:srgbClr val="FF0000"/>
                </a:solidFill>
                <a:latin typeface="宋体" panose="02010600030101010101" pitchFamily="2" charset="-122"/>
                <a:ea typeface="宋体" panose="02010600030101010101" pitchFamily="2" charset="-122"/>
              </a:rPr>
              <a:t>子句作用</a:t>
            </a:r>
            <a:r>
              <a:rPr lang="zh-CN" altLang="en-US" sz="2400" u="sng" dirty="0">
                <a:solidFill>
                  <a:srgbClr val="FF0000"/>
                </a:solidFill>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指定限定行的查询条件。</a:t>
            </a:r>
            <a:endParaRPr lang="zh-CN" altLang="en-US" sz="2400" dirty="0">
              <a:latin typeface="华文楷体" panose="02010600040101010101" pitchFamily="2" charset="-122"/>
              <a:ea typeface="华文楷体" panose="02010600040101010101" pitchFamily="2" charset="-122"/>
            </a:endParaRPr>
          </a:p>
          <a:p>
            <a:pPr>
              <a:lnSpc>
                <a:spcPct val="120000"/>
              </a:lnSpc>
              <a:spcBef>
                <a:spcPts val="300"/>
              </a:spcBef>
              <a:buFont typeface="Wingdings" panose="05000000000000000000" pitchFamily="2" charset="2"/>
              <a:buChar char="p"/>
            </a:pPr>
            <a:r>
              <a:rPr lang="zh-CN" altLang="en-US" sz="2400" u="sng" dirty="0">
                <a:solidFill>
                  <a:srgbClr val="FF0000"/>
                </a:solidFill>
                <a:latin typeface="宋体" panose="02010600030101010101" pitchFamily="2" charset="-122"/>
                <a:ea typeface="宋体" panose="02010600030101010101" pitchFamily="2" charset="-122"/>
              </a:rPr>
              <a:t>算术比较符：</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&lt;</a:t>
            </a: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&gt;</a:t>
            </a: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&lt;=</a:t>
            </a:r>
            <a:r>
              <a:rPr lang="zh-CN" altLang="en-US" sz="2400" dirty="0">
                <a:latin typeface="华文楷体" panose="02010600040101010101" pitchFamily="2" charset="-122"/>
                <a:ea typeface="华文楷体" panose="02010600040101010101" pitchFamily="2" charset="-122"/>
              </a:rPr>
              <a:t>或</a:t>
            </a:r>
            <a:r>
              <a:rPr lang="en-US" altLang="zh-CN" sz="2400" dirty="0">
                <a:latin typeface="华文楷体" panose="02010600040101010101" pitchFamily="2" charset="-122"/>
                <a:ea typeface="华文楷体" panose="02010600040101010101" pitchFamily="2" charset="-122"/>
              </a:rPr>
              <a:t>!&gt;</a:t>
            </a: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&gt;=</a:t>
            </a:r>
            <a:r>
              <a:rPr lang="zh-CN" altLang="en-US" sz="2400" dirty="0">
                <a:latin typeface="华文楷体" panose="02010600040101010101" pitchFamily="2" charset="-122"/>
                <a:ea typeface="华文楷体" panose="02010600040101010101" pitchFamily="2" charset="-122"/>
              </a:rPr>
              <a:t>或</a:t>
            </a:r>
            <a:r>
              <a:rPr lang="en-US" altLang="zh-CN" sz="2400" dirty="0">
                <a:latin typeface="华文楷体" panose="02010600040101010101" pitchFamily="2" charset="-122"/>
                <a:ea typeface="华文楷体" panose="02010600040101010101" pitchFamily="2" charset="-122"/>
              </a:rPr>
              <a:t>!&lt;</a:t>
            </a: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&lt;&gt;</a:t>
            </a:r>
            <a:r>
              <a:rPr lang="zh-CN" altLang="en-US" sz="2400" dirty="0">
                <a:latin typeface="华文楷体" panose="02010600040101010101" pitchFamily="2" charset="-122"/>
                <a:ea typeface="华文楷体" panose="02010600040101010101" pitchFamily="2" charset="-122"/>
              </a:rPr>
              <a:t>或</a:t>
            </a:r>
            <a:r>
              <a:rPr lang="en-US" altLang="zh-CN" sz="2400" dirty="0">
                <a:latin typeface="华文楷体" panose="02010600040101010101" pitchFamily="2" charset="-122"/>
                <a:ea typeface="华文楷体" panose="02010600040101010101" pitchFamily="2" charset="-122"/>
              </a:rPr>
              <a:t>!=</a:t>
            </a:r>
            <a:endParaRPr lang="en-US" altLang="zh-CN" sz="2400" dirty="0">
              <a:latin typeface="华文楷体" panose="02010600040101010101" pitchFamily="2" charset="-122"/>
              <a:ea typeface="华文楷体" panose="02010600040101010101" pitchFamily="2" charset="-122"/>
            </a:endParaRPr>
          </a:p>
          <a:p>
            <a:pPr>
              <a:lnSpc>
                <a:spcPct val="120000"/>
              </a:lnSpc>
              <a:spcBef>
                <a:spcPts val="300"/>
              </a:spcBef>
              <a:buFont typeface="Wingdings" panose="05000000000000000000" pitchFamily="2" charset="2"/>
              <a:buChar char="p"/>
            </a:pPr>
            <a:r>
              <a:rPr lang="zh-CN" altLang="en-US" sz="2400" u="sng" dirty="0">
                <a:solidFill>
                  <a:srgbClr val="FF0000"/>
                </a:solidFill>
                <a:latin typeface="宋体" panose="02010600030101010101" pitchFamily="2" charset="-122"/>
                <a:ea typeface="宋体" panose="02010600030101010101" pitchFamily="2" charset="-122"/>
              </a:rPr>
              <a:t>逻辑比较符：</a:t>
            </a:r>
            <a:r>
              <a:rPr lang="en-US" altLang="zh-CN" sz="2400" dirty="0">
                <a:latin typeface="华文楷体" panose="02010600040101010101" pitchFamily="2" charset="-122"/>
                <a:ea typeface="华文楷体" panose="02010600040101010101" pitchFamily="2" charset="-122"/>
              </a:rPr>
              <a:t>AND</a:t>
            </a: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OR</a:t>
            </a: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NOT</a:t>
            </a:r>
            <a:endParaRPr lang="en-US" altLang="zh-CN" sz="2400" dirty="0">
              <a:latin typeface="华文楷体" panose="02010600040101010101" pitchFamily="2" charset="-122"/>
              <a:ea typeface="华文楷体" panose="02010600040101010101" pitchFamily="2" charset="-122"/>
            </a:endParaRPr>
          </a:p>
          <a:p>
            <a:pPr>
              <a:lnSpc>
                <a:spcPct val="120000"/>
              </a:lnSpc>
              <a:spcBef>
                <a:spcPts val="300"/>
              </a:spcBef>
              <a:buFont typeface="Wingdings" panose="05000000000000000000" pitchFamily="2" charset="2"/>
              <a:buChar char="p"/>
            </a:pPr>
            <a:r>
              <a:rPr lang="zh-CN" altLang="en-US" sz="2400" u="sng" dirty="0">
                <a:solidFill>
                  <a:srgbClr val="FF0000"/>
                </a:solidFill>
                <a:latin typeface="宋体" panose="02010600030101010101" pitchFamily="2" charset="-122"/>
                <a:ea typeface="宋体" panose="02010600030101010101" pitchFamily="2" charset="-122"/>
              </a:rPr>
              <a:t>特殊运算符：</a:t>
            </a:r>
            <a:r>
              <a:rPr lang="en-US" altLang="zh-CN" sz="2400" dirty="0">
                <a:latin typeface="华文楷体" panose="02010600040101010101" pitchFamily="2" charset="-122"/>
                <a:ea typeface="华文楷体" panose="02010600040101010101" pitchFamily="2" charset="-122"/>
              </a:rPr>
              <a:t>IN</a:t>
            </a: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NOT IN</a:t>
            </a: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BETWEEN…AND…</a:t>
            </a: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LIKE</a:t>
            </a: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NOT LIKE</a:t>
            </a: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IS NULL</a:t>
            </a: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IS NOT NULL</a:t>
            </a: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SOME|ANY</a:t>
            </a: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ALL</a:t>
            </a: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EXISTS</a:t>
            </a: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NOT EXISTS</a:t>
            </a:r>
            <a:r>
              <a:rPr lang="zh-CN" altLang="en-US" sz="2400" dirty="0">
                <a:latin typeface="华文楷体" panose="02010600040101010101" pitchFamily="2" charset="-122"/>
                <a:ea typeface="华文楷体" panose="02010600040101010101" pitchFamily="2" charset="-122"/>
              </a:rPr>
              <a:t>。</a:t>
            </a:r>
            <a:endParaRPr lang="zh-CN" altLang="en-US" sz="2400" dirty="0">
              <a:latin typeface="华文楷体" panose="02010600040101010101" pitchFamily="2" charset="-122"/>
              <a:ea typeface="华文楷体" panose="02010600040101010101" pitchFamily="2" charset="-122"/>
            </a:endParaRPr>
          </a:p>
        </p:txBody>
      </p:sp>
      <p:sp>
        <p:nvSpPr>
          <p:cNvPr id="84997" name="Text Box 4"/>
          <p:cNvSpPr txBox="1"/>
          <p:nvPr/>
        </p:nvSpPr>
        <p:spPr>
          <a:xfrm>
            <a:off x="352425" y="1281113"/>
            <a:ext cx="5091113" cy="633412"/>
          </a:xfrm>
          <a:prstGeom prst="rect">
            <a:avLst/>
          </a:prstGeom>
          <a:noFill/>
          <a:ln w="9525">
            <a:noFill/>
          </a:ln>
        </p:spPr>
        <p:txBody>
          <a:bodyPr anchor="t" anchorCtr="0">
            <a:spAutoFit/>
          </a:bodyPr>
          <a:p>
            <a:pPr marL="457200" indent="-457200">
              <a:lnSpc>
                <a:spcPct val="135000"/>
              </a:lnSpc>
            </a:pPr>
            <a:r>
              <a:rPr lang="zh-CN" altLang="en-US" sz="2600" dirty="0">
                <a:solidFill>
                  <a:srgbClr val="FF0000"/>
                </a:solidFill>
                <a:latin typeface="宋体" panose="02010600030101010101" pitchFamily="2" charset="-122"/>
                <a:ea typeface="宋体" panose="02010600030101010101" pitchFamily="2" charset="-122"/>
              </a:rPr>
              <a:t>（</a:t>
            </a:r>
            <a:r>
              <a:rPr lang="en-US" altLang="zh-CN" sz="2600" dirty="0">
                <a:solidFill>
                  <a:srgbClr val="FF0000"/>
                </a:solidFill>
                <a:latin typeface="宋体" panose="02010600030101010101" pitchFamily="2" charset="-122"/>
                <a:ea typeface="宋体" panose="02010600030101010101" pitchFamily="2" charset="-122"/>
              </a:rPr>
              <a:t>3</a:t>
            </a:r>
            <a:r>
              <a:rPr lang="zh-CN" altLang="en-US" sz="2600" dirty="0">
                <a:solidFill>
                  <a:srgbClr val="FF0000"/>
                </a:solidFill>
                <a:latin typeface="宋体" panose="02010600030101010101" pitchFamily="2" charset="-122"/>
                <a:ea typeface="宋体" panose="02010600030101010101" pitchFamily="2" charset="-122"/>
              </a:rPr>
              <a:t>）</a:t>
            </a:r>
            <a:r>
              <a:rPr lang="en-US" altLang="zh-CN" sz="2600" dirty="0">
                <a:solidFill>
                  <a:srgbClr val="FF0000"/>
                </a:solidFill>
                <a:latin typeface="宋体" panose="02010600030101010101" pitchFamily="2" charset="-122"/>
                <a:ea typeface="宋体" panose="02010600030101010101" pitchFamily="2" charset="-122"/>
              </a:rPr>
              <a:t>From </a:t>
            </a:r>
            <a:r>
              <a:rPr lang="zh-CN" altLang="en-US" sz="2600" dirty="0">
                <a:solidFill>
                  <a:srgbClr val="FF0000"/>
                </a:solidFill>
                <a:latin typeface="宋体" panose="02010600030101010101" pitchFamily="2" charset="-122"/>
                <a:ea typeface="宋体" panose="02010600030101010101" pitchFamily="2" charset="-122"/>
              </a:rPr>
              <a:t>和</a:t>
            </a:r>
            <a:r>
              <a:rPr lang="en-US" altLang="zh-CN" sz="2600" dirty="0">
                <a:solidFill>
                  <a:srgbClr val="FF0000"/>
                </a:solidFill>
                <a:latin typeface="宋体" panose="02010600030101010101" pitchFamily="2" charset="-122"/>
                <a:ea typeface="宋体" panose="02010600030101010101" pitchFamily="2" charset="-122"/>
              </a:rPr>
              <a:t>Where</a:t>
            </a:r>
            <a:r>
              <a:rPr lang="zh-CN" altLang="en-US" sz="2600" dirty="0">
                <a:solidFill>
                  <a:srgbClr val="FF0000"/>
                </a:solidFill>
                <a:latin typeface="宋体" panose="02010600030101010101" pitchFamily="2" charset="-122"/>
                <a:ea typeface="宋体" panose="02010600030101010101" pitchFamily="2" charset="-122"/>
              </a:rPr>
              <a:t>子句</a:t>
            </a:r>
            <a:endParaRPr lang="en-US" altLang="zh-CN" sz="2600" dirty="0">
              <a:solidFill>
                <a:srgbClr val="FF0000"/>
              </a:solidFill>
              <a:latin typeface="宋体" panose="02010600030101010101" pitchFamily="2" charset="-122"/>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0420"/>
                                        </p:tgtEl>
                                        <p:attrNameLst>
                                          <p:attrName>style.visibility</p:attrName>
                                        </p:attrNameLst>
                                      </p:cBhvr>
                                      <p:to>
                                        <p:strVal val="visible"/>
                                      </p:to>
                                    </p:set>
                                    <p:animEffect transition="in" filter="box(in)">
                                      <p:cBhvr>
                                        <p:cTn id="7" dur="500"/>
                                        <p:tgtEl>
                                          <p:spTgt spid="60420"/>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60421"/>
                                        </p:tgtEl>
                                        <p:attrNameLst>
                                          <p:attrName>style.visibility</p:attrName>
                                        </p:attrNameLst>
                                      </p:cBhvr>
                                      <p:to>
                                        <p:strVal val="visible"/>
                                      </p:to>
                                    </p:set>
                                    <p:animEffect transition="in" filter="box(in)">
                                      <p:cBhvr>
                                        <p:cTn id="12" dur="500"/>
                                        <p:tgtEl>
                                          <p:spTgt spid="604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20" grpId="0"/>
      <p:bldP spid="60421"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7"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三、数据库操纵子语言及其操作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86018" name="矩形 2"/>
          <p:cNvSpPr/>
          <p:nvPr/>
        </p:nvSpPr>
        <p:spPr>
          <a:xfrm>
            <a:off x="542925" y="866775"/>
            <a:ext cx="4203700" cy="522288"/>
          </a:xfrm>
          <a:prstGeom prst="rect">
            <a:avLst/>
          </a:prstGeom>
          <a:noFill/>
          <a:ln w="9525">
            <a:noFill/>
          </a:ln>
        </p:spPr>
        <p:txBody>
          <a:bodyPr anchor="t" anchorCtr="0">
            <a:spAutoFit/>
          </a:bodyPr>
          <a:p>
            <a:r>
              <a:rPr lang="en-US" altLang="zh-CN" sz="2800" dirty="0">
                <a:solidFill>
                  <a:srgbClr val="0033CC"/>
                </a:solidFill>
                <a:latin typeface="黑体" panose="02010609060101010101" pitchFamily="1" charset="-122"/>
                <a:ea typeface="黑体" panose="02010609060101010101" pitchFamily="1" charset="-122"/>
              </a:rPr>
              <a:t>6.</a:t>
            </a:r>
            <a:r>
              <a:rPr lang="zh-CN" altLang="en-US" sz="2800" dirty="0">
                <a:solidFill>
                  <a:srgbClr val="0033CC"/>
                </a:solidFill>
                <a:latin typeface="黑体" panose="02010609060101010101" pitchFamily="1" charset="-122"/>
                <a:ea typeface="黑体" panose="02010609060101010101" pitchFamily="1" charset="-122"/>
              </a:rPr>
              <a:t> 数据查询</a:t>
            </a:r>
            <a:r>
              <a:rPr lang="en-US" altLang="zh-CN" sz="2800" dirty="0">
                <a:solidFill>
                  <a:srgbClr val="0033CC"/>
                </a:solidFill>
                <a:latin typeface="黑体" panose="02010609060101010101" pitchFamily="1" charset="-122"/>
                <a:ea typeface="黑体" panose="02010609060101010101" pitchFamily="1" charset="-122"/>
              </a:rPr>
              <a:t>(Select)</a:t>
            </a:r>
            <a:endParaRPr lang="zh-CN" altLang="en-US" sz="2800" dirty="0">
              <a:solidFill>
                <a:srgbClr val="0033CC"/>
              </a:solidFill>
              <a:latin typeface="黑体" panose="02010609060101010101" pitchFamily="1" charset="-122"/>
              <a:ea typeface="黑体" panose="02010609060101010101" pitchFamily="1" charset="-122"/>
            </a:endParaRPr>
          </a:p>
        </p:txBody>
      </p:sp>
      <p:graphicFrame>
        <p:nvGraphicFramePr>
          <p:cNvPr id="61444" name="表格 61443"/>
          <p:cNvGraphicFramePr/>
          <p:nvPr/>
        </p:nvGraphicFramePr>
        <p:xfrm>
          <a:off x="596900" y="1606550"/>
          <a:ext cx="8258175" cy="4614863"/>
        </p:xfrm>
        <a:graphic>
          <a:graphicData uri="http://schemas.openxmlformats.org/drawingml/2006/table">
            <a:tbl>
              <a:tblPr/>
              <a:tblGrid>
                <a:gridCol w="1452563"/>
                <a:gridCol w="3759200"/>
                <a:gridCol w="3046412"/>
              </a:tblGrid>
              <a:tr h="454025">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zh-CN" altLang="en-US" sz="2200" b="0">
                          <a:latin typeface="华文楷体" panose="02010600040101010101" pitchFamily="2" charset="-122"/>
                          <a:ea typeface="华文楷体" panose="02010600040101010101" pitchFamily="2" charset="-122"/>
                        </a:rPr>
                        <a:t>算术比较</a:t>
                      </a:r>
                      <a:endParaRPr lang="zh-CN" altLang="en-US" sz="2200" b="0">
                        <a:latin typeface="华文楷体" panose="02010600040101010101" pitchFamily="2" charset="-122"/>
                        <a:ea typeface="华文楷体" panose="02010600040101010101" pitchFamily="2" charset="-122"/>
                      </a:endParaRPr>
                    </a:p>
                  </a:txBody>
                  <a:tcPr marL="90000" marR="90000" marT="46800" marB="46800" vert="horz" anchor="t">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DFAEC">
                        <a:alpha val="100000"/>
                      </a:srgbClr>
                    </a:solid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en-US" altLang="x-none" sz="2200" b="0" dirty="0">
                          <a:latin typeface="华文楷体" panose="02010600040101010101" pitchFamily="2" charset="-122"/>
                          <a:ea typeface="华文楷体" panose="02010600040101010101" pitchFamily="2" charset="-122"/>
                        </a:rPr>
                        <a:t>Where books.price</a:t>
                      </a:r>
                      <a:r>
                        <a:rPr lang="en-US" altLang="x-none" sz="2200" b="0" dirty="0">
                          <a:solidFill>
                            <a:srgbClr val="CC0000"/>
                          </a:solidFill>
                          <a:latin typeface="华文楷体" panose="02010600040101010101" pitchFamily="2" charset="-122"/>
                          <a:ea typeface="华文楷体" panose="02010600040101010101" pitchFamily="2" charset="-122"/>
                        </a:rPr>
                        <a:t>&gt;=</a:t>
                      </a:r>
                      <a:r>
                        <a:rPr lang="en-US" altLang="x-none" sz="2200" b="0" dirty="0">
                          <a:latin typeface="华文楷体" panose="02010600040101010101" pitchFamily="2" charset="-122"/>
                          <a:ea typeface="华文楷体" panose="02010600040101010101" pitchFamily="2" charset="-122"/>
                        </a:rPr>
                        <a:t>20</a:t>
                      </a:r>
                      <a:endParaRPr lang="en-US" altLang="x-none" sz="2200" b="0" dirty="0">
                        <a:latin typeface="华文楷体" panose="02010600040101010101" pitchFamily="2" charset="-122"/>
                        <a:ea typeface="华文楷体" panose="02010600040101010101" pitchFamily="2" charset="-122"/>
                      </a:endParaRPr>
                    </a:p>
                  </a:txBody>
                  <a:tcPr marL="90000" marR="90000" marT="46800" marB="46800"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DFAEC">
                        <a:alpha val="100000"/>
                      </a:srgbClr>
                    </a:solid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zh-CN" altLang="en-US" sz="2200" b="0">
                          <a:latin typeface="华文楷体" panose="02010600040101010101" pitchFamily="2" charset="-122"/>
                          <a:ea typeface="华文楷体" panose="02010600040101010101" pitchFamily="2" charset="-122"/>
                        </a:rPr>
                        <a:t>比较两个</a:t>
                      </a:r>
                      <a:r>
                        <a:rPr lang="zh-CN" altLang="en-US" sz="2200" b="0">
                          <a:solidFill>
                            <a:srgbClr val="CC0000"/>
                          </a:solidFill>
                          <a:latin typeface="华文楷体" panose="02010600040101010101" pitchFamily="2" charset="-122"/>
                          <a:ea typeface="华文楷体" panose="02010600040101010101" pitchFamily="2" charset="-122"/>
                        </a:rPr>
                        <a:t>表达式</a:t>
                      </a:r>
                      <a:r>
                        <a:rPr lang="zh-CN" altLang="en-US" sz="2200" b="0">
                          <a:latin typeface="华文楷体" panose="02010600040101010101" pitchFamily="2" charset="-122"/>
                          <a:ea typeface="华文楷体" panose="02010600040101010101" pitchFamily="2" charset="-122"/>
                        </a:rPr>
                        <a:t>的值</a:t>
                      </a:r>
                      <a:endParaRPr lang="zh-CN" altLang="en-US" sz="2200" b="0">
                        <a:latin typeface="华文楷体" panose="02010600040101010101" pitchFamily="2" charset="-122"/>
                        <a:ea typeface="华文楷体" panose="02010600040101010101" pitchFamily="2" charset="-122"/>
                      </a:endParaRPr>
                    </a:p>
                  </a:txBody>
                  <a:tcPr marL="90000" marR="90000" marT="46800" marB="46800" vert="horz" anchor="t">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DFAEC">
                        <a:alpha val="100000"/>
                      </a:srgbClr>
                    </a:solidFill>
                  </a:tcPr>
                </a:tc>
              </a:tr>
              <a:tr h="1100138">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zh-CN" altLang="en-US" sz="2200" b="0">
                          <a:latin typeface="华文楷体" panose="02010600040101010101" pitchFamily="2" charset="-122"/>
                          <a:ea typeface="华文楷体" panose="02010600040101010101" pitchFamily="2" charset="-122"/>
                        </a:rPr>
                        <a:t>范围的判断</a:t>
                      </a:r>
                      <a:endParaRPr lang="zh-CN" altLang="en-US" sz="2200" b="0">
                        <a:latin typeface="华文楷体" panose="02010600040101010101" pitchFamily="2" charset="-122"/>
                        <a:ea typeface="华文楷体" panose="02010600040101010101" pitchFamily="2" charset="-122"/>
                      </a:endParaRPr>
                    </a:p>
                  </a:txBody>
                  <a:tcPr marL="90000" marR="90000" marT="46800" marB="46800" vert="horz" anchor="t">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DFAEC">
                        <a:alpha val="100000"/>
                      </a:srgbClr>
                    </a:solid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en-US" altLang="x-none" sz="2200" b="0" dirty="0">
                          <a:latin typeface="华文楷体" panose="02010600040101010101" pitchFamily="2" charset="-122"/>
                          <a:ea typeface="华文楷体" panose="02010600040101010101" pitchFamily="2" charset="-122"/>
                        </a:rPr>
                        <a:t>Where books.price [NOT] </a:t>
                      </a:r>
                      <a:r>
                        <a:rPr lang="en-US" altLang="x-none" sz="2200" b="0" dirty="0">
                          <a:solidFill>
                            <a:srgbClr val="CC0000"/>
                          </a:solidFill>
                          <a:latin typeface="华文楷体" panose="02010600040101010101" pitchFamily="2" charset="-122"/>
                          <a:ea typeface="华文楷体" panose="02010600040101010101" pitchFamily="2" charset="-122"/>
                        </a:rPr>
                        <a:t>BETWEEN</a:t>
                      </a:r>
                      <a:r>
                        <a:rPr lang="en-US" altLang="x-none" sz="2200" b="0" dirty="0">
                          <a:latin typeface="华文楷体" panose="02010600040101010101" pitchFamily="2" charset="-122"/>
                          <a:ea typeface="华文楷体" panose="02010600040101010101" pitchFamily="2" charset="-122"/>
                        </a:rPr>
                        <a:t> 10 </a:t>
                      </a:r>
                      <a:r>
                        <a:rPr lang="en-US" altLang="x-none" sz="2200" b="0" dirty="0">
                          <a:solidFill>
                            <a:srgbClr val="CC0000"/>
                          </a:solidFill>
                          <a:latin typeface="华文楷体" panose="02010600040101010101" pitchFamily="2" charset="-122"/>
                          <a:ea typeface="华文楷体" panose="02010600040101010101" pitchFamily="2" charset="-122"/>
                        </a:rPr>
                        <a:t>AND</a:t>
                      </a:r>
                      <a:r>
                        <a:rPr lang="en-US" altLang="x-none" sz="2200" b="0" dirty="0">
                          <a:latin typeface="华文楷体" panose="02010600040101010101" pitchFamily="2" charset="-122"/>
                          <a:ea typeface="华文楷体" panose="02010600040101010101" pitchFamily="2" charset="-122"/>
                        </a:rPr>
                        <a:t> 20</a:t>
                      </a:r>
                      <a:endParaRPr lang="en-US" altLang="x-none" sz="2200" b="0" dirty="0">
                        <a:latin typeface="华文楷体" panose="02010600040101010101" pitchFamily="2" charset="-122"/>
                        <a:ea typeface="华文楷体" panose="02010600040101010101" pitchFamily="2" charset="-122"/>
                      </a:endParaRPr>
                    </a:p>
                    <a:p>
                      <a:pPr marL="0" lvl="0" indent="0" eaLnBrk="1" hangingPunct="1">
                        <a:spcBef>
                          <a:spcPct val="0"/>
                        </a:spcBef>
                        <a:buClr>
                          <a:srgbClr val="000000"/>
                        </a:buClr>
                        <a:buFont typeface="Arial" panose="020B0604020202020204" pitchFamily="34" charset="0"/>
                        <a:buNone/>
                      </a:pPr>
                      <a:r>
                        <a:rPr lang="en-US" altLang="x-none" sz="2200" b="0" i="1" dirty="0">
                          <a:latin typeface="华文楷体" panose="02010600040101010101" pitchFamily="2" charset="-122"/>
                          <a:ea typeface="华文楷体" panose="02010600040101010101" pitchFamily="2" charset="-122"/>
                        </a:rPr>
                        <a:t>10</a:t>
                      </a:r>
                      <a:r>
                        <a:rPr lang="zh-CN" altLang="en-US" sz="2200" b="0" i="1" dirty="0">
                          <a:latin typeface="华文楷体" panose="02010600040101010101" pitchFamily="2" charset="-122"/>
                          <a:ea typeface="华文楷体" panose="02010600040101010101" pitchFamily="2" charset="-122"/>
                        </a:rPr>
                        <a:t>和</a:t>
                      </a:r>
                      <a:r>
                        <a:rPr lang="en-US" altLang="x-none" sz="2200" b="0" i="1" dirty="0">
                          <a:latin typeface="华文楷体" panose="02010600040101010101" pitchFamily="2" charset="-122"/>
                          <a:ea typeface="华文楷体" panose="02010600040101010101" pitchFamily="2" charset="-122"/>
                        </a:rPr>
                        <a:t>20</a:t>
                      </a:r>
                      <a:r>
                        <a:rPr lang="zh-CN" altLang="en-US" sz="2200" b="0" i="1" dirty="0">
                          <a:latin typeface="华文楷体" panose="02010600040101010101" pitchFamily="2" charset="-122"/>
                          <a:ea typeface="华文楷体" panose="02010600040101010101" pitchFamily="2" charset="-122"/>
                        </a:rPr>
                        <a:t>也是满足条件的</a:t>
                      </a:r>
                      <a:endParaRPr lang="zh-CN" altLang="en-US" sz="2200" b="0" i="1" dirty="0">
                        <a:latin typeface="华文楷体" panose="02010600040101010101" pitchFamily="2" charset="-122"/>
                        <a:ea typeface="华文楷体" panose="02010600040101010101" pitchFamily="2" charset="-122"/>
                      </a:endParaRPr>
                    </a:p>
                  </a:txBody>
                  <a:tcPr marL="90000" marR="90000" marT="46800" marB="46800"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DFAEC">
                        <a:alpha val="100000"/>
                      </a:srgbClr>
                    </a:solid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zh-CN" altLang="en-US" sz="2200" b="0" dirty="0">
                          <a:solidFill>
                            <a:srgbClr val="CC0000"/>
                          </a:solidFill>
                          <a:latin typeface="华文楷体" panose="02010600040101010101" pitchFamily="2" charset="-122"/>
                          <a:ea typeface="华文楷体" panose="02010600040101010101" pitchFamily="2" charset="-122"/>
                        </a:rPr>
                        <a:t>表达式</a:t>
                      </a:r>
                      <a:r>
                        <a:rPr lang="zh-CN" altLang="en-US" sz="2200" b="0" dirty="0">
                          <a:latin typeface="华文楷体" panose="02010600040101010101" pitchFamily="2" charset="-122"/>
                          <a:ea typeface="华文楷体" panose="02010600040101010101" pitchFamily="2" charset="-122"/>
                        </a:rPr>
                        <a:t>的值在</a:t>
                      </a:r>
                      <a:r>
                        <a:rPr lang="en-US" altLang="x-none" sz="2200" b="0" dirty="0">
                          <a:latin typeface="华文楷体" panose="02010600040101010101" pitchFamily="2" charset="-122"/>
                          <a:ea typeface="华文楷体" panose="02010600040101010101" pitchFamily="2" charset="-122"/>
                        </a:rPr>
                        <a:t>/</a:t>
                      </a:r>
                      <a:r>
                        <a:rPr lang="zh-CN" altLang="en-US" sz="2200" b="0" dirty="0">
                          <a:latin typeface="华文楷体" panose="02010600040101010101" pitchFamily="2" charset="-122"/>
                          <a:ea typeface="华文楷体" panose="02010600040101010101" pitchFamily="2" charset="-122"/>
                        </a:rPr>
                        <a:t>不在给定的范围内</a:t>
                      </a:r>
                      <a:endParaRPr lang="zh-CN" altLang="en-US" sz="2200" b="0" dirty="0">
                        <a:latin typeface="华文楷体" panose="02010600040101010101" pitchFamily="2" charset="-122"/>
                        <a:ea typeface="华文楷体" panose="02010600040101010101" pitchFamily="2" charset="-122"/>
                      </a:endParaRPr>
                    </a:p>
                  </a:txBody>
                  <a:tcPr marL="90000" marR="90000" marT="46800" marB="46800" vert="horz" anchor="t">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DFAEC">
                        <a:alpha val="100000"/>
                      </a:srgbClr>
                    </a:solidFill>
                  </a:tcPr>
                </a:tc>
              </a:tr>
              <a:tr h="763587">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200" b="0">
                          <a:latin typeface="华文楷体" panose="02010600040101010101" pitchFamily="2" charset="-122"/>
                          <a:ea typeface="华文楷体" panose="02010600040101010101" pitchFamily="2" charset="-122"/>
                        </a:rPr>
                        <a:t>相同模式判断</a:t>
                      </a:r>
                      <a:endParaRPr lang="zh-CN" altLang="en-US" sz="2200" b="0">
                        <a:latin typeface="华文楷体" panose="02010600040101010101" pitchFamily="2" charset="-122"/>
                        <a:ea typeface="华文楷体" panose="02010600040101010101" pitchFamily="2" charset="-122"/>
                      </a:endParaRPr>
                    </a:p>
                  </a:txBody>
                  <a:tcPr marL="90000" marR="90000" marT="46800" marB="46800" vert="horz" anchor="t">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DFAEC">
                        <a:alpha val="100000"/>
                      </a:srgbClr>
                    </a:solid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en-US" altLang="x-none" sz="2200" b="0" dirty="0">
                          <a:latin typeface="华文楷体" panose="02010600040101010101" pitchFamily="2" charset="-122"/>
                          <a:ea typeface="华文楷体" panose="02010600040101010101" pitchFamily="2" charset="-122"/>
                        </a:rPr>
                        <a:t>Where Did [NOT]</a:t>
                      </a:r>
                      <a:r>
                        <a:rPr lang="en-US" altLang="x-none" sz="2200" b="0" dirty="0">
                          <a:solidFill>
                            <a:srgbClr val="CC0000"/>
                          </a:solidFill>
                          <a:latin typeface="华文楷体" panose="02010600040101010101" pitchFamily="2" charset="-122"/>
                          <a:ea typeface="华文楷体" panose="02010600040101010101" pitchFamily="2" charset="-122"/>
                        </a:rPr>
                        <a:t>LIKE</a:t>
                      </a:r>
                      <a:r>
                        <a:rPr lang="en-US" altLang="x-none" sz="2200" b="0" dirty="0">
                          <a:latin typeface="华文楷体" panose="02010600040101010101" pitchFamily="2" charset="-122"/>
                          <a:ea typeface="华文楷体" panose="02010600040101010101" pitchFamily="2" charset="-122"/>
                        </a:rPr>
                        <a:t> ‘D[0-9][0-9]’</a:t>
                      </a:r>
                      <a:endParaRPr lang="en-US" altLang="x-none" sz="2200" b="0" dirty="0">
                        <a:latin typeface="华文楷体" panose="02010600040101010101" pitchFamily="2" charset="-122"/>
                        <a:ea typeface="华文楷体" panose="02010600040101010101" pitchFamily="2" charset="-122"/>
                      </a:endParaRPr>
                    </a:p>
                  </a:txBody>
                  <a:tcPr marL="90000" marR="90000" marT="46800" marB="46800"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DFAEC">
                        <a:alpha val="100000"/>
                      </a:srgbClr>
                    </a:solid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200" b="0">
                          <a:solidFill>
                            <a:srgbClr val="CC0000"/>
                          </a:solidFill>
                          <a:latin typeface="华文楷体" panose="02010600040101010101" pitchFamily="2" charset="-122"/>
                          <a:ea typeface="华文楷体" panose="02010600040101010101" pitchFamily="2" charset="-122"/>
                        </a:rPr>
                        <a:t>字符串</a:t>
                      </a:r>
                      <a:r>
                        <a:rPr lang="zh-CN" altLang="en-US" sz="2200" b="0">
                          <a:latin typeface="华文楷体" panose="02010600040101010101" pitchFamily="2" charset="-122"/>
                          <a:ea typeface="华文楷体" panose="02010600040101010101" pitchFamily="2" charset="-122"/>
                        </a:rPr>
                        <a:t>与给定模式是否相同</a:t>
                      </a:r>
                      <a:endParaRPr lang="zh-CN" altLang="en-US" sz="2200" b="0">
                        <a:latin typeface="华文楷体" panose="02010600040101010101" pitchFamily="2" charset="-122"/>
                        <a:ea typeface="华文楷体" panose="02010600040101010101" pitchFamily="2" charset="-122"/>
                      </a:endParaRPr>
                    </a:p>
                  </a:txBody>
                  <a:tcPr marL="90000" marR="90000" marT="46800" marB="46800" vert="horz" anchor="t">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DFAEC">
                        <a:alpha val="100000"/>
                      </a:srgbClr>
                    </a:solidFill>
                  </a:tcPr>
                </a:tc>
              </a:tr>
              <a:tr h="765175">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200" b="0">
                          <a:latin typeface="华文楷体" panose="02010600040101010101" pitchFamily="2" charset="-122"/>
                          <a:ea typeface="华文楷体" panose="02010600040101010101" pitchFamily="2" charset="-122"/>
                        </a:rPr>
                        <a:t>之内的判断</a:t>
                      </a:r>
                      <a:endParaRPr lang="zh-CN" altLang="en-US" sz="2200" b="0">
                        <a:latin typeface="华文楷体" panose="02010600040101010101" pitchFamily="2" charset="-122"/>
                        <a:ea typeface="华文楷体" panose="02010600040101010101" pitchFamily="2" charset="-122"/>
                      </a:endParaRPr>
                    </a:p>
                  </a:txBody>
                  <a:tcPr marL="90000" marR="90000" marT="46800" marB="46800" vert="horz" anchor="t">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DFAEC">
                        <a:alpha val="100000"/>
                      </a:srgbClr>
                    </a:solid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en-US" altLang="x-none" sz="2200" b="0" dirty="0">
                          <a:latin typeface="华文楷体" panose="02010600040101010101" pitchFamily="2" charset="-122"/>
                          <a:ea typeface="华文楷体" panose="02010600040101010101" pitchFamily="2" charset="-122"/>
                        </a:rPr>
                        <a:t>Where Sid </a:t>
                      </a:r>
                      <a:r>
                        <a:rPr lang="en-US" altLang="x-none" sz="2200" b="0" dirty="0">
                          <a:solidFill>
                            <a:srgbClr val="CC0000"/>
                          </a:solidFill>
                          <a:latin typeface="华文楷体" panose="02010600040101010101" pitchFamily="2" charset="-122"/>
                          <a:ea typeface="华文楷体" panose="02010600040101010101" pitchFamily="2" charset="-122"/>
                        </a:rPr>
                        <a:t>IN</a:t>
                      </a:r>
                      <a:r>
                        <a:rPr lang="en-US" altLang="x-none" sz="2200" b="0" dirty="0">
                          <a:latin typeface="华文楷体" panose="02010600040101010101" pitchFamily="2" charset="-122"/>
                          <a:ea typeface="华文楷体" panose="02010600040101010101" pitchFamily="2" charset="-122"/>
                        </a:rPr>
                        <a:t> (select-from-where</a:t>
                      </a:r>
                      <a:r>
                        <a:rPr lang="zh-CN" altLang="en-US" sz="2200" b="0" dirty="0">
                          <a:latin typeface="华文楷体" panose="02010600040101010101" pitchFamily="2" charset="-122"/>
                          <a:ea typeface="华文楷体" panose="02010600040101010101" pitchFamily="2" charset="-122"/>
                        </a:rPr>
                        <a:t>子句</a:t>
                      </a:r>
                      <a:r>
                        <a:rPr lang="en-US" altLang="x-none" sz="2200" b="0" dirty="0">
                          <a:latin typeface="华文楷体" panose="02010600040101010101" pitchFamily="2" charset="-122"/>
                          <a:ea typeface="华文楷体" panose="02010600040101010101" pitchFamily="2" charset="-122"/>
                        </a:rPr>
                        <a:t>/</a:t>
                      </a:r>
                      <a:r>
                        <a:rPr lang="zh-CN" altLang="en-US" sz="2200" b="0" dirty="0">
                          <a:latin typeface="华文楷体" panose="02010600040101010101" pitchFamily="2" charset="-122"/>
                          <a:ea typeface="华文楷体" panose="02010600040101010101" pitchFamily="2" charset="-122"/>
                        </a:rPr>
                        <a:t>集合）</a:t>
                      </a:r>
                      <a:endParaRPr lang="zh-CN" altLang="en-US" sz="2200" b="0" dirty="0">
                        <a:latin typeface="华文楷体" panose="02010600040101010101" pitchFamily="2" charset="-122"/>
                        <a:ea typeface="华文楷体" panose="02010600040101010101" pitchFamily="2" charset="-122"/>
                      </a:endParaRPr>
                    </a:p>
                  </a:txBody>
                  <a:tcPr marL="90000" marR="90000" marT="46800" marB="46800"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DFAEC">
                        <a:alpha val="100000"/>
                      </a:srgbClr>
                    </a:solid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200" b="0">
                          <a:latin typeface="华文楷体" panose="02010600040101010101" pitchFamily="2" charset="-122"/>
                          <a:ea typeface="华文楷体" panose="02010600040101010101" pitchFamily="2" charset="-122"/>
                        </a:rPr>
                        <a:t>某元组值是否在某子句（集合）内</a:t>
                      </a:r>
                      <a:endParaRPr lang="zh-CN" altLang="en-US" sz="2200" b="0">
                        <a:latin typeface="华文楷体" panose="02010600040101010101" pitchFamily="2" charset="-122"/>
                        <a:ea typeface="华文楷体" panose="02010600040101010101" pitchFamily="2" charset="-122"/>
                      </a:endParaRPr>
                    </a:p>
                  </a:txBody>
                  <a:tcPr marL="90000" marR="90000" marT="46800" marB="46800" vert="horz" anchor="t">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DFAEC">
                        <a:alpha val="100000"/>
                      </a:srgbClr>
                    </a:solidFill>
                  </a:tcPr>
                </a:tc>
              </a:tr>
              <a:tr h="765175">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200" b="0">
                          <a:latin typeface="华文楷体" panose="02010600040101010101" pitchFamily="2" charset="-122"/>
                          <a:ea typeface="华文楷体" panose="02010600040101010101" pitchFamily="2" charset="-122"/>
                        </a:rPr>
                        <a:t>限定比较判断</a:t>
                      </a:r>
                      <a:endParaRPr lang="zh-CN" altLang="en-US" sz="2200" b="0">
                        <a:latin typeface="华文楷体" panose="02010600040101010101" pitchFamily="2" charset="-122"/>
                        <a:ea typeface="华文楷体" panose="02010600040101010101" pitchFamily="2" charset="-122"/>
                      </a:endParaRPr>
                    </a:p>
                  </a:txBody>
                  <a:tcPr marL="90000" marR="90000" marT="46800" marB="46800" vert="horz" anchor="t">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DFAEC">
                        <a:alpha val="100000"/>
                      </a:srgbClr>
                    </a:solid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en-US" altLang="x-none" sz="2200" b="0" dirty="0">
                          <a:latin typeface="华文楷体" panose="02010600040101010101" pitchFamily="2" charset="-122"/>
                          <a:ea typeface="华文楷体" panose="02010600040101010101" pitchFamily="2" charset="-122"/>
                        </a:rPr>
                        <a:t>Where SC.Score &gt;</a:t>
                      </a:r>
                      <a:r>
                        <a:rPr lang="zh-CN" altLang="en-US" sz="2200" b="0" dirty="0">
                          <a:latin typeface="华文楷体" panose="02010600040101010101" pitchFamily="2" charset="-122"/>
                          <a:ea typeface="华文楷体" panose="02010600040101010101" pitchFamily="2" charset="-122"/>
                        </a:rPr>
                        <a:t>=</a:t>
                      </a:r>
                      <a:r>
                        <a:rPr lang="en-US" altLang="x-none" sz="2200" b="0" dirty="0">
                          <a:latin typeface="华文楷体" panose="02010600040101010101" pitchFamily="2" charset="-122"/>
                          <a:ea typeface="华文楷体" panose="02010600040101010101" pitchFamily="2" charset="-122"/>
                        </a:rPr>
                        <a:t> </a:t>
                      </a:r>
                      <a:r>
                        <a:rPr lang="en-US" altLang="x-none" sz="2200" b="0" dirty="0">
                          <a:solidFill>
                            <a:srgbClr val="CC0000"/>
                          </a:solidFill>
                          <a:latin typeface="华文楷体" panose="02010600040101010101" pitchFamily="2" charset="-122"/>
                          <a:ea typeface="华文楷体" panose="02010600040101010101" pitchFamily="2" charset="-122"/>
                        </a:rPr>
                        <a:t>all/any/some </a:t>
                      </a:r>
                      <a:r>
                        <a:rPr lang="en-US" altLang="x-none" sz="2200" b="0" dirty="0">
                          <a:latin typeface="华文楷体" panose="02010600040101010101" pitchFamily="2" charset="-122"/>
                          <a:ea typeface="华文楷体" panose="02010600040101010101" pitchFamily="2" charset="-122"/>
                        </a:rPr>
                        <a:t>(select-from-where</a:t>
                      </a:r>
                      <a:r>
                        <a:rPr lang="zh-CN" altLang="en-US" sz="2200" b="0" dirty="0">
                          <a:latin typeface="华文楷体" panose="02010600040101010101" pitchFamily="2" charset="-122"/>
                          <a:ea typeface="华文楷体" panose="02010600040101010101" pitchFamily="2" charset="-122"/>
                        </a:rPr>
                        <a:t>子句） </a:t>
                      </a:r>
                      <a:endParaRPr lang="zh-CN" altLang="en-US" sz="2200" b="0" dirty="0">
                        <a:latin typeface="华文楷体" panose="02010600040101010101" pitchFamily="2" charset="-122"/>
                        <a:ea typeface="华文楷体" panose="02010600040101010101" pitchFamily="2" charset="-122"/>
                      </a:endParaRPr>
                    </a:p>
                  </a:txBody>
                  <a:tcPr marL="0" marR="0" marT="46800" marB="46800"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DFAEC">
                        <a:alpha val="100000"/>
                      </a:srgbClr>
                    </a:solid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200" b="0" dirty="0">
                          <a:latin typeface="华文楷体" panose="02010600040101010101" pitchFamily="2" charset="-122"/>
                          <a:ea typeface="华文楷体" panose="02010600040101010101" pitchFamily="2" charset="-122"/>
                        </a:rPr>
                        <a:t>与子句（集合）的所有</a:t>
                      </a:r>
                      <a:r>
                        <a:rPr lang="en-US" altLang="x-none" sz="2200" b="0" dirty="0">
                          <a:latin typeface="华文楷体" panose="02010600040101010101" pitchFamily="2" charset="-122"/>
                          <a:ea typeface="华文楷体" panose="02010600040101010101" pitchFamily="2" charset="-122"/>
                        </a:rPr>
                        <a:t>/</a:t>
                      </a:r>
                      <a:r>
                        <a:rPr lang="zh-CN" altLang="en-US" sz="2200" b="0" dirty="0">
                          <a:latin typeface="华文楷体" panose="02010600040101010101" pitchFamily="2" charset="-122"/>
                          <a:ea typeface="华文楷体" panose="02010600040101010101" pitchFamily="2" charset="-122"/>
                        </a:rPr>
                        <a:t>任何</a:t>
                      </a:r>
                      <a:r>
                        <a:rPr lang="en-US" altLang="x-none" sz="2200" b="0" dirty="0">
                          <a:latin typeface="华文楷体" panose="02010600040101010101" pitchFamily="2" charset="-122"/>
                          <a:ea typeface="华文楷体" panose="02010600040101010101" pitchFamily="2" charset="-122"/>
                        </a:rPr>
                        <a:t>/</a:t>
                      </a:r>
                      <a:r>
                        <a:rPr lang="zh-CN" altLang="en-US" sz="2200" b="0" dirty="0">
                          <a:latin typeface="华文楷体" panose="02010600040101010101" pitchFamily="2" charset="-122"/>
                          <a:ea typeface="华文楷体" panose="02010600040101010101" pitchFamily="2" charset="-122"/>
                        </a:rPr>
                        <a:t>某些结果比较</a:t>
                      </a:r>
                      <a:endParaRPr lang="zh-CN" altLang="en-US" sz="2200" b="0" dirty="0">
                        <a:latin typeface="华文楷体" panose="02010600040101010101" pitchFamily="2" charset="-122"/>
                        <a:ea typeface="华文楷体" panose="02010600040101010101" pitchFamily="2" charset="-122"/>
                      </a:endParaRPr>
                    </a:p>
                  </a:txBody>
                  <a:tcPr marL="36000" marR="36000" marT="46800" marB="46800" vert="horz" anchor="t">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DFAEC">
                        <a:alpha val="100000"/>
                      </a:srgbClr>
                    </a:solidFill>
                  </a:tcPr>
                </a:tc>
              </a:tr>
              <a:tr h="765175">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200" b="0">
                          <a:latin typeface="华文楷体" panose="02010600040101010101" pitchFamily="2" charset="-122"/>
                          <a:ea typeface="华文楷体" panose="02010600040101010101" pitchFamily="2" charset="-122"/>
                        </a:rPr>
                        <a:t>存在判断</a:t>
                      </a:r>
                      <a:endParaRPr lang="zh-CN" altLang="en-US" sz="2200" b="0">
                        <a:latin typeface="华文楷体" panose="02010600040101010101" pitchFamily="2" charset="-122"/>
                        <a:ea typeface="华文楷体" panose="02010600040101010101" pitchFamily="2" charset="-122"/>
                      </a:endParaRPr>
                    </a:p>
                  </a:txBody>
                  <a:tcPr marL="90000" marR="90000" marT="46800" marB="46800" vert="horz" anchor="t">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EDFAEC">
                        <a:alpha val="100000"/>
                      </a:srgbClr>
                    </a:solid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en-US" altLang="x-none" sz="2200" b="0" dirty="0">
                          <a:latin typeface="华文楷体" panose="02010600040101010101" pitchFamily="2" charset="-122"/>
                          <a:ea typeface="华文楷体" panose="02010600040101010101" pitchFamily="2" charset="-122"/>
                        </a:rPr>
                        <a:t>Where [NOT]</a:t>
                      </a:r>
                      <a:r>
                        <a:rPr lang="en-US" altLang="x-none" sz="2200" b="0" dirty="0">
                          <a:solidFill>
                            <a:srgbClr val="CC0000"/>
                          </a:solidFill>
                          <a:latin typeface="华文楷体" panose="02010600040101010101" pitchFamily="2" charset="-122"/>
                          <a:ea typeface="华文楷体" panose="02010600040101010101" pitchFamily="2" charset="-122"/>
                        </a:rPr>
                        <a:t>EXISTS</a:t>
                      </a:r>
                      <a:r>
                        <a:rPr lang="en-US" altLang="x-none" sz="2200" b="0" dirty="0">
                          <a:latin typeface="华文楷体" panose="02010600040101010101" pitchFamily="2" charset="-122"/>
                          <a:ea typeface="华文楷体" panose="02010600040101010101" pitchFamily="2" charset="-122"/>
                        </a:rPr>
                        <a:t>(select-from-where</a:t>
                      </a:r>
                      <a:r>
                        <a:rPr lang="zh-CN" altLang="en-US" sz="2200" b="0" dirty="0">
                          <a:latin typeface="华文楷体" panose="02010600040101010101" pitchFamily="2" charset="-122"/>
                          <a:ea typeface="华文楷体" panose="02010600040101010101" pitchFamily="2" charset="-122"/>
                        </a:rPr>
                        <a:t>子句） </a:t>
                      </a:r>
                      <a:endParaRPr lang="zh-CN" altLang="en-US" sz="2200" b="0" dirty="0">
                        <a:latin typeface="华文楷体" panose="02010600040101010101" pitchFamily="2" charset="-122"/>
                        <a:ea typeface="华文楷体" panose="02010600040101010101" pitchFamily="2" charset="-122"/>
                      </a:endParaRPr>
                    </a:p>
                  </a:txBody>
                  <a:tcPr marL="90000" marR="90000" marT="46800" marB="46800"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EDFAEC">
                        <a:alpha val="100000"/>
                      </a:srgbClr>
                    </a:solid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200" b="0">
                          <a:latin typeface="华文楷体" panose="02010600040101010101" pitchFamily="2" charset="-122"/>
                          <a:ea typeface="华文楷体" panose="02010600040101010101" pitchFamily="2" charset="-122"/>
                        </a:rPr>
                        <a:t>子句（集合）是否至少存在一个元组　</a:t>
                      </a:r>
                      <a:endParaRPr lang="zh-CN" altLang="en-US" sz="2200" b="0">
                        <a:latin typeface="华文楷体" panose="02010600040101010101" pitchFamily="2" charset="-122"/>
                        <a:ea typeface="华文楷体" panose="02010600040101010101" pitchFamily="2" charset="-122"/>
                      </a:endParaRPr>
                    </a:p>
                  </a:txBody>
                  <a:tcPr marL="90000" marR="90000" marT="46800" marB="46800" vert="horz" anchor="t">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EEFDE7">
                        <a:alpha val="100000"/>
                      </a:srgbClr>
                    </a:solidFill>
                  </a:tcPr>
                </a:tc>
              </a:tr>
            </a:tbl>
          </a:graphicData>
        </a:graphic>
      </p:graphicFrame>
      <p:sp>
        <p:nvSpPr>
          <p:cNvPr id="86049" name="Rectangle 2"/>
          <p:cNvSpPr txBox="1"/>
          <p:nvPr/>
        </p:nvSpPr>
        <p:spPr>
          <a:xfrm>
            <a:off x="4645025" y="973138"/>
            <a:ext cx="4252913" cy="533400"/>
          </a:xfrm>
          <a:prstGeom prst="rect">
            <a:avLst/>
          </a:prstGeom>
          <a:noFill/>
          <a:ln w="9525">
            <a:noFill/>
          </a:ln>
        </p:spPr>
        <p:txBody>
          <a:bodyPr anchor="t" anchorCtr="0"/>
          <a:p>
            <a:r>
              <a:rPr lang="zh-CN" altLang="en-US" sz="2800" dirty="0">
                <a:solidFill>
                  <a:srgbClr val="FF0000"/>
                </a:solidFill>
                <a:latin typeface="Arial" panose="020B0604020202020204" pitchFamily="34" charset="0"/>
                <a:ea typeface="黑体" panose="02010609060101010101" pitchFamily="1" charset="-122"/>
              </a:rPr>
              <a:t>条件表达式中的比较操作</a:t>
            </a:r>
            <a:endParaRPr lang="zh-CN" altLang="en-US" sz="28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1"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三、数据库操纵子语言及其操作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87042" name="Rectangle 3"/>
          <p:cNvSpPr txBox="1"/>
          <p:nvPr/>
        </p:nvSpPr>
        <p:spPr>
          <a:xfrm>
            <a:off x="555625" y="1524000"/>
            <a:ext cx="8353425" cy="4965700"/>
          </a:xfrm>
          <a:prstGeom prst="rect">
            <a:avLst/>
          </a:prstGeom>
          <a:noFill/>
          <a:ln w="9525">
            <a:noFill/>
          </a:ln>
        </p:spPr>
        <p:txBody>
          <a:bodyPr anchor="t" anchorCtr="0"/>
          <a:p>
            <a:pPr marL="342900" indent="-342900">
              <a:spcBef>
                <a:spcPct val="20000"/>
              </a:spcBef>
              <a:buClr>
                <a:srgbClr val="0033CC"/>
              </a:buClr>
              <a:buSzPct val="100000"/>
              <a:buFont typeface="Wingdings" panose="05000000000000000000" pitchFamily="2" charset="2"/>
              <a:buChar char="Ø"/>
            </a:pPr>
            <a:r>
              <a:rPr lang="en-US" altLang="zh-CN" sz="2400" dirty="0">
                <a:latin typeface="华文楷体" panose="02010600040101010101" pitchFamily="2" charset="-122"/>
                <a:ea typeface="宋体" panose="02010600030101010101" pitchFamily="2" charset="-122"/>
              </a:rPr>
              <a:t>LIKE</a:t>
            </a:r>
            <a:r>
              <a:rPr lang="zh-CN" altLang="en-US" sz="2400" dirty="0">
                <a:latin typeface="华文楷体" panose="02010600040101010101" pitchFamily="2" charset="-122"/>
                <a:ea typeface="宋体" panose="02010600030101010101" pitchFamily="2" charset="-122"/>
              </a:rPr>
              <a:t>之后的表达式（模式）中使用</a:t>
            </a:r>
            <a:endParaRPr lang="zh-CN" altLang="en-US" sz="2400" dirty="0">
              <a:latin typeface="华文楷体" panose="02010600040101010101" pitchFamily="2" charset="-122"/>
              <a:ea typeface="宋体" panose="02010600030101010101" pitchFamily="2" charset="-122"/>
            </a:endParaRPr>
          </a:p>
          <a:p>
            <a:pPr marL="742950" lvl="1" indent="-285750" eaLnBrk="1" hangingPunct="1">
              <a:spcBef>
                <a:spcPct val="20000"/>
              </a:spcBef>
              <a:buClr>
                <a:schemeClr val="accent2"/>
              </a:buClr>
              <a:buSzPct val="70000"/>
            </a:pPr>
            <a:r>
              <a:rPr lang="en-US" altLang="zh-CN" sz="2400" b="0" dirty="0">
                <a:latin typeface="楷体" panose="02010609060101010101" pitchFamily="1" charset="-122"/>
                <a:ea typeface="楷体" panose="02010609060101010101" pitchFamily="1" charset="-122"/>
              </a:rPr>
              <a:t>--</a:t>
            </a:r>
            <a:r>
              <a:rPr lang="zh-CN" altLang="en-US" sz="2400" b="0" dirty="0">
                <a:latin typeface="楷体" panose="02010609060101010101" pitchFamily="1" charset="-122"/>
                <a:ea typeface="楷体" panose="02010609060101010101" pitchFamily="1" charset="-122"/>
              </a:rPr>
              <a:t>％（匹配任意一串字符</a:t>
            </a:r>
            <a:r>
              <a:rPr lang="en-US" altLang="zh-CN" sz="2400" b="0" dirty="0">
                <a:latin typeface="楷体" panose="02010609060101010101" pitchFamily="1" charset="-122"/>
                <a:ea typeface="楷体" panose="02010609060101010101" pitchFamily="1" charset="-122"/>
              </a:rPr>
              <a:t>)</a:t>
            </a:r>
            <a:endParaRPr lang="en-US" altLang="zh-CN" sz="2400" b="0" dirty="0">
              <a:latin typeface="楷体" panose="02010609060101010101" pitchFamily="1" charset="-122"/>
              <a:ea typeface="楷体" panose="02010609060101010101" pitchFamily="1" charset="-122"/>
            </a:endParaRPr>
          </a:p>
          <a:p>
            <a:pPr marL="742950" lvl="1" indent="-285750" eaLnBrk="1" hangingPunct="1">
              <a:spcBef>
                <a:spcPct val="20000"/>
              </a:spcBef>
              <a:buClr>
                <a:schemeClr val="accent2"/>
              </a:buClr>
              <a:buSzPct val="70000"/>
            </a:pPr>
            <a:r>
              <a:rPr lang="en-US" altLang="zh-CN" sz="2400" b="0" dirty="0">
                <a:latin typeface="楷体" panose="02010609060101010101" pitchFamily="1" charset="-122"/>
                <a:ea typeface="楷体" panose="02010609060101010101" pitchFamily="1" charset="-122"/>
              </a:rPr>
              <a:t>--_</a:t>
            </a:r>
            <a:r>
              <a:rPr lang="zh-CN" altLang="en-US" sz="2400" b="0" dirty="0">
                <a:latin typeface="楷体" panose="02010609060101010101" pitchFamily="1" charset="-122"/>
                <a:ea typeface="楷体" panose="02010609060101010101" pitchFamily="1" charset="-122"/>
              </a:rPr>
              <a:t>（匹配任意一个字符）</a:t>
            </a:r>
            <a:endParaRPr lang="zh-CN" altLang="en-US" sz="2400" b="0" dirty="0">
              <a:latin typeface="楷体" panose="02010609060101010101" pitchFamily="1" charset="-122"/>
              <a:ea typeface="楷体" panose="02010609060101010101" pitchFamily="1" charset="-122"/>
            </a:endParaRPr>
          </a:p>
          <a:p>
            <a:pPr marL="742950" lvl="1" indent="-285750" eaLnBrk="1" hangingPunct="1">
              <a:spcBef>
                <a:spcPct val="20000"/>
              </a:spcBef>
              <a:buClr>
                <a:schemeClr val="accent2"/>
              </a:buClr>
              <a:buSzPct val="70000"/>
            </a:pPr>
            <a:r>
              <a:rPr lang="en-US" altLang="zh-CN" sz="2400" b="0" dirty="0">
                <a:latin typeface="楷体" panose="02010609060101010101" pitchFamily="1" charset="-122"/>
                <a:ea typeface="楷体" panose="02010609060101010101" pitchFamily="1" charset="-122"/>
              </a:rPr>
              <a:t>--[ ]</a:t>
            </a:r>
            <a:r>
              <a:rPr lang="zh-CN" altLang="en-US" sz="2400" b="0" dirty="0">
                <a:latin typeface="楷体" panose="02010609060101010101" pitchFamily="1" charset="-122"/>
                <a:ea typeface="楷体" panose="02010609060101010101" pitchFamily="1" charset="-122"/>
              </a:rPr>
              <a:t>（取其中任意单个字符）</a:t>
            </a:r>
            <a:endParaRPr lang="zh-CN" altLang="en-US" sz="2400" b="0" dirty="0">
              <a:latin typeface="楷体" panose="02010609060101010101" pitchFamily="1" charset="-122"/>
              <a:ea typeface="楷体" panose="02010609060101010101" pitchFamily="1" charset="-122"/>
            </a:endParaRPr>
          </a:p>
          <a:p>
            <a:pPr marL="742950" lvl="1" indent="-285750" eaLnBrk="1" hangingPunct="1">
              <a:spcBef>
                <a:spcPct val="20000"/>
              </a:spcBef>
              <a:buClr>
                <a:schemeClr val="accent2"/>
              </a:buClr>
              <a:buSzPct val="70000"/>
            </a:pPr>
            <a:r>
              <a:rPr lang="en-US" altLang="zh-CN" sz="2400" b="0" dirty="0">
                <a:latin typeface="楷体" panose="02010609060101010101" pitchFamily="1" charset="-122"/>
                <a:ea typeface="楷体" panose="02010609060101010101" pitchFamily="1" charset="-122"/>
              </a:rPr>
              <a:t>--^</a:t>
            </a:r>
            <a:r>
              <a:rPr lang="zh-CN" altLang="en-US" sz="2400" b="0" dirty="0">
                <a:latin typeface="楷体" panose="02010609060101010101" pitchFamily="1" charset="-122"/>
                <a:ea typeface="楷体" panose="02010609060101010101" pitchFamily="1" charset="-122"/>
              </a:rPr>
              <a:t>（非）</a:t>
            </a:r>
            <a:endParaRPr lang="zh-CN" altLang="en-US" sz="2400" b="0" dirty="0">
              <a:latin typeface="楷体" panose="02010609060101010101" pitchFamily="1" charset="-122"/>
              <a:ea typeface="楷体" panose="02010609060101010101" pitchFamily="1" charset="-122"/>
            </a:endParaRPr>
          </a:p>
          <a:p>
            <a:pPr marL="342900" indent="-342900">
              <a:lnSpc>
                <a:spcPct val="125000"/>
              </a:lnSpc>
              <a:spcBef>
                <a:spcPts val="300"/>
              </a:spcBef>
              <a:buClr>
                <a:srgbClr val="0033CC"/>
              </a:buClr>
              <a:buSzPct val="100000"/>
              <a:buFont typeface="Wingdings" panose="05000000000000000000" pitchFamily="2" charset="2"/>
              <a:buChar char="Ø"/>
            </a:pPr>
            <a:r>
              <a:rPr lang="zh-CN" altLang="en-US" sz="2400" dirty="0">
                <a:latin typeface="华文楷体" panose="02010600040101010101" pitchFamily="2" charset="-122"/>
                <a:ea typeface="宋体" panose="02010600030101010101" pitchFamily="2" charset="-122"/>
              </a:rPr>
              <a:t>如希望％、</a:t>
            </a:r>
            <a:r>
              <a:rPr lang="en-US" altLang="zh-CN" sz="2400" dirty="0">
                <a:latin typeface="华文楷体" panose="02010600040101010101" pitchFamily="2" charset="-122"/>
                <a:ea typeface="宋体" panose="02010600030101010101" pitchFamily="2" charset="-122"/>
              </a:rPr>
              <a:t>_</a:t>
            </a:r>
            <a:r>
              <a:rPr lang="zh-CN" altLang="en-US" sz="2400" dirty="0">
                <a:latin typeface="华文楷体" panose="02010600040101010101" pitchFamily="2" charset="-122"/>
                <a:ea typeface="宋体" panose="02010600030101010101" pitchFamily="2" charset="-122"/>
              </a:rPr>
              <a:t>以常规字符出现，则应用</a:t>
            </a:r>
            <a:r>
              <a:rPr lang="en-US" altLang="zh-CN" sz="2400" dirty="0">
                <a:latin typeface="华文楷体" panose="02010600040101010101" pitchFamily="2" charset="-122"/>
                <a:ea typeface="宋体" panose="02010600030101010101" pitchFamily="2" charset="-122"/>
              </a:rPr>
              <a:t>[ ]</a:t>
            </a:r>
            <a:r>
              <a:rPr lang="zh-CN" altLang="en-US" sz="2400" dirty="0">
                <a:latin typeface="华文楷体" panose="02010600040101010101" pitchFamily="2" charset="-122"/>
                <a:ea typeface="宋体" panose="02010600030101010101" pitchFamily="2" charset="-122"/>
              </a:rPr>
              <a:t>将其括起或用转义符“</a:t>
            </a:r>
            <a:r>
              <a:rPr lang="en-US" altLang="zh-CN" sz="2400" dirty="0">
                <a:latin typeface="华文楷体" panose="02010600040101010101" pitchFamily="2" charset="-122"/>
                <a:ea typeface="宋体" panose="02010600030101010101" pitchFamily="2" charset="-122"/>
              </a:rPr>
              <a:t>$”</a:t>
            </a:r>
            <a:r>
              <a:rPr lang="zh-CN" altLang="en-US" sz="2400" dirty="0">
                <a:latin typeface="华文楷体" panose="02010600040101010101" pitchFamily="2" charset="-122"/>
                <a:ea typeface="宋体" panose="02010600030101010101" pitchFamily="2" charset="-122"/>
              </a:rPr>
              <a:t>，如：</a:t>
            </a:r>
            <a:r>
              <a:rPr lang="en-US" altLang="zh-CN" sz="2400" dirty="0">
                <a:latin typeface="华文楷体" panose="02010600040101010101" pitchFamily="2" charset="-122"/>
                <a:ea typeface="宋体" panose="02010600030101010101" pitchFamily="2" charset="-122"/>
              </a:rPr>
              <a:t>like ‘70$%’ </a:t>
            </a:r>
            <a:r>
              <a:rPr lang="zh-CN" altLang="en-US" sz="2400" dirty="0">
                <a:latin typeface="华文楷体" panose="02010600040101010101" pitchFamily="2" charset="-122"/>
                <a:ea typeface="宋体" panose="02010600030101010101" pitchFamily="2" charset="-122"/>
              </a:rPr>
              <a:t>或 </a:t>
            </a:r>
            <a:r>
              <a:rPr lang="en-US" altLang="zh-CN" sz="2400" dirty="0">
                <a:latin typeface="华文楷体" panose="02010600040101010101" pitchFamily="2" charset="-122"/>
                <a:ea typeface="宋体" panose="02010600030101010101" pitchFamily="2" charset="-122"/>
              </a:rPr>
              <a:t>like ‘70[%]’=</a:t>
            </a:r>
            <a:r>
              <a:rPr lang="en-US" altLang="zh-CN" sz="2400" dirty="0">
                <a:latin typeface="华文楷体" panose="02010600040101010101" pitchFamily="2" charset="-122"/>
                <a:ea typeface="宋体" panose="02010600030101010101" pitchFamily="2" charset="-122"/>
                <a:sym typeface="Wingdings" panose="05000000000000000000" pitchFamily="2" charset="2"/>
              </a:rPr>
              <a:t>&gt; 70%</a:t>
            </a:r>
            <a:endParaRPr lang="en-US" altLang="zh-CN" sz="2400" dirty="0">
              <a:latin typeface="华文楷体" panose="02010600040101010101" pitchFamily="2" charset="-122"/>
              <a:ea typeface="宋体" panose="02010600030101010101" pitchFamily="2" charset="-122"/>
              <a:sym typeface="Wingdings" panose="05000000000000000000" pitchFamily="2" charset="2"/>
            </a:endParaRPr>
          </a:p>
          <a:p>
            <a:pPr marL="342900" indent="-342900">
              <a:lnSpc>
                <a:spcPct val="125000"/>
              </a:lnSpc>
              <a:spcBef>
                <a:spcPts val="300"/>
              </a:spcBef>
              <a:buClr>
                <a:srgbClr val="0033CC"/>
              </a:buClr>
              <a:buSzPct val="100000"/>
              <a:buFont typeface="Wingdings" panose="05000000000000000000" pitchFamily="2" charset="2"/>
              <a:buChar char="Ø"/>
            </a:pPr>
            <a:r>
              <a:rPr lang="en-US" altLang="zh-CN" sz="2400" dirty="0">
                <a:latin typeface="华文楷体" panose="02010600040101010101" pitchFamily="2" charset="-122"/>
                <a:ea typeface="宋体" panose="02010600030101010101" pitchFamily="2" charset="-122"/>
              </a:rPr>
              <a:t>^</a:t>
            </a:r>
            <a:r>
              <a:rPr lang="zh-CN" altLang="en-US" sz="2400" dirty="0">
                <a:latin typeface="华文楷体" panose="02010600040101010101" pitchFamily="2" charset="-122"/>
                <a:ea typeface="宋体" panose="02010600030101010101" pitchFamily="2" charset="-122"/>
              </a:rPr>
              <a:t>应与</a:t>
            </a:r>
            <a:r>
              <a:rPr lang="en-US" altLang="zh-CN" sz="2400" dirty="0">
                <a:latin typeface="华文楷体" panose="02010600040101010101" pitchFamily="2" charset="-122"/>
                <a:ea typeface="宋体" panose="02010600030101010101" pitchFamily="2" charset="-122"/>
              </a:rPr>
              <a:t>[ ]</a:t>
            </a:r>
            <a:r>
              <a:rPr lang="zh-CN" altLang="en-US" sz="2400" dirty="0">
                <a:latin typeface="华文楷体" panose="02010600040101010101" pitchFamily="2" charset="-122"/>
                <a:ea typeface="宋体" panose="02010600030101010101" pitchFamily="2" charset="-122"/>
              </a:rPr>
              <a:t>联用，如：</a:t>
            </a:r>
            <a:r>
              <a:rPr lang="en-US" altLang="zh-CN" sz="2400" dirty="0">
                <a:latin typeface="华文楷体" panose="02010600040101010101" pitchFamily="2" charset="-122"/>
                <a:ea typeface="宋体" panose="02010600030101010101" pitchFamily="2" charset="-122"/>
              </a:rPr>
              <a:t>[^a-f]</a:t>
            </a:r>
            <a:r>
              <a:rPr lang="zh-CN" altLang="en-US" sz="2400" dirty="0">
                <a:latin typeface="华文楷体" panose="02010600040101010101" pitchFamily="2" charset="-122"/>
                <a:ea typeface="宋体" panose="02010600030101010101" pitchFamily="2" charset="-122"/>
              </a:rPr>
              <a:t>或</a:t>
            </a:r>
            <a:r>
              <a:rPr lang="en-US" altLang="zh-CN" sz="2400" dirty="0">
                <a:latin typeface="华文楷体" panose="02010600040101010101" pitchFamily="2" charset="-122"/>
                <a:ea typeface="宋体" panose="02010600030101010101" pitchFamily="2" charset="-122"/>
              </a:rPr>
              <a:t>[^abcdef]</a:t>
            </a:r>
            <a:r>
              <a:rPr lang="zh-CN" altLang="en-US" sz="2400" dirty="0">
                <a:latin typeface="华文楷体" panose="02010600040101010101" pitchFamily="2" charset="-122"/>
                <a:ea typeface="宋体" panose="02010600030101010101" pitchFamily="2" charset="-122"/>
              </a:rPr>
              <a:t>表示</a:t>
            </a:r>
            <a:r>
              <a:rPr lang="en-US" altLang="zh-CN" sz="2400" dirty="0">
                <a:latin typeface="华文楷体" panose="02010600040101010101" pitchFamily="2" charset="-122"/>
                <a:ea typeface="宋体" panose="02010600030101010101" pitchFamily="2" charset="-122"/>
              </a:rPr>
              <a:t>a-f</a:t>
            </a:r>
            <a:r>
              <a:rPr lang="zh-CN" altLang="en-US" sz="2400" dirty="0">
                <a:latin typeface="华文楷体" panose="02010600040101010101" pitchFamily="2" charset="-122"/>
                <a:ea typeface="宋体" panose="02010600030101010101" pitchFamily="2" charset="-122"/>
              </a:rPr>
              <a:t>这几个字母不能出现。 </a:t>
            </a:r>
            <a:endParaRPr lang="en-US" altLang="zh-CN" sz="2400" dirty="0">
              <a:latin typeface="华文楷体" panose="02010600040101010101" pitchFamily="2" charset="-122"/>
              <a:ea typeface="宋体" panose="02010600030101010101" pitchFamily="2" charset="-122"/>
            </a:endParaRPr>
          </a:p>
        </p:txBody>
      </p:sp>
      <p:sp>
        <p:nvSpPr>
          <p:cNvPr id="87043" name="Rectangle 2"/>
          <p:cNvSpPr txBox="1"/>
          <p:nvPr/>
        </p:nvSpPr>
        <p:spPr>
          <a:xfrm>
            <a:off x="417513" y="914400"/>
            <a:ext cx="8229600" cy="706438"/>
          </a:xfrm>
          <a:prstGeom prst="rect">
            <a:avLst/>
          </a:prstGeom>
          <a:noFill/>
          <a:ln w="9525">
            <a:noFill/>
          </a:ln>
        </p:spPr>
        <p:txBody>
          <a:bodyPr anchor="t" anchorCtr="0"/>
          <a:p>
            <a:pPr>
              <a:buFont typeface="Wingdings" panose="05000000000000000000" pitchFamily="2" charset="2"/>
              <a:buChar char="p"/>
            </a:pPr>
            <a:r>
              <a:rPr lang="en-US" altLang="zh-CN" sz="2800" dirty="0">
                <a:solidFill>
                  <a:srgbClr val="3333CC"/>
                </a:solidFill>
                <a:latin typeface="Tahoma" panose="020B0604030504040204" pitchFamily="2" charset="0"/>
                <a:ea typeface="黑体" panose="02010609060101010101" pitchFamily="1" charset="-122"/>
              </a:rPr>
              <a:t> “</a:t>
            </a:r>
            <a:r>
              <a:rPr lang="en-US" altLang="zh-CN" sz="2800" dirty="0">
                <a:solidFill>
                  <a:srgbClr val="3333CC"/>
                </a:solidFill>
                <a:latin typeface="Arial" panose="020B0604020202020204" pitchFamily="34" charset="0"/>
                <a:ea typeface="黑体" panose="02010609060101010101" pitchFamily="1" charset="-122"/>
              </a:rPr>
              <a:t>LIKE</a:t>
            </a:r>
            <a:r>
              <a:rPr lang="en-US" altLang="zh-CN" sz="2800" dirty="0">
                <a:solidFill>
                  <a:srgbClr val="3333CC"/>
                </a:solidFill>
                <a:latin typeface="Tahoma" panose="020B0604030504040204" pitchFamily="2" charset="0"/>
                <a:ea typeface="黑体" panose="02010609060101010101" pitchFamily="1" charset="-122"/>
              </a:rPr>
              <a:t>”</a:t>
            </a:r>
            <a:r>
              <a:rPr lang="zh-CN" altLang="en-US" sz="2800" dirty="0">
                <a:solidFill>
                  <a:srgbClr val="3333CC"/>
                </a:solidFill>
                <a:latin typeface="Arial" panose="020B0604020202020204" pitchFamily="34" charset="0"/>
                <a:ea typeface="黑体" panose="02010609060101010101" pitchFamily="1" charset="-122"/>
              </a:rPr>
              <a:t>用于模糊匹配</a:t>
            </a:r>
            <a:endParaRPr lang="zh-CN" altLang="en-US" sz="2800" dirty="0">
              <a:solidFill>
                <a:srgbClr val="3333CC"/>
              </a:solidFill>
              <a:latin typeface="Arial" panose="020B0604020202020204" pitchFamily="34" charset="0"/>
              <a:ea typeface="黑体" panose="02010609060101010101" pitchFamily="1" charset="-122"/>
            </a:endParaRPr>
          </a:p>
        </p:txBody>
      </p:sp>
    </p:spTree>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5"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三、数据库操纵子语言及其操作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88066" name="Rectangle 3"/>
          <p:cNvSpPr txBox="1"/>
          <p:nvPr/>
        </p:nvSpPr>
        <p:spPr>
          <a:xfrm>
            <a:off x="611188" y="1455738"/>
            <a:ext cx="8137525" cy="2317750"/>
          </a:xfrm>
          <a:prstGeom prst="rect">
            <a:avLst/>
          </a:prstGeom>
          <a:noFill/>
          <a:ln w="9525">
            <a:noFill/>
          </a:ln>
        </p:spPr>
        <p:txBody>
          <a:bodyPr anchor="t" anchorCtr="0"/>
          <a:p>
            <a:pPr marL="342900" indent="-342900">
              <a:spcBef>
                <a:spcPct val="20000"/>
              </a:spcBef>
              <a:buClr>
                <a:srgbClr val="0033CC"/>
              </a:buClr>
              <a:buSzPct val="80000"/>
              <a:buFont typeface="Wingdings" panose="05000000000000000000" pitchFamily="2" charset="2"/>
              <a:buChar char="u"/>
            </a:pPr>
            <a:r>
              <a:rPr lang="zh-CN" altLang="en-US" sz="2400" dirty="0">
                <a:latin typeface="华文楷体" panose="02010600040101010101" pitchFamily="2" charset="-122"/>
                <a:ea typeface="宋体" panose="02010600030101010101" pitchFamily="2" charset="-122"/>
              </a:rPr>
              <a:t>上面的例子一样适用于查询语句。</a:t>
            </a:r>
            <a:endParaRPr lang="zh-CN" altLang="en-US" sz="2400" dirty="0">
              <a:latin typeface="华文楷体" panose="02010600040101010101" pitchFamily="2" charset="-122"/>
              <a:ea typeface="宋体" panose="02010600030101010101" pitchFamily="2" charset="-122"/>
            </a:endParaRPr>
          </a:p>
          <a:p>
            <a:pPr marL="342900" indent="-342900">
              <a:spcBef>
                <a:spcPct val="20000"/>
              </a:spcBef>
              <a:buClr>
                <a:srgbClr val="0033CC"/>
              </a:buClr>
              <a:buSzPct val="80000"/>
              <a:buFont typeface="Wingdings" panose="05000000000000000000" pitchFamily="2" charset="2"/>
              <a:buChar char="u"/>
            </a:pPr>
            <a:r>
              <a:rPr lang="zh-CN" altLang="en-US" sz="2400" dirty="0">
                <a:latin typeface="华文楷体" panose="02010600040101010101" pitchFamily="2" charset="-122"/>
                <a:ea typeface="宋体" panose="02010600030101010101" pitchFamily="2" charset="-122"/>
              </a:rPr>
              <a:t>模糊查询那些书名中</a:t>
            </a:r>
            <a:r>
              <a:rPr lang="zh-CN" altLang="en-US" sz="2400" dirty="0">
                <a:solidFill>
                  <a:srgbClr val="CC0000"/>
                </a:solidFill>
                <a:latin typeface="华文楷体" panose="02010600040101010101" pitchFamily="2" charset="-122"/>
                <a:ea typeface="宋体" panose="02010600030101010101" pitchFamily="2" charset="-122"/>
              </a:rPr>
              <a:t>包含“网络”两个字</a:t>
            </a:r>
            <a:r>
              <a:rPr lang="zh-CN" altLang="en-US" sz="2400" dirty="0">
                <a:latin typeface="华文楷体" panose="02010600040101010101" pitchFamily="2" charset="-122"/>
                <a:ea typeface="宋体" panose="02010600030101010101" pitchFamily="2" charset="-122"/>
              </a:rPr>
              <a:t>的图书</a:t>
            </a:r>
            <a:endParaRPr lang="zh-CN" altLang="en-US" sz="2400" dirty="0">
              <a:latin typeface="华文楷体" panose="02010600040101010101" pitchFamily="2" charset="-122"/>
              <a:ea typeface="宋体" panose="02010600030101010101" pitchFamily="2" charset="-122"/>
            </a:endParaRPr>
          </a:p>
          <a:p>
            <a:pPr marL="342900" indent="-342900">
              <a:lnSpc>
                <a:spcPct val="50000"/>
              </a:lnSpc>
              <a:buClr>
                <a:srgbClr val="0033CC"/>
              </a:buClr>
              <a:buSzPct val="80000"/>
              <a:buFont typeface="Wingdings" panose="05000000000000000000" pitchFamily="2" charset="2"/>
              <a:buChar char="u"/>
            </a:pPr>
            <a:endParaRPr lang="zh-CN" altLang="en-US" sz="2400" dirty="0">
              <a:latin typeface="华文楷体" panose="02010600040101010101" pitchFamily="2" charset="-122"/>
              <a:ea typeface="宋体" panose="02010600030101010101" pitchFamily="2" charset="-122"/>
            </a:endParaRPr>
          </a:p>
          <a:p>
            <a:pPr marL="742950" lvl="1" indent="-285750" eaLnBrk="1" hangingPunct="1">
              <a:spcBef>
                <a:spcPct val="20000"/>
              </a:spcBef>
              <a:buClr>
                <a:schemeClr val="accent2"/>
              </a:buClr>
              <a:buSzPct val="70000"/>
            </a:pPr>
            <a:r>
              <a:rPr lang="en-US" altLang="zh-CN" sz="2400" dirty="0">
                <a:latin typeface="华文楷体" panose="02010600040101010101" pitchFamily="2" charset="-122"/>
                <a:ea typeface="宋体" panose="02010600030101010101" pitchFamily="2" charset="-122"/>
              </a:rPr>
              <a:t>SELECT   *</a:t>
            </a:r>
            <a:endParaRPr lang="en-US" altLang="zh-CN" sz="2400" dirty="0">
              <a:latin typeface="华文楷体" panose="02010600040101010101" pitchFamily="2" charset="-122"/>
              <a:ea typeface="宋体" panose="02010600030101010101" pitchFamily="2" charset="-122"/>
            </a:endParaRPr>
          </a:p>
          <a:p>
            <a:pPr marL="742950" lvl="1" indent="-285750" eaLnBrk="1" hangingPunct="1">
              <a:spcBef>
                <a:spcPct val="20000"/>
              </a:spcBef>
              <a:buClr>
                <a:schemeClr val="accent2"/>
              </a:buClr>
              <a:buSzPct val="70000"/>
            </a:pPr>
            <a:r>
              <a:rPr lang="en-US" altLang="zh-CN" sz="2400" dirty="0">
                <a:latin typeface="华文楷体" panose="02010600040101010101" pitchFamily="2" charset="-122"/>
                <a:ea typeface="宋体" panose="02010600030101010101" pitchFamily="2" charset="-122"/>
              </a:rPr>
              <a:t>FROM     Book</a:t>
            </a:r>
            <a:endParaRPr lang="en-US" altLang="zh-CN" sz="2400" dirty="0">
              <a:latin typeface="华文楷体" panose="02010600040101010101" pitchFamily="2" charset="-122"/>
              <a:ea typeface="宋体" panose="02010600030101010101" pitchFamily="2" charset="-122"/>
            </a:endParaRPr>
          </a:p>
          <a:p>
            <a:pPr marL="742950" lvl="1" indent="-285750" eaLnBrk="1" hangingPunct="1">
              <a:spcBef>
                <a:spcPct val="20000"/>
              </a:spcBef>
              <a:buClr>
                <a:schemeClr val="accent2"/>
              </a:buClr>
              <a:buSzPct val="70000"/>
            </a:pPr>
            <a:r>
              <a:rPr lang="en-US" altLang="zh-CN" sz="2400" dirty="0">
                <a:latin typeface="华文楷体" panose="02010600040101010101" pitchFamily="2" charset="-122"/>
                <a:ea typeface="宋体" panose="02010600030101010101" pitchFamily="2" charset="-122"/>
              </a:rPr>
              <a:t>WHERE    title LIKE  '%</a:t>
            </a:r>
            <a:r>
              <a:rPr lang="zh-CN" altLang="en-US" sz="2400" dirty="0">
                <a:latin typeface="华文楷体" panose="02010600040101010101" pitchFamily="2" charset="-122"/>
                <a:ea typeface="宋体" panose="02010600030101010101" pitchFamily="2" charset="-122"/>
              </a:rPr>
              <a:t>网络</a:t>
            </a:r>
            <a:r>
              <a:rPr lang="en-US" altLang="zh-CN" sz="2400" dirty="0">
                <a:latin typeface="华文楷体" panose="02010600040101010101" pitchFamily="2" charset="-122"/>
                <a:ea typeface="宋体" panose="02010600030101010101" pitchFamily="2" charset="-122"/>
              </a:rPr>
              <a:t>%'</a:t>
            </a:r>
            <a:endParaRPr lang="en-US" altLang="zh-CN" sz="2400" dirty="0">
              <a:latin typeface="华文楷体" panose="02010600040101010101" pitchFamily="2" charset="-122"/>
              <a:ea typeface="宋体" panose="02010600030101010101" pitchFamily="2" charset="-122"/>
            </a:endParaRPr>
          </a:p>
        </p:txBody>
      </p:sp>
      <p:graphicFrame>
        <p:nvGraphicFramePr>
          <p:cNvPr id="67588" name="表格 67587"/>
          <p:cNvGraphicFramePr/>
          <p:nvPr/>
        </p:nvGraphicFramePr>
        <p:xfrm>
          <a:off x="741363" y="4191000"/>
          <a:ext cx="7908925" cy="1724025"/>
        </p:xfrm>
        <a:graphic>
          <a:graphicData uri="http://schemas.openxmlformats.org/drawingml/2006/table">
            <a:tbl>
              <a:tblPr/>
              <a:tblGrid>
                <a:gridCol w="1555750"/>
                <a:gridCol w="1973263"/>
                <a:gridCol w="1655762"/>
                <a:gridCol w="1655763"/>
                <a:gridCol w="1068387"/>
              </a:tblGrid>
              <a:tr h="898525">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en-US" altLang="x-none" sz="2400" b="0" dirty="0"/>
                        <a:t>7-111-0756-9</a:t>
                      </a:r>
                      <a:endParaRPr lang="en-US" altLang="x-none" sz="2400" b="0" dirty="0"/>
                    </a:p>
                  </a:txBody>
                  <a:tcPr marL="90000" marR="90000" marT="46800" marB="46800" vert="horz" anchor="t">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400" b="0"/>
                        <a:t>计算机网络</a:t>
                      </a:r>
                      <a:endParaRPr lang="zh-CN" altLang="en-US" sz="2400" b="0"/>
                    </a:p>
                  </a:txBody>
                  <a:tcPr marL="90000" marR="90000" marT="46800" marB="46800"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en-US" altLang="x-none" sz="2400" b="0" dirty="0"/>
                        <a:t> H-S Zen</a:t>
                      </a:r>
                      <a:endParaRPr lang="en-US" altLang="x-none" sz="2400" b="0" dirty="0"/>
                    </a:p>
                  </a:txBody>
                  <a:tcPr marL="90000" marR="90000" marT="46800" marB="46800"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400" b="0"/>
                        <a:t>电子工业出版社</a:t>
                      </a:r>
                      <a:endParaRPr lang="zh-CN" altLang="en-US" sz="2400" b="0"/>
                    </a:p>
                  </a:txBody>
                  <a:tcPr marL="90000" marR="90000" marT="46800" marB="46800"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en-US" altLang="x-none" sz="2400" b="0" dirty="0"/>
                        <a:t>46</a:t>
                      </a:r>
                      <a:r>
                        <a:rPr lang="zh-CN" altLang="en-US" sz="2400" b="0" dirty="0"/>
                        <a:t>元</a:t>
                      </a:r>
                      <a:endParaRPr lang="zh-CN" altLang="en-US" sz="2400" b="0" dirty="0"/>
                    </a:p>
                    <a:p>
                      <a:pPr marL="0" lvl="0" indent="0" eaLnBrk="1" hangingPunct="1">
                        <a:spcBef>
                          <a:spcPct val="20000"/>
                        </a:spcBef>
                        <a:buClr>
                          <a:srgbClr val="000000"/>
                        </a:buClr>
                        <a:buFont typeface="Arial" panose="020B0604020202020204" pitchFamily="34" charset="0"/>
                        <a:buNone/>
                      </a:pPr>
                      <a:endParaRPr lang="en-US" altLang="x-none" sz="2400" b="0" dirty="0"/>
                    </a:p>
                  </a:txBody>
                  <a:tcPr marL="90000" marR="90000" marT="46800" marB="46800" vert="horz" anchor="t">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r h="825500">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en-US" altLang="x-none" sz="2400" b="0" dirty="0"/>
                        <a:t>8-101-0757-9</a:t>
                      </a:r>
                      <a:endParaRPr lang="en-US" altLang="x-none" sz="2400" b="0" dirty="0"/>
                    </a:p>
                  </a:txBody>
                  <a:tcPr marL="90000" marR="90000" marT="46800" marB="46800" vert="horz" anchor="t">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400" b="0"/>
                        <a:t>通信网络技术及应用</a:t>
                      </a:r>
                      <a:endParaRPr lang="zh-CN" altLang="en-US" sz="2400" b="0"/>
                    </a:p>
                  </a:txBody>
                  <a:tcPr marL="90000" marR="90000" marT="46800" marB="46800"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en-US" altLang="x-none" sz="2400" b="0" dirty="0"/>
                        <a:t>W.Bach</a:t>
                      </a:r>
                      <a:endParaRPr lang="en-US" altLang="x-none" sz="2400" b="0" dirty="0"/>
                    </a:p>
                  </a:txBody>
                  <a:tcPr marL="90000" marR="90000" marT="46800" marB="46800"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en-US" altLang="x-none" sz="2400" b="0" dirty="0"/>
                        <a:t>Springer</a:t>
                      </a:r>
                      <a:endParaRPr lang="en-US" altLang="x-none" sz="2400" b="0" dirty="0"/>
                    </a:p>
                  </a:txBody>
                  <a:tcPr marL="90000" marR="90000" marT="46800" marB="46800"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en-US" altLang="x-none" sz="2400" b="0" dirty="0"/>
                        <a:t>$ 49</a:t>
                      </a:r>
                      <a:endParaRPr lang="en-US" altLang="x-none" sz="2400" b="0" dirty="0"/>
                    </a:p>
                  </a:txBody>
                  <a:tcPr marL="90000" marR="90000" marT="46800" marB="46800" vert="horz" anchor="t">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88087" name="Rectangle 2"/>
          <p:cNvSpPr txBox="1"/>
          <p:nvPr/>
        </p:nvSpPr>
        <p:spPr>
          <a:xfrm>
            <a:off x="525463" y="884238"/>
            <a:ext cx="5426075" cy="706437"/>
          </a:xfrm>
          <a:prstGeom prst="rect">
            <a:avLst/>
          </a:prstGeom>
          <a:noFill/>
          <a:ln w="9525">
            <a:noFill/>
          </a:ln>
        </p:spPr>
        <p:txBody>
          <a:bodyPr anchor="t" anchorCtr="0"/>
          <a:p>
            <a:pPr>
              <a:buFont typeface="Wingdings" panose="05000000000000000000" pitchFamily="2" charset="2"/>
              <a:buChar char="p"/>
            </a:pPr>
            <a:r>
              <a:rPr lang="zh-CN" altLang="en-US" sz="2800" dirty="0">
                <a:solidFill>
                  <a:srgbClr val="3333CC"/>
                </a:solidFill>
                <a:latin typeface="Arial" panose="020B0604020202020204" pitchFamily="34" charset="0"/>
                <a:ea typeface="黑体" panose="02010609060101010101" pitchFamily="1" charset="-122"/>
              </a:rPr>
              <a:t> 示例</a:t>
            </a:r>
            <a:endParaRPr lang="zh-CN" altLang="en-US" sz="2800" dirty="0">
              <a:solidFill>
                <a:srgbClr val="33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nodeType="clickEffect">
                                  <p:stCondLst>
                                    <p:cond delay="0"/>
                                  </p:stCondLst>
                                  <p:childTnLst>
                                    <p:set>
                                      <p:cBhvr>
                                        <p:cTn id="6" dur="1" fill="hold">
                                          <p:stCondLst>
                                            <p:cond delay="0"/>
                                          </p:stCondLst>
                                        </p:cTn>
                                        <p:tgtEl>
                                          <p:spTgt spid="67588"/>
                                        </p:tgtEl>
                                        <p:attrNameLst>
                                          <p:attrName>style.visibility</p:attrName>
                                        </p:attrNameLst>
                                      </p:cBhvr>
                                      <p:to>
                                        <p:strVal val="visible"/>
                                      </p:to>
                                    </p:set>
                                    <p:anim calcmode="lin" valueType="num">
                                      <p:cBhvr>
                                        <p:cTn id="7" dur="500" fill="hold"/>
                                        <p:tgtEl>
                                          <p:spTgt spid="67588"/>
                                        </p:tgtEl>
                                        <p:attrNameLst>
                                          <p:attrName>ppt_w</p:attrName>
                                        </p:attrNameLst>
                                      </p:cBhvr>
                                      <p:tavLst>
                                        <p:tav tm="0">
                                          <p:val>
                                            <p:fltVal val="0.000000"/>
                                          </p:val>
                                        </p:tav>
                                        <p:tav tm="100000">
                                          <p:val>
                                            <p:strVal val="#ppt_w"/>
                                          </p:val>
                                        </p:tav>
                                      </p:tavLst>
                                    </p:anim>
                                    <p:anim calcmode="lin" valueType="num">
                                      <p:cBhvr>
                                        <p:cTn id="8" dur="500" fill="hold"/>
                                        <p:tgtEl>
                                          <p:spTgt spid="6758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89" name="矩形 3"/>
          <p:cNvSpPr/>
          <p:nvPr/>
        </p:nvSpPr>
        <p:spPr>
          <a:xfrm>
            <a:off x="6677660" y="833755"/>
            <a:ext cx="2183130" cy="521970"/>
          </a:xfrm>
          <a:prstGeom prst="rect">
            <a:avLst/>
          </a:prstGeom>
          <a:noFill/>
          <a:ln w="9525">
            <a:noFill/>
          </a:ln>
        </p:spPr>
        <p:txBody>
          <a:bodyPr wrap="square" anchor="t" anchorCtr="0">
            <a:spAutoFit/>
          </a:bodyPr>
          <a:p>
            <a:pPr marL="457200" indent="-457200">
              <a:buFont typeface="Wingdings" panose="05000000000000000000" charset="0"/>
              <a:buChar char="p"/>
            </a:pPr>
            <a:r>
              <a:rPr lang="zh-CN" altLang="en-US" sz="2800" dirty="0">
                <a:solidFill>
                  <a:srgbClr val="0033CC"/>
                </a:solidFill>
                <a:latin typeface="黑体" panose="02010609060101010101" pitchFamily="1" charset="-122"/>
                <a:ea typeface="黑体" panose="02010609060101010101" pitchFamily="1" charset="-122"/>
              </a:rPr>
              <a:t>课堂练习</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89090" name="Text Box 4"/>
          <p:cNvSpPr txBox="1"/>
          <p:nvPr/>
        </p:nvSpPr>
        <p:spPr>
          <a:xfrm>
            <a:off x="457200" y="896620"/>
            <a:ext cx="7664450" cy="1106805"/>
          </a:xfrm>
          <a:prstGeom prst="rect">
            <a:avLst/>
          </a:prstGeom>
          <a:noFill/>
          <a:ln w="9525">
            <a:noFill/>
          </a:ln>
        </p:spPr>
        <p:txBody>
          <a:bodyPr wrap="square" anchor="t" anchorCtr="0">
            <a:spAutoFit/>
          </a:bodyPr>
          <a:p>
            <a:pPr marL="457200" indent="-457200">
              <a:lnSpc>
                <a:spcPct val="110000"/>
              </a:lnSpc>
              <a:spcBef>
                <a:spcPts val="0"/>
              </a:spcBef>
              <a:spcAft>
                <a:spcPts val="0"/>
              </a:spcAft>
            </a:pPr>
            <a:r>
              <a:rPr lang="zh-CN" altLang="en-US" sz="2000" dirty="0">
                <a:latin typeface="宋体" panose="02010600030101010101" pitchFamily="2" charset="-122"/>
                <a:ea typeface="宋体" panose="02010600030101010101" pitchFamily="2" charset="-122"/>
              </a:rPr>
              <a:t>有如下关系：学生</a:t>
            </a:r>
            <a:r>
              <a:rPr lang="en-US" altLang="zh-CN" sz="2000" dirty="0">
                <a:latin typeface="宋体" panose="02010600030101010101" pitchFamily="2" charset="-122"/>
                <a:ea typeface="宋体" panose="02010600030101010101" pitchFamily="2" charset="-122"/>
              </a:rPr>
              <a:t>S(</a:t>
            </a:r>
            <a:r>
              <a:rPr lang="en-US" altLang="zh-CN" sz="2000" u="sng" dirty="0">
                <a:latin typeface="宋体" panose="02010600030101010101" pitchFamily="2" charset="-122"/>
                <a:ea typeface="宋体" panose="02010600030101010101" pitchFamily="2" charset="-122"/>
              </a:rPr>
              <a:t>SID</a:t>
            </a:r>
            <a:r>
              <a:rPr lang="en-US" altLang="zh-CN" sz="2000" dirty="0">
                <a:latin typeface="宋体" panose="02010600030101010101" pitchFamily="2" charset="-122"/>
                <a:ea typeface="宋体" panose="02010600030101010101" pitchFamily="2" charset="-122"/>
              </a:rPr>
              <a:t>,SName,SGender,SAge)</a:t>
            </a:r>
            <a:endParaRPr lang="en-US" altLang="zh-CN" sz="2000" dirty="0">
              <a:latin typeface="宋体" panose="02010600030101010101" pitchFamily="2" charset="-122"/>
              <a:ea typeface="宋体" panose="02010600030101010101" pitchFamily="2" charset="-122"/>
            </a:endParaRPr>
          </a:p>
          <a:p>
            <a:pPr marL="457200" indent="-457200">
              <a:lnSpc>
                <a:spcPct val="110000"/>
              </a:lnSpc>
              <a:spcBef>
                <a:spcPts val="0"/>
              </a:spcBef>
              <a:spcAft>
                <a:spcPts val="0"/>
              </a:spcAft>
            </a:pPr>
            <a:r>
              <a:rPr lang="en-US" altLang="zh-CN" sz="2000" dirty="0">
                <a:latin typeface="宋体" panose="02010600030101010101" pitchFamily="2" charset="-122"/>
                <a:ea typeface="宋体" panose="02010600030101010101" pitchFamily="2" charset="-122"/>
              </a:rPr>
              <a:t>            </a:t>
            </a:r>
            <a:r>
              <a:rPr lang="zh-CN" altLang="zh-CN" sz="2000" dirty="0">
                <a:latin typeface="宋体" panose="02010600030101010101" pitchFamily="2" charset="-122"/>
                <a:ea typeface="宋体" panose="02010600030101010101" pitchFamily="2" charset="-122"/>
              </a:rPr>
              <a:t>课程</a:t>
            </a:r>
            <a:r>
              <a:rPr lang="en-US" altLang="zh-CN" sz="2000" dirty="0">
                <a:latin typeface="宋体" panose="02010600030101010101" pitchFamily="2" charset="-122"/>
                <a:ea typeface="宋体" panose="02010600030101010101" pitchFamily="2" charset="-122"/>
              </a:rPr>
              <a:t>C(</a:t>
            </a:r>
            <a:r>
              <a:rPr lang="en-US" altLang="zh-CN" sz="2000" u="sng" dirty="0">
                <a:latin typeface="宋体" panose="02010600030101010101" pitchFamily="2" charset="-122"/>
                <a:ea typeface="宋体" panose="02010600030101010101" pitchFamily="2" charset="-122"/>
              </a:rPr>
              <a:t>CID</a:t>
            </a:r>
            <a:r>
              <a:rPr lang="en-US" altLang="zh-CN" sz="2000" dirty="0">
                <a:latin typeface="宋体" panose="02010600030101010101" pitchFamily="2" charset="-122"/>
                <a:ea typeface="宋体" panose="02010600030101010101" pitchFamily="2" charset="-122"/>
              </a:rPr>
              <a:t>,CName,CRedit)</a:t>
            </a:r>
            <a:endParaRPr lang="en-US" altLang="zh-CN" sz="2000" dirty="0">
              <a:latin typeface="宋体" panose="02010600030101010101" pitchFamily="2" charset="-122"/>
              <a:ea typeface="宋体" panose="02010600030101010101" pitchFamily="2" charset="-122"/>
            </a:endParaRPr>
          </a:p>
          <a:p>
            <a:pPr marL="457200" indent="-457200">
              <a:lnSpc>
                <a:spcPct val="110000"/>
              </a:lnSpc>
              <a:spcBef>
                <a:spcPts val="0"/>
              </a:spcBef>
              <a:spcAft>
                <a:spcPts val="0"/>
              </a:spcAft>
            </a:pPr>
            <a:r>
              <a:rPr lang="en-US" altLang="zh-CN" sz="2000" dirty="0">
                <a:latin typeface="宋体" panose="02010600030101010101" pitchFamily="2" charset="-122"/>
                <a:ea typeface="宋体" panose="02010600030101010101" pitchFamily="2" charset="-122"/>
              </a:rPr>
              <a:t>            </a:t>
            </a:r>
            <a:r>
              <a:rPr lang="zh-CN" altLang="zh-CN" sz="2000" dirty="0">
                <a:latin typeface="宋体" panose="02010600030101010101" pitchFamily="2" charset="-122"/>
                <a:ea typeface="宋体" panose="02010600030101010101" pitchFamily="2" charset="-122"/>
              </a:rPr>
              <a:t>选课</a:t>
            </a:r>
            <a:r>
              <a:rPr lang="en-US" altLang="zh-CN" sz="2000" dirty="0">
                <a:latin typeface="宋体" panose="02010600030101010101" pitchFamily="2" charset="-122"/>
                <a:ea typeface="宋体" panose="02010600030101010101" pitchFamily="2" charset="-122"/>
              </a:rPr>
              <a:t>SC(</a:t>
            </a:r>
            <a:r>
              <a:rPr lang="en-US" altLang="zh-CN" sz="2000" u="sng" dirty="0">
                <a:latin typeface="宋体" panose="02010600030101010101" pitchFamily="2" charset="-122"/>
                <a:ea typeface="宋体" panose="02010600030101010101" pitchFamily="2" charset="-122"/>
              </a:rPr>
              <a:t>SID,CID</a:t>
            </a:r>
            <a:r>
              <a:rPr lang="en-US" altLang="zh-CN" sz="2000" dirty="0">
                <a:latin typeface="宋体" panose="02010600030101010101" pitchFamily="2" charset="-122"/>
                <a:ea typeface="宋体" panose="02010600030101010101" pitchFamily="2" charset="-122"/>
              </a:rPr>
              <a:t>,Score)</a:t>
            </a:r>
            <a:r>
              <a:rPr lang="en-US" altLang="zh-CN" sz="2000" u="sng" dirty="0">
                <a:latin typeface="宋体" panose="02010600030101010101" pitchFamily="2" charset="-122"/>
                <a:ea typeface="宋体" panose="02010600030101010101" pitchFamily="2" charset="-122"/>
                <a:sym typeface="宋体" panose="02010600030101010101" pitchFamily="2" charset="-122"/>
              </a:rPr>
              <a:t>SID,CID</a:t>
            </a:r>
            <a:r>
              <a:rPr lang="zh-CN" altLang="zh-CN" sz="2000" u="sng" dirty="0">
                <a:latin typeface="宋体" panose="02010600030101010101" pitchFamily="2" charset="-122"/>
                <a:ea typeface="宋体" panose="02010600030101010101" pitchFamily="2" charset="-122"/>
                <a:sym typeface="宋体" panose="02010600030101010101" pitchFamily="2" charset="-122"/>
              </a:rPr>
              <a:t>为外键</a:t>
            </a:r>
            <a:endParaRPr lang="zh-CN" altLang="zh-CN" sz="2000" u="sng" dirty="0">
              <a:latin typeface="宋体" panose="02010600030101010101" pitchFamily="2" charset="-122"/>
              <a:ea typeface="宋体" panose="02010600030101010101" pitchFamily="2" charset="-122"/>
              <a:sym typeface="宋体" panose="02010600030101010101" pitchFamily="2" charset="-122"/>
            </a:endParaRPr>
          </a:p>
        </p:txBody>
      </p:sp>
      <p:sp>
        <p:nvSpPr>
          <p:cNvPr id="89091"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三、数据库操纵子语言及其操作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89092" name="Text Box 4"/>
          <p:cNvSpPr txBox="1"/>
          <p:nvPr/>
        </p:nvSpPr>
        <p:spPr>
          <a:xfrm>
            <a:off x="457200" y="1875155"/>
            <a:ext cx="8326120" cy="2830830"/>
          </a:xfrm>
          <a:prstGeom prst="rect">
            <a:avLst/>
          </a:prstGeom>
          <a:noFill/>
          <a:ln w="9525">
            <a:noFill/>
          </a:ln>
        </p:spPr>
        <p:txBody>
          <a:bodyPr wrap="square" anchor="t" anchorCtr="0">
            <a:spAutoFit/>
          </a:bodyPr>
          <a:p>
            <a:pPr marL="457200" indent="-457200">
              <a:lnSpc>
                <a:spcPct val="135000"/>
              </a:lnSpc>
            </a:pPr>
            <a:r>
              <a:rPr lang="zh-CN" altLang="zh-CN" sz="2000" dirty="0">
                <a:latin typeface="宋体" panose="02010600030101010101" pitchFamily="2" charset="-122"/>
                <a:ea typeface="宋体" panose="02010600030101010101" pitchFamily="2" charset="-122"/>
                <a:sym typeface="宋体" panose="02010600030101010101" pitchFamily="2" charset="-122"/>
              </a:rPr>
              <a:t>（</a:t>
            </a:r>
            <a:r>
              <a:rPr lang="en-US" altLang="zh-CN" sz="2000" dirty="0">
                <a:latin typeface="宋体" panose="02010600030101010101" pitchFamily="2" charset="-122"/>
                <a:ea typeface="宋体" panose="02010600030101010101" pitchFamily="2" charset="-122"/>
                <a:sym typeface="宋体" panose="02010600030101010101" pitchFamily="2" charset="-122"/>
              </a:rPr>
              <a:t>1</a:t>
            </a:r>
            <a:r>
              <a:rPr lang="zh-CN" altLang="en-US" sz="2000" dirty="0">
                <a:latin typeface="宋体" panose="02010600030101010101" pitchFamily="2" charset="-122"/>
                <a:ea typeface="宋体" panose="02010600030101010101" pitchFamily="2" charset="-122"/>
                <a:sym typeface="宋体" panose="02010600030101010101" pitchFamily="2" charset="-122"/>
              </a:rPr>
              <a:t>）查询学生中女生的学号、姓名和年龄</a:t>
            </a:r>
            <a:endParaRPr lang="zh-CN" altLang="en-US" sz="2000" dirty="0">
              <a:latin typeface="宋体" panose="02010600030101010101" pitchFamily="2" charset="-122"/>
              <a:ea typeface="宋体" panose="02010600030101010101" pitchFamily="2" charset="-122"/>
              <a:sym typeface="宋体" panose="02010600030101010101" pitchFamily="2" charset="-122"/>
            </a:endParaRPr>
          </a:p>
          <a:p>
            <a:pPr marL="457200" indent="-457200">
              <a:lnSpc>
                <a:spcPct val="50000"/>
              </a:lnSpc>
              <a:spcBef>
                <a:spcPts val="0"/>
              </a:spcBef>
              <a:spcAft>
                <a:spcPts val="0"/>
              </a:spcAft>
            </a:pPr>
            <a:endParaRPr lang="zh-CN" altLang="en-US" sz="2000" dirty="0">
              <a:latin typeface="宋体" panose="02010600030101010101" pitchFamily="2" charset="-122"/>
              <a:ea typeface="宋体" panose="02010600030101010101" pitchFamily="2" charset="-122"/>
              <a:sym typeface="宋体" panose="02010600030101010101" pitchFamily="2" charset="-122"/>
            </a:endParaRPr>
          </a:p>
          <a:p>
            <a:pPr marL="457200" indent="-457200">
              <a:lnSpc>
                <a:spcPct val="100000"/>
              </a:lnSpc>
              <a:spcBef>
                <a:spcPts val="0"/>
              </a:spcBef>
              <a:spcAft>
                <a:spcPts val="0"/>
              </a:spcAft>
            </a:pPr>
            <a:endParaRPr lang="en-US" altLang="zh-CN" sz="1800" u="sng" dirty="0">
              <a:latin typeface="宋体" panose="02010600030101010101" pitchFamily="2" charset="-122"/>
              <a:ea typeface="宋体" panose="02010600030101010101" pitchFamily="2" charset="-122"/>
              <a:sym typeface="宋体" panose="02010600030101010101" pitchFamily="2" charset="-122"/>
            </a:endParaRPr>
          </a:p>
          <a:p>
            <a:pPr marL="457200" indent="-457200">
              <a:lnSpc>
                <a:spcPct val="135000"/>
              </a:lnSpc>
              <a:spcBef>
                <a:spcPts val="30"/>
              </a:spcBef>
              <a:spcAft>
                <a:spcPts val="0"/>
              </a:spcAft>
            </a:pPr>
            <a:r>
              <a:rPr lang="zh-CN" altLang="zh-CN" sz="2000" dirty="0">
                <a:latin typeface="宋体" panose="02010600030101010101" pitchFamily="2" charset="-122"/>
                <a:ea typeface="宋体" panose="02010600030101010101" pitchFamily="2" charset="-122"/>
                <a:sym typeface="宋体" panose="02010600030101010101" pitchFamily="2" charset="-122"/>
              </a:rPr>
              <a:t>（</a:t>
            </a:r>
            <a:r>
              <a:rPr lang="en-US" altLang="zh-CN" sz="2000" dirty="0">
                <a:latin typeface="宋体" panose="02010600030101010101" pitchFamily="2" charset="-122"/>
                <a:ea typeface="宋体" panose="02010600030101010101" pitchFamily="2" charset="-122"/>
                <a:sym typeface="宋体" panose="02010600030101010101" pitchFamily="2" charset="-122"/>
              </a:rPr>
              <a:t>2</a:t>
            </a:r>
            <a:r>
              <a:rPr lang="zh-CN" altLang="en-US" sz="2000" dirty="0">
                <a:latin typeface="宋体" panose="02010600030101010101" pitchFamily="2" charset="-122"/>
                <a:ea typeface="宋体" panose="02010600030101010101" pitchFamily="2" charset="-122"/>
                <a:sym typeface="宋体" panose="02010600030101010101" pitchFamily="2" charset="-122"/>
              </a:rPr>
              <a:t>）查询选修了</a:t>
            </a:r>
            <a:r>
              <a:rPr lang="en-US" altLang="zh-CN" sz="2000" dirty="0">
                <a:latin typeface="宋体" panose="02010600030101010101" pitchFamily="2" charset="-122"/>
                <a:ea typeface="宋体" panose="02010600030101010101" pitchFamily="2" charset="-122"/>
                <a:sym typeface="宋体" panose="02010600030101010101" pitchFamily="2" charset="-122"/>
              </a:rPr>
              <a:t>'</a:t>
            </a:r>
            <a:r>
              <a:rPr lang="zh-CN" altLang="zh-CN" sz="2000" dirty="0">
                <a:latin typeface="宋体" panose="02010600030101010101" pitchFamily="2" charset="-122"/>
                <a:ea typeface="宋体" panose="02010600030101010101" pitchFamily="2" charset="-122"/>
                <a:sym typeface="宋体" panose="02010600030101010101" pitchFamily="2" charset="-122"/>
              </a:rPr>
              <a:t>数据库原理与设计</a:t>
            </a:r>
            <a:r>
              <a:rPr lang="en-US" altLang="zh-CN" sz="2000" dirty="0">
                <a:latin typeface="宋体" panose="02010600030101010101" pitchFamily="2" charset="-122"/>
                <a:ea typeface="宋体" panose="02010600030101010101" pitchFamily="2" charset="-122"/>
                <a:sym typeface="宋体" panose="02010600030101010101" pitchFamily="2" charset="-122"/>
              </a:rPr>
              <a:t>’</a:t>
            </a:r>
            <a:r>
              <a:rPr lang="zh-CN" altLang="en-US" sz="2000" dirty="0">
                <a:latin typeface="宋体" panose="02010600030101010101" pitchFamily="2" charset="-122"/>
                <a:ea typeface="宋体" panose="02010600030101010101" pitchFamily="2" charset="-122"/>
                <a:sym typeface="宋体" panose="02010600030101010101" pitchFamily="2" charset="-122"/>
              </a:rPr>
              <a:t>的同学的学号和姓名以及分数</a:t>
            </a:r>
            <a:endParaRPr lang="zh-CN" altLang="en-US" sz="2000" dirty="0">
              <a:latin typeface="宋体" panose="02010600030101010101" pitchFamily="2" charset="-122"/>
              <a:ea typeface="宋体" panose="02010600030101010101" pitchFamily="2" charset="-122"/>
              <a:sym typeface="宋体" panose="02010600030101010101" pitchFamily="2" charset="-122"/>
            </a:endParaRPr>
          </a:p>
          <a:p>
            <a:pPr marL="457200" indent="-457200">
              <a:lnSpc>
                <a:spcPct val="135000"/>
              </a:lnSpc>
            </a:pPr>
            <a:endParaRPr lang="zh-CN" altLang="en-US" sz="2000" dirty="0">
              <a:latin typeface="宋体" panose="02010600030101010101" pitchFamily="2" charset="-122"/>
              <a:ea typeface="宋体" panose="02010600030101010101" pitchFamily="2" charset="-122"/>
              <a:sym typeface="宋体" panose="02010600030101010101" pitchFamily="2" charset="-122"/>
            </a:endParaRPr>
          </a:p>
          <a:p>
            <a:pPr marL="457200" indent="-457200">
              <a:lnSpc>
                <a:spcPct val="100000"/>
              </a:lnSpc>
              <a:spcBef>
                <a:spcPts val="0"/>
              </a:spcBef>
              <a:spcAft>
                <a:spcPts val="0"/>
              </a:spcAft>
            </a:pPr>
            <a:endParaRPr lang="zh-CN" altLang="en-US" sz="1800" u="sng" dirty="0">
              <a:latin typeface="宋体" panose="02010600030101010101" pitchFamily="2" charset="-122"/>
              <a:ea typeface="宋体" panose="02010600030101010101" pitchFamily="2" charset="-122"/>
              <a:sym typeface="宋体" panose="02010600030101010101" pitchFamily="2" charset="-122"/>
            </a:endParaRPr>
          </a:p>
          <a:p>
            <a:pPr marL="457200" indent="-457200">
              <a:lnSpc>
                <a:spcPct val="60000"/>
              </a:lnSpc>
              <a:spcBef>
                <a:spcPts val="0"/>
              </a:spcBef>
              <a:spcAft>
                <a:spcPts val="0"/>
              </a:spcAft>
            </a:pPr>
            <a:endParaRPr lang="zh-CN" altLang="en-US" sz="1800" u="sng" dirty="0">
              <a:latin typeface="宋体" panose="02010600030101010101" pitchFamily="2" charset="-122"/>
              <a:ea typeface="宋体" panose="02010600030101010101" pitchFamily="2" charset="-122"/>
              <a:sym typeface="宋体" panose="02010600030101010101" pitchFamily="2" charset="-122"/>
            </a:endParaRPr>
          </a:p>
          <a:p>
            <a:pPr marL="457200" indent="-457200">
              <a:lnSpc>
                <a:spcPct val="100000"/>
              </a:lnSpc>
            </a:pPr>
            <a:r>
              <a:rPr lang="zh-CN" altLang="en-US" sz="2000" dirty="0">
                <a:latin typeface="宋体" panose="02010600030101010101" pitchFamily="2" charset="-122"/>
                <a:ea typeface="宋体" panose="02010600030101010101" pitchFamily="2" charset="-122"/>
                <a:sym typeface="宋体" panose="02010600030101010101" pitchFamily="2" charset="-122"/>
              </a:rPr>
              <a:t>（</a:t>
            </a:r>
            <a:r>
              <a:rPr lang="en-US" altLang="zh-CN" sz="2000" dirty="0">
                <a:latin typeface="宋体" panose="02010600030101010101" pitchFamily="2" charset="-122"/>
                <a:ea typeface="宋体" panose="02010600030101010101" pitchFamily="2" charset="-122"/>
                <a:sym typeface="宋体" panose="02010600030101010101" pitchFamily="2" charset="-122"/>
              </a:rPr>
              <a:t>3</a:t>
            </a:r>
            <a:r>
              <a:rPr lang="zh-CN" altLang="en-US" sz="2000" dirty="0">
                <a:latin typeface="宋体" panose="02010600030101010101" pitchFamily="2" charset="-122"/>
                <a:ea typeface="宋体" panose="02010600030101010101" pitchFamily="2" charset="-122"/>
                <a:sym typeface="宋体" panose="02010600030101010101" pitchFamily="2" charset="-122"/>
              </a:rPr>
              <a:t>）创建一个视图</a:t>
            </a:r>
            <a:r>
              <a:rPr lang="en-US" altLang="zh-CN" sz="2000" dirty="0">
                <a:latin typeface="宋体" panose="02010600030101010101" pitchFamily="2" charset="-122"/>
                <a:ea typeface="宋体" panose="02010600030101010101" pitchFamily="2" charset="-122"/>
                <a:sym typeface="宋体" panose="02010600030101010101" pitchFamily="2" charset="-122"/>
              </a:rPr>
              <a:t>S_V_SCORE</a:t>
            </a:r>
            <a:r>
              <a:rPr lang="zh-CN" altLang="en-US" sz="2000" dirty="0">
                <a:latin typeface="宋体" panose="02010600030101010101" pitchFamily="2" charset="-122"/>
                <a:ea typeface="宋体" panose="02010600030101010101" pitchFamily="2" charset="-122"/>
                <a:sym typeface="宋体" panose="02010600030101010101" pitchFamily="2" charset="-122"/>
              </a:rPr>
              <a:t>，查询成绩</a:t>
            </a:r>
            <a:r>
              <a:rPr lang="en-US" altLang="zh-CN" sz="2000" dirty="0">
                <a:latin typeface="宋体" panose="02010600030101010101" pitchFamily="2" charset="-122"/>
                <a:ea typeface="宋体" panose="02010600030101010101" pitchFamily="2" charset="-122"/>
                <a:sym typeface="宋体" panose="02010600030101010101" pitchFamily="2" charset="-122"/>
              </a:rPr>
              <a:t>85</a:t>
            </a:r>
            <a:r>
              <a:rPr lang="zh-CN" altLang="en-US" sz="2000" dirty="0">
                <a:latin typeface="宋体" panose="02010600030101010101" pitchFamily="2" charset="-122"/>
                <a:ea typeface="宋体" panose="02010600030101010101" pitchFamily="2" charset="-122"/>
                <a:sym typeface="宋体" panose="02010600030101010101" pitchFamily="2" charset="-122"/>
              </a:rPr>
              <a:t>分以上的学生学号、姓名、课程名和成绩。</a:t>
            </a:r>
            <a:endParaRPr lang="zh-CN" altLang="en-US" sz="2000" dirty="0">
              <a:latin typeface="宋体" panose="02010600030101010101" pitchFamily="2" charset="-122"/>
              <a:ea typeface="宋体" panose="02010600030101010101" pitchFamily="2" charset="-122"/>
              <a:sym typeface="宋体" panose="02010600030101010101" pitchFamily="2" charset="-122"/>
            </a:endParaRPr>
          </a:p>
        </p:txBody>
      </p:sp>
      <p:sp>
        <p:nvSpPr>
          <p:cNvPr id="2" name="文本框 1"/>
          <p:cNvSpPr txBox="1"/>
          <p:nvPr/>
        </p:nvSpPr>
        <p:spPr>
          <a:xfrm>
            <a:off x="466090" y="2346325"/>
            <a:ext cx="8465820" cy="41211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ct val="0"/>
              </a:spcBef>
              <a:buClrTx/>
              <a:buSzTx/>
              <a:buFont typeface="Arial" panose="020B0604020202020204" pitchFamily="34" charset="0"/>
              <a:buNone/>
            </a:pPr>
            <a:r>
              <a:rPr lang="en-US" altLang="zh-CN" sz="1800" dirty="0">
                <a:solidFill>
                  <a:srgbClr val="0000FF"/>
                </a:solidFill>
                <a:sym typeface="+mn-ea"/>
              </a:rPr>
              <a:t> </a:t>
            </a:r>
            <a:r>
              <a:rPr lang="en-US" altLang="zh-CN" sz="1900" dirty="0">
                <a:solidFill>
                  <a:srgbClr val="0000FF"/>
                </a:solidFill>
                <a:sym typeface="+mn-ea"/>
              </a:rPr>
              <a:t>SELECT </a:t>
            </a:r>
            <a:r>
              <a:rPr lang="en-US" altLang="zh-CN" sz="1900" dirty="0">
                <a:solidFill>
                  <a:srgbClr val="0000FF"/>
                </a:solidFill>
                <a:sym typeface="+mn-ea"/>
              </a:rPr>
              <a:t>SID 学号,SName 姓名,SAge 年龄 FROM S WHERE </a:t>
            </a:r>
            <a:r>
              <a:rPr lang="en-US" altLang="zh-CN" sz="1900" dirty="0">
                <a:solidFill>
                  <a:srgbClr val="0000FF"/>
                </a:solidFill>
                <a:sym typeface="+mn-ea"/>
              </a:rPr>
              <a:t>SGender=’F' </a:t>
            </a:r>
            <a:r>
              <a:rPr lang="en-US" altLang="zh-CN" sz="1900" dirty="0">
                <a:solidFill>
                  <a:srgbClr val="0000FF"/>
                </a:solidFill>
                <a:sym typeface="+mn-ea"/>
              </a:rPr>
              <a:t> </a:t>
            </a:r>
            <a:endParaRPr lang="en-US" altLang="zh-CN" sz="1900" dirty="0">
              <a:solidFill>
                <a:srgbClr val="0000FF"/>
              </a:solidFill>
              <a:sym typeface="+mn-ea"/>
            </a:endParaRPr>
          </a:p>
        </p:txBody>
      </p:sp>
      <p:sp>
        <p:nvSpPr>
          <p:cNvPr id="3" name="文本框 2"/>
          <p:cNvSpPr txBox="1"/>
          <p:nvPr/>
        </p:nvSpPr>
        <p:spPr>
          <a:xfrm>
            <a:off x="527685" y="3229610"/>
            <a:ext cx="8465820" cy="73342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ct val="0"/>
              </a:spcBef>
              <a:buClrTx/>
              <a:buSzTx/>
              <a:buFont typeface="Arial" panose="020B0604020202020204" pitchFamily="34" charset="0"/>
              <a:buNone/>
            </a:pPr>
            <a:r>
              <a:rPr lang="en-US" altLang="zh-CN" sz="1900" dirty="0">
                <a:solidFill>
                  <a:srgbClr val="0000FF"/>
                </a:solidFill>
                <a:sym typeface="+mn-ea"/>
              </a:rPr>
              <a:t>SELECT S.SID 学号,SName 姓名,</a:t>
            </a:r>
            <a:r>
              <a:rPr lang="en-US" altLang="zh-CN" sz="1900" dirty="0">
                <a:solidFill>
                  <a:srgbClr val="0000FF"/>
                </a:solidFill>
                <a:sym typeface="+mn-ea"/>
              </a:rPr>
              <a:t>Score</a:t>
            </a:r>
            <a:r>
              <a:rPr lang="en-US" altLang="zh-CN" sz="1900" dirty="0">
                <a:solidFill>
                  <a:srgbClr val="0000FF"/>
                </a:solidFill>
                <a:sym typeface="+mn-ea"/>
              </a:rPr>
              <a:t> </a:t>
            </a:r>
            <a:r>
              <a:rPr lang="zh-CN" altLang="en-US" sz="1900" dirty="0">
                <a:solidFill>
                  <a:srgbClr val="0000FF"/>
                </a:solidFill>
                <a:sym typeface="+mn-ea"/>
              </a:rPr>
              <a:t>成绩</a:t>
            </a:r>
            <a:r>
              <a:rPr lang="en-US" altLang="zh-CN" sz="1900" dirty="0">
                <a:solidFill>
                  <a:srgbClr val="0000FF"/>
                </a:solidFill>
                <a:sym typeface="+mn-ea"/>
              </a:rPr>
              <a:t> FROM S,SC,C WHERE  CNAME=’</a:t>
            </a:r>
            <a:r>
              <a:rPr lang="zh-CN" altLang="en-US" sz="1900" dirty="0">
                <a:solidFill>
                  <a:srgbClr val="0000FF"/>
                </a:solidFill>
                <a:sym typeface="+mn-ea"/>
              </a:rPr>
              <a:t>数据库原理与设计</a:t>
            </a:r>
            <a:r>
              <a:rPr lang="en-US" altLang="zh-CN" sz="1900" dirty="0">
                <a:solidFill>
                  <a:srgbClr val="0000FF"/>
                </a:solidFill>
                <a:sym typeface="+mn-ea"/>
              </a:rPr>
              <a:t>'  and </a:t>
            </a:r>
            <a:r>
              <a:rPr lang="en-US" altLang="zh-CN" sz="1900" dirty="0">
                <a:solidFill>
                  <a:srgbClr val="0000FF"/>
                </a:solidFill>
                <a:sym typeface="+mn-ea"/>
              </a:rPr>
              <a:t>S.SID=SC.SID and SC.CID=C.CID</a:t>
            </a:r>
            <a:endParaRPr lang="en-US" altLang="zh-CN" sz="1900" dirty="0">
              <a:solidFill>
                <a:srgbClr val="0000FF"/>
              </a:solidFill>
              <a:sym typeface="+mn-ea"/>
            </a:endParaRPr>
          </a:p>
        </p:txBody>
      </p:sp>
      <p:sp>
        <p:nvSpPr>
          <p:cNvPr id="5" name="文本框 4"/>
          <p:cNvSpPr txBox="1"/>
          <p:nvPr/>
        </p:nvSpPr>
        <p:spPr>
          <a:xfrm>
            <a:off x="527685" y="4705985"/>
            <a:ext cx="8481060" cy="149415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ts val="0"/>
              </a:spcBef>
              <a:spcAft>
                <a:spcPts val="0"/>
              </a:spcAft>
              <a:buClrTx/>
              <a:buSzTx/>
              <a:buFont typeface="Arial" panose="020B0604020202020204" pitchFamily="34" charset="0"/>
              <a:buNone/>
            </a:pPr>
            <a:r>
              <a:rPr lang="en-US" altLang="zh-CN" sz="1900" dirty="0">
                <a:solidFill>
                  <a:srgbClr val="0000FF"/>
                </a:solidFill>
                <a:sym typeface="+mn-ea"/>
              </a:rPr>
              <a:t>CREATE VIEW </a:t>
            </a:r>
            <a:r>
              <a:rPr lang="en-US" altLang="zh-CN" sz="1900" dirty="0">
                <a:solidFill>
                  <a:srgbClr val="0000FF"/>
                </a:solidFill>
                <a:sym typeface="宋体" panose="02010600030101010101" pitchFamily="2" charset="-122"/>
              </a:rPr>
              <a:t>S_V_SCORE(学号,姓名,课程名,</a:t>
            </a:r>
            <a:r>
              <a:rPr lang="en-US" altLang="zh-CN" sz="1900" dirty="0">
                <a:solidFill>
                  <a:srgbClr val="0000FF"/>
                </a:solidFill>
                <a:sym typeface="宋体" panose="02010600030101010101" pitchFamily="2" charset="-122"/>
              </a:rPr>
              <a:t>成绩) AS</a:t>
            </a:r>
            <a:endParaRPr lang="en-US" altLang="zh-CN" sz="1900" dirty="0">
              <a:solidFill>
                <a:srgbClr val="0000FF"/>
              </a:solidFill>
              <a:sym typeface="宋体" panose="02010600030101010101" pitchFamily="2" charset="-122"/>
            </a:endParaRPr>
          </a:p>
          <a:p>
            <a:pPr marL="0" lvl="0" indent="0" eaLnBrk="1" hangingPunct="1">
              <a:lnSpc>
                <a:spcPct val="120000"/>
              </a:lnSpc>
              <a:spcBef>
                <a:spcPts val="0"/>
              </a:spcBef>
              <a:spcAft>
                <a:spcPts val="0"/>
              </a:spcAft>
              <a:buClrTx/>
              <a:buSzTx/>
              <a:buFont typeface="Arial" panose="020B0604020202020204" pitchFamily="34" charset="0"/>
              <a:buNone/>
            </a:pPr>
            <a:r>
              <a:rPr lang="en-US" altLang="zh-CN" sz="1900" dirty="0">
                <a:solidFill>
                  <a:srgbClr val="0000FF"/>
                </a:solidFill>
                <a:sym typeface="宋体" panose="02010600030101010101" pitchFamily="2" charset="-122"/>
              </a:rPr>
              <a:t>    SELECT  S.SID,SName,CName,</a:t>
            </a:r>
            <a:r>
              <a:rPr lang="en-US" altLang="zh-CN" sz="1900" dirty="0">
                <a:solidFill>
                  <a:srgbClr val="0000FF"/>
                </a:solidFill>
                <a:sym typeface="+mn-ea"/>
              </a:rPr>
              <a:t>Score FROM </a:t>
            </a:r>
            <a:r>
              <a:rPr lang="en-US" altLang="zh-CN" sz="1900" dirty="0">
                <a:solidFill>
                  <a:srgbClr val="0000FF"/>
                </a:solidFill>
                <a:sym typeface="+mn-ea"/>
              </a:rPr>
              <a:t>S,SC,C WHERE  </a:t>
            </a:r>
            <a:r>
              <a:rPr lang="en-US" sz="1900" dirty="0">
                <a:solidFill>
                  <a:srgbClr val="0000FF"/>
                </a:solidFill>
                <a:sym typeface="+mn-ea"/>
              </a:rPr>
              <a:t>Score&gt;85</a:t>
            </a:r>
            <a:r>
              <a:rPr lang="en-US" altLang="zh-CN" sz="1900" dirty="0">
                <a:solidFill>
                  <a:srgbClr val="0000FF"/>
                </a:solidFill>
                <a:sym typeface="+mn-ea"/>
              </a:rPr>
              <a:t>  and S.SID=SC.SID and SC.CID=C.CID</a:t>
            </a:r>
            <a:endParaRPr lang="en-US" altLang="zh-CN" sz="1900" dirty="0">
              <a:solidFill>
                <a:srgbClr val="0000FF"/>
              </a:solidFill>
              <a:sym typeface="+mn-ea"/>
            </a:endParaRPr>
          </a:p>
          <a:p>
            <a:pPr marL="0" lvl="0" indent="0" eaLnBrk="1" hangingPunct="1">
              <a:lnSpc>
                <a:spcPct val="120000"/>
              </a:lnSpc>
              <a:spcBef>
                <a:spcPts val="0"/>
              </a:spcBef>
              <a:spcAft>
                <a:spcPts val="0"/>
              </a:spcAft>
              <a:buClrTx/>
              <a:buSzTx/>
              <a:buFont typeface="Arial" panose="020B0604020202020204" pitchFamily="34" charset="0"/>
              <a:buNone/>
            </a:pPr>
            <a:r>
              <a:rPr lang="en-US" altLang="zh-CN" sz="1900" dirty="0">
                <a:solidFill>
                  <a:srgbClr val="FF0000"/>
                </a:solidFill>
                <a:sym typeface="宋体" panose="02010600030101010101" pitchFamily="2" charset="-122"/>
              </a:rPr>
              <a:t>SELECT * FROM S_V_SCORE</a:t>
            </a:r>
            <a:endParaRPr lang="en-US" altLang="zh-CN" sz="1900" dirty="0">
              <a:solidFill>
                <a:srgbClr val="FF0000"/>
              </a:solidFill>
              <a:sym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p:bldP spid="3" grpId="1"/>
      <p:bldP spid="5" grpId="0"/>
      <p:bldP spid="5" grpId="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3" name="Rectangle 2"/>
          <p:cNvSpPr txBox="1"/>
          <p:nvPr/>
        </p:nvSpPr>
        <p:spPr>
          <a:xfrm>
            <a:off x="508000" y="885825"/>
            <a:ext cx="7086600" cy="747713"/>
          </a:xfrm>
          <a:prstGeom prst="rect">
            <a:avLst/>
          </a:prstGeom>
          <a:noFill/>
          <a:ln w="9525">
            <a:noFill/>
          </a:ln>
        </p:spPr>
        <p:txBody>
          <a:bodyPr anchor="t" anchorCtr="0"/>
          <a:p>
            <a:pPr>
              <a:buFont typeface="Wingdings" panose="05000000000000000000" pitchFamily="2" charset="2"/>
              <a:buChar char="p"/>
            </a:pPr>
            <a:r>
              <a:rPr lang="zh-CN" altLang="en-US" sz="2800" dirty="0">
                <a:solidFill>
                  <a:srgbClr val="3333CC"/>
                </a:solidFill>
                <a:latin typeface="宋体" panose="02010600030101010101" pitchFamily="2" charset="-122"/>
                <a:ea typeface="黑体" panose="02010609060101010101" pitchFamily="1" charset="-122"/>
              </a:rPr>
              <a:t> 特殊运算符 </a:t>
            </a:r>
            <a:r>
              <a:rPr lang="en-US" altLang="zh-CN" sz="2800" dirty="0">
                <a:solidFill>
                  <a:srgbClr val="3333CC"/>
                </a:solidFill>
                <a:latin typeface="宋体" panose="02010600030101010101" pitchFamily="2" charset="-122"/>
                <a:ea typeface="黑体" panose="02010609060101010101" pitchFamily="1" charset="-122"/>
              </a:rPr>
              <a:t>- [NOT] EXISTS</a:t>
            </a:r>
            <a:endParaRPr lang="en-US" altLang="zh-CN" sz="2800" dirty="0">
              <a:solidFill>
                <a:srgbClr val="3333CC"/>
              </a:solidFill>
              <a:latin typeface="宋体" panose="02010600030101010101" pitchFamily="2" charset="-122"/>
              <a:ea typeface="黑体" panose="02010609060101010101" pitchFamily="1" charset="-122"/>
            </a:endParaRPr>
          </a:p>
        </p:txBody>
      </p:sp>
      <p:sp>
        <p:nvSpPr>
          <p:cNvPr id="90114"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三、数据库操纵子语言及其操作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90115" name="Rectangle 3"/>
          <p:cNvSpPr txBox="1"/>
          <p:nvPr/>
        </p:nvSpPr>
        <p:spPr>
          <a:xfrm>
            <a:off x="555625" y="1468438"/>
            <a:ext cx="8137525" cy="4281487"/>
          </a:xfrm>
          <a:prstGeom prst="rect">
            <a:avLst/>
          </a:prstGeom>
          <a:noFill/>
          <a:ln w="9525">
            <a:noFill/>
          </a:ln>
        </p:spPr>
        <p:txBody>
          <a:bodyPr anchor="t" anchorCtr="0"/>
          <a:p>
            <a:pPr>
              <a:lnSpc>
                <a:spcPct val="110000"/>
              </a:lnSpc>
              <a:buClr>
                <a:srgbClr val="0033CC"/>
              </a:buClr>
              <a:buSzPct val="80000"/>
            </a:pPr>
            <a:r>
              <a:rPr lang="zh-CN" altLang="en-US" sz="2400" dirty="0">
                <a:latin typeface="华文楷体" panose="02010600040101010101" pitchFamily="2" charset="-122"/>
                <a:ea typeface="宋体" panose="02010600030101010101" pitchFamily="2" charset="-122"/>
              </a:rPr>
              <a:t>语法：</a:t>
            </a:r>
            <a:r>
              <a:rPr lang="en-US" altLang="zh-CN" sz="2400" dirty="0">
                <a:latin typeface="华文楷体" panose="02010600040101010101" pitchFamily="2" charset="-122"/>
                <a:ea typeface="宋体" panose="02010600030101010101" pitchFamily="2" charset="-122"/>
              </a:rPr>
              <a:t>[NOT] EXISTS (</a:t>
            </a:r>
            <a:r>
              <a:rPr lang="zh-CN" altLang="en-US" sz="2400" dirty="0">
                <a:latin typeface="华文楷体" panose="02010600040101010101" pitchFamily="2" charset="-122"/>
                <a:ea typeface="宋体" panose="02010600030101010101" pitchFamily="2" charset="-122"/>
              </a:rPr>
              <a:t>子查询</a:t>
            </a:r>
            <a:r>
              <a:rPr lang="en-US" altLang="zh-CN" sz="2400" dirty="0">
                <a:latin typeface="华文楷体" panose="02010600040101010101" pitchFamily="2" charset="-122"/>
                <a:ea typeface="宋体" panose="02010600030101010101" pitchFamily="2" charset="-122"/>
              </a:rPr>
              <a:t>) </a:t>
            </a:r>
            <a:endParaRPr lang="en-US" altLang="zh-CN" sz="2400" dirty="0">
              <a:latin typeface="华文楷体" panose="02010600040101010101" pitchFamily="2" charset="-122"/>
              <a:ea typeface="宋体" panose="02010600030101010101" pitchFamily="2" charset="-122"/>
            </a:endParaRPr>
          </a:p>
          <a:p>
            <a:pPr>
              <a:lnSpc>
                <a:spcPct val="110000"/>
              </a:lnSpc>
              <a:spcBef>
                <a:spcPts val="300"/>
              </a:spcBef>
              <a:buClr>
                <a:srgbClr val="0033CC"/>
              </a:buClr>
              <a:buSzPct val="80000"/>
            </a:pPr>
            <a:r>
              <a:rPr lang="zh-CN" altLang="en-US" sz="2400" dirty="0">
                <a:latin typeface="华文楷体" panose="02010600040101010101" pitchFamily="2" charset="-122"/>
                <a:ea typeface="宋体" panose="02010600030101010101" pitchFamily="2" charset="-122"/>
              </a:rPr>
              <a:t>含意：检查子查询是否有结果（行）返回，有则</a:t>
            </a:r>
            <a:r>
              <a:rPr lang="en-US" altLang="zh-CN" sz="2400" dirty="0">
                <a:latin typeface="华文楷体" panose="02010600040101010101" pitchFamily="2" charset="-122"/>
                <a:ea typeface="宋体" panose="02010600030101010101" pitchFamily="2" charset="-122"/>
              </a:rPr>
              <a:t>TRUE</a:t>
            </a:r>
            <a:r>
              <a:rPr lang="zh-CN" altLang="en-US" sz="2400" dirty="0">
                <a:latin typeface="华文楷体" panose="02010600040101010101" pitchFamily="2" charset="-122"/>
                <a:ea typeface="宋体" panose="02010600030101010101" pitchFamily="2" charset="-122"/>
              </a:rPr>
              <a:t>，否则</a:t>
            </a:r>
            <a:r>
              <a:rPr lang="en-US" altLang="zh-CN" sz="2400" dirty="0">
                <a:latin typeface="华文楷体" panose="02010600040101010101" pitchFamily="2" charset="-122"/>
                <a:ea typeface="宋体" panose="02010600030101010101" pitchFamily="2" charset="-122"/>
              </a:rPr>
              <a:t>FALSE</a:t>
            </a:r>
            <a:r>
              <a:rPr lang="zh-CN" altLang="en-US" sz="2400" dirty="0">
                <a:latin typeface="华文楷体" panose="02010600040101010101" pitchFamily="2" charset="-122"/>
                <a:ea typeface="宋体" panose="02010600030101010101" pitchFamily="2" charset="-122"/>
              </a:rPr>
              <a:t>；如带</a:t>
            </a:r>
            <a:r>
              <a:rPr lang="en-US" altLang="zh-CN" sz="2400" dirty="0">
                <a:latin typeface="华文楷体" panose="02010600040101010101" pitchFamily="2" charset="-122"/>
                <a:ea typeface="宋体" panose="02010600030101010101" pitchFamily="2" charset="-122"/>
              </a:rPr>
              <a:t>NOT</a:t>
            </a:r>
            <a:r>
              <a:rPr lang="zh-CN" altLang="en-US" sz="2400" dirty="0">
                <a:latin typeface="华文楷体" panose="02010600040101010101" pitchFamily="2" charset="-122"/>
                <a:ea typeface="宋体" panose="02010600030101010101" pitchFamily="2" charset="-122"/>
              </a:rPr>
              <a:t>则相反。</a:t>
            </a:r>
            <a:endParaRPr lang="zh-CN" altLang="en-US" sz="2400" dirty="0">
              <a:latin typeface="华文楷体" panose="02010600040101010101" pitchFamily="2" charset="-122"/>
              <a:ea typeface="宋体" panose="02010600030101010101" pitchFamily="2" charset="-122"/>
            </a:endParaRPr>
          </a:p>
          <a:p>
            <a:pPr>
              <a:buClr>
                <a:srgbClr val="0033CC"/>
              </a:buClr>
              <a:buSzPct val="80000"/>
            </a:pPr>
            <a:endParaRPr lang="en-US" altLang="zh-CN" sz="2000" dirty="0">
              <a:latin typeface="华文楷体" panose="02010600040101010101" pitchFamily="2" charset="-122"/>
              <a:ea typeface="宋体" panose="02010600030101010101" pitchFamily="2" charset="-122"/>
            </a:endParaRPr>
          </a:p>
        </p:txBody>
      </p:sp>
      <p:sp>
        <p:nvSpPr>
          <p:cNvPr id="68613" name="Rectangle 3"/>
          <p:cNvSpPr txBox="1"/>
          <p:nvPr/>
        </p:nvSpPr>
        <p:spPr>
          <a:xfrm>
            <a:off x="508000" y="2822575"/>
            <a:ext cx="8288338" cy="3614738"/>
          </a:xfrm>
          <a:prstGeom prst="rect">
            <a:avLst/>
          </a:prstGeom>
          <a:noFill/>
          <a:ln w="9525">
            <a:noFill/>
          </a:ln>
        </p:spPr>
        <p:txBody>
          <a:bodyPr anchor="t" anchorCtr="0"/>
          <a:p>
            <a:pPr marL="342900" indent="-342900">
              <a:spcBef>
                <a:spcPct val="20000"/>
              </a:spcBef>
              <a:buClr>
                <a:srgbClr val="0033CC"/>
              </a:buClr>
              <a:buSzPct val="80000"/>
              <a:buFont typeface="Wingdings" panose="05000000000000000000" pitchFamily="2" charset="2"/>
              <a:buChar char="p"/>
            </a:pPr>
            <a:r>
              <a:rPr lang="zh-CN" altLang="en-US" sz="2400" dirty="0">
                <a:solidFill>
                  <a:srgbClr val="FF0000"/>
                </a:solidFill>
                <a:latin typeface="华文楷体" panose="02010600040101010101" pitchFamily="2" charset="-122"/>
                <a:ea typeface="宋体" panose="02010600030101010101" pitchFamily="2" charset="-122"/>
              </a:rPr>
              <a:t>示例：</a:t>
            </a:r>
            <a:r>
              <a:rPr lang="zh-CN" altLang="en-US" sz="2400" dirty="0">
                <a:latin typeface="华文楷体" panose="02010600040101010101" pitchFamily="2" charset="-122"/>
                <a:ea typeface="宋体" panose="02010600030101010101" pitchFamily="2" charset="-122"/>
              </a:rPr>
              <a:t>有四个关系表：</a:t>
            </a:r>
            <a:r>
              <a:rPr lang="en-US" altLang="zh-CN" sz="2400" dirty="0">
                <a:latin typeface="华文楷体" panose="02010600040101010101" pitchFamily="2" charset="-122"/>
                <a:ea typeface="宋体" panose="02010600030101010101" pitchFamily="2" charset="-122"/>
              </a:rPr>
              <a:t>T(Tid, Tname</a:t>
            </a:r>
            <a:r>
              <a:rPr lang="zh-CN" altLang="en-US" sz="2400" dirty="0">
                <a:latin typeface="华文楷体" panose="02010600040101010101" pitchFamily="2" charset="-122"/>
                <a:ea typeface="宋体" panose="02010600030101010101" pitchFamily="2" charset="-122"/>
              </a:rPr>
              <a:t>，</a:t>
            </a:r>
            <a:r>
              <a:rPr lang="en-US" altLang="zh-CN" sz="2400" dirty="0">
                <a:latin typeface="华文楷体" panose="02010600040101010101" pitchFamily="2" charset="-122"/>
                <a:ea typeface="宋体" panose="02010600030101010101" pitchFamily="2" charset="-122"/>
              </a:rPr>
              <a:t>Title), C(Cid, Cname</a:t>
            </a:r>
            <a:r>
              <a:rPr lang="zh-CN" altLang="en-US" sz="2400" dirty="0">
                <a:latin typeface="华文楷体" panose="02010600040101010101" pitchFamily="2" charset="-122"/>
                <a:ea typeface="宋体" panose="02010600030101010101" pitchFamily="2" charset="-122"/>
              </a:rPr>
              <a:t>，</a:t>
            </a:r>
            <a:r>
              <a:rPr lang="en-US" altLang="zh-CN" sz="2400" dirty="0">
                <a:latin typeface="华文楷体" panose="02010600040101010101" pitchFamily="2" charset="-122"/>
                <a:ea typeface="宋体" panose="02010600030101010101" pitchFamily="2" charset="-122"/>
              </a:rPr>
              <a:t>Tid</a:t>
            </a:r>
            <a:r>
              <a:rPr lang="zh-CN" altLang="en-US" sz="2400" dirty="0">
                <a:latin typeface="华文楷体" panose="02010600040101010101" pitchFamily="2" charset="-122"/>
                <a:ea typeface="宋体" panose="02010600030101010101" pitchFamily="2" charset="-122"/>
              </a:rPr>
              <a:t>），</a:t>
            </a:r>
            <a:r>
              <a:rPr lang="en-US" altLang="zh-CN" sz="2400" dirty="0">
                <a:latin typeface="华文楷体" panose="02010600040101010101" pitchFamily="2" charset="-122"/>
                <a:ea typeface="宋体" panose="02010600030101010101" pitchFamily="2" charset="-122"/>
              </a:rPr>
              <a:t>S(Sid,Sname,Age,Gender), SC(Sid, Cid, Score)</a:t>
            </a:r>
            <a:endParaRPr lang="en-US" altLang="zh-CN" sz="2400" dirty="0">
              <a:latin typeface="华文楷体" panose="02010600040101010101" pitchFamily="2" charset="-122"/>
              <a:ea typeface="宋体" panose="02010600030101010101" pitchFamily="2" charset="-122"/>
            </a:endParaRPr>
          </a:p>
          <a:p>
            <a:pPr marL="342900" indent="-342900">
              <a:spcBef>
                <a:spcPct val="20000"/>
              </a:spcBef>
              <a:buClr>
                <a:srgbClr val="0033CC"/>
              </a:buClr>
              <a:buSzPct val="80000"/>
            </a:pPr>
            <a:r>
              <a:rPr lang="zh-CN" altLang="en-US" sz="2400" dirty="0">
                <a:solidFill>
                  <a:srgbClr val="A50021"/>
                </a:solidFill>
                <a:latin typeface="华文楷体" panose="02010600040101010101" pitchFamily="2" charset="-122"/>
                <a:ea typeface="宋体" panose="02010600030101010101" pitchFamily="2" charset="-122"/>
              </a:rPr>
              <a:t>查询学习课程号为</a:t>
            </a:r>
            <a:r>
              <a:rPr lang="en-US" altLang="zh-CN" sz="2400" dirty="0">
                <a:solidFill>
                  <a:srgbClr val="A50021"/>
                </a:solidFill>
                <a:latin typeface="华文楷体" panose="02010600040101010101" pitchFamily="2" charset="-122"/>
                <a:ea typeface="宋体" panose="02010600030101010101" pitchFamily="2" charset="-122"/>
              </a:rPr>
              <a:t>0002</a:t>
            </a:r>
            <a:r>
              <a:rPr lang="zh-CN" altLang="en-US" sz="2400" dirty="0">
                <a:solidFill>
                  <a:srgbClr val="A50021"/>
                </a:solidFill>
                <a:latin typeface="华文楷体" panose="02010600040101010101" pitchFamily="2" charset="-122"/>
                <a:ea typeface="宋体" panose="02010600030101010101" pitchFamily="2" charset="-122"/>
              </a:rPr>
              <a:t>课程的学生学号与姓名</a:t>
            </a:r>
            <a:endParaRPr lang="zh-CN" altLang="en-US" sz="2400" dirty="0">
              <a:solidFill>
                <a:srgbClr val="A50021"/>
              </a:solidFill>
              <a:latin typeface="华文楷体" panose="02010600040101010101" pitchFamily="2" charset="-122"/>
              <a:ea typeface="宋体" panose="02010600030101010101" pitchFamily="2" charset="-122"/>
            </a:endParaRPr>
          </a:p>
          <a:p>
            <a:pPr marL="342900" indent="-342900">
              <a:spcBef>
                <a:spcPct val="20000"/>
              </a:spcBef>
              <a:buClr>
                <a:srgbClr val="0033CC"/>
              </a:buClr>
              <a:buSzPct val="80000"/>
            </a:pPr>
            <a:r>
              <a:rPr lang="en-US" altLang="zh-CN" sz="2400" dirty="0">
                <a:latin typeface="华文楷体" panose="02010600040101010101" pitchFamily="2" charset="-122"/>
                <a:ea typeface="宋体" panose="02010600030101010101" pitchFamily="2" charset="-122"/>
              </a:rPr>
              <a:t>SELECT Sid, Sname  FROM Students S</a:t>
            </a:r>
            <a:endParaRPr lang="en-US" altLang="zh-CN" sz="2400" dirty="0">
              <a:latin typeface="华文楷体" panose="02010600040101010101" pitchFamily="2" charset="-122"/>
              <a:ea typeface="宋体" panose="02010600030101010101" pitchFamily="2" charset="-122"/>
            </a:endParaRPr>
          </a:p>
          <a:p>
            <a:pPr marL="342900" indent="-342900">
              <a:spcBef>
                <a:spcPct val="20000"/>
              </a:spcBef>
              <a:buClr>
                <a:srgbClr val="0033CC"/>
              </a:buClr>
              <a:buSzPct val="80000"/>
            </a:pPr>
            <a:r>
              <a:rPr lang="en-US" altLang="zh-CN" sz="2400" dirty="0">
                <a:latin typeface="华文楷体" panose="02010600040101010101" pitchFamily="2" charset="-122"/>
                <a:ea typeface="宋体" panose="02010600030101010101" pitchFamily="2" charset="-122"/>
              </a:rPr>
              <a:t>WHERE </a:t>
            </a:r>
            <a:r>
              <a:rPr lang="en-US" altLang="zh-CN" sz="2400" dirty="0">
                <a:solidFill>
                  <a:srgbClr val="CC0000"/>
                </a:solidFill>
                <a:latin typeface="华文楷体" panose="02010600040101010101" pitchFamily="2" charset="-122"/>
                <a:ea typeface="宋体" panose="02010600030101010101" pitchFamily="2" charset="-122"/>
              </a:rPr>
              <a:t>EXISTS</a:t>
            </a:r>
            <a:r>
              <a:rPr lang="en-US" altLang="zh-CN" sz="2400" dirty="0">
                <a:latin typeface="华文楷体" panose="02010600040101010101" pitchFamily="2" charset="-122"/>
                <a:ea typeface="宋体" panose="02010600030101010101" pitchFamily="2" charset="-122"/>
              </a:rPr>
              <a:t> (SELECT * FROM  SC </a:t>
            </a:r>
            <a:endParaRPr lang="en-US" altLang="zh-CN" sz="2400" dirty="0">
              <a:latin typeface="华文楷体" panose="02010600040101010101" pitchFamily="2" charset="-122"/>
              <a:ea typeface="宋体" panose="02010600030101010101" pitchFamily="2" charset="-122"/>
            </a:endParaRPr>
          </a:p>
          <a:p>
            <a:pPr marL="342900" indent="-342900">
              <a:spcBef>
                <a:spcPct val="20000"/>
              </a:spcBef>
              <a:buClr>
                <a:srgbClr val="0033CC"/>
              </a:buClr>
              <a:buSzPct val="80000"/>
            </a:pPr>
            <a:r>
              <a:rPr lang="en-US" altLang="zh-CN" sz="2400" dirty="0">
                <a:latin typeface="华文楷体" panose="02010600040101010101" pitchFamily="2" charset="-122"/>
                <a:ea typeface="宋体" panose="02010600030101010101" pitchFamily="2" charset="-122"/>
              </a:rPr>
              <a:t>              WHERE SC.Sid = S.Sid AND </a:t>
            </a:r>
            <a:endParaRPr lang="en-US" altLang="zh-CN" sz="2400" dirty="0">
              <a:latin typeface="华文楷体" panose="02010600040101010101" pitchFamily="2" charset="-122"/>
              <a:ea typeface="宋体" panose="02010600030101010101" pitchFamily="2" charset="-122"/>
            </a:endParaRPr>
          </a:p>
          <a:p>
            <a:pPr marL="342900" indent="-342900">
              <a:spcBef>
                <a:spcPct val="20000"/>
              </a:spcBef>
              <a:buClr>
                <a:srgbClr val="0033CC"/>
              </a:buClr>
              <a:buSzPct val="80000"/>
            </a:pPr>
            <a:r>
              <a:rPr lang="en-US" altLang="zh-CN" sz="2400" dirty="0">
                <a:latin typeface="华文楷体" panose="02010600040101010101" pitchFamily="2" charset="-122"/>
                <a:ea typeface="宋体" panose="02010600030101010101" pitchFamily="2" charset="-122"/>
              </a:rPr>
              <a:t>                    SC.Cid= '0002')</a:t>
            </a:r>
            <a:endParaRPr lang="zh-CN" altLang="en-US" sz="2400" dirty="0">
              <a:latin typeface="华文楷体" panose="02010600040101010101" pitchFamily="2" charset="-122"/>
              <a:ea typeface="宋体" panose="02010600030101010101" pitchFamily="2" charset="-122"/>
            </a:endParaRPr>
          </a:p>
        </p:txBody>
      </p:sp>
      <p:sp>
        <p:nvSpPr>
          <p:cNvPr id="68614" name="AutoShape 4"/>
          <p:cNvSpPr/>
          <p:nvPr/>
        </p:nvSpPr>
        <p:spPr>
          <a:xfrm>
            <a:off x="5327650" y="5340350"/>
            <a:ext cx="3367088" cy="1220788"/>
          </a:xfrm>
          <a:prstGeom prst="wedgeRoundRectCallout">
            <a:avLst>
              <a:gd name="adj1" fmla="val -64375"/>
              <a:gd name="adj2" fmla="val -59005"/>
              <a:gd name="adj3" fmla="val 16667"/>
            </a:avLst>
          </a:prstGeom>
          <a:solidFill>
            <a:srgbClr val="CCFFFF"/>
          </a:solidFill>
          <a:ln w="9525" cap="flat" cmpd="sng">
            <a:solidFill>
              <a:schemeClr val="tx1"/>
            </a:solidFill>
            <a:prstDash val="solid"/>
            <a:miter/>
            <a:headEnd type="none" w="med" len="med"/>
            <a:tailEnd type="none" w="med" len="med"/>
          </a:ln>
        </p:spPr>
        <p:txBody>
          <a:bodyPr lIns="90000" tIns="46800" rIns="90000" bIns="46800" anchor="t" anchorCtr="0"/>
          <a:p>
            <a:r>
              <a:rPr lang="en-US" altLang="zh-CN" sz="2400" dirty="0">
                <a:latin typeface="宋体" panose="02010600030101010101" pitchFamily="2" charset="-122"/>
                <a:ea typeface="宋体" panose="02010600030101010101" pitchFamily="2" charset="-122"/>
              </a:rPr>
              <a:t>SC</a:t>
            </a:r>
            <a:r>
              <a:rPr lang="zh-CN" altLang="en-US" sz="2400" dirty="0">
                <a:latin typeface="宋体" panose="02010600030101010101" pitchFamily="2" charset="-122"/>
                <a:ea typeface="宋体" panose="02010600030101010101" pitchFamily="2" charset="-122"/>
              </a:rPr>
              <a:t>中满足条件的结果元组不空，这些结果对应的</a:t>
            </a:r>
            <a:r>
              <a:rPr lang="en-US" altLang="zh-CN" sz="2400" dirty="0">
                <a:latin typeface="宋体" panose="02010600030101010101" pitchFamily="2" charset="-122"/>
                <a:ea typeface="宋体" panose="02010600030101010101" pitchFamily="2" charset="-122"/>
              </a:rPr>
              <a:t>Sid</a:t>
            </a:r>
            <a:r>
              <a:rPr lang="zh-CN" altLang="en-US" sz="2400" dirty="0">
                <a:latin typeface="宋体" panose="02010600030101010101" pitchFamily="2" charset="-122"/>
                <a:ea typeface="宋体" panose="02010600030101010101" pitchFamily="2" charset="-122"/>
              </a:rPr>
              <a:t>及</a:t>
            </a:r>
            <a:r>
              <a:rPr lang="en-US" altLang="zh-CN" sz="2400" dirty="0">
                <a:latin typeface="宋体" panose="02010600030101010101" pitchFamily="2" charset="-122"/>
                <a:ea typeface="宋体" panose="02010600030101010101" pitchFamily="2" charset="-122"/>
              </a:rPr>
              <a:t>S</a:t>
            </a:r>
            <a:r>
              <a:rPr lang="zh-CN" altLang="en-US" sz="2400" dirty="0">
                <a:latin typeface="宋体" panose="02010600030101010101" pitchFamily="2" charset="-122"/>
                <a:ea typeface="宋体" panose="02010600030101010101" pitchFamily="2" charset="-122"/>
              </a:rPr>
              <a:t>上的</a:t>
            </a:r>
            <a:r>
              <a:rPr lang="en-US" altLang="zh-CN" sz="2400" dirty="0">
                <a:latin typeface="宋体" panose="02010600030101010101" pitchFamily="2" charset="-122"/>
                <a:ea typeface="宋体" panose="02010600030101010101" pitchFamily="2" charset="-122"/>
              </a:rPr>
              <a:t>Sname</a:t>
            </a:r>
            <a:r>
              <a:rPr lang="zh-CN" altLang="en-US" sz="2400" dirty="0">
                <a:latin typeface="宋体" panose="02010600030101010101" pitchFamily="2" charset="-122"/>
                <a:ea typeface="宋体" panose="02010600030101010101" pitchFamily="2" charset="-122"/>
              </a:rPr>
              <a:t>。</a:t>
            </a:r>
            <a:endParaRPr lang="zh-CN" altLang="en-US" sz="2400" dirty="0">
              <a:latin typeface="宋体" panose="02010600030101010101" pitchFamily="2" charset="-122"/>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8613">
                                            <p:txEl>
                                              <p:charRg st="94" end="117"/>
                                            </p:txEl>
                                          </p:spTgt>
                                        </p:tgtEl>
                                        <p:attrNameLst>
                                          <p:attrName>style.visibility</p:attrName>
                                        </p:attrNameLst>
                                      </p:cBhvr>
                                      <p:to>
                                        <p:strVal val="visible"/>
                                      </p:to>
                                    </p:set>
                                    <p:animEffect transition="in" filter="dissolve">
                                      <p:cBhvr>
                                        <p:cTn id="7" dur="500"/>
                                        <p:tgtEl>
                                          <p:spTgt spid="68613">
                                            <p:txEl>
                                              <p:charRg st="94" end="117"/>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68613">
                                            <p:txEl>
                                              <p:charRg st="117" end="152"/>
                                            </p:txEl>
                                          </p:spTgt>
                                        </p:tgtEl>
                                        <p:attrNameLst>
                                          <p:attrName>style.visibility</p:attrName>
                                        </p:attrNameLst>
                                      </p:cBhvr>
                                      <p:to>
                                        <p:strVal val="visible"/>
                                      </p:to>
                                    </p:set>
                                    <p:animEffect transition="in" filter="diamond(in)">
                                      <p:cBhvr>
                                        <p:cTn id="12" dur="2000"/>
                                        <p:tgtEl>
                                          <p:spTgt spid="68613">
                                            <p:txEl>
                                              <p:charRg st="117" end="152"/>
                                            </p:txEl>
                                          </p:spTgt>
                                        </p:tgtEl>
                                      </p:cBhvr>
                                    </p:animEffect>
                                  </p:childTnLst>
                                </p:cTn>
                              </p:par>
                              <p:par>
                                <p:cTn id="13" presetID="8" presetClass="entr" presetSubtype="16" fill="hold" nodeType="withEffect">
                                  <p:stCondLst>
                                    <p:cond delay="0"/>
                                  </p:stCondLst>
                                  <p:childTnLst>
                                    <p:set>
                                      <p:cBhvr>
                                        <p:cTn id="14" dur="1" fill="hold">
                                          <p:stCondLst>
                                            <p:cond delay="0"/>
                                          </p:stCondLst>
                                        </p:cTn>
                                        <p:tgtEl>
                                          <p:spTgt spid="68613">
                                            <p:txEl>
                                              <p:charRg st="152" end="185"/>
                                            </p:txEl>
                                          </p:spTgt>
                                        </p:tgtEl>
                                        <p:attrNameLst>
                                          <p:attrName>style.visibility</p:attrName>
                                        </p:attrNameLst>
                                      </p:cBhvr>
                                      <p:to>
                                        <p:strVal val="visible"/>
                                      </p:to>
                                    </p:set>
                                    <p:animEffect transition="in" filter="diamond(in)">
                                      <p:cBhvr>
                                        <p:cTn id="15" dur="2000"/>
                                        <p:tgtEl>
                                          <p:spTgt spid="68613">
                                            <p:txEl>
                                              <p:charRg st="152" end="185"/>
                                            </p:txEl>
                                          </p:spTgt>
                                        </p:tgtEl>
                                      </p:cBhvr>
                                    </p:animEffect>
                                  </p:childTnLst>
                                </p:cTn>
                              </p:par>
                              <p:par>
                                <p:cTn id="16" presetID="8" presetClass="entr" presetSubtype="16" fill="hold" nodeType="withEffect">
                                  <p:stCondLst>
                                    <p:cond delay="0"/>
                                  </p:stCondLst>
                                  <p:childTnLst>
                                    <p:set>
                                      <p:cBhvr>
                                        <p:cTn id="17" dur="1" fill="hold">
                                          <p:stCondLst>
                                            <p:cond delay="0"/>
                                          </p:stCondLst>
                                        </p:cTn>
                                        <p:tgtEl>
                                          <p:spTgt spid="68613">
                                            <p:txEl>
                                              <p:charRg st="185" end="225"/>
                                            </p:txEl>
                                          </p:spTgt>
                                        </p:tgtEl>
                                        <p:attrNameLst>
                                          <p:attrName>style.visibility</p:attrName>
                                        </p:attrNameLst>
                                      </p:cBhvr>
                                      <p:to>
                                        <p:strVal val="visible"/>
                                      </p:to>
                                    </p:set>
                                    <p:animEffect transition="in" filter="diamond(in)">
                                      <p:cBhvr>
                                        <p:cTn id="18" dur="2000"/>
                                        <p:tgtEl>
                                          <p:spTgt spid="68613">
                                            <p:txEl>
                                              <p:charRg st="185" end="225"/>
                                            </p:txEl>
                                          </p:spTgt>
                                        </p:tgtEl>
                                      </p:cBhvr>
                                    </p:animEffect>
                                  </p:childTnLst>
                                </p:cTn>
                              </p:par>
                              <p:par>
                                <p:cTn id="19" presetID="8" presetClass="entr" presetSubtype="16" fill="hold" nodeType="withEffect">
                                  <p:stCondLst>
                                    <p:cond delay="0"/>
                                  </p:stCondLst>
                                  <p:childTnLst>
                                    <p:set>
                                      <p:cBhvr>
                                        <p:cTn id="20" dur="1" fill="hold">
                                          <p:stCondLst>
                                            <p:cond delay="0"/>
                                          </p:stCondLst>
                                        </p:cTn>
                                        <p:tgtEl>
                                          <p:spTgt spid="68613">
                                            <p:txEl>
                                              <p:charRg st="225" end="261"/>
                                            </p:txEl>
                                          </p:spTgt>
                                        </p:tgtEl>
                                        <p:attrNameLst>
                                          <p:attrName>style.visibility</p:attrName>
                                        </p:attrNameLst>
                                      </p:cBhvr>
                                      <p:to>
                                        <p:strVal val="visible"/>
                                      </p:to>
                                    </p:set>
                                    <p:animEffect transition="in" filter="diamond(in)">
                                      <p:cBhvr>
                                        <p:cTn id="21" dur="2000"/>
                                        <p:tgtEl>
                                          <p:spTgt spid="68613">
                                            <p:txEl>
                                              <p:charRg st="225" end="26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3" presetClass="entr" presetSubtype="16" fill="hold" grpId="0" nodeType="clickEffect">
                                  <p:stCondLst>
                                    <p:cond delay="0"/>
                                  </p:stCondLst>
                                  <p:childTnLst>
                                    <p:set>
                                      <p:cBhvr>
                                        <p:cTn id="25" dur="1" fill="hold">
                                          <p:stCondLst>
                                            <p:cond delay="0"/>
                                          </p:stCondLst>
                                        </p:cTn>
                                        <p:tgtEl>
                                          <p:spTgt spid="68614"/>
                                        </p:tgtEl>
                                        <p:attrNameLst>
                                          <p:attrName>style.visibility</p:attrName>
                                        </p:attrNameLst>
                                      </p:cBhvr>
                                      <p:to>
                                        <p:strVal val="visible"/>
                                      </p:to>
                                    </p:set>
                                    <p:animEffect transition="in" filter="plus(in)">
                                      <p:cBhvr>
                                        <p:cTn id="26" dur="2000"/>
                                        <p:tgtEl>
                                          <p:spTgt spid="686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4" grpId="0" bldLvl="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7" name="Rectangle 2"/>
          <p:cNvSpPr txBox="1"/>
          <p:nvPr/>
        </p:nvSpPr>
        <p:spPr>
          <a:xfrm>
            <a:off x="508000" y="885825"/>
            <a:ext cx="7086600" cy="747713"/>
          </a:xfrm>
          <a:prstGeom prst="rect">
            <a:avLst/>
          </a:prstGeom>
          <a:noFill/>
          <a:ln w="9525">
            <a:noFill/>
          </a:ln>
        </p:spPr>
        <p:txBody>
          <a:bodyPr anchor="t" anchorCtr="0"/>
          <a:p>
            <a:pPr>
              <a:buFont typeface="Wingdings" panose="05000000000000000000" pitchFamily="2" charset="2"/>
              <a:buChar char="p"/>
            </a:pPr>
            <a:r>
              <a:rPr lang="zh-CN" altLang="en-US" sz="2800" dirty="0">
                <a:solidFill>
                  <a:srgbClr val="3333CC"/>
                </a:solidFill>
                <a:latin typeface="宋体" panose="02010600030101010101" pitchFamily="2" charset="-122"/>
                <a:ea typeface="黑体" panose="02010609060101010101" pitchFamily="1" charset="-122"/>
              </a:rPr>
              <a:t> 特殊运算符 </a:t>
            </a:r>
            <a:r>
              <a:rPr lang="en-US" altLang="zh-CN" sz="2800" dirty="0">
                <a:solidFill>
                  <a:srgbClr val="3333CC"/>
                </a:solidFill>
                <a:latin typeface="宋体" panose="02010600030101010101" pitchFamily="2" charset="-122"/>
                <a:ea typeface="黑体" panose="02010609060101010101" pitchFamily="1" charset="-122"/>
              </a:rPr>
              <a:t>- [NOT] EXISTS</a:t>
            </a:r>
            <a:endParaRPr lang="en-US" altLang="zh-CN" sz="2800" dirty="0">
              <a:solidFill>
                <a:srgbClr val="3333CC"/>
              </a:solidFill>
              <a:latin typeface="宋体" panose="02010600030101010101" pitchFamily="2" charset="-122"/>
              <a:ea typeface="黑体" panose="02010609060101010101" pitchFamily="1" charset="-122"/>
            </a:endParaRPr>
          </a:p>
        </p:txBody>
      </p:sp>
      <p:sp>
        <p:nvSpPr>
          <p:cNvPr id="91138"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三、数据库操纵子语言及其操作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91139" name="Rectangle 3"/>
          <p:cNvSpPr txBox="1"/>
          <p:nvPr/>
        </p:nvSpPr>
        <p:spPr>
          <a:xfrm>
            <a:off x="555625" y="1395413"/>
            <a:ext cx="8137525" cy="4281487"/>
          </a:xfrm>
          <a:prstGeom prst="rect">
            <a:avLst/>
          </a:prstGeom>
          <a:noFill/>
          <a:ln w="9525">
            <a:noFill/>
          </a:ln>
        </p:spPr>
        <p:txBody>
          <a:bodyPr anchor="t" anchorCtr="0"/>
          <a:p>
            <a:pPr>
              <a:buClr>
                <a:srgbClr val="0033CC"/>
              </a:buClr>
              <a:buSzPct val="80000"/>
            </a:pPr>
            <a:endParaRPr lang="en-US" altLang="x-none" sz="2000" dirty="0">
              <a:latin typeface="华文楷体" panose="02010600040101010101" pitchFamily="2" charset="-122"/>
              <a:ea typeface="宋体" panose="02010600030101010101" pitchFamily="2" charset="-122"/>
            </a:endParaRPr>
          </a:p>
        </p:txBody>
      </p:sp>
      <p:sp>
        <p:nvSpPr>
          <p:cNvPr id="91140" name="矩形 4"/>
          <p:cNvSpPr/>
          <p:nvPr/>
        </p:nvSpPr>
        <p:spPr>
          <a:xfrm>
            <a:off x="668338" y="3248025"/>
            <a:ext cx="8272462" cy="1198880"/>
          </a:xfrm>
          <a:prstGeom prst="rect">
            <a:avLst/>
          </a:prstGeom>
          <a:noFill/>
          <a:ln w="9525">
            <a:noFill/>
          </a:ln>
        </p:spPr>
        <p:txBody>
          <a:bodyPr anchor="t" anchorCtr="0">
            <a:spAutoFit/>
          </a:bodyPr>
          <a:p>
            <a:r>
              <a:rPr lang="en-US" altLang="zh-CN" sz="2400" dirty="0">
                <a:latin typeface="Arial" panose="020B0604020202020204" pitchFamily="34" charset="0"/>
                <a:ea typeface="宋体" panose="02010600030101010101" pitchFamily="2" charset="-122"/>
              </a:rPr>
              <a:t>select * from Stu ts where not exists (</a:t>
            </a:r>
            <a:r>
              <a:rPr lang="en-US" altLang="zh-CN" sz="2400" dirty="0">
                <a:solidFill>
                  <a:srgbClr val="0033CC"/>
                </a:solidFill>
                <a:latin typeface="Arial" panose="020B0604020202020204" pitchFamily="34" charset="0"/>
                <a:ea typeface="宋体" panose="02010600030101010101" pitchFamily="2" charset="-122"/>
              </a:rPr>
              <a:t>select * from Course c where not exists (select * from ctake </a:t>
            </a:r>
            <a:r>
              <a:rPr lang="en-US" altLang="zh-CN" sz="2400" dirty="0">
                <a:solidFill>
                  <a:srgbClr val="0033CC"/>
                </a:solidFill>
                <a:latin typeface="Arial" panose="020B0604020202020204" pitchFamily="34" charset="0"/>
                <a:ea typeface="宋体" panose="02010600030101010101" pitchFamily="2" charset="-122"/>
              </a:rPr>
              <a:t>SC where SC.Sid=ts.Sid and SC.Cid=C.Cid))—</a:t>
            </a:r>
            <a:r>
              <a:rPr lang="zh-CN" altLang="en-US" sz="2400" dirty="0">
                <a:solidFill>
                  <a:srgbClr val="0033CC"/>
                </a:solidFill>
                <a:latin typeface="Arial" panose="020B0604020202020204" pitchFamily="34" charset="0"/>
                <a:ea typeface="宋体" panose="02010600030101010101" pitchFamily="2" charset="-122"/>
              </a:rPr>
              <a:t>没被选的课</a:t>
            </a:r>
            <a:endParaRPr lang="zh-CN" altLang="en-US" sz="2400" dirty="0">
              <a:solidFill>
                <a:srgbClr val="0033CC"/>
              </a:solidFill>
              <a:latin typeface="Arial" panose="020B0604020202020204" pitchFamily="34" charset="0"/>
              <a:ea typeface="宋体" panose="02010600030101010101" pitchFamily="2" charset="-122"/>
            </a:endParaRPr>
          </a:p>
        </p:txBody>
      </p:sp>
      <p:sp>
        <p:nvSpPr>
          <p:cNvPr id="91141" name="Rectangle 2"/>
          <p:cNvSpPr txBox="1"/>
          <p:nvPr/>
        </p:nvSpPr>
        <p:spPr>
          <a:xfrm>
            <a:off x="631825" y="2765425"/>
            <a:ext cx="7086600" cy="747713"/>
          </a:xfrm>
          <a:prstGeom prst="rect">
            <a:avLst/>
          </a:prstGeom>
          <a:noFill/>
          <a:ln w="9525">
            <a:noFill/>
          </a:ln>
        </p:spPr>
        <p:txBody>
          <a:bodyPr anchor="t" anchorCtr="0"/>
          <a:p>
            <a:pPr>
              <a:buFont typeface="Wingdings" panose="05000000000000000000" pitchFamily="2" charset="2"/>
              <a:buChar char="Ø"/>
            </a:pPr>
            <a:r>
              <a:rPr lang="en-US" altLang="zh-CN" sz="2800" dirty="0">
                <a:solidFill>
                  <a:srgbClr val="FF0000"/>
                </a:solidFill>
                <a:latin typeface="宋体" panose="02010600030101010101" pitchFamily="2" charset="-122"/>
                <a:ea typeface="黑体" panose="02010609060101010101" pitchFamily="1" charset="-122"/>
              </a:rPr>
              <a:t> </a:t>
            </a:r>
            <a:r>
              <a:rPr lang="zh-CN" altLang="en-US" sz="2800" dirty="0">
                <a:solidFill>
                  <a:srgbClr val="FF0000"/>
                </a:solidFill>
                <a:latin typeface="宋体" panose="02010600030101010101" pitchFamily="2" charset="-122"/>
                <a:ea typeface="黑体" panose="02010609060101010101" pitchFamily="1" charset="-122"/>
              </a:rPr>
              <a:t>例：查询全选了课程的学生</a:t>
            </a:r>
            <a:endParaRPr lang="en-US" altLang="zh-CN" sz="2800" dirty="0">
              <a:solidFill>
                <a:srgbClr val="FF0000"/>
              </a:solidFill>
              <a:latin typeface="宋体" panose="02010600030101010101" pitchFamily="2" charset="-122"/>
              <a:ea typeface="黑体" panose="02010609060101010101" pitchFamily="1" charset="-122"/>
            </a:endParaRPr>
          </a:p>
        </p:txBody>
      </p:sp>
      <p:sp>
        <p:nvSpPr>
          <p:cNvPr id="91142" name="Rectangle 2"/>
          <p:cNvSpPr txBox="1"/>
          <p:nvPr/>
        </p:nvSpPr>
        <p:spPr>
          <a:xfrm>
            <a:off x="623888" y="4456113"/>
            <a:ext cx="7086600" cy="747712"/>
          </a:xfrm>
          <a:prstGeom prst="rect">
            <a:avLst/>
          </a:prstGeom>
          <a:noFill/>
          <a:ln w="9525">
            <a:noFill/>
          </a:ln>
        </p:spPr>
        <p:txBody>
          <a:bodyPr anchor="t" anchorCtr="0"/>
          <a:p>
            <a:pPr>
              <a:buFont typeface="Wingdings" panose="05000000000000000000" pitchFamily="2" charset="2"/>
              <a:buChar char="Ø"/>
            </a:pPr>
            <a:r>
              <a:rPr lang="en-US" altLang="zh-CN" sz="2800" dirty="0">
                <a:solidFill>
                  <a:srgbClr val="3333CC"/>
                </a:solidFill>
                <a:latin typeface="宋体" panose="02010600030101010101" pitchFamily="2" charset="-122"/>
                <a:ea typeface="黑体" panose="02010609060101010101" pitchFamily="1" charset="-122"/>
              </a:rPr>
              <a:t> </a:t>
            </a:r>
            <a:r>
              <a:rPr lang="zh-CN" altLang="en-US" sz="2800" dirty="0">
                <a:solidFill>
                  <a:srgbClr val="FF0000"/>
                </a:solidFill>
                <a:latin typeface="宋体" panose="02010600030101010101" pitchFamily="2" charset="-122"/>
                <a:ea typeface="黑体" panose="02010609060101010101" pitchFamily="1" charset="-122"/>
              </a:rPr>
              <a:t>例：查询没有选择所有课程的学生</a:t>
            </a:r>
            <a:endParaRPr lang="en-US" altLang="zh-CN" sz="2800" dirty="0">
              <a:solidFill>
                <a:srgbClr val="FF0000"/>
              </a:solidFill>
              <a:latin typeface="宋体" panose="02010600030101010101" pitchFamily="2" charset="-122"/>
              <a:ea typeface="黑体" panose="02010609060101010101" pitchFamily="1" charset="-122"/>
            </a:endParaRPr>
          </a:p>
        </p:txBody>
      </p:sp>
      <p:sp>
        <p:nvSpPr>
          <p:cNvPr id="91143" name="矩形 7"/>
          <p:cNvSpPr/>
          <p:nvPr/>
        </p:nvSpPr>
        <p:spPr>
          <a:xfrm>
            <a:off x="573088" y="5022850"/>
            <a:ext cx="8570912" cy="1198880"/>
          </a:xfrm>
          <a:prstGeom prst="rect">
            <a:avLst/>
          </a:prstGeom>
          <a:noFill/>
          <a:ln w="9525">
            <a:noFill/>
          </a:ln>
        </p:spPr>
        <p:txBody>
          <a:bodyPr anchor="t" anchorCtr="0">
            <a:spAutoFit/>
          </a:bodyPr>
          <a:p>
            <a:r>
              <a:rPr lang="en-US" altLang="zh-CN" sz="2400" dirty="0">
                <a:latin typeface="Arial" panose="020B0604020202020204" pitchFamily="34" charset="0"/>
                <a:ea typeface="宋体" panose="02010600030101010101" pitchFamily="2" charset="-122"/>
              </a:rPr>
              <a:t>select Sid,Sname from Stu where exists  (select * from course where not exists  (select * from </a:t>
            </a:r>
            <a:r>
              <a:rPr lang="en-US" altLang="zh-CN" sz="2400" dirty="0">
                <a:latin typeface="Arial" panose="020B0604020202020204" pitchFamily="34" charset="0"/>
                <a:ea typeface="宋体" panose="02010600030101010101" pitchFamily="2" charset="-122"/>
              </a:rPr>
              <a:t>Ctake SC where SC.Sid=Stu.Sid and Cid=course.Cid))</a:t>
            </a:r>
            <a:endParaRPr lang="zh-CN" altLang="en-US" sz="2400" dirty="0">
              <a:latin typeface="Arial" panose="020B0604020202020204" pitchFamily="34" charset="0"/>
              <a:ea typeface="宋体" panose="02010600030101010101" pitchFamily="2" charset="-122"/>
            </a:endParaRPr>
          </a:p>
        </p:txBody>
      </p:sp>
      <p:pic>
        <p:nvPicPr>
          <p:cNvPr id="2" name="图片 1"/>
          <p:cNvPicPr>
            <a:picLocks noChangeAspect="1"/>
          </p:cNvPicPr>
          <p:nvPr/>
        </p:nvPicPr>
        <p:blipFill>
          <a:blip r:embed="rId1"/>
          <a:srcRect l="15463" t="5070"/>
          <a:stretch>
            <a:fillRect/>
          </a:stretch>
        </p:blipFill>
        <p:spPr>
          <a:xfrm>
            <a:off x="624205" y="1397635"/>
            <a:ext cx="2624455" cy="1080135"/>
          </a:xfrm>
          <a:prstGeom prst="rect">
            <a:avLst/>
          </a:prstGeom>
          <a:ln>
            <a:solidFill>
              <a:schemeClr val="accent1"/>
            </a:solidFill>
          </a:ln>
        </p:spPr>
      </p:pic>
      <p:pic>
        <p:nvPicPr>
          <p:cNvPr id="3" name="图片 2"/>
          <p:cNvPicPr>
            <a:picLocks noChangeAspect="1"/>
          </p:cNvPicPr>
          <p:nvPr/>
        </p:nvPicPr>
        <p:blipFill>
          <a:blip r:embed="rId2"/>
          <a:srcRect l="14665"/>
          <a:stretch>
            <a:fillRect/>
          </a:stretch>
        </p:blipFill>
        <p:spPr>
          <a:xfrm>
            <a:off x="3411855" y="1397000"/>
            <a:ext cx="2815590" cy="1214120"/>
          </a:xfrm>
          <a:prstGeom prst="rect">
            <a:avLst/>
          </a:prstGeom>
          <a:ln>
            <a:solidFill>
              <a:schemeClr val="accent1"/>
            </a:solidFill>
          </a:ln>
        </p:spPr>
      </p:pic>
      <p:pic>
        <p:nvPicPr>
          <p:cNvPr id="4" name="图片 3"/>
          <p:cNvPicPr>
            <a:picLocks noChangeAspect="1"/>
          </p:cNvPicPr>
          <p:nvPr/>
        </p:nvPicPr>
        <p:blipFill>
          <a:blip r:embed="rId3"/>
          <a:srcRect l="13351"/>
          <a:stretch>
            <a:fillRect/>
          </a:stretch>
        </p:blipFill>
        <p:spPr>
          <a:xfrm>
            <a:off x="6227445" y="1073785"/>
            <a:ext cx="2488891" cy="2052000"/>
          </a:xfrm>
          <a:prstGeom prst="rect">
            <a:avLst/>
          </a:prstGeom>
          <a:ln>
            <a:solidFill>
              <a:schemeClr val="accent1"/>
            </a:solidFill>
          </a:ln>
        </p:spPr>
      </p:pic>
      <p:pic>
        <p:nvPicPr>
          <p:cNvPr id="5" name="图片 4"/>
          <p:cNvPicPr>
            <a:picLocks noChangeAspect="1"/>
          </p:cNvPicPr>
          <p:nvPr/>
        </p:nvPicPr>
        <p:blipFill>
          <a:blip r:embed="rId4"/>
          <a:srcRect l="1395"/>
          <a:stretch>
            <a:fillRect/>
          </a:stretch>
        </p:blipFill>
        <p:spPr>
          <a:xfrm>
            <a:off x="1256665" y="1955800"/>
            <a:ext cx="6084251" cy="2052000"/>
          </a:xfrm>
          <a:prstGeom prst="rect">
            <a:avLst/>
          </a:prstGeom>
          <a:ln>
            <a:solidFill>
              <a:schemeClr val="accent1"/>
            </a:solidFill>
          </a:ln>
        </p:spPr>
      </p:pic>
      <p:pic>
        <p:nvPicPr>
          <p:cNvPr id="6" name="图片 5"/>
          <p:cNvPicPr>
            <a:picLocks noChangeAspect="1"/>
          </p:cNvPicPr>
          <p:nvPr/>
        </p:nvPicPr>
        <p:blipFill>
          <a:blip r:embed="rId5"/>
          <a:stretch>
            <a:fillRect/>
          </a:stretch>
        </p:blipFill>
        <p:spPr>
          <a:xfrm>
            <a:off x="2232025" y="4046855"/>
            <a:ext cx="6484769" cy="2232000"/>
          </a:xfrm>
          <a:prstGeom prst="rect">
            <a:avLst/>
          </a:prstGeom>
          <a:ln>
            <a:solidFill>
              <a:schemeClr val="accent1"/>
            </a:solid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1140"/>
                                        </p:tgtEl>
                                        <p:attrNameLst>
                                          <p:attrName>style.visibility</p:attrName>
                                        </p:attrNameLst>
                                      </p:cBhvr>
                                      <p:to>
                                        <p:strVal val="visible"/>
                                      </p:to>
                                    </p:set>
                                    <p:anim calcmode="lin" valueType="num">
                                      <p:cBhvr additive="base">
                                        <p:cTn id="7" dur="500" fill="hold"/>
                                        <p:tgtEl>
                                          <p:spTgt spid="91140"/>
                                        </p:tgtEl>
                                        <p:attrNameLst>
                                          <p:attrName>ppt_x</p:attrName>
                                        </p:attrNameLst>
                                      </p:cBhvr>
                                      <p:tavLst>
                                        <p:tav tm="0">
                                          <p:val>
                                            <p:strVal val="#ppt_x"/>
                                          </p:val>
                                        </p:tav>
                                        <p:tav tm="100000">
                                          <p:val>
                                            <p:strVal val="#ppt_x"/>
                                          </p:val>
                                        </p:tav>
                                      </p:tavLst>
                                    </p:anim>
                                    <p:anim calcmode="lin" valueType="num">
                                      <p:cBhvr additive="base">
                                        <p:cTn id="8" dur="500" fill="hold"/>
                                        <p:tgtEl>
                                          <p:spTgt spid="9114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1143"/>
                                        </p:tgtEl>
                                        <p:attrNameLst>
                                          <p:attrName>style.visibility</p:attrName>
                                        </p:attrNameLst>
                                      </p:cBhvr>
                                      <p:to>
                                        <p:strVal val="visible"/>
                                      </p:to>
                                    </p:set>
                                    <p:anim calcmode="lin" valueType="num">
                                      <p:cBhvr additive="base">
                                        <p:cTn id="19" dur="500" fill="hold"/>
                                        <p:tgtEl>
                                          <p:spTgt spid="91143"/>
                                        </p:tgtEl>
                                        <p:attrNameLst>
                                          <p:attrName>ppt_x</p:attrName>
                                        </p:attrNameLst>
                                      </p:cBhvr>
                                      <p:tavLst>
                                        <p:tav tm="0">
                                          <p:val>
                                            <p:strVal val="#ppt_x"/>
                                          </p:val>
                                        </p:tav>
                                        <p:tav tm="100000">
                                          <p:val>
                                            <p:strVal val="#ppt_x"/>
                                          </p:val>
                                        </p:tav>
                                      </p:tavLst>
                                    </p:anim>
                                    <p:anim calcmode="lin" valueType="num">
                                      <p:cBhvr additive="base">
                                        <p:cTn id="20" dur="500" fill="hold"/>
                                        <p:tgtEl>
                                          <p:spTgt spid="9114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ppt_x"/>
                                          </p:val>
                                        </p:tav>
                                        <p:tav tm="100000">
                                          <p:val>
                                            <p:strVal val="#ppt_x"/>
                                          </p:val>
                                        </p:tav>
                                      </p:tavLst>
                                    </p:anim>
                                    <p:anim calcmode="lin" valueType="num">
                                      <p:cBhvr additive="base">
                                        <p:cTn id="2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40" grpId="0"/>
      <p:bldP spid="91140" grpId="1"/>
      <p:bldP spid="91143" grpId="0"/>
      <p:bldP spid="91143" grpId="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 name="文本框 44"/>
          <p:cNvSpPr txBox="1"/>
          <p:nvPr/>
        </p:nvSpPr>
        <p:spPr>
          <a:xfrm>
            <a:off x="452438" y="0"/>
            <a:ext cx="2681288" cy="830263"/>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问题研讨：</a:t>
            </a:r>
            <a:endParaRPr kumimoji="0" lang="zh-CN" altLang="en-US" sz="3200" kern="1200" cap="none" spc="0" normalizeH="0" baseline="0" noProof="0" dirty="0">
              <a:latin typeface="Arial" panose="020B0604020202020204" pitchFamily="34" charset="0"/>
              <a:ea typeface="宋体" panose="02010600030101010101" pitchFamily="2" charset="-122"/>
              <a:cs typeface="+mn-cs"/>
            </a:endParaRPr>
          </a:p>
        </p:txBody>
      </p:sp>
      <p:sp>
        <p:nvSpPr>
          <p:cNvPr id="103427" name="文本框 99"/>
          <p:cNvSpPr txBox="1"/>
          <p:nvPr/>
        </p:nvSpPr>
        <p:spPr>
          <a:xfrm>
            <a:off x="542925" y="1023303"/>
            <a:ext cx="8601075" cy="52260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ts val="200"/>
              </a:spcBef>
              <a:buClrTx/>
              <a:buSzTx/>
              <a:buFont typeface="Arial" panose="020B0604020202020204" pitchFamily="34" charset="0"/>
              <a:buNone/>
            </a:pPr>
            <a:r>
              <a:rPr lang="en-US" altLang="zh-CN" dirty="0">
                <a:latin typeface="Calibri" panose="020F0502020204030204" pitchFamily="34" charset="0"/>
                <a:cs typeface="Times New Roman" panose="02020603050405020304" pitchFamily="2" charset="0"/>
              </a:rPr>
              <a:t>1</a:t>
            </a:r>
            <a:r>
              <a:rPr lang="zh-CN" altLang="zh-CN" dirty="0">
                <a:latin typeface="Calibri" panose="020F0502020204030204" pitchFamily="34" charset="0"/>
              </a:rPr>
              <a:t>、</a:t>
            </a:r>
            <a:r>
              <a:rPr lang="en-US" altLang="zh-CN" dirty="0">
                <a:latin typeface="Calibri" panose="020F0502020204030204" pitchFamily="34" charset="0"/>
                <a:cs typeface="Times New Roman" panose="02020603050405020304" pitchFamily="2" charset="0"/>
              </a:rPr>
              <a:t>SELECT</a:t>
            </a:r>
            <a:r>
              <a:rPr lang="zh-CN" altLang="zh-CN" dirty="0">
                <a:latin typeface="Calibri" panose="020F0502020204030204" pitchFamily="34" charset="0"/>
              </a:rPr>
              <a:t>语句的完整语法较复杂，但至少包括的部分是（</a:t>
            </a:r>
            <a:r>
              <a:rPr lang="en-US" altLang="zh-CN" dirty="0">
                <a:latin typeface="Calibri" panose="020F0502020204030204" pitchFamily="34" charset="0"/>
                <a:cs typeface="Times New Roman" panose="02020603050405020304" pitchFamily="2" charset="0"/>
              </a:rPr>
              <a:t>    </a:t>
            </a:r>
            <a:r>
              <a:rPr lang="zh-CN" altLang="zh-CN" dirty="0">
                <a:latin typeface="Calibri" panose="020F0502020204030204" pitchFamily="34" charset="0"/>
              </a:rPr>
              <a:t>）</a:t>
            </a:r>
            <a:endParaRPr lang="en-US" altLang="zh-CN" dirty="0">
              <a:latin typeface="Calibri" panose="020F0502020204030204" pitchFamily="34" charset="0"/>
              <a:cs typeface="Times New Roman" panose="02020603050405020304" pitchFamily="2" charset="0"/>
            </a:endParaRPr>
          </a:p>
          <a:p>
            <a:pPr marL="0" lvl="0" indent="0" eaLnBrk="1" hangingPunct="1">
              <a:spcBef>
                <a:spcPts val="200"/>
              </a:spcBef>
              <a:buClrTx/>
              <a:buSzTx/>
              <a:buFont typeface="Arial" panose="020B0604020202020204" pitchFamily="34" charset="0"/>
              <a:buNone/>
            </a:pPr>
            <a:r>
              <a:rPr lang="en-US" altLang="zh-CN" b="0" dirty="0">
                <a:latin typeface="Calibri" panose="020F0502020204030204" pitchFamily="34" charset="0"/>
                <a:cs typeface="Times New Roman" panose="02020603050405020304" pitchFamily="2" charset="0"/>
              </a:rPr>
              <a:t>  A</a:t>
            </a:r>
            <a:r>
              <a:rPr lang="zh-CN" altLang="zh-CN" b="0" dirty="0">
                <a:latin typeface="Calibri" panose="020F0502020204030204" pitchFamily="34" charset="0"/>
              </a:rPr>
              <a:t>．仅</a:t>
            </a:r>
            <a:r>
              <a:rPr lang="en-US" altLang="zh-CN" b="0" dirty="0">
                <a:latin typeface="Calibri" panose="020F0502020204030204" pitchFamily="34" charset="0"/>
              </a:rPr>
              <a:t>SELECT </a:t>
            </a:r>
            <a:r>
              <a:rPr lang="en-US" altLang="zh-CN" b="0" dirty="0">
                <a:latin typeface="Calibri" panose="020F0502020204030204" pitchFamily="34" charset="0"/>
                <a:cs typeface="Times New Roman" panose="02020603050405020304" pitchFamily="2" charset="0"/>
              </a:rPr>
              <a:t>                 </a:t>
            </a:r>
            <a:r>
              <a:rPr lang="en-US" altLang="zh-CN" b="0" dirty="0">
                <a:latin typeface="Calibri" panose="020F0502020204030204" pitchFamily="34" charset="0"/>
              </a:rPr>
              <a:t>B</a:t>
            </a:r>
            <a:r>
              <a:rPr lang="zh-CN" altLang="zh-CN" b="0" dirty="0">
                <a:latin typeface="Calibri" panose="020F0502020204030204" pitchFamily="34" charset="0"/>
              </a:rPr>
              <a:t>．</a:t>
            </a:r>
            <a:r>
              <a:rPr lang="en-US" altLang="zh-CN" b="0" dirty="0">
                <a:latin typeface="Calibri" panose="020F0502020204030204" pitchFamily="34" charset="0"/>
              </a:rPr>
              <a:t>SELECT</a:t>
            </a:r>
            <a:r>
              <a:rPr lang="zh-CN" altLang="zh-CN" b="0" dirty="0">
                <a:latin typeface="Calibri" panose="020F0502020204030204" pitchFamily="34" charset="0"/>
              </a:rPr>
              <a:t>，</a:t>
            </a:r>
            <a:r>
              <a:rPr lang="en-US" altLang="zh-CN" b="0" dirty="0">
                <a:latin typeface="Calibri" panose="020F0502020204030204" pitchFamily="34" charset="0"/>
              </a:rPr>
              <a:t>FROM  </a:t>
            </a:r>
            <a:r>
              <a:rPr lang="en-US" altLang="zh-CN" b="0" dirty="0">
                <a:latin typeface="Calibri" panose="020F0502020204030204" pitchFamily="34" charset="0"/>
                <a:cs typeface="Times New Roman" panose="02020603050405020304" pitchFamily="2" charset="0"/>
              </a:rPr>
              <a:t>   </a:t>
            </a:r>
            <a:endParaRPr lang="en-US" altLang="zh-CN" b="0" dirty="0">
              <a:latin typeface="Calibri" panose="020F0502020204030204" pitchFamily="34" charset="0"/>
              <a:cs typeface="Times New Roman" panose="02020603050405020304" pitchFamily="2" charset="0"/>
            </a:endParaRPr>
          </a:p>
          <a:p>
            <a:pPr marL="0" lvl="0" indent="0" eaLnBrk="1" hangingPunct="1">
              <a:spcBef>
                <a:spcPct val="0"/>
              </a:spcBef>
              <a:buClrTx/>
              <a:buSzTx/>
              <a:buFont typeface="Arial" panose="020B0604020202020204" pitchFamily="34" charset="0"/>
              <a:buNone/>
            </a:pPr>
            <a:r>
              <a:rPr lang="en-US" altLang="zh-CN" b="0" dirty="0">
                <a:latin typeface="Calibri" panose="020F0502020204030204" pitchFamily="34" charset="0"/>
                <a:cs typeface="Times New Roman" panose="02020603050405020304" pitchFamily="2" charset="0"/>
              </a:rPr>
              <a:t>  C</a:t>
            </a:r>
            <a:r>
              <a:rPr lang="zh-CN" altLang="zh-CN" b="0" dirty="0">
                <a:latin typeface="Calibri" panose="020F0502020204030204" pitchFamily="34" charset="0"/>
              </a:rPr>
              <a:t>．</a:t>
            </a:r>
            <a:r>
              <a:rPr lang="en-US" altLang="zh-CN" b="0" dirty="0">
                <a:latin typeface="Calibri" panose="020F0502020204030204" pitchFamily="34" charset="0"/>
              </a:rPr>
              <a:t>SELECT</a:t>
            </a:r>
            <a:r>
              <a:rPr lang="zh-CN" altLang="zh-CN" b="0" dirty="0">
                <a:latin typeface="Calibri" panose="020F0502020204030204" pitchFamily="34" charset="0"/>
              </a:rPr>
              <a:t>，</a:t>
            </a:r>
            <a:r>
              <a:rPr lang="en-US" altLang="zh-CN" b="0" dirty="0">
                <a:latin typeface="Calibri" panose="020F0502020204030204" pitchFamily="34" charset="0"/>
              </a:rPr>
              <a:t>GROUP </a:t>
            </a:r>
            <a:r>
              <a:rPr lang="en-US" altLang="zh-CN" b="0" dirty="0">
                <a:latin typeface="Calibri" panose="020F0502020204030204" pitchFamily="34" charset="0"/>
                <a:cs typeface="Times New Roman" panose="02020603050405020304" pitchFamily="2" charset="0"/>
              </a:rPr>
              <a:t>    </a:t>
            </a:r>
            <a:r>
              <a:rPr lang="en-US" altLang="zh-CN" b="0" dirty="0">
                <a:latin typeface="Calibri" panose="020F0502020204030204" pitchFamily="34" charset="0"/>
              </a:rPr>
              <a:t>D</a:t>
            </a:r>
            <a:r>
              <a:rPr lang="zh-CN" altLang="zh-CN" b="0" dirty="0">
                <a:latin typeface="Calibri" panose="020F0502020204030204" pitchFamily="34" charset="0"/>
              </a:rPr>
              <a:t>．</a:t>
            </a:r>
            <a:r>
              <a:rPr lang="en-US" altLang="zh-CN" b="0" dirty="0">
                <a:latin typeface="Calibri" panose="020F0502020204030204" pitchFamily="34" charset="0"/>
              </a:rPr>
              <a:t>SELECT</a:t>
            </a:r>
            <a:r>
              <a:rPr lang="zh-CN" altLang="zh-CN" b="0" dirty="0">
                <a:latin typeface="Calibri" panose="020F0502020204030204" pitchFamily="34" charset="0"/>
              </a:rPr>
              <a:t>，</a:t>
            </a:r>
            <a:r>
              <a:rPr lang="en-US" altLang="zh-CN" b="0" dirty="0">
                <a:latin typeface="Calibri" panose="020F0502020204030204" pitchFamily="34" charset="0"/>
              </a:rPr>
              <a:t>INTO </a:t>
            </a:r>
            <a:endParaRPr lang="en-US" altLang="zh-CN" b="0" dirty="0">
              <a:latin typeface="Calibri" panose="020F0502020204030204" pitchFamily="34" charset="0"/>
            </a:endParaRPr>
          </a:p>
          <a:p>
            <a:pPr marL="0" lvl="0" indent="0" eaLnBrk="1" hangingPunct="1">
              <a:lnSpc>
                <a:spcPct val="100000"/>
              </a:lnSpc>
              <a:spcBef>
                <a:spcPts val="400"/>
              </a:spcBef>
              <a:spcAft>
                <a:spcPts val="0"/>
              </a:spcAft>
              <a:buClrTx/>
              <a:buSzTx/>
              <a:buFont typeface="Arial" panose="020B0604020202020204" pitchFamily="34" charset="0"/>
              <a:buNone/>
            </a:pPr>
            <a:r>
              <a:rPr lang="en-US" altLang="zh-CN" dirty="0"/>
              <a:t>2</a:t>
            </a:r>
            <a:r>
              <a:rPr lang="zh-CN" altLang="en-US" dirty="0"/>
              <a:t>、查找条件为：姓名不是NULL的记录（    ）</a:t>
            </a:r>
            <a:endParaRPr lang="zh-CN" altLang="en-US" dirty="0"/>
          </a:p>
          <a:p>
            <a:pPr marL="0" lvl="0" indent="0" eaLnBrk="1" hangingPunct="1">
              <a:spcBef>
                <a:spcPct val="0"/>
              </a:spcBef>
              <a:buClrTx/>
              <a:buSzTx/>
              <a:buFont typeface="Arial" panose="020B0604020202020204" pitchFamily="34" charset="0"/>
              <a:buNone/>
            </a:pPr>
            <a:r>
              <a:rPr lang="zh-CN" altLang="en-US" b="0" dirty="0"/>
              <a:t>A．WHERE NAME ! NULL             </a:t>
            </a:r>
            <a:r>
              <a:rPr lang="en-US" altLang="zh-CN" b="0" dirty="0"/>
              <a:t>B</a:t>
            </a:r>
            <a:r>
              <a:rPr lang="zh-CN" altLang="en-US" b="0" dirty="0"/>
              <a:t>．WHERE NAME NOT NULL  </a:t>
            </a:r>
            <a:endParaRPr lang="zh-CN" altLang="en-US" b="0" dirty="0"/>
          </a:p>
          <a:p>
            <a:pPr marL="0" lvl="0" indent="0" eaLnBrk="1" hangingPunct="1">
              <a:spcBef>
                <a:spcPct val="0"/>
              </a:spcBef>
              <a:buClrTx/>
              <a:buSzTx/>
              <a:buFont typeface="Arial" panose="020B0604020202020204" pitchFamily="34" charset="0"/>
              <a:buNone/>
            </a:pPr>
            <a:r>
              <a:rPr lang="zh-CN" altLang="en-US" b="0" dirty="0"/>
              <a:t>C．WHERE NAME IS NOT NULL  D．WHERE NAME!=NULL</a:t>
            </a:r>
            <a:endParaRPr lang="zh-CN" altLang="en-US" b="0" dirty="0"/>
          </a:p>
          <a:p>
            <a:pPr marL="0" lvl="0" indent="0" eaLnBrk="1" hangingPunct="1">
              <a:lnSpc>
                <a:spcPct val="100000"/>
              </a:lnSpc>
              <a:spcBef>
                <a:spcPts val="400"/>
              </a:spcBef>
              <a:spcAft>
                <a:spcPts val="0"/>
              </a:spcAft>
              <a:buClrTx/>
              <a:buSzTx/>
              <a:buFont typeface="Arial" panose="020B0604020202020204" pitchFamily="34" charset="0"/>
              <a:buNone/>
            </a:pPr>
            <a:r>
              <a:rPr lang="en-US" altLang="zh-CN" dirty="0"/>
              <a:t>3</a:t>
            </a:r>
            <a:r>
              <a:rPr lang="zh-CN" altLang="en-US" dirty="0"/>
              <a:t>、在SQL语言中，子查询是（       ）</a:t>
            </a:r>
            <a:endParaRPr lang="zh-CN" altLang="en-US" dirty="0"/>
          </a:p>
          <a:p>
            <a:pPr marL="0" lvl="0" indent="0" eaLnBrk="1" hangingPunct="1">
              <a:spcBef>
                <a:spcPct val="0"/>
              </a:spcBef>
              <a:buClrTx/>
              <a:buSzTx/>
              <a:buFont typeface="Arial" panose="020B0604020202020204" pitchFamily="34" charset="0"/>
              <a:buNone/>
            </a:pPr>
            <a:r>
              <a:rPr lang="zh-CN" altLang="en-US" b="0" dirty="0"/>
              <a:t>A. 选取单表中字段子集的查询语句      </a:t>
            </a:r>
            <a:endParaRPr lang="zh-CN" altLang="en-US" b="0" dirty="0"/>
          </a:p>
          <a:p>
            <a:pPr marL="0" lvl="0" indent="0" eaLnBrk="1" hangingPunct="1">
              <a:spcBef>
                <a:spcPct val="0"/>
              </a:spcBef>
              <a:buClrTx/>
              <a:buSzTx/>
              <a:buFont typeface="Arial" panose="020B0604020202020204" pitchFamily="34" charset="0"/>
              <a:buNone/>
            </a:pPr>
            <a:r>
              <a:rPr lang="zh-CN" altLang="en-US" b="0" dirty="0"/>
              <a:t>B. 选取多表中字段子集的查询语句</a:t>
            </a:r>
            <a:endParaRPr lang="zh-CN" altLang="en-US" b="0" dirty="0"/>
          </a:p>
          <a:p>
            <a:pPr marL="0" lvl="0" indent="0" eaLnBrk="1" hangingPunct="1">
              <a:spcBef>
                <a:spcPct val="0"/>
              </a:spcBef>
              <a:buClrTx/>
              <a:buSzTx/>
              <a:buFont typeface="Arial" panose="020B0604020202020204" pitchFamily="34" charset="0"/>
              <a:buNone/>
            </a:pPr>
            <a:r>
              <a:rPr lang="zh-CN" altLang="en-US" b="0" dirty="0"/>
              <a:t>C. 返回多表中字段子集的查询语句      </a:t>
            </a:r>
            <a:endParaRPr lang="zh-CN" altLang="en-US" b="0" dirty="0"/>
          </a:p>
          <a:p>
            <a:pPr marL="0" lvl="0" indent="0" eaLnBrk="1" hangingPunct="1">
              <a:spcBef>
                <a:spcPct val="0"/>
              </a:spcBef>
              <a:buClrTx/>
              <a:buSzTx/>
              <a:buFont typeface="Arial" panose="020B0604020202020204" pitchFamily="34" charset="0"/>
              <a:buNone/>
            </a:pPr>
            <a:r>
              <a:rPr lang="zh-CN" altLang="en-US" b="0" dirty="0"/>
              <a:t>D. 嵌入到另一个查询语句之中的查询语句</a:t>
            </a:r>
            <a:endParaRPr lang="zh-CN" altLang="en-US" b="0" dirty="0"/>
          </a:p>
          <a:p>
            <a:pPr marL="0" lvl="0" indent="0" eaLnBrk="1" hangingPunct="1">
              <a:lnSpc>
                <a:spcPct val="110000"/>
              </a:lnSpc>
              <a:spcBef>
                <a:spcPts val="400"/>
              </a:spcBef>
              <a:spcAft>
                <a:spcPts val="0"/>
              </a:spcAft>
              <a:buClrTx/>
              <a:buSzTx/>
              <a:buFont typeface="Arial" panose="020B0604020202020204" pitchFamily="34" charset="0"/>
              <a:buNone/>
            </a:pPr>
            <a:r>
              <a:rPr lang="en-US" altLang="zh-CN" dirty="0"/>
              <a:t>4</a:t>
            </a:r>
            <a:r>
              <a:rPr lang="zh-CN" altLang="en-US" dirty="0"/>
              <a:t>、在SELECT语句中，使用关键字（      ）可以把重复行屏蔽</a:t>
            </a:r>
            <a:endParaRPr lang="zh-CN" altLang="en-US" dirty="0"/>
          </a:p>
          <a:p>
            <a:pPr marL="0" lvl="0" indent="0" eaLnBrk="1" hangingPunct="1">
              <a:spcBef>
                <a:spcPct val="0"/>
              </a:spcBef>
              <a:buClrTx/>
              <a:buSzTx/>
              <a:buFont typeface="Arial" panose="020B0604020202020204" pitchFamily="34" charset="0"/>
              <a:buNone/>
            </a:pPr>
            <a:r>
              <a:rPr lang="zh-CN" altLang="en-US" b="0" dirty="0"/>
              <a:t>A. TOP          B. ALL         C.UNION          D. DISTINCT </a:t>
            </a:r>
            <a:endParaRPr lang="zh-CN" altLang="en-US" b="0" dirty="0"/>
          </a:p>
          <a:p>
            <a:pPr marL="0" lvl="0" indent="0" eaLnBrk="1" hangingPunct="1">
              <a:spcBef>
                <a:spcPct val="0"/>
              </a:spcBef>
              <a:buClrTx/>
              <a:buSzTx/>
              <a:buFont typeface="Arial" panose="020B0604020202020204" pitchFamily="34" charset="0"/>
              <a:buNone/>
            </a:pPr>
            <a:r>
              <a:rPr lang="en-US" altLang="zh-CN" dirty="0"/>
              <a:t>5</a:t>
            </a:r>
            <a:r>
              <a:rPr lang="zh-CN" altLang="en-US" dirty="0"/>
              <a:t>、条件“IN(20,30,40)”表示（       ）</a:t>
            </a:r>
            <a:endParaRPr lang="zh-CN" altLang="en-US" dirty="0"/>
          </a:p>
          <a:p>
            <a:pPr marL="0" lvl="0" indent="0" eaLnBrk="1" hangingPunct="1">
              <a:spcBef>
                <a:spcPct val="0"/>
              </a:spcBef>
              <a:buClrTx/>
              <a:buSzTx/>
              <a:buFont typeface="Arial" panose="020B0604020202020204" pitchFamily="34" charset="0"/>
              <a:buNone/>
            </a:pPr>
            <a:r>
              <a:rPr lang="zh-CN" altLang="en-US" b="0" dirty="0"/>
              <a:t>A. 年龄在20到40之间         B. 年龄在20到30之间    </a:t>
            </a:r>
            <a:endParaRPr lang="zh-CN" altLang="en-US" b="0" dirty="0"/>
          </a:p>
          <a:p>
            <a:pPr marL="0" lvl="0" indent="0" eaLnBrk="1" hangingPunct="1">
              <a:spcBef>
                <a:spcPct val="0"/>
              </a:spcBef>
              <a:buClrTx/>
              <a:buSzTx/>
              <a:buFont typeface="Arial" panose="020B0604020202020204" pitchFamily="34" charset="0"/>
              <a:buNone/>
            </a:pPr>
            <a:r>
              <a:rPr lang="zh-CN" altLang="en-US" b="0" dirty="0"/>
              <a:t> C. 年龄是20或30或40       D. 年龄在30到40之间   </a:t>
            </a:r>
            <a:endParaRPr lang="zh-CN" altLang="en-US" b="0" dirty="0"/>
          </a:p>
        </p:txBody>
      </p:sp>
      <p:sp>
        <p:nvSpPr>
          <p:cNvPr id="2" name="文本框 1"/>
          <p:cNvSpPr txBox="1"/>
          <p:nvPr/>
        </p:nvSpPr>
        <p:spPr>
          <a:xfrm>
            <a:off x="7189788" y="963613"/>
            <a:ext cx="384175" cy="588963"/>
          </a:xfrm>
          <a:prstGeom prst="rect">
            <a:avLst/>
          </a:prstGeom>
          <a:noFill/>
        </p:spPr>
        <p:txBody>
          <a:bodyPr>
            <a:spAutoFit/>
          </a:bodyPr>
          <a:lstStyle/>
          <a:p>
            <a:pPr marR="0" defTabSz="914400" eaLnBrk="1" hangingPunct="1">
              <a:buClrTx/>
              <a:buSzTx/>
              <a:buFont typeface="Arial" panose="020B0604020202020204" pitchFamily="34" charset="0"/>
              <a:buNone/>
              <a:defRPr/>
            </a:pPr>
            <a:r>
              <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B</a:t>
            </a:r>
            <a:endParaRPr kumimoji="0" lang="en-US" altLang="zh-CN" sz="2400" kern="1200" cap="none" spc="0" normalizeH="0" baseline="0" noProof="0">
              <a:latin typeface="Arial" panose="020B0604020202020204" pitchFamily="34" charset="0"/>
              <a:ea typeface="宋体" panose="02010600030101010101" pitchFamily="2" charset="-122"/>
              <a:cs typeface="+mn-cs"/>
            </a:endParaRPr>
          </a:p>
        </p:txBody>
      </p:sp>
      <p:sp>
        <p:nvSpPr>
          <p:cNvPr id="3" name="文本框 2"/>
          <p:cNvSpPr txBox="1"/>
          <p:nvPr/>
        </p:nvSpPr>
        <p:spPr>
          <a:xfrm>
            <a:off x="5340350" y="1927225"/>
            <a:ext cx="384175" cy="588963"/>
          </a:xfrm>
          <a:prstGeom prst="rect">
            <a:avLst/>
          </a:prstGeom>
          <a:noFill/>
        </p:spPr>
        <p:txBody>
          <a:bodyPr>
            <a:spAutoFit/>
          </a:bodyPr>
          <a:lstStyle/>
          <a:p>
            <a:pPr marR="0" defTabSz="914400" eaLnBrk="1" hangingPunct="1">
              <a:buClrTx/>
              <a:buSzTx/>
              <a:buFont typeface="Arial" panose="020B0604020202020204" pitchFamily="34" charset="0"/>
              <a:buNone/>
              <a:defRPr/>
            </a:pPr>
            <a:r>
              <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C</a:t>
            </a:r>
            <a:endParaRPr kumimoji="0" lang="en-US" altLang="zh-CN" sz="2400" kern="1200" cap="none" spc="0" normalizeH="0" baseline="0" noProof="0">
              <a:latin typeface="Arial" panose="020B0604020202020204" pitchFamily="34" charset="0"/>
              <a:ea typeface="宋体" panose="02010600030101010101" pitchFamily="2" charset="-122"/>
              <a:cs typeface="+mn-cs"/>
            </a:endParaRPr>
          </a:p>
        </p:txBody>
      </p:sp>
      <p:sp>
        <p:nvSpPr>
          <p:cNvPr id="4" name="文本框 3"/>
          <p:cNvSpPr txBox="1"/>
          <p:nvPr/>
        </p:nvSpPr>
        <p:spPr>
          <a:xfrm>
            <a:off x="4196080" y="2941320"/>
            <a:ext cx="382905" cy="504190"/>
          </a:xfrm>
          <a:prstGeom prst="rect">
            <a:avLst/>
          </a:prstGeom>
          <a:noFill/>
        </p:spPr>
        <p:txBody>
          <a:bodyPr>
            <a:noAutofit/>
          </a:bodyPr>
          <a:lstStyle/>
          <a:p>
            <a:pPr marR="0" defTabSz="914400" eaLnBrk="1" hangingPunct="1">
              <a:buClrTx/>
              <a:buSzTx/>
              <a:buFont typeface="Arial" panose="020B0604020202020204" pitchFamily="34" charset="0"/>
              <a:buNone/>
              <a:defRPr/>
            </a:pPr>
            <a:r>
              <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D</a:t>
            </a:r>
            <a:endParaRPr kumimoji="0" lang="en-US" altLang="zh-CN" sz="2400" kern="1200" cap="none" spc="0" normalizeH="0" baseline="0" noProof="0" dirty="0">
              <a:latin typeface="Arial" panose="020B0604020202020204" pitchFamily="34" charset="0"/>
              <a:ea typeface="宋体" panose="02010600030101010101" pitchFamily="2" charset="-122"/>
              <a:cs typeface="+mn-cs"/>
            </a:endParaRPr>
          </a:p>
        </p:txBody>
      </p:sp>
      <p:sp>
        <p:nvSpPr>
          <p:cNvPr id="5" name="文本框 4"/>
          <p:cNvSpPr txBox="1"/>
          <p:nvPr/>
        </p:nvSpPr>
        <p:spPr>
          <a:xfrm>
            <a:off x="4840605" y="4507230"/>
            <a:ext cx="382905" cy="513715"/>
          </a:xfrm>
          <a:prstGeom prst="rect">
            <a:avLst/>
          </a:prstGeom>
          <a:noFill/>
        </p:spPr>
        <p:txBody>
          <a:bodyPr>
            <a:noAutofit/>
          </a:bodyPr>
          <a:lstStyle/>
          <a:p>
            <a:pPr marR="0" defTabSz="914400" eaLnBrk="1" hangingPunct="1">
              <a:buClrTx/>
              <a:buSzTx/>
              <a:buFont typeface="Arial" panose="020B0604020202020204" pitchFamily="34" charset="0"/>
              <a:buNone/>
              <a:defRPr/>
            </a:pPr>
            <a:r>
              <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D</a:t>
            </a:r>
            <a:endParaRPr kumimoji="0" lang="en-US" altLang="zh-CN" sz="2400" kern="1200" cap="none" spc="0" normalizeH="0" baseline="0" noProof="0" dirty="0">
              <a:latin typeface="Arial" panose="020B0604020202020204" pitchFamily="34" charset="0"/>
              <a:ea typeface="宋体" panose="02010600030101010101" pitchFamily="2" charset="-122"/>
              <a:cs typeface="+mn-cs"/>
            </a:endParaRPr>
          </a:p>
        </p:txBody>
      </p:sp>
      <p:sp>
        <p:nvSpPr>
          <p:cNvPr id="6" name="文本框 5"/>
          <p:cNvSpPr txBox="1"/>
          <p:nvPr/>
        </p:nvSpPr>
        <p:spPr>
          <a:xfrm flipH="1">
            <a:off x="4251325" y="5137150"/>
            <a:ext cx="416560" cy="319405"/>
          </a:xfrm>
          <a:prstGeom prst="rect">
            <a:avLst/>
          </a:prstGeom>
          <a:noFill/>
        </p:spPr>
        <p:txBody>
          <a:bodyPr wrap="square">
            <a:noAutofit/>
          </a:bodyPr>
          <a:lstStyle/>
          <a:p>
            <a:pPr marR="0" defTabSz="914400" eaLnBrk="1" hangingPunct="1">
              <a:buClrTx/>
              <a:buSzTx/>
              <a:buFont typeface="Arial" panose="020B0604020202020204" pitchFamily="34" charset="0"/>
              <a:buNone/>
              <a:defRPr/>
            </a:pPr>
            <a:r>
              <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C</a:t>
            </a:r>
            <a:endPar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additive="base">
                                        <p:cTn id="31" dur="500" fill="hold"/>
                                        <p:tgtEl>
                                          <p:spTgt spid="6"/>
                                        </p:tgtEl>
                                        <p:attrNameLst>
                                          <p:attrName>ppt_x</p:attrName>
                                        </p:attrNameLst>
                                      </p:cBhvr>
                                      <p:tavLst>
                                        <p:tav tm="0">
                                          <p:val>
                                            <p:strVal val="#ppt_x"/>
                                          </p:val>
                                        </p:tav>
                                        <p:tav tm="100000">
                                          <p:val>
                                            <p:strVal val="#ppt_x"/>
                                          </p:val>
                                        </p:tav>
                                      </p:tavLst>
                                    </p:anim>
                                    <p:anim calcmode="lin" valueType="num">
                                      <p:cBhvr additive="base">
                                        <p:cTn id="3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 name="表格 3"/>
          <p:cNvGraphicFramePr/>
          <p:nvPr>
            <p:custDataLst>
              <p:tags r:id="rId1"/>
            </p:custDataLst>
          </p:nvPr>
        </p:nvGraphicFramePr>
        <p:xfrm>
          <a:off x="2159000" y="1555750"/>
          <a:ext cx="6181090" cy="457200"/>
        </p:xfrm>
        <a:graphic>
          <a:graphicData uri="http://schemas.openxmlformats.org/drawingml/2006/table">
            <a:tbl>
              <a:tblPr firstRow="1" bandRow="1">
                <a:tableStyleId>{5C22544A-7EE6-4342-B048-85BDC9FD1C3A}</a:tableStyleId>
              </a:tblPr>
              <a:tblGrid>
                <a:gridCol w="1460500"/>
                <a:gridCol w="1674495"/>
                <a:gridCol w="1748155"/>
                <a:gridCol w="1297940"/>
              </a:tblGrid>
              <a:tr h="457200">
                <a:tc>
                  <a:txBody>
                    <a:bodyPr/>
                    <a:lstStyle/>
                    <a:p>
                      <a:pPr>
                        <a:buNone/>
                      </a:pPr>
                      <a:r>
                        <a:rPr lang="zh-CN" altLang="en-US" sz="2400" u="sng">
                          <a:solidFill>
                            <a:schemeClr val="tx1"/>
                          </a:solidFill>
                        </a:rPr>
                        <a:t>sno</a:t>
                      </a:r>
                      <a:endParaRPr lang="zh-CN" altLang="en-US" sz="2400" u="sng">
                        <a:solidFill>
                          <a:schemeClr val="tx1"/>
                        </a:solidFill>
                      </a:endParaRPr>
                    </a:p>
                  </a:txBody>
                  <a:tcPr marL="91421" marR="91421"/>
                </a:tc>
                <a:tc>
                  <a:txBody>
                    <a:bodyPr/>
                    <a:lstStyle/>
                    <a:p>
                      <a:pPr>
                        <a:buNone/>
                      </a:pPr>
                      <a:r>
                        <a:rPr lang="en-US" altLang="zh-CN" sz="2400">
                          <a:solidFill>
                            <a:schemeClr val="tx1"/>
                          </a:solidFill>
                        </a:rPr>
                        <a:t>sname</a:t>
                      </a:r>
                      <a:endParaRPr lang="en-US" altLang="zh-CN" sz="2400">
                        <a:solidFill>
                          <a:schemeClr val="tx1"/>
                        </a:solidFill>
                      </a:endParaRPr>
                    </a:p>
                  </a:txBody>
                  <a:tcPr marL="91421" marR="91421"/>
                </a:tc>
                <a:tc>
                  <a:txBody>
                    <a:bodyPr/>
                    <a:lstStyle/>
                    <a:p>
                      <a:pPr>
                        <a:buNone/>
                      </a:pPr>
                      <a:r>
                        <a:rPr lang="en-US" altLang="zh-CN" sz="2400">
                          <a:solidFill>
                            <a:schemeClr val="tx1"/>
                          </a:solidFill>
                        </a:rPr>
                        <a:t>BirthDate</a:t>
                      </a:r>
                      <a:endParaRPr lang="en-US" altLang="zh-CN" sz="2400">
                        <a:solidFill>
                          <a:schemeClr val="tx1"/>
                        </a:solidFill>
                      </a:endParaRPr>
                    </a:p>
                  </a:txBody>
                  <a:tcPr marL="91421" marR="91421"/>
                </a:tc>
                <a:tc>
                  <a:txBody>
                    <a:bodyPr/>
                    <a:lstStyle/>
                    <a:p>
                      <a:pPr>
                        <a:buNone/>
                      </a:pPr>
                      <a:r>
                        <a:rPr lang="zh-CN" altLang="en-US" sz="2400">
                          <a:solidFill>
                            <a:schemeClr val="tx1"/>
                          </a:solidFill>
                        </a:rPr>
                        <a:t>ssex</a:t>
                      </a:r>
                      <a:endParaRPr lang="zh-CN" altLang="en-US" sz="2400">
                        <a:solidFill>
                          <a:schemeClr val="tx1"/>
                        </a:solidFill>
                      </a:endParaRPr>
                    </a:p>
                  </a:txBody>
                  <a:tcPr marL="91421" marR="91421"/>
                </a:tc>
              </a:tr>
            </a:tbl>
          </a:graphicData>
        </a:graphic>
      </p:graphicFrame>
      <p:sp>
        <p:nvSpPr>
          <p:cNvPr id="104464" name="文本框 4"/>
          <p:cNvSpPr txBox="1"/>
          <p:nvPr/>
        </p:nvSpPr>
        <p:spPr>
          <a:xfrm>
            <a:off x="757238" y="1511300"/>
            <a:ext cx="1401762" cy="4603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400" dirty="0"/>
              <a:t>student</a:t>
            </a:r>
            <a:endParaRPr lang="zh-CN" altLang="en-US" sz="2400" dirty="0"/>
          </a:p>
        </p:txBody>
      </p:sp>
      <p:sp>
        <p:nvSpPr>
          <p:cNvPr id="104465" name="文本框 11"/>
          <p:cNvSpPr txBox="1"/>
          <p:nvPr/>
        </p:nvSpPr>
        <p:spPr>
          <a:xfrm>
            <a:off x="511175" y="922655"/>
            <a:ext cx="4331335" cy="55308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ct val="0"/>
              </a:spcBef>
              <a:buClrTx/>
              <a:buSzTx/>
              <a:buFont typeface="Arial" panose="020B0604020202020204" pitchFamily="34" charset="0"/>
              <a:buNone/>
            </a:pPr>
            <a:r>
              <a:rPr lang="en-US" altLang="zh-CN" sz="2400" dirty="0">
                <a:sym typeface="+mn-ea"/>
              </a:rPr>
              <a:t>6</a:t>
            </a:r>
            <a:r>
              <a:rPr lang="zh-CN" altLang="en-US" sz="2400" dirty="0">
                <a:sym typeface="+mn-ea"/>
              </a:rPr>
              <a:t>、设学生数据库有如下关系：</a:t>
            </a:r>
            <a:endParaRPr lang="zh-CN" altLang="en-US" sz="2400" dirty="0">
              <a:sym typeface="+mn-ea"/>
            </a:endParaRPr>
          </a:p>
        </p:txBody>
      </p:sp>
      <p:sp>
        <p:nvSpPr>
          <p:cNvPr id="104466" name="文本框 12"/>
          <p:cNvSpPr txBox="1"/>
          <p:nvPr/>
        </p:nvSpPr>
        <p:spPr>
          <a:xfrm>
            <a:off x="757238" y="2139950"/>
            <a:ext cx="7473950" cy="44513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300" dirty="0"/>
              <a:t>（</a:t>
            </a:r>
            <a:r>
              <a:rPr lang="en-US" altLang="zh-CN" sz="2300" dirty="0"/>
              <a:t>1</a:t>
            </a:r>
            <a:r>
              <a:rPr lang="zh-CN" altLang="en-US" sz="2300" dirty="0"/>
              <a:t>）查询出女同学的信息</a:t>
            </a:r>
            <a:endParaRPr lang="zh-CN" altLang="en-US" sz="2300" dirty="0"/>
          </a:p>
        </p:txBody>
      </p:sp>
      <p:sp>
        <p:nvSpPr>
          <p:cNvPr id="14" name="文本框 13"/>
          <p:cNvSpPr txBox="1"/>
          <p:nvPr/>
        </p:nvSpPr>
        <p:spPr>
          <a:xfrm>
            <a:off x="908050" y="2571750"/>
            <a:ext cx="6734175" cy="44513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300" dirty="0">
                <a:sym typeface="+mn-ea"/>
              </a:rPr>
              <a:t>select * from stu where</a:t>
            </a:r>
            <a:r>
              <a:rPr lang="zh-CN" altLang="en-US" sz="2300" dirty="0">
                <a:solidFill>
                  <a:srgbClr val="CC00FF"/>
                </a:solidFill>
                <a:sym typeface="+mn-ea"/>
              </a:rPr>
              <a:t> </a:t>
            </a:r>
            <a:r>
              <a:rPr lang="en-US" altLang="zh-CN" sz="2300" dirty="0">
                <a:solidFill>
                  <a:srgbClr val="CC00FF"/>
                </a:solidFill>
                <a:sym typeface="+mn-ea"/>
              </a:rPr>
              <a:t>ssex='</a:t>
            </a:r>
            <a:r>
              <a:rPr lang="zh-CN" altLang="en-US" sz="2300" dirty="0">
                <a:solidFill>
                  <a:srgbClr val="CC00FF"/>
                </a:solidFill>
                <a:sym typeface="+mn-ea"/>
              </a:rPr>
              <a:t>女</a:t>
            </a:r>
            <a:r>
              <a:rPr lang="en-US" altLang="zh-CN" sz="2300" dirty="0">
                <a:solidFill>
                  <a:srgbClr val="CC00FF"/>
                </a:solidFill>
                <a:sym typeface="+mn-ea"/>
              </a:rPr>
              <a:t>'</a:t>
            </a:r>
            <a:endParaRPr lang="en-US" altLang="zh-CN" sz="2300" dirty="0">
              <a:solidFill>
                <a:srgbClr val="CC00FF"/>
              </a:solidFill>
              <a:sym typeface="+mn-ea"/>
            </a:endParaRPr>
          </a:p>
        </p:txBody>
      </p:sp>
      <p:sp>
        <p:nvSpPr>
          <p:cNvPr id="104468" name="文本框 14"/>
          <p:cNvSpPr txBox="1"/>
          <p:nvPr/>
        </p:nvSpPr>
        <p:spPr>
          <a:xfrm>
            <a:off x="752475" y="3084195"/>
            <a:ext cx="6011863" cy="44513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300" dirty="0"/>
              <a:t>（</a:t>
            </a:r>
            <a:r>
              <a:rPr lang="en-US" altLang="zh-CN" sz="2300" dirty="0"/>
              <a:t>2</a:t>
            </a:r>
            <a:r>
              <a:rPr lang="zh-CN" altLang="en-US" sz="2300" dirty="0"/>
              <a:t>）查询名字中含有「风」字的学生信息</a:t>
            </a:r>
            <a:endParaRPr lang="zh-CN" altLang="en-US" sz="2300" dirty="0"/>
          </a:p>
        </p:txBody>
      </p:sp>
      <p:sp>
        <p:nvSpPr>
          <p:cNvPr id="45" name="文本框 44"/>
          <p:cNvSpPr txBox="1"/>
          <p:nvPr/>
        </p:nvSpPr>
        <p:spPr>
          <a:xfrm>
            <a:off x="511175" y="-31750"/>
            <a:ext cx="2681288" cy="830263"/>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问题研讨：</a:t>
            </a:r>
            <a:endParaRPr kumimoji="0" lang="zh-CN" altLang="en-US" sz="3200" kern="1200" cap="none" spc="0" normalizeH="0" baseline="0" noProof="0" dirty="0">
              <a:latin typeface="Arial" panose="020B0604020202020204" pitchFamily="34" charset="0"/>
              <a:ea typeface="宋体" panose="02010600030101010101" pitchFamily="2" charset="-122"/>
              <a:cs typeface="+mn-cs"/>
            </a:endParaRPr>
          </a:p>
        </p:txBody>
      </p:sp>
      <p:sp>
        <p:nvSpPr>
          <p:cNvPr id="16" name="文本框 15"/>
          <p:cNvSpPr txBox="1"/>
          <p:nvPr/>
        </p:nvSpPr>
        <p:spPr>
          <a:xfrm>
            <a:off x="976313" y="3666808"/>
            <a:ext cx="6735762" cy="44513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300" dirty="0">
                <a:sym typeface="+mn-ea"/>
              </a:rPr>
              <a:t>select * from stu where</a:t>
            </a:r>
            <a:r>
              <a:rPr lang="zh-CN" altLang="en-US" sz="2300" dirty="0">
                <a:solidFill>
                  <a:srgbClr val="CC00FF"/>
                </a:solidFill>
                <a:sym typeface="+mn-ea"/>
              </a:rPr>
              <a:t> </a:t>
            </a:r>
            <a:r>
              <a:rPr lang="en-US" altLang="zh-CN" sz="2300" dirty="0">
                <a:solidFill>
                  <a:srgbClr val="CC00FF"/>
                </a:solidFill>
                <a:sym typeface="+mn-ea"/>
              </a:rPr>
              <a:t>sname like '%</a:t>
            </a:r>
            <a:r>
              <a:rPr lang="zh-CN" altLang="en-US" sz="2300" dirty="0">
                <a:solidFill>
                  <a:srgbClr val="CC00FF"/>
                </a:solidFill>
                <a:sym typeface="+mn-ea"/>
              </a:rPr>
              <a:t>风</a:t>
            </a:r>
            <a:r>
              <a:rPr lang="en-US" altLang="zh-CN" sz="2300" dirty="0">
                <a:solidFill>
                  <a:srgbClr val="CC00FF"/>
                </a:solidFill>
                <a:sym typeface="+mn-ea"/>
              </a:rPr>
              <a:t>%'</a:t>
            </a:r>
            <a:endParaRPr lang="en-US" altLang="zh-CN" sz="2300" dirty="0">
              <a:solidFill>
                <a:srgbClr val="CC00FF"/>
              </a:solidFill>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additive="base">
                                        <p:cTn id="13" dur="500" fill="hold"/>
                                        <p:tgtEl>
                                          <p:spTgt spid="16"/>
                                        </p:tgtEl>
                                        <p:attrNameLst>
                                          <p:attrName>ppt_x</p:attrName>
                                        </p:attrNameLst>
                                      </p:cBhvr>
                                      <p:tavLst>
                                        <p:tav tm="0">
                                          <p:val>
                                            <p:strVal val="#ppt_x"/>
                                          </p:val>
                                        </p:tav>
                                        <p:tav tm="100000">
                                          <p:val>
                                            <p:strVal val="#ppt_x"/>
                                          </p:val>
                                        </p:tav>
                                      </p:tavLst>
                                    </p:anim>
                                    <p:anim calcmode="lin" valueType="num">
                                      <p:cBhvr additive="base">
                                        <p:cTn id="14"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4" name="文本框 1"/>
          <p:cNvSpPr txBox="1"/>
          <p:nvPr/>
        </p:nvSpPr>
        <p:spPr>
          <a:xfrm>
            <a:off x="604838" y="3260725"/>
            <a:ext cx="8653462" cy="132207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t>（</a:t>
            </a:r>
            <a:r>
              <a:rPr lang="en-US" altLang="zh-CN" dirty="0"/>
              <a:t>1</a:t>
            </a:r>
            <a:r>
              <a:rPr lang="zh-CN" altLang="en-US" dirty="0"/>
              <a:t>）查询“bk1001”课程比“bk100</a:t>
            </a:r>
            <a:r>
              <a:rPr lang="en-US" altLang="zh-CN" dirty="0"/>
              <a:t>2</a:t>
            </a:r>
            <a:r>
              <a:rPr lang="zh-CN" altLang="en-US" dirty="0"/>
              <a:t>”课程成绩高的所有学生的学号；</a:t>
            </a:r>
            <a:endParaRPr lang="zh-CN" altLang="en-US" dirty="0"/>
          </a:p>
          <a:p>
            <a:pPr marL="0" lvl="0" indent="0" eaLnBrk="1" hangingPunct="1">
              <a:spcBef>
                <a:spcPct val="0"/>
              </a:spcBef>
              <a:buClrTx/>
              <a:buSzTx/>
              <a:buFont typeface="Arial" panose="020B0604020202020204" pitchFamily="34" charset="0"/>
              <a:buNone/>
            </a:pPr>
            <a:endParaRPr lang="zh-CN" altLang="en-US" dirty="0"/>
          </a:p>
          <a:p>
            <a:pPr marL="0" lvl="0" indent="0" eaLnBrk="1" hangingPunct="1">
              <a:spcBef>
                <a:spcPct val="0"/>
              </a:spcBef>
              <a:buClrTx/>
              <a:buSzTx/>
              <a:buFont typeface="Arial" panose="020B0604020202020204" pitchFamily="34" charset="0"/>
              <a:buNone/>
            </a:pPr>
            <a:endParaRPr lang="zh-CN" altLang="en-US" dirty="0"/>
          </a:p>
          <a:p>
            <a:pPr marL="0" lvl="0" indent="0" eaLnBrk="1" hangingPunct="1">
              <a:spcBef>
                <a:spcPct val="0"/>
              </a:spcBef>
              <a:buClrTx/>
              <a:buSzTx/>
              <a:buFont typeface="Arial" panose="020B0604020202020204" pitchFamily="34" charset="0"/>
              <a:buNone/>
            </a:pPr>
            <a:endParaRPr lang="zh-CN" altLang="en-US" dirty="0"/>
          </a:p>
        </p:txBody>
      </p:sp>
      <p:graphicFrame>
        <p:nvGraphicFramePr>
          <p:cNvPr id="3" name="表格 2"/>
          <p:cNvGraphicFramePr/>
          <p:nvPr>
            <p:custDataLst>
              <p:tags r:id="rId1"/>
            </p:custDataLst>
          </p:nvPr>
        </p:nvGraphicFramePr>
        <p:xfrm>
          <a:off x="2159000" y="1459230"/>
          <a:ext cx="5114290" cy="441325"/>
        </p:xfrm>
        <a:graphic>
          <a:graphicData uri="http://schemas.openxmlformats.org/drawingml/2006/table">
            <a:tbl>
              <a:tblPr firstRow="1" bandRow="1">
                <a:tableStyleId>{5C22544A-7EE6-4342-B048-85BDC9FD1C3A}</a:tableStyleId>
              </a:tblPr>
              <a:tblGrid>
                <a:gridCol w="1208405"/>
                <a:gridCol w="1385570"/>
                <a:gridCol w="1457960"/>
                <a:gridCol w="1062355"/>
              </a:tblGrid>
              <a:tr h="441325">
                <a:tc>
                  <a:txBody>
                    <a:bodyPr/>
                    <a:lstStyle/>
                    <a:p>
                      <a:pPr>
                        <a:buNone/>
                      </a:pPr>
                      <a:r>
                        <a:rPr lang="zh-CN" altLang="en-US" sz="2200" u="sng">
                          <a:solidFill>
                            <a:schemeClr val="tx1"/>
                          </a:solidFill>
                        </a:rPr>
                        <a:t>sno</a:t>
                      </a:r>
                      <a:endParaRPr lang="zh-CN" altLang="en-US" sz="2200" u="sng">
                        <a:solidFill>
                          <a:schemeClr val="tx1"/>
                        </a:solidFill>
                      </a:endParaRPr>
                    </a:p>
                  </a:txBody>
                  <a:tcPr marL="91421" marR="91421"/>
                </a:tc>
                <a:tc>
                  <a:txBody>
                    <a:bodyPr/>
                    <a:lstStyle/>
                    <a:p>
                      <a:pPr>
                        <a:buNone/>
                      </a:pPr>
                      <a:r>
                        <a:rPr lang="en-US" altLang="zh-CN" sz="2200">
                          <a:solidFill>
                            <a:schemeClr val="tx1"/>
                          </a:solidFill>
                        </a:rPr>
                        <a:t>sname</a:t>
                      </a:r>
                      <a:endParaRPr lang="en-US" altLang="zh-CN" sz="2200">
                        <a:solidFill>
                          <a:schemeClr val="tx1"/>
                        </a:solidFill>
                      </a:endParaRPr>
                    </a:p>
                  </a:txBody>
                  <a:tcPr marL="91421" marR="91421"/>
                </a:tc>
                <a:tc>
                  <a:txBody>
                    <a:bodyPr/>
                    <a:lstStyle/>
                    <a:p>
                      <a:pPr>
                        <a:buNone/>
                      </a:pPr>
                      <a:r>
                        <a:rPr lang="en-US" altLang="zh-CN" sz="2200">
                          <a:solidFill>
                            <a:schemeClr val="tx1"/>
                          </a:solidFill>
                        </a:rPr>
                        <a:t>birthdate</a:t>
                      </a:r>
                      <a:endParaRPr lang="en-US" altLang="zh-CN" sz="2200">
                        <a:solidFill>
                          <a:schemeClr val="tx1"/>
                        </a:solidFill>
                      </a:endParaRPr>
                    </a:p>
                  </a:txBody>
                  <a:tcPr marL="91421" marR="91421"/>
                </a:tc>
                <a:tc>
                  <a:txBody>
                    <a:bodyPr/>
                    <a:lstStyle/>
                    <a:p>
                      <a:pPr>
                        <a:buNone/>
                      </a:pPr>
                      <a:r>
                        <a:rPr lang="zh-CN" altLang="en-US" sz="2200">
                          <a:solidFill>
                            <a:schemeClr val="tx1"/>
                          </a:solidFill>
                        </a:rPr>
                        <a:t>ssex</a:t>
                      </a:r>
                      <a:endParaRPr lang="zh-CN" altLang="en-US" sz="2200">
                        <a:solidFill>
                          <a:schemeClr val="tx1"/>
                        </a:solidFill>
                      </a:endParaRPr>
                    </a:p>
                  </a:txBody>
                  <a:tcPr marL="91421" marR="91421"/>
                </a:tc>
              </a:tr>
            </a:tbl>
          </a:graphicData>
        </a:graphic>
      </p:graphicFrame>
      <p:sp>
        <p:nvSpPr>
          <p:cNvPr id="105487" name="文本框 3"/>
          <p:cNvSpPr txBox="1"/>
          <p:nvPr/>
        </p:nvSpPr>
        <p:spPr>
          <a:xfrm>
            <a:off x="757238" y="1349375"/>
            <a:ext cx="1401762" cy="42989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t>stu</a:t>
            </a:r>
            <a:endParaRPr lang="zh-CN" altLang="en-US" sz="2200" dirty="0"/>
          </a:p>
        </p:txBody>
      </p:sp>
      <p:sp>
        <p:nvSpPr>
          <p:cNvPr id="105497" name="文本框 6"/>
          <p:cNvSpPr txBox="1"/>
          <p:nvPr/>
        </p:nvSpPr>
        <p:spPr>
          <a:xfrm>
            <a:off x="770255" y="1981518"/>
            <a:ext cx="1403350" cy="54768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t>course</a:t>
            </a:r>
            <a:endParaRPr lang="zh-CN" altLang="en-US" sz="2200" dirty="0"/>
          </a:p>
        </p:txBody>
      </p:sp>
      <p:graphicFrame>
        <p:nvGraphicFramePr>
          <p:cNvPr id="8" name="表格 7"/>
          <p:cNvGraphicFramePr/>
          <p:nvPr/>
        </p:nvGraphicFramePr>
        <p:xfrm>
          <a:off x="2159000" y="2060893"/>
          <a:ext cx="3417888" cy="381000"/>
        </p:xfrm>
        <a:graphic>
          <a:graphicData uri="http://schemas.openxmlformats.org/drawingml/2006/table">
            <a:tbl>
              <a:tblPr firstRow="1" bandRow="1">
                <a:tableStyleId>{5C22544A-7EE6-4342-B048-85BDC9FD1C3A}</a:tableStyleId>
              </a:tblPr>
              <a:tblGrid>
                <a:gridCol w="1068169"/>
                <a:gridCol w="1225029"/>
                <a:gridCol w="1124690"/>
              </a:tblGrid>
              <a:tr h="381000">
                <a:tc>
                  <a:txBody>
                    <a:bodyPr/>
                    <a:lstStyle/>
                    <a:p>
                      <a:pPr>
                        <a:buNone/>
                      </a:pPr>
                      <a:r>
                        <a:rPr lang="en-US" altLang="zh-CN" sz="2200" u="sng">
                          <a:solidFill>
                            <a:schemeClr val="tx1"/>
                          </a:solidFill>
                        </a:rPr>
                        <a:t>c</a:t>
                      </a:r>
                      <a:r>
                        <a:rPr lang="zh-CN" altLang="en-US" sz="2200" u="sng">
                          <a:solidFill>
                            <a:schemeClr val="tx1"/>
                          </a:solidFill>
                        </a:rPr>
                        <a:t>no</a:t>
                      </a:r>
                      <a:endParaRPr lang="zh-CN" altLang="en-US" sz="2200" u="sng">
                        <a:solidFill>
                          <a:schemeClr val="tx1"/>
                        </a:solidFill>
                      </a:endParaRPr>
                    </a:p>
                  </a:txBody>
                  <a:tcPr marL="91449" marR="91449"/>
                </a:tc>
                <a:tc>
                  <a:txBody>
                    <a:bodyPr/>
                    <a:lstStyle/>
                    <a:p>
                      <a:pPr>
                        <a:buNone/>
                      </a:pPr>
                      <a:r>
                        <a:rPr lang="en-US" altLang="zh-CN" sz="2200">
                          <a:solidFill>
                            <a:schemeClr val="tx1"/>
                          </a:solidFill>
                        </a:rPr>
                        <a:t>cname</a:t>
                      </a:r>
                      <a:endParaRPr lang="en-US" altLang="zh-CN" sz="2200">
                        <a:solidFill>
                          <a:schemeClr val="tx1"/>
                        </a:solidFill>
                      </a:endParaRPr>
                    </a:p>
                  </a:txBody>
                  <a:tcPr marL="91449" marR="91449"/>
                </a:tc>
                <a:tc>
                  <a:txBody>
                    <a:bodyPr/>
                    <a:lstStyle/>
                    <a:p>
                      <a:pPr>
                        <a:buNone/>
                      </a:pPr>
                      <a:r>
                        <a:rPr lang="en-US" altLang="zh-CN" sz="2200">
                          <a:solidFill>
                            <a:schemeClr val="tx1"/>
                          </a:solidFill>
                        </a:rPr>
                        <a:t>credit</a:t>
                      </a:r>
                      <a:endParaRPr lang="en-US" altLang="zh-CN" sz="2200">
                        <a:solidFill>
                          <a:schemeClr val="tx1"/>
                        </a:solidFill>
                      </a:endParaRPr>
                    </a:p>
                  </a:txBody>
                  <a:tcPr marL="91449" marR="91449"/>
                </a:tc>
              </a:tr>
            </a:tbl>
          </a:graphicData>
        </a:graphic>
      </p:graphicFrame>
      <p:sp>
        <p:nvSpPr>
          <p:cNvPr id="105508" name="文本框 8"/>
          <p:cNvSpPr txBox="1"/>
          <p:nvPr/>
        </p:nvSpPr>
        <p:spPr>
          <a:xfrm>
            <a:off x="771525" y="2647950"/>
            <a:ext cx="1401763" cy="42989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200" dirty="0"/>
              <a:t>ctake</a:t>
            </a:r>
            <a:endParaRPr lang="en-US" altLang="zh-CN" sz="2200" dirty="0"/>
          </a:p>
        </p:txBody>
      </p:sp>
      <p:graphicFrame>
        <p:nvGraphicFramePr>
          <p:cNvPr id="10" name="表格 9"/>
          <p:cNvGraphicFramePr/>
          <p:nvPr/>
        </p:nvGraphicFramePr>
        <p:xfrm>
          <a:off x="2159000" y="2610168"/>
          <a:ext cx="3416300" cy="381000"/>
        </p:xfrm>
        <a:graphic>
          <a:graphicData uri="http://schemas.openxmlformats.org/drawingml/2006/table">
            <a:tbl>
              <a:tblPr firstRow="1" bandRow="1">
                <a:tableStyleId>{5C22544A-7EE6-4342-B048-85BDC9FD1C3A}</a:tableStyleId>
              </a:tblPr>
              <a:tblGrid>
                <a:gridCol w="1067673"/>
                <a:gridCol w="1224460"/>
                <a:gridCol w="1124167"/>
              </a:tblGrid>
              <a:tr h="381000">
                <a:tc>
                  <a:txBody>
                    <a:bodyPr/>
                    <a:lstStyle/>
                    <a:p>
                      <a:pPr>
                        <a:buNone/>
                      </a:pPr>
                      <a:r>
                        <a:rPr lang="en-US" altLang="zh-CN" sz="2200" u="sng">
                          <a:solidFill>
                            <a:srgbClr val="0033CC"/>
                          </a:solidFill>
                        </a:rPr>
                        <a:t>s</a:t>
                      </a:r>
                      <a:r>
                        <a:rPr lang="zh-CN" altLang="en-US" sz="2200" u="sng">
                          <a:solidFill>
                            <a:srgbClr val="0033CC"/>
                          </a:solidFill>
                        </a:rPr>
                        <a:t>no</a:t>
                      </a:r>
                      <a:endParaRPr lang="zh-CN" altLang="en-US" sz="2200" u="sng">
                        <a:solidFill>
                          <a:srgbClr val="0033CC"/>
                        </a:solidFill>
                      </a:endParaRPr>
                    </a:p>
                  </a:txBody>
                  <a:tcPr marL="91406" marR="91406"/>
                </a:tc>
                <a:tc>
                  <a:txBody>
                    <a:bodyPr/>
                    <a:lstStyle/>
                    <a:p>
                      <a:pPr>
                        <a:buNone/>
                      </a:pPr>
                      <a:r>
                        <a:rPr lang="en-US" altLang="zh-CN" sz="2200" u="sng">
                          <a:solidFill>
                            <a:srgbClr val="0033CC"/>
                          </a:solidFill>
                        </a:rPr>
                        <a:t>cno</a:t>
                      </a:r>
                      <a:endParaRPr lang="en-US" altLang="zh-CN" sz="2200" u="sng">
                        <a:solidFill>
                          <a:srgbClr val="0033CC"/>
                        </a:solidFill>
                      </a:endParaRPr>
                    </a:p>
                  </a:txBody>
                  <a:tcPr marL="91406" marR="91406"/>
                </a:tc>
                <a:tc>
                  <a:txBody>
                    <a:bodyPr/>
                    <a:lstStyle/>
                    <a:p>
                      <a:pPr>
                        <a:buNone/>
                      </a:pPr>
                      <a:r>
                        <a:rPr lang="en-US" altLang="zh-CN" sz="2200">
                          <a:solidFill>
                            <a:schemeClr val="tx1"/>
                          </a:solidFill>
                        </a:rPr>
                        <a:t>mark</a:t>
                      </a:r>
                      <a:endParaRPr lang="en-US" altLang="zh-CN" sz="2200">
                        <a:solidFill>
                          <a:schemeClr val="tx1"/>
                        </a:solidFill>
                      </a:endParaRPr>
                    </a:p>
                  </a:txBody>
                  <a:tcPr marL="91406" marR="91406"/>
                </a:tc>
              </a:tr>
            </a:tbl>
          </a:graphicData>
        </a:graphic>
      </p:graphicFrame>
      <p:sp>
        <p:nvSpPr>
          <p:cNvPr id="105519" name="文本框 10"/>
          <p:cNvSpPr txBox="1"/>
          <p:nvPr/>
        </p:nvSpPr>
        <p:spPr>
          <a:xfrm>
            <a:off x="530225" y="863600"/>
            <a:ext cx="3986213" cy="5143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ct val="0"/>
              </a:spcBef>
              <a:buClrTx/>
              <a:buSzTx/>
              <a:buFont typeface="Arial" panose="020B0604020202020204" pitchFamily="34" charset="0"/>
              <a:buNone/>
            </a:pPr>
            <a:r>
              <a:rPr lang="en-US" altLang="zh-CN" sz="2200" dirty="0">
                <a:sym typeface="+mn-ea"/>
              </a:rPr>
              <a:t>7</a:t>
            </a:r>
            <a:r>
              <a:rPr lang="zh-CN" altLang="en-US" sz="2200" dirty="0">
                <a:sym typeface="+mn-ea"/>
              </a:rPr>
              <a:t>、设学生数据库有如下关系：</a:t>
            </a:r>
            <a:endParaRPr lang="zh-CN" altLang="en-US" sz="2200" dirty="0">
              <a:sym typeface="+mn-ea"/>
            </a:endParaRPr>
          </a:p>
        </p:txBody>
      </p:sp>
      <p:sp>
        <p:nvSpPr>
          <p:cNvPr id="12" name="文本框 11"/>
          <p:cNvSpPr txBox="1"/>
          <p:nvPr/>
        </p:nvSpPr>
        <p:spPr>
          <a:xfrm>
            <a:off x="694055" y="3715385"/>
            <a:ext cx="8143875" cy="110680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sz="2200" dirty="0">
                <a:sym typeface="+mn-ea"/>
              </a:rPr>
              <a:t>select s.sid as 学号 from </a:t>
            </a:r>
            <a:r>
              <a:rPr sz="2200" dirty="0">
                <a:solidFill>
                  <a:srgbClr val="CC0000"/>
                </a:solidFill>
                <a:sym typeface="+mn-ea"/>
              </a:rPr>
              <a:t>ctake c,ctake s</a:t>
            </a:r>
            <a:r>
              <a:rPr sz="2200" dirty="0">
                <a:sym typeface="+mn-ea"/>
              </a:rPr>
              <a:t> where </a:t>
            </a:r>
            <a:r>
              <a:rPr sz="2200" dirty="0">
                <a:solidFill>
                  <a:srgbClr val="CC0000"/>
                </a:solidFill>
                <a:sym typeface="+mn-ea"/>
              </a:rPr>
              <a:t>c.sid=s.sid </a:t>
            </a:r>
            <a:r>
              <a:rPr lang="en-US" altLang="zh-CN" sz="2200" dirty="0">
                <a:solidFill>
                  <a:srgbClr val="CC00FF"/>
                </a:solidFill>
                <a:sym typeface="+mn-ea"/>
              </a:rPr>
              <a:t>and</a:t>
            </a:r>
            <a:r>
              <a:rPr sz="2200" dirty="0">
                <a:solidFill>
                  <a:srgbClr val="CC0000"/>
                </a:solidFill>
                <a:sym typeface="+mn-ea"/>
              </a:rPr>
              <a:t>  </a:t>
            </a:r>
            <a:r>
              <a:rPr lang="en-US" altLang="zh-CN" sz="2200" dirty="0">
                <a:solidFill>
                  <a:srgbClr val="CC00FF"/>
                </a:solidFill>
                <a:sym typeface="+mn-ea"/>
              </a:rPr>
              <a:t>c.cid= 'bk1001' and s.cid = 'bk1002'</a:t>
            </a:r>
            <a:r>
              <a:rPr sz="2200" dirty="0">
                <a:solidFill>
                  <a:srgbClr val="CC0000"/>
                </a:solidFill>
                <a:sym typeface="+mn-ea"/>
              </a:rPr>
              <a:t> </a:t>
            </a:r>
            <a:r>
              <a:rPr sz="2200" dirty="0">
                <a:sym typeface="+mn-ea"/>
              </a:rPr>
              <a:t> and c.mark&gt;s.mark</a:t>
            </a:r>
            <a:endParaRPr sz="2200" dirty="0">
              <a:sym typeface="+mn-ea"/>
            </a:endParaRPr>
          </a:p>
        </p:txBody>
      </p:sp>
      <p:sp>
        <p:nvSpPr>
          <p:cNvPr id="13" name="文本框 12"/>
          <p:cNvSpPr txBox="1"/>
          <p:nvPr/>
        </p:nvSpPr>
        <p:spPr>
          <a:xfrm>
            <a:off x="604838" y="4891723"/>
            <a:ext cx="7627937" cy="144526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sz="2200" dirty="0">
                <a:sym typeface="+mn-ea"/>
              </a:rPr>
              <a:t>select s.sid as 学号 from </a:t>
            </a:r>
            <a:endParaRPr sz="2200" dirty="0">
              <a:sym typeface="+mn-ea"/>
            </a:endParaRPr>
          </a:p>
          <a:p>
            <a:pPr marL="0" lvl="0" indent="0" eaLnBrk="1" hangingPunct="1">
              <a:spcBef>
                <a:spcPct val="0"/>
              </a:spcBef>
              <a:buClrTx/>
              <a:buSzTx/>
              <a:buFont typeface="Arial" panose="020B0604020202020204" pitchFamily="34" charset="0"/>
              <a:buNone/>
            </a:pPr>
            <a:r>
              <a:rPr sz="2200" dirty="0">
                <a:sym typeface="+mn-ea"/>
              </a:rPr>
              <a:t>      (Select * from ctake where ctake.cid= </a:t>
            </a:r>
            <a:r>
              <a:rPr lang="en-US" altLang="zh-CN" sz="2200" dirty="0">
                <a:solidFill>
                  <a:srgbClr val="CC00FF"/>
                </a:solidFill>
                <a:sym typeface="+mn-ea"/>
              </a:rPr>
              <a:t>'bk1001'</a:t>
            </a:r>
            <a:r>
              <a:rPr sz="2200" dirty="0">
                <a:sym typeface="+mn-ea"/>
              </a:rPr>
              <a:t>) as S,</a:t>
            </a:r>
            <a:endParaRPr sz="2200" dirty="0">
              <a:sym typeface="+mn-ea"/>
            </a:endParaRPr>
          </a:p>
          <a:p>
            <a:pPr marL="0" lvl="0" indent="0" eaLnBrk="1" hangingPunct="1">
              <a:spcBef>
                <a:spcPct val="0"/>
              </a:spcBef>
              <a:buClrTx/>
              <a:buSzTx/>
              <a:buFont typeface="Arial" panose="020B0604020202020204" pitchFamily="34" charset="0"/>
              <a:buNone/>
            </a:pPr>
            <a:r>
              <a:rPr sz="2200" dirty="0">
                <a:sym typeface="+mn-ea"/>
              </a:rPr>
              <a:t>      (Select * from ctake where ctake.cid= </a:t>
            </a:r>
            <a:r>
              <a:rPr lang="en-US" altLang="zh-CN" sz="2200" dirty="0">
                <a:solidFill>
                  <a:srgbClr val="CC00FF"/>
                </a:solidFill>
                <a:sym typeface="+mn-ea"/>
              </a:rPr>
              <a:t>'bk1002'</a:t>
            </a:r>
            <a:r>
              <a:rPr sz="2200" dirty="0">
                <a:sym typeface="+mn-ea"/>
              </a:rPr>
              <a:t>) as C </a:t>
            </a:r>
            <a:endParaRPr sz="2200" dirty="0">
              <a:sym typeface="+mn-ea"/>
            </a:endParaRPr>
          </a:p>
          <a:p>
            <a:pPr marL="0" lvl="0" indent="0" eaLnBrk="1" hangingPunct="1">
              <a:spcBef>
                <a:spcPct val="0"/>
              </a:spcBef>
              <a:buClrTx/>
              <a:buSzTx/>
              <a:buFont typeface="Arial" panose="020B0604020202020204" pitchFamily="34" charset="0"/>
              <a:buNone/>
            </a:pPr>
            <a:r>
              <a:rPr sz="2200" dirty="0">
                <a:sym typeface="+mn-ea"/>
              </a:rPr>
              <a:t>  where </a:t>
            </a:r>
            <a:r>
              <a:rPr lang="en-US" altLang="zh-CN" sz="2200" dirty="0">
                <a:solidFill>
                  <a:srgbClr val="CC00FF"/>
                </a:solidFill>
                <a:sym typeface="+mn-ea"/>
              </a:rPr>
              <a:t>S.mark&gt;C.mark </a:t>
            </a:r>
            <a:r>
              <a:rPr sz="2200" dirty="0">
                <a:sym typeface="+mn-ea"/>
              </a:rPr>
              <a:t> and  S.sid=C.Sid</a:t>
            </a:r>
            <a:endParaRPr sz="2200" dirty="0">
              <a:sym typeface="+mn-ea"/>
            </a:endParaRPr>
          </a:p>
        </p:txBody>
      </p:sp>
      <p:sp>
        <p:nvSpPr>
          <p:cNvPr id="45" name="文本框 44"/>
          <p:cNvSpPr txBox="1"/>
          <p:nvPr/>
        </p:nvSpPr>
        <p:spPr>
          <a:xfrm>
            <a:off x="442913" y="3175"/>
            <a:ext cx="2681288" cy="830263"/>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问题研讨：</a:t>
            </a:r>
            <a:endParaRPr kumimoji="0" lang="zh-CN" altLang="en-US" sz="3200" kern="1200" cap="none" spc="0" normalizeH="0" baseline="0" noProof="0" dirty="0">
              <a:latin typeface="Arial" panose="020B0604020202020204" pitchFamily="34" charset="0"/>
              <a:ea typeface="宋体" panose="02010600030101010101" pitchFamily="2" charset="-122"/>
              <a:cs typeface="+mn-cs"/>
            </a:endParaRPr>
          </a:p>
        </p:txBody>
      </p:sp>
      <p:pic>
        <p:nvPicPr>
          <p:cNvPr id="2" name="图片 1"/>
          <p:cNvPicPr>
            <a:picLocks noChangeAspect="1"/>
          </p:cNvPicPr>
          <p:nvPr/>
        </p:nvPicPr>
        <p:blipFill>
          <a:blip r:embed="rId2"/>
          <a:stretch>
            <a:fillRect/>
          </a:stretch>
        </p:blipFill>
        <p:spPr>
          <a:xfrm>
            <a:off x="1949450" y="2516505"/>
            <a:ext cx="6576060" cy="1760220"/>
          </a:xfrm>
          <a:prstGeom prst="rect">
            <a:avLst/>
          </a:prstGeom>
        </p:spPr>
      </p:pic>
      <p:pic>
        <p:nvPicPr>
          <p:cNvPr id="4" name="图片 3"/>
          <p:cNvPicPr>
            <a:picLocks noChangeAspect="1"/>
          </p:cNvPicPr>
          <p:nvPr/>
        </p:nvPicPr>
        <p:blipFill>
          <a:blip r:embed="rId3"/>
          <a:stretch>
            <a:fillRect/>
          </a:stretch>
        </p:blipFill>
        <p:spPr>
          <a:xfrm>
            <a:off x="770255" y="4305300"/>
            <a:ext cx="5657215" cy="2054225"/>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ppt_x"/>
                                          </p:val>
                                        </p:tav>
                                        <p:tav tm="100000">
                                          <p:val>
                                            <p:strVal val="#ppt_x"/>
                                          </p:val>
                                        </p:tav>
                                      </p:tavLst>
                                    </p:anim>
                                    <p:anim calcmode="lin" valueType="num">
                                      <p:cBhvr additive="base">
                                        <p:cTn id="1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5"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三、数据库操纵子语言及其操作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93186" name="Rectangle 2"/>
          <p:cNvSpPr txBox="1"/>
          <p:nvPr/>
        </p:nvSpPr>
        <p:spPr>
          <a:xfrm>
            <a:off x="457200" y="869950"/>
            <a:ext cx="8229600" cy="706438"/>
          </a:xfrm>
          <a:prstGeom prst="rect">
            <a:avLst/>
          </a:prstGeom>
          <a:noFill/>
          <a:ln w="9525">
            <a:noFill/>
          </a:ln>
        </p:spPr>
        <p:txBody>
          <a:bodyPr anchor="t" anchorCtr="0"/>
          <a:p>
            <a:pPr>
              <a:buFont typeface="Wingdings" panose="05000000000000000000" pitchFamily="2" charset="2"/>
              <a:buChar char="p"/>
            </a:pPr>
            <a:r>
              <a:rPr lang="zh-CN" altLang="en-US" sz="2800" dirty="0">
                <a:solidFill>
                  <a:srgbClr val="3333CC"/>
                </a:solidFill>
                <a:latin typeface="Arial" panose="020B0604020202020204" pitchFamily="34" charset="0"/>
                <a:ea typeface="黑体" panose="02010609060101010101" pitchFamily="1" charset="-122"/>
              </a:rPr>
              <a:t> 聚集函数</a:t>
            </a:r>
            <a:endParaRPr lang="zh-CN" altLang="en-US" sz="2800" dirty="0">
              <a:solidFill>
                <a:srgbClr val="3333CC"/>
              </a:solidFill>
              <a:latin typeface="Arial" panose="020B0604020202020204" pitchFamily="34" charset="0"/>
              <a:ea typeface="黑体" panose="02010609060101010101" pitchFamily="1" charset="-122"/>
            </a:endParaRPr>
          </a:p>
        </p:txBody>
      </p:sp>
      <p:sp>
        <p:nvSpPr>
          <p:cNvPr id="93187" name="Rectangle 3"/>
          <p:cNvSpPr txBox="1"/>
          <p:nvPr/>
        </p:nvSpPr>
        <p:spPr>
          <a:xfrm>
            <a:off x="508000" y="1400175"/>
            <a:ext cx="8534400" cy="4246563"/>
          </a:xfrm>
          <a:prstGeom prst="rect">
            <a:avLst/>
          </a:prstGeom>
          <a:noFill/>
          <a:ln w="9525">
            <a:noFill/>
          </a:ln>
        </p:spPr>
        <p:txBody>
          <a:bodyPr anchor="t" anchorCtr="0"/>
          <a:p>
            <a:pPr marL="342900" indent="-342900">
              <a:buClr>
                <a:srgbClr val="0033CC"/>
              </a:buClr>
              <a:buSzPct val="80000"/>
              <a:buFont typeface="Wingdings" panose="05000000000000000000" pitchFamily="2" charset="2"/>
              <a:buChar char="Ø"/>
            </a:pPr>
            <a:r>
              <a:rPr lang="zh-CN" altLang="en-US" sz="2400" u="sng" dirty="0">
                <a:solidFill>
                  <a:srgbClr val="FF0000"/>
                </a:solidFill>
                <a:latin typeface="华文楷体" panose="02010600040101010101" pitchFamily="2" charset="-122"/>
                <a:ea typeface="宋体" panose="02010600030101010101" pitchFamily="2" charset="-122"/>
              </a:rPr>
              <a:t>作用：</a:t>
            </a:r>
            <a:r>
              <a:rPr lang="zh-CN" altLang="en-US" sz="2200" dirty="0">
                <a:latin typeface="楷体" panose="02010609060101010101" pitchFamily="1" charset="-122"/>
                <a:ea typeface="楷体" panose="02010609060101010101" pitchFamily="1" charset="-122"/>
              </a:rPr>
              <a:t>用于对数据集合进行统计，如求：总和、平均值、最</a:t>
            </a:r>
            <a:endParaRPr lang="en-US" altLang="zh-CN" sz="2200" dirty="0">
              <a:latin typeface="楷体" panose="02010609060101010101" pitchFamily="1" charset="-122"/>
              <a:ea typeface="楷体" panose="02010609060101010101" pitchFamily="1" charset="-122"/>
            </a:endParaRPr>
          </a:p>
          <a:p>
            <a:pPr marL="342900" indent="-342900">
              <a:buClr>
                <a:srgbClr val="0033CC"/>
              </a:buClr>
              <a:buSzPct val="80000"/>
            </a:pPr>
            <a:r>
              <a:rPr lang="en-US" altLang="zh-CN" sz="2200" dirty="0">
                <a:latin typeface="楷体" panose="02010609060101010101" pitchFamily="1" charset="-122"/>
                <a:ea typeface="楷体" panose="02010609060101010101" pitchFamily="1" charset="-122"/>
              </a:rPr>
              <a:t>   </a:t>
            </a:r>
            <a:r>
              <a:rPr lang="zh-CN" altLang="en-US" sz="2200" dirty="0">
                <a:latin typeface="楷体" panose="02010609060101010101" pitchFamily="1" charset="-122"/>
                <a:ea typeface="楷体" panose="02010609060101010101" pitchFamily="1" charset="-122"/>
              </a:rPr>
              <a:t>大值、最小值、行数。</a:t>
            </a:r>
            <a:endParaRPr lang="zh-CN" altLang="en-US" sz="2200" dirty="0">
              <a:latin typeface="楷体" panose="02010609060101010101" pitchFamily="1" charset="-122"/>
              <a:ea typeface="楷体" panose="02010609060101010101" pitchFamily="1" charset="-122"/>
            </a:endParaRPr>
          </a:p>
          <a:p>
            <a:pPr marL="342900" indent="-342900">
              <a:buClr>
                <a:srgbClr val="0033CC"/>
              </a:buClr>
              <a:buSzPct val="80000"/>
              <a:buFont typeface="Wingdings" panose="05000000000000000000" pitchFamily="2" charset="2"/>
              <a:buChar char="Ø"/>
            </a:pPr>
            <a:r>
              <a:rPr lang="zh-CN" altLang="en-US" sz="2400" dirty="0">
                <a:solidFill>
                  <a:srgbClr val="FF0000"/>
                </a:solidFill>
                <a:latin typeface="华文楷体" panose="02010600040101010101" pitchFamily="2" charset="-122"/>
                <a:ea typeface="宋体" panose="02010600030101010101" pitchFamily="2" charset="-122"/>
              </a:rPr>
              <a:t>用法：</a:t>
            </a:r>
            <a:r>
              <a:rPr lang="zh-CN" altLang="en-US" sz="2200" dirty="0">
                <a:latin typeface="楷体" panose="02010609060101010101" pitchFamily="1" charset="-122"/>
                <a:ea typeface="楷体" panose="02010609060101010101" pitchFamily="1" charset="-122"/>
              </a:rPr>
              <a:t>一般用于</a:t>
            </a:r>
            <a:r>
              <a:rPr lang="en-US" altLang="zh-CN" sz="2200" dirty="0">
                <a:latin typeface="楷体" panose="02010609060101010101" pitchFamily="1" charset="-122"/>
                <a:ea typeface="楷体" panose="02010609060101010101" pitchFamily="1" charset="-122"/>
              </a:rPr>
              <a:t>SELECT</a:t>
            </a:r>
            <a:r>
              <a:rPr lang="zh-CN" altLang="en-US" sz="2200" dirty="0">
                <a:latin typeface="楷体" panose="02010609060101010101" pitchFamily="1" charset="-122"/>
                <a:ea typeface="楷体" panose="02010609060101010101" pitchFamily="1" charset="-122"/>
              </a:rPr>
              <a:t>子句、</a:t>
            </a:r>
            <a:r>
              <a:rPr lang="en-US" altLang="zh-CN" sz="2200" dirty="0">
                <a:latin typeface="楷体" panose="02010609060101010101" pitchFamily="1" charset="-122"/>
                <a:ea typeface="楷体" panose="02010609060101010101" pitchFamily="1" charset="-122"/>
              </a:rPr>
              <a:t>HAVING</a:t>
            </a:r>
            <a:r>
              <a:rPr lang="zh-CN" altLang="en-US" sz="2200" dirty="0">
                <a:latin typeface="楷体" panose="02010609060101010101" pitchFamily="1" charset="-122"/>
                <a:ea typeface="楷体" panose="02010609060101010101" pitchFamily="1" charset="-122"/>
              </a:rPr>
              <a:t>子句和</a:t>
            </a:r>
            <a:r>
              <a:rPr lang="en-US" altLang="zh-CN" sz="2200" dirty="0">
                <a:latin typeface="楷体" panose="02010609060101010101" pitchFamily="1" charset="-122"/>
                <a:ea typeface="楷体" panose="02010609060101010101" pitchFamily="1" charset="-122"/>
              </a:rPr>
              <a:t>ORDER BY</a:t>
            </a:r>
            <a:r>
              <a:rPr lang="zh-CN" altLang="en-US" sz="2200" dirty="0">
                <a:latin typeface="楷体" panose="02010609060101010101" pitchFamily="1" charset="-122"/>
                <a:ea typeface="楷体" panose="02010609060101010101" pitchFamily="1" charset="-122"/>
              </a:rPr>
              <a:t>子句中。</a:t>
            </a:r>
            <a:endParaRPr lang="zh-CN" altLang="en-US" sz="2200" dirty="0">
              <a:latin typeface="楷体" panose="02010609060101010101" pitchFamily="1" charset="-122"/>
              <a:ea typeface="楷体" panose="02010609060101010101" pitchFamily="1" charset="-122"/>
            </a:endParaRPr>
          </a:p>
          <a:p>
            <a:pPr marL="342900" indent="-342900">
              <a:spcBef>
                <a:spcPts val="300"/>
              </a:spcBef>
              <a:buClr>
                <a:srgbClr val="0033CC"/>
              </a:buClr>
              <a:buSzPct val="80000"/>
              <a:buFont typeface="Wingdings" panose="05000000000000000000" pitchFamily="2" charset="2"/>
              <a:buChar char="Ø"/>
            </a:pPr>
            <a:r>
              <a:rPr lang="zh-CN" altLang="en-US" sz="2400" dirty="0">
                <a:solidFill>
                  <a:srgbClr val="006600"/>
                </a:solidFill>
                <a:latin typeface="华文楷体" panose="02010600040101010101" pitchFamily="2" charset="-122"/>
                <a:ea typeface="宋体" panose="02010600030101010101" pitchFamily="2" charset="-122"/>
              </a:rPr>
              <a:t>函数形式及功能：</a:t>
            </a:r>
            <a:endParaRPr lang="zh-CN" altLang="en-US" sz="2400" dirty="0">
              <a:solidFill>
                <a:srgbClr val="006600"/>
              </a:solidFill>
              <a:latin typeface="华文楷体" panose="02010600040101010101" pitchFamily="2" charset="-122"/>
              <a:ea typeface="宋体" panose="02010600030101010101" pitchFamily="2" charset="-122"/>
            </a:endParaRPr>
          </a:p>
          <a:p>
            <a:pPr marL="342900" indent="-342900">
              <a:spcBef>
                <a:spcPct val="20000"/>
              </a:spcBef>
              <a:buClr>
                <a:srgbClr val="0033CC"/>
              </a:buClr>
              <a:buSzPct val="80000"/>
            </a:pPr>
            <a:r>
              <a:rPr lang="en-US" altLang="zh-CN" sz="2400" dirty="0">
                <a:latin typeface="华文楷体" panose="02010600040101010101" pitchFamily="2" charset="-122"/>
                <a:ea typeface="宋体" panose="02010600030101010101" pitchFamily="2" charset="-122"/>
              </a:rPr>
              <a:t>COUNT(DISTINCT|ALL </a:t>
            </a:r>
            <a:r>
              <a:rPr lang="zh-CN" altLang="en-US" sz="2400" dirty="0">
                <a:latin typeface="华文楷体" panose="02010600040101010101" pitchFamily="2" charset="-122"/>
                <a:ea typeface="宋体" panose="02010600030101010101" pitchFamily="2" charset="-122"/>
              </a:rPr>
              <a:t>表达式）  返回</a:t>
            </a:r>
            <a:r>
              <a:rPr lang="zh-CN" altLang="en-US" sz="2400" dirty="0">
                <a:solidFill>
                  <a:srgbClr val="A50021"/>
                </a:solidFill>
                <a:latin typeface="华文楷体" panose="02010600040101010101" pitchFamily="2" charset="-122"/>
                <a:ea typeface="宋体" panose="02010600030101010101" pitchFamily="2" charset="-122"/>
              </a:rPr>
              <a:t>非空</a:t>
            </a:r>
            <a:r>
              <a:rPr lang="zh-CN" altLang="en-US" sz="2400" dirty="0">
                <a:latin typeface="华文楷体" panose="02010600040101010101" pitchFamily="2" charset="-122"/>
                <a:ea typeface="宋体" panose="02010600030101010101" pitchFamily="2" charset="-122"/>
              </a:rPr>
              <a:t>表达式值的行数</a:t>
            </a:r>
            <a:endParaRPr lang="zh-CN" altLang="en-US" sz="2400" dirty="0">
              <a:latin typeface="华文楷体" panose="02010600040101010101" pitchFamily="2" charset="-122"/>
              <a:ea typeface="宋体" panose="02010600030101010101" pitchFamily="2" charset="-122"/>
            </a:endParaRPr>
          </a:p>
          <a:p>
            <a:pPr marL="342900" indent="-342900">
              <a:spcBef>
                <a:spcPct val="20000"/>
              </a:spcBef>
              <a:buClr>
                <a:srgbClr val="0033CC"/>
              </a:buClr>
              <a:buSzPct val="80000"/>
            </a:pPr>
            <a:r>
              <a:rPr lang="en-US" altLang="zh-CN" sz="2400" dirty="0">
                <a:latin typeface="华文楷体" panose="02010600040101010101" pitchFamily="2" charset="-122"/>
                <a:ea typeface="宋体" panose="02010600030101010101" pitchFamily="2" charset="-122"/>
              </a:rPr>
              <a:t>COUNT(*)          </a:t>
            </a:r>
            <a:r>
              <a:rPr lang="zh-CN" altLang="en-US" sz="2400" dirty="0">
                <a:latin typeface="华文楷体" panose="02010600040101010101" pitchFamily="2" charset="-122"/>
                <a:ea typeface="宋体" panose="02010600030101010101" pitchFamily="2" charset="-122"/>
              </a:rPr>
              <a:t>返回结果的行数，</a:t>
            </a:r>
            <a:r>
              <a:rPr lang="zh-CN" altLang="en-US" sz="2400" dirty="0">
                <a:solidFill>
                  <a:srgbClr val="A50021"/>
                </a:solidFill>
                <a:latin typeface="华文楷体" panose="02010600040101010101" pitchFamily="2" charset="-122"/>
                <a:ea typeface="宋体" panose="02010600030101010101" pitchFamily="2" charset="-122"/>
              </a:rPr>
              <a:t>含</a:t>
            </a:r>
            <a:r>
              <a:rPr lang="en-US" altLang="zh-CN" sz="2400" dirty="0">
                <a:solidFill>
                  <a:srgbClr val="A50021"/>
                </a:solidFill>
                <a:latin typeface="华文楷体" panose="02010600040101010101" pitchFamily="2" charset="-122"/>
                <a:ea typeface="宋体" panose="02010600030101010101" pitchFamily="2" charset="-122"/>
              </a:rPr>
              <a:t>NULL</a:t>
            </a:r>
            <a:r>
              <a:rPr lang="zh-CN" altLang="en-US" sz="2400" dirty="0">
                <a:solidFill>
                  <a:srgbClr val="A50021"/>
                </a:solidFill>
                <a:latin typeface="华文楷体" panose="02010600040101010101" pitchFamily="2" charset="-122"/>
                <a:ea typeface="宋体" panose="02010600030101010101" pitchFamily="2" charset="-122"/>
              </a:rPr>
              <a:t>行</a:t>
            </a:r>
            <a:r>
              <a:rPr lang="zh-CN" altLang="en-US" sz="2400" dirty="0">
                <a:latin typeface="华文楷体" panose="02010600040101010101" pitchFamily="2" charset="-122"/>
                <a:ea typeface="宋体" panose="02010600030101010101" pitchFamily="2" charset="-122"/>
              </a:rPr>
              <a:t>和重复行</a:t>
            </a:r>
            <a:endParaRPr lang="zh-CN" altLang="en-US" sz="2400" dirty="0">
              <a:latin typeface="华文楷体" panose="02010600040101010101" pitchFamily="2" charset="-122"/>
              <a:ea typeface="宋体" panose="02010600030101010101" pitchFamily="2" charset="-122"/>
            </a:endParaRPr>
          </a:p>
          <a:p>
            <a:pPr marL="342900" indent="-342900">
              <a:spcBef>
                <a:spcPct val="20000"/>
              </a:spcBef>
              <a:buClr>
                <a:srgbClr val="0033CC"/>
              </a:buClr>
              <a:buSzPct val="80000"/>
            </a:pPr>
            <a:r>
              <a:rPr lang="en-US" altLang="zh-CN" sz="2400" dirty="0">
                <a:latin typeface="华文楷体" panose="02010600040101010101" pitchFamily="2" charset="-122"/>
                <a:ea typeface="宋体" panose="02010600030101010101" pitchFamily="2" charset="-122"/>
              </a:rPr>
              <a:t>MAX(DISTINCT|ALL </a:t>
            </a:r>
            <a:r>
              <a:rPr lang="zh-CN" altLang="en-US" sz="2400" dirty="0">
                <a:latin typeface="华文楷体" panose="02010600040101010101" pitchFamily="2" charset="-122"/>
                <a:ea typeface="宋体" panose="02010600030101010101" pitchFamily="2" charset="-122"/>
              </a:rPr>
              <a:t>表达式</a:t>
            </a:r>
            <a:r>
              <a:rPr lang="en-US" altLang="zh-CN" sz="2400" dirty="0">
                <a:latin typeface="华文楷体" panose="02010600040101010101" pitchFamily="2" charset="-122"/>
                <a:ea typeface="宋体" panose="02010600030101010101" pitchFamily="2" charset="-122"/>
              </a:rPr>
              <a:t>)      </a:t>
            </a:r>
            <a:r>
              <a:rPr lang="zh-CN" altLang="en-US" sz="2400" dirty="0">
                <a:latin typeface="华文楷体" panose="02010600040101010101" pitchFamily="2" charset="-122"/>
                <a:ea typeface="宋体" panose="02010600030101010101" pitchFamily="2" charset="-122"/>
              </a:rPr>
              <a:t>非空表达式值的最大值</a:t>
            </a:r>
            <a:endParaRPr lang="zh-CN" altLang="en-US" sz="2400" dirty="0">
              <a:latin typeface="华文楷体" panose="02010600040101010101" pitchFamily="2" charset="-122"/>
              <a:ea typeface="宋体" panose="02010600030101010101" pitchFamily="2" charset="-122"/>
            </a:endParaRPr>
          </a:p>
          <a:p>
            <a:pPr marL="342900" indent="-342900">
              <a:spcBef>
                <a:spcPct val="20000"/>
              </a:spcBef>
              <a:buClr>
                <a:srgbClr val="0033CC"/>
              </a:buClr>
              <a:buSzPct val="80000"/>
            </a:pPr>
            <a:r>
              <a:rPr lang="en-US" altLang="zh-CN" sz="2400" dirty="0">
                <a:latin typeface="华文楷体" panose="02010600040101010101" pitchFamily="2" charset="-122"/>
                <a:ea typeface="宋体" panose="02010600030101010101" pitchFamily="2" charset="-122"/>
              </a:rPr>
              <a:t>MIN (DISTINCT | ALL </a:t>
            </a:r>
            <a:r>
              <a:rPr lang="zh-CN" altLang="en-US" sz="2400" dirty="0">
                <a:latin typeface="华文楷体" panose="02010600040101010101" pitchFamily="2" charset="-122"/>
                <a:ea typeface="宋体" panose="02010600030101010101" pitchFamily="2" charset="-122"/>
              </a:rPr>
              <a:t>表达式</a:t>
            </a:r>
            <a:r>
              <a:rPr lang="en-US" altLang="zh-CN" sz="2400" dirty="0">
                <a:latin typeface="华文楷体" panose="02010600040101010101" pitchFamily="2" charset="-122"/>
                <a:ea typeface="宋体" panose="02010600030101010101" pitchFamily="2" charset="-122"/>
              </a:rPr>
              <a:t>)   </a:t>
            </a:r>
            <a:r>
              <a:rPr lang="zh-CN" altLang="en-US" sz="2400" dirty="0">
                <a:latin typeface="华文楷体" panose="02010600040101010101" pitchFamily="2" charset="-122"/>
                <a:ea typeface="宋体" panose="02010600030101010101" pitchFamily="2" charset="-122"/>
              </a:rPr>
              <a:t>非空表达式值的最小值</a:t>
            </a:r>
            <a:endParaRPr lang="zh-CN" altLang="en-US" sz="2400" dirty="0">
              <a:latin typeface="华文楷体" panose="02010600040101010101" pitchFamily="2" charset="-122"/>
              <a:ea typeface="宋体" panose="02010600030101010101" pitchFamily="2" charset="-122"/>
            </a:endParaRPr>
          </a:p>
          <a:p>
            <a:pPr marL="342900" indent="-342900">
              <a:spcBef>
                <a:spcPct val="20000"/>
              </a:spcBef>
              <a:buClr>
                <a:srgbClr val="0033CC"/>
              </a:buClr>
              <a:buSzPct val="80000"/>
            </a:pPr>
            <a:r>
              <a:rPr lang="en-US" altLang="zh-CN" sz="2400" dirty="0">
                <a:latin typeface="华文楷体" panose="02010600040101010101" pitchFamily="2" charset="-122"/>
                <a:ea typeface="宋体" panose="02010600030101010101" pitchFamily="2" charset="-122"/>
              </a:rPr>
              <a:t>SUM (DISTINCT | ALL </a:t>
            </a:r>
            <a:r>
              <a:rPr lang="zh-CN" altLang="en-US" sz="2400" dirty="0">
                <a:latin typeface="华文楷体" panose="02010600040101010101" pitchFamily="2" charset="-122"/>
                <a:ea typeface="宋体" panose="02010600030101010101" pitchFamily="2" charset="-122"/>
              </a:rPr>
              <a:t>表达式</a:t>
            </a:r>
            <a:r>
              <a:rPr lang="en-US" altLang="zh-CN" sz="2400" dirty="0">
                <a:latin typeface="华文楷体" panose="02010600040101010101" pitchFamily="2" charset="-122"/>
                <a:ea typeface="宋体" panose="02010600030101010101" pitchFamily="2" charset="-122"/>
              </a:rPr>
              <a:t>)   </a:t>
            </a:r>
            <a:r>
              <a:rPr lang="zh-CN" altLang="en-US" sz="2400" dirty="0">
                <a:latin typeface="华文楷体" panose="02010600040101010101" pitchFamily="2" charset="-122"/>
                <a:ea typeface="宋体" panose="02010600030101010101" pitchFamily="2" charset="-122"/>
              </a:rPr>
              <a:t>非空表达式值的总和值</a:t>
            </a:r>
            <a:endParaRPr lang="zh-CN" altLang="en-US" sz="2400" dirty="0">
              <a:latin typeface="华文楷体" panose="02010600040101010101" pitchFamily="2" charset="-122"/>
              <a:ea typeface="宋体" panose="02010600030101010101" pitchFamily="2" charset="-122"/>
            </a:endParaRPr>
          </a:p>
          <a:p>
            <a:pPr marL="342900" indent="-342900">
              <a:spcBef>
                <a:spcPct val="20000"/>
              </a:spcBef>
              <a:buClr>
                <a:srgbClr val="0033CC"/>
              </a:buClr>
              <a:buSzPct val="80000"/>
            </a:pPr>
            <a:r>
              <a:rPr lang="en-US" altLang="zh-CN" sz="2400" dirty="0">
                <a:latin typeface="华文楷体" panose="02010600040101010101" pitchFamily="2" charset="-122"/>
                <a:ea typeface="宋体" panose="02010600030101010101" pitchFamily="2" charset="-122"/>
              </a:rPr>
              <a:t>AVG (DISTINCT | ALL </a:t>
            </a:r>
            <a:r>
              <a:rPr lang="zh-CN" altLang="en-US" sz="2400" dirty="0">
                <a:latin typeface="华文楷体" panose="02010600040101010101" pitchFamily="2" charset="-122"/>
                <a:ea typeface="宋体" panose="02010600030101010101" pitchFamily="2" charset="-122"/>
              </a:rPr>
              <a:t>表达式</a:t>
            </a:r>
            <a:r>
              <a:rPr lang="en-US" altLang="zh-CN" sz="2400" dirty="0">
                <a:latin typeface="华文楷体" panose="02010600040101010101" pitchFamily="2" charset="-122"/>
                <a:ea typeface="宋体" panose="02010600030101010101" pitchFamily="2" charset="-122"/>
              </a:rPr>
              <a:t>)   </a:t>
            </a:r>
            <a:r>
              <a:rPr lang="zh-CN" altLang="en-US" sz="2400" dirty="0">
                <a:latin typeface="华文楷体" panose="02010600040101010101" pitchFamily="2" charset="-122"/>
                <a:ea typeface="宋体" panose="02010600030101010101" pitchFamily="2" charset="-122"/>
              </a:rPr>
              <a:t>非空表达式值的平均值</a:t>
            </a:r>
            <a:endParaRPr lang="zh-CN" altLang="en-US" sz="2400" dirty="0">
              <a:latin typeface="华文楷体" panose="02010600040101010101" pitchFamily="2" charset="-122"/>
              <a:ea typeface="宋体" panose="02010600030101010101" pitchFamily="2" charset="-122"/>
            </a:endParaRPr>
          </a:p>
        </p:txBody>
      </p:sp>
      <p:sp>
        <p:nvSpPr>
          <p:cNvPr id="93188" name="Text Box 4"/>
          <p:cNvSpPr txBox="1"/>
          <p:nvPr/>
        </p:nvSpPr>
        <p:spPr>
          <a:xfrm>
            <a:off x="508000" y="5588000"/>
            <a:ext cx="8447088" cy="771525"/>
          </a:xfrm>
          <a:prstGeom prst="rect">
            <a:avLst/>
          </a:prstGeom>
          <a:solidFill>
            <a:srgbClr val="EEFDE7"/>
          </a:solidFill>
          <a:ln w="9525">
            <a:noFill/>
          </a:ln>
        </p:spPr>
        <p:txBody>
          <a:bodyPr lIns="90000" tIns="46800" rIns="90000" bIns="46800" anchor="t" anchorCtr="0">
            <a:spAutoFit/>
          </a:bodyPr>
          <a:p>
            <a:r>
              <a:rPr lang="zh-CN" altLang="en-US" sz="2200" dirty="0">
                <a:solidFill>
                  <a:srgbClr val="A50021"/>
                </a:solidFill>
                <a:latin typeface="华文楷体" panose="02010600040101010101" pitchFamily="2" charset="-122"/>
                <a:ea typeface="华文楷体" panose="02010600040101010101" pitchFamily="2" charset="-122"/>
              </a:rPr>
              <a:t>各函数中，默认为</a:t>
            </a:r>
            <a:r>
              <a:rPr lang="en-US" altLang="zh-CN" sz="2200" dirty="0">
                <a:solidFill>
                  <a:srgbClr val="A50021"/>
                </a:solidFill>
                <a:latin typeface="华文楷体" panose="02010600040101010101" pitchFamily="2" charset="-122"/>
                <a:ea typeface="华文楷体" panose="02010600040101010101" pitchFamily="2" charset="-122"/>
              </a:rPr>
              <a:t>All, </a:t>
            </a:r>
            <a:r>
              <a:rPr lang="zh-CN" altLang="en-US" sz="2200" dirty="0">
                <a:solidFill>
                  <a:srgbClr val="A50021"/>
                </a:solidFill>
                <a:latin typeface="华文楷体" panose="02010600040101010101" pitchFamily="2" charset="-122"/>
                <a:ea typeface="华文楷体" panose="02010600040101010101" pitchFamily="2" charset="-122"/>
              </a:rPr>
              <a:t>不计空行，但应计重复行。</a:t>
            </a:r>
            <a:endParaRPr lang="zh-CN" altLang="en-US" sz="2200" dirty="0">
              <a:solidFill>
                <a:srgbClr val="A50021"/>
              </a:solidFill>
              <a:latin typeface="华文楷体" panose="02010600040101010101" pitchFamily="2" charset="-122"/>
              <a:ea typeface="华文楷体" panose="02010600040101010101" pitchFamily="2" charset="-122"/>
            </a:endParaRPr>
          </a:p>
          <a:p>
            <a:r>
              <a:rPr lang="en-US" altLang="zh-CN" sz="2200" dirty="0">
                <a:solidFill>
                  <a:srgbClr val="A50021"/>
                </a:solidFill>
                <a:latin typeface="华文楷体" panose="02010600040101010101" pitchFamily="2" charset="-122"/>
                <a:ea typeface="华文楷体" panose="02010600040101010101" pitchFamily="2" charset="-122"/>
              </a:rPr>
              <a:t>MIN</a:t>
            </a:r>
            <a:r>
              <a:rPr lang="zh-CN" altLang="en-US" sz="2200" dirty="0">
                <a:solidFill>
                  <a:srgbClr val="A50021"/>
                </a:solidFill>
                <a:latin typeface="华文楷体" panose="02010600040101010101" pitchFamily="2" charset="-122"/>
                <a:ea typeface="华文楷体" panose="02010600040101010101" pitchFamily="2" charset="-122"/>
              </a:rPr>
              <a:t>、</a:t>
            </a:r>
            <a:r>
              <a:rPr lang="en-US" altLang="zh-CN" sz="2200" dirty="0">
                <a:solidFill>
                  <a:srgbClr val="A50021"/>
                </a:solidFill>
                <a:latin typeface="华文楷体" panose="02010600040101010101" pitchFamily="2" charset="-122"/>
                <a:ea typeface="华文楷体" panose="02010600040101010101" pitchFamily="2" charset="-122"/>
              </a:rPr>
              <a:t>MAX</a:t>
            </a:r>
            <a:r>
              <a:rPr lang="zh-CN" altLang="en-US" sz="2200" dirty="0">
                <a:solidFill>
                  <a:srgbClr val="A50021"/>
                </a:solidFill>
                <a:latin typeface="华文楷体" panose="02010600040101010101" pitchFamily="2" charset="-122"/>
                <a:ea typeface="华文楷体" panose="02010600040101010101" pitchFamily="2" charset="-122"/>
              </a:rPr>
              <a:t>、</a:t>
            </a:r>
            <a:r>
              <a:rPr lang="en-US" altLang="zh-CN" sz="2200" dirty="0">
                <a:solidFill>
                  <a:srgbClr val="A50021"/>
                </a:solidFill>
                <a:latin typeface="华文楷体" panose="02010600040101010101" pitchFamily="2" charset="-122"/>
                <a:ea typeface="华文楷体" panose="02010600040101010101" pitchFamily="2" charset="-122"/>
              </a:rPr>
              <a:t>COUNT</a:t>
            </a:r>
            <a:r>
              <a:rPr lang="zh-CN" altLang="en-US" sz="2200" dirty="0">
                <a:solidFill>
                  <a:srgbClr val="A50021"/>
                </a:solidFill>
                <a:latin typeface="华文楷体" panose="02010600040101010101" pitchFamily="2" charset="-122"/>
                <a:ea typeface="华文楷体" panose="02010600040101010101" pitchFamily="2" charset="-122"/>
              </a:rPr>
              <a:t>适合于任何数据类型，其余一般要求数值型。</a:t>
            </a:r>
            <a:endParaRPr lang="zh-CN" altLang="en-US" sz="2200" dirty="0">
              <a:solidFill>
                <a:srgbClr val="A50021"/>
              </a:solidFill>
              <a:latin typeface="华文楷体" panose="02010600040101010101" pitchFamily="2" charset="-122"/>
              <a:ea typeface="华文楷体" panose="02010600040101010101" pitchFamily="2" charset="-122"/>
            </a:endParaRPr>
          </a:p>
        </p:txBody>
      </p:sp>
    </p:spTree>
  </p:cSld>
  <p:clrMapOvr>
    <a:masterClrMapping/>
  </p:clrMapOv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09"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三、数据库操纵子语言及其操作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94210" name="Rectangle 2"/>
          <p:cNvSpPr txBox="1"/>
          <p:nvPr/>
        </p:nvSpPr>
        <p:spPr>
          <a:xfrm>
            <a:off x="457200" y="869950"/>
            <a:ext cx="8229600" cy="706438"/>
          </a:xfrm>
          <a:prstGeom prst="rect">
            <a:avLst/>
          </a:prstGeom>
          <a:noFill/>
          <a:ln w="9525">
            <a:noFill/>
          </a:ln>
        </p:spPr>
        <p:txBody>
          <a:bodyPr anchor="t" anchorCtr="0"/>
          <a:p>
            <a:pPr>
              <a:buFont typeface="Wingdings" panose="05000000000000000000" pitchFamily="2" charset="2"/>
              <a:buChar char="p"/>
            </a:pPr>
            <a:r>
              <a:rPr lang="zh-CN" altLang="en-US" sz="2800" dirty="0">
                <a:solidFill>
                  <a:srgbClr val="3333CC"/>
                </a:solidFill>
                <a:latin typeface="Arial" panose="020B0604020202020204" pitchFamily="34" charset="0"/>
                <a:ea typeface="黑体" panose="02010609060101010101" pitchFamily="1" charset="-122"/>
              </a:rPr>
              <a:t> 聚集函数</a:t>
            </a:r>
            <a:endParaRPr lang="zh-CN" altLang="en-US" sz="2800" dirty="0">
              <a:solidFill>
                <a:srgbClr val="3333CC"/>
              </a:solidFill>
              <a:latin typeface="Arial" panose="020B0604020202020204" pitchFamily="34" charset="0"/>
              <a:ea typeface="黑体" panose="02010609060101010101" pitchFamily="1" charset="-122"/>
            </a:endParaRPr>
          </a:p>
        </p:txBody>
      </p:sp>
      <p:sp>
        <p:nvSpPr>
          <p:cNvPr id="71684" name="矩形 3"/>
          <p:cNvSpPr/>
          <p:nvPr/>
        </p:nvSpPr>
        <p:spPr>
          <a:xfrm>
            <a:off x="554990" y="3182620"/>
            <a:ext cx="8271510" cy="829945"/>
          </a:xfrm>
          <a:prstGeom prst="rect">
            <a:avLst/>
          </a:prstGeom>
          <a:noFill/>
          <a:ln w="9525">
            <a:noFill/>
          </a:ln>
        </p:spPr>
        <p:txBody>
          <a:bodyPr wrap="square" anchor="t" anchorCtr="0">
            <a:spAutoFit/>
          </a:bodyPr>
          <a:p>
            <a:r>
              <a:rPr lang="en-US" altLang="zh-CN" sz="2400" dirty="0">
                <a:latin typeface="Arial" panose="020B0604020202020204" pitchFamily="34" charset="0"/>
                <a:ea typeface="宋体" panose="02010600030101010101" pitchFamily="2" charset="-122"/>
              </a:rPr>
              <a:t>SELECT </a:t>
            </a:r>
            <a:r>
              <a:rPr lang="en-US" altLang="zh-CN" sz="2400" dirty="0">
                <a:solidFill>
                  <a:srgbClr val="FF0000"/>
                </a:solidFill>
                <a:latin typeface="Arial" panose="020B0604020202020204" pitchFamily="34" charset="0"/>
                <a:ea typeface="宋体" panose="02010600030101010101" pitchFamily="2" charset="-122"/>
              </a:rPr>
              <a:t>AVG(mark)</a:t>
            </a:r>
            <a:r>
              <a:rPr lang="en-US" altLang="zh-CN" sz="2400" dirty="0">
                <a:latin typeface="Arial" panose="020B0604020202020204" pitchFamily="34" charset="0"/>
                <a:ea typeface="宋体" panose="02010600030101010101" pitchFamily="2" charset="-122"/>
              </a:rPr>
              <a:t> </a:t>
            </a:r>
            <a:r>
              <a:rPr lang="zh-CN" altLang="en-US" sz="2400" dirty="0">
                <a:solidFill>
                  <a:srgbClr val="0000FF"/>
                </a:solidFill>
                <a:latin typeface="Arial" panose="020B0604020202020204" pitchFamily="34" charset="0"/>
                <a:ea typeface="宋体" panose="02010600030101010101" pitchFamily="2" charset="-122"/>
              </a:rPr>
              <a:t>平均分</a:t>
            </a:r>
            <a:r>
              <a:rPr lang="en-US" altLang="zh-CN" sz="2400" dirty="0">
                <a:latin typeface="Arial" panose="020B0604020202020204" pitchFamily="34" charset="0"/>
                <a:ea typeface="宋体" panose="02010600030101010101" pitchFamily="2" charset="-122"/>
              </a:rPr>
              <a:t> FROM </a:t>
            </a:r>
            <a:r>
              <a:rPr lang="en-US" altLang="zh-CN" sz="2400" dirty="0">
                <a:sym typeface="+mn-ea"/>
              </a:rPr>
              <a:t>ctake</a:t>
            </a:r>
            <a:r>
              <a:rPr lang="en-US" altLang="zh-CN" sz="2400" dirty="0">
                <a:latin typeface="Arial" panose="020B0604020202020204" pitchFamily="34" charset="0"/>
                <a:ea typeface="宋体" panose="02010600030101010101" pitchFamily="2" charset="-122"/>
              </a:rPr>
              <a:t>,Course where </a:t>
            </a:r>
            <a:r>
              <a:rPr lang="en-US" altLang="zh-CN" sz="2400" dirty="0">
                <a:sym typeface="+mn-ea"/>
              </a:rPr>
              <a:t>ctake</a:t>
            </a:r>
            <a:r>
              <a:rPr lang="en-US" altLang="zh-CN" sz="2400" dirty="0">
                <a:latin typeface="Arial" panose="020B0604020202020204" pitchFamily="34" charset="0"/>
                <a:ea typeface="宋体" panose="02010600030101010101" pitchFamily="2" charset="-122"/>
              </a:rPr>
              <a:t>.Cid=Course.Cid and Cname='</a:t>
            </a:r>
            <a:r>
              <a:rPr lang="zh-CN" altLang="en-US" sz="2400" dirty="0">
                <a:latin typeface="Arial" panose="020B0604020202020204" pitchFamily="34" charset="0"/>
                <a:ea typeface="宋体" panose="02010600030101010101" pitchFamily="2" charset="-122"/>
              </a:rPr>
              <a:t>数据库原理</a:t>
            </a:r>
            <a:r>
              <a:rPr lang="en-US" altLang="zh-CN" sz="2400" dirty="0">
                <a:latin typeface="Arial" panose="020B0604020202020204" pitchFamily="34" charset="0"/>
                <a:ea typeface="宋体" panose="02010600030101010101" pitchFamily="2" charset="-122"/>
              </a:rPr>
              <a:t>'</a:t>
            </a:r>
            <a:endParaRPr lang="zh-CN" altLang="en-US" sz="2400" dirty="0">
              <a:latin typeface="Arial" panose="020B0604020202020204" pitchFamily="34" charset="0"/>
              <a:ea typeface="宋体" panose="02010600030101010101" pitchFamily="2" charset="-122"/>
            </a:endParaRPr>
          </a:p>
        </p:txBody>
      </p:sp>
      <p:sp>
        <p:nvSpPr>
          <p:cNvPr id="71685" name="矩形 5"/>
          <p:cNvSpPr/>
          <p:nvPr/>
        </p:nvSpPr>
        <p:spPr>
          <a:xfrm>
            <a:off x="554990" y="1514475"/>
            <a:ext cx="8382000" cy="829945"/>
          </a:xfrm>
          <a:prstGeom prst="rect">
            <a:avLst/>
          </a:prstGeom>
          <a:noFill/>
          <a:ln w="9525">
            <a:noFill/>
          </a:ln>
        </p:spPr>
        <p:txBody>
          <a:bodyPr wrap="square" anchor="t" anchorCtr="0">
            <a:spAutoFit/>
          </a:bodyPr>
          <a:p>
            <a:r>
              <a:rPr lang="en-US" altLang="zh-CN" sz="2400" dirty="0">
                <a:latin typeface="Arial" panose="020B0604020202020204" pitchFamily="34" charset="0"/>
                <a:ea typeface="宋体" panose="02010600030101010101" pitchFamily="2" charset="-122"/>
              </a:rPr>
              <a:t>SELECT  </a:t>
            </a:r>
            <a:r>
              <a:rPr lang="en-US" altLang="zh-CN" sz="2400" dirty="0">
                <a:solidFill>
                  <a:srgbClr val="FF0000"/>
                </a:solidFill>
                <a:latin typeface="Arial" panose="020B0604020202020204" pitchFamily="34" charset="0"/>
                <a:ea typeface="宋体" panose="02010600030101010101" pitchFamily="2" charset="-122"/>
              </a:rPr>
              <a:t>sum(mark)</a:t>
            </a:r>
            <a:r>
              <a:rPr lang="en-US" altLang="zh-CN" sz="2400" dirty="0">
                <a:latin typeface="Arial" panose="020B0604020202020204" pitchFamily="34" charset="0"/>
                <a:ea typeface="宋体" panose="02010600030101010101" pitchFamily="2" charset="-122"/>
              </a:rPr>
              <a:t> </a:t>
            </a:r>
            <a:r>
              <a:rPr lang="en-US" altLang="zh-CN" sz="2400" dirty="0">
                <a:solidFill>
                  <a:srgbClr val="0000FF"/>
                </a:solidFill>
                <a:latin typeface="Arial" panose="020B0604020202020204" pitchFamily="34" charset="0"/>
                <a:ea typeface="宋体" panose="02010600030101010101" pitchFamily="2" charset="-122"/>
              </a:rPr>
              <a:t>总成绩</a:t>
            </a:r>
            <a:r>
              <a:rPr lang="en-US" altLang="zh-CN" sz="2400" dirty="0">
                <a:latin typeface="Arial" panose="020B0604020202020204" pitchFamily="34" charset="0"/>
                <a:ea typeface="宋体" panose="02010600030101010101" pitchFamily="2" charset="-122"/>
              </a:rPr>
              <a:t> from ctake where Sid=</a:t>
            </a:r>
            <a:r>
              <a:rPr lang="en-US" altLang="zh-CN" sz="2400" dirty="0">
                <a:solidFill>
                  <a:srgbClr val="0000FF"/>
                </a:solidFill>
                <a:latin typeface="Arial" panose="020B0604020202020204" pitchFamily="34" charset="0"/>
                <a:ea typeface="宋体" panose="02010600030101010101" pitchFamily="2" charset="-122"/>
              </a:rPr>
              <a:t>'2015031001'</a:t>
            </a:r>
            <a:endParaRPr lang="en-US" altLang="zh-CN" sz="2400" dirty="0">
              <a:solidFill>
                <a:srgbClr val="0000FF"/>
              </a:solidFill>
              <a:latin typeface="Arial" panose="020B0604020202020204" pitchFamily="34" charset="0"/>
              <a:ea typeface="宋体" panose="02010600030101010101" pitchFamily="2" charset="-122"/>
            </a:endParaRPr>
          </a:p>
        </p:txBody>
      </p:sp>
      <p:sp>
        <p:nvSpPr>
          <p:cNvPr id="71686" name="矩形 6"/>
          <p:cNvSpPr/>
          <p:nvPr/>
        </p:nvSpPr>
        <p:spPr>
          <a:xfrm>
            <a:off x="579120" y="2344420"/>
            <a:ext cx="8247380" cy="829945"/>
          </a:xfrm>
          <a:prstGeom prst="rect">
            <a:avLst/>
          </a:prstGeom>
          <a:noFill/>
          <a:ln w="9525">
            <a:noFill/>
          </a:ln>
        </p:spPr>
        <p:txBody>
          <a:bodyPr wrap="square" anchor="t" anchorCtr="0">
            <a:spAutoFit/>
          </a:bodyPr>
          <a:p>
            <a:r>
              <a:rPr lang="en-US" altLang="zh-CN" sz="2400" dirty="0">
                <a:latin typeface="Arial" panose="020B0604020202020204" pitchFamily="34" charset="0"/>
                <a:ea typeface="宋体" panose="02010600030101010101" pitchFamily="2" charset="-122"/>
              </a:rPr>
              <a:t>SELECT  </a:t>
            </a:r>
            <a:r>
              <a:rPr lang="en-US" altLang="zh-CN" sz="2400" dirty="0">
                <a:solidFill>
                  <a:srgbClr val="FF0000"/>
                </a:solidFill>
                <a:latin typeface="Arial" panose="020B0604020202020204" pitchFamily="34" charset="0"/>
                <a:ea typeface="宋体" panose="02010600030101010101" pitchFamily="2" charset="-122"/>
              </a:rPr>
              <a:t>Count(*)</a:t>
            </a:r>
            <a:r>
              <a:rPr lang="en-US" altLang="zh-CN" sz="2400" dirty="0">
                <a:latin typeface="Arial" panose="020B0604020202020204" pitchFamily="34" charset="0"/>
                <a:ea typeface="宋体" panose="02010600030101010101" pitchFamily="2" charset="-122"/>
              </a:rPr>
              <a:t> </a:t>
            </a:r>
            <a:r>
              <a:rPr lang="zh-CN" altLang="en-US" sz="2400" dirty="0">
                <a:solidFill>
                  <a:srgbClr val="0000FF"/>
                </a:solidFill>
                <a:latin typeface="Arial" panose="020B0604020202020204" pitchFamily="34" charset="0"/>
                <a:ea typeface="宋体" panose="02010600030101010101" pitchFamily="2" charset="-122"/>
              </a:rPr>
              <a:t>选课门数</a:t>
            </a:r>
            <a:r>
              <a:rPr lang="en-US" altLang="zh-CN" sz="2400" dirty="0">
                <a:latin typeface="Arial" panose="020B0604020202020204" pitchFamily="34" charset="0"/>
                <a:ea typeface="宋体" panose="02010600030101010101" pitchFamily="2" charset="-122"/>
              </a:rPr>
              <a:t> from </a:t>
            </a:r>
            <a:r>
              <a:rPr lang="en-US" altLang="zh-CN" sz="2400" dirty="0">
                <a:sym typeface="+mn-ea"/>
              </a:rPr>
              <a:t>ctake</a:t>
            </a:r>
            <a:r>
              <a:rPr lang="en-US" altLang="zh-CN" sz="2400" dirty="0">
                <a:latin typeface="Arial" panose="020B0604020202020204" pitchFamily="34" charset="0"/>
                <a:ea typeface="宋体" panose="02010600030101010101" pitchFamily="2" charset="-122"/>
              </a:rPr>
              <a:t> where Sid=</a:t>
            </a:r>
            <a:r>
              <a:rPr lang="en-US" altLang="zh-CN" sz="2400" dirty="0">
                <a:solidFill>
                  <a:srgbClr val="0000FF"/>
                </a:solidFill>
                <a:latin typeface="Arial" panose="020B0604020202020204" pitchFamily="34" charset="0"/>
                <a:ea typeface="宋体" panose="02010600030101010101" pitchFamily="2" charset="-122"/>
              </a:rPr>
              <a:t>'</a:t>
            </a:r>
            <a:r>
              <a:rPr lang="en-US" altLang="zh-CN" sz="2400" dirty="0">
                <a:solidFill>
                  <a:srgbClr val="0000FF"/>
                </a:solidFill>
                <a:sym typeface="+mn-ea"/>
              </a:rPr>
              <a:t>2015031001</a:t>
            </a:r>
            <a:r>
              <a:rPr lang="en-US" altLang="zh-CN" sz="2400" dirty="0">
                <a:solidFill>
                  <a:srgbClr val="0000FF"/>
                </a:solidFill>
                <a:latin typeface="Arial" panose="020B0604020202020204" pitchFamily="34" charset="0"/>
                <a:ea typeface="宋体" panose="02010600030101010101" pitchFamily="2" charset="-122"/>
              </a:rPr>
              <a:t>'</a:t>
            </a:r>
            <a:endParaRPr lang="en-US" altLang="zh-CN" sz="2400" dirty="0">
              <a:solidFill>
                <a:srgbClr val="0000FF"/>
              </a:solidFill>
              <a:latin typeface="Arial" panose="020B0604020202020204" pitchFamily="34" charset="0"/>
              <a:ea typeface="宋体" panose="02010600030101010101" pitchFamily="2" charset="-122"/>
            </a:endParaRPr>
          </a:p>
        </p:txBody>
      </p:sp>
      <p:sp>
        <p:nvSpPr>
          <p:cNvPr id="71687" name="矩形 7"/>
          <p:cNvSpPr/>
          <p:nvPr/>
        </p:nvSpPr>
        <p:spPr>
          <a:xfrm>
            <a:off x="554990" y="4079240"/>
            <a:ext cx="8131810" cy="829945"/>
          </a:xfrm>
          <a:prstGeom prst="rect">
            <a:avLst/>
          </a:prstGeom>
          <a:noFill/>
          <a:ln w="9525">
            <a:noFill/>
          </a:ln>
        </p:spPr>
        <p:txBody>
          <a:bodyPr wrap="square" anchor="t" anchorCtr="0">
            <a:spAutoFit/>
          </a:bodyPr>
          <a:p>
            <a:r>
              <a:rPr lang="en-US" altLang="zh-CN" sz="2400" dirty="0">
                <a:latin typeface="Arial" panose="020B0604020202020204" pitchFamily="34" charset="0"/>
                <a:ea typeface="宋体" panose="02010600030101010101" pitchFamily="2" charset="-122"/>
              </a:rPr>
              <a:t>SELECT </a:t>
            </a:r>
            <a:r>
              <a:rPr lang="en-US" altLang="zh-CN" sz="2400" dirty="0">
                <a:solidFill>
                  <a:srgbClr val="FF0000"/>
                </a:solidFill>
                <a:latin typeface="Arial" panose="020B0604020202020204" pitchFamily="34" charset="0"/>
                <a:ea typeface="宋体" panose="02010600030101010101" pitchFamily="2" charset="-122"/>
              </a:rPr>
              <a:t>Max(mark)</a:t>
            </a:r>
            <a:r>
              <a:rPr lang="en-US" altLang="zh-CN" sz="2400" dirty="0">
                <a:latin typeface="Arial" panose="020B0604020202020204" pitchFamily="34" charset="0"/>
                <a:ea typeface="宋体" panose="02010600030101010101" pitchFamily="2" charset="-122"/>
              </a:rPr>
              <a:t> </a:t>
            </a:r>
            <a:r>
              <a:rPr lang="zh-CN" altLang="en-US" sz="2400" dirty="0">
                <a:solidFill>
                  <a:srgbClr val="0000FF"/>
                </a:solidFill>
                <a:sym typeface="+mn-ea"/>
              </a:rPr>
              <a:t>最高分</a:t>
            </a:r>
            <a:r>
              <a:rPr lang="en-US" altLang="zh-CN" sz="2400" dirty="0">
                <a:latin typeface="Arial" panose="020B0604020202020204" pitchFamily="34" charset="0"/>
                <a:ea typeface="宋体" panose="02010600030101010101" pitchFamily="2" charset="-122"/>
              </a:rPr>
              <a:t>FROM </a:t>
            </a:r>
            <a:r>
              <a:rPr lang="en-US" altLang="zh-CN" sz="2400" dirty="0">
                <a:sym typeface="+mn-ea"/>
              </a:rPr>
              <a:t>ctake</a:t>
            </a:r>
            <a:r>
              <a:rPr lang="en-US" altLang="zh-CN" sz="2400" dirty="0">
                <a:latin typeface="Arial" panose="020B0604020202020204" pitchFamily="34" charset="0"/>
                <a:ea typeface="宋体" panose="02010600030101010101" pitchFamily="2" charset="-122"/>
              </a:rPr>
              <a:t>,Course where </a:t>
            </a:r>
            <a:r>
              <a:rPr lang="en-US" altLang="zh-CN" sz="2400" dirty="0">
                <a:sym typeface="+mn-ea"/>
              </a:rPr>
              <a:t>ctake</a:t>
            </a:r>
            <a:r>
              <a:rPr lang="en-US" altLang="zh-CN" sz="2400" dirty="0">
                <a:latin typeface="Arial" panose="020B0604020202020204" pitchFamily="34" charset="0"/>
                <a:ea typeface="宋体" panose="02010600030101010101" pitchFamily="2" charset="-122"/>
              </a:rPr>
              <a:t>.Cid=Course.Cid and Cname='</a:t>
            </a:r>
            <a:r>
              <a:rPr lang="zh-CN" altLang="en-US" sz="2400" dirty="0">
                <a:latin typeface="Arial" panose="020B0604020202020204" pitchFamily="34" charset="0"/>
                <a:ea typeface="宋体" panose="02010600030101010101" pitchFamily="2" charset="-122"/>
              </a:rPr>
              <a:t>数据库原理</a:t>
            </a:r>
            <a:r>
              <a:rPr lang="en-US" altLang="zh-CN" sz="2400" dirty="0">
                <a:latin typeface="Arial" panose="020B0604020202020204" pitchFamily="34" charset="0"/>
                <a:ea typeface="宋体" panose="02010600030101010101" pitchFamily="2" charset="-122"/>
              </a:rPr>
              <a:t>'</a:t>
            </a:r>
            <a:endParaRPr lang="zh-CN" altLang="en-US" sz="2400" dirty="0">
              <a:latin typeface="Arial" panose="020B0604020202020204" pitchFamily="34" charset="0"/>
              <a:ea typeface="宋体" panose="02010600030101010101" pitchFamily="2" charset="-122"/>
            </a:endParaRPr>
          </a:p>
        </p:txBody>
      </p:sp>
      <p:sp>
        <p:nvSpPr>
          <p:cNvPr id="71688" name="矩形 8"/>
          <p:cNvSpPr/>
          <p:nvPr/>
        </p:nvSpPr>
        <p:spPr>
          <a:xfrm>
            <a:off x="457200" y="5032375"/>
            <a:ext cx="8230235" cy="829945"/>
          </a:xfrm>
          <a:prstGeom prst="rect">
            <a:avLst/>
          </a:prstGeom>
          <a:noFill/>
          <a:ln w="9525">
            <a:noFill/>
          </a:ln>
        </p:spPr>
        <p:txBody>
          <a:bodyPr wrap="square" anchor="t" anchorCtr="0">
            <a:spAutoFit/>
          </a:bodyPr>
          <a:p>
            <a:r>
              <a:rPr lang="en-US" altLang="zh-CN" sz="2400" dirty="0">
                <a:latin typeface="Arial" panose="020B0604020202020204" pitchFamily="34" charset="0"/>
                <a:ea typeface="宋体" panose="02010600030101010101" pitchFamily="2" charset="-122"/>
              </a:rPr>
              <a:t>SELECT </a:t>
            </a:r>
            <a:r>
              <a:rPr lang="en-US" altLang="zh-CN" sz="2400" dirty="0">
                <a:solidFill>
                  <a:srgbClr val="FF0000"/>
                </a:solidFill>
                <a:latin typeface="Arial" panose="020B0604020202020204" pitchFamily="34" charset="0"/>
                <a:ea typeface="宋体" panose="02010600030101010101" pitchFamily="2" charset="-122"/>
              </a:rPr>
              <a:t>Min(mark)</a:t>
            </a:r>
            <a:r>
              <a:rPr lang="en-US" altLang="zh-CN" sz="2400" dirty="0">
                <a:latin typeface="Arial" panose="020B0604020202020204" pitchFamily="34" charset="0"/>
                <a:ea typeface="宋体" panose="02010600030101010101" pitchFamily="2" charset="-122"/>
              </a:rPr>
              <a:t> </a:t>
            </a:r>
            <a:r>
              <a:rPr lang="zh-CN" altLang="en-US" sz="2400" dirty="0">
                <a:solidFill>
                  <a:srgbClr val="0000FF"/>
                </a:solidFill>
                <a:latin typeface="Arial" panose="020B0604020202020204" pitchFamily="34" charset="0"/>
                <a:ea typeface="宋体" panose="02010600030101010101" pitchFamily="2" charset="-122"/>
              </a:rPr>
              <a:t>最低分</a:t>
            </a:r>
            <a:r>
              <a:rPr lang="en-US" altLang="zh-CN" sz="2400" dirty="0">
                <a:solidFill>
                  <a:srgbClr val="0000FF"/>
                </a:solidFill>
                <a:latin typeface="Arial" panose="020B0604020202020204" pitchFamily="34" charset="0"/>
                <a:ea typeface="宋体" panose="02010600030101010101" pitchFamily="2" charset="-122"/>
              </a:rPr>
              <a:t> </a:t>
            </a:r>
            <a:r>
              <a:rPr lang="en-US" altLang="zh-CN" sz="2400" dirty="0">
                <a:latin typeface="Arial" panose="020B0604020202020204" pitchFamily="34" charset="0"/>
                <a:ea typeface="宋体" panose="02010600030101010101" pitchFamily="2" charset="-122"/>
              </a:rPr>
              <a:t>FROM </a:t>
            </a:r>
            <a:r>
              <a:rPr lang="en-US" altLang="zh-CN" sz="2400" dirty="0">
                <a:sym typeface="+mn-ea"/>
              </a:rPr>
              <a:t>ctake</a:t>
            </a:r>
            <a:r>
              <a:rPr lang="en-US" altLang="zh-CN" sz="2400" dirty="0">
                <a:latin typeface="Arial" panose="020B0604020202020204" pitchFamily="34" charset="0"/>
                <a:ea typeface="宋体" panose="02010600030101010101" pitchFamily="2" charset="-122"/>
              </a:rPr>
              <a:t>,Course where </a:t>
            </a:r>
            <a:r>
              <a:rPr lang="en-US" altLang="zh-CN" sz="2400" dirty="0">
                <a:sym typeface="+mn-ea"/>
              </a:rPr>
              <a:t>ctake</a:t>
            </a:r>
            <a:r>
              <a:rPr lang="en-US" altLang="zh-CN" sz="2400" dirty="0">
                <a:latin typeface="Arial" panose="020B0604020202020204" pitchFamily="34" charset="0"/>
                <a:ea typeface="宋体" panose="02010600030101010101" pitchFamily="2" charset="-122"/>
              </a:rPr>
              <a:t>.Cid=Course.Cid and Cname='</a:t>
            </a:r>
            <a:r>
              <a:rPr lang="zh-CN" altLang="en-US" sz="2400" dirty="0">
                <a:latin typeface="Arial" panose="020B0604020202020204" pitchFamily="34" charset="0"/>
                <a:ea typeface="宋体" panose="02010600030101010101" pitchFamily="2" charset="-122"/>
              </a:rPr>
              <a:t>数据库原理</a:t>
            </a:r>
            <a:r>
              <a:rPr lang="en-US" altLang="zh-CN" sz="2400" dirty="0">
                <a:latin typeface="Arial" panose="020B0604020202020204" pitchFamily="34" charset="0"/>
                <a:ea typeface="宋体" panose="02010600030101010101" pitchFamily="2" charset="-122"/>
              </a:rPr>
              <a:t>'</a:t>
            </a:r>
            <a:endParaRPr lang="zh-CN" altLang="en-US" sz="2400" dirty="0">
              <a:latin typeface="Arial" panose="020B0604020202020204" pitchFamily="34" charset="0"/>
              <a:ea typeface="宋体" panose="02010600030101010101" pitchFamily="2" charset="-122"/>
            </a:endParaRPr>
          </a:p>
        </p:txBody>
      </p:sp>
      <p:pic>
        <p:nvPicPr>
          <p:cNvPr id="2" name="图片 1"/>
          <p:cNvPicPr>
            <a:picLocks noChangeAspect="1"/>
          </p:cNvPicPr>
          <p:nvPr/>
        </p:nvPicPr>
        <p:blipFill>
          <a:blip r:embed="rId1"/>
          <a:stretch>
            <a:fillRect/>
          </a:stretch>
        </p:blipFill>
        <p:spPr>
          <a:xfrm>
            <a:off x="387350" y="1685925"/>
            <a:ext cx="8439398" cy="4392000"/>
          </a:xfrm>
          <a:prstGeom prst="rect">
            <a:avLst/>
          </a:prstGeom>
          <a:ln>
            <a:solidFill>
              <a:schemeClr val="accent1"/>
            </a:solid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1685">
                                            <p:txEl>
                                              <p:charRg st="0" end="48"/>
                                            </p:txEl>
                                          </p:spTgt>
                                        </p:tgtEl>
                                        <p:attrNameLst>
                                          <p:attrName>style.visibility</p:attrName>
                                        </p:attrNameLst>
                                      </p:cBhvr>
                                      <p:to>
                                        <p:strVal val="visible"/>
                                      </p:to>
                                    </p:set>
                                    <p:animEffect transition="in" filter="wipe(down)">
                                      <p:cBhvr>
                                        <p:cTn id="7" dur="500"/>
                                        <p:tgtEl>
                                          <p:spTgt spid="71685">
                                            <p:txEl>
                                              <p:charRg st="0" end="48"/>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1686">
                                            <p:txEl>
                                              <p:charRg st="0" end="46"/>
                                            </p:txEl>
                                          </p:spTgt>
                                        </p:tgtEl>
                                        <p:attrNameLst>
                                          <p:attrName>style.visibility</p:attrName>
                                        </p:attrNameLst>
                                      </p:cBhvr>
                                      <p:to>
                                        <p:strVal val="visible"/>
                                      </p:to>
                                    </p:set>
                                    <p:animEffect transition="in" filter="wipe(down)">
                                      <p:cBhvr>
                                        <p:cTn id="12" dur="500"/>
                                        <p:tgtEl>
                                          <p:spTgt spid="71686">
                                            <p:txEl>
                                              <p:charRg st="0" end="4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71684">
                                            <p:txEl>
                                              <p:charRg st="0" end="78"/>
                                            </p:txEl>
                                          </p:spTgt>
                                        </p:tgtEl>
                                        <p:attrNameLst>
                                          <p:attrName>style.visibility</p:attrName>
                                        </p:attrNameLst>
                                      </p:cBhvr>
                                      <p:to>
                                        <p:strVal val="visible"/>
                                      </p:to>
                                    </p:set>
                                    <p:animEffect transition="in" filter="wipe(down)">
                                      <p:cBhvr>
                                        <p:cTn id="17" dur="500"/>
                                        <p:tgtEl>
                                          <p:spTgt spid="71684">
                                            <p:txEl>
                                              <p:charRg st="0" end="78"/>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71687">
                                            <p:txEl>
                                              <p:charRg st="0" end="78"/>
                                            </p:txEl>
                                          </p:spTgt>
                                        </p:tgtEl>
                                        <p:attrNameLst>
                                          <p:attrName>style.visibility</p:attrName>
                                        </p:attrNameLst>
                                      </p:cBhvr>
                                      <p:to>
                                        <p:strVal val="visible"/>
                                      </p:to>
                                    </p:set>
                                    <p:animEffect transition="in" filter="wipe(down)">
                                      <p:cBhvr>
                                        <p:cTn id="22" dur="500"/>
                                        <p:tgtEl>
                                          <p:spTgt spid="71687">
                                            <p:txEl>
                                              <p:charRg st="0" end="78"/>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71688">
                                            <p:txEl>
                                              <p:charRg st="0" end="78"/>
                                            </p:txEl>
                                          </p:spTgt>
                                        </p:tgtEl>
                                        <p:attrNameLst>
                                          <p:attrName>style.visibility</p:attrName>
                                        </p:attrNameLst>
                                      </p:cBhvr>
                                      <p:to>
                                        <p:strVal val="visible"/>
                                      </p:to>
                                    </p:set>
                                    <p:animEffect transition="in" filter="wipe(down)">
                                      <p:cBhvr>
                                        <p:cTn id="27" dur="500"/>
                                        <p:tgtEl>
                                          <p:spTgt spid="71688">
                                            <p:txEl>
                                              <p:charRg st="0" end="7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 calcmode="lin" valueType="num">
                                      <p:cBhvr additive="base">
                                        <p:cTn id="32" dur="500" fill="hold"/>
                                        <p:tgtEl>
                                          <p:spTgt spid="2"/>
                                        </p:tgtEl>
                                        <p:attrNameLst>
                                          <p:attrName>ppt_x</p:attrName>
                                        </p:attrNameLst>
                                      </p:cBhvr>
                                      <p:tavLst>
                                        <p:tav tm="0">
                                          <p:val>
                                            <p:strVal val="#ppt_x"/>
                                          </p:val>
                                        </p:tav>
                                        <p:tav tm="100000">
                                          <p:val>
                                            <p:strVal val="#ppt_x"/>
                                          </p:val>
                                        </p:tav>
                                      </p:tavLst>
                                    </p:anim>
                                    <p:anim calcmode="lin" valueType="num">
                                      <p:cBhvr additive="base">
                                        <p:cTn id="3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4" grpId="0" build="allAtOnce"/>
      <p:bldP spid="71685" grpId="0" build="p"/>
      <p:bldP spid="71686" grpId="0" build="allAtOnce"/>
      <p:bldP spid="71687" grpId="0" build="allAtOnce"/>
      <p:bldP spid="71688" grpId="0" build="allAtOnce"/>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3"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三、数据库操纵子语言及其操作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72707" name="Rectangle 4"/>
          <p:cNvSpPr txBox="1"/>
          <p:nvPr/>
        </p:nvSpPr>
        <p:spPr>
          <a:xfrm>
            <a:off x="496888" y="1365250"/>
            <a:ext cx="8291512" cy="4919663"/>
          </a:xfrm>
          <a:prstGeom prst="rect">
            <a:avLst/>
          </a:prstGeom>
          <a:noFill/>
          <a:ln w="9525">
            <a:noFill/>
          </a:ln>
        </p:spPr>
        <p:txBody>
          <a:bodyPr anchor="t" anchorCtr="0"/>
          <a:p>
            <a:pPr>
              <a:lnSpc>
                <a:spcPct val="90000"/>
              </a:lnSpc>
              <a:spcBef>
                <a:spcPts val="300"/>
              </a:spcBef>
              <a:buClr>
                <a:srgbClr val="0033CC"/>
              </a:buClr>
              <a:buSzPct val="80000"/>
              <a:buFont typeface="Wingdings" panose="05000000000000000000" pitchFamily="2" charset="2"/>
              <a:buChar char="Ø"/>
            </a:pPr>
            <a:r>
              <a:rPr lang="en-US" altLang="zh-CN" sz="2400" u="sng" dirty="0">
                <a:solidFill>
                  <a:srgbClr val="FF0000"/>
                </a:solidFill>
                <a:latin typeface="华文楷体" panose="02010600040101010101" pitchFamily="2" charset="-122"/>
                <a:ea typeface="宋体" panose="02010600030101010101" pitchFamily="2" charset="-122"/>
              </a:rPr>
              <a:t> GROUP BY</a:t>
            </a:r>
            <a:r>
              <a:rPr lang="zh-CN" altLang="en-US" sz="2400" u="sng" dirty="0">
                <a:solidFill>
                  <a:srgbClr val="FF0000"/>
                </a:solidFill>
                <a:latin typeface="华文楷体" panose="02010600040101010101" pitchFamily="2" charset="-122"/>
                <a:ea typeface="宋体" panose="02010600030101010101" pitchFamily="2" charset="-122"/>
              </a:rPr>
              <a:t>子句作用：</a:t>
            </a:r>
            <a:r>
              <a:rPr lang="zh-CN" altLang="en-US" sz="2400" dirty="0">
                <a:latin typeface="华文楷体" panose="02010600040101010101" pitchFamily="2" charset="-122"/>
                <a:ea typeface="宋体" panose="02010600030101010101" pitchFamily="2" charset="-122"/>
              </a:rPr>
              <a:t>用于对查询的结果数据集合进行“分组”或“分组统计”，如对各个分组求：总和、平均值、最大值、最小值、行数。</a:t>
            </a:r>
            <a:endParaRPr lang="zh-CN" altLang="en-US" sz="2400" dirty="0">
              <a:latin typeface="华文楷体" panose="02010600040101010101" pitchFamily="2" charset="-122"/>
              <a:ea typeface="宋体" panose="02010600030101010101" pitchFamily="2" charset="-122"/>
            </a:endParaRPr>
          </a:p>
          <a:p>
            <a:pPr>
              <a:lnSpc>
                <a:spcPct val="90000"/>
              </a:lnSpc>
              <a:spcBef>
                <a:spcPts val="300"/>
              </a:spcBef>
              <a:buClr>
                <a:srgbClr val="0033CC"/>
              </a:buClr>
              <a:buSzPct val="80000"/>
              <a:buFont typeface="Wingdings" panose="05000000000000000000" pitchFamily="2" charset="2"/>
              <a:buChar char="Ø"/>
            </a:pPr>
            <a:r>
              <a:rPr lang="en-US" altLang="zh-CN" sz="2400" u="sng" dirty="0">
                <a:solidFill>
                  <a:srgbClr val="FF0000"/>
                </a:solidFill>
                <a:latin typeface="华文楷体" panose="02010600040101010101" pitchFamily="2" charset="-122"/>
                <a:ea typeface="宋体" panose="02010600030101010101" pitchFamily="2" charset="-122"/>
              </a:rPr>
              <a:t> GROUP BY</a:t>
            </a:r>
            <a:r>
              <a:rPr lang="zh-CN" altLang="en-US" sz="2400" u="sng" dirty="0">
                <a:solidFill>
                  <a:srgbClr val="FF0000"/>
                </a:solidFill>
                <a:latin typeface="华文楷体" panose="02010600040101010101" pitchFamily="2" charset="-122"/>
                <a:ea typeface="宋体" panose="02010600030101010101" pitchFamily="2" charset="-122"/>
              </a:rPr>
              <a:t>子句用法</a:t>
            </a:r>
            <a:r>
              <a:rPr lang="zh-CN" altLang="en-US" sz="2400" dirty="0">
                <a:latin typeface="华文楷体" panose="02010600040101010101" pitchFamily="2" charset="-122"/>
                <a:ea typeface="宋体" panose="02010600030101010101" pitchFamily="2" charset="-122"/>
              </a:rPr>
              <a:t>：一般与“聚集函数”联用。</a:t>
            </a:r>
            <a:endParaRPr lang="zh-CN" altLang="en-US" sz="2400" dirty="0">
              <a:latin typeface="华文楷体" panose="02010600040101010101" pitchFamily="2" charset="-122"/>
              <a:ea typeface="宋体" panose="02010600030101010101" pitchFamily="2" charset="-122"/>
            </a:endParaRPr>
          </a:p>
          <a:p>
            <a:pPr>
              <a:lnSpc>
                <a:spcPct val="90000"/>
              </a:lnSpc>
              <a:spcBef>
                <a:spcPts val="300"/>
              </a:spcBef>
              <a:buClr>
                <a:srgbClr val="0033CC"/>
              </a:buClr>
              <a:buSzPct val="80000"/>
              <a:buFont typeface="Wingdings" panose="05000000000000000000" pitchFamily="2" charset="2"/>
              <a:buChar char="Ø"/>
            </a:pPr>
            <a:r>
              <a:rPr lang="en-US" altLang="zh-CN" sz="2400" dirty="0">
                <a:solidFill>
                  <a:srgbClr val="006600"/>
                </a:solidFill>
                <a:latin typeface="华文楷体" panose="02010600040101010101" pitchFamily="2" charset="-122"/>
                <a:ea typeface="宋体" panose="02010600030101010101" pitchFamily="2" charset="-122"/>
              </a:rPr>
              <a:t> </a:t>
            </a:r>
            <a:r>
              <a:rPr lang="en-US" altLang="zh-CN" sz="2400" u="sng" dirty="0">
                <a:solidFill>
                  <a:srgbClr val="FF0000"/>
                </a:solidFill>
                <a:latin typeface="华文楷体" panose="02010600040101010101" pitchFamily="2" charset="-122"/>
                <a:ea typeface="宋体" panose="02010600030101010101" pitchFamily="2" charset="-122"/>
              </a:rPr>
              <a:t>HAVING</a:t>
            </a:r>
            <a:r>
              <a:rPr lang="zh-CN" altLang="en-US" sz="2400" u="sng" dirty="0">
                <a:solidFill>
                  <a:srgbClr val="FF0000"/>
                </a:solidFill>
                <a:latin typeface="华文楷体" panose="02010600040101010101" pitchFamily="2" charset="-122"/>
                <a:ea typeface="宋体" panose="02010600030101010101" pitchFamily="2" charset="-122"/>
              </a:rPr>
              <a:t>子句作用：</a:t>
            </a:r>
            <a:r>
              <a:rPr lang="zh-CN" altLang="en-US" sz="2400" dirty="0">
                <a:latin typeface="华文楷体" panose="02010600040101010101" pitchFamily="2" charset="-122"/>
                <a:ea typeface="宋体" panose="02010600030101010101" pitchFamily="2" charset="-122"/>
              </a:rPr>
              <a:t>用于对分组数据集合的再筛选。</a:t>
            </a:r>
            <a:endParaRPr lang="zh-CN" altLang="en-US" sz="2400" dirty="0">
              <a:latin typeface="华文楷体" panose="02010600040101010101" pitchFamily="2" charset="-122"/>
              <a:ea typeface="宋体" panose="02010600030101010101" pitchFamily="2" charset="-122"/>
            </a:endParaRPr>
          </a:p>
          <a:p>
            <a:pPr>
              <a:spcBef>
                <a:spcPts val="300"/>
              </a:spcBef>
              <a:buClr>
                <a:srgbClr val="0033CC"/>
              </a:buClr>
              <a:buSzPct val="80000"/>
              <a:buFont typeface="Wingdings" panose="05000000000000000000" pitchFamily="2" charset="2"/>
              <a:buChar char="Ø"/>
            </a:pPr>
            <a:r>
              <a:rPr lang="en-US" altLang="zh-CN" sz="2400" u="sng" dirty="0">
                <a:solidFill>
                  <a:srgbClr val="FF0000"/>
                </a:solidFill>
                <a:latin typeface="华文楷体" panose="02010600040101010101" pitchFamily="2" charset="-122"/>
                <a:ea typeface="宋体" panose="02010600030101010101" pitchFamily="2" charset="-122"/>
              </a:rPr>
              <a:t> HAVING</a:t>
            </a:r>
            <a:r>
              <a:rPr lang="zh-CN" altLang="en-US" sz="2400" u="sng" dirty="0">
                <a:solidFill>
                  <a:srgbClr val="FF0000"/>
                </a:solidFill>
                <a:latin typeface="华文楷体" panose="02010600040101010101" pitchFamily="2" charset="-122"/>
                <a:ea typeface="宋体" panose="02010600030101010101" pitchFamily="2" charset="-122"/>
              </a:rPr>
              <a:t>子句用法：</a:t>
            </a:r>
            <a:r>
              <a:rPr lang="zh-CN" altLang="en-US" sz="2400" dirty="0">
                <a:solidFill>
                  <a:srgbClr val="0033CC"/>
                </a:solidFill>
                <a:latin typeface="华文楷体" panose="02010600040101010101" pitchFamily="2" charset="-122"/>
                <a:ea typeface="宋体" panose="02010600030101010101" pitchFamily="2" charset="-122"/>
              </a:rPr>
              <a:t>须与</a:t>
            </a:r>
            <a:r>
              <a:rPr lang="en-US" altLang="zh-CN" sz="2400" dirty="0">
                <a:solidFill>
                  <a:srgbClr val="0033CC"/>
                </a:solidFill>
                <a:latin typeface="华文楷体" panose="02010600040101010101" pitchFamily="2" charset="-122"/>
                <a:ea typeface="宋体" panose="02010600030101010101" pitchFamily="2" charset="-122"/>
              </a:rPr>
              <a:t>GROUP BY</a:t>
            </a:r>
            <a:r>
              <a:rPr lang="zh-CN" altLang="en-US" sz="2400" dirty="0">
                <a:solidFill>
                  <a:srgbClr val="0033CC"/>
                </a:solidFill>
                <a:latin typeface="华文楷体" panose="02010600040101010101" pitchFamily="2" charset="-122"/>
                <a:ea typeface="宋体" panose="02010600030101010101" pitchFamily="2" charset="-122"/>
              </a:rPr>
              <a:t>联用，不能单独使用。</a:t>
            </a:r>
            <a:r>
              <a:rPr lang="en-US" altLang="zh-CN" sz="2400" dirty="0">
                <a:latin typeface="华文楷体" panose="02010600040101010101" pitchFamily="2" charset="-122"/>
                <a:ea typeface="宋体" panose="02010600030101010101" pitchFamily="2" charset="-122"/>
              </a:rPr>
              <a:t>(1)</a:t>
            </a:r>
            <a:r>
              <a:rPr lang="zh-CN" altLang="en-US" sz="2400" dirty="0">
                <a:latin typeface="华文楷体" panose="02010600040101010101" pitchFamily="2" charset="-122"/>
                <a:ea typeface="宋体" panose="02010600030101010101" pitchFamily="2" charset="-122"/>
              </a:rPr>
              <a:t>要求</a:t>
            </a:r>
            <a:r>
              <a:rPr lang="en-US" altLang="zh-CN" sz="2400" dirty="0">
                <a:latin typeface="华文楷体" panose="02010600040101010101" pitchFamily="2" charset="-122"/>
                <a:ea typeface="宋体" panose="02010600030101010101" pitchFamily="2" charset="-122"/>
              </a:rPr>
              <a:t>SELECT</a:t>
            </a:r>
            <a:r>
              <a:rPr lang="zh-CN" altLang="en-US" sz="2400" dirty="0">
                <a:latin typeface="华文楷体" panose="02010600040101010101" pitchFamily="2" charset="-122"/>
                <a:ea typeface="宋体" panose="02010600030101010101" pitchFamily="2" charset="-122"/>
              </a:rPr>
              <a:t>子句的列表中，除了使用聚集函数的列之外，其余各列都必须出现在</a:t>
            </a:r>
            <a:r>
              <a:rPr lang="en-US" altLang="zh-CN" sz="2400" dirty="0">
                <a:latin typeface="华文楷体" panose="02010600040101010101" pitchFamily="2" charset="-122"/>
                <a:ea typeface="宋体" panose="02010600030101010101" pitchFamily="2" charset="-122"/>
              </a:rPr>
              <a:t>Group By</a:t>
            </a:r>
            <a:r>
              <a:rPr lang="zh-CN" altLang="en-US" sz="2400" dirty="0">
                <a:latin typeface="华文楷体" panose="02010600040101010101" pitchFamily="2" charset="-122"/>
                <a:ea typeface="宋体" panose="02010600030101010101" pitchFamily="2" charset="-122"/>
              </a:rPr>
              <a:t>子句的列表中。即，</a:t>
            </a:r>
            <a:r>
              <a:rPr lang="en-US" altLang="zh-CN" sz="2400" u="sng" dirty="0">
                <a:solidFill>
                  <a:srgbClr val="0033CC"/>
                </a:solidFill>
                <a:latin typeface="华文楷体" panose="02010600040101010101" pitchFamily="2" charset="-122"/>
                <a:ea typeface="宋体" panose="02010600030101010101" pitchFamily="2" charset="-122"/>
              </a:rPr>
              <a:t>SELECT</a:t>
            </a:r>
            <a:r>
              <a:rPr lang="zh-CN" altLang="en-US" sz="2400" u="sng" dirty="0">
                <a:solidFill>
                  <a:srgbClr val="0033CC"/>
                </a:solidFill>
                <a:latin typeface="华文楷体" panose="02010600040101010101" pitchFamily="2" charset="-122"/>
                <a:ea typeface="宋体" panose="02010600030101010101" pitchFamily="2" charset="-122"/>
              </a:rPr>
              <a:t>是对</a:t>
            </a:r>
            <a:r>
              <a:rPr lang="en-US" altLang="zh-CN" sz="2400" u="sng" dirty="0">
                <a:solidFill>
                  <a:srgbClr val="0033CC"/>
                </a:solidFill>
                <a:latin typeface="华文楷体" panose="02010600040101010101" pitchFamily="2" charset="-122"/>
                <a:ea typeface="宋体" panose="02010600030101010101" pitchFamily="2" charset="-122"/>
              </a:rPr>
              <a:t>GROUP BY</a:t>
            </a:r>
            <a:r>
              <a:rPr lang="zh-CN" altLang="en-US" sz="2400" u="sng" dirty="0">
                <a:solidFill>
                  <a:srgbClr val="0033CC"/>
                </a:solidFill>
                <a:latin typeface="华文楷体" panose="02010600040101010101" pitchFamily="2" charset="-122"/>
                <a:ea typeface="宋体" panose="02010600030101010101" pitchFamily="2" charset="-122"/>
              </a:rPr>
              <a:t>的结果做投影</a:t>
            </a:r>
            <a:r>
              <a:rPr lang="zh-CN" altLang="en-US" sz="2400" dirty="0">
                <a:solidFill>
                  <a:srgbClr val="A50021"/>
                </a:solidFill>
                <a:latin typeface="华文楷体" panose="02010600040101010101" pitchFamily="2" charset="-122"/>
                <a:ea typeface="宋体" panose="02010600030101010101" pitchFamily="2" charset="-122"/>
              </a:rPr>
              <a:t>。</a:t>
            </a:r>
            <a:endParaRPr lang="zh-CN" altLang="en-US" sz="2400" dirty="0">
              <a:solidFill>
                <a:srgbClr val="A50021"/>
              </a:solidFill>
              <a:latin typeface="华文楷体" panose="02010600040101010101" pitchFamily="2" charset="-122"/>
              <a:ea typeface="宋体" panose="02010600030101010101" pitchFamily="2" charset="-122"/>
            </a:endParaRPr>
          </a:p>
          <a:p>
            <a:pPr>
              <a:spcBef>
                <a:spcPts val="300"/>
              </a:spcBef>
              <a:buClr>
                <a:srgbClr val="0033CC"/>
              </a:buClr>
              <a:buSzPct val="80000"/>
            </a:pPr>
            <a:r>
              <a:rPr lang="en-US" altLang="zh-CN" sz="2400" dirty="0">
                <a:latin typeface="华文楷体" panose="02010600040101010101" pitchFamily="2" charset="-122"/>
                <a:ea typeface="宋体" panose="02010600030101010101" pitchFamily="2" charset="-122"/>
              </a:rPr>
              <a:t>(2) </a:t>
            </a:r>
            <a:r>
              <a:rPr lang="zh-CN" altLang="en-US" sz="2400" dirty="0">
                <a:latin typeface="华文楷体" panose="02010600040101010101" pitchFamily="2" charset="-122"/>
                <a:ea typeface="宋体" panose="02010600030101010101" pitchFamily="2" charset="-122"/>
              </a:rPr>
              <a:t>注意</a:t>
            </a:r>
            <a:r>
              <a:rPr lang="en-US" altLang="zh-CN" sz="2400" dirty="0">
                <a:latin typeface="华文楷体" panose="02010600040101010101" pitchFamily="2" charset="-122"/>
                <a:ea typeface="宋体" panose="02010600030101010101" pitchFamily="2" charset="-122"/>
              </a:rPr>
              <a:t>WHERE</a:t>
            </a:r>
            <a:r>
              <a:rPr lang="zh-CN" altLang="en-US" sz="2400" dirty="0">
                <a:latin typeface="华文楷体" panose="02010600040101010101" pitchFamily="2" charset="-122"/>
                <a:ea typeface="宋体" panose="02010600030101010101" pitchFamily="2" charset="-122"/>
              </a:rPr>
              <a:t>、</a:t>
            </a:r>
            <a:r>
              <a:rPr lang="en-US" altLang="zh-CN" sz="2400" dirty="0">
                <a:latin typeface="华文楷体" panose="02010600040101010101" pitchFamily="2" charset="-122"/>
                <a:ea typeface="宋体" panose="02010600030101010101" pitchFamily="2" charset="-122"/>
              </a:rPr>
              <a:t>GROUP BY</a:t>
            </a:r>
            <a:r>
              <a:rPr lang="zh-CN" altLang="en-US" sz="2400" dirty="0">
                <a:latin typeface="华文楷体" panose="02010600040101010101" pitchFamily="2" charset="-122"/>
                <a:ea typeface="宋体" panose="02010600030101010101" pitchFamily="2" charset="-122"/>
              </a:rPr>
              <a:t>及</a:t>
            </a:r>
            <a:r>
              <a:rPr lang="en-US" altLang="zh-CN" sz="2400" dirty="0">
                <a:latin typeface="华文楷体" panose="02010600040101010101" pitchFamily="2" charset="-122"/>
                <a:ea typeface="宋体" panose="02010600030101010101" pitchFamily="2" charset="-122"/>
              </a:rPr>
              <a:t>HAVING</a:t>
            </a:r>
            <a:r>
              <a:rPr lang="zh-CN" altLang="en-US" sz="2400" dirty="0">
                <a:latin typeface="华文楷体" panose="02010600040101010101" pitchFamily="2" charset="-122"/>
                <a:ea typeface="宋体" panose="02010600030101010101" pitchFamily="2" charset="-122"/>
              </a:rPr>
              <a:t>三个子句的执行顺序及含意。</a:t>
            </a:r>
            <a:r>
              <a:rPr lang="en-US" altLang="zh-CN" sz="2400" dirty="0">
                <a:latin typeface="华文楷体" panose="02010600040101010101" pitchFamily="2" charset="-122"/>
                <a:ea typeface="宋体" panose="02010600030101010101" pitchFamily="2" charset="-122"/>
              </a:rPr>
              <a:t>WHERE</a:t>
            </a:r>
            <a:r>
              <a:rPr lang="zh-CN" altLang="en-US" sz="2400" dirty="0">
                <a:latin typeface="华文楷体" panose="02010600040101010101" pitchFamily="2" charset="-122"/>
                <a:ea typeface="宋体" panose="02010600030101010101" pitchFamily="2" charset="-122"/>
              </a:rPr>
              <a:t>用于对</a:t>
            </a:r>
            <a:r>
              <a:rPr lang="en-US" altLang="zh-CN" sz="2400" dirty="0">
                <a:latin typeface="华文楷体" panose="02010600040101010101" pitchFamily="2" charset="-122"/>
                <a:ea typeface="宋体" panose="02010600030101010101" pitchFamily="2" charset="-122"/>
              </a:rPr>
              <a:t>FROM</a:t>
            </a:r>
            <a:r>
              <a:rPr lang="zh-CN" altLang="en-US" sz="2400" dirty="0">
                <a:latin typeface="华文楷体" panose="02010600040101010101" pitchFamily="2" charset="-122"/>
                <a:ea typeface="宋体" panose="02010600030101010101" pitchFamily="2" charset="-122"/>
              </a:rPr>
              <a:t>子句结果设置过滤条件；</a:t>
            </a:r>
            <a:r>
              <a:rPr lang="en-US" altLang="zh-CN" sz="2400" dirty="0">
                <a:latin typeface="华文楷体" panose="02010600040101010101" pitchFamily="2" charset="-122"/>
                <a:ea typeface="宋体" panose="02010600030101010101" pitchFamily="2" charset="-122"/>
              </a:rPr>
              <a:t>GROUP BY</a:t>
            </a:r>
            <a:r>
              <a:rPr lang="zh-CN" altLang="en-US" sz="2400" dirty="0">
                <a:latin typeface="华文楷体" panose="02010600040101010101" pitchFamily="2" charset="-122"/>
                <a:ea typeface="宋体" panose="02010600030101010101" pitchFamily="2" charset="-122"/>
              </a:rPr>
              <a:t>用于对</a:t>
            </a:r>
            <a:r>
              <a:rPr lang="en-US" altLang="zh-CN" sz="2400" dirty="0">
                <a:latin typeface="华文楷体" panose="02010600040101010101" pitchFamily="2" charset="-122"/>
                <a:ea typeface="宋体" panose="02010600030101010101" pitchFamily="2" charset="-122"/>
              </a:rPr>
              <a:t>WHERE</a:t>
            </a:r>
            <a:r>
              <a:rPr lang="zh-CN" altLang="en-US" sz="2400" dirty="0">
                <a:latin typeface="华文楷体" panose="02010600040101010101" pitchFamily="2" charset="-122"/>
                <a:ea typeface="宋体" panose="02010600030101010101" pitchFamily="2" charset="-122"/>
              </a:rPr>
              <a:t>子句的结果分组；</a:t>
            </a:r>
            <a:r>
              <a:rPr lang="en-US" altLang="zh-CN" sz="2400" dirty="0">
                <a:latin typeface="华文楷体" panose="02010600040101010101" pitchFamily="2" charset="-122"/>
                <a:ea typeface="宋体" panose="02010600030101010101" pitchFamily="2" charset="-122"/>
              </a:rPr>
              <a:t>HAVING</a:t>
            </a:r>
            <a:r>
              <a:rPr lang="zh-CN" altLang="en-US" sz="2400" dirty="0">
                <a:latin typeface="华文楷体" panose="02010600040101010101" pitchFamily="2" charset="-122"/>
                <a:ea typeface="宋体" panose="02010600030101010101" pitchFamily="2" charset="-122"/>
              </a:rPr>
              <a:t>则对</a:t>
            </a:r>
            <a:r>
              <a:rPr lang="en-US" altLang="zh-CN" sz="2400" dirty="0">
                <a:latin typeface="华文楷体" panose="02010600040101010101" pitchFamily="2" charset="-122"/>
                <a:ea typeface="宋体" panose="02010600030101010101" pitchFamily="2" charset="-122"/>
              </a:rPr>
              <a:t>GROUP BY</a:t>
            </a:r>
            <a:r>
              <a:rPr lang="zh-CN" altLang="en-US" sz="2400" dirty="0">
                <a:latin typeface="华文楷体" panose="02010600040101010101" pitchFamily="2" charset="-122"/>
                <a:ea typeface="宋体" panose="02010600030101010101" pitchFamily="2" charset="-122"/>
              </a:rPr>
              <a:t>分组的结果再过滤。</a:t>
            </a:r>
            <a:endParaRPr lang="zh-CN" altLang="en-US" sz="2400" dirty="0">
              <a:latin typeface="华文楷体" panose="02010600040101010101" pitchFamily="2" charset="-122"/>
              <a:ea typeface="宋体" panose="02010600030101010101" pitchFamily="2" charset="-122"/>
            </a:endParaRPr>
          </a:p>
        </p:txBody>
      </p:sp>
      <p:sp>
        <p:nvSpPr>
          <p:cNvPr id="95235" name="Rectangle 3"/>
          <p:cNvSpPr txBox="1"/>
          <p:nvPr/>
        </p:nvSpPr>
        <p:spPr>
          <a:xfrm>
            <a:off x="485775" y="796925"/>
            <a:ext cx="8229600" cy="706438"/>
          </a:xfrm>
          <a:prstGeom prst="rect">
            <a:avLst/>
          </a:prstGeom>
          <a:noFill/>
          <a:ln w="9525">
            <a:noFill/>
          </a:ln>
        </p:spPr>
        <p:txBody>
          <a:bodyPr anchor="t" anchorCtr="0"/>
          <a:p>
            <a:r>
              <a:rPr lang="zh-CN" altLang="en-US" sz="2800" dirty="0">
                <a:solidFill>
                  <a:srgbClr val="3333CC"/>
                </a:solidFill>
                <a:latin typeface="宋体" panose="02010600030101010101" pitchFamily="2" charset="-122"/>
                <a:ea typeface="黑体" panose="02010609060101010101" pitchFamily="1" charset="-122"/>
              </a:rPr>
              <a:t>（</a:t>
            </a:r>
            <a:r>
              <a:rPr lang="en-US" altLang="zh-CN" sz="2800" dirty="0">
                <a:solidFill>
                  <a:srgbClr val="3333CC"/>
                </a:solidFill>
                <a:latin typeface="宋体" panose="02010600030101010101" pitchFamily="2" charset="-122"/>
                <a:ea typeface="黑体" panose="02010609060101010101" pitchFamily="1" charset="-122"/>
              </a:rPr>
              <a:t>4</a:t>
            </a:r>
            <a:r>
              <a:rPr lang="zh-CN" altLang="en-US" sz="2800" dirty="0">
                <a:solidFill>
                  <a:srgbClr val="3333CC"/>
                </a:solidFill>
                <a:latin typeface="宋体" panose="02010600030101010101" pitchFamily="2" charset="-122"/>
                <a:ea typeface="黑体" panose="02010609060101010101" pitchFamily="1" charset="-122"/>
              </a:rPr>
              <a:t>）</a:t>
            </a:r>
            <a:r>
              <a:rPr lang="en-US" altLang="zh-CN" sz="2800" dirty="0">
                <a:solidFill>
                  <a:srgbClr val="3333CC"/>
                </a:solidFill>
                <a:latin typeface="宋体" panose="02010600030101010101" pitchFamily="2" charset="-122"/>
                <a:ea typeface="黑体" panose="02010609060101010101" pitchFamily="1" charset="-122"/>
              </a:rPr>
              <a:t>GROUP BY</a:t>
            </a:r>
            <a:r>
              <a:rPr lang="zh-CN" altLang="en-US" sz="2800" dirty="0">
                <a:solidFill>
                  <a:srgbClr val="3333CC"/>
                </a:solidFill>
                <a:latin typeface="宋体" panose="02010600030101010101" pitchFamily="2" charset="-122"/>
                <a:ea typeface="黑体" panose="02010609060101010101" pitchFamily="1" charset="-122"/>
              </a:rPr>
              <a:t>子句与</a:t>
            </a:r>
            <a:r>
              <a:rPr lang="en-US" altLang="zh-CN" sz="2800" dirty="0">
                <a:solidFill>
                  <a:srgbClr val="3333CC"/>
                </a:solidFill>
                <a:latin typeface="宋体" panose="02010600030101010101" pitchFamily="2" charset="-122"/>
                <a:ea typeface="黑体" panose="02010609060101010101" pitchFamily="1" charset="-122"/>
              </a:rPr>
              <a:t>HAVING</a:t>
            </a:r>
            <a:r>
              <a:rPr lang="zh-CN" altLang="en-US" sz="2800" dirty="0">
                <a:solidFill>
                  <a:srgbClr val="3333CC"/>
                </a:solidFill>
                <a:latin typeface="宋体" panose="02010600030101010101" pitchFamily="2" charset="-122"/>
                <a:ea typeface="黑体" panose="02010609060101010101" pitchFamily="1" charset="-122"/>
              </a:rPr>
              <a:t>子句</a:t>
            </a:r>
            <a:endParaRPr lang="zh-CN" altLang="en-US" sz="2800" dirty="0">
              <a:solidFill>
                <a:srgbClr val="3333CC"/>
              </a:solidFill>
              <a:latin typeface="宋体" panose="02010600030101010101" pitchFamily="2" charset="-122"/>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72707">
                                            <p:txEl>
                                              <p:charRg st="235" end="348"/>
                                            </p:txEl>
                                          </p:spTgt>
                                        </p:tgtEl>
                                        <p:attrNameLst>
                                          <p:attrName>style.visibility</p:attrName>
                                        </p:attrNameLst>
                                      </p:cBhvr>
                                      <p:to>
                                        <p:strVal val="visible"/>
                                      </p:to>
                                    </p:set>
                                    <p:animEffect transition="in" filter="dissolve">
                                      <p:cBhvr>
                                        <p:cTn id="7" dur="500"/>
                                        <p:tgtEl>
                                          <p:spTgt spid="72707">
                                            <p:txEl>
                                              <p:charRg st="235" end="34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7" name="Rectangle 3"/>
          <p:cNvSpPr txBox="1"/>
          <p:nvPr/>
        </p:nvSpPr>
        <p:spPr>
          <a:xfrm>
            <a:off x="660400" y="1351598"/>
            <a:ext cx="8026400" cy="4965700"/>
          </a:xfrm>
          <a:prstGeom prst="rect">
            <a:avLst/>
          </a:prstGeom>
          <a:noFill/>
          <a:ln w="9525">
            <a:noFill/>
          </a:ln>
        </p:spPr>
        <p:txBody>
          <a:bodyPr anchor="t" anchorCtr="0"/>
          <a:p>
            <a:pPr>
              <a:lnSpc>
                <a:spcPct val="114000"/>
              </a:lnSpc>
              <a:spcBef>
                <a:spcPct val="20000"/>
              </a:spcBef>
              <a:buClr>
                <a:srgbClr val="0033CC"/>
              </a:buClr>
              <a:buSzPct val="80000"/>
            </a:pPr>
            <a:r>
              <a:rPr lang="en-US" altLang="zh-CN" sz="2400" dirty="0">
                <a:latin typeface="Arial" panose="020B0604020202020204" pitchFamily="34" charset="0"/>
                <a:ea typeface="宋体" panose="02010600030101010101" pitchFamily="2" charset="-122"/>
              </a:rPr>
              <a:t>1.</a:t>
            </a:r>
            <a:r>
              <a:rPr lang="zh-CN" altLang="en-US" sz="2400" dirty="0">
                <a:latin typeface="华文楷体" panose="02010600040101010101" pitchFamily="2" charset="-122"/>
                <a:ea typeface="宋体" panose="02010600030101010101" pitchFamily="2" charset="-122"/>
              </a:rPr>
              <a:t>统计每门课程的学生选修人数。</a:t>
            </a:r>
            <a:endParaRPr lang="zh-CN" altLang="en-US" sz="2400" dirty="0">
              <a:latin typeface="华文楷体" panose="02010600040101010101" pitchFamily="2" charset="-122"/>
              <a:ea typeface="宋体" panose="02010600030101010101" pitchFamily="2" charset="-122"/>
            </a:endParaRPr>
          </a:p>
          <a:p>
            <a:pPr>
              <a:lnSpc>
                <a:spcPct val="114000"/>
              </a:lnSpc>
              <a:buClr>
                <a:srgbClr val="0033CC"/>
              </a:buClr>
              <a:buSzPct val="80000"/>
            </a:pPr>
            <a:r>
              <a:rPr sz="2200" dirty="0">
                <a:latin typeface="华文楷体" panose="02010600040101010101" pitchFamily="2" charset="-122"/>
                <a:ea typeface="宋体" panose="02010600030101010101" pitchFamily="2" charset="-122"/>
              </a:rPr>
              <a:t>SELECT </a:t>
            </a:r>
            <a:r>
              <a:rPr sz="2200" dirty="0">
                <a:solidFill>
                  <a:srgbClr val="0000FF"/>
                </a:solidFill>
                <a:latin typeface="华文楷体" panose="02010600040101010101" pitchFamily="2" charset="-122"/>
                <a:ea typeface="宋体" panose="02010600030101010101" pitchFamily="2" charset="-122"/>
              </a:rPr>
              <a:t>Course.Cid 课程编号</a:t>
            </a:r>
            <a:r>
              <a:rPr sz="2200" dirty="0">
                <a:latin typeface="华文楷体" panose="02010600040101010101" pitchFamily="2" charset="-122"/>
                <a:ea typeface="宋体" panose="02010600030101010101" pitchFamily="2" charset="-122"/>
              </a:rPr>
              <a:t>,</a:t>
            </a:r>
            <a:r>
              <a:rPr sz="2200" dirty="0">
                <a:solidFill>
                  <a:srgbClr val="0000FF"/>
                </a:solidFill>
                <a:latin typeface="华文楷体" panose="02010600040101010101" pitchFamily="2" charset="-122"/>
                <a:ea typeface="宋体" panose="02010600030101010101" pitchFamily="2" charset="-122"/>
              </a:rPr>
              <a:t>COUNT(DISTINCT Sid) 选课门数</a:t>
            </a:r>
            <a:r>
              <a:rPr sz="2200" dirty="0">
                <a:latin typeface="华文楷体" panose="02010600040101010101" pitchFamily="2" charset="-122"/>
                <a:ea typeface="宋体" panose="02010600030101010101" pitchFamily="2" charset="-122"/>
              </a:rPr>
              <a:t> FROM Course, Ctake SC  WHERE Course.Cid=SC.Cid  </a:t>
            </a:r>
            <a:r>
              <a:rPr sz="2200" dirty="0">
                <a:solidFill>
                  <a:srgbClr val="0000FF"/>
                </a:solidFill>
                <a:latin typeface="华文楷体" panose="02010600040101010101" pitchFamily="2" charset="-122"/>
                <a:ea typeface="宋体" panose="02010600030101010101" pitchFamily="2" charset="-122"/>
              </a:rPr>
              <a:t>GROUP BY Course.Cid</a:t>
            </a:r>
            <a:endParaRPr sz="2200" dirty="0">
              <a:solidFill>
                <a:srgbClr val="0000FF"/>
              </a:solidFill>
              <a:latin typeface="华文楷体" panose="02010600040101010101" pitchFamily="2" charset="-122"/>
              <a:ea typeface="宋体" panose="02010600030101010101" pitchFamily="2" charset="-122"/>
            </a:endParaRPr>
          </a:p>
          <a:p>
            <a:pPr>
              <a:lnSpc>
                <a:spcPct val="114000"/>
              </a:lnSpc>
              <a:spcBef>
                <a:spcPct val="20000"/>
              </a:spcBef>
              <a:buClr>
                <a:srgbClr val="0033CC"/>
              </a:buClr>
              <a:buSzPct val="80000"/>
            </a:pPr>
            <a:r>
              <a:rPr lang="zh-CN" altLang="en-US" sz="2200" dirty="0">
                <a:latin typeface="华文楷体" panose="02010600040101010101" pitchFamily="2" charset="-122"/>
                <a:ea typeface="宋体" panose="02010600030101010101" pitchFamily="2" charset="-122"/>
              </a:rPr>
              <a:t>由于要统计每一门课程的学生人数，因此，要把满足</a:t>
            </a:r>
            <a:r>
              <a:rPr lang="en-US" altLang="zh-CN" sz="2200" dirty="0">
                <a:latin typeface="华文楷体" panose="02010600040101010101" pitchFamily="2" charset="-122"/>
                <a:ea typeface="宋体" panose="02010600030101010101" pitchFamily="2" charset="-122"/>
              </a:rPr>
              <a:t>WHERE</a:t>
            </a:r>
            <a:r>
              <a:rPr lang="zh-CN" altLang="en-US" sz="2200" dirty="0">
                <a:latin typeface="华文楷体" panose="02010600040101010101" pitchFamily="2" charset="-122"/>
                <a:ea typeface="宋体" panose="02010600030101010101" pitchFamily="2" charset="-122"/>
              </a:rPr>
              <a:t>子句中条件的查询结果按</a:t>
            </a:r>
            <a:r>
              <a:rPr lang="en-US" altLang="zh-CN" sz="2200" dirty="0">
                <a:latin typeface="华文楷体" panose="02010600040101010101" pitchFamily="2" charset="-122"/>
                <a:ea typeface="宋体" panose="02010600030101010101" pitchFamily="2" charset="-122"/>
              </a:rPr>
              <a:t>Cid</a:t>
            </a:r>
            <a:r>
              <a:rPr lang="zh-CN" altLang="en-US" sz="2200" dirty="0">
                <a:latin typeface="华文楷体" panose="02010600040101010101" pitchFamily="2" charset="-122"/>
                <a:ea typeface="宋体" panose="02010600030101010101" pitchFamily="2" charset="-122"/>
              </a:rPr>
              <a:t>分组，在每一组中的课程号相同。此时的</a:t>
            </a:r>
            <a:r>
              <a:rPr lang="en-US" altLang="zh-CN" sz="2200" dirty="0">
                <a:latin typeface="华文楷体" panose="02010600040101010101" pitchFamily="2" charset="-122"/>
                <a:ea typeface="宋体" panose="02010600030101010101" pitchFamily="2" charset="-122"/>
              </a:rPr>
              <a:t>SELECT</a:t>
            </a:r>
            <a:r>
              <a:rPr lang="zh-CN" altLang="en-US" sz="2200" dirty="0">
                <a:latin typeface="华文楷体" panose="02010600040101010101" pitchFamily="2" charset="-122"/>
                <a:ea typeface="宋体" panose="02010600030101010101" pitchFamily="2" charset="-122"/>
              </a:rPr>
              <a:t>语句应对每一分组进行操作，在每一组中，</a:t>
            </a:r>
            <a:r>
              <a:rPr lang="en-US" altLang="zh-CN" sz="2200" dirty="0">
                <a:latin typeface="华文楷体" panose="02010600040101010101" pitchFamily="2" charset="-122"/>
                <a:ea typeface="宋体" panose="02010600030101010101" pitchFamily="2" charset="-122"/>
              </a:rPr>
              <a:t>Cid</a:t>
            </a:r>
            <a:r>
              <a:rPr lang="zh-CN" altLang="en-US" sz="2200" dirty="0">
                <a:latin typeface="华文楷体" panose="02010600040101010101" pitchFamily="2" charset="-122"/>
                <a:ea typeface="宋体" panose="02010600030101010101" pitchFamily="2" charset="-122"/>
              </a:rPr>
              <a:t>只有一个值，统计出的</a:t>
            </a:r>
            <a:r>
              <a:rPr lang="en-US" altLang="zh-CN" sz="2200" dirty="0">
                <a:latin typeface="华文楷体" panose="02010600040101010101" pitchFamily="2" charset="-122"/>
                <a:ea typeface="宋体" panose="02010600030101010101" pitchFamily="2" charset="-122"/>
              </a:rPr>
              <a:t>Sid</a:t>
            </a:r>
            <a:r>
              <a:rPr lang="zh-CN" altLang="en-US" sz="2200" dirty="0">
                <a:latin typeface="华文楷体" panose="02010600040101010101" pitchFamily="2" charset="-122"/>
                <a:ea typeface="宋体" panose="02010600030101010101" pitchFamily="2" charset="-122"/>
              </a:rPr>
              <a:t>的个数就是选这</a:t>
            </a:r>
            <a:r>
              <a:rPr lang="zh-CN" altLang="en-US" sz="2400" dirty="0">
                <a:latin typeface="华文楷体" panose="02010600040101010101" pitchFamily="2" charset="-122"/>
                <a:ea typeface="宋体" panose="02010600030101010101" pitchFamily="2" charset="-122"/>
              </a:rPr>
              <a:t>门课程的人数</a:t>
            </a:r>
            <a:r>
              <a:rPr lang="zh-CN" altLang="en-US" sz="2000" dirty="0">
                <a:latin typeface="华文楷体" panose="02010600040101010101" pitchFamily="2" charset="-122"/>
                <a:ea typeface="宋体" panose="02010600030101010101" pitchFamily="2" charset="-122"/>
              </a:rPr>
              <a:t>。</a:t>
            </a:r>
            <a:endParaRPr lang="en-US" altLang="zh-CN" sz="2000" dirty="0">
              <a:latin typeface="华文楷体" panose="02010600040101010101" pitchFamily="2" charset="-122"/>
              <a:ea typeface="宋体" panose="02010600030101010101" pitchFamily="2" charset="-122"/>
            </a:endParaRPr>
          </a:p>
          <a:p>
            <a:pPr>
              <a:lnSpc>
                <a:spcPct val="114000"/>
              </a:lnSpc>
              <a:buClr>
                <a:srgbClr val="0033CC"/>
              </a:buClr>
              <a:buSzPct val="80000"/>
            </a:pPr>
            <a:r>
              <a:rPr lang="en-US" altLang="zh-CN" sz="2400" dirty="0">
                <a:latin typeface="华文楷体" panose="02010600040101010101" pitchFamily="2" charset="-122"/>
                <a:ea typeface="宋体" panose="02010600030101010101" pitchFamily="2" charset="-122"/>
              </a:rPr>
              <a:t>SELECT Course.Cname</a:t>
            </a:r>
            <a:r>
              <a:rPr lang="zh-CN" altLang="en-US" sz="2400" dirty="0">
                <a:latin typeface="华文楷体" panose="02010600040101010101" pitchFamily="2" charset="-122"/>
                <a:ea typeface="宋体" panose="02010600030101010101" pitchFamily="2" charset="-122"/>
              </a:rPr>
              <a:t> as 课程名</a:t>
            </a:r>
            <a:r>
              <a:rPr lang="en-US" altLang="zh-CN" sz="2400" dirty="0">
                <a:latin typeface="华文楷体" panose="02010600040101010101" pitchFamily="2" charset="-122"/>
                <a:ea typeface="宋体" panose="02010600030101010101" pitchFamily="2" charset="-122"/>
              </a:rPr>
              <a:t>, </a:t>
            </a:r>
            <a:r>
              <a:rPr lang="en-US" altLang="zh-CN" sz="2400" dirty="0">
                <a:solidFill>
                  <a:srgbClr val="C00000"/>
                </a:solidFill>
                <a:latin typeface="华文楷体" panose="02010600040101010101" pitchFamily="2" charset="-122"/>
                <a:ea typeface="宋体" panose="02010600030101010101" pitchFamily="2" charset="-122"/>
              </a:rPr>
              <a:t>COUNT(DISTINCT Sid) </a:t>
            </a:r>
            <a:r>
              <a:rPr lang="en-US" altLang="zh-CN" sz="2400" dirty="0">
                <a:latin typeface="华文楷体" panose="02010600040101010101" pitchFamily="2" charset="-122"/>
                <a:ea typeface="宋体" panose="02010600030101010101" pitchFamily="2" charset="-122"/>
              </a:rPr>
              <a:t>as </a:t>
            </a:r>
            <a:r>
              <a:rPr lang="zh-CN" altLang="en-US" sz="2400" dirty="0">
                <a:latin typeface="华文楷体" panose="02010600040101010101" pitchFamily="2" charset="-122"/>
                <a:ea typeface="宋体" panose="02010600030101010101" pitchFamily="2" charset="-122"/>
              </a:rPr>
              <a:t>选修人数    </a:t>
            </a:r>
            <a:r>
              <a:rPr lang="en-US" altLang="zh-CN" sz="2400" dirty="0">
                <a:latin typeface="华文楷体" panose="02010600040101010101" pitchFamily="2" charset="-122"/>
                <a:ea typeface="宋体" panose="02010600030101010101" pitchFamily="2" charset="-122"/>
              </a:rPr>
              <a:t>FROM Course,</a:t>
            </a:r>
            <a:r>
              <a:rPr lang="en-US" altLang="zh-CN" sz="2400" dirty="0">
                <a:latin typeface="华文楷体" panose="02010600040101010101" pitchFamily="2" charset="-122"/>
                <a:ea typeface="宋体" panose="02010600030101010101" pitchFamily="2" charset="-122"/>
              </a:rPr>
              <a:t>ctake SC  WHERE Course.Cid=SC.Cid   </a:t>
            </a:r>
            <a:r>
              <a:rPr lang="en-US" altLang="zh-CN" sz="2400" dirty="0">
                <a:solidFill>
                  <a:srgbClr val="C00000"/>
                </a:solidFill>
                <a:latin typeface="华文楷体" panose="02010600040101010101" pitchFamily="2" charset="-122"/>
                <a:ea typeface="宋体" panose="02010600030101010101" pitchFamily="2" charset="-122"/>
              </a:rPr>
              <a:t>GROUP BY </a:t>
            </a:r>
            <a:r>
              <a:rPr lang="en-US" altLang="zh-CN" sz="2400" dirty="0">
                <a:latin typeface="华文楷体" panose="02010600040101010101" pitchFamily="2" charset="-122"/>
                <a:ea typeface="宋体" panose="02010600030101010101" pitchFamily="2" charset="-122"/>
              </a:rPr>
              <a:t>Course.Cid,Course.Cname</a:t>
            </a:r>
            <a:endParaRPr lang="en-US" altLang="zh-CN" sz="2400" dirty="0">
              <a:latin typeface="华文楷体" panose="02010600040101010101" pitchFamily="2" charset="-122"/>
              <a:ea typeface="宋体" panose="02010600030101010101" pitchFamily="2" charset="-122"/>
            </a:endParaRPr>
          </a:p>
          <a:p>
            <a:pPr>
              <a:lnSpc>
                <a:spcPct val="114000"/>
              </a:lnSpc>
              <a:spcBef>
                <a:spcPct val="20000"/>
              </a:spcBef>
              <a:buClr>
                <a:srgbClr val="0033CC"/>
              </a:buClr>
              <a:buSzPct val="80000"/>
            </a:pPr>
            <a:endParaRPr lang="zh-CN" altLang="en-US" sz="2000" dirty="0">
              <a:latin typeface="华文楷体" panose="02010600040101010101" pitchFamily="2" charset="-122"/>
              <a:ea typeface="宋体" panose="02010600030101010101" pitchFamily="2" charset="-122"/>
            </a:endParaRPr>
          </a:p>
        </p:txBody>
      </p:sp>
      <p:sp>
        <p:nvSpPr>
          <p:cNvPr id="96258" name="Rectangle 2"/>
          <p:cNvSpPr txBox="1"/>
          <p:nvPr/>
        </p:nvSpPr>
        <p:spPr>
          <a:xfrm>
            <a:off x="558800" y="869950"/>
            <a:ext cx="8229600" cy="706438"/>
          </a:xfrm>
          <a:prstGeom prst="rect">
            <a:avLst/>
          </a:prstGeom>
          <a:noFill/>
          <a:ln w="9525">
            <a:noFill/>
          </a:ln>
        </p:spPr>
        <p:txBody>
          <a:bodyPr anchor="t" anchorCtr="0"/>
          <a:p>
            <a:pPr>
              <a:buFont typeface="Wingdings" panose="05000000000000000000" pitchFamily="2" charset="2"/>
              <a:buChar char="p"/>
            </a:pPr>
            <a:r>
              <a:rPr lang="zh-CN" altLang="en-US" sz="2800" dirty="0">
                <a:solidFill>
                  <a:srgbClr val="3333CC"/>
                </a:solidFill>
                <a:latin typeface="Arial" panose="020B0604020202020204" pitchFamily="34" charset="0"/>
                <a:ea typeface="黑体" panose="02010609060101010101" pitchFamily="1" charset="-122"/>
              </a:rPr>
              <a:t> 示例</a:t>
            </a:r>
            <a:endParaRPr lang="zh-CN" altLang="en-US" sz="2800" dirty="0">
              <a:solidFill>
                <a:srgbClr val="3333CC"/>
              </a:solidFill>
              <a:latin typeface="Arial" panose="020B0604020202020204" pitchFamily="34" charset="0"/>
              <a:ea typeface="黑体" panose="02010609060101010101" pitchFamily="1" charset="-122"/>
            </a:endParaRPr>
          </a:p>
        </p:txBody>
      </p:sp>
      <p:sp>
        <p:nvSpPr>
          <p:cNvPr id="96259"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三、数据库操纵子语言及其操作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pic>
        <p:nvPicPr>
          <p:cNvPr id="2" name="图片 1"/>
          <p:cNvPicPr>
            <a:picLocks noChangeAspect="1"/>
          </p:cNvPicPr>
          <p:nvPr/>
        </p:nvPicPr>
        <p:blipFill>
          <a:blip r:embed="rId1"/>
          <a:stretch>
            <a:fillRect/>
          </a:stretch>
        </p:blipFill>
        <p:spPr>
          <a:xfrm>
            <a:off x="1569720" y="1685925"/>
            <a:ext cx="7117080" cy="2095500"/>
          </a:xfrm>
          <a:prstGeom prst="rect">
            <a:avLst/>
          </a:prstGeom>
          <a:ln>
            <a:solidFill>
              <a:schemeClr val="accent1"/>
            </a:solidFill>
          </a:ln>
        </p:spPr>
      </p:pic>
      <p:pic>
        <p:nvPicPr>
          <p:cNvPr id="3" name="图片 2"/>
          <p:cNvPicPr>
            <a:picLocks noChangeAspect="1"/>
          </p:cNvPicPr>
          <p:nvPr/>
        </p:nvPicPr>
        <p:blipFill>
          <a:blip r:embed="rId2"/>
          <a:stretch>
            <a:fillRect/>
          </a:stretch>
        </p:blipFill>
        <p:spPr>
          <a:xfrm>
            <a:off x="335280" y="3890645"/>
            <a:ext cx="8473440" cy="2362200"/>
          </a:xfrm>
          <a:prstGeom prst="rect">
            <a:avLst/>
          </a:prstGeom>
          <a:ln>
            <a:solidFill>
              <a:schemeClr val="accent1"/>
            </a:solid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1"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三、数据库操纵子语言及其操作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97282" name="Rectangle 3"/>
          <p:cNvSpPr txBox="1"/>
          <p:nvPr/>
        </p:nvSpPr>
        <p:spPr>
          <a:xfrm>
            <a:off x="609600" y="1509713"/>
            <a:ext cx="5691188" cy="4151312"/>
          </a:xfrm>
          <a:prstGeom prst="rect">
            <a:avLst/>
          </a:prstGeom>
          <a:noFill/>
          <a:ln w="9525">
            <a:noFill/>
          </a:ln>
        </p:spPr>
        <p:txBody>
          <a:bodyPr anchor="t" anchorCtr="0"/>
          <a:p>
            <a:pPr>
              <a:spcBef>
                <a:spcPct val="20000"/>
              </a:spcBef>
              <a:buClr>
                <a:srgbClr val="0033CC"/>
              </a:buClr>
              <a:buSzPct val="80000"/>
            </a:pPr>
            <a:r>
              <a:rPr lang="en-US" altLang="zh-CN" sz="2400" dirty="0">
                <a:latin typeface="Arial" panose="020B0604020202020204" pitchFamily="34" charset="0"/>
                <a:ea typeface="宋体" panose="02010600030101010101" pitchFamily="2" charset="-122"/>
              </a:rPr>
              <a:t>2.</a:t>
            </a:r>
            <a:r>
              <a:rPr lang="zh-CN" altLang="en-US" sz="2400" dirty="0">
                <a:latin typeface="华文楷体" panose="02010600040101010101" pitchFamily="2" charset="-122"/>
                <a:ea typeface="宋体" panose="02010600030101010101" pitchFamily="2" charset="-122"/>
              </a:rPr>
              <a:t>检索平均成绩最高的学生学号。</a:t>
            </a:r>
            <a:endParaRPr lang="zh-CN" altLang="en-US" sz="2400" dirty="0">
              <a:latin typeface="华文楷体" panose="02010600040101010101" pitchFamily="2" charset="-122"/>
              <a:ea typeface="宋体" panose="02010600030101010101" pitchFamily="2" charset="-122"/>
            </a:endParaRPr>
          </a:p>
          <a:p>
            <a:pPr>
              <a:spcBef>
                <a:spcPct val="20000"/>
              </a:spcBef>
              <a:buClr>
                <a:srgbClr val="0033CC"/>
              </a:buClr>
              <a:buSzPct val="80000"/>
            </a:pPr>
            <a:r>
              <a:rPr lang="en-US" altLang="zh-CN" sz="2400" dirty="0">
                <a:latin typeface="华文楷体" panose="02010600040101010101" pitchFamily="2" charset="-122"/>
                <a:ea typeface="宋体" panose="02010600030101010101" pitchFamily="2" charset="-122"/>
              </a:rPr>
              <a:t>SELECT ctake.sid</a:t>
            </a:r>
            <a:endParaRPr lang="en-US" altLang="zh-CN" sz="2400" dirty="0">
              <a:latin typeface="华文楷体" panose="02010600040101010101" pitchFamily="2" charset="-122"/>
              <a:ea typeface="宋体" panose="02010600030101010101" pitchFamily="2" charset="-122"/>
            </a:endParaRPr>
          </a:p>
          <a:p>
            <a:pPr>
              <a:spcBef>
                <a:spcPct val="20000"/>
              </a:spcBef>
              <a:buClr>
                <a:srgbClr val="0033CC"/>
              </a:buClr>
              <a:buSzPct val="80000"/>
            </a:pPr>
            <a:r>
              <a:rPr lang="en-US" altLang="zh-CN" sz="2400" dirty="0">
                <a:latin typeface="华文楷体" panose="02010600040101010101" pitchFamily="2" charset="-122"/>
                <a:ea typeface="宋体" panose="02010600030101010101" pitchFamily="2" charset="-122"/>
              </a:rPr>
              <a:t>FROM ctake</a:t>
            </a:r>
            <a:endParaRPr lang="en-US" altLang="zh-CN" sz="2400" dirty="0">
              <a:latin typeface="华文楷体" panose="02010600040101010101" pitchFamily="2" charset="-122"/>
              <a:ea typeface="宋体" panose="02010600030101010101" pitchFamily="2" charset="-122"/>
            </a:endParaRPr>
          </a:p>
          <a:p>
            <a:pPr>
              <a:spcBef>
                <a:spcPct val="20000"/>
              </a:spcBef>
              <a:buClr>
                <a:srgbClr val="0033CC"/>
              </a:buClr>
              <a:buSzPct val="80000"/>
            </a:pPr>
            <a:r>
              <a:rPr lang="en-US" altLang="zh-CN" sz="2400" dirty="0">
                <a:solidFill>
                  <a:srgbClr val="0000FF"/>
                </a:solidFill>
                <a:latin typeface="华文楷体" panose="02010600040101010101" pitchFamily="2" charset="-122"/>
                <a:ea typeface="宋体" panose="02010600030101010101" pitchFamily="2" charset="-122"/>
              </a:rPr>
              <a:t>GROUP BY</a:t>
            </a:r>
            <a:r>
              <a:rPr lang="en-US" altLang="zh-CN" sz="2400" dirty="0">
                <a:latin typeface="华文楷体" panose="02010600040101010101" pitchFamily="2" charset="-122"/>
                <a:ea typeface="宋体" panose="02010600030101010101" pitchFamily="2" charset="-122"/>
              </a:rPr>
              <a:t> Sid</a:t>
            </a:r>
            <a:endParaRPr lang="en-US" altLang="zh-CN" sz="2400" dirty="0">
              <a:latin typeface="华文楷体" panose="02010600040101010101" pitchFamily="2" charset="-122"/>
              <a:ea typeface="宋体" panose="02010600030101010101" pitchFamily="2" charset="-122"/>
            </a:endParaRPr>
          </a:p>
          <a:p>
            <a:pPr>
              <a:spcBef>
                <a:spcPct val="20000"/>
              </a:spcBef>
              <a:buClr>
                <a:srgbClr val="0033CC"/>
              </a:buClr>
              <a:buSzPct val="80000"/>
            </a:pPr>
            <a:r>
              <a:rPr lang="en-US" altLang="zh-CN" sz="2400" dirty="0">
                <a:latin typeface="华文楷体" panose="02010600040101010101" pitchFamily="2" charset="-122"/>
                <a:ea typeface="宋体" panose="02010600030101010101" pitchFamily="2" charset="-122"/>
              </a:rPr>
              <a:t>   </a:t>
            </a:r>
            <a:r>
              <a:rPr lang="en-US" altLang="zh-CN" sz="2400" dirty="0">
                <a:solidFill>
                  <a:srgbClr val="0000FF"/>
                </a:solidFill>
                <a:latin typeface="华文楷体" panose="02010600040101010101" pitchFamily="2" charset="-122"/>
                <a:ea typeface="宋体" panose="02010600030101010101" pitchFamily="2" charset="-122"/>
              </a:rPr>
              <a:t>Having </a:t>
            </a:r>
            <a:r>
              <a:rPr lang="en-US" altLang="zh-CN" sz="2400" dirty="0">
                <a:latin typeface="华文楷体" panose="02010600040101010101" pitchFamily="2" charset="-122"/>
                <a:ea typeface="宋体" panose="02010600030101010101" pitchFamily="2" charset="-122"/>
              </a:rPr>
              <a:t> </a:t>
            </a:r>
            <a:r>
              <a:rPr lang="en-US" altLang="zh-CN" sz="2400" dirty="0">
                <a:solidFill>
                  <a:srgbClr val="0000FF"/>
                </a:solidFill>
                <a:latin typeface="华文楷体" panose="02010600040101010101" pitchFamily="2" charset="-122"/>
                <a:ea typeface="宋体" panose="02010600030101010101" pitchFamily="2" charset="-122"/>
              </a:rPr>
              <a:t>AVG</a:t>
            </a:r>
            <a:r>
              <a:rPr lang="en-US" altLang="zh-CN" sz="2400" dirty="0">
                <a:latin typeface="华文楷体" panose="02010600040101010101" pitchFamily="2" charset="-122"/>
                <a:ea typeface="宋体" panose="02010600030101010101" pitchFamily="2" charset="-122"/>
              </a:rPr>
              <a:t>(mark) &gt;=</a:t>
            </a:r>
            <a:endParaRPr lang="en-US" altLang="zh-CN" sz="2400" dirty="0">
              <a:latin typeface="华文楷体" panose="02010600040101010101" pitchFamily="2" charset="-122"/>
              <a:ea typeface="宋体" panose="02010600030101010101" pitchFamily="2" charset="-122"/>
            </a:endParaRPr>
          </a:p>
          <a:p>
            <a:pPr>
              <a:spcBef>
                <a:spcPct val="20000"/>
              </a:spcBef>
              <a:buClr>
                <a:srgbClr val="0033CC"/>
              </a:buClr>
              <a:buSzPct val="80000"/>
            </a:pPr>
            <a:r>
              <a:rPr lang="en-US" altLang="zh-CN" sz="2400" dirty="0">
                <a:latin typeface="华文楷体" panose="02010600040101010101" pitchFamily="2" charset="-122"/>
                <a:ea typeface="宋体" panose="02010600030101010101" pitchFamily="2" charset="-122"/>
              </a:rPr>
              <a:t>    </a:t>
            </a:r>
            <a:r>
              <a:rPr lang="en-US" altLang="zh-CN" sz="2400" dirty="0">
                <a:solidFill>
                  <a:srgbClr val="0000FF"/>
                </a:solidFill>
                <a:latin typeface="华文楷体" panose="02010600040101010101" pitchFamily="2" charset="-122"/>
                <a:ea typeface="宋体" panose="02010600030101010101" pitchFamily="2" charset="-122"/>
              </a:rPr>
              <a:t> All </a:t>
            </a:r>
            <a:r>
              <a:rPr lang="en-US" altLang="zh-CN" sz="2400" dirty="0">
                <a:latin typeface="华文楷体" panose="02010600040101010101" pitchFamily="2" charset="-122"/>
                <a:ea typeface="宋体" panose="02010600030101010101" pitchFamily="2" charset="-122"/>
              </a:rPr>
              <a:t>( SELECT AVG(mark)</a:t>
            </a:r>
            <a:endParaRPr lang="en-US" altLang="zh-CN" sz="2400" dirty="0">
              <a:latin typeface="华文楷体" panose="02010600040101010101" pitchFamily="2" charset="-122"/>
              <a:ea typeface="宋体" panose="02010600030101010101" pitchFamily="2" charset="-122"/>
            </a:endParaRPr>
          </a:p>
          <a:p>
            <a:pPr>
              <a:spcBef>
                <a:spcPct val="20000"/>
              </a:spcBef>
              <a:buClr>
                <a:srgbClr val="0033CC"/>
              </a:buClr>
              <a:buSzPct val="80000"/>
            </a:pPr>
            <a:r>
              <a:rPr lang="en-US" altLang="zh-CN" sz="2400" dirty="0">
                <a:latin typeface="华文楷体" panose="02010600040101010101" pitchFamily="2" charset="-122"/>
                <a:ea typeface="宋体" panose="02010600030101010101" pitchFamily="2" charset="-122"/>
              </a:rPr>
              <a:t>             FROM ctake</a:t>
            </a:r>
            <a:endParaRPr lang="en-US" altLang="zh-CN" sz="2400" dirty="0">
              <a:latin typeface="华文楷体" panose="02010600040101010101" pitchFamily="2" charset="-122"/>
              <a:ea typeface="宋体" panose="02010600030101010101" pitchFamily="2" charset="-122"/>
            </a:endParaRPr>
          </a:p>
          <a:p>
            <a:pPr>
              <a:spcBef>
                <a:spcPct val="20000"/>
              </a:spcBef>
              <a:buClr>
                <a:srgbClr val="0033CC"/>
              </a:buClr>
              <a:buSzPct val="80000"/>
            </a:pPr>
            <a:r>
              <a:rPr lang="en-US" altLang="zh-CN" sz="2400" dirty="0">
                <a:latin typeface="华文楷体" panose="02010600040101010101" pitchFamily="2" charset="-122"/>
                <a:ea typeface="宋体" panose="02010600030101010101" pitchFamily="2" charset="-122"/>
              </a:rPr>
              <a:t>             GROUP BY Sid)</a:t>
            </a:r>
            <a:endParaRPr lang="en-US" altLang="zh-CN" sz="2400" dirty="0">
              <a:latin typeface="华文楷体" panose="02010600040101010101" pitchFamily="2" charset="-122"/>
              <a:ea typeface="宋体" panose="02010600030101010101" pitchFamily="2" charset="-122"/>
            </a:endParaRPr>
          </a:p>
        </p:txBody>
      </p:sp>
      <p:sp>
        <p:nvSpPr>
          <p:cNvPr id="97303" name="Rectangle 2"/>
          <p:cNvSpPr txBox="1"/>
          <p:nvPr/>
        </p:nvSpPr>
        <p:spPr>
          <a:xfrm>
            <a:off x="558800" y="884238"/>
            <a:ext cx="8229600" cy="706437"/>
          </a:xfrm>
          <a:prstGeom prst="rect">
            <a:avLst/>
          </a:prstGeom>
          <a:noFill/>
          <a:ln w="9525">
            <a:noFill/>
          </a:ln>
        </p:spPr>
        <p:txBody>
          <a:bodyPr anchor="t" anchorCtr="0"/>
          <a:p>
            <a:pPr>
              <a:buFont typeface="Wingdings" panose="05000000000000000000" pitchFamily="2" charset="2"/>
              <a:buChar char="p"/>
            </a:pPr>
            <a:r>
              <a:rPr lang="zh-CN" altLang="en-US" sz="2800" dirty="0">
                <a:solidFill>
                  <a:srgbClr val="3333CC"/>
                </a:solidFill>
                <a:latin typeface="Arial" panose="020B0604020202020204" pitchFamily="34" charset="0"/>
                <a:ea typeface="黑体" panose="02010609060101010101" pitchFamily="1" charset="-122"/>
              </a:rPr>
              <a:t> 示例</a:t>
            </a:r>
            <a:endParaRPr lang="zh-CN" altLang="en-US" sz="2800" dirty="0">
              <a:solidFill>
                <a:srgbClr val="3333CC"/>
              </a:solidFill>
              <a:latin typeface="Arial" panose="020B0604020202020204" pitchFamily="34" charset="0"/>
              <a:ea typeface="黑体" panose="02010609060101010101" pitchFamily="1" charset="-122"/>
            </a:endParaRPr>
          </a:p>
        </p:txBody>
      </p:sp>
      <p:sp>
        <p:nvSpPr>
          <p:cNvPr id="97304" name="文本框 74776"/>
          <p:cNvSpPr txBox="1"/>
          <p:nvPr/>
        </p:nvSpPr>
        <p:spPr>
          <a:xfrm>
            <a:off x="415925" y="5219700"/>
            <a:ext cx="3951288" cy="822325"/>
          </a:xfrm>
          <a:prstGeom prst="rect">
            <a:avLst/>
          </a:prstGeom>
          <a:noFill/>
          <a:ln w="9525">
            <a:noFill/>
          </a:ln>
        </p:spPr>
        <p:txBody>
          <a:bodyPr wrap="square" anchor="t" anchorCtr="0">
            <a:spAutoFit/>
          </a:bodyPr>
          <a:p>
            <a:r>
              <a:rPr lang="zh-CN" altLang="en-US" sz="2400" dirty="0">
                <a:solidFill>
                  <a:srgbClr val="0033CC"/>
                </a:solidFill>
                <a:latin typeface="华文楷体" panose="02010600040101010101" pitchFamily="2" charset="-122"/>
                <a:ea typeface="宋体" panose="02010600030101010101" pitchFamily="2" charset="-122"/>
              </a:rPr>
              <a:t>思考：检索平均成绩最高的学生学号和姓名。</a:t>
            </a:r>
            <a:endParaRPr lang="zh-CN" altLang="en-US" sz="2400" dirty="0">
              <a:solidFill>
                <a:srgbClr val="0033CC"/>
              </a:solidFill>
              <a:latin typeface="华文楷体" panose="02010600040101010101" pitchFamily="2" charset="-122"/>
              <a:ea typeface="宋体" panose="02010600030101010101" pitchFamily="2" charset="-122"/>
            </a:endParaRPr>
          </a:p>
        </p:txBody>
      </p:sp>
      <p:pic>
        <p:nvPicPr>
          <p:cNvPr id="3" name="图片 2"/>
          <p:cNvPicPr>
            <a:picLocks noChangeAspect="1"/>
          </p:cNvPicPr>
          <p:nvPr/>
        </p:nvPicPr>
        <p:blipFill>
          <a:blip r:embed="rId1"/>
          <a:stretch>
            <a:fillRect/>
          </a:stretch>
        </p:blipFill>
        <p:spPr>
          <a:xfrm>
            <a:off x="5006975" y="2658745"/>
            <a:ext cx="3482382" cy="3456000"/>
          </a:xfrm>
          <a:prstGeom prst="rect">
            <a:avLst/>
          </a:prstGeom>
          <a:ln>
            <a:solidFill>
              <a:schemeClr val="accent1"/>
            </a:solid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矩形 1"/>
          <p:cNvSpPr/>
          <p:nvPr/>
        </p:nvSpPr>
        <p:spPr>
          <a:xfrm>
            <a:off x="561975" y="4791710"/>
            <a:ext cx="8193088" cy="1308735"/>
          </a:xfrm>
          <a:prstGeom prst="rect">
            <a:avLst/>
          </a:prstGeom>
          <a:noFill/>
          <a:ln w="9525">
            <a:noFill/>
          </a:ln>
        </p:spPr>
        <p:txBody>
          <a:bodyPr anchor="t" anchorCtr="0">
            <a:spAutoFit/>
          </a:bodyPr>
          <a:p>
            <a:pPr>
              <a:lnSpc>
                <a:spcPct val="120000"/>
              </a:lnSpc>
            </a:pPr>
            <a:r>
              <a:rPr sz="2200" dirty="0">
                <a:latin typeface="Arial" panose="020B0604020202020204" pitchFamily="34" charset="0"/>
                <a:ea typeface="宋体" panose="02010600030101010101" pitchFamily="2" charset="-122"/>
              </a:rPr>
              <a:t>SELECT Stu.Sid as 学号,Sname as 姓名,AVG(mark) as 平均成绩 ,Count(ctake.Cid) as 选课门数 from Stu,ctake where Stu.Sid=ctake.Sid </a:t>
            </a:r>
            <a:r>
              <a:rPr sz="2200" dirty="0">
                <a:solidFill>
                  <a:srgbClr val="FF0000"/>
                </a:solidFill>
                <a:latin typeface="Arial" panose="020B0604020202020204" pitchFamily="34" charset="0"/>
                <a:ea typeface="宋体" panose="02010600030101010101" pitchFamily="2" charset="-122"/>
              </a:rPr>
              <a:t>GROUP BY Stu.Sid,Sname</a:t>
            </a:r>
            <a:endParaRPr sz="2200" dirty="0">
              <a:solidFill>
                <a:srgbClr val="FF0000"/>
              </a:solidFill>
              <a:latin typeface="Arial" panose="020B0604020202020204" pitchFamily="34" charset="0"/>
              <a:ea typeface="宋体" panose="02010600030101010101" pitchFamily="2" charset="-122"/>
            </a:endParaRPr>
          </a:p>
        </p:txBody>
      </p:sp>
      <p:sp>
        <p:nvSpPr>
          <p:cNvPr id="98306" name="Rectangle 2"/>
          <p:cNvSpPr txBox="1"/>
          <p:nvPr/>
        </p:nvSpPr>
        <p:spPr>
          <a:xfrm>
            <a:off x="550863" y="912813"/>
            <a:ext cx="8593137" cy="706437"/>
          </a:xfrm>
          <a:prstGeom prst="rect">
            <a:avLst/>
          </a:prstGeom>
          <a:noFill/>
          <a:ln w="9525">
            <a:noFill/>
          </a:ln>
        </p:spPr>
        <p:txBody>
          <a:bodyPr anchor="t" anchorCtr="0"/>
          <a:p>
            <a:pPr>
              <a:buFont typeface="Wingdings" panose="05000000000000000000" pitchFamily="2" charset="2"/>
              <a:buChar char="p"/>
            </a:pPr>
            <a:r>
              <a:rPr lang="zh-CN" altLang="en-US" sz="2600" dirty="0">
                <a:solidFill>
                  <a:srgbClr val="C00000"/>
                </a:solidFill>
                <a:latin typeface="Arial" panose="020B0604020202020204" pitchFamily="34" charset="0"/>
                <a:ea typeface="黑体" panose="02010609060101010101" pitchFamily="1" charset="-122"/>
              </a:rPr>
              <a:t> 示例：查询学生学号、姓名、平均分及选课门数</a:t>
            </a:r>
            <a:endParaRPr lang="zh-CN" altLang="en-US" sz="2600" dirty="0">
              <a:solidFill>
                <a:srgbClr val="C00000"/>
              </a:solidFill>
              <a:latin typeface="Arial" panose="020B0604020202020204" pitchFamily="34" charset="0"/>
              <a:ea typeface="黑体" panose="02010609060101010101" pitchFamily="1" charset="-122"/>
            </a:endParaRPr>
          </a:p>
        </p:txBody>
      </p:sp>
      <p:sp>
        <p:nvSpPr>
          <p:cNvPr id="98307" name="Rectangle 2"/>
          <p:cNvSpPr txBox="1"/>
          <p:nvPr/>
        </p:nvSpPr>
        <p:spPr>
          <a:xfrm>
            <a:off x="609600" y="1330008"/>
            <a:ext cx="3338513" cy="706437"/>
          </a:xfrm>
          <a:prstGeom prst="rect">
            <a:avLst/>
          </a:prstGeom>
          <a:noFill/>
          <a:ln w="9525">
            <a:noFill/>
          </a:ln>
        </p:spPr>
        <p:txBody>
          <a:bodyPr anchor="t" anchorCtr="0"/>
          <a:p>
            <a:pPr>
              <a:buFont typeface="Wingdings" panose="05000000000000000000" pitchFamily="2" charset="2"/>
              <a:buChar char="Ø"/>
            </a:pPr>
            <a:r>
              <a:rPr lang="zh-CN" altLang="en-US" sz="2200" dirty="0">
                <a:solidFill>
                  <a:srgbClr val="3333CC"/>
                </a:solidFill>
                <a:latin typeface="Arial" panose="020B0604020202020204" pitchFamily="34" charset="0"/>
                <a:ea typeface="黑体" panose="02010609060101010101" pitchFamily="1" charset="-122"/>
              </a:rPr>
              <a:t>学生表</a:t>
            </a:r>
            <a:endParaRPr lang="zh-CN" altLang="en-US" sz="2200" dirty="0">
              <a:solidFill>
                <a:srgbClr val="3333CC"/>
              </a:solidFill>
              <a:latin typeface="Arial" panose="020B0604020202020204" pitchFamily="34" charset="0"/>
              <a:ea typeface="黑体" panose="02010609060101010101" pitchFamily="1" charset="-122"/>
            </a:endParaRPr>
          </a:p>
        </p:txBody>
      </p:sp>
      <p:sp>
        <p:nvSpPr>
          <p:cNvPr id="98310" name="Rectangle 2"/>
          <p:cNvSpPr txBox="1"/>
          <p:nvPr/>
        </p:nvSpPr>
        <p:spPr>
          <a:xfrm>
            <a:off x="558800" y="3060700"/>
            <a:ext cx="3338513" cy="706438"/>
          </a:xfrm>
          <a:prstGeom prst="rect">
            <a:avLst/>
          </a:prstGeom>
          <a:noFill/>
          <a:ln w="9525">
            <a:noFill/>
          </a:ln>
        </p:spPr>
        <p:txBody>
          <a:bodyPr anchor="t" anchorCtr="0"/>
          <a:p>
            <a:pPr>
              <a:buFont typeface="Wingdings" panose="05000000000000000000" pitchFamily="2" charset="2"/>
              <a:buChar char="Ø"/>
            </a:pPr>
            <a:r>
              <a:rPr lang="zh-CN" altLang="en-US" sz="2200" dirty="0">
                <a:solidFill>
                  <a:srgbClr val="3333CC"/>
                </a:solidFill>
                <a:latin typeface="Arial" panose="020B0604020202020204" pitchFamily="34" charset="0"/>
                <a:ea typeface="黑体" panose="02010609060101010101" pitchFamily="1" charset="-122"/>
              </a:rPr>
              <a:t>课程表</a:t>
            </a:r>
            <a:endParaRPr lang="zh-CN" altLang="en-US" sz="2200" dirty="0">
              <a:solidFill>
                <a:srgbClr val="3333CC"/>
              </a:solidFill>
              <a:latin typeface="Arial" panose="020B0604020202020204" pitchFamily="34" charset="0"/>
              <a:ea typeface="黑体" panose="02010609060101010101" pitchFamily="1" charset="-122"/>
            </a:endParaRPr>
          </a:p>
        </p:txBody>
      </p:sp>
      <p:sp>
        <p:nvSpPr>
          <p:cNvPr id="98312" name="Rectangle 2"/>
          <p:cNvSpPr txBox="1"/>
          <p:nvPr/>
        </p:nvSpPr>
        <p:spPr>
          <a:xfrm>
            <a:off x="4150360" y="1330325"/>
            <a:ext cx="3338513" cy="706438"/>
          </a:xfrm>
          <a:prstGeom prst="rect">
            <a:avLst/>
          </a:prstGeom>
          <a:noFill/>
          <a:ln w="9525">
            <a:noFill/>
          </a:ln>
        </p:spPr>
        <p:txBody>
          <a:bodyPr anchor="t" anchorCtr="0"/>
          <a:p>
            <a:pPr>
              <a:buFont typeface="Wingdings" panose="05000000000000000000" pitchFamily="2" charset="2"/>
              <a:buChar char="Ø"/>
            </a:pPr>
            <a:r>
              <a:rPr lang="zh-CN" altLang="en-US" sz="2200" dirty="0">
                <a:solidFill>
                  <a:srgbClr val="3333CC"/>
                </a:solidFill>
                <a:latin typeface="Arial" panose="020B0604020202020204" pitchFamily="34" charset="0"/>
                <a:ea typeface="黑体" panose="02010609060101010101" pitchFamily="1" charset="-122"/>
              </a:rPr>
              <a:t>选课表</a:t>
            </a:r>
            <a:endParaRPr lang="zh-CN" altLang="en-US" sz="2200" dirty="0">
              <a:solidFill>
                <a:srgbClr val="3333CC"/>
              </a:solidFill>
              <a:latin typeface="Arial" panose="020B0604020202020204" pitchFamily="34" charset="0"/>
              <a:ea typeface="黑体" panose="02010609060101010101" pitchFamily="1" charset="-122"/>
            </a:endParaRPr>
          </a:p>
        </p:txBody>
      </p:sp>
      <p:sp>
        <p:nvSpPr>
          <p:cNvPr id="98313"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三、数据库操纵子语言及其操作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pic>
        <p:nvPicPr>
          <p:cNvPr id="2" name="图片 1"/>
          <p:cNvPicPr>
            <a:picLocks noChangeAspect="1"/>
          </p:cNvPicPr>
          <p:nvPr/>
        </p:nvPicPr>
        <p:blipFill>
          <a:blip r:embed="rId1"/>
          <a:srcRect l="15463" t="5070"/>
          <a:stretch>
            <a:fillRect/>
          </a:stretch>
        </p:blipFill>
        <p:spPr>
          <a:xfrm>
            <a:off x="683260" y="3461385"/>
            <a:ext cx="3061482" cy="1260000"/>
          </a:xfrm>
          <a:prstGeom prst="rect">
            <a:avLst/>
          </a:prstGeom>
          <a:ln>
            <a:solidFill>
              <a:schemeClr val="accent1"/>
            </a:solidFill>
          </a:ln>
        </p:spPr>
      </p:pic>
      <p:pic>
        <p:nvPicPr>
          <p:cNvPr id="3" name="图片 2"/>
          <p:cNvPicPr>
            <a:picLocks noChangeAspect="1"/>
          </p:cNvPicPr>
          <p:nvPr/>
        </p:nvPicPr>
        <p:blipFill>
          <a:blip r:embed="rId2"/>
          <a:srcRect l="14665"/>
          <a:stretch>
            <a:fillRect/>
          </a:stretch>
        </p:blipFill>
        <p:spPr>
          <a:xfrm>
            <a:off x="683260" y="1728470"/>
            <a:ext cx="3088958" cy="1332000"/>
          </a:xfrm>
          <a:prstGeom prst="rect">
            <a:avLst/>
          </a:prstGeom>
          <a:ln>
            <a:solidFill>
              <a:schemeClr val="accent1"/>
            </a:solidFill>
          </a:ln>
        </p:spPr>
      </p:pic>
      <p:pic>
        <p:nvPicPr>
          <p:cNvPr id="4" name="图片 3"/>
          <p:cNvPicPr>
            <a:picLocks noChangeAspect="1"/>
          </p:cNvPicPr>
          <p:nvPr/>
        </p:nvPicPr>
        <p:blipFill>
          <a:blip r:embed="rId3"/>
          <a:srcRect l="13351"/>
          <a:stretch>
            <a:fillRect/>
          </a:stretch>
        </p:blipFill>
        <p:spPr>
          <a:xfrm>
            <a:off x="4432300" y="1771650"/>
            <a:ext cx="3318521" cy="2736000"/>
          </a:xfrm>
          <a:prstGeom prst="rect">
            <a:avLst/>
          </a:prstGeom>
          <a:ln>
            <a:solidFill>
              <a:schemeClr val="accent1"/>
            </a:solidFill>
          </a:ln>
        </p:spPr>
      </p:pic>
      <p:pic>
        <p:nvPicPr>
          <p:cNvPr id="6" name="图片 5"/>
          <p:cNvPicPr>
            <a:picLocks noChangeAspect="1"/>
          </p:cNvPicPr>
          <p:nvPr/>
        </p:nvPicPr>
        <p:blipFill>
          <a:blip r:embed="rId4"/>
          <a:stretch>
            <a:fillRect/>
          </a:stretch>
        </p:blipFill>
        <p:spPr>
          <a:xfrm>
            <a:off x="683260" y="3585845"/>
            <a:ext cx="7962900" cy="2514600"/>
          </a:xfrm>
          <a:prstGeom prst="rect">
            <a:avLst/>
          </a:prstGeom>
          <a:ln>
            <a:solidFill>
              <a:schemeClr val="accent1"/>
            </a:solid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5778"/>
                                        </p:tgtEl>
                                        <p:attrNameLst>
                                          <p:attrName>style.visibility</p:attrName>
                                        </p:attrNameLst>
                                      </p:cBhvr>
                                      <p:to>
                                        <p:strVal val="visible"/>
                                      </p:to>
                                    </p:set>
                                    <p:anim calcmode="lin" valueType="num">
                                      <p:cBhvr additive="base">
                                        <p:cTn id="7" dur="500" fill="hold"/>
                                        <p:tgtEl>
                                          <p:spTgt spid="75778"/>
                                        </p:tgtEl>
                                        <p:attrNameLst>
                                          <p:attrName>ppt_x</p:attrName>
                                        </p:attrNameLst>
                                      </p:cBhvr>
                                      <p:tavLst>
                                        <p:tav tm="0">
                                          <p:val>
                                            <p:strVal val="#ppt_x"/>
                                          </p:val>
                                        </p:tav>
                                        <p:tav tm="100000">
                                          <p:val>
                                            <p:strVal val="#ppt_x"/>
                                          </p:val>
                                        </p:tav>
                                      </p:tavLst>
                                    </p:anim>
                                    <p:anim calcmode="lin" valueType="num">
                                      <p:cBhvr additive="base">
                                        <p:cTn id="8" dur="500" fill="hold"/>
                                        <p:tgtEl>
                                          <p:spTgt spid="7577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8" grpId="0" bldLvl="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29"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三、数据库操纵子语言及其操作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99330" name="Rectangle 2"/>
          <p:cNvSpPr txBox="1"/>
          <p:nvPr/>
        </p:nvSpPr>
        <p:spPr>
          <a:xfrm>
            <a:off x="609600" y="963613"/>
            <a:ext cx="8229600" cy="706437"/>
          </a:xfrm>
          <a:prstGeom prst="rect">
            <a:avLst/>
          </a:prstGeom>
          <a:noFill/>
          <a:ln w="9525">
            <a:noFill/>
          </a:ln>
        </p:spPr>
        <p:txBody>
          <a:bodyPr anchor="t" anchorCtr="0"/>
          <a:p>
            <a:pPr>
              <a:buFont typeface="Wingdings" panose="05000000000000000000" pitchFamily="2" charset="2"/>
              <a:buChar char="p"/>
            </a:pPr>
            <a:r>
              <a:rPr lang="zh-CN" altLang="en-US" sz="2800" dirty="0">
                <a:solidFill>
                  <a:srgbClr val="3333CC"/>
                </a:solidFill>
                <a:latin typeface="Arial" panose="020B0604020202020204" pitchFamily="34" charset="0"/>
                <a:ea typeface="黑体" panose="02010609060101010101" pitchFamily="1" charset="-122"/>
              </a:rPr>
              <a:t> 示例：统计平均成绩</a:t>
            </a:r>
            <a:r>
              <a:rPr lang="en-US" altLang="zh-CN" sz="2800" dirty="0">
                <a:solidFill>
                  <a:srgbClr val="3333CC"/>
                </a:solidFill>
                <a:latin typeface="Arial" panose="020B0604020202020204" pitchFamily="34" charset="0"/>
                <a:ea typeface="黑体" panose="02010609060101010101" pitchFamily="1" charset="-122"/>
              </a:rPr>
              <a:t>85</a:t>
            </a:r>
            <a:r>
              <a:rPr lang="zh-CN" altLang="en-US" sz="2800" dirty="0">
                <a:solidFill>
                  <a:srgbClr val="3333CC"/>
                </a:solidFill>
                <a:latin typeface="Arial" panose="020B0604020202020204" pitchFamily="34" charset="0"/>
                <a:ea typeface="黑体" panose="02010609060101010101" pitchFamily="1" charset="-122"/>
              </a:rPr>
              <a:t>分以上的同学的平均成绩</a:t>
            </a:r>
            <a:endParaRPr lang="zh-CN" altLang="en-US" sz="2800" dirty="0">
              <a:solidFill>
                <a:srgbClr val="3333CC"/>
              </a:solidFill>
              <a:latin typeface="Arial" panose="020B0604020202020204" pitchFamily="34" charset="0"/>
              <a:ea typeface="黑体" panose="02010609060101010101" pitchFamily="1" charset="-122"/>
            </a:endParaRPr>
          </a:p>
        </p:txBody>
      </p:sp>
      <p:sp>
        <p:nvSpPr>
          <p:cNvPr id="76804" name="矩形 1"/>
          <p:cNvSpPr/>
          <p:nvPr/>
        </p:nvSpPr>
        <p:spPr>
          <a:xfrm>
            <a:off x="690563" y="1593850"/>
            <a:ext cx="8193087" cy="1578610"/>
          </a:xfrm>
          <a:prstGeom prst="rect">
            <a:avLst/>
          </a:prstGeom>
          <a:noFill/>
          <a:ln w="9525">
            <a:noFill/>
          </a:ln>
        </p:spPr>
        <p:txBody>
          <a:bodyPr anchor="t" anchorCtr="0">
            <a:spAutoFit/>
          </a:bodyPr>
          <a:p>
            <a:pPr>
              <a:lnSpc>
                <a:spcPct val="110000"/>
              </a:lnSpc>
            </a:pPr>
            <a:r>
              <a:rPr sz="2200" dirty="0">
                <a:latin typeface="Arial" panose="020B0604020202020204" pitchFamily="34" charset="0"/>
                <a:ea typeface="宋体" panose="02010600030101010101" pitchFamily="2" charset="-122"/>
              </a:rPr>
              <a:t>SELECT Stu.Sid as 学号,Sname as 姓名,AVG(mark) as 平均成绩, Count(ctake.Cid) as 选课数</a:t>
            </a:r>
            <a:r>
              <a:rPr lang="en-US" sz="2200" dirty="0">
                <a:latin typeface="Arial" panose="020B0604020202020204" pitchFamily="34" charset="0"/>
                <a:ea typeface="宋体" panose="02010600030101010101" pitchFamily="2" charset="-122"/>
              </a:rPr>
              <a:t> </a:t>
            </a:r>
            <a:r>
              <a:rPr sz="2200" dirty="0">
                <a:latin typeface="Arial" panose="020B0604020202020204" pitchFamily="34" charset="0"/>
                <a:ea typeface="宋体" panose="02010600030101010101" pitchFamily="2" charset="-122"/>
              </a:rPr>
              <a:t> from Stu,ctake </a:t>
            </a:r>
            <a:r>
              <a:rPr lang="en-US" sz="2200" dirty="0">
                <a:latin typeface="Arial" panose="020B0604020202020204" pitchFamily="34" charset="0"/>
                <a:ea typeface="宋体" panose="02010600030101010101" pitchFamily="2" charset="-122"/>
              </a:rPr>
              <a:t> </a:t>
            </a:r>
            <a:r>
              <a:rPr sz="2200" dirty="0">
                <a:latin typeface="Arial" panose="020B0604020202020204" pitchFamily="34" charset="0"/>
                <a:ea typeface="宋体" panose="02010600030101010101" pitchFamily="2" charset="-122"/>
              </a:rPr>
              <a:t>where Stu.Sid=ctake.Sid </a:t>
            </a:r>
            <a:r>
              <a:rPr sz="2200" dirty="0">
                <a:solidFill>
                  <a:srgbClr val="FF0000"/>
                </a:solidFill>
                <a:latin typeface="Arial" panose="020B0604020202020204" pitchFamily="34" charset="0"/>
                <a:ea typeface="宋体" panose="02010600030101010101" pitchFamily="2" charset="-122"/>
              </a:rPr>
              <a:t>GROUP BY Stu.Sid,Sname </a:t>
            </a:r>
            <a:r>
              <a:rPr sz="2200" dirty="0">
                <a:solidFill>
                  <a:srgbClr val="0000FF"/>
                </a:solidFill>
                <a:latin typeface="Arial" panose="020B0604020202020204" pitchFamily="34" charset="0"/>
                <a:ea typeface="宋体" panose="02010600030101010101" pitchFamily="2" charset="-122"/>
              </a:rPr>
              <a:t>Having AVG(mark)&gt;85</a:t>
            </a:r>
            <a:endParaRPr sz="2200" dirty="0">
              <a:solidFill>
                <a:srgbClr val="0000FF"/>
              </a:solidFill>
              <a:latin typeface="Arial" panose="020B0604020202020204" pitchFamily="34" charset="0"/>
              <a:ea typeface="宋体" panose="02010600030101010101" pitchFamily="2" charset="-122"/>
            </a:endParaRPr>
          </a:p>
        </p:txBody>
      </p:sp>
      <p:sp>
        <p:nvSpPr>
          <p:cNvPr id="76805" name="Rectangle 2"/>
          <p:cNvSpPr txBox="1"/>
          <p:nvPr/>
        </p:nvSpPr>
        <p:spPr>
          <a:xfrm>
            <a:off x="631825" y="3235325"/>
            <a:ext cx="8229600" cy="706438"/>
          </a:xfrm>
          <a:prstGeom prst="rect">
            <a:avLst/>
          </a:prstGeom>
          <a:noFill/>
          <a:ln w="9525">
            <a:noFill/>
          </a:ln>
        </p:spPr>
        <p:txBody>
          <a:bodyPr anchor="t" anchorCtr="0"/>
          <a:p>
            <a:pPr>
              <a:buFont typeface="Wingdings" panose="05000000000000000000" pitchFamily="2" charset="2"/>
              <a:buChar char="p"/>
            </a:pPr>
            <a:r>
              <a:rPr lang="zh-CN" altLang="en-US" sz="2800" dirty="0">
                <a:solidFill>
                  <a:srgbClr val="FF0000"/>
                </a:solidFill>
                <a:latin typeface="Arial" panose="020B0604020202020204" pitchFamily="34" charset="0"/>
                <a:ea typeface="黑体" panose="02010609060101010101" pitchFamily="1" charset="-122"/>
              </a:rPr>
              <a:t>练习：</a:t>
            </a:r>
            <a:r>
              <a:rPr lang="zh-CN" altLang="en-US" sz="2800" dirty="0">
                <a:solidFill>
                  <a:srgbClr val="3333CC"/>
                </a:solidFill>
                <a:latin typeface="Arial" panose="020B0604020202020204" pitchFamily="34" charset="0"/>
                <a:ea typeface="黑体" panose="02010609060101010101" pitchFamily="1" charset="-122"/>
              </a:rPr>
              <a:t>统计选了</a:t>
            </a:r>
            <a:r>
              <a:rPr lang="en-US" altLang="zh-CN" sz="2800" dirty="0">
                <a:solidFill>
                  <a:srgbClr val="3333CC"/>
                </a:solidFill>
                <a:latin typeface="Arial" panose="020B0604020202020204" pitchFamily="34" charset="0"/>
                <a:ea typeface="黑体" panose="02010609060101010101" pitchFamily="1" charset="-122"/>
              </a:rPr>
              <a:t>3</a:t>
            </a:r>
            <a:r>
              <a:rPr lang="zh-CN" altLang="en-US" sz="2800" dirty="0">
                <a:solidFill>
                  <a:srgbClr val="3333CC"/>
                </a:solidFill>
                <a:latin typeface="Arial" panose="020B0604020202020204" pitchFamily="34" charset="0"/>
                <a:ea typeface="黑体" panose="02010609060101010101" pitchFamily="1" charset="-122"/>
              </a:rPr>
              <a:t>门及以上课程且平均成绩</a:t>
            </a:r>
            <a:r>
              <a:rPr lang="en-US" altLang="zh-CN" sz="2800" dirty="0">
                <a:solidFill>
                  <a:srgbClr val="3333CC"/>
                </a:solidFill>
                <a:latin typeface="Arial" panose="020B0604020202020204" pitchFamily="34" charset="0"/>
                <a:ea typeface="黑体" panose="02010609060101010101" pitchFamily="1" charset="-122"/>
              </a:rPr>
              <a:t>85</a:t>
            </a:r>
            <a:r>
              <a:rPr lang="zh-CN" altLang="en-US" sz="2800" dirty="0">
                <a:solidFill>
                  <a:srgbClr val="3333CC"/>
                </a:solidFill>
                <a:latin typeface="Arial" panose="020B0604020202020204" pitchFamily="34" charset="0"/>
                <a:ea typeface="黑体" panose="02010609060101010101" pitchFamily="1" charset="-122"/>
              </a:rPr>
              <a:t>分以上的同学的平均成绩</a:t>
            </a:r>
            <a:endParaRPr lang="zh-CN" altLang="en-US" sz="2800" dirty="0">
              <a:solidFill>
                <a:srgbClr val="3333CC"/>
              </a:solidFill>
              <a:latin typeface="Arial" panose="020B0604020202020204" pitchFamily="34" charset="0"/>
              <a:ea typeface="黑体" panose="02010609060101010101" pitchFamily="1" charset="-122"/>
            </a:endParaRPr>
          </a:p>
        </p:txBody>
      </p:sp>
      <p:sp>
        <p:nvSpPr>
          <p:cNvPr id="76806" name="矩形 1"/>
          <p:cNvSpPr/>
          <p:nvPr/>
        </p:nvSpPr>
        <p:spPr>
          <a:xfrm>
            <a:off x="552450" y="4275455"/>
            <a:ext cx="8134350" cy="1578610"/>
          </a:xfrm>
          <a:prstGeom prst="rect">
            <a:avLst/>
          </a:prstGeom>
          <a:noFill/>
          <a:ln w="9525">
            <a:noFill/>
          </a:ln>
        </p:spPr>
        <p:txBody>
          <a:bodyPr wrap="square" anchor="t" anchorCtr="0">
            <a:spAutoFit/>
          </a:bodyPr>
          <a:p>
            <a:pPr>
              <a:lnSpc>
                <a:spcPct val="110000"/>
              </a:lnSpc>
            </a:pPr>
            <a:r>
              <a:rPr sz="2200" dirty="0">
                <a:latin typeface="Arial" panose="020B0604020202020204" pitchFamily="34" charset="0"/>
                <a:ea typeface="宋体" panose="02010600030101010101" pitchFamily="2" charset="-122"/>
              </a:rPr>
              <a:t>SELECT Stu.Sid as 学号,Sname as 姓名,Count(SC.Cid),</a:t>
            </a:r>
            <a:endParaRPr sz="2200" dirty="0">
              <a:latin typeface="Arial" panose="020B0604020202020204" pitchFamily="34" charset="0"/>
              <a:ea typeface="宋体" panose="02010600030101010101" pitchFamily="2" charset="-122"/>
            </a:endParaRPr>
          </a:p>
          <a:p>
            <a:pPr>
              <a:lnSpc>
                <a:spcPct val="110000"/>
              </a:lnSpc>
            </a:pPr>
            <a:r>
              <a:rPr sz="2200" dirty="0">
                <a:latin typeface="Arial" panose="020B0604020202020204" pitchFamily="34" charset="0"/>
                <a:ea typeface="宋体" panose="02010600030101010101" pitchFamily="2" charset="-122"/>
              </a:rPr>
              <a:t>AVG(mark) as 平均成绩 from Stu,ctake SC where Stu.Sid=SC.Sid </a:t>
            </a:r>
            <a:r>
              <a:rPr sz="2200" dirty="0">
                <a:solidFill>
                  <a:srgbClr val="FF0000"/>
                </a:solidFill>
                <a:latin typeface="Arial" panose="020B0604020202020204" pitchFamily="34" charset="0"/>
                <a:ea typeface="宋体" panose="02010600030101010101" pitchFamily="2" charset="-122"/>
              </a:rPr>
              <a:t>GROUP BY Stu.Sid,Sname </a:t>
            </a:r>
            <a:r>
              <a:rPr sz="2200" dirty="0">
                <a:solidFill>
                  <a:srgbClr val="0000FF"/>
                </a:solidFill>
                <a:latin typeface="Arial" panose="020B0604020202020204" pitchFamily="34" charset="0"/>
                <a:ea typeface="宋体" panose="02010600030101010101" pitchFamily="2" charset="-122"/>
              </a:rPr>
              <a:t>Having AVG(mark)&gt;85 and Count(SC.Cid)&gt;=3</a:t>
            </a:r>
            <a:endParaRPr sz="2200" dirty="0">
              <a:solidFill>
                <a:srgbClr val="0000FF"/>
              </a:solidFill>
              <a:latin typeface="Arial" panose="020B0604020202020204" pitchFamily="34" charset="0"/>
              <a:ea typeface="宋体" panose="02010600030101010101" pitchFamily="2" charset="-122"/>
            </a:endParaRPr>
          </a:p>
        </p:txBody>
      </p:sp>
      <p:pic>
        <p:nvPicPr>
          <p:cNvPr id="3" name="图片 2"/>
          <p:cNvPicPr>
            <a:picLocks noChangeAspect="1"/>
          </p:cNvPicPr>
          <p:nvPr/>
        </p:nvPicPr>
        <p:blipFill>
          <a:blip r:embed="rId1"/>
          <a:stretch>
            <a:fillRect/>
          </a:stretch>
        </p:blipFill>
        <p:spPr>
          <a:xfrm>
            <a:off x="609600" y="1593850"/>
            <a:ext cx="8071113" cy="1692000"/>
          </a:xfrm>
          <a:prstGeom prst="rect">
            <a:avLst/>
          </a:prstGeom>
          <a:ln>
            <a:solidFill>
              <a:schemeClr val="accent1"/>
            </a:solidFill>
          </a:ln>
        </p:spPr>
      </p:pic>
      <p:pic>
        <p:nvPicPr>
          <p:cNvPr id="4" name="图片 3"/>
          <p:cNvPicPr>
            <a:picLocks noChangeAspect="1"/>
          </p:cNvPicPr>
          <p:nvPr/>
        </p:nvPicPr>
        <p:blipFill>
          <a:blip r:embed="rId2"/>
          <a:stretch>
            <a:fillRect/>
          </a:stretch>
        </p:blipFill>
        <p:spPr>
          <a:xfrm>
            <a:off x="1776730" y="4201160"/>
            <a:ext cx="6903720" cy="1912620"/>
          </a:xfrm>
          <a:prstGeom prst="rect">
            <a:avLst/>
          </a:prstGeom>
          <a:ln>
            <a:solidFill>
              <a:schemeClr val="accent1"/>
            </a:solid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6804">
                                            <p:txEl>
                                              <p:charRg st="0" end="171"/>
                                            </p:txEl>
                                          </p:spTgt>
                                        </p:tgtEl>
                                        <p:attrNameLst>
                                          <p:attrName>style.visibility</p:attrName>
                                        </p:attrNameLst>
                                      </p:cBhvr>
                                      <p:to>
                                        <p:strVal val="visible"/>
                                      </p:to>
                                    </p:set>
                                    <p:animEffect transition="in" filter="wipe(down)">
                                      <p:cBhvr>
                                        <p:cTn id="7" dur="500"/>
                                        <p:tgtEl>
                                          <p:spTgt spid="76804">
                                            <p:txEl>
                                              <p:charRg st="0" end="17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76805"/>
                                        </p:tgtEl>
                                        <p:attrNameLst>
                                          <p:attrName>style.visibility</p:attrName>
                                        </p:attrNameLst>
                                      </p:cBhvr>
                                      <p:to>
                                        <p:strVal val="visible"/>
                                      </p:to>
                                    </p:set>
                                    <p:anim calcmode="lin" valueType="num">
                                      <p:cBhvr additive="base">
                                        <p:cTn id="18" dur="500" fill="hold"/>
                                        <p:tgtEl>
                                          <p:spTgt spid="76805"/>
                                        </p:tgtEl>
                                        <p:attrNameLst>
                                          <p:attrName>ppt_x</p:attrName>
                                        </p:attrNameLst>
                                      </p:cBhvr>
                                      <p:tavLst>
                                        <p:tav tm="0">
                                          <p:val>
                                            <p:strVal val="#ppt_x"/>
                                          </p:val>
                                        </p:tav>
                                        <p:tav tm="100000">
                                          <p:val>
                                            <p:strVal val="#ppt_x"/>
                                          </p:val>
                                        </p:tav>
                                      </p:tavLst>
                                    </p:anim>
                                    <p:anim calcmode="lin" valueType="num">
                                      <p:cBhvr additive="base">
                                        <p:cTn id="19" dur="500" fill="hold"/>
                                        <p:tgtEl>
                                          <p:spTgt spid="76805"/>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76806"/>
                                        </p:tgtEl>
                                        <p:attrNameLst>
                                          <p:attrName>style.visibility</p:attrName>
                                        </p:attrNameLst>
                                      </p:cBhvr>
                                      <p:to>
                                        <p:strVal val="visible"/>
                                      </p:to>
                                    </p:set>
                                    <p:anim calcmode="lin" valueType="num">
                                      <p:cBhvr additive="base">
                                        <p:cTn id="24" dur="500" fill="hold"/>
                                        <p:tgtEl>
                                          <p:spTgt spid="76806"/>
                                        </p:tgtEl>
                                        <p:attrNameLst>
                                          <p:attrName>ppt_x</p:attrName>
                                        </p:attrNameLst>
                                      </p:cBhvr>
                                      <p:tavLst>
                                        <p:tav tm="0">
                                          <p:val>
                                            <p:strVal val="#ppt_x"/>
                                          </p:val>
                                        </p:tav>
                                        <p:tav tm="100000">
                                          <p:val>
                                            <p:strVal val="#ppt_x"/>
                                          </p:val>
                                        </p:tav>
                                      </p:tavLst>
                                    </p:anim>
                                    <p:anim calcmode="lin" valueType="num">
                                      <p:cBhvr additive="base">
                                        <p:cTn id="25" dur="500" fill="hold"/>
                                        <p:tgtEl>
                                          <p:spTgt spid="76806"/>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4"/>
                                        </p:tgtEl>
                                        <p:attrNameLst>
                                          <p:attrName>style.visibility</p:attrName>
                                        </p:attrNameLst>
                                      </p:cBhvr>
                                      <p:to>
                                        <p:strVal val="visible"/>
                                      </p:to>
                                    </p:set>
                                    <p:anim calcmode="lin" valueType="num">
                                      <p:cBhvr additive="base">
                                        <p:cTn id="30" dur="500" fill="hold"/>
                                        <p:tgtEl>
                                          <p:spTgt spid="4"/>
                                        </p:tgtEl>
                                        <p:attrNameLst>
                                          <p:attrName>ppt_x</p:attrName>
                                        </p:attrNameLst>
                                      </p:cBhvr>
                                      <p:tavLst>
                                        <p:tav tm="0">
                                          <p:val>
                                            <p:strVal val="#ppt_x"/>
                                          </p:val>
                                        </p:tav>
                                        <p:tav tm="100000">
                                          <p:val>
                                            <p:strVal val="#ppt_x"/>
                                          </p:val>
                                        </p:tav>
                                      </p:tavLst>
                                    </p:anim>
                                    <p:anim calcmode="lin" valueType="num">
                                      <p:cBhvr additive="base">
                                        <p:cTn id="31"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4" grpId="0" build="allAtOnce"/>
      <p:bldP spid="76805" grpId="0"/>
      <p:bldP spid="76805" grpId="1"/>
      <p:bldP spid="76806" grpId="0"/>
      <p:bldP spid="76806" grpId="1"/>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3"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三、数据库操纵子语言及其操作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100354" name="Rectangle 4"/>
          <p:cNvSpPr txBox="1"/>
          <p:nvPr/>
        </p:nvSpPr>
        <p:spPr>
          <a:xfrm>
            <a:off x="541338" y="1428750"/>
            <a:ext cx="8220075" cy="4522788"/>
          </a:xfrm>
          <a:prstGeom prst="rect">
            <a:avLst/>
          </a:prstGeom>
          <a:noFill/>
          <a:ln w="9525">
            <a:noFill/>
          </a:ln>
        </p:spPr>
        <p:txBody>
          <a:bodyPr anchor="t" anchorCtr="0"/>
          <a:p>
            <a:pPr>
              <a:lnSpc>
                <a:spcPct val="110000"/>
              </a:lnSpc>
              <a:spcBef>
                <a:spcPts val="300"/>
              </a:spcBef>
              <a:buClr>
                <a:srgbClr val="0033CC"/>
              </a:buClr>
              <a:buSzPct val="80000"/>
              <a:buFont typeface="Wingdings" panose="05000000000000000000" pitchFamily="2" charset="2"/>
              <a:buChar char="Ø"/>
            </a:pPr>
            <a:r>
              <a:rPr lang="en-US" altLang="zh-CN" sz="2400" u="sng" dirty="0">
                <a:solidFill>
                  <a:srgbClr val="FF0000"/>
                </a:solidFill>
                <a:latin typeface="华文楷体" panose="02010600040101010101" pitchFamily="2" charset="-122"/>
                <a:ea typeface="宋体" panose="02010600030101010101" pitchFamily="2" charset="-122"/>
              </a:rPr>
              <a:t>ORDER BY </a:t>
            </a:r>
            <a:r>
              <a:rPr lang="zh-CN" altLang="en-US" sz="2400" u="sng" dirty="0">
                <a:solidFill>
                  <a:srgbClr val="FF0000"/>
                </a:solidFill>
                <a:latin typeface="华文楷体" panose="02010600040101010101" pitchFamily="2" charset="-122"/>
                <a:ea typeface="宋体" panose="02010600030101010101" pitchFamily="2" charset="-122"/>
              </a:rPr>
              <a:t>：</a:t>
            </a:r>
            <a:r>
              <a:rPr lang="zh-CN" altLang="en-US" sz="2400" dirty="0">
                <a:latin typeface="华文楷体" panose="02010600040101010101" pitchFamily="2" charset="-122"/>
                <a:ea typeface="宋体" panose="02010600030101010101" pitchFamily="2" charset="-122"/>
              </a:rPr>
              <a:t>用于对结果集进行排序。</a:t>
            </a:r>
            <a:endParaRPr lang="zh-CN" altLang="en-US" sz="2400" dirty="0">
              <a:latin typeface="华文楷体" panose="02010600040101010101" pitchFamily="2" charset="-122"/>
              <a:ea typeface="宋体" panose="02010600030101010101" pitchFamily="2" charset="-122"/>
            </a:endParaRPr>
          </a:p>
          <a:p>
            <a:pPr>
              <a:lnSpc>
                <a:spcPct val="110000"/>
              </a:lnSpc>
              <a:spcBef>
                <a:spcPts val="300"/>
              </a:spcBef>
              <a:buClr>
                <a:srgbClr val="0033CC"/>
              </a:buClr>
              <a:buSzPct val="80000"/>
            </a:pPr>
            <a:r>
              <a:rPr lang="zh-CN" altLang="en-US" sz="2400" dirty="0">
                <a:latin typeface="华文楷体" panose="02010600040101010101" pitchFamily="2" charset="-122"/>
                <a:ea typeface="宋体" panose="02010600030101010101" pitchFamily="2" charset="-122"/>
              </a:rPr>
              <a:t>语法： </a:t>
            </a:r>
            <a:r>
              <a:rPr lang="en-US" altLang="zh-CN" sz="2400" dirty="0">
                <a:latin typeface="华文楷体" panose="02010600040101010101" pitchFamily="2" charset="-122"/>
                <a:ea typeface="宋体" panose="02010600030101010101" pitchFamily="2" charset="-122"/>
              </a:rPr>
              <a:t>ORDER BY  { </a:t>
            </a:r>
            <a:r>
              <a:rPr lang="zh-CN" altLang="en-US" sz="2400" dirty="0">
                <a:latin typeface="华文楷体" panose="02010600040101010101" pitchFamily="2" charset="-122"/>
                <a:ea typeface="宋体" panose="02010600030101010101" pitchFamily="2" charset="-122"/>
              </a:rPr>
              <a:t>排序表达式 </a:t>
            </a:r>
            <a:r>
              <a:rPr lang="en-US" altLang="zh-CN" sz="2400" dirty="0">
                <a:latin typeface="华文楷体" panose="02010600040101010101" pitchFamily="2" charset="-122"/>
                <a:ea typeface="宋体" panose="02010600030101010101" pitchFamily="2" charset="-122"/>
              </a:rPr>
              <a:t>[ ASC | DESC ] } [ ,...n] </a:t>
            </a:r>
            <a:endParaRPr lang="en-US" altLang="zh-CN" sz="2400" dirty="0">
              <a:latin typeface="华文楷体" panose="02010600040101010101" pitchFamily="2" charset="-122"/>
              <a:ea typeface="宋体" panose="02010600030101010101" pitchFamily="2" charset="-122"/>
            </a:endParaRPr>
          </a:p>
          <a:p>
            <a:pPr>
              <a:lnSpc>
                <a:spcPct val="110000"/>
              </a:lnSpc>
              <a:spcBef>
                <a:spcPts val="300"/>
              </a:spcBef>
              <a:buClr>
                <a:srgbClr val="0033CC"/>
              </a:buClr>
              <a:buSzPct val="80000"/>
            </a:pPr>
            <a:r>
              <a:rPr lang="zh-CN" altLang="en-US" sz="2400" dirty="0">
                <a:latin typeface="华文楷体" panose="02010600040101010101" pitchFamily="2" charset="-122"/>
                <a:ea typeface="宋体" panose="02010600030101010101" pitchFamily="2" charset="-122"/>
              </a:rPr>
              <a:t>说明： </a:t>
            </a:r>
            <a:r>
              <a:rPr lang="en-US" altLang="zh-CN" sz="2400" dirty="0">
                <a:latin typeface="华文楷体" panose="02010600040101010101" pitchFamily="2" charset="-122"/>
                <a:ea typeface="宋体" panose="02010600030101010101" pitchFamily="2" charset="-122"/>
              </a:rPr>
              <a:t>ORDER BY</a:t>
            </a:r>
            <a:r>
              <a:rPr lang="zh-CN" altLang="en-US" sz="2400" dirty="0">
                <a:latin typeface="华文楷体" panose="02010600040101010101" pitchFamily="2" charset="-122"/>
                <a:ea typeface="宋体" panose="02010600030101010101" pitchFamily="2" charset="-122"/>
              </a:rPr>
              <a:t>中的列一般应在</a:t>
            </a:r>
            <a:r>
              <a:rPr lang="en-US" altLang="zh-CN" sz="2400" dirty="0">
                <a:latin typeface="华文楷体" panose="02010600040101010101" pitchFamily="2" charset="-122"/>
                <a:ea typeface="宋体" panose="02010600030101010101" pitchFamily="2" charset="-122"/>
              </a:rPr>
              <a:t>SELECT</a:t>
            </a:r>
            <a:r>
              <a:rPr lang="zh-CN" altLang="en-US" sz="2400" dirty="0">
                <a:latin typeface="华文楷体" panose="02010600040101010101" pitchFamily="2" charset="-122"/>
                <a:ea typeface="宋体" panose="02010600030101010101" pitchFamily="2" charset="-122"/>
              </a:rPr>
              <a:t>子句中。</a:t>
            </a:r>
            <a:endParaRPr lang="zh-CN" altLang="en-US" sz="2400" dirty="0">
              <a:latin typeface="华文楷体" panose="02010600040101010101" pitchFamily="2" charset="-122"/>
              <a:ea typeface="宋体" panose="02010600030101010101" pitchFamily="2" charset="-122"/>
            </a:endParaRPr>
          </a:p>
          <a:p>
            <a:pPr>
              <a:lnSpc>
                <a:spcPct val="110000"/>
              </a:lnSpc>
              <a:spcBef>
                <a:spcPts val="300"/>
              </a:spcBef>
              <a:buClr>
                <a:srgbClr val="0033CC"/>
              </a:buClr>
              <a:buSzPct val="80000"/>
              <a:buFont typeface="Wingdings" panose="05000000000000000000" pitchFamily="2" charset="2"/>
              <a:buChar char="Ø"/>
            </a:pPr>
            <a:r>
              <a:rPr lang="en-US" altLang="zh-CN" sz="2400" u="sng" dirty="0">
                <a:solidFill>
                  <a:srgbClr val="FF0000"/>
                </a:solidFill>
                <a:latin typeface="华文楷体" panose="02010600040101010101" pitchFamily="2" charset="-122"/>
                <a:ea typeface="宋体" panose="02010600030101010101" pitchFamily="2" charset="-122"/>
              </a:rPr>
              <a:t>COMPUTE</a:t>
            </a:r>
            <a:r>
              <a:rPr lang="zh-CN" altLang="en-US" sz="2400" u="sng" dirty="0">
                <a:solidFill>
                  <a:srgbClr val="FF0000"/>
                </a:solidFill>
                <a:latin typeface="华文楷体" panose="02010600040101010101" pitchFamily="2" charset="-122"/>
                <a:ea typeface="宋体" panose="02010600030101010101" pitchFamily="2" charset="-122"/>
              </a:rPr>
              <a:t>：</a:t>
            </a:r>
            <a:r>
              <a:rPr lang="en-US" altLang="zh-CN" sz="2400" dirty="0">
                <a:latin typeface="华文楷体" panose="02010600040101010101" pitchFamily="2" charset="-122"/>
                <a:ea typeface="宋体" panose="02010600030101010101" pitchFamily="2" charset="-122"/>
              </a:rPr>
              <a:t>COMPUTE</a:t>
            </a:r>
            <a:r>
              <a:rPr lang="zh-CN" altLang="en-US" sz="2400" dirty="0">
                <a:latin typeface="华文楷体" panose="02010600040101010101" pitchFamily="2" charset="-122"/>
                <a:ea typeface="宋体" panose="02010600030101010101" pitchFamily="2" charset="-122"/>
              </a:rPr>
              <a:t>用于对查询的结果数据集合最后进行“总计”，</a:t>
            </a:r>
            <a:r>
              <a:rPr lang="zh-CN" altLang="en-US" sz="2400" dirty="0">
                <a:solidFill>
                  <a:srgbClr val="A50021"/>
                </a:solidFill>
                <a:latin typeface="华文楷体" panose="02010600040101010101" pitchFamily="2" charset="-122"/>
                <a:ea typeface="宋体" panose="02010600030101010101" pitchFamily="2" charset="-122"/>
              </a:rPr>
              <a:t>如果带有</a:t>
            </a:r>
            <a:r>
              <a:rPr lang="en-US" altLang="zh-CN" sz="2400" dirty="0">
                <a:solidFill>
                  <a:srgbClr val="A50021"/>
                </a:solidFill>
                <a:latin typeface="华文楷体" panose="02010600040101010101" pitchFamily="2" charset="-122"/>
                <a:ea typeface="宋体" panose="02010600030101010101" pitchFamily="2" charset="-122"/>
              </a:rPr>
              <a:t>BY</a:t>
            </a:r>
            <a:r>
              <a:rPr lang="zh-CN" altLang="en-US" sz="2400" dirty="0">
                <a:solidFill>
                  <a:srgbClr val="A50021"/>
                </a:solidFill>
                <a:latin typeface="华文楷体" panose="02010600040101010101" pitchFamily="2" charset="-122"/>
                <a:ea typeface="宋体" panose="02010600030101010101" pitchFamily="2" charset="-122"/>
              </a:rPr>
              <a:t>，则还可进行“小计”</a:t>
            </a:r>
            <a:r>
              <a:rPr lang="zh-CN" altLang="en-US" sz="2400" dirty="0">
                <a:latin typeface="华文楷体" panose="02010600040101010101" pitchFamily="2" charset="-122"/>
                <a:ea typeface="宋体" panose="02010600030101010101" pitchFamily="2" charset="-122"/>
              </a:rPr>
              <a:t>。 </a:t>
            </a:r>
            <a:endParaRPr lang="zh-CN" altLang="en-US" sz="2400" dirty="0">
              <a:latin typeface="华文楷体" panose="02010600040101010101" pitchFamily="2" charset="-122"/>
              <a:ea typeface="宋体" panose="02010600030101010101" pitchFamily="2" charset="-122"/>
            </a:endParaRPr>
          </a:p>
          <a:p>
            <a:pPr>
              <a:lnSpc>
                <a:spcPct val="110000"/>
              </a:lnSpc>
              <a:spcBef>
                <a:spcPts val="300"/>
              </a:spcBef>
              <a:buClr>
                <a:srgbClr val="0033CC"/>
              </a:buClr>
              <a:buSzPct val="80000"/>
            </a:pPr>
            <a:r>
              <a:rPr lang="zh-CN" altLang="en-US" sz="2400" dirty="0">
                <a:latin typeface="华文楷体" panose="02010600040101010101" pitchFamily="2" charset="-122"/>
                <a:ea typeface="宋体" panose="02010600030101010101" pitchFamily="2" charset="-122"/>
              </a:rPr>
              <a:t>说明： </a:t>
            </a:r>
            <a:r>
              <a:rPr lang="en-US" altLang="zh-CN" sz="2400" dirty="0">
                <a:solidFill>
                  <a:srgbClr val="0033CC"/>
                </a:solidFill>
                <a:latin typeface="华文楷体" panose="02010600040101010101" pitchFamily="2" charset="-122"/>
                <a:ea typeface="宋体" panose="02010600030101010101" pitchFamily="2" charset="-122"/>
              </a:rPr>
              <a:t>COMPUTE BY</a:t>
            </a:r>
            <a:r>
              <a:rPr lang="zh-CN" altLang="en-US" sz="2400" dirty="0">
                <a:solidFill>
                  <a:srgbClr val="0033CC"/>
                </a:solidFill>
                <a:latin typeface="华文楷体" panose="02010600040101010101" pitchFamily="2" charset="-122"/>
                <a:ea typeface="宋体" panose="02010600030101010101" pitchFamily="2" charset="-122"/>
              </a:rPr>
              <a:t>应与</a:t>
            </a:r>
            <a:r>
              <a:rPr lang="en-US" altLang="zh-CN" sz="2400" dirty="0">
                <a:solidFill>
                  <a:srgbClr val="0033CC"/>
                </a:solidFill>
                <a:latin typeface="华文楷体" panose="02010600040101010101" pitchFamily="2" charset="-122"/>
                <a:ea typeface="宋体" panose="02010600030101010101" pitchFamily="2" charset="-122"/>
              </a:rPr>
              <a:t>ORDER BY</a:t>
            </a:r>
            <a:r>
              <a:rPr lang="zh-CN" altLang="en-US" sz="2400" dirty="0">
                <a:solidFill>
                  <a:srgbClr val="0033CC"/>
                </a:solidFill>
                <a:latin typeface="华文楷体" panose="02010600040101010101" pitchFamily="2" charset="-122"/>
                <a:ea typeface="宋体" panose="02010600030101010101" pitchFamily="2" charset="-122"/>
              </a:rPr>
              <a:t>联用</a:t>
            </a:r>
            <a:r>
              <a:rPr lang="zh-CN" altLang="en-US" sz="2400" dirty="0">
                <a:latin typeface="华文楷体" panose="02010600040101010101" pitchFamily="2" charset="-122"/>
                <a:ea typeface="宋体" panose="02010600030101010101" pitchFamily="2" charset="-122"/>
              </a:rPr>
              <a:t>，且</a:t>
            </a:r>
            <a:r>
              <a:rPr lang="en-US" altLang="zh-CN" sz="2400" dirty="0">
                <a:latin typeface="华文楷体" panose="02010600040101010101" pitchFamily="2" charset="-122"/>
                <a:ea typeface="宋体" panose="02010600030101010101" pitchFamily="2" charset="-122"/>
              </a:rPr>
              <a:t>COMPUTE BY</a:t>
            </a:r>
            <a:r>
              <a:rPr lang="zh-CN" altLang="en-US" sz="2400" dirty="0">
                <a:latin typeface="华文楷体" panose="02010600040101010101" pitchFamily="2" charset="-122"/>
                <a:ea typeface="宋体" panose="02010600030101010101" pitchFamily="2" charset="-122"/>
              </a:rPr>
              <a:t>后的表达式应与</a:t>
            </a:r>
            <a:r>
              <a:rPr lang="en-US" altLang="zh-CN" sz="2400" dirty="0">
                <a:latin typeface="华文楷体" panose="02010600040101010101" pitchFamily="2" charset="-122"/>
                <a:ea typeface="宋体" panose="02010600030101010101" pitchFamily="2" charset="-122"/>
              </a:rPr>
              <a:t>ORDER BY</a:t>
            </a:r>
            <a:r>
              <a:rPr lang="zh-CN" altLang="en-US" sz="2400" dirty="0">
                <a:latin typeface="华文楷体" panose="02010600040101010101" pitchFamily="2" charset="-122"/>
                <a:ea typeface="宋体" panose="02010600030101010101" pitchFamily="2" charset="-122"/>
              </a:rPr>
              <a:t>后的表达式（或其子集）内容与顺序一致。</a:t>
            </a:r>
            <a:endParaRPr lang="zh-CN" altLang="en-US" sz="2400" dirty="0">
              <a:latin typeface="华文楷体" panose="02010600040101010101" pitchFamily="2" charset="-122"/>
              <a:ea typeface="宋体" panose="02010600030101010101" pitchFamily="2" charset="-122"/>
            </a:endParaRPr>
          </a:p>
          <a:p>
            <a:pPr>
              <a:lnSpc>
                <a:spcPct val="110000"/>
              </a:lnSpc>
              <a:spcBef>
                <a:spcPts val="300"/>
              </a:spcBef>
              <a:buClr>
                <a:srgbClr val="0033CC"/>
              </a:buClr>
              <a:buSzPct val="80000"/>
              <a:buFont typeface="Wingdings" panose="05000000000000000000" pitchFamily="2" charset="2"/>
              <a:buChar char="u"/>
            </a:pPr>
            <a:r>
              <a:rPr lang="zh-CN" altLang="en-US" sz="2400" dirty="0">
                <a:latin typeface="华文楷体" panose="02010600040101010101" pitchFamily="2" charset="-122"/>
                <a:ea typeface="宋体" panose="02010600030101010101" pitchFamily="2" charset="-122"/>
              </a:rPr>
              <a:t>示例：如有</a:t>
            </a:r>
            <a:r>
              <a:rPr lang="en-US" altLang="zh-CN" sz="2400" dirty="0">
                <a:latin typeface="华文楷体" panose="02010600040101010101" pitchFamily="2" charset="-122"/>
                <a:ea typeface="宋体" panose="02010600030101010101" pitchFamily="2" charset="-122"/>
              </a:rPr>
              <a:t>ORDER BY a, b, c </a:t>
            </a:r>
            <a:r>
              <a:rPr lang="zh-CN" altLang="en-US" sz="2400" dirty="0">
                <a:latin typeface="华文楷体" panose="02010600040101010101" pitchFamily="2" charset="-122"/>
                <a:ea typeface="宋体" panose="02010600030101010101" pitchFamily="2" charset="-122"/>
              </a:rPr>
              <a:t>则可用如下任一</a:t>
            </a:r>
            <a:r>
              <a:rPr lang="en-US" altLang="zh-CN" sz="2400" dirty="0">
                <a:latin typeface="华文楷体" panose="02010600040101010101" pitchFamily="2" charset="-122"/>
                <a:ea typeface="宋体" panose="02010600030101010101" pitchFamily="2" charset="-122"/>
              </a:rPr>
              <a:t>COMPUTE BY</a:t>
            </a:r>
            <a:r>
              <a:rPr lang="zh-CN" altLang="en-US" sz="2400" dirty="0">
                <a:latin typeface="华文楷体" panose="02010600040101010101" pitchFamily="2" charset="-122"/>
                <a:ea typeface="宋体" panose="02010600030101010101" pitchFamily="2" charset="-122"/>
              </a:rPr>
              <a:t>形式</a:t>
            </a:r>
            <a:r>
              <a:rPr lang="en-US" altLang="zh-CN" sz="2400" dirty="0">
                <a:latin typeface="华文楷体" panose="02010600040101010101" pitchFamily="2" charset="-122"/>
                <a:ea typeface="宋体" panose="02010600030101010101" pitchFamily="2" charset="-122"/>
              </a:rPr>
              <a:t>:  (1) COMPUTE BY a, b, c    (2)COMPUTE BY a, b </a:t>
            </a:r>
            <a:endParaRPr lang="en-US" altLang="zh-CN" sz="2400" dirty="0">
              <a:latin typeface="华文楷体" panose="02010600040101010101" pitchFamily="2" charset="-122"/>
              <a:ea typeface="宋体" panose="02010600030101010101" pitchFamily="2" charset="-122"/>
            </a:endParaRPr>
          </a:p>
          <a:p>
            <a:pPr>
              <a:lnSpc>
                <a:spcPct val="110000"/>
              </a:lnSpc>
              <a:spcBef>
                <a:spcPts val="300"/>
              </a:spcBef>
              <a:buClr>
                <a:srgbClr val="0033CC"/>
              </a:buClr>
              <a:buSzPct val="80000"/>
            </a:pPr>
            <a:r>
              <a:rPr lang="en-US" altLang="zh-CN" sz="2400" dirty="0">
                <a:latin typeface="华文楷体" panose="02010600040101010101" pitchFamily="2" charset="-122"/>
                <a:ea typeface="宋体" panose="02010600030101010101" pitchFamily="2" charset="-122"/>
              </a:rPr>
              <a:t>	     (3)COMPUTE BY a </a:t>
            </a:r>
            <a:endParaRPr lang="en-US" altLang="zh-CN" sz="2400" dirty="0">
              <a:latin typeface="华文楷体" panose="02010600040101010101" pitchFamily="2" charset="-122"/>
              <a:ea typeface="宋体" panose="02010600030101010101" pitchFamily="2" charset="-122"/>
            </a:endParaRPr>
          </a:p>
        </p:txBody>
      </p:sp>
      <p:sp>
        <p:nvSpPr>
          <p:cNvPr id="100355" name="Rectangle 3"/>
          <p:cNvSpPr txBox="1"/>
          <p:nvPr/>
        </p:nvSpPr>
        <p:spPr>
          <a:xfrm>
            <a:off x="501650" y="855980"/>
            <a:ext cx="7471410" cy="747395"/>
          </a:xfrm>
          <a:prstGeom prst="rect">
            <a:avLst/>
          </a:prstGeom>
          <a:noFill/>
          <a:ln w="9525">
            <a:noFill/>
          </a:ln>
        </p:spPr>
        <p:txBody>
          <a:bodyPr anchor="t" anchorCtr="0"/>
          <a:p>
            <a:r>
              <a:rPr lang="zh-CN" altLang="en-US" sz="2800" dirty="0">
                <a:solidFill>
                  <a:srgbClr val="3333CC"/>
                </a:solidFill>
                <a:latin typeface="宋体" panose="02010600030101010101" pitchFamily="2" charset="-122"/>
                <a:ea typeface="黑体" panose="02010609060101010101" pitchFamily="1" charset="-122"/>
              </a:rPr>
              <a:t>（</a:t>
            </a:r>
            <a:r>
              <a:rPr lang="en-US" altLang="zh-CN" sz="2800" dirty="0">
                <a:solidFill>
                  <a:srgbClr val="3333CC"/>
                </a:solidFill>
                <a:latin typeface="宋体" panose="02010600030101010101" pitchFamily="2" charset="-122"/>
                <a:ea typeface="黑体" panose="02010609060101010101" pitchFamily="1" charset="-122"/>
              </a:rPr>
              <a:t>5</a:t>
            </a:r>
            <a:r>
              <a:rPr lang="zh-CN" altLang="en-US" sz="2800" dirty="0">
                <a:solidFill>
                  <a:srgbClr val="3333CC"/>
                </a:solidFill>
                <a:latin typeface="宋体" panose="02010600030101010101" pitchFamily="2" charset="-122"/>
                <a:ea typeface="黑体" panose="02010609060101010101" pitchFamily="1" charset="-122"/>
              </a:rPr>
              <a:t>）</a:t>
            </a:r>
            <a:r>
              <a:rPr lang="en-US" altLang="zh-CN" sz="2800" dirty="0">
                <a:solidFill>
                  <a:srgbClr val="3333CC"/>
                </a:solidFill>
                <a:latin typeface="宋体" panose="02010600030101010101" pitchFamily="2" charset="-122"/>
                <a:ea typeface="黑体" panose="02010609060101010101" pitchFamily="1" charset="-122"/>
              </a:rPr>
              <a:t>ORDER BY</a:t>
            </a:r>
            <a:r>
              <a:rPr lang="zh-CN" altLang="en-US" sz="2800" dirty="0">
                <a:solidFill>
                  <a:srgbClr val="3333CC"/>
                </a:solidFill>
                <a:latin typeface="宋体" panose="02010600030101010101" pitchFamily="2" charset="-122"/>
                <a:ea typeface="黑体" panose="02010609060101010101" pitchFamily="1" charset="-122"/>
              </a:rPr>
              <a:t>，</a:t>
            </a:r>
            <a:r>
              <a:rPr lang="en-US" altLang="zh-CN" sz="2800" dirty="0">
                <a:solidFill>
                  <a:srgbClr val="3333CC"/>
                </a:solidFill>
                <a:latin typeface="宋体" panose="02010600030101010101" pitchFamily="2" charset="-122"/>
                <a:ea typeface="黑体" panose="02010609060101010101" pitchFamily="1" charset="-122"/>
              </a:rPr>
              <a:t>COMPUTE</a:t>
            </a:r>
            <a:r>
              <a:rPr lang="zh-CN" altLang="en-US" sz="2800" dirty="0">
                <a:solidFill>
                  <a:srgbClr val="3333CC"/>
                </a:solidFill>
                <a:latin typeface="宋体" panose="02010600030101010101" pitchFamily="2" charset="-122"/>
                <a:ea typeface="黑体" panose="02010609060101010101" pitchFamily="1" charset="-122"/>
              </a:rPr>
              <a:t>，与 </a:t>
            </a:r>
            <a:r>
              <a:rPr lang="en-US" altLang="zh-CN" sz="2800" dirty="0">
                <a:solidFill>
                  <a:srgbClr val="3333CC"/>
                </a:solidFill>
                <a:latin typeface="宋体" panose="02010600030101010101" pitchFamily="2" charset="-122"/>
                <a:ea typeface="黑体" panose="02010609060101010101" pitchFamily="1" charset="-122"/>
              </a:rPr>
              <a:t>COMPUTE BY</a:t>
            </a:r>
            <a:endParaRPr lang="en-US" altLang="zh-CN" sz="2800" dirty="0">
              <a:solidFill>
                <a:srgbClr val="3333CC"/>
              </a:solidFill>
              <a:latin typeface="宋体" panose="02010600030101010101" pitchFamily="2" charset="-122"/>
              <a:ea typeface="黑体" panose="02010609060101010101" pitchFamily="1" charset="-122"/>
            </a:endParaRPr>
          </a:p>
        </p:txBody>
      </p:sp>
    </p:spTree>
  </p:cSld>
  <p:clrMapOvr>
    <a:masterClrMapping/>
  </p:clrMapOvr>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矩形 1"/>
          <p:cNvSpPr/>
          <p:nvPr/>
        </p:nvSpPr>
        <p:spPr>
          <a:xfrm>
            <a:off x="544830" y="1425575"/>
            <a:ext cx="8387080" cy="1308735"/>
          </a:xfrm>
          <a:prstGeom prst="rect">
            <a:avLst/>
          </a:prstGeom>
          <a:noFill/>
          <a:ln w="9525">
            <a:noFill/>
          </a:ln>
        </p:spPr>
        <p:txBody>
          <a:bodyPr wrap="square" anchor="t" anchorCtr="0">
            <a:spAutoFit/>
          </a:bodyPr>
          <a:p>
            <a:pPr>
              <a:lnSpc>
                <a:spcPct val="110000"/>
              </a:lnSpc>
              <a:buFont typeface="Wingdings" panose="05000000000000000000" pitchFamily="2" charset="2"/>
              <a:buChar char="Ø"/>
            </a:pPr>
            <a:r>
              <a:rPr lang="zh-CN" altLang="en-US" sz="2400" u="sng" dirty="0">
                <a:solidFill>
                  <a:srgbClr val="FF0000"/>
                </a:solidFill>
                <a:latin typeface="Arial" panose="020B0604020202020204" pitchFamily="34" charset="0"/>
                <a:ea typeface="宋体" panose="02010600030101010101" pitchFamily="2" charset="-122"/>
              </a:rPr>
              <a:t>例：</a:t>
            </a:r>
            <a:r>
              <a:rPr lang="en-US" altLang="zh-CN" sz="2400" dirty="0">
                <a:latin typeface="Arial" panose="020B0604020202020204" pitchFamily="34" charset="0"/>
                <a:ea typeface="宋体" panose="02010600030101010101" pitchFamily="2" charset="-122"/>
              </a:rPr>
              <a:t>SELECT Stu.Sid as </a:t>
            </a:r>
            <a:r>
              <a:rPr lang="zh-CN" altLang="en-US" sz="2400" dirty="0">
                <a:latin typeface="Arial" panose="020B0604020202020204" pitchFamily="34" charset="0"/>
                <a:ea typeface="宋体" panose="02010600030101010101" pitchFamily="2" charset="-122"/>
              </a:rPr>
              <a:t>学号</a:t>
            </a:r>
            <a:r>
              <a:rPr lang="en-US" altLang="zh-CN" sz="2400" dirty="0">
                <a:latin typeface="Arial" panose="020B0604020202020204" pitchFamily="34" charset="0"/>
                <a:ea typeface="宋体" panose="02010600030101010101" pitchFamily="2" charset="-122"/>
              </a:rPr>
              <a:t>,Sname as </a:t>
            </a:r>
            <a:r>
              <a:rPr lang="zh-CN" altLang="en-US" sz="2400" dirty="0">
                <a:latin typeface="Arial" panose="020B0604020202020204" pitchFamily="34" charset="0"/>
                <a:ea typeface="宋体" panose="02010600030101010101" pitchFamily="2" charset="-122"/>
              </a:rPr>
              <a:t>姓名</a:t>
            </a:r>
            <a:r>
              <a:rPr lang="en-US" altLang="zh-CN" sz="2400" dirty="0">
                <a:latin typeface="Arial" panose="020B0604020202020204" pitchFamily="34" charset="0"/>
                <a:ea typeface="宋体" panose="02010600030101010101" pitchFamily="2" charset="-122"/>
              </a:rPr>
              <a:t>,Cname as </a:t>
            </a:r>
            <a:r>
              <a:rPr lang="zh-CN" altLang="en-US" sz="2400" dirty="0">
                <a:latin typeface="Arial" panose="020B0604020202020204" pitchFamily="34" charset="0"/>
                <a:ea typeface="宋体" panose="02010600030101010101" pitchFamily="2" charset="-122"/>
              </a:rPr>
              <a:t>课程名称</a:t>
            </a:r>
            <a:r>
              <a:rPr lang="en-US" altLang="zh-CN" sz="2400" dirty="0">
                <a:latin typeface="Arial" panose="020B0604020202020204" pitchFamily="34" charset="0"/>
                <a:ea typeface="宋体" panose="02010600030101010101" pitchFamily="2" charset="-122"/>
              </a:rPr>
              <a:t>, mark as </a:t>
            </a:r>
            <a:r>
              <a:rPr lang="zh-CN" altLang="en-US" sz="2400" dirty="0">
                <a:latin typeface="Arial" panose="020B0604020202020204" pitchFamily="34" charset="0"/>
                <a:ea typeface="宋体" panose="02010600030101010101" pitchFamily="2" charset="-122"/>
              </a:rPr>
              <a:t>成绩 </a:t>
            </a:r>
            <a:r>
              <a:rPr lang="en-US" altLang="zh-CN" sz="2400" dirty="0">
                <a:latin typeface="Arial" panose="020B0604020202020204" pitchFamily="34" charset="0"/>
                <a:ea typeface="宋体" panose="02010600030101010101" pitchFamily="2" charset="-122"/>
              </a:rPr>
              <a:t>from Stu,ctake SC,Course where Stu.Sid=SC.Sid and SC.Cid=Course.Cid </a:t>
            </a:r>
            <a:r>
              <a:rPr lang="en-US" altLang="zh-CN" sz="2400" dirty="0">
                <a:solidFill>
                  <a:srgbClr val="FF0000"/>
                </a:solidFill>
                <a:latin typeface="Arial" panose="020B0604020202020204" pitchFamily="34" charset="0"/>
                <a:ea typeface="宋体" panose="02010600030101010101" pitchFamily="2" charset="-122"/>
              </a:rPr>
              <a:t>order by Cname </a:t>
            </a:r>
            <a:endParaRPr lang="zh-CN" altLang="en-US" sz="2400" dirty="0">
              <a:solidFill>
                <a:schemeClr val="tx1"/>
              </a:solidFill>
              <a:latin typeface="华文中宋" panose="02010600040101010101" charset="-122"/>
              <a:ea typeface="华文中宋" panose="02010600040101010101" charset="-122"/>
            </a:endParaRPr>
          </a:p>
        </p:txBody>
      </p:sp>
      <p:sp>
        <p:nvSpPr>
          <p:cNvPr id="101378"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三、数据库操纵子语言及其操作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101379" name="Rectangle 3"/>
          <p:cNvSpPr txBox="1"/>
          <p:nvPr/>
        </p:nvSpPr>
        <p:spPr>
          <a:xfrm>
            <a:off x="501650" y="855663"/>
            <a:ext cx="8642350" cy="747712"/>
          </a:xfrm>
          <a:prstGeom prst="rect">
            <a:avLst/>
          </a:prstGeom>
          <a:noFill/>
          <a:ln w="9525">
            <a:noFill/>
          </a:ln>
        </p:spPr>
        <p:txBody>
          <a:bodyPr anchor="t" anchorCtr="0"/>
          <a:p>
            <a:pPr>
              <a:buFont typeface="Wingdings" panose="05000000000000000000" pitchFamily="2" charset="2"/>
              <a:buChar char="p"/>
            </a:pPr>
            <a:r>
              <a:rPr lang="en-US" altLang="zh-CN" sz="2800" dirty="0">
                <a:solidFill>
                  <a:srgbClr val="3333CC"/>
                </a:solidFill>
                <a:latin typeface="宋体" panose="02010600030101010101" pitchFamily="2" charset="-122"/>
                <a:ea typeface="黑体" panose="02010609060101010101" pitchFamily="1" charset="-122"/>
              </a:rPr>
              <a:t> </a:t>
            </a:r>
            <a:r>
              <a:rPr lang="zh-CN" altLang="en-US" sz="2800" dirty="0">
                <a:solidFill>
                  <a:srgbClr val="3333CC"/>
                </a:solidFill>
                <a:latin typeface="宋体" panose="02010600030101010101" pitchFamily="2" charset="-122"/>
                <a:ea typeface="黑体" panose="02010609060101010101" pitchFamily="1" charset="-122"/>
              </a:rPr>
              <a:t>示例</a:t>
            </a:r>
            <a:endParaRPr lang="en-US" altLang="zh-CN" sz="2800" dirty="0">
              <a:solidFill>
                <a:srgbClr val="3333CC"/>
              </a:solidFill>
              <a:latin typeface="宋体" panose="02010600030101010101" pitchFamily="2" charset="-122"/>
              <a:ea typeface="黑体" panose="02010609060101010101" pitchFamily="1" charset="-122"/>
            </a:endParaRPr>
          </a:p>
        </p:txBody>
      </p:sp>
      <p:sp>
        <p:nvSpPr>
          <p:cNvPr id="78853" name="矩形 5"/>
          <p:cNvSpPr/>
          <p:nvPr/>
        </p:nvSpPr>
        <p:spPr>
          <a:xfrm>
            <a:off x="536575" y="4042410"/>
            <a:ext cx="8243888" cy="2120900"/>
          </a:xfrm>
          <a:prstGeom prst="rect">
            <a:avLst/>
          </a:prstGeom>
          <a:noFill/>
          <a:ln w="9525">
            <a:noFill/>
          </a:ln>
        </p:spPr>
        <p:txBody>
          <a:bodyPr anchor="t" anchorCtr="0">
            <a:spAutoFit/>
          </a:bodyPr>
          <a:p>
            <a:pPr algn="l">
              <a:lnSpc>
                <a:spcPct val="110000"/>
              </a:lnSpc>
              <a:buClrTx/>
              <a:buSzTx/>
              <a:buFont typeface="Wingdings" panose="05000000000000000000" pitchFamily="2" charset="2"/>
              <a:buChar char="Ø"/>
            </a:pPr>
            <a:r>
              <a:rPr lang="zh-CN" altLang="en-US" sz="2400" u="sng" dirty="0">
                <a:solidFill>
                  <a:srgbClr val="FF0000"/>
                </a:solidFill>
                <a:latin typeface="Arial" panose="020B0604020202020204" pitchFamily="34" charset="0"/>
                <a:ea typeface="宋体" panose="02010600030101010101" pitchFamily="2" charset="-122"/>
              </a:rPr>
              <a:t>例：</a:t>
            </a:r>
            <a:r>
              <a:rPr sz="2400" dirty="0">
                <a:latin typeface="Arial" panose="020B0604020202020204" pitchFamily="34" charset="0"/>
                <a:ea typeface="宋体" panose="02010600030101010101" pitchFamily="2" charset="-122"/>
              </a:rPr>
              <a:t> SELECT Stu.Sid as 学号,Sname as 姓名,Cname as 课程名称,mark as 成绩 from Stu,ctake SC,Course where Stu.Sid=SC.Sid and SC.Cid=Course.Cid </a:t>
            </a:r>
            <a:r>
              <a:rPr sz="2400" dirty="0">
                <a:solidFill>
                  <a:srgbClr val="FF0000"/>
                </a:solidFill>
                <a:latin typeface="Arial" panose="020B0604020202020204" pitchFamily="34" charset="0"/>
                <a:ea typeface="宋体" panose="02010600030101010101" pitchFamily="2" charset="-122"/>
              </a:rPr>
              <a:t>order by Stu.Sid ,Sname</a:t>
            </a:r>
            <a:r>
              <a:rPr sz="2400" dirty="0">
                <a:latin typeface="Arial" panose="020B0604020202020204" pitchFamily="34" charset="0"/>
                <a:ea typeface="宋体" panose="02010600030101010101" pitchFamily="2" charset="-122"/>
              </a:rPr>
              <a:t> </a:t>
            </a:r>
            <a:r>
              <a:rPr sz="2400" dirty="0">
                <a:solidFill>
                  <a:srgbClr val="0000FF"/>
                </a:solidFill>
                <a:latin typeface="Arial" panose="020B0604020202020204" pitchFamily="34" charset="0"/>
                <a:ea typeface="宋体" panose="02010600030101010101" pitchFamily="2" charset="-122"/>
              </a:rPr>
              <a:t>COMPUTE AVG(mark), Count(Course.Cname) by Stu.Sid</a:t>
            </a:r>
            <a:r>
              <a:rPr lang="en-US" altLang="zh-CN" sz="2400" dirty="0">
                <a:solidFill>
                  <a:srgbClr val="FF0000"/>
                </a:solidFill>
                <a:latin typeface="Arial" panose="020B0604020202020204" pitchFamily="34" charset="0"/>
                <a:ea typeface="宋体" panose="02010600030101010101" pitchFamily="2" charset="-122"/>
              </a:rPr>
              <a:t> </a:t>
            </a:r>
            <a:r>
              <a:rPr lang="en-US" altLang="zh-CN" sz="2400" dirty="0">
                <a:solidFill>
                  <a:srgbClr val="0033CC"/>
                </a:solidFill>
                <a:latin typeface="Arial" panose="020B0604020202020204" pitchFamily="34" charset="0"/>
                <a:ea typeface="宋体" panose="02010600030101010101" pitchFamily="2" charset="-122"/>
              </a:rPr>
              <a:t>–</a:t>
            </a:r>
            <a:r>
              <a:rPr lang="zh-CN" altLang="en-US" sz="2400" dirty="0">
                <a:latin typeface="华文中宋" panose="02010600040101010101" charset="-122"/>
                <a:ea typeface="华文中宋" panose="02010600040101010101" charset="-122"/>
              </a:rPr>
              <a:t>按学生统计</a:t>
            </a:r>
            <a:endParaRPr lang="zh-CN" altLang="en-US" sz="2400" dirty="0">
              <a:latin typeface="华文中宋" panose="02010600040101010101" charset="-122"/>
              <a:ea typeface="华文中宋" panose="02010600040101010101" charset="-122"/>
            </a:endParaRPr>
          </a:p>
        </p:txBody>
      </p:sp>
      <p:pic>
        <p:nvPicPr>
          <p:cNvPr id="2" name="图片 1"/>
          <p:cNvPicPr>
            <a:picLocks noChangeAspect="1"/>
          </p:cNvPicPr>
          <p:nvPr/>
        </p:nvPicPr>
        <p:blipFill>
          <a:blip r:embed="rId1"/>
          <a:stretch>
            <a:fillRect/>
          </a:stretch>
        </p:blipFill>
        <p:spPr>
          <a:xfrm>
            <a:off x="2129155" y="885825"/>
            <a:ext cx="6651625" cy="3030855"/>
          </a:xfrm>
          <a:prstGeom prst="rect">
            <a:avLst/>
          </a:prstGeom>
          <a:ln>
            <a:solidFill>
              <a:schemeClr val="accent1"/>
            </a:solidFill>
          </a:ln>
        </p:spPr>
      </p:pic>
      <p:graphicFrame>
        <p:nvGraphicFramePr>
          <p:cNvPr id="6" name="表格 5"/>
          <p:cNvGraphicFramePr/>
          <p:nvPr>
            <p:custDataLst>
              <p:tags r:id="rId2"/>
            </p:custDataLst>
          </p:nvPr>
        </p:nvGraphicFramePr>
        <p:xfrm>
          <a:off x="460375" y="4048125"/>
          <a:ext cx="1715770" cy="609600"/>
        </p:xfrm>
        <a:graphic>
          <a:graphicData uri="http://schemas.openxmlformats.org/drawingml/2006/table">
            <a:tbl>
              <a:tblPr firstRow="1" bandRow="1">
                <a:tableStyleId>{5C22544A-7EE6-4342-B048-85BDC9FD1C3A}</a:tableStyleId>
              </a:tblPr>
              <a:tblGrid>
                <a:gridCol w="857885"/>
                <a:gridCol w="857885"/>
              </a:tblGrid>
              <a:tr h="304800">
                <a:tc>
                  <a:txBody>
                    <a:bodyPr/>
                    <a:p>
                      <a:pPr>
                        <a:buNone/>
                      </a:pPr>
                      <a:endParaRPr lang="zh-CN" altLang="en-US" sz="1400"/>
                    </a:p>
                  </a:txBody>
                  <a:tcPr>
                    <a:solidFill>
                      <a:schemeClr val="accent2">
                        <a:lumMod val="20000"/>
                        <a:lumOff val="80000"/>
                      </a:schemeClr>
                    </a:solidFill>
                  </a:tcPr>
                </a:tc>
                <a:tc>
                  <a:txBody>
                    <a:bodyPr/>
                    <a:p>
                      <a:pPr>
                        <a:buNone/>
                      </a:pPr>
                      <a:endParaRPr lang="zh-CN" altLang="en-US" sz="1400"/>
                    </a:p>
                  </a:txBody>
                  <a:tcPr>
                    <a:solidFill>
                      <a:schemeClr val="accent2">
                        <a:lumMod val="20000"/>
                        <a:lumOff val="80000"/>
                      </a:schemeClr>
                    </a:solidFill>
                  </a:tcPr>
                </a:tc>
              </a:tr>
              <a:tr h="304800">
                <a:tc>
                  <a:txBody>
                    <a:bodyPr/>
                    <a:p>
                      <a:pPr algn="ctr">
                        <a:buNone/>
                      </a:pPr>
                      <a:r>
                        <a:rPr lang="en-US" altLang="zh-CN" sz="1400"/>
                        <a:t>82</a:t>
                      </a:r>
                      <a:endParaRPr lang="en-US" altLang="zh-CN" sz="1400"/>
                    </a:p>
                  </a:txBody>
                  <a:tcPr>
                    <a:solidFill>
                      <a:schemeClr val="accent2">
                        <a:lumMod val="20000"/>
                        <a:lumOff val="80000"/>
                      </a:schemeClr>
                    </a:solidFill>
                  </a:tcPr>
                </a:tc>
                <a:tc>
                  <a:txBody>
                    <a:bodyPr/>
                    <a:p>
                      <a:pPr algn="ctr">
                        <a:buNone/>
                      </a:pPr>
                      <a:r>
                        <a:rPr lang="en-US" altLang="zh-CN" sz="1400"/>
                        <a:t>3</a:t>
                      </a:r>
                      <a:endParaRPr lang="en-US" altLang="zh-CN" sz="1400"/>
                    </a:p>
                  </a:txBody>
                  <a:tcPr>
                    <a:solidFill>
                      <a:schemeClr val="accent2">
                        <a:lumMod val="20000"/>
                        <a:lumOff val="80000"/>
                      </a:schemeClr>
                    </a:solidFill>
                  </a:tcPr>
                </a:tc>
              </a:tr>
            </a:tbl>
          </a:graphicData>
        </a:graphic>
      </p:graphicFrame>
      <p:pic>
        <p:nvPicPr>
          <p:cNvPr id="7" name="图片 6"/>
          <p:cNvPicPr>
            <a:picLocks noChangeAspect="1"/>
          </p:cNvPicPr>
          <p:nvPr/>
        </p:nvPicPr>
        <p:blipFill>
          <a:blip r:embed="rId3"/>
          <a:srcRect b="60387"/>
          <a:stretch>
            <a:fillRect/>
          </a:stretch>
        </p:blipFill>
        <p:spPr>
          <a:xfrm>
            <a:off x="460375" y="3052445"/>
            <a:ext cx="3642750" cy="1044000"/>
          </a:xfrm>
          <a:prstGeom prst="rect">
            <a:avLst/>
          </a:prstGeom>
          <a:ln>
            <a:solidFill>
              <a:srgbClr val="FF3300"/>
            </a:solidFill>
          </a:ln>
        </p:spPr>
      </p:pic>
      <p:graphicFrame>
        <p:nvGraphicFramePr>
          <p:cNvPr id="9" name="对象 8"/>
          <p:cNvGraphicFramePr>
            <a:graphicFrameLocks noChangeAspect="1"/>
          </p:cNvGraphicFramePr>
          <p:nvPr/>
        </p:nvGraphicFramePr>
        <p:xfrm>
          <a:off x="451485" y="4706620"/>
          <a:ext cx="3758400" cy="1080000"/>
        </p:xfrm>
        <a:graphic>
          <a:graphicData uri="http://schemas.openxmlformats.org/presentationml/2006/ole">
            <mc:AlternateContent xmlns:mc="http://schemas.openxmlformats.org/markup-compatibility/2006">
              <mc:Choice xmlns:v="urn:schemas-microsoft-com:vml" Requires="v">
                <p:oleObj spid="_x0000_s10" name="" r:id="rId4" imgW="3779520" imgH="1143000" progId="Paint.Picture">
                  <p:embed/>
                </p:oleObj>
              </mc:Choice>
              <mc:Fallback>
                <p:oleObj name="" r:id="rId4" imgW="3779520" imgH="1143000" progId="Paint.Picture">
                  <p:embed/>
                  <p:pic>
                    <p:nvPicPr>
                      <p:cNvPr id="0" name="图片 9"/>
                      <p:cNvPicPr/>
                      <p:nvPr/>
                    </p:nvPicPr>
                    <p:blipFill>
                      <a:blip r:embed="rId5"/>
                      <a:stretch>
                        <a:fillRect/>
                      </a:stretch>
                    </p:blipFill>
                    <p:spPr>
                      <a:xfrm>
                        <a:off x="451485" y="4706620"/>
                        <a:ext cx="3758400" cy="1080000"/>
                      </a:xfrm>
                      <a:prstGeom prst="rect">
                        <a:avLst/>
                      </a:prstGeom>
                      <a:ln>
                        <a:solidFill>
                          <a:srgbClr val="FF3300"/>
                        </a:solidFill>
                      </a:ln>
                    </p:spPr>
                  </p:pic>
                </p:oleObj>
              </mc:Fallback>
            </mc:AlternateContent>
          </a:graphicData>
        </a:graphic>
      </p:graphicFrame>
      <p:graphicFrame>
        <p:nvGraphicFramePr>
          <p:cNvPr id="12" name="表格 11"/>
          <p:cNvGraphicFramePr/>
          <p:nvPr>
            <p:custDataLst>
              <p:tags r:id="rId6"/>
            </p:custDataLst>
          </p:nvPr>
        </p:nvGraphicFramePr>
        <p:xfrm>
          <a:off x="460375" y="5786755"/>
          <a:ext cx="1715770" cy="548640"/>
        </p:xfrm>
        <a:graphic>
          <a:graphicData uri="http://schemas.openxmlformats.org/drawingml/2006/table">
            <a:tbl>
              <a:tblPr firstRow="1" bandRow="1">
                <a:tableStyleId>{5C22544A-7EE6-4342-B048-85BDC9FD1C3A}</a:tableStyleId>
              </a:tblPr>
              <a:tblGrid>
                <a:gridCol w="857885"/>
                <a:gridCol w="857885"/>
              </a:tblGrid>
              <a:tr h="274320">
                <a:tc>
                  <a:txBody>
                    <a:bodyPr/>
                    <a:p>
                      <a:pPr>
                        <a:buNone/>
                      </a:pPr>
                      <a:endParaRPr lang="zh-CN" altLang="en-US" sz="1200"/>
                    </a:p>
                  </a:txBody>
                  <a:tcPr>
                    <a:solidFill>
                      <a:schemeClr val="accent2">
                        <a:lumMod val="20000"/>
                        <a:lumOff val="80000"/>
                      </a:schemeClr>
                    </a:solidFill>
                  </a:tcPr>
                </a:tc>
                <a:tc>
                  <a:txBody>
                    <a:bodyPr/>
                    <a:p>
                      <a:pPr>
                        <a:buNone/>
                      </a:pPr>
                      <a:endParaRPr lang="zh-CN" altLang="en-US" sz="1200"/>
                    </a:p>
                  </a:txBody>
                  <a:tcPr>
                    <a:solidFill>
                      <a:schemeClr val="accent2">
                        <a:lumMod val="20000"/>
                        <a:lumOff val="80000"/>
                      </a:schemeClr>
                    </a:solidFill>
                  </a:tcPr>
                </a:tc>
              </a:tr>
              <a:tr h="274320">
                <a:tc>
                  <a:txBody>
                    <a:bodyPr/>
                    <a:p>
                      <a:pPr algn="ctr">
                        <a:buNone/>
                      </a:pPr>
                      <a:r>
                        <a:rPr lang="en-US" altLang="zh-CN" sz="1200"/>
                        <a:t>92</a:t>
                      </a:r>
                      <a:endParaRPr lang="en-US" altLang="zh-CN" sz="1200"/>
                    </a:p>
                  </a:txBody>
                  <a:tcPr>
                    <a:solidFill>
                      <a:schemeClr val="accent2">
                        <a:lumMod val="20000"/>
                        <a:lumOff val="80000"/>
                      </a:schemeClr>
                    </a:solidFill>
                  </a:tcPr>
                </a:tc>
                <a:tc>
                  <a:txBody>
                    <a:bodyPr/>
                    <a:p>
                      <a:pPr algn="ctr">
                        <a:buNone/>
                      </a:pPr>
                      <a:r>
                        <a:rPr lang="en-US" altLang="zh-CN" sz="1200"/>
                        <a:t>3</a:t>
                      </a:r>
                      <a:endParaRPr lang="en-US" altLang="zh-CN" sz="1200"/>
                    </a:p>
                  </a:txBody>
                  <a:tcPr>
                    <a:solidFill>
                      <a:schemeClr val="accent2">
                        <a:lumMod val="20000"/>
                        <a:lumOff val="80000"/>
                      </a:schemeClr>
                    </a:solidFill>
                  </a:tcPr>
                </a:tc>
              </a:tr>
            </a:tbl>
          </a:graphicData>
        </a:graphic>
      </p:graphicFrame>
      <p:graphicFrame>
        <p:nvGraphicFramePr>
          <p:cNvPr id="13" name="对象 12"/>
          <p:cNvGraphicFramePr/>
          <p:nvPr/>
        </p:nvGraphicFramePr>
        <p:xfrm>
          <a:off x="4802505" y="3399155"/>
          <a:ext cx="3790315" cy="892175"/>
        </p:xfrm>
        <a:graphic>
          <a:graphicData uri="http://schemas.openxmlformats.org/presentationml/2006/ole">
            <mc:AlternateContent xmlns:mc="http://schemas.openxmlformats.org/markup-compatibility/2006">
              <mc:Choice xmlns:v="urn:schemas-microsoft-com:vml" Requires="v">
                <p:oleObj spid="_x0000_s14" name="" r:id="rId7" imgW="3787140" imgH="891540" progId="Paint.Picture">
                  <p:embed/>
                </p:oleObj>
              </mc:Choice>
              <mc:Fallback>
                <p:oleObj name="" r:id="rId7" imgW="3787140" imgH="891540" progId="Paint.Picture">
                  <p:embed/>
                  <p:pic>
                    <p:nvPicPr>
                      <p:cNvPr id="0" name="图片 13"/>
                      <p:cNvPicPr/>
                      <p:nvPr/>
                    </p:nvPicPr>
                    <p:blipFill>
                      <a:blip r:embed="rId8"/>
                      <a:stretch>
                        <a:fillRect/>
                      </a:stretch>
                    </p:blipFill>
                    <p:spPr>
                      <a:xfrm>
                        <a:off x="4802505" y="3399155"/>
                        <a:ext cx="3790315" cy="892175"/>
                      </a:xfrm>
                      <a:prstGeom prst="rect">
                        <a:avLst/>
                      </a:prstGeom>
                      <a:ln>
                        <a:solidFill>
                          <a:srgbClr val="FF3300"/>
                        </a:solidFill>
                      </a:ln>
                    </p:spPr>
                  </p:pic>
                </p:oleObj>
              </mc:Fallback>
            </mc:AlternateContent>
          </a:graphicData>
        </a:graphic>
      </p:graphicFrame>
      <p:graphicFrame>
        <p:nvGraphicFramePr>
          <p:cNvPr id="15" name="表格 14"/>
          <p:cNvGraphicFramePr/>
          <p:nvPr>
            <p:custDataLst>
              <p:tags r:id="rId9"/>
            </p:custDataLst>
          </p:nvPr>
        </p:nvGraphicFramePr>
        <p:xfrm>
          <a:off x="4802505" y="4282440"/>
          <a:ext cx="1715770" cy="548640"/>
        </p:xfrm>
        <a:graphic>
          <a:graphicData uri="http://schemas.openxmlformats.org/drawingml/2006/table">
            <a:tbl>
              <a:tblPr firstRow="1" bandRow="1">
                <a:tableStyleId>{5C22544A-7EE6-4342-B048-85BDC9FD1C3A}</a:tableStyleId>
              </a:tblPr>
              <a:tblGrid>
                <a:gridCol w="857885"/>
                <a:gridCol w="857885"/>
              </a:tblGrid>
              <a:tr h="274320">
                <a:tc>
                  <a:txBody>
                    <a:bodyPr/>
                    <a:p>
                      <a:pPr>
                        <a:buNone/>
                      </a:pPr>
                      <a:endParaRPr lang="zh-CN" altLang="en-US" sz="1200"/>
                    </a:p>
                  </a:txBody>
                  <a:tcPr>
                    <a:solidFill>
                      <a:schemeClr val="accent6">
                        <a:lumMod val="20000"/>
                        <a:lumOff val="80000"/>
                      </a:schemeClr>
                    </a:solidFill>
                  </a:tcPr>
                </a:tc>
                <a:tc>
                  <a:txBody>
                    <a:bodyPr/>
                    <a:p>
                      <a:pPr>
                        <a:buNone/>
                      </a:pPr>
                      <a:endParaRPr lang="zh-CN" altLang="en-US" sz="1200"/>
                    </a:p>
                  </a:txBody>
                  <a:tcPr>
                    <a:solidFill>
                      <a:schemeClr val="accent6">
                        <a:lumMod val="20000"/>
                        <a:lumOff val="80000"/>
                      </a:schemeClr>
                    </a:solidFill>
                  </a:tcPr>
                </a:tc>
              </a:tr>
              <a:tr h="274320">
                <a:tc>
                  <a:txBody>
                    <a:bodyPr/>
                    <a:p>
                      <a:pPr algn="ctr">
                        <a:buNone/>
                      </a:pPr>
                      <a:r>
                        <a:rPr lang="en-US" altLang="zh-CN" sz="1200"/>
                        <a:t>86</a:t>
                      </a:r>
                      <a:endParaRPr lang="en-US" altLang="zh-CN" sz="1200"/>
                    </a:p>
                  </a:txBody>
                  <a:tcPr>
                    <a:solidFill>
                      <a:schemeClr val="accent2">
                        <a:lumMod val="20000"/>
                        <a:lumOff val="80000"/>
                      </a:schemeClr>
                    </a:solidFill>
                  </a:tcPr>
                </a:tc>
                <a:tc>
                  <a:txBody>
                    <a:bodyPr/>
                    <a:p>
                      <a:pPr algn="ctr">
                        <a:buNone/>
                      </a:pPr>
                      <a:r>
                        <a:rPr lang="en-US" altLang="zh-CN" sz="1200"/>
                        <a:t>2</a:t>
                      </a:r>
                      <a:endParaRPr lang="en-US" altLang="zh-CN" sz="1200"/>
                    </a:p>
                  </a:txBody>
                  <a:tcPr>
                    <a:solidFill>
                      <a:schemeClr val="accent2">
                        <a:lumMod val="20000"/>
                        <a:lumOff val="80000"/>
                      </a:schemeClr>
                    </a:solidFill>
                  </a:tcPr>
                </a:tc>
              </a:tr>
            </a:tbl>
          </a:graphicData>
        </a:graphic>
      </p:graphicFrame>
      <p:graphicFrame>
        <p:nvGraphicFramePr>
          <p:cNvPr id="16" name="对象 15"/>
          <p:cNvGraphicFramePr/>
          <p:nvPr/>
        </p:nvGraphicFramePr>
        <p:xfrm>
          <a:off x="4802505" y="4956175"/>
          <a:ext cx="3805555" cy="564515"/>
        </p:xfrm>
        <a:graphic>
          <a:graphicData uri="http://schemas.openxmlformats.org/presentationml/2006/ole">
            <mc:AlternateContent xmlns:mc="http://schemas.openxmlformats.org/markup-compatibility/2006">
              <mc:Choice xmlns:v="urn:schemas-microsoft-com:vml" Requires="v">
                <p:oleObj spid="_x0000_s17" name="" r:id="rId10" imgW="3802380" imgH="563880" progId="Paint.Picture">
                  <p:embed/>
                </p:oleObj>
              </mc:Choice>
              <mc:Fallback>
                <p:oleObj name="" r:id="rId10" imgW="3802380" imgH="563880" progId="Paint.Picture">
                  <p:embed/>
                  <p:pic>
                    <p:nvPicPr>
                      <p:cNvPr id="0" name="图片 16"/>
                      <p:cNvPicPr/>
                      <p:nvPr/>
                    </p:nvPicPr>
                    <p:blipFill>
                      <a:blip r:embed="rId11"/>
                      <a:stretch>
                        <a:fillRect/>
                      </a:stretch>
                    </p:blipFill>
                    <p:spPr>
                      <a:xfrm>
                        <a:off x="4802505" y="4956175"/>
                        <a:ext cx="3805555" cy="564515"/>
                      </a:xfrm>
                      <a:prstGeom prst="rect">
                        <a:avLst/>
                      </a:prstGeom>
                      <a:ln>
                        <a:solidFill>
                          <a:srgbClr val="FF3300"/>
                        </a:solidFill>
                      </a:ln>
                    </p:spPr>
                  </p:pic>
                </p:oleObj>
              </mc:Fallback>
            </mc:AlternateContent>
          </a:graphicData>
        </a:graphic>
      </p:graphicFrame>
      <p:graphicFrame>
        <p:nvGraphicFramePr>
          <p:cNvPr id="18" name="表格 17"/>
          <p:cNvGraphicFramePr/>
          <p:nvPr>
            <p:custDataLst>
              <p:tags r:id="rId12"/>
            </p:custDataLst>
          </p:nvPr>
        </p:nvGraphicFramePr>
        <p:xfrm>
          <a:off x="4802505" y="5520690"/>
          <a:ext cx="1715770" cy="548640"/>
        </p:xfrm>
        <a:graphic>
          <a:graphicData uri="http://schemas.openxmlformats.org/drawingml/2006/table">
            <a:tbl>
              <a:tblPr firstRow="1" bandRow="1">
                <a:tableStyleId>{5C22544A-7EE6-4342-B048-85BDC9FD1C3A}</a:tableStyleId>
              </a:tblPr>
              <a:tblGrid>
                <a:gridCol w="857885"/>
                <a:gridCol w="857885"/>
              </a:tblGrid>
              <a:tr h="274320">
                <a:tc>
                  <a:txBody>
                    <a:bodyPr/>
                    <a:p>
                      <a:pPr>
                        <a:buNone/>
                      </a:pPr>
                      <a:endParaRPr lang="zh-CN" altLang="en-US" sz="1200"/>
                    </a:p>
                  </a:txBody>
                  <a:tcPr>
                    <a:solidFill>
                      <a:schemeClr val="accent2">
                        <a:lumMod val="20000"/>
                        <a:lumOff val="80000"/>
                      </a:schemeClr>
                    </a:solidFill>
                  </a:tcPr>
                </a:tc>
                <a:tc>
                  <a:txBody>
                    <a:bodyPr/>
                    <a:p>
                      <a:pPr>
                        <a:buNone/>
                      </a:pPr>
                      <a:endParaRPr lang="zh-CN" altLang="en-US" sz="1200"/>
                    </a:p>
                  </a:txBody>
                  <a:tcPr>
                    <a:solidFill>
                      <a:schemeClr val="accent2">
                        <a:lumMod val="20000"/>
                        <a:lumOff val="80000"/>
                      </a:schemeClr>
                    </a:solidFill>
                  </a:tcPr>
                </a:tc>
              </a:tr>
              <a:tr h="274320">
                <a:tc>
                  <a:txBody>
                    <a:bodyPr/>
                    <a:p>
                      <a:pPr algn="ctr">
                        <a:buNone/>
                      </a:pPr>
                      <a:r>
                        <a:rPr lang="en-US" altLang="zh-CN" sz="1200"/>
                        <a:t>90</a:t>
                      </a:r>
                      <a:endParaRPr lang="en-US" altLang="zh-CN" sz="1200"/>
                    </a:p>
                  </a:txBody>
                  <a:tcPr>
                    <a:solidFill>
                      <a:schemeClr val="accent2">
                        <a:lumMod val="20000"/>
                        <a:lumOff val="80000"/>
                      </a:schemeClr>
                    </a:solidFill>
                  </a:tcPr>
                </a:tc>
                <a:tc>
                  <a:txBody>
                    <a:bodyPr/>
                    <a:p>
                      <a:pPr algn="ctr">
                        <a:buNone/>
                      </a:pPr>
                      <a:r>
                        <a:rPr lang="en-US" altLang="zh-CN" sz="1200"/>
                        <a:t>1</a:t>
                      </a:r>
                      <a:endParaRPr lang="en-US" altLang="zh-CN" sz="1200"/>
                    </a:p>
                  </a:txBody>
                  <a:tcPr>
                    <a:solidFill>
                      <a:schemeClr val="accent2">
                        <a:lumMod val="20000"/>
                        <a:lumOff val="80000"/>
                      </a:schemeClr>
                    </a:solidFill>
                  </a:tcPr>
                </a:tc>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8853"/>
                                        </p:tgtEl>
                                        <p:attrNameLst>
                                          <p:attrName>style.visibility</p:attrName>
                                        </p:attrNameLst>
                                      </p:cBhvr>
                                      <p:to>
                                        <p:strVal val="visible"/>
                                      </p:to>
                                    </p:set>
                                    <p:anim calcmode="lin" valueType="num">
                                      <p:cBhvr additive="base">
                                        <p:cTn id="13" dur="500" fill="hold"/>
                                        <p:tgtEl>
                                          <p:spTgt spid="78853"/>
                                        </p:tgtEl>
                                        <p:attrNameLst>
                                          <p:attrName>ppt_x</p:attrName>
                                        </p:attrNameLst>
                                      </p:cBhvr>
                                      <p:tavLst>
                                        <p:tav tm="0">
                                          <p:val>
                                            <p:strVal val="#ppt_x"/>
                                          </p:val>
                                        </p:tav>
                                        <p:tav tm="100000">
                                          <p:val>
                                            <p:strVal val="#ppt_x"/>
                                          </p:val>
                                        </p:tav>
                                      </p:tavLst>
                                    </p:anim>
                                    <p:anim calcmode="lin" valueType="num">
                                      <p:cBhvr additive="base">
                                        <p:cTn id="14" dur="500" fill="hold"/>
                                        <p:tgtEl>
                                          <p:spTgt spid="7885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ppt_x</p:attrName>
                                        </p:attrNameLst>
                                      </p:cBhvr>
                                      <p:tavLst>
                                        <p:tav tm="0">
                                          <p:val>
                                            <p:strVal val="#ppt_x"/>
                                          </p:val>
                                        </p:tav>
                                        <p:tav tm="100000">
                                          <p:val>
                                            <p:strVal val="#ppt_x"/>
                                          </p:val>
                                        </p:tav>
                                      </p:tavLst>
                                    </p:anim>
                                    <p:anim calcmode="lin" valueType="num">
                                      <p:cBhvr additive="base">
                                        <p:cTn id="2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9"/>
                                        </p:tgtEl>
                                        <p:attrNameLst>
                                          <p:attrName>style.visibility</p:attrName>
                                        </p:attrNameLst>
                                      </p:cBhvr>
                                      <p:to>
                                        <p:strVal val="visible"/>
                                      </p:to>
                                    </p:set>
                                    <p:anim calcmode="lin" valueType="num">
                                      <p:cBhvr additive="base">
                                        <p:cTn id="29" dur="500" fill="hold"/>
                                        <p:tgtEl>
                                          <p:spTgt spid="9"/>
                                        </p:tgtEl>
                                        <p:attrNameLst>
                                          <p:attrName>ppt_x</p:attrName>
                                        </p:attrNameLst>
                                      </p:cBhvr>
                                      <p:tavLst>
                                        <p:tav tm="0">
                                          <p:val>
                                            <p:strVal val="#ppt_x"/>
                                          </p:val>
                                        </p:tav>
                                        <p:tav tm="100000">
                                          <p:val>
                                            <p:strVal val="#ppt_x"/>
                                          </p:val>
                                        </p:tav>
                                      </p:tavLst>
                                    </p:anim>
                                    <p:anim calcmode="lin" valueType="num">
                                      <p:cBhvr additive="base">
                                        <p:cTn id="30" dur="500" fill="hold"/>
                                        <p:tgtEl>
                                          <p:spTgt spid="9"/>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12"/>
                                        </p:tgtEl>
                                        <p:attrNameLst>
                                          <p:attrName>style.visibility</p:attrName>
                                        </p:attrNameLst>
                                      </p:cBhvr>
                                      <p:to>
                                        <p:strVal val="visible"/>
                                      </p:to>
                                    </p:set>
                                    <p:anim calcmode="lin" valueType="num">
                                      <p:cBhvr additive="base">
                                        <p:cTn id="33" dur="500" fill="hold"/>
                                        <p:tgtEl>
                                          <p:spTgt spid="12"/>
                                        </p:tgtEl>
                                        <p:attrNameLst>
                                          <p:attrName>ppt_x</p:attrName>
                                        </p:attrNameLst>
                                      </p:cBhvr>
                                      <p:tavLst>
                                        <p:tav tm="0">
                                          <p:val>
                                            <p:strVal val="#ppt_x"/>
                                          </p:val>
                                        </p:tav>
                                        <p:tav tm="100000">
                                          <p:val>
                                            <p:strVal val="#ppt_x"/>
                                          </p:val>
                                        </p:tav>
                                      </p:tavLst>
                                    </p:anim>
                                    <p:anim calcmode="lin" valueType="num">
                                      <p:cBhvr additive="base">
                                        <p:cTn id="3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13"/>
                                        </p:tgtEl>
                                        <p:attrNameLst>
                                          <p:attrName>style.visibility</p:attrName>
                                        </p:attrNameLst>
                                      </p:cBhvr>
                                      <p:to>
                                        <p:strVal val="visible"/>
                                      </p:to>
                                    </p:set>
                                    <p:anim calcmode="lin" valueType="num">
                                      <p:cBhvr additive="base">
                                        <p:cTn id="39" dur="500" fill="hold"/>
                                        <p:tgtEl>
                                          <p:spTgt spid="13"/>
                                        </p:tgtEl>
                                        <p:attrNameLst>
                                          <p:attrName>ppt_x</p:attrName>
                                        </p:attrNameLst>
                                      </p:cBhvr>
                                      <p:tavLst>
                                        <p:tav tm="0">
                                          <p:val>
                                            <p:strVal val="#ppt_x"/>
                                          </p:val>
                                        </p:tav>
                                        <p:tav tm="100000">
                                          <p:val>
                                            <p:strVal val="#ppt_x"/>
                                          </p:val>
                                        </p:tav>
                                      </p:tavLst>
                                    </p:anim>
                                    <p:anim calcmode="lin" valueType="num">
                                      <p:cBhvr additive="base">
                                        <p:cTn id="40" dur="500" fill="hold"/>
                                        <p:tgtEl>
                                          <p:spTgt spid="13"/>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15"/>
                                        </p:tgtEl>
                                        <p:attrNameLst>
                                          <p:attrName>style.visibility</p:attrName>
                                        </p:attrNameLst>
                                      </p:cBhvr>
                                      <p:to>
                                        <p:strVal val="visible"/>
                                      </p:to>
                                    </p:set>
                                    <p:anim calcmode="lin" valueType="num">
                                      <p:cBhvr additive="base">
                                        <p:cTn id="43" dur="500" fill="hold"/>
                                        <p:tgtEl>
                                          <p:spTgt spid="15"/>
                                        </p:tgtEl>
                                        <p:attrNameLst>
                                          <p:attrName>ppt_x</p:attrName>
                                        </p:attrNameLst>
                                      </p:cBhvr>
                                      <p:tavLst>
                                        <p:tav tm="0">
                                          <p:val>
                                            <p:strVal val="#ppt_x"/>
                                          </p:val>
                                        </p:tav>
                                        <p:tav tm="100000">
                                          <p:val>
                                            <p:strVal val="#ppt_x"/>
                                          </p:val>
                                        </p:tav>
                                      </p:tavLst>
                                    </p:anim>
                                    <p:anim calcmode="lin" valueType="num">
                                      <p:cBhvr additive="base">
                                        <p:cTn id="44"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16"/>
                                        </p:tgtEl>
                                        <p:attrNameLst>
                                          <p:attrName>style.visibility</p:attrName>
                                        </p:attrNameLst>
                                      </p:cBhvr>
                                      <p:to>
                                        <p:strVal val="visible"/>
                                      </p:to>
                                    </p:set>
                                    <p:anim calcmode="lin" valueType="num">
                                      <p:cBhvr additive="base">
                                        <p:cTn id="49" dur="500" fill="hold"/>
                                        <p:tgtEl>
                                          <p:spTgt spid="16"/>
                                        </p:tgtEl>
                                        <p:attrNameLst>
                                          <p:attrName>ppt_x</p:attrName>
                                        </p:attrNameLst>
                                      </p:cBhvr>
                                      <p:tavLst>
                                        <p:tav tm="0">
                                          <p:val>
                                            <p:strVal val="#ppt_x"/>
                                          </p:val>
                                        </p:tav>
                                        <p:tav tm="100000">
                                          <p:val>
                                            <p:strVal val="#ppt_x"/>
                                          </p:val>
                                        </p:tav>
                                      </p:tavLst>
                                    </p:anim>
                                    <p:anim calcmode="lin" valueType="num">
                                      <p:cBhvr additive="base">
                                        <p:cTn id="50" dur="500" fill="hold"/>
                                        <p:tgtEl>
                                          <p:spTgt spid="16"/>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18"/>
                                        </p:tgtEl>
                                        <p:attrNameLst>
                                          <p:attrName>style.visibility</p:attrName>
                                        </p:attrNameLst>
                                      </p:cBhvr>
                                      <p:to>
                                        <p:strVal val="visible"/>
                                      </p:to>
                                    </p:set>
                                    <p:anim calcmode="lin" valueType="num">
                                      <p:cBhvr additive="base">
                                        <p:cTn id="53" dur="500" fill="hold"/>
                                        <p:tgtEl>
                                          <p:spTgt spid="18"/>
                                        </p:tgtEl>
                                        <p:attrNameLst>
                                          <p:attrName>ppt_x</p:attrName>
                                        </p:attrNameLst>
                                      </p:cBhvr>
                                      <p:tavLst>
                                        <p:tav tm="0">
                                          <p:val>
                                            <p:strVal val="#ppt_x"/>
                                          </p:val>
                                        </p:tav>
                                        <p:tav tm="100000">
                                          <p:val>
                                            <p:strVal val="#ppt_x"/>
                                          </p:val>
                                        </p:tav>
                                      </p:tavLst>
                                    </p:anim>
                                    <p:anim calcmode="lin" valueType="num">
                                      <p:cBhvr additive="base">
                                        <p:cTn id="54"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3" grpId="0"/>
      <p:bldP spid="78853" grpId="1"/>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 name="文本框 44"/>
          <p:cNvSpPr txBox="1"/>
          <p:nvPr/>
        </p:nvSpPr>
        <p:spPr>
          <a:xfrm>
            <a:off x="406400" y="-19050"/>
            <a:ext cx="2681288" cy="830263"/>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问题研讨：</a:t>
            </a:r>
            <a:endParaRPr kumimoji="0" lang="zh-CN" altLang="en-US" sz="3200" kern="1200" cap="none" spc="0" normalizeH="0" baseline="0" noProof="0" dirty="0">
              <a:latin typeface="Arial" panose="020B0604020202020204" pitchFamily="34" charset="0"/>
              <a:ea typeface="宋体" panose="02010600030101010101" pitchFamily="2" charset="-122"/>
              <a:cs typeface="+mn-cs"/>
            </a:endParaRPr>
          </a:p>
        </p:txBody>
      </p:sp>
      <p:sp>
        <p:nvSpPr>
          <p:cNvPr id="118787" name="文本框 99"/>
          <p:cNvSpPr txBox="1"/>
          <p:nvPr/>
        </p:nvSpPr>
        <p:spPr>
          <a:xfrm>
            <a:off x="406400" y="1014730"/>
            <a:ext cx="8601075" cy="51720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200"/>
              </a:spcBef>
              <a:buClrTx/>
              <a:buSzTx/>
              <a:buFont typeface="Arial" panose="020B0604020202020204" pitchFamily="34" charset="0"/>
              <a:buNone/>
            </a:pPr>
            <a:r>
              <a:rPr lang="en-US" altLang="zh-CN" sz="2200" dirty="0">
                <a:latin typeface="Calibri" panose="020F0502020204030204" pitchFamily="34" charset="0"/>
                <a:cs typeface="Times New Roman" panose="02020603050405020304" pitchFamily="2" charset="0"/>
              </a:rPr>
              <a:t>1</a:t>
            </a:r>
            <a:r>
              <a:rPr lang="zh-CN" altLang="zh-CN" sz="2200" dirty="0">
                <a:latin typeface="Calibri" panose="020F0502020204030204" pitchFamily="34" charset="0"/>
              </a:rPr>
              <a:t>、SELECT COUNT(SAL) FROM EMP GROUP BY DEPTNO；语义是</a:t>
            </a:r>
            <a:r>
              <a:rPr lang="zh-CN" altLang="zh-CN" dirty="0">
                <a:latin typeface="Calibri" panose="020F0502020204030204" pitchFamily="34" charset="0"/>
              </a:rPr>
              <a:t>（      ）</a:t>
            </a:r>
            <a:endParaRPr lang="zh-CN" altLang="zh-CN" dirty="0">
              <a:latin typeface="Calibri" panose="020F0502020204030204" pitchFamily="34" charset="0"/>
            </a:endParaRPr>
          </a:p>
          <a:p>
            <a:pPr marL="0" lvl="0" indent="0" eaLnBrk="1" hangingPunct="1">
              <a:lnSpc>
                <a:spcPct val="110000"/>
              </a:lnSpc>
              <a:spcBef>
                <a:spcPts val="200"/>
              </a:spcBef>
              <a:buClrTx/>
              <a:buSzTx/>
              <a:buFont typeface="Arial" panose="020B0604020202020204" pitchFamily="34" charset="0"/>
              <a:buNone/>
            </a:pPr>
            <a:r>
              <a:rPr lang="zh-CN" altLang="zh-CN" dirty="0">
                <a:latin typeface="Calibri" panose="020F0502020204030204" pitchFamily="34" charset="0"/>
              </a:rPr>
              <a:t>A. 求每个部门中的工资                           B. 求每个部门中工资的大小</a:t>
            </a:r>
            <a:endParaRPr lang="zh-CN" altLang="zh-CN" dirty="0">
              <a:latin typeface="Calibri" panose="020F0502020204030204" pitchFamily="34" charset="0"/>
            </a:endParaRPr>
          </a:p>
          <a:p>
            <a:pPr marL="0" lvl="0" indent="0" eaLnBrk="1" hangingPunct="1">
              <a:lnSpc>
                <a:spcPct val="110000"/>
              </a:lnSpc>
              <a:spcBef>
                <a:spcPts val="200"/>
              </a:spcBef>
              <a:buClrTx/>
              <a:buSzTx/>
              <a:buFont typeface="Arial" panose="020B0604020202020204" pitchFamily="34" charset="0"/>
              <a:buNone/>
            </a:pPr>
            <a:r>
              <a:rPr lang="zh-CN" altLang="zh-CN" dirty="0">
                <a:latin typeface="Calibri" panose="020F0502020204030204" pitchFamily="34" charset="0"/>
              </a:rPr>
              <a:t>C. 求每个部门中的工资的总和              D. 求每个部门中的工资的个数</a:t>
            </a:r>
            <a:endParaRPr lang="zh-CN" altLang="zh-CN" dirty="0">
              <a:latin typeface="Calibri" panose="020F0502020204030204" pitchFamily="34" charset="0"/>
            </a:endParaRPr>
          </a:p>
          <a:p>
            <a:pPr marL="0" lvl="0" indent="0" eaLnBrk="1" hangingPunct="1">
              <a:lnSpc>
                <a:spcPct val="110000"/>
              </a:lnSpc>
              <a:spcBef>
                <a:spcPts val="200"/>
              </a:spcBef>
              <a:buClrTx/>
              <a:buSzTx/>
              <a:buFont typeface="Arial" panose="020B0604020202020204" pitchFamily="34" charset="0"/>
              <a:buNone/>
            </a:pPr>
            <a:r>
              <a:rPr lang="en-US" altLang="zh-CN" dirty="0"/>
              <a:t>2</a:t>
            </a:r>
            <a:r>
              <a:rPr lang="zh-CN" altLang="en-US" dirty="0"/>
              <a:t>、下列说法错误的是（     ）</a:t>
            </a:r>
            <a:endParaRPr lang="zh-CN" altLang="en-US" dirty="0"/>
          </a:p>
          <a:p>
            <a:pPr marL="0" lvl="0" indent="0" eaLnBrk="1" hangingPunct="1">
              <a:lnSpc>
                <a:spcPct val="110000"/>
              </a:lnSpc>
              <a:spcBef>
                <a:spcPts val="200"/>
              </a:spcBef>
              <a:buClrTx/>
              <a:buSzTx/>
              <a:buFont typeface="Arial" panose="020B0604020202020204" pitchFamily="34" charset="0"/>
              <a:buNone/>
            </a:pPr>
            <a:r>
              <a:rPr lang="zh-CN" altLang="en-US" b="0" dirty="0"/>
              <a:t>A. GROUP BY子句用来分组WHERE子句的输出</a:t>
            </a:r>
            <a:endParaRPr lang="zh-CN" altLang="en-US" b="0" dirty="0"/>
          </a:p>
          <a:p>
            <a:pPr marL="0" lvl="0" indent="0" eaLnBrk="1" hangingPunct="1">
              <a:lnSpc>
                <a:spcPct val="110000"/>
              </a:lnSpc>
              <a:spcBef>
                <a:spcPts val="200"/>
              </a:spcBef>
              <a:buClrTx/>
              <a:buSzTx/>
              <a:buFont typeface="Arial" panose="020B0604020202020204" pitchFamily="34" charset="0"/>
              <a:buNone/>
            </a:pPr>
            <a:r>
              <a:rPr lang="zh-CN" altLang="en-US" b="0" dirty="0"/>
              <a:t>B. WHERE子句用来筛选FROM子句中指定的操作所产生的行</a:t>
            </a:r>
            <a:endParaRPr lang="zh-CN" altLang="en-US" b="0" dirty="0"/>
          </a:p>
          <a:p>
            <a:pPr marL="0" lvl="0" indent="0" eaLnBrk="1" hangingPunct="1">
              <a:lnSpc>
                <a:spcPct val="110000"/>
              </a:lnSpc>
              <a:spcBef>
                <a:spcPts val="200"/>
              </a:spcBef>
              <a:buClrTx/>
              <a:buSzTx/>
              <a:buFont typeface="Arial" panose="020B0604020202020204" pitchFamily="34" charset="0"/>
              <a:buNone/>
            </a:pPr>
            <a:r>
              <a:rPr lang="zh-CN" altLang="en-US" b="0" dirty="0"/>
              <a:t>C. 聚合函数</a:t>
            </a:r>
            <a:r>
              <a:rPr lang="zh-CN" altLang="en-US" b="0" dirty="0"/>
              <a:t>可以和group by一起使用</a:t>
            </a:r>
            <a:endParaRPr lang="zh-CN" altLang="en-US" b="0" dirty="0"/>
          </a:p>
          <a:p>
            <a:pPr marL="0" lvl="0" indent="0" eaLnBrk="1" hangingPunct="1">
              <a:lnSpc>
                <a:spcPct val="110000"/>
              </a:lnSpc>
              <a:spcBef>
                <a:spcPts val="200"/>
              </a:spcBef>
              <a:buClrTx/>
              <a:buSzTx/>
              <a:buFont typeface="Arial" panose="020B0604020202020204" pitchFamily="34" charset="0"/>
              <a:buNone/>
            </a:pPr>
            <a:r>
              <a:rPr lang="zh-CN" altLang="en-US" b="0" dirty="0"/>
              <a:t>D. HAVING子句用来从FROM的结果中筛选行</a:t>
            </a:r>
            <a:endParaRPr lang="zh-CN" altLang="en-US" b="0" dirty="0"/>
          </a:p>
          <a:p>
            <a:pPr marL="0" lvl="0" indent="0" eaLnBrk="1" hangingPunct="1">
              <a:lnSpc>
                <a:spcPct val="110000"/>
              </a:lnSpc>
              <a:spcBef>
                <a:spcPts val="200"/>
              </a:spcBef>
              <a:buClrTx/>
              <a:buSzTx/>
              <a:buFont typeface="Arial" panose="020B0604020202020204" pitchFamily="34" charset="0"/>
              <a:buNone/>
            </a:pPr>
            <a:r>
              <a:rPr lang="en-US" altLang="zh-CN" b="0" dirty="0"/>
              <a:t>3</a:t>
            </a:r>
            <a:r>
              <a:rPr lang="zh-CN" altLang="en-US" b="0" dirty="0"/>
              <a:t>、</a:t>
            </a:r>
            <a:r>
              <a:rPr lang="zh-CN" altLang="en-US" dirty="0"/>
              <a:t>若选课表A包含学生、学科和成绩三个字段，如何统计最高分&gt;80分的学科</a:t>
            </a:r>
            <a:r>
              <a:rPr lang="zh-CN" altLang="en-US" b="0" dirty="0"/>
              <a:t>（     ）</a:t>
            </a:r>
            <a:endParaRPr lang="zh-CN" altLang="en-US" b="0" dirty="0"/>
          </a:p>
          <a:p>
            <a:pPr marL="0" lvl="0" indent="0" eaLnBrk="1" hangingPunct="1">
              <a:lnSpc>
                <a:spcPct val="110000"/>
              </a:lnSpc>
              <a:spcBef>
                <a:spcPts val="200"/>
              </a:spcBef>
              <a:buClrTx/>
              <a:buSzTx/>
              <a:buFont typeface="Arial" panose="020B0604020202020204" pitchFamily="34" charset="0"/>
              <a:buNone/>
            </a:pPr>
            <a:r>
              <a:rPr lang="zh-CN" altLang="en-US" b="0" dirty="0"/>
              <a:t>A. SELECT MAX(成绩) FROM A GROUP BY 学科 HAVING MAX(成绩)&gt;80</a:t>
            </a:r>
            <a:endParaRPr lang="zh-CN" altLang="en-US" b="0" dirty="0"/>
          </a:p>
          <a:p>
            <a:pPr marL="0" lvl="0" indent="0" eaLnBrk="1" hangingPunct="1">
              <a:lnSpc>
                <a:spcPct val="110000"/>
              </a:lnSpc>
              <a:spcBef>
                <a:spcPts val="200"/>
              </a:spcBef>
              <a:buClrTx/>
              <a:buSzTx/>
              <a:buFont typeface="Arial" panose="020B0604020202020204" pitchFamily="34" charset="0"/>
              <a:buNone/>
            </a:pPr>
            <a:r>
              <a:rPr lang="zh-CN" altLang="en-US" b="0" dirty="0"/>
              <a:t>B. SELECT 学科 FROM A GROUP BY 学科 HAVING 成绩&gt;80</a:t>
            </a:r>
            <a:endParaRPr lang="zh-CN" altLang="en-US" b="0" dirty="0"/>
          </a:p>
          <a:p>
            <a:pPr marL="0" lvl="0" indent="0" eaLnBrk="1" hangingPunct="1">
              <a:lnSpc>
                <a:spcPct val="110000"/>
              </a:lnSpc>
              <a:spcBef>
                <a:spcPts val="200"/>
              </a:spcBef>
              <a:buClrTx/>
              <a:buSzTx/>
              <a:buFont typeface="Arial" panose="020B0604020202020204" pitchFamily="34" charset="0"/>
              <a:buNone/>
            </a:pPr>
            <a:r>
              <a:rPr lang="zh-CN" altLang="en-US" b="0" dirty="0"/>
              <a:t>C. SELECT 学科 FROM A GROUP BY 学科 HAVING MAX(成绩)&gt;80</a:t>
            </a:r>
            <a:endParaRPr lang="zh-CN" altLang="en-US" b="0" dirty="0"/>
          </a:p>
          <a:p>
            <a:pPr marL="0" lvl="0" indent="0" eaLnBrk="1" hangingPunct="1">
              <a:lnSpc>
                <a:spcPct val="110000"/>
              </a:lnSpc>
              <a:spcBef>
                <a:spcPts val="200"/>
              </a:spcBef>
              <a:buClrTx/>
              <a:buSzTx/>
              <a:buFont typeface="Arial" panose="020B0604020202020204" pitchFamily="34" charset="0"/>
              <a:buNone/>
            </a:pPr>
            <a:r>
              <a:rPr lang="zh-CN" altLang="en-US" b="0" dirty="0"/>
              <a:t>D. SELECT 学科 FROM A GROUP BY 学科 WHERE MAX(成绩)&gt;80</a:t>
            </a:r>
            <a:endParaRPr lang="zh-CN" altLang="en-US" b="0" dirty="0"/>
          </a:p>
        </p:txBody>
      </p:sp>
      <p:sp>
        <p:nvSpPr>
          <p:cNvPr id="2" name="文本框 1"/>
          <p:cNvSpPr txBox="1"/>
          <p:nvPr/>
        </p:nvSpPr>
        <p:spPr>
          <a:xfrm>
            <a:off x="8209915" y="1014413"/>
            <a:ext cx="384175" cy="590550"/>
          </a:xfrm>
          <a:prstGeom prst="rect">
            <a:avLst/>
          </a:prstGeom>
          <a:noFill/>
        </p:spPr>
        <p:txBody>
          <a:bodyPr>
            <a:spAutoFit/>
          </a:bodyPr>
          <a:lstStyle/>
          <a:p>
            <a:pPr marR="0" defTabSz="914400" eaLnBrk="1" hangingPunct="1">
              <a:buClrTx/>
              <a:buSzTx/>
              <a:buFont typeface="Arial" panose="020B0604020202020204" pitchFamily="34" charset="0"/>
              <a:buNone/>
              <a:defRPr/>
            </a:pPr>
            <a:r>
              <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D</a:t>
            </a:r>
            <a:endPar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endParaRPr>
          </a:p>
        </p:txBody>
      </p:sp>
      <p:sp>
        <p:nvSpPr>
          <p:cNvPr id="4" name="文本框 3"/>
          <p:cNvSpPr txBox="1"/>
          <p:nvPr/>
        </p:nvSpPr>
        <p:spPr>
          <a:xfrm>
            <a:off x="3232785" y="2070100"/>
            <a:ext cx="384175" cy="588963"/>
          </a:xfrm>
          <a:prstGeom prst="rect">
            <a:avLst/>
          </a:prstGeom>
          <a:noFill/>
        </p:spPr>
        <p:txBody>
          <a:bodyPr>
            <a:spAutoFit/>
          </a:bodyPr>
          <a:lstStyle/>
          <a:p>
            <a:pPr marR="0" defTabSz="914400" eaLnBrk="1" hangingPunct="1">
              <a:buClrTx/>
              <a:buSzTx/>
              <a:buFont typeface="Arial" panose="020B0604020202020204" pitchFamily="34" charset="0"/>
              <a:buNone/>
              <a:defRPr/>
            </a:pPr>
            <a:r>
              <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D</a:t>
            </a:r>
            <a:endParaRPr kumimoji="0" lang="en-US" altLang="zh-CN" sz="2400" kern="1200" cap="none" spc="0" normalizeH="0" baseline="0" noProof="0" dirty="0">
              <a:latin typeface="Arial" panose="020B0604020202020204" pitchFamily="34" charset="0"/>
              <a:ea typeface="宋体" panose="02010600030101010101" pitchFamily="2" charset="-122"/>
              <a:cs typeface="+mn-cs"/>
            </a:endParaRPr>
          </a:p>
        </p:txBody>
      </p:sp>
      <p:sp>
        <p:nvSpPr>
          <p:cNvPr id="6" name="文本框 5"/>
          <p:cNvSpPr txBox="1"/>
          <p:nvPr/>
        </p:nvSpPr>
        <p:spPr>
          <a:xfrm flipH="1">
            <a:off x="1043305" y="4244975"/>
            <a:ext cx="349250" cy="588963"/>
          </a:xfrm>
          <a:prstGeom prst="rect">
            <a:avLst/>
          </a:prstGeom>
          <a:noFill/>
        </p:spPr>
        <p:txBody>
          <a:bodyPr>
            <a:spAutoFit/>
          </a:bodyPr>
          <a:lstStyle/>
          <a:p>
            <a:pPr marR="0" defTabSz="914400" eaLnBrk="1" hangingPunct="1">
              <a:buClrTx/>
              <a:buSzTx/>
              <a:buFont typeface="Arial" panose="020B0604020202020204" pitchFamily="34" charset="0"/>
              <a:buNone/>
              <a:defRPr/>
            </a:pPr>
            <a:r>
              <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C</a:t>
            </a:r>
            <a:endPar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6" grpId="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9854" name="文本框 10"/>
          <p:cNvSpPr txBox="1"/>
          <p:nvPr/>
        </p:nvSpPr>
        <p:spPr>
          <a:xfrm>
            <a:off x="604838" y="860425"/>
            <a:ext cx="4330700" cy="5524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ct val="0"/>
              </a:spcBef>
              <a:buClrTx/>
              <a:buSzTx/>
              <a:buFont typeface="Arial" panose="020B0604020202020204" pitchFamily="34" charset="0"/>
              <a:buNone/>
            </a:pPr>
            <a:r>
              <a:rPr lang="en-US" altLang="zh-CN" sz="2400" dirty="0">
                <a:sym typeface="+mn-ea"/>
              </a:rPr>
              <a:t>4</a:t>
            </a:r>
            <a:r>
              <a:rPr lang="zh-CN" altLang="en-US" sz="2400" dirty="0">
                <a:sym typeface="+mn-ea"/>
              </a:rPr>
              <a:t>、设学生数据库有如下关系：</a:t>
            </a:r>
            <a:endParaRPr lang="zh-CN" altLang="en-US" sz="2400" dirty="0">
              <a:sym typeface="+mn-ea"/>
            </a:endParaRPr>
          </a:p>
        </p:txBody>
      </p:sp>
      <p:sp>
        <p:nvSpPr>
          <p:cNvPr id="119855" name="文本框 1"/>
          <p:cNvSpPr txBox="1"/>
          <p:nvPr/>
        </p:nvSpPr>
        <p:spPr>
          <a:xfrm>
            <a:off x="519748" y="2897505"/>
            <a:ext cx="8310562" cy="7683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sym typeface="+mn-ea"/>
              </a:rPr>
              <a:t>（</a:t>
            </a:r>
            <a:r>
              <a:rPr lang="en-US" altLang="zh-CN" sz="2200" dirty="0">
                <a:sym typeface="+mn-ea"/>
              </a:rPr>
              <a:t>1</a:t>
            </a:r>
            <a:r>
              <a:rPr lang="zh-CN" altLang="en-US" sz="2200" dirty="0">
                <a:sym typeface="+mn-ea"/>
              </a:rPr>
              <a:t>）查询所有同学的学号、姓名、选课数、总成绩</a:t>
            </a:r>
            <a:endParaRPr lang="zh-CN" altLang="en-US" sz="2200" dirty="0"/>
          </a:p>
          <a:p>
            <a:pPr marL="0" lvl="0" indent="0" eaLnBrk="1" hangingPunct="1">
              <a:spcBef>
                <a:spcPct val="0"/>
              </a:spcBef>
              <a:buClrTx/>
              <a:buSzTx/>
              <a:buFont typeface="Arial" panose="020B0604020202020204" pitchFamily="34" charset="0"/>
              <a:buNone/>
            </a:pPr>
            <a:endParaRPr lang="zh-CN" altLang="en-US" sz="2200" dirty="0"/>
          </a:p>
        </p:txBody>
      </p:sp>
      <p:sp>
        <p:nvSpPr>
          <p:cNvPr id="12" name="文本框 11"/>
          <p:cNvSpPr txBox="1"/>
          <p:nvPr/>
        </p:nvSpPr>
        <p:spPr>
          <a:xfrm>
            <a:off x="674370" y="3298190"/>
            <a:ext cx="8156575" cy="768350"/>
          </a:xfrm>
          <a:prstGeom prst="rect">
            <a:avLst/>
          </a:prstGeom>
          <a:noFill/>
        </p:spPr>
        <p:txBody>
          <a:bodyPr>
            <a:spAutoFit/>
          </a:bodyPr>
          <a:lstStyle/>
          <a:p>
            <a:pPr marR="0" defTabSz="914400" eaLnBrk="1" hangingPunct="1">
              <a:spcBef>
                <a:spcPts val="0"/>
              </a:spcBef>
              <a:spcAft>
                <a:spcPts val="0"/>
              </a:spcAft>
              <a:buClrTx/>
              <a:buSzTx/>
              <a:buFont typeface="Arial" panose="020B0604020202020204" pitchFamily="34" charset="0"/>
              <a:buNone/>
              <a:defRPr/>
            </a:pPr>
            <a:r>
              <a:rPr kumimoji="0" sz="2200" kern="1200" cap="none" spc="0" normalizeH="0" baseline="0" noProof="0">
                <a:latin typeface="Arial" panose="020B0604020202020204" pitchFamily="34" charset="0"/>
                <a:ea typeface="宋体" panose="02010600030101010101" pitchFamily="2" charset="-122"/>
                <a:cs typeface="+mn-cs"/>
                <a:sym typeface="+mn-ea"/>
              </a:rPr>
              <a:t>select s.sid,s.sname,</a:t>
            </a:r>
            <a:r>
              <a:rPr kumimoji="0" sz="22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count(c.cid),sum(c.mark)</a:t>
            </a:r>
            <a:r>
              <a:rPr kumimoji="0" sz="2200" kern="1200" cap="none" spc="0" normalizeH="0" baseline="0" noProof="0">
                <a:latin typeface="Arial" panose="020B0604020202020204" pitchFamily="34" charset="0"/>
                <a:ea typeface="宋体" panose="02010600030101010101" pitchFamily="2" charset="-122"/>
                <a:cs typeface="+mn-cs"/>
                <a:sym typeface="+mn-ea"/>
              </a:rPr>
              <a:t> </a:t>
            </a:r>
            <a:r>
              <a:rPr kumimoji="0" sz="2200" kern="1200" cap="none" spc="0" normalizeH="0" baseline="0" noProof="0">
                <a:solidFill>
                  <a:srgbClr val="0000FF"/>
                </a:solidFill>
                <a:latin typeface="Arial" panose="020B0604020202020204" pitchFamily="34" charset="0"/>
                <a:ea typeface="宋体" panose="02010600030101010101" pitchFamily="2" charset="-122"/>
                <a:cs typeface="+mn-cs"/>
                <a:sym typeface="+mn-ea"/>
              </a:rPr>
              <a:t>from stu s left join ctake c on s.sid=c.sid</a:t>
            </a:r>
            <a:r>
              <a:rPr kumimoji="0" sz="2200" kern="1200" cap="none" spc="0" normalizeH="0" baseline="0" noProof="0">
                <a:latin typeface="Arial" panose="020B0604020202020204" pitchFamily="34" charset="0"/>
                <a:ea typeface="宋体" panose="02010600030101010101" pitchFamily="2" charset="-122"/>
                <a:cs typeface="+mn-cs"/>
                <a:sym typeface="+mn-ea"/>
              </a:rPr>
              <a:t> </a:t>
            </a:r>
            <a:r>
              <a:rPr kumimoji="0" sz="22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group by s.sid,s.sname</a:t>
            </a:r>
            <a:endParaRPr kumimoji="0" sz="2200" kern="1200" cap="none" spc="0" normalizeH="0" baseline="0" noProof="0">
              <a:solidFill>
                <a:srgbClr val="FF0000"/>
              </a:solidFill>
              <a:latin typeface="Arial" panose="020B0604020202020204" pitchFamily="34" charset="0"/>
              <a:ea typeface="宋体" panose="02010600030101010101" pitchFamily="2" charset="-122"/>
              <a:cs typeface="+mn-cs"/>
              <a:sym typeface="+mn-ea"/>
            </a:endParaRPr>
          </a:p>
        </p:txBody>
      </p:sp>
      <p:sp>
        <p:nvSpPr>
          <p:cNvPr id="13" name="文本框 12"/>
          <p:cNvSpPr txBox="1"/>
          <p:nvPr/>
        </p:nvSpPr>
        <p:spPr>
          <a:xfrm>
            <a:off x="605155" y="4094480"/>
            <a:ext cx="8225155" cy="110680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sym typeface="+mn-ea"/>
              </a:rPr>
              <a:t>select s.s</a:t>
            </a:r>
            <a:r>
              <a:rPr lang="en-US" altLang="zh-CN" sz="2200" dirty="0">
                <a:sym typeface="+mn-ea"/>
              </a:rPr>
              <a:t>id</a:t>
            </a:r>
            <a:r>
              <a:rPr lang="zh-CN" altLang="en-US" sz="2200" dirty="0">
                <a:sym typeface="+mn-ea"/>
              </a:rPr>
              <a:t>,s.sname,t.cno_count,t.total_score from stu s    left join</a:t>
            </a:r>
            <a:r>
              <a:rPr lang="zh-CN" altLang="en-US" sz="2200" dirty="0">
                <a:solidFill>
                  <a:srgbClr val="C00000"/>
                </a:solidFill>
                <a:sym typeface="+mn-ea"/>
              </a:rPr>
              <a:t> ( select s</a:t>
            </a:r>
            <a:r>
              <a:rPr lang="en-US" altLang="zh-CN" sz="2200" dirty="0">
                <a:solidFill>
                  <a:srgbClr val="C00000"/>
                </a:solidFill>
                <a:sym typeface="+mn-ea"/>
              </a:rPr>
              <a:t>id</a:t>
            </a:r>
            <a:r>
              <a:rPr lang="zh-CN" altLang="en-US" sz="2200" dirty="0">
                <a:solidFill>
                  <a:srgbClr val="C00000"/>
                </a:solidFill>
                <a:sym typeface="+mn-ea"/>
              </a:rPr>
              <a:t>, count(c</a:t>
            </a:r>
            <a:r>
              <a:rPr lang="en-US" altLang="zh-CN" sz="2200" dirty="0">
                <a:solidFill>
                  <a:srgbClr val="C00000"/>
                </a:solidFill>
                <a:sym typeface="+mn-ea"/>
              </a:rPr>
              <a:t>id</a:t>
            </a:r>
            <a:r>
              <a:rPr lang="zh-CN" altLang="en-US" sz="2200" dirty="0">
                <a:solidFill>
                  <a:srgbClr val="C00000"/>
                </a:solidFill>
                <a:sym typeface="+mn-ea"/>
              </a:rPr>
              <a:t>) cno_count, sum(</a:t>
            </a:r>
            <a:r>
              <a:rPr lang="en-US" altLang="zh-CN" sz="2200" dirty="0">
                <a:solidFill>
                  <a:srgbClr val="C00000"/>
                </a:solidFill>
                <a:sym typeface="+mn-ea"/>
              </a:rPr>
              <a:t>mark</a:t>
            </a:r>
            <a:r>
              <a:rPr lang="zh-CN" altLang="en-US" sz="2200" dirty="0">
                <a:solidFill>
                  <a:srgbClr val="C00000"/>
                </a:solidFill>
                <a:sym typeface="+mn-ea"/>
              </a:rPr>
              <a:t>) total_score from </a:t>
            </a:r>
            <a:r>
              <a:rPr lang="en-US" altLang="zh-CN" sz="2200" dirty="0">
                <a:solidFill>
                  <a:srgbClr val="C00000"/>
                </a:solidFill>
                <a:sym typeface="+mn-ea"/>
              </a:rPr>
              <a:t>ctake </a:t>
            </a:r>
            <a:r>
              <a:rPr lang="zh-CN" altLang="en-US" sz="2200" dirty="0">
                <a:solidFill>
                  <a:srgbClr val="C00000"/>
                </a:solidFill>
                <a:sym typeface="+mn-ea"/>
              </a:rPr>
              <a:t>sc group by s</a:t>
            </a:r>
            <a:r>
              <a:rPr lang="en-US" altLang="zh-CN" sz="2200" dirty="0">
                <a:solidFill>
                  <a:srgbClr val="C00000"/>
                </a:solidFill>
                <a:sym typeface="+mn-ea"/>
              </a:rPr>
              <a:t>id</a:t>
            </a:r>
            <a:r>
              <a:rPr lang="zh-CN" altLang="en-US" sz="2200" dirty="0">
                <a:solidFill>
                  <a:srgbClr val="C00000"/>
                </a:solidFill>
                <a:sym typeface="+mn-ea"/>
              </a:rPr>
              <a:t>) </a:t>
            </a:r>
            <a:r>
              <a:rPr lang="zh-CN" altLang="en-US" sz="2200" dirty="0">
                <a:sym typeface="+mn-ea"/>
              </a:rPr>
              <a:t>t on s.s</a:t>
            </a:r>
            <a:r>
              <a:rPr lang="en-US" altLang="zh-CN" sz="2200" dirty="0">
                <a:sym typeface="+mn-ea"/>
              </a:rPr>
              <a:t>id</a:t>
            </a:r>
            <a:r>
              <a:rPr lang="zh-CN" altLang="en-US" sz="2200" dirty="0">
                <a:sym typeface="+mn-ea"/>
              </a:rPr>
              <a:t>=t.s</a:t>
            </a:r>
            <a:r>
              <a:rPr lang="en-US" altLang="zh-CN" sz="2200" dirty="0">
                <a:sym typeface="+mn-ea"/>
              </a:rPr>
              <a:t>id</a:t>
            </a:r>
            <a:endParaRPr lang="en-US" altLang="zh-CN" sz="2200" dirty="0">
              <a:sym typeface="+mn-ea"/>
            </a:endParaRPr>
          </a:p>
        </p:txBody>
      </p:sp>
      <p:sp>
        <p:nvSpPr>
          <p:cNvPr id="119858" name="文本框 13"/>
          <p:cNvSpPr txBox="1"/>
          <p:nvPr/>
        </p:nvSpPr>
        <p:spPr>
          <a:xfrm>
            <a:off x="446088" y="5284470"/>
            <a:ext cx="7038975" cy="42989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sym typeface="+mn-ea"/>
              </a:rPr>
              <a:t>（</a:t>
            </a:r>
            <a:r>
              <a:rPr lang="en-US" altLang="zh-CN" sz="2200" dirty="0">
                <a:sym typeface="+mn-ea"/>
              </a:rPr>
              <a:t>2</a:t>
            </a:r>
            <a:r>
              <a:rPr lang="zh-CN" altLang="en-US" sz="2200" dirty="0">
                <a:sym typeface="+mn-ea"/>
              </a:rPr>
              <a:t>）查询姓“刘”的学生的个数；</a:t>
            </a:r>
            <a:endParaRPr lang="en-US" altLang="zh-CN" sz="2200" dirty="0"/>
          </a:p>
        </p:txBody>
      </p:sp>
      <p:sp>
        <p:nvSpPr>
          <p:cNvPr id="15" name="文本框 14"/>
          <p:cNvSpPr txBox="1"/>
          <p:nvPr/>
        </p:nvSpPr>
        <p:spPr>
          <a:xfrm>
            <a:off x="695325" y="5721985"/>
            <a:ext cx="6468110" cy="42989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sym typeface="+mn-ea"/>
              </a:rPr>
              <a:t>select count(*) from</a:t>
            </a:r>
            <a:r>
              <a:rPr lang="en-US" altLang="zh-CN" sz="2200" dirty="0">
                <a:sym typeface="+mn-ea"/>
              </a:rPr>
              <a:t> stu</a:t>
            </a:r>
            <a:r>
              <a:rPr lang="zh-CN" altLang="en-US" sz="2200" dirty="0">
                <a:sym typeface="+mn-ea"/>
              </a:rPr>
              <a:t> </a:t>
            </a:r>
            <a:r>
              <a:rPr lang="zh-CN" altLang="en-US" sz="2200" dirty="0">
                <a:solidFill>
                  <a:srgbClr val="C00000"/>
                </a:solidFill>
                <a:sym typeface="+mn-ea"/>
              </a:rPr>
              <a:t>where </a:t>
            </a:r>
            <a:r>
              <a:rPr lang="en-US" altLang="zh-CN" sz="2200" dirty="0">
                <a:solidFill>
                  <a:srgbClr val="C00000"/>
                </a:solidFill>
                <a:sym typeface="+mn-ea"/>
              </a:rPr>
              <a:t>S</a:t>
            </a:r>
            <a:r>
              <a:rPr lang="zh-CN" altLang="en-US" sz="2200" dirty="0">
                <a:solidFill>
                  <a:srgbClr val="C00000"/>
                </a:solidFill>
                <a:sym typeface="+mn-ea"/>
              </a:rPr>
              <a:t>name like </a:t>
            </a:r>
            <a:r>
              <a:rPr lang="en-US" altLang="zh-CN" sz="2200" dirty="0">
                <a:solidFill>
                  <a:srgbClr val="C00000"/>
                </a:solidFill>
                <a:sym typeface="+mn-ea"/>
              </a:rPr>
              <a:t>'</a:t>
            </a:r>
            <a:r>
              <a:rPr lang="zh-CN" altLang="en-US" sz="2200" dirty="0">
                <a:solidFill>
                  <a:srgbClr val="C00000"/>
                </a:solidFill>
                <a:sym typeface="+mn-ea"/>
              </a:rPr>
              <a:t>刘%</a:t>
            </a:r>
            <a:r>
              <a:rPr lang="en-US" altLang="zh-CN" sz="2200" dirty="0">
                <a:solidFill>
                  <a:srgbClr val="C00000"/>
                </a:solidFill>
                <a:sym typeface="+mn-ea"/>
              </a:rPr>
              <a:t>'</a:t>
            </a:r>
            <a:endParaRPr lang="en-US" altLang="zh-CN" sz="2200" dirty="0">
              <a:solidFill>
                <a:srgbClr val="C00000"/>
              </a:solidFill>
              <a:sym typeface="+mn-ea"/>
            </a:endParaRPr>
          </a:p>
        </p:txBody>
      </p:sp>
      <p:sp>
        <p:nvSpPr>
          <p:cNvPr id="16" name="文本框 15"/>
          <p:cNvSpPr txBox="1"/>
          <p:nvPr/>
        </p:nvSpPr>
        <p:spPr>
          <a:xfrm>
            <a:off x="406400" y="-19050"/>
            <a:ext cx="2681288" cy="830263"/>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问题研讨：</a:t>
            </a:r>
            <a:endParaRPr kumimoji="0" lang="zh-CN" altLang="en-US" sz="3200" kern="1200" cap="none" spc="0" normalizeH="0" baseline="0" noProof="0" dirty="0">
              <a:latin typeface="Arial" panose="020B0604020202020204" pitchFamily="34" charset="0"/>
              <a:ea typeface="宋体" panose="02010600030101010101" pitchFamily="2" charset="-122"/>
              <a:cs typeface="+mn-cs"/>
            </a:endParaRPr>
          </a:p>
        </p:txBody>
      </p:sp>
      <p:graphicFrame>
        <p:nvGraphicFramePr>
          <p:cNvPr id="2" name="表格 1"/>
          <p:cNvGraphicFramePr/>
          <p:nvPr/>
        </p:nvGraphicFramePr>
        <p:xfrm>
          <a:off x="2159000" y="1477328"/>
          <a:ext cx="4519613" cy="381000"/>
        </p:xfrm>
        <a:graphic>
          <a:graphicData uri="http://schemas.openxmlformats.org/drawingml/2006/table">
            <a:tbl>
              <a:tblPr firstRow="1" bandRow="1">
                <a:tableStyleId>{5C22544A-7EE6-4342-B048-85BDC9FD1C3A}</a:tableStyleId>
              </a:tblPr>
              <a:tblGrid>
                <a:gridCol w="1067845"/>
                <a:gridCol w="1224657"/>
                <a:gridCol w="1124348"/>
                <a:gridCol w="1102763"/>
              </a:tblGrid>
              <a:tr h="381000">
                <a:tc>
                  <a:txBody>
                    <a:bodyPr/>
                    <a:lstStyle/>
                    <a:p>
                      <a:pPr>
                        <a:buNone/>
                      </a:pPr>
                      <a:r>
                        <a:rPr lang="zh-CN" altLang="en-US" sz="2000" u="sng">
                          <a:solidFill>
                            <a:schemeClr val="tx1"/>
                          </a:solidFill>
                        </a:rPr>
                        <a:t>sno</a:t>
                      </a:r>
                      <a:endParaRPr lang="zh-CN" altLang="en-US" sz="2000" u="sng">
                        <a:solidFill>
                          <a:schemeClr val="tx1"/>
                        </a:solidFill>
                      </a:endParaRPr>
                    </a:p>
                  </a:txBody>
                  <a:tcPr marL="91421" marR="91421"/>
                </a:tc>
                <a:tc>
                  <a:txBody>
                    <a:bodyPr/>
                    <a:lstStyle/>
                    <a:p>
                      <a:pPr>
                        <a:buNone/>
                      </a:pPr>
                      <a:r>
                        <a:rPr lang="en-US" altLang="zh-CN" sz="2000">
                          <a:solidFill>
                            <a:schemeClr val="tx1"/>
                          </a:solidFill>
                        </a:rPr>
                        <a:t>sname</a:t>
                      </a:r>
                      <a:endParaRPr lang="en-US" altLang="zh-CN" sz="2000">
                        <a:solidFill>
                          <a:schemeClr val="tx1"/>
                        </a:solidFill>
                      </a:endParaRPr>
                    </a:p>
                  </a:txBody>
                  <a:tcPr marL="91421" marR="91421"/>
                </a:tc>
                <a:tc>
                  <a:txBody>
                    <a:bodyPr/>
                    <a:lstStyle/>
                    <a:p>
                      <a:pPr>
                        <a:buNone/>
                      </a:pPr>
                      <a:r>
                        <a:rPr lang="en-US" altLang="zh-CN" sz="2000">
                          <a:solidFill>
                            <a:schemeClr val="tx1"/>
                          </a:solidFill>
                        </a:rPr>
                        <a:t>sage</a:t>
                      </a:r>
                      <a:endParaRPr lang="en-US" altLang="zh-CN" sz="2000">
                        <a:solidFill>
                          <a:schemeClr val="tx1"/>
                        </a:solidFill>
                      </a:endParaRPr>
                    </a:p>
                  </a:txBody>
                  <a:tcPr marL="91421" marR="91421"/>
                </a:tc>
                <a:tc>
                  <a:txBody>
                    <a:bodyPr/>
                    <a:lstStyle/>
                    <a:p>
                      <a:pPr>
                        <a:buNone/>
                      </a:pPr>
                      <a:r>
                        <a:rPr lang="en-US" altLang="zh-CN" sz="2000">
                          <a:solidFill>
                            <a:schemeClr val="tx1"/>
                          </a:solidFill>
                        </a:rPr>
                        <a:t>gender</a:t>
                      </a:r>
                      <a:endParaRPr lang="en-US" altLang="zh-CN" sz="2000">
                        <a:solidFill>
                          <a:schemeClr val="tx1"/>
                        </a:solidFill>
                      </a:endParaRPr>
                    </a:p>
                  </a:txBody>
                  <a:tcPr marL="91421" marR="91421"/>
                </a:tc>
              </a:tr>
            </a:tbl>
          </a:graphicData>
        </a:graphic>
      </p:graphicFrame>
      <p:sp>
        <p:nvSpPr>
          <p:cNvPr id="121870" name="文本框 3"/>
          <p:cNvSpPr txBox="1"/>
          <p:nvPr/>
        </p:nvSpPr>
        <p:spPr>
          <a:xfrm>
            <a:off x="757238" y="1391603"/>
            <a:ext cx="1401762" cy="42989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t>stu</a:t>
            </a:r>
            <a:endParaRPr lang="zh-CN" altLang="en-US" sz="2200" dirty="0"/>
          </a:p>
        </p:txBody>
      </p:sp>
      <p:sp>
        <p:nvSpPr>
          <p:cNvPr id="121880" name="文本框 15"/>
          <p:cNvSpPr txBox="1"/>
          <p:nvPr/>
        </p:nvSpPr>
        <p:spPr>
          <a:xfrm>
            <a:off x="755650" y="1882140"/>
            <a:ext cx="1403350" cy="546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t>course</a:t>
            </a:r>
            <a:endParaRPr lang="zh-CN" altLang="en-US" sz="2200" dirty="0"/>
          </a:p>
        </p:txBody>
      </p:sp>
      <p:graphicFrame>
        <p:nvGraphicFramePr>
          <p:cNvPr id="17" name="表格 16"/>
          <p:cNvGraphicFramePr/>
          <p:nvPr/>
        </p:nvGraphicFramePr>
        <p:xfrm>
          <a:off x="2159000" y="1967865"/>
          <a:ext cx="3417888" cy="381000"/>
        </p:xfrm>
        <a:graphic>
          <a:graphicData uri="http://schemas.openxmlformats.org/drawingml/2006/table">
            <a:tbl>
              <a:tblPr firstRow="1" bandRow="1">
                <a:tableStyleId>{5C22544A-7EE6-4342-B048-85BDC9FD1C3A}</a:tableStyleId>
              </a:tblPr>
              <a:tblGrid>
                <a:gridCol w="1068169"/>
                <a:gridCol w="1225029"/>
                <a:gridCol w="1124690"/>
              </a:tblGrid>
              <a:tr h="381000">
                <a:tc>
                  <a:txBody>
                    <a:bodyPr/>
                    <a:lstStyle/>
                    <a:p>
                      <a:pPr>
                        <a:buNone/>
                      </a:pPr>
                      <a:r>
                        <a:rPr lang="en-US" altLang="zh-CN" sz="2000" u="sng">
                          <a:solidFill>
                            <a:schemeClr val="tx1"/>
                          </a:solidFill>
                        </a:rPr>
                        <a:t>c</a:t>
                      </a:r>
                      <a:r>
                        <a:rPr lang="zh-CN" altLang="en-US" sz="2000" u="sng">
                          <a:solidFill>
                            <a:schemeClr val="tx1"/>
                          </a:solidFill>
                        </a:rPr>
                        <a:t>no</a:t>
                      </a:r>
                      <a:endParaRPr lang="zh-CN" altLang="en-US" sz="2000" u="sng">
                        <a:solidFill>
                          <a:schemeClr val="tx1"/>
                        </a:solidFill>
                      </a:endParaRPr>
                    </a:p>
                  </a:txBody>
                  <a:tcPr marL="91449" marR="91449"/>
                </a:tc>
                <a:tc>
                  <a:txBody>
                    <a:bodyPr/>
                    <a:lstStyle/>
                    <a:p>
                      <a:pPr>
                        <a:buNone/>
                      </a:pPr>
                      <a:r>
                        <a:rPr lang="en-US" altLang="zh-CN" sz="2000">
                          <a:solidFill>
                            <a:schemeClr val="tx1"/>
                          </a:solidFill>
                        </a:rPr>
                        <a:t>cname</a:t>
                      </a:r>
                      <a:endParaRPr lang="en-US" altLang="zh-CN" sz="2000">
                        <a:solidFill>
                          <a:schemeClr val="tx1"/>
                        </a:solidFill>
                      </a:endParaRPr>
                    </a:p>
                  </a:txBody>
                  <a:tcPr marL="91449" marR="91449"/>
                </a:tc>
                <a:tc>
                  <a:txBody>
                    <a:bodyPr/>
                    <a:lstStyle/>
                    <a:p>
                      <a:pPr>
                        <a:buNone/>
                      </a:pPr>
                      <a:r>
                        <a:rPr lang="en-US" altLang="zh-CN" sz="2000">
                          <a:solidFill>
                            <a:schemeClr val="tx1"/>
                          </a:solidFill>
                        </a:rPr>
                        <a:t>credit</a:t>
                      </a:r>
                      <a:endParaRPr lang="en-US" altLang="zh-CN" sz="2000">
                        <a:solidFill>
                          <a:schemeClr val="tx1"/>
                        </a:solidFill>
                      </a:endParaRPr>
                    </a:p>
                  </a:txBody>
                  <a:tcPr marL="91449" marR="91449"/>
                </a:tc>
              </a:tr>
            </a:tbl>
          </a:graphicData>
        </a:graphic>
      </p:graphicFrame>
      <p:sp>
        <p:nvSpPr>
          <p:cNvPr id="121891" name="文本框 17"/>
          <p:cNvSpPr txBox="1"/>
          <p:nvPr/>
        </p:nvSpPr>
        <p:spPr>
          <a:xfrm>
            <a:off x="771525" y="2328228"/>
            <a:ext cx="1401763" cy="42989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200" dirty="0"/>
              <a:t>ctake</a:t>
            </a:r>
            <a:endParaRPr lang="en-US" altLang="zh-CN" sz="2200" dirty="0"/>
          </a:p>
        </p:txBody>
      </p:sp>
      <p:graphicFrame>
        <p:nvGraphicFramePr>
          <p:cNvPr id="19" name="表格 18"/>
          <p:cNvGraphicFramePr/>
          <p:nvPr/>
        </p:nvGraphicFramePr>
        <p:xfrm>
          <a:off x="2159000" y="2475865"/>
          <a:ext cx="3416300" cy="460375"/>
        </p:xfrm>
        <a:graphic>
          <a:graphicData uri="http://schemas.openxmlformats.org/drawingml/2006/table">
            <a:tbl>
              <a:tblPr firstRow="1" bandRow="1">
                <a:tableStyleId>{5C22544A-7EE6-4342-B048-85BDC9FD1C3A}</a:tableStyleId>
              </a:tblPr>
              <a:tblGrid>
                <a:gridCol w="1067673"/>
                <a:gridCol w="1224460"/>
                <a:gridCol w="1124167"/>
              </a:tblGrid>
              <a:tr h="460375">
                <a:tc>
                  <a:txBody>
                    <a:bodyPr/>
                    <a:lstStyle/>
                    <a:p>
                      <a:pPr>
                        <a:buNone/>
                      </a:pPr>
                      <a:r>
                        <a:rPr lang="en-US" altLang="zh-CN" sz="2000" u="sng">
                          <a:solidFill>
                            <a:srgbClr val="0033CC"/>
                          </a:solidFill>
                        </a:rPr>
                        <a:t>s</a:t>
                      </a:r>
                      <a:r>
                        <a:rPr lang="zh-CN" altLang="en-US" sz="2000" u="sng">
                          <a:solidFill>
                            <a:srgbClr val="0033CC"/>
                          </a:solidFill>
                        </a:rPr>
                        <a:t>no</a:t>
                      </a:r>
                      <a:endParaRPr lang="zh-CN" altLang="en-US" sz="2000" u="sng">
                        <a:solidFill>
                          <a:srgbClr val="0033CC"/>
                        </a:solidFill>
                      </a:endParaRPr>
                    </a:p>
                  </a:txBody>
                  <a:tcPr marL="91406" marR="91406" marT="45594" marB="45594"/>
                </a:tc>
                <a:tc>
                  <a:txBody>
                    <a:bodyPr/>
                    <a:lstStyle/>
                    <a:p>
                      <a:pPr>
                        <a:buNone/>
                      </a:pPr>
                      <a:r>
                        <a:rPr lang="en-US" altLang="zh-CN" sz="2000" u="sng">
                          <a:solidFill>
                            <a:srgbClr val="0033CC"/>
                          </a:solidFill>
                        </a:rPr>
                        <a:t>cno</a:t>
                      </a:r>
                      <a:endParaRPr lang="en-US" altLang="zh-CN" sz="2000" u="sng">
                        <a:solidFill>
                          <a:srgbClr val="0033CC"/>
                        </a:solidFill>
                      </a:endParaRPr>
                    </a:p>
                  </a:txBody>
                  <a:tcPr marL="91406" marR="91406" marT="45594" marB="45594"/>
                </a:tc>
                <a:tc>
                  <a:txBody>
                    <a:bodyPr/>
                    <a:lstStyle/>
                    <a:p>
                      <a:pPr>
                        <a:buNone/>
                      </a:pPr>
                      <a:r>
                        <a:rPr lang="en-US" altLang="zh-CN" sz="2000">
                          <a:solidFill>
                            <a:schemeClr val="tx1"/>
                          </a:solidFill>
                        </a:rPr>
                        <a:t>mark</a:t>
                      </a:r>
                      <a:endParaRPr lang="en-US" altLang="zh-CN" sz="2000">
                        <a:solidFill>
                          <a:schemeClr val="tx1"/>
                        </a:solidFill>
                      </a:endParaRPr>
                    </a:p>
                  </a:txBody>
                  <a:tcPr marL="91406" marR="91406" marT="45594" marB="45594"/>
                </a:tc>
              </a:tr>
            </a:tbl>
          </a:graphicData>
        </a:graphic>
      </p:graphicFrame>
      <p:pic>
        <p:nvPicPr>
          <p:cNvPr id="7" name="图片 6"/>
          <p:cNvPicPr>
            <a:picLocks noChangeAspect="1"/>
          </p:cNvPicPr>
          <p:nvPr/>
        </p:nvPicPr>
        <p:blipFill>
          <a:blip r:embed="rId1"/>
          <a:stretch>
            <a:fillRect/>
          </a:stretch>
        </p:blipFill>
        <p:spPr>
          <a:xfrm>
            <a:off x="1786890" y="1821815"/>
            <a:ext cx="6911340" cy="2750820"/>
          </a:xfrm>
          <a:prstGeom prst="rect">
            <a:avLst/>
          </a:prstGeom>
          <a:ln>
            <a:solidFill>
              <a:schemeClr val="accent1"/>
            </a:solid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ppt_x"/>
                                          </p:val>
                                        </p:tav>
                                        <p:tav tm="100000">
                                          <p:val>
                                            <p:strVal val="#ppt_x"/>
                                          </p:val>
                                        </p:tav>
                                      </p:tavLst>
                                    </p:anim>
                                    <p:anim calcmode="lin" valueType="num">
                                      <p:cBhvr additive="base">
                                        <p:cTn id="1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ppt_x</p:attrName>
                                        </p:attrNameLst>
                                      </p:cBhvr>
                                      <p:tavLst>
                                        <p:tav tm="0">
                                          <p:val>
                                            <p:strVal val="#ppt_x"/>
                                          </p:val>
                                        </p:tav>
                                        <p:tav tm="100000">
                                          <p:val>
                                            <p:strVal val="#ppt_x"/>
                                          </p:val>
                                        </p:tav>
                                      </p:tavLst>
                                    </p:anim>
                                    <p:anim calcmode="lin" valueType="num">
                                      <p:cBhvr additive="base">
                                        <p:cTn id="20"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0834" name="文本框 3"/>
          <p:cNvSpPr txBox="1"/>
          <p:nvPr/>
        </p:nvSpPr>
        <p:spPr>
          <a:xfrm>
            <a:off x="415925" y="3153410"/>
            <a:ext cx="8312150" cy="42989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sym typeface="+mn-ea"/>
              </a:rPr>
              <a:t>（</a:t>
            </a:r>
            <a:r>
              <a:rPr lang="en-US" altLang="zh-CN" sz="2200" dirty="0">
                <a:sym typeface="+mn-ea"/>
              </a:rPr>
              <a:t>3</a:t>
            </a:r>
            <a:r>
              <a:rPr lang="zh-CN" altLang="en-US" sz="2200" dirty="0">
                <a:sym typeface="+mn-ea"/>
              </a:rPr>
              <a:t>）查询没有学全所有课的同学的学号、姓名</a:t>
            </a:r>
            <a:endParaRPr lang="zh-CN" altLang="en-US" sz="2200" dirty="0">
              <a:sym typeface="+mn-ea"/>
            </a:endParaRPr>
          </a:p>
        </p:txBody>
      </p:sp>
      <p:sp>
        <p:nvSpPr>
          <p:cNvPr id="12" name="文本框 11"/>
          <p:cNvSpPr txBox="1"/>
          <p:nvPr/>
        </p:nvSpPr>
        <p:spPr>
          <a:xfrm>
            <a:off x="601980" y="3590290"/>
            <a:ext cx="8326120" cy="130873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ts val="0"/>
              </a:spcBef>
              <a:spcAft>
                <a:spcPts val="0"/>
              </a:spcAft>
              <a:buClrTx/>
              <a:buSzTx/>
              <a:buFont typeface="Arial" panose="020B0604020202020204" pitchFamily="34" charset="0"/>
              <a:buNone/>
            </a:pPr>
            <a:r>
              <a:rPr lang="zh-CN" altLang="en-US" sz="2200" dirty="0">
                <a:sym typeface="+mn-ea"/>
              </a:rPr>
              <a:t>select t.s</a:t>
            </a:r>
            <a:r>
              <a:rPr lang="en-US" altLang="zh-CN" sz="2200" dirty="0">
                <a:sym typeface="+mn-ea"/>
              </a:rPr>
              <a:t>id</a:t>
            </a:r>
            <a:r>
              <a:rPr lang="zh-CN" altLang="en-US" sz="2200" dirty="0">
                <a:sym typeface="+mn-ea"/>
              </a:rPr>
              <a:t>,t.sname from stu t</a:t>
            </a:r>
            <a:r>
              <a:rPr lang="en-US" altLang="zh-CN" sz="2200" dirty="0">
                <a:sym typeface="+mn-ea"/>
              </a:rPr>
              <a:t>,ctake</a:t>
            </a:r>
            <a:r>
              <a:rPr lang="zh-CN" altLang="en-US" sz="2200" dirty="0">
                <a:sym typeface="+mn-ea"/>
              </a:rPr>
              <a:t> s</a:t>
            </a:r>
            <a:r>
              <a:rPr lang="en-US" altLang="zh-CN" sz="2200" dirty="0">
                <a:sym typeface="+mn-ea"/>
              </a:rPr>
              <a:t>,</a:t>
            </a:r>
            <a:r>
              <a:rPr lang="zh-CN" altLang="en-US" sz="2200" dirty="0">
                <a:sym typeface="+mn-ea"/>
              </a:rPr>
              <a:t> course c </a:t>
            </a:r>
            <a:r>
              <a:rPr lang="en-US" altLang="zh-CN" sz="2200" dirty="0">
                <a:sym typeface="+mn-ea"/>
              </a:rPr>
              <a:t>where t</a:t>
            </a:r>
            <a:r>
              <a:rPr lang="zh-CN" altLang="en-US" sz="2200" dirty="0">
                <a:sym typeface="+mn-ea"/>
              </a:rPr>
              <a:t>.s</a:t>
            </a:r>
            <a:r>
              <a:rPr lang="en-US" altLang="zh-CN" sz="2200" dirty="0">
                <a:sym typeface="+mn-ea"/>
              </a:rPr>
              <a:t>id</a:t>
            </a:r>
            <a:r>
              <a:rPr lang="zh-CN" altLang="en-US" sz="2200" dirty="0">
                <a:sym typeface="+mn-ea"/>
              </a:rPr>
              <a:t>=s.s</a:t>
            </a:r>
            <a:r>
              <a:rPr lang="en-US" altLang="zh-CN" sz="2200" dirty="0">
                <a:sym typeface="+mn-ea"/>
              </a:rPr>
              <a:t>id</a:t>
            </a:r>
            <a:r>
              <a:rPr lang="zh-CN" altLang="en-US" sz="2200" dirty="0">
                <a:sym typeface="+mn-ea"/>
              </a:rPr>
              <a:t> </a:t>
            </a:r>
            <a:r>
              <a:rPr lang="en-US" altLang="zh-CN" sz="2200" dirty="0">
                <a:sym typeface="+mn-ea"/>
              </a:rPr>
              <a:t>and </a:t>
            </a:r>
            <a:r>
              <a:rPr lang="zh-CN" altLang="en-US" sz="2200" dirty="0">
                <a:sym typeface="+mn-ea"/>
              </a:rPr>
              <a:t>s.c</a:t>
            </a:r>
            <a:r>
              <a:rPr lang="en-US" altLang="zh-CN" sz="2200" dirty="0">
                <a:sym typeface="+mn-ea"/>
              </a:rPr>
              <a:t>id</a:t>
            </a:r>
            <a:r>
              <a:rPr lang="zh-CN" altLang="en-US" sz="2200" dirty="0">
                <a:sym typeface="+mn-ea"/>
              </a:rPr>
              <a:t>=c.c</a:t>
            </a:r>
            <a:r>
              <a:rPr lang="en-US" altLang="zh-CN" sz="2200" dirty="0">
                <a:sym typeface="+mn-ea"/>
              </a:rPr>
              <a:t>id</a:t>
            </a:r>
            <a:r>
              <a:rPr lang="zh-CN" altLang="en-US" sz="2200" dirty="0">
                <a:solidFill>
                  <a:srgbClr val="C00000"/>
                </a:solidFill>
                <a:sym typeface="+mn-ea"/>
              </a:rPr>
              <a:t> group by </a:t>
            </a:r>
            <a:r>
              <a:rPr lang="zh-CN" altLang="en-US" sz="2200" dirty="0">
                <a:sym typeface="+mn-ea"/>
              </a:rPr>
              <a:t>t.s</a:t>
            </a:r>
            <a:r>
              <a:rPr lang="en-US" altLang="zh-CN" sz="2200" dirty="0">
                <a:sym typeface="+mn-ea"/>
              </a:rPr>
              <a:t>id</a:t>
            </a:r>
            <a:r>
              <a:rPr lang="zh-CN" altLang="en-US" sz="2200" dirty="0">
                <a:sym typeface="+mn-ea"/>
              </a:rPr>
              <a:t>,t.sname</a:t>
            </a:r>
            <a:endParaRPr lang="zh-CN" altLang="en-US" sz="2200" dirty="0">
              <a:sym typeface="+mn-ea"/>
            </a:endParaRPr>
          </a:p>
          <a:p>
            <a:pPr marL="0" lvl="0" indent="0" eaLnBrk="1" hangingPunct="1">
              <a:lnSpc>
                <a:spcPct val="120000"/>
              </a:lnSpc>
              <a:spcBef>
                <a:spcPts val="0"/>
              </a:spcBef>
              <a:spcAft>
                <a:spcPts val="0"/>
              </a:spcAft>
              <a:buClrTx/>
              <a:buSzTx/>
              <a:buFont typeface="Arial" panose="020B0604020202020204" pitchFamily="34" charset="0"/>
              <a:buNone/>
            </a:pPr>
            <a:r>
              <a:rPr lang="zh-CN" altLang="en-US" sz="2200" dirty="0">
                <a:sym typeface="+mn-ea"/>
              </a:rPr>
              <a:t>   </a:t>
            </a:r>
            <a:r>
              <a:rPr lang="zh-CN" altLang="en-US" sz="2200" dirty="0">
                <a:solidFill>
                  <a:srgbClr val="C00000"/>
                </a:solidFill>
                <a:sym typeface="+mn-ea"/>
              </a:rPr>
              <a:t>having</a:t>
            </a:r>
            <a:r>
              <a:rPr lang="zh-CN" altLang="en-US" sz="2200" dirty="0">
                <a:sym typeface="+mn-ea"/>
              </a:rPr>
              <a:t> </a:t>
            </a:r>
            <a:r>
              <a:rPr lang="zh-CN" altLang="en-US" sz="2200" dirty="0">
                <a:solidFill>
                  <a:srgbClr val="0033CC"/>
                </a:solidFill>
                <a:sym typeface="+mn-ea"/>
              </a:rPr>
              <a:t> count(s.c</a:t>
            </a:r>
            <a:r>
              <a:rPr lang="en-US" altLang="zh-CN" sz="2200" dirty="0">
                <a:solidFill>
                  <a:srgbClr val="0033CC"/>
                </a:solidFill>
                <a:sym typeface="+mn-ea"/>
              </a:rPr>
              <a:t>id</a:t>
            </a:r>
            <a:r>
              <a:rPr lang="zh-CN" altLang="en-US" sz="2200" dirty="0">
                <a:solidFill>
                  <a:srgbClr val="0033CC"/>
                </a:solidFill>
                <a:sym typeface="+mn-ea"/>
              </a:rPr>
              <a:t>)&lt;</a:t>
            </a:r>
            <a:r>
              <a:rPr lang="en-US" altLang="zh-CN" sz="2200" dirty="0">
                <a:solidFill>
                  <a:srgbClr val="0033CC"/>
                </a:solidFill>
                <a:sym typeface="+mn-ea"/>
              </a:rPr>
              <a:t>(Select count(C</a:t>
            </a:r>
            <a:r>
              <a:rPr lang="en-US" altLang="zh-CN" sz="2200" dirty="0">
                <a:solidFill>
                  <a:srgbClr val="0033CC"/>
                </a:solidFill>
                <a:sym typeface="+mn-ea"/>
              </a:rPr>
              <a:t>id) from course)</a:t>
            </a:r>
            <a:endParaRPr lang="zh-CN" altLang="en-US" sz="2200" dirty="0"/>
          </a:p>
        </p:txBody>
      </p:sp>
      <p:sp>
        <p:nvSpPr>
          <p:cNvPr id="120836" name="文本框 4"/>
          <p:cNvSpPr txBox="1"/>
          <p:nvPr/>
        </p:nvSpPr>
        <p:spPr>
          <a:xfrm>
            <a:off x="415925" y="4935538"/>
            <a:ext cx="8312150" cy="70643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sym typeface="+mn-ea"/>
              </a:rPr>
              <a:t>（</a:t>
            </a:r>
            <a:r>
              <a:rPr lang="en-US" altLang="zh-CN" dirty="0">
                <a:sym typeface="+mn-ea"/>
              </a:rPr>
              <a:t>4</a:t>
            </a:r>
            <a:r>
              <a:rPr lang="zh-CN" altLang="en-US" dirty="0">
                <a:sym typeface="+mn-ea"/>
              </a:rPr>
              <a:t>）查询各科成绩最高和最低的分：以如下形式显示：课程ID，最高分，最低分</a:t>
            </a:r>
            <a:endParaRPr lang="zh-CN" altLang="en-US" dirty="0">
              <a:sym typeface="+mn-ea"/>
            </a:endParaRPr>
          </a:p>
        </p:txBody>
      </p:sp>
      <p:sp>
        <p:nvSpPr>
          <p:cNvPr id="120881" name="文本框 14"/>
          <p:cNvSpPr txBox="1"/>
          <p:nvPr/>
        </p:nvSpPr>
        <p:spPr>
          <a:xfrm>
            <a:off x="604838" y="860425"/>
            <a:ext cx="4330700" cy="5524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ct val="0"/>
              </a:spcBef>
              <a:buClrTx/>
              <a:buSzTx/>
              <a:buFont typeface="Arial" panose="020B0604020202020204" pitchFamily="34" charset="0"/>
              <a:buNone/>
            </a:pPr>
            <a:r>
              <a:rPr lang="en-US" altLang="zh-CN" sz="2400" dirty="0">
                <a:sym typeface="+mn-ea"/>
              </a:rPr>
              <a:t>4</a:t>
            </a:r>
            <a:r>
              <a:rPr lang="zh-CN" altLang="en-US" sz="2400" dirty="0">
                <a:sym typeface="+mn-ea"/>
              </a:rPr>
              <a:t>、设学生数据库有如下关系：</a:t>
            </a:r>
            <a:endParaRPr lang="zh-CN" altLang="en-US" sz="2400" dirty="0">
              <a:sym typeface="+mn-ea"/>
            </a:endParaRPr>
          </a:p>
        </p:txBody>
      </p:sp>
      <p:sp>
        <p:nvSpPr>
          <p:cNvPr id="16" name="文本框 15"/>
          <p:cNvSpPr txBox="1"/>
          <p:nvPr/>
        </p:nvSpPr>
        <p:spPr>
          <a:xfrm>
            <a:off x="604838" y="5611813"/>
            <a:ext cx="7780020" cy="42989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sym typeface="+mn-ea"/>
              </a:rPr>
              <a:t>select c</a:t>
            </a:r>
            <a:r>
              <a:rPr lang="en-US" altLang="zh-CN" sz="2200" dirty="0">
                <a:sym typeface="+mn-ea"/>
              </a:rPr>
              <a:t>id</a:t>
            </a:r>
            <a:r>
              <a:rPr lang="zh-CN" altLang="en-US" sz="2200" dirty="0">
                <a:sym typeface="+mn-ea"/>
              </a:rPr>
              <a:t>,</a:t>
            </a:r>
            <a:r>
              <a:rPr lang="zh-CN" altLang="en-US" sz="2200" dirty="0">
                <a:solidFill>
                  <a:srgbClr val="FF0000"/>
                </a:solidFill>
                <a:sym typeface="+mn-ea"/>
              </a:rPr>
              <a:t>max(score),min(score) </a:t>
            </a:r>
            <a:r>
              <a:rPr lang="zh-CN" altLang="en-US" sz="2200" dirty="0">
                <a:sym typeface="+mn-ea"/>
              </a:rPr>
              <a:t>from </a:t>
            </a:r>
            <a:r>
              <a:rPr lang="en-US" altLang="zh-CN" sz="2200" dirty="0">
                <a:sym typeface="+mn-ea"/>
              </a:rPr>
              <a:t>ctake</a:t>
            </a:r>
            <a:r>
              <a:rPr lang="zh-CN" altLang="en-US" sz="2200" dirty="0">
                <a:sym typeface="+mn-ea"/>
              </a:rPr>
              <a:t> </a:t>
            </a:r>
            <a:r>
              <a:rPr lang="zh-CN" altLang="en-US" sz="2200" dirty="0">
                <a:solidFill>
                  <a:srgbClr val="0033CC"/>
                </a:solidFill>
                <a:sym typeface="+mn-ea"/>
              </a:rPr>
              <a:t>group by c</a:t>
            </a:r>
            <a:r>
              <a:rPr lang="en-US" altLang="zh-CN" sz="2200" dirty="0">
                <a:solidFill>
                  <a:srgbClr val="0033CC"/>
                </a:solidFill>
                <a:sym typeface="+mn-ea"/>
              </a:rPr>
              <a:t>id</a:t>
            </a:r>
            <a:endParaRPr lang="en-US" altLang="zh-CN" sz="2200" dirty="0">
              <a:solidFill>
                <a:srgbClr val="0033CC"/>
              </a:solidFill>
              <a:sym typeface="+mn-ea"/>
            </a:endParaRPr>
          </a:p>
        </p:txBody>
      </p:sp>
      <p:sp>
        <p:nvSpPr>
          <p:cNvPr id="17" name="文本框 16"/>
          <p:cNvSpPr txBox="1"/>
          <p:nvPr/>
        </p:nvSpPr>
        <p:spPr>
          <a:xfrm>
            <a:off x="406400" y="-19050"/>
            <a:ext cx="2681288" cy="830263"/>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问题研讨：</a:t>
            </a:r>
            <a:endParaRPr kumimoji="0" lang="zh-CN" altLang="en-US" sz="3200" kern="1200" cap="none" spc="0" normalizeH="0" baseline="0" noProof="0" dirty="0">
              <a:latin typeface="Arial" panose="020B0604020202020204" pitchFamily="34" charset="0"/>
              <a:ea typeface="宋体" panose="02010600030101010101" pitchFamily="2" charset="-122"/>
              <a:cs typeface="+mn-cs"/>
            </a:endParaRPr>
          </a:p>
        </p:txBody>
      </p:sp>
      <p:graphicFrame>
        <p:nvGraphicFramePr>
          <p:cNvPr id="3" name="表格 2"/>
          <p:cNvGraphicFramePr/>
          <p:nvPr/>
        </p:nvGraphicFramePr>
        <p:xfrm>
          <a:off x="2159000" y="1477328"/>
          <a:ext cx="4519613" cy="381000"/>
        </p:xfrm>
        <a:graphic>
          <a:graphicData uri="http://schemas.openxmlformats.org/drawingml/2006/table">
            <a:tbl>
              <a:tblPr firstRow="1" bandRow="1">
                <a:tableStyleId>{5C22544A-7EE6-4342-B048-85BDC9FD1C3A}</a:tableStyleId>
              </a:tblPr>
              <a:tblGrid>
                <a:gridCol w="1067845"/>
                <a:gridCol w="1224657"/>
                <a:gridCol w="1124348"/>
                <a:gridCol w="1102763"/>
              </a:tblGrid>
              <a:tr h="381000">
                <a:tc>
                  <a:txBody>
                    <a:bodyPr/>
                    <a:lstStyle/>
                    <a:p>
                      <a:pPr>
                        <a:buNone/>
                      </a:pPr>
                      <a:r>
                        <a:rPr lang="zh-CN" altLang="en-US" sz="2000" u="sng">
                          <a:solidFill>
                            <a:schemeClr val="tx1"/>
                          </a:solidFill>
                        </a:rPr>
                        <a:t>s</a:t>
                      </a:r>
                      <a:r>
                        <a:rPr lang="en-US" altLang="zh-CN" sz="2000" u="sng">
                          <a:solidFill>
                            <a:schemeClr val="tx1"/>
                          </a:solidFill>
                        </a:rPr>
                        <a:t>id</a:t>
                      </a:r>
                      <a:endParaRPr lang="en-US" altLang="zh-CN" sz="2000" u="sng">
                        <a:solidFill>
                          <a:schemeClr val="tx1"/>
                        </a:solidFill>
                      </a:endParaRPr>
                    </a:p>
                  </a:txBody>
                  <a:tcPr marL="91421" marR="91421"/>
                </a:tc>
                <a:tc>
                  <a:txBody>
                    <a:bodyPr/>
                    <a:lstStyle/>
                    <a:p>
                      <a:pPr>
                        <a:buNone/>
                      </a:pPr>
                      <a:r>
                        <a:rPr lang="en-US" altLang="zh-CN" sz="2000">
                          <a:solidFill>
                            <a:schemeClr val="tx1"/>
                          </a:solidFill>
                        </a:rPr>
                        <a:t>sname</a:t>
                      </a:r>
                      <a:endParaRPr lang="en-US" altLang="zh-CN" sz="2000">
                        <a:solidFill>
                          <a:schemeClr val="tx1"/>
                        </a:solidFill>
                      </a:endParaRPr>
                    </a:p>
                  </a:txBody>
                  <a:tcPr marL="91421" marR="91421"/>
                </a:tc>
                <a:tc>
                  <a:txBody>
                    <a:bodyPr/>
                    <a:lstStyle/>
                    <a:p>
                      <a:pPr>
                        <a:buNone/>
                      </a:pPr>
                      <a:r>
                        <a:rPr lang="en-US" altLang="zh-CN" sz="2000">
                          <a:solidFill>
                            <a:schemeClr val="tx1"/>
                          </a:solidFill>
                        </a:rPr>
                        <a:t>sage</a:t>
                      </a:r>
                      <a:endParaRPr lang="en-US" altLang="zh-CN" sz="2000">
                        <a:solidFill>
                          <a:schemeClr val="tx1"/>
                        </a:solidFill>
                      </a:endParaRPr>
                    </a:p>
                  </a:txBody>
                  <a:tcPr marL="91421" marR="91421"/>
                </a:tc>
                <a:tc>
                  <a:txBody>
                    <a:bodyPr/>
                    <a:lstStyle/>
                    <a:p>
                      <a:pPr>
                        <a:buNone/>
                      </a:pPr>
                      <a:r>
                        <a:rPr lang="en-US" altLang="zh-CN" sz="2000">
                          <a:solidFill>
                            <a:schemeClr val="tx1"/>
                          </a:solidFill>
                        </a:rPr>
                        <a:t>gender</a:t>
                      </a:r>
                      <a:endParaRPr lang="en-US" altLang="zh-CN" sz="2000">
                        <a:solidFill>
                          <a:schemeClr val="tx1"/>
                        </a:solidFill>
                      </a:endParaRPr>
                    </a:p>
                  </a:txBody>
                  <a:tcPr marL="91421" marR="91421"/>
                </a:tc>
              </a:tr>
            </a:tbl>
          </a:graphicData>
        </a:graphic>
      </p:graphicFrame>
      <p:sp>
        <p:nvSpPr>
          <p:cNvPr id="121870" name="文本框 3"/>
          <p:cNvSpPr txBox="1"/>
          <p:nvPr/>
        </p:nvSpPr>
        <p:spPr>
          <a:xfrm>
            <a:off x="757238" y="1391603"/>
            <a:ext cx="1401762" cy="42989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t>stu</a:t>
            </a:r>
            <a:endParaRPr lang="zh-CN" altLang="en-US" sz="2200" dirty="0"/>
          </a:p>
        </p:txBody>
      </p:sp>
      <p:sp>
        <p:nvSpPr>
          <p:cNvPr id="121880" name="文本框 15"/>
          <p:cNvSpPr txBox="1"/>
          <p:nvPr/>
        </p:nvSpPr>
        <p:spPr>
          <a:xfrm>
            <a:off x="755650" y="1882140"/>
            <a:ext cx="1403350" cy="546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t>course</a:t>
            </a:r>
            <a:endParaRPr lang="zh-CN" altLang="en-US" sz="2200" dirty="0"/>
          </a:p>
        </p:txBody>
      </p:sp>
      <p:graphicFrame>
        <p:nvGraphicFramePr>
          <p:cNvPr id="2" name="表格 1"/>
          <p:cNvGraphicFramePr/>
          <p:nvPr/>
        </p:nvGraphicFramePr>
        <p:xfrm>
          <a:off x="2159000" y="1967865"/>
          <a:ext cx="3417888" cy="381000"/>
        </p:xfrm>
        <a:graphic>
          <a:graphicData uri="http://schemas.openxmlformats.org/drawingml/2006/table">
            <a:tbl>
              <a:tblPr firstRow="1" bandRow="1">
                <a:tableStyleId>{5C22544A-7EE6-4342-B048-85BDC9FD1C3A}</a:tableStyleId>
              </a:tblPr>
              <a:tblGrid>
                <a:gridCol w="1068169"/>
                <a:gridCol w="1225029"/>
                <a:gridCol w="1124690"/>
              </a:tblGrid>
              <a:tr h="381000">
                <a:tc>
                  <a:txBody>
                    <a:bodyPr/>
                    <a:lstStyle/>
                    <a:p>
                      <a:pPr>
                        <a:buNone/>
                      </a:pPr>
                      <a:r>
                        <a:rPr lang="en-US" altLang="zh-CN" sz="2000" u="sng">
                          <a:solidFill>
                            <a:schemeClr val="tx1"/>
                          </a:solidFill>
                        </a:rPr>
                        <a:t>cid</a:t>
                      </a:r>
                      <a:endParaRPr lang="en-US" altLang="zh-CN" sz="2000" u="sng">
                        <a:solidFill>
                          <a:schemeClr val="tx1"/>
                        </a:solidFill>
                      </a:endParaRPr>
                    </a:p>
                  </a:txBody>
                  <a:tcPr marL="91449" marR="91449"/>
                </a:tc>
                <a:tc>
                  <a:txBody>
                    <a:bodyPr/>
                    <a:lstStyle/>
                    <a:p>
                      <a:pPr>
                        <a:buNone/>
                      </a:pPr>
                      <a:r>
                        <a:rPr lang="en-US" altLang="zh-CN" sz="2000">
                          <a:solidFill>
                            <a:schemeClr val="tx1"/>
                          </a:solidFill>
                        </a:rPr>
                        <a:t>cname</a:t>
                      </a:r>
                      <a:endParaRPr lang="en-US" altLang="zh-CN" sz="2000">
                        <a:solidFill>
                          <a:schemeClr val="tx1"/>
                        </a:solidFill>
                      </a:endParaRPr>
                    </a:p>
                  </a:txBody>
                  <a:tcPr marL="91449" marR="91449"/>
                </a:tc>
                <a:tc>
                  <a:txBody>
                    <a:bodyPr/>
                    <a:lstStyle/>
                    <a:p>
                      <a:pPr>
                        <a:buNone/>
                      </a:pPr>
                      <a:r>
                        <a:rPr lang="en-US" altLang="zh-CN" sz="2000">
                          <a:solidFill>
                            <a:schemeClr val="tx1"/>
                          </a:solidFill>
                        </a:rPr>
                        <a:t>credit</a:t>
                      </a:r>
                      <a:endParaRPr lang="en-US" altLang="zh-CN" sz="2000">
                        <a:solidFill>
                          <a:schemeClr val="tx1"/>
                        </a:solidFill>
                      </a:endParaRPr>
                    </a:p>
                  </a:txBody>
                  <a:tcPr marL="91449" marR="91449"/>
                </a:tc>
              </a:tr>
            </a:tbl>
          </a:graphicData>
        </a:graphic>
      </p:graphicFrame>
      <p:sp>
        <p:nvSpPr>
          <p:cNvPr id="121891" name="文本框 17"/>
          <p:cNvSpPr txBox="1"/>
          <p:nvPr/>
        </p:nvSpPr>
        <p:spPr>
          <a:xfrm>
            <a:off x="771525" y="2328228"/>
            <a:ext cx="1401763" cy="42989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200" dirty="0"/>
              <a:t>ctake</a:t>
            </a:r>
            <a:endParaRPr lang="en-US" altLang="zh-CN" sz="2200" dirty="0"/>
          </a:p>
        </p:txBody>
      </p:sp>
      <p:graphicFrame>
        <p:nvGraphicFramePr>
          <p:cNvPr id="19" name="表格 18"/>
          <p:cNvGraphicFramePr/>
          <p:nvPr/>
        </p:nvGraphicFramePr>
        <p:xfrm>
          <a:off x="2159000" y="2475865"/>
          <a:ext cx="3416300" cy="460375"/>
        </p:xfrm>
        <a:graphic>
          <a:graphicData uri="http://schemas.openxmlformats.org/drawingml/2006/table">
            <a:tbl>
              <a:tblPr firstRow="1" bandRow="1">
                <a:tableStyleId>{5C22544A-7EE6-4342-B048-85BDC9FD1C3A}</a:tableStyleId>
              </a:tblPr>
              <a:tblGrid>
                <a:gridCol w="1067673"/>
                <a:gridCol w="1224460"/>
                <a:gridCol w="1124167"/>
              </a:tblGrid>
              <a:tr h="460375">
                <a:tc>
                  <a:txBody>
                    <a:bodyPr/>
                    <a:lstStyle/>
                    <a:p>
                      <a:pPr>
                        <a:buNone/>
                      </a:pPr>
                      <a:r>
                        <a:rPr lang="en-US" altLang="zh-CN" sz="2000" u="sng">
                          <a:solidFill>
                            <a:srgbClr val="0033CC"/>
                          </a:solidFill>
                        </a:rPr>
                        <a:t>sid</a:t>
                      </a:r>
                      <a:endParaRPr lang="en-US" altLang="zh-CN" sz="2000" u="sng">
                        <a:solidFill>
                          <a:srgbClr val="0033CC"/>
                        </a:solidFill>
                      </a:endParaRPr>
                    </a:p>
                  </a:txBody>
                  <a:tcPr marL="91406" marR="91406" marT="45594" marB="45594"/>
                </a:tc>
                <a:tc>
                  <a:txBody>
                    <a:bodyPr/>
                    <a:lstStyle/>
                    <a:p>
                      <a:pPr>
                        <a:buNone/>
                      </a:pPr>
                      <a:r>
                        <a:rPr lang="en-US" altLang="zh-CN" sz="2000" u="sng">
                          <a:solidFill>
                            <a:srgbClr val="0033CC"/>
                          </a:solidFill>
                        </a:rPr>
                        <a:t>cid</a:t>
                      </a:r>
                      <a:endParaRPr lang="en-US" altLang="zh-CN" sz="2000" u="sng">
                        <a:solidFill>
                          <a:srgbClr val="0033CC"/>
                        </a:solidFill>
                      </a:endParaRPr>
                    </a:p>
                  </a:txBody>
                  <a:tcPr marL="91406" marR="91406" marT="45594" marB="45594"/>
                </a:tc>
                <a:tc>
                  <a:txBody>
                    <a:bodyPr/>
                    <a:lstStyle/>
                    <a:p>
                      <a:pPr>
                        <a:buNone/>
                      </a:pPr>
                      <a:r>
                        <a:rPr lang="en-US" altLang="zh-CN" sz="2000">
                          <a:solidFill>
                            <a:schemeClr val="tx1"/>
                          </a:solidFill>
                        </a:rPr>
                        <a:t>mark</a:t>
                      </a:r>
                      <a:endParaRPr lang="en-US" altLang="zh-CN" sz="2000">
                        <a:solidFill>
                          <a:schemeClr val="tx1"/>
                        </a:solidFill>
                      </a:endParaRPr>
                    </a:p>
                  </a:txBody>
                  <a:tcPr marL="91406" marR="91406" marT="45594" marB="45594"/>
                </a:tc>
              </a:tr>
            </a:tbl>
          </a:graphicData>
        </a:graphic>
      </p:graphicFrame>
      <p:pic>
        <p:nvPicPr>
          <p:cNvPr id="4" name="图片 3"/>
          <p:cNvPicPr>
            <a:picLocks noChangeAspect="1"/>
          </p:cNvPicPr>
          <p:nvPr/>
        </p:nvPicPr>
        <p:blipFill>
          <a:blip r:embed="rId1"/>
          <a:stretch>
            <a:fillRect/>
          </a:stretch>
        </p:blipFill>
        <p:spPr>
          <a:xfrm>
            <a:off x="1618615" y="1597025"/>
            <a:ext cx="7109460" cy="2217420"/>
          </a:xfrm>
          <a:prstGeom prst="rect">
            <a:avLst/>
          </a:prstGeom>
          <a:ln>
            <a:solidFill>
              <a:schemeClr val="accent1"/>
            </a:solidFill>
          </a:ln>
        </p:spPr>
      </p:pic>
      <p:pic>
        <p:nvPicPr>
          <p:cNvPr id="5" name="图片 4"/>
          <p:cNvPicPr>
            <a:picLocks noChangeAspect="1"/>
          </p:cNvPicPr>
          <p:nvPr/>
        </p:nvPicPr>
        <p:blipFill>
          <a:blip r:embed="rId2"/>
          <a:stretch>
            <a:fillRect/>
          </a:stretch>
        </p:blipFill>
        <p:spPr>
          <a:xfrm>
            <a:off x="2543175" y="4182745"/>
            <a:ext cx="6050280" cy="1988820"/>
          </a:xfrm>
          <a:prstGeom prst="rect">
            <a:avLst/>
          </a:prstGeom>
          <a:ln>
            <a:solidFill>
              <a:schemeClr val="accent1"/>
            </a:solid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additive="base">
                                        <p:cTn id="13" dur="500" fill="hold"/>
                                        <p:tgtEl>
                                          <p:spTgt spid="16"/>
                                        </p:tgtEl>
                                        <p:attrNameLst>
                                          <p:attrName>ppt_x</p:attrName>
                                        </p:attrNameLst>
                                      </p:cBhvr>
                                      <p:tavLst>
                                        <p:tav tm="0">
                                          <p:val>
                                            <p:strVal val="#ppt_x"/>
                                          </p:val>
                                        </p:tav>
                                        <p:tav tm="100000">
                                          <p:val>
                                            <p:strVal val="#ppt_x"/>
                                          </p:val>
                                        </p:tav>
                                      </p:tavLst>
                                    </p:anim>
                                    <p:anim calcmode="lin" valueType="num">
                                      <p:cBhvr additive="base">
                                        <p:cTn id="14"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6" grpId="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5"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三、数据库操纵子语言及其操作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80899" name="Text Box 4"/>
          <p:cNvSpPr txBox="1"/>
          <p:nvPr/>
        </p:nvSpPr>
        <p:spPr>
          <a:xfrm>
            <a:off x="539750" y="1327150"/>
            <a:ext cx="8208963" cy="5203825"/>
          </a:xfrm>
          <a:prstGeom prst="rect">
            <a:avLst/>
          </a:prstGeom>
          <a:noFill/>
          <a:ln w="9525">
            <a:noFill/>
          </a:ln>
        </p:spPr>
        <p:txBody>
          <a:bodyPr anchor="t" anchorCtr="0">
            <a:spAutoFit/>
          </a:bodyPr>
          <a:p>
            <a:r>
              <a:rPr lang="zh-CN" altLang="en-US" sz="2400" dirty="0">
                <a:solidFill>
                  <a:srgbClr val="0000CC"/>
                </a:solidFill>
                <a:latin typeface="华文楷体" panose="02010600040101010101" pitchFamily="2" charset="-122"/>
                <a:ea typeface="华文楷体" panose="02010600040101010101" pitchFamily="2" charset="-122"/>
              </a:rPr>
              <a:t>概念：一个查询语句的查询结果作为另一个查询语句的条件，这样的</a:t>
            </a:r>
            <a:r>
              <a:rPr lang="en-US" altLang="zh-CN" sz="2400" dirty="0">
                <a:solidFill>
                  <a:srgbClr val="0000CC"/>
                </a:solidFill>
                <a:latin typeface="华文楷体" panose="02010600040101010101" pitchFamily="2" charset="-122"/>
                <a:ea typeface="华文楷体" panose="02010600040101010101" pitchFamily="2" charset="-122"/>
              </a:rPr>
              <a:t>SELECT</a:t>
            </a:r>
            <a:r>
              <a:rPr lang="zh-CN" altLang="en-US" sz="2400" dirty="0">
                <a:solidFill>
                  <a:srgbClr val="0000CC"/>
                </a:solidFill>
                <a:latin typeface="华文楷体" panose="02010600040101010101" pitchFamily="2" charset="-122"/>
                <a:ea typeface="华文楷体" panose="02010600040101010101" pitchFamily="2" charset="-122"/>
              </a:rPr>
              <a:t>语句为“子查询”，亦称“嵌套查询”。</a:t>
            </a:r>
            <a:r>
              <a:rPr lang="zh-CN" altLang="en-US" sz="2400" dirty="0">
                <a:latin typeface="华文楷体" panose="02010600040101010101" pitchFamily="2" charset="-122"/>
                <a:ea typeface="华文楷体" panose="02010600040101010101" pitchFamily="2" charset="-122"/>
              </a:rPr>
              <a:t> </a:t>
            </a:r>
            <a:endParaRPr lang="zh-CN" altLang="en-US" sz="2400" dirty="0">
              <a:latin typeface="华文楷体" panose="02010600040101010101" pitchFamily="2" charset="-122"/>
              <a:ea typeface="华文楷体" panose="02010600040101010101" pitchFamily="2" charset="-122"/>
            </a:endParaRPr>
          </a:p>
          <a:p>
            <a:r>
              <a:rPr lang="en-US" altLang="zh-CN" sz="2400" dirty="0">
                <a:latin typeface="华文楷体" panose="02010600040101010101" pitchFamily="2" charset="-122"/>
                <a:ea typeface="华文楷体" panose="02010600040101010101" pitchFamily="2" charset="-122"/>
              </a:rPr>
              <a:t>SELECT &lt;</a:t>
            </a:r>
            <a:r>
              <a:rPr lang="zh-CN" altLang="en-US" sz="2400" dirty="0">
                <a:latin typeface="华文楷体" panose="02010600040101010101" pitchFamily="2" charset="-122"/>
                <a:ea typeface="华文楷体" panose="02010600040101010101" pitchFamily="2" charset="-122"/>
              </a:rPr>
              <a:t>查询列表</a:t>
            </a:r>
            <a:r>
              <a:rPr lang="en-US" altLang="zh-CN" sz="2400" dirty="0">
                <a:latin typeface="华文楷体" panose="02010600040101010101" pitchFamily="2" charset="-122"/>
                <a:ea typeface="华文楷体" panose="02010600040101010101" pitchFamily="2" charset="-122"/>
              </a:rPr>
              <a:t>&gt; [ INTO &lt;</a:t>
            </a:r>
            <a:r>
              <a:rPr lang="zh-CN" altLang="en-US" sz="2400" dirty="0">
                <a:latin typeface="华文楷体" panose="02010600040101010101" pitchFamily="2" charset="-122"/>
                <a:ea typeface="华文楷体" panose="02010600040101010101" pitchFamily="2" charset="-122"/>
              </a:rPr>
              <a:t>新表名</a:t>
            </a:r>
            <a:r>
              <a:rPr lang="en-US" altLang="zh-CN" sz="2400" dirty="0">
                <a:latin typeface="华文楷体" panose="02010600040101010101" pitchFamily="2" charset="-122"/>
                <a:ea typeface="华文楷体" panose="02010600040101010101" pitchFamily="2" charset="-122"/>
              </a:rPr>
              <a:t>&gt; ] </a:t>
            </a:r>
            <a:endParaRPr lang="en-US" altLang="zh-CN" sz="2400" dirty="0">
              <a:latin typeface="华文楷体" panose="02010600040101010101" pitchFamily="2" charset="-122"/>
              <a:ea typeface="华文楷体" panose="02010600040101010101" pitchFamily="2" charset="-122"/>
            </a:endParaRPr>
          </a:p>
          <a:p>
            <a:r>
              <a:rPr lang="en-US" altLang="zh-CN" sz="2400" dirty="0">
                <a:latin typeface="华文楷体" panose="02010600040101010101" pitchFamily="2" charset="-122"/>
                <a:ea typeface="华文楷体" panose="02010600040101010101" pitchFamily="2" charset="-122"/>
              </a:rPr>
              <a:t>FROM &lt;</a:t>
            </a:r>
            <a:r>
              <a:rPr lang="zh-CN" altLang="en-US" sz="2400" dirty="0">
                <a:latin typeface="华文楷体" panose="02010600040101010101" pitchFamily="2" charset="-122"/>
                <a:ea typeface="华文楷体" panose="02010600040101010101" pitchFamily="2" charset="-122"/>
              </a:rPr>
              <a:t>基表名</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视图名</a:t>
            </a:r>
            <a:r>
              <a:rPr lang="en-US" altLang="zh-CN" sz="2400" dirty="0">
                <a:latin typeface="华文楷体" panose="02010600040101010101" pitchFamily="2" charset="-122"/>
                <a:ea typeface="华文楷体" panose="02010600040101010101" pitchFamily="2" charset="-122"/>
              </a:rPr>
              <a:t>&gt; [ </a:t>
            </a:r>
            <a:r>
              <a:rPr lang="zh-CN" altLang="en-US" sz="2400" dirty="0">
                <a:latin typeface="华文楷体" panose="02010600040101010101" pitchFamily="2" charset="-122"/>
                <a:ea typeface="华文楷体" panose="02010600040101010101" pitchFamily="2" charset="-122"/>
              </a:rPr>
              <a:t>别名 </a:t>
            </a:r>
            <a:r>
              <a:rPr lang="en-US" altLang="zh-CN" sz="2400" dirty="0">
                <a:latin typeface="华文楷体" panose="02010600040101010101" pitchFamily="2" charset="-122"/>
                <a:ea typeface="华文楷体" panose="02010600040101010101" pitchFamily="2" charset="-122"/>
              </a:rPr>
              <a:t>] ……</a:t>
            </a:r>
            <a:endParaRPr lang="en-US" altLang="zh-CN" sz="2400" dirty="0">
              <a:latin typeface="华文楷体" panose="02010600040101010101" pitchFamily="2" charset="-122"/>
              <a:ea typeface="华文楷体" panose="02010600040101010101" pitchFamily="2" charset="-122"/>
            </a:endParaRPr>
          </a:p>
          <a:p>
            <a:r>
              <a:rPr lang="en-US" altLang="zh-CN" sz="2400" dirty="0">
                <a:latin typeface="华文楷体" panose="02010600040101010101" pitchFamily="2" charset="-122"/>
                <a:ea typeface="华文楷体" panose="02010600040101010101" pitchFamily="2" charset="-122"/>
              </a:rPr>
              <a:t>WHERE &lt;</a:t>
            </a:r>
            <a:r>
              <a:rPr lang="zh-CN" altLang="en-US" sz="2400" dirty="0">
                <a:latin typeface="华文楷体" panose="02010600040101010101" pitchFamily="2" charset="-122"/>
                <a:ea typeface="华文楷体" panose="02010600040101010101" pitchFamily="2" charset="-122"/>
              </a:rPr>
              <a:t>列名或列表达式</a:t>
            </a:r>
            <a:r>
              <a:rPr lang="en-US" altLang="zh-CN" sz="2400" dirty="0">
                <a:latin typeface="华文楷体" panose="02010600040101010101" pitchFamily="2" charset="-122"/>
                <a:ea typeface="华文楷体" panose="02010600040101010101" pitchFamily="2" charset="-122"/>
              </a:rPr>
              <a:t>&gt; &lt;</a:t>
            </a:r>
            <a:r>
              <a:rPr lang="zh-CN" altLang="en-US" sz="2400" dirty="0">
                <a:latin typeface="华文楷体" panose="02010600040101010101" pitchFamily="2" charset="-122"/>
                <a:ea typeface="华文楷体" panose="02010600040101010101" pitchFamily="2" charset="-122"/>
              </a:rPr>
              <a:t>比较运算符</a:t>
            </a:r>
            <a:r>
              <a:rPr lang="en-US" altLang="zh-CN" sz="2400" dirty="0">
                <a:latin typeface="华文楷体" panose="02010600040101010101" pitchFamily="2" charset="-122"/>
                <a:ea typeface="华文楷体" panose="02010600040101010101" pitchFamily="2" charset="-122"/>
              </a:rPr>
              <a:t>&gt;</a:t>
            </a:r>
            <a:endParaRPr lang="en-US" altLang="zh-CN" sz="2400" dirty="0">
              <a:latin typeface="华文楷体" panose="02010600040101010101" pitchFamily="2" charset="-122"/>
              <a:ea typeface="华文楷体" panose="02010600040101010101" pitchFamily="2" charset="-122"/>
            </a:endParaRPr>
          </a:p>
          <a:p>
            <a:r>
              <a:rPr lang="en-US" altLang="zh-CN" sz="2400" dirty="0">
                <a:solidFill>
                  <a:schemeClr val="accent2"/>
                </a:solidFill>
                <a:latin typeface="华文楷体" panose="02010600040101010101" pitchFamily="2" charset="-122"/>
                <a:ea typeface="华文楷体" panose="02010600040101010101" pitchFamily="2" charset="-122"/>
              </a:rPr>
              <a:t>		</a:t>
            </a:r>
            <a:r>
              <a:rPr lang="zh-CN" altLang="en-US" sz="2400" dirty="0">
                <a:solidFill>
                  <a:srgbClr val="0000CC"/>
                </a:solidFill>
                <a:latin typeface="华文楷体" panose="02010600040101010101" pitchFamily="2" charset="-122"/>
                <a:ea typeface="华文楷体" panose="02010600040101010101" pitchFamily="2" charset="-122"/>
              </a:rPr>
              <a:t>（  </a:t>
            </a:r>
            <a:r>
              <a:rPr lang="en-US" altLang="zh-CN" sz="2400" dirty="0">
                <a:solidFill>
                  <a:srgbClr val="0000CC"/>
                </a:solidFill>
                <a:latin typeface="华文楷体" panose="02010600040101010101" pitchFamily="2" charset="-122"/>
                <a:ea typeface="华文楷体" panose="02010600040101010101" pitchFamily="2" charset="-122"/>
              </a:rPr>
              <a:t>SELECT &lt;</a:t>
            </a:r>
            <a:r>
              <a:rPr lang="zh-CN" altLang="en-US" sz="2400" dirty="0">
                <a:solidFill>
                  <a:srgbClr val="0000CC"/>
                </a:solidFill>
                <a:latin typeface="华文楷体" panose="02010600040101010101" pitchFamily="2" charset="-122"/>
                <a:ea typeface="华文楷体" panose="02010600040101010101" pitchFamily="2" charset="-122"/>
              </a:rPr>
              <a:t>查询列</a:t>
            </a:r>
            <a:r>
              <a:rPr lang="en-US" altLang="zh-CN" sz="2400" dirty="0">
                <a:solidFill>
                  <a:srgbClr val="0000CC"/>
                </a:solidFill>
                <a:latin typeface="华文楷体" panose="02010600040101010101" pitchFamily="2" charset="-122"/>
                <a:ea typeface="华文楷体" panose="02010600040101010101" pitchFamily="2" charset="-122"/>
              </a:rPr>
              <a:t>&gt;</a:t>
            </a:r>
            <a:endParaRPr lang="en-US" altLang="zh-CN" sz="2400" dirty="0">
              <a:solidFill>
                <a:srgbClr val="0000CC"/>
              </a:solidFill>
              <a:latin typeface="华文楷体" panose="02010600040101010101" pitchFamily="2" charset="-122"/>
              <a:ea typeface="华文楷体" panose="02010600040101010101" pitchFamily="2" charset="-122"/>
            </a:endParaRPr>
          </a:p>
          <a:p>
            <a:r>
              <a:rPr lang="en-US" altLang="zh-CN" sz="2400" dirty="0">
                <a:solidFill>
                  <a:srgbClr val="0000CC"/>
                </a:solidFill>
                <a:latin typeface="华文楷体" panose="02010600040101010101" pitchFamily="2" charset="-122"/>
                <a:ea typeface="华文楷体" panose="02010600040101010101" pitchFamily="2" charset="-122"/>
              </a:rPr>
              <a:t>		    FROM &lt;</a:t>
            </a:r>
            <a:r>
              <a:rPr lang="zh-CN" altLang="en-US" sz="2400" dirty="0">
                <a:solidFill>
                  <a:srgbClr val="0000CC"/>
                </a:solidFill>
                <a:latin typeface="华文楷体" panose="02010600040101010101" pitchFamily="2" charset="-122"/>
                <a:ea typeface="华文楷体" panose="02010600040101010101" pitchFamily="2" charset="-122"/>
              </a:rPr>
              <a:t>基表名</a:t>
            </a:r>
            <a:r>
              <a:rPr lang="en-US" altLang="zh-CN" sz="2400" dirty="0">
                <a:solidFill>
                  <a:srgbClr val="0000CC"/>
                </a:solidFill>
                <a:latin typeface="华文楷体" panose="02010600040101010101" pitchFamily="2" charset="-122"/>
                <a:ea typeface="华文楷体" panose="02010600040101010101" pitchFamily="2" charset="-122"/>
              </a:rPr>
              <a:t>|</a:t>
            </a:r>
            <a:r>
              <a:rPr lang="zh-CN" altLang="en-US" sz="2400" dirty="0">
                <a:solidFill>
                  <a:srgbClr val="0000CC"/>
                </a:solidFill>
                <a:latin typeface="华文楷体" panose="02010600040101010101" pitchFamily="2" charset="-122"/>
                <a:ea typeface="华文楷体" panose="02010600040101010101" pitchFamily="2" charset="-122"/>
              </a:rPr>
              <a:t>视图名</a:t>
            </a:r>
            <a:r>
              <a:rPr lang="en-US" altLang="zh-CN" sz="2400" dirty="0">
                <a:solidFill>
                  <a:srgbClr val="0000CC"/>
                </a:solidFill>
                <a:latin typeface="华文楷体" panose="02010600040101010101" pitchFamily="2" charset="-122"/>
                <a:ea typeface="华文楷体" panose="02010600040101010101" pitchFamily="2" charset="-122"/>
              </a:rPr>
              <a:t>&gt; [ </a:t>
            </a:r>
            <a:r>
              <a:rPr lang="zh-CN" altLang="en-US" sz="2400" dirty="0">
                <a:solidFill>
                  <a:srgbClr val="0000CC"/>
                </a:solidFill>
                <a:latin typeface="华文楷体" panose="02010600040101010101" pitchFamily="2" charset="-122"/>
                <a:ea typeface="华文楷体" panose="02010600040101010101" pitchFamily="2" charset="-122"/>
              </a:rPr>
              <a:t>别名 </a:t>
            </a:r>
            <a:r>
              <a:rPr lang="en-US" altLang="zh-CN" sz="2400" dirty="0">
                <a:solidFill>
                  <a:srgbClr val="0000CC"/>
                </a:solidFill>
                <a:latin typeface="华文楷体" panose="02010600040101010101" pitchFamily="2" charset="-122"/>
                <a:ea typeface="华文楷体" panose="02010600040101010101" pitchFamily="2" charset="-122"/>
              </a:rPr>
              <a:t>] ……</a:t>
            </a:r>
            <a:endParaRPr lang="en-US" altLang="zh-CN" sz="2400" dirty="0">
              <a:solidFill>
                <a:srgbClr val="0000CC"/>
              </a:solidFill>
              <a:latin typeface="华文楷体" panose="02010600040101010101" pitchFamily="2" charset="-122"/>
              <a:ea typeface="华文楷体" panose="02010600040101010101" pitchFamily="2" charset="-122"/>
            </a:endParaRPr>
          </a:p>
          <a:p>
            <a:r>
              <a:rPr lang="en-US" altLang="zh-CN" sz="2400" dirty="0">
                <a:solidFill>
                  <a:srgbClr val="0000CC"/>
                </a:solidFill>
                <a:latin typeface="华文楷体" panose="02010600040101010101" pitchFamily="2" charset="-122"/>
                <a:ea typeface="华文楷体" panose="02010600040101010101" pitchFamily="2" charset="-122"/>
              </a:rPr>
              <a:t>		    WHERE &lt;</a:t>
            </a:r>
            <a:r>
              <a:rPr lang="zh-CN" altLang="en-US" sz="2400" dirty="0">
                <a:solidFill>
                  <a:srgbClr val="0000CC"/>
                </a:solidFill>
                <a:latin typeface="华文楷体" panose="02010600040101010101" pitchFamily="2" charset="-122"/>
                <a:ea typeface="华文楷体" panose="02010600040101010101" pitchFamily="2" charset="-122"/>
              </a:rPr>
              <a:t>条件表达式</a:t>
            </a:r>
            <a:r>
              <a:rPr lang="en-US" altLang="zh-CN" sz="2400" dirty="0">
                <a:solidFill>
                  <a:srgbClr val="0000CC"/>
                </a:solidFill>
                <a:latin typeface="华文楷体" panose="02010600040101010101" pitchFamily="2" charset="-122"/>
                <a:ea typeface="华文楷体" panose="02010600040101010101" pitchFamily="2" charset="-122"/>
              </a:rPr>
              <a:t>&gt;</a:t>
            </a:r>
            <a:endParaRPr lang="en-US" altLang="zh-CN" sz="2400" dirty="0">
              <a:solidFill>
                <a:srgbClr val="0000CC"/>
              </a:solidFill>
              <a:latin typeface="华文楷体" panose="02010600040101010101" pitchFamily="2" charset="-122"/>
              <a:ea typeface="华文楷体" panose="02010600040101010101" pitchFamily="2" charset="-122"/>
            </a:endParaRPr>
          </a:p>
          <a:p>
            <a:r>
              <a:rPr lang="en-US" altLang="zh-CN" sz="2400" dirty="0">
                <a:solidFill>
                  <a:srgbClr val="0000CC"/>
                </a:solidFill>
                <a:latin typeface="华文楷体" panose="02010600040101010101" pitchFamily="2" charset="-122"/>
                <a:ea typeface="华文楷体" panose="02010600040101010101" pitchFamily="2" charset="-122"/>
              </a:rPr>
              <a:t>		    [ GROUP BY &lt;</a:t>
            </a:r>
            <a:r>
              <a:rPr lang="zh-CN" altLang="en-US" sz="2400" dirty="0">
                <a:solidFill>
                  <a:srgbClr val="0000CC"/>
                </a:solidFill>
                <a:latin typeface="华文楷体" panose="02010600040101010101" pitchFamily="2" charset="-122"/>
                <a:ea typeface="华文楷体" panose="02010600040101010101" pitchFamily="2" charset="-122"/>
              </a:rPr>
              <a:t>分组内容</a:t>
            </a:r>
            <a:r>
              <a:rPr lang="en-US" altLang="zh-CN" sz="2400" dirty="0">
                <a:solidFill>
                  <a:srgbClr val="0000CC"/>
                </a:solidFill>
                <a:latin typeface="华文楷体" panose="02010600040101010101" pitchFamily="2" charset="-122"/>
                <a:ea typeface="华文楷体" panose="02010600040101010101" pitchFamily="2" charset="-122"/>
              </a:rPr>
              <a:t>&gt;] </a:t>
            </a:r>
            <a:endParaRPr lang="en-US" altLang="zh-CN" sz="2400" dirty="0">
              <a:solidFill>
                <a:srgbClr val="0000CC"/>
              </a:solidFill>
              <a:latin typeface="华文楷体" panose="02010600040101010101" pitchFamily="2" charset="-122"/>
              <a:ea typeface="华文楷体" panose="02010600040101010101" pitchFamily="2" charset="-122"/>
            </a:endParaRPr>
          </a:p>
          <a:p>
            <a:r>
              <a:rPr lang="en-US" altLang="zh-CN" sz="2400" dirty="0">
                <a:solidFill>
                  <a:srgbClr val="0000CC"/>
                </a:solidFill>
                <a:latin typeface="华文楷体" panose="02010600040101010101" pitchFamily="2" charset="-122"/>
                <a:ea typeface="华文楷体" panose="02010600040101010101" pitchFamily="2" charset="-122"/>
              </a:rPr>
              <a:t>		    [ HAVING &lt;</a:t>
            </a:r>
            <a:r>
              <a:rPr lang="zh-CN" altLang="en-US" sz="2400" dirty="0">
                <a:solidFill>
                  <a:srgbClr val="0000CC"/>
                </a:solidFill>
                <a:latin typeface="华文楷体" panose="02010600040101010101" pitchFamily="2" charset="-122"/>
                <a:ea typeface="华文楷体" panose="02010600040101010101" pitchFamily="2" charset="-122"/>
              </a:rPr>
              <a:t>组内条件</a:t>
            </a:r>
            <a:r>
              <a:rPr lang="en-US" altLang="zh-CN" sz="2400" dirty="0">
                <a:solidFill>
                  <a:srgbClr val="0000CC"/>
                </a:solidFill>
                <a:latin typeface="华文楷体" panose="02010600040101010101" pitchFamily="2" charset="-122"/>
                <a:ea typeface="华文楷体" panose="02010600040101010101" pitchFamily="2" charset="-122"/>
              </a:rPr>
              <a:t>&gt;]      </a:t>
            </a:r>
            <a:r>
              <a:rPr lang="zh-CN" altLang="en-US" sz="2400" dirty="0">
                <a:solidFill>
                  <a:srgbClr val="0000CC"/>
                </a:solidFill>
                <a:latin typeface="华文楷体" panose="02010600040101010101" pitchFamily="2" charset="-122"/>
                <a:ea typeface="华文楷体" panose="02010600040101010101" pitchFamily="2" charset="-122"/>
              </a:rPr>
              <a:t>） </a:t>
            </a:r>
            <a:endParaRPr lang="zh-CN" altLang="en-US" sz="2400" dirty="0">
              <a:solidFill>
                <a:srgbClr val="0000CC"/>
              </a:solidFill>
              <a:latin typeface="华文楷体" panose="02010600040101010101" pitchFamily="2" charset="-122"/>
              <a:ea typeface="华文楷体" panose="02010600040101010101" pitchFamily="2" charset="-122"/>
            </a:endParaRPr>
          </a:p>
          <a:p>
            <a:r>
              <a:rPr lang="zh-CN" altLang="en-US" sz="2400" dirty="0">
                <a:solidFill>
                  <a:schemeClr val="accent2"/>
                </a:solidFill>
                <a:latin typeface="华文楷体" panose="02010600040101010101" pitchFamily="2" charset="-122"/>
                <a:ea typeface="华文楷体" panose="02010600040101010101" pitchFamily="2" charset="-122"/>
              </a:rPr>
              <a:t>  </a:t>
            </a:r>
            <a:r>
              <a:rPr lang="en-US" altLang="zh-CN" sz="2400" dirty="0">
                <a:latin typeface="华文楷体" panose="02010600040101010101" pitchFamily="2" charset="-122"/>
                <a:ea typeface="华文楷体" panose="02010600040101010101" pitchFamily="2" charset="-122"/>
              </a:rPr>
              <a:t>[ GROUP BY &lt;</a:t>
            </a:r>
            <a:r>
              <a:rPr lang="zh-CN" altLang="en-US" sz="2400" dirty="0">
                <a:latin typeface="华文楷体" panose="02010600040101010101" pitchFamily="2" charset="-122"/>
                <a:ea typeface="华文楷体" panose="02010600040101010101" pitchFamily="2" charset="-122"/>
              </a:rPr>
              <a:t>分组内容</a:t>
            </a:r>
            <a:r>
              <a:rPr lang="en-US" altLang="zh-CN" sz="2400" dirty="0">
                <a:latin typeface="华文楷体" panose="02010600040101010101" pitchFamily="2" charset="-122"/>
                <a:ea typeface="华文楷体" panose="02010600040101010101" pitchFamily="2" charset="-122"/>
              </a:rPr>
              <a:t>&gt;] </a:t>
            </a:r>
            <a:endParaRPr lang="en-US" altLang="zh-CN" sz="2400" dirty="0">
              <a:latin typeface="华文楷体" panose="02010600040101010101" pitchFamily="2" charset="-122"/>
              <a:ea typeface="华文楷体" panose="02010600040101010101" pitchFamily="2" charset="-122"/>
            </a:endParaRPr>
          </a:p>
          <a:p>
            <a:r>
              <a:rPr lang="en-US" altLang="zh-CN" sz="2400" dirty="0">
                <a:latin typeface="华文楷体" panose="02010600040101010101" pitchFamily="2" charset="-122"/>
                <a:ea typeface="华文楷体" panose="02010600040101010101" pitchFamily="2" charset="-122"/>
              </a:rPr>
              <a:t>  [ HAVING &lt;</a:t>
            </a:r>
            <a:r>
              <a:rPr lang="zh-CN" altLang="en-US" sz="2400" dirty="0">
                <a:latin typeface="华文楷体" panose="02010600040101010101" pitchFamily="2" charset="-122"/>
                <a:ea typeface="华文楷体" panose="02010600040101010101" pitchFamily="2" charset="-122"/>
              </a:rPr>
              <a:t>组内条件</a:t>
            </a:r>
            <a:r>
              <a:rPr lang="en-US" altLang="zh-CN" sz="2400" dirty="0">
                <a:latin typeface="华文楷体" panose="02010600040101010101" pitchFamily="2" charset="-122"/>
                <a:ea typeface="华文楷体" panose="02010600040101010101" pitchFamily="2" charset="-122"/>
              </a:rPr>
              <a:t>&gt;] </a:t>
            </a:r>
            <a:endParaRPr lang="en-US" altLang="zh-CN" sz="2400" dirty="0">
              <a:latin typeface="华文楷体" panose="02010600040101010101" pitchFamily="2" charset="-122"/>
              <a:ea typeface="华文楷体" panose="02010600040101010101" pitchFamily="2" charset="-122"/>
            </a:endParaRPr>
          </a:p>
          <a:p>
            <a:r>
              <a:rPr lang="en-US" altLang="zh-CN" sz="2400" dirty="0">
                <a:latin typeface="华文楷体" panose="02010600040101010101" pitchFamily="2" charset="-122"/>
                <a:ea typeface="华文楷体" panose="02010600040101010101" pitchFamily="2" charset="-122"/>
              </a:rPr>
              <a:t>  [ ORDER BY &lt;</a:t>
            </a:r>
            <a:r>
              <a:rPr lang="zh-CN" altLang="en-US" sz="2400" dirty="0">
                <a:latin typeface="华文楷体" panose="02010600040101010101" pitchFamily="2" charset="-122"/>
                <a:ea typeface="华文楷体" panose="02010600040101010101" pitchFamily="2" charset="-122"/>
              </a:rPr>
              <a:t>排序列名</a:t>
            </a:r>
            <a:r>
              <a:rPr lang="en-US" altLang="zh-CN" sz="2400" dirty="0">
                <a:latin typeface="华文楷体" panose="02010600040101010101" pitchFamily="2" charset="-122"/>
                <a:ea typeface="华文楷体" panose="02010600040101010101" pitchFamily="2" charset="-122"/>
              </a:rPr>
              <a:t>&gt;[ ASC | DESC ] ]</a:t>
            </a:r>
            <a:endParaRPr lang="en-US" altLang="zh-CN" sz="2400" dirty="0">
              <a:latin typeface="华文楷体" panose="02010600040101010101" pitchFamily="2" charset="-122"/>
              <a:ea typeface="华文楷体" panose="02010600040101010101" pitchFamily="2" charset="-122"/>
            </a:endParaRPr>
          </a:p>
        </p:txBody>
      </p:sp>
      <p:sp>
        <p:nvSpPr>
          <p:cNvPr id="80900" name="Text Box 3"/>
          <p:cNvSpPr txBox="1"/>
          <p:nvPr/>
        </p:nvSpPr>
        <p:spPr>
          <a:xfrm>
            <a:off x="525463" y="725488"/>
            <a:ext cx="8064500" cy="641350"/>
          </a:xfrm>
          <a:prstGeom prst="rect">
            <a:avLst/>
          </a:prstGeom>
          <a:noFill/>
          <a:ln w="9525">
            <a:noFill/>
          </a:ln>
        </p:spPr>
        <p:txBody>
          <a:bodyPr anchor="t" anchorCtr="0">
            <a:spAutoFit/>
          </a:bodyPr>
          <a:p>
            <a:pPr>
              <a:spcBef>
                <a:spcPct val="50000"/>
              </a:spcBef>
            </a:pPr>
            <a:r>
              <a:rPr lang="zh-CN" altLang="en-US" sz="2800" dirty="0">
                <a:solidFill>
                  <a:srgbClr val="CC0000"/>
                </a:solidFill>
                <a:latin typeface="宋体" panose="02010600030101010101" pitchFamily="2" charset="-122"/>
                <a:ea typeface="宋体" panose="02010600030101010101" pitchFamily="2" charset="-122"/>
              </a:rPr>
              <a:t>（</a:t>
            </a:r>
            <a:r>
              <a:rPr lang="en-US" altLang="zh-CN" sz="2800" dirty="0">
                <a:solidFill>
                  <a:srgbClr val="CC0000"/>
                </a:solidFill>
                <a:latin typeface="宋体" panose="02010600030101010101" pitchFamily="2" charset="-122"/>
                <a:ea typeface="宋体" panose="02010600030101010101" pitchFamily="2" charset="-122"/>
              </a:rPr>
              <a:t>6</a:t>
            </a:r>
            <a:r>
              <a:rPr lang="zh-CN" altLang="en-US" sz="2800" dirty="0">
                <a:solidFill>
                  <a:srgbClr val="CC0000"/>
                </a:solidFill>
                <a:latin typeface="宋体" panose="02010600030101010101" pitchFamily="2" charset="-122"/>
                <a:ea typeface="宋体" panose="02010600030101010101" pitchFamily="2" charset="-122"/>
              </a:rPr>
              <a:t>）嵌套子查询（</a:t>
            </a:r>
            <a:r>
              <a:rPr lang="en-US" altLang="zh-CN" sz="2800" dirty="0">
                <a:solidFill>
                  <a:srgbClr val="CC0000"/>
                </a:solidFill>
                <a:latin typeface="宋体" panose="02010600030101010101" pitchFamily="2" charset="-122"/>
                <a:ea typeface="宋体" panose="02010600030101010101" pitchFamily="2" charset="-122"/>
              </a:rPr>
              <a:t>Nested Sub-Query</a:t>
            </a:r>
            <a:r>
              <a:rPr lang="zh-CN" altLang="en-US" sz="3600" dirty="0">
                <a:solidFill>
                  <a:srgbClr val="CC0000"/>
                </a:solidFill>
                <a:latin typeface="宋体" panose="02010600030101010101" pitchFamily="2" charset="-122"/>
                <a:ea typeface="宋体" panose="02010600030101010101" pitchFamily="2" charset="-122"/>
              </a:rPr>
              <a:t>）</a:t>
            </a:r>
            <a:endParaRPr lang="zh-CN" altLang="en-US" sz="3600" dirty="0">
              <a:solidFill>
                <a:srgbClr val="CC0000"/>
              </a:solidFill>
              <a:latin typeface="宋体" panose="02010600030101010101" pitchFamily="2" charset="-122"/>
              <a:ea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49"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三、数据库操纵子语言及其操作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81923" name="Text Box 3"/>
          <p:cNvSpPr txBox="1"/>
          <p:nvPr/>
        </p:nvSpPr>
        <p:spPr>
          <a:xfrm>
            <a:off x="541338" y="1993900"/>
            <a:ext cx="8280400" cy="3540125"/>
          </a:xfrm>
          <a:prstGeom prst="rect">
            <a:avLst/>
          </a:prstGeom>
          <a:noFill/>
          <a:ln w="9525">
            <a:noFill/>
          </a:ln>
        </p:spPr>
        <p:txBody>
          <a:bodyPr anchor="t" anchorCtr="0">
            <a:spAutoFit/>
          </a:bodyPr>
          <a:p>
            <a:pPr>
              <a:lnSpc>
                <a:spcPct val="120000"/>
              </a:lnSpc>
              <a:spcBef>
                <a:spcPct val="50000"/>
              </a:spcBef>
            </a:pPr>
            <a:r>
              <a:rPr lang="en-US" altLang="zh-CN" sz="2400" dirty="0">
                <a:latin typeface="华文楷体" panose="02010600040101010101" pitchFamily="2" charset="-122"/>
                <a:ea typeface="华文楷体" panose="02010600040101010101" pitchFamily="2" charset="-122"/>
              </a:rPr>
              <a:t>(1)</a:t>
            </a:r>
            <a:r>
              <a:rPr lang="zh-CN" altLang="en-US" sz="2400" dirty="0">
                <a:latin typeface="华文楷体" panose="02010600040101010101" pitchFamily="2" charset="-122"/>
                <a:ea typeface="华文楷体" panose="02010600040101010101" pitchFamily="2" charset="-122"/>
              </a:rPr>
              <a:t>子查询之中允许嵌套另一个子查询，但最多嵌套</a:t>
            </a:r>
            <a:r>
              <a:rPr lang="en-US" altLang="zh-CN" sz="2400" dirty="0">
                <a:latin typeface="华文楷体" panose="02010600040101010101" pitchFamily="2" charset="-122"/>
                <a:ea typeface="华文楷体" panose="02010600040101010101" pitchFamily="2" charset="-122"/>
              </a:rPr>
              <a:t>255</a:t>
            </a:r>
            <a:r>
              <a:rPr lang="zh-CN" altLang="en-US" sz="2400" dirty="0">
                <a:latin typeface="华文楷体" panose="02010600040101010101" pitchFamily="2" charset="-122"/>
                <a:ea typeface="华文楷体" panose="02010600040101010101" pitchFamily="2" charset="-122"/>
              </a:rPr>
              <a:t>层，并且总是从嵌套层次最深的一层开始执行，然后再执行它的直接上一层，直至完成整个查询。 </a:t>
            </a:r>
            <a:endParaRPr lang="zh-CN" altLang="en-US" sz="2400" dirty="0">
              <a:latin typeface="华文楷体" panose="02010600040101010101" pitchFamily="2" charset="-122"/>
              <a:ea typeface="华文楷体" panose="02010600040101010101" pitchFamily="2" charset="-122"/>
            </a:endParaRPr>
          </a:p>
          <a:p>
            <a:pPr>
              <a:lnSpc>
                <a:spcPct val="120000"/>
              </a:lnSpc>
              <a:spcBef>
                <a:spcPct val="50000"/>
              </a:spcBef>
            </a:pPr>
            <a:r>
              <a:rPr lang="en-US" altLang="zh-CN" sz="2400" dirty="0">
                <a:latin typeface="华文楷体" panose="02010600040101010101" pitchFamily="2" charset="-122"/>
                <a:ea typeface="华文楷体" panose="02010600040101010101" pitchFamily="2" charset="-122"/>
              </a:rPr>
              <a:t>(2) </a:t>
            </a:r>
            <a:r>
              <a:rPr lang="zh-CN" altLang="en-US" sz="2400" dirty="0">
                <a:latin typeface="华文楷体" panose="02010600040101010101" pitchFamily="2" charset="-122"/>
                <a:ea typeface="华文楷体" panose="02010600040101010101" pitchFamily="2" charset="-122"/>
              </a:rPr>
              <a:t>子查询返回为单值时，可用“算术比较符”；返回多列或多行值，则用</a:t>
            </a:r>
            <a:r>
              <a:rPr lang="en-US" altLang="zh-CN" sz="2400" dirty="0">
                <a:latin typeface="华文楷体" panose="02010600040101010101" pitchFamily="2" charset="-122"/>
                <a:ea typeface="华文楷体" panose="02010600040101010101" pitchFamily="2" charset="-122"/>
              </a:rPr>
              <a:t>IN</a:t>
            </a: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ANY</a:t>
            </a: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ALL</a:t>
            </a: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EXISTS</a:t>
            </a:r>
            <a:r>
              <a:rPr lang="zh-CN" altLang="en-US" sz="2400" dirty="0">
                <a:latin typeface="华文楷体" panose="02010600040101010101" pitchFamily="2" charset="-122"/>
                <a:ea typeface="华文楷体" panose="02010600040101010101" pitchFamily="2" charset="-122"/>
              </a:rPr>
              <a:t>等运算符。</a:t>
            </a:r>
            <a:endParaRPr lang="zh-CN" altLang="en-US" sz="2400" dirty="0">
              <a:latin typeface="华文楷体" panose="02010600040101010101" pitchFamily="2" charset="-122"/>
              <a:ea typeface="华文楷体" panose="02010600040101010101" pitchFamily="2" charset="-122"/>
            </a:endParaRPr>
          </a:p>
          <a:p>
            <a:pPr>
              <a:lnSpc>
                <a:spcPct val="120000"/>
              </a:lnSpc>
              <a:spcBef>
                <a:spcPct val="50000"/>
              </a:spcBef>
            </a:pPr>
            <a:r>
              <a:rPr lang="zh-CN" altLang="en-US" sz="2400" dirty="0">
                <a:solidFill>
                  <a:srgbClr val="0000CC"/>
                </a:solidFill>
                <a:latin typeface="华文楷体" panose="02010600040101010101" pitchFamily="2" charset="-122"/>
                <a:ea typeface="华文楷体" panose="02010600040101010101" pitchFamily="2" charset="-122"/>
              </a:rPr>
              <a:t>相关子查询：</a:t>
            </a:r>
            <a:r>
              <a:rPr lang="zh-CN" altLang="en-US" sz="2400" dirty="0">
                <a:latin typeface="华文楷体" panose="02010600040101010101" pitchFamily="2" charset="-122"/>
                <a:ea typeface="华文楷体" panose="02010600040101010101" pitchFamily="2" charset="-122"/>
              </a:rPr>
              <a:t>子查询与来自主查询（或称外查询）的列有关。意味着子查询是重复执行的，每一次处理外查询结果的一行。 </a:t>
            </a:r>
            <a:endParaRPr lang="zh-CN" altLang="en-US" sz="2400" dirty="0">
              <a:latin typeface="华文楷体" panose="02010600040101010101" pitchFamily="2" charset="-122"/>
              <a:ea typeface="华文楷体" panose="02010600040101010101" pitchFamily="2" charset="-122"/>
            </a:endParaRPr>
          </a:p>
        </p:txBody>
      </p:sp>
      <p:sp>
        <p:nvSpPr>
          <p:cNvPr id="81924" name="Text Box 3"/>
          <p:cNvSpPr txBox="1"/>
          <p:nvPr/>
        </p:nvSpPr>
        <p:spPr>
          <a:xfrm>
            <a:off x="576263" y="1428750"/>
            <a:ext cx="8064500" cy="523875"/>
          </a:xfrm>
          <a:prstGeom prst="rect">
            <a:avLst/>
          </a:prstGeom>
          <a:noFill/>
          <a:ln w="9525">
            <a:noFill/>
          </a:ln>
        </p:spPr>
        <p:txBody>
          <a:bodyPr anchor="t" anchorCtr="0">
            <a:spAutoFit/>
          </a:bodyPr>
          <a:p>
            <a:pPr>
              <a:spcBef>
                <a:spcPct val="50000"/>
              </a:spcBef>
              <a:buFont typeface="Wingdings" panose="05000000000000000000" pitchFamily="2" charset="2"/>
              <a:buChar char="Ø"/>
            </a:pPr>
            <a:r>
              <a:rPr lang="zh-CN" altLang="en-US" sz="2800" dirty="0">
                <a:solidFill>
                  <a:srgbClr val="CC0000"/>
                </a:solidFill>
                <a:latin typeface="宋体" panose="02010600030101010101" pitchFamily="2" charset="-122"/>
                <a:ea typeface="宋体" panose="02010600030101010101" pitchFamily="2" charset="-122"/>
              </a:rPr>
              <a:t> 说明</a:t>
            </a:r>
            <a:r>
              <a:rPr lang="en-US" altLang="zh-CN" sz="2800" dirty="0">
                <a:solidFill>
                  <a:srgbClr val="CC0000"/>
                </a:solidFill>
                <a:latin typeface="宋体" panose="02010600030101010101" pitchFamily="2" charset="-122"/>
                <a:ea typeface="宋体" panose="02010600030101010101" pitchFamily="2" charset="-122"/>
              </a:rPr>
              <a:t>:</a:t>
            </a:r>
            <a:endParaRPr lang="zh-CN" altLang="en-US" sz="3600" dirty="0">
              <a:solidFill>
                <a:srgbClr val="CC0000"/>
              </a:solidFill>
              <a:latin typeface="宋体" panose="02010600030101010101" pitchFamily="2" charset="-122"/>
              <a:ea typeface="宋体" panose="02010600030101010101" pitchFamily="2" charset="-122"/>
            </a:endParaRPr>
          </a:p>
        </p:txBody>
      </p:sp>
      <p:sp>
        <p:nvSpPr>
          <p:cNvPr id="81925" name="Text Box 3"/>
          <p:cNvSpPr txBox="1"/>
          <p:nvPr/>
        </p:nvSpPr>
        <p:spPr>
          <a:xfrm>
            <a:off x="525463" y="725488"/>
            <a:ext cx="8064500" cy="641350"/>
          </a:xfrm>
          <a:prstGeom prst="rect">
            <a:avLst/>
          </a:prstGeom>
          <a:noFill/>
          <a:ln w="9525">
            <a:noFill/>
          </a:ln>
        </p:spPr>
        <p:txBody>
          <a:bodyPr anchor="t" anchorCtr="0">
            <a:spAutoFit/>
          </a:bodyPr>
          <a:p>
            <a:pPr>
              <a:spcBef>
                <a:spcPct val="50000"/>
              </a:spcBef>
            </a:pPr>
            <a:r>
              <a:rPr lang="zh-CN" altLang="en-US" sz="2800" dirty="0">
                <a:solidFill>
                  <a:srgbClr val="CC0000"/>
                </a:solidFill>
                <a:latin typeface="宋体" panose="02010600030101010101" pitchFamily="2" charset="-122"/>
                <a:ea typeface="宋体" panose="02010600030101010101" pitchFamily="2" charset="-122"/>
              </a:rPr>
              <a:t>（</a:t>
            </a:r>
            <a:r>
              <a:rPr lang="en-US" altLang="zh-CN" sz="2800" dirty="0">
                <a:solidFill>
                  <a:srgbClr val="CC0000"/>
                </a:solidFill>
                <a:latin typeface="宋体" panose="02010600030101010101" pitchFamily="2" charset="-122"/>
                <a:ea typeface="宋体" panose="02010600030101010101" pitchFamily="2" charset="-122"/>
              </a:rPr>
              <a:t>6</a:t>
            </a:r>
            <a:r>
              <a:rPr lang="zh-CN" altLang="en-US" sz="2800" dirty="0">
                <a:solidFill>
                  <a:srgbClr val="CC0000"/>
                </a:solidFill>
                <a:latin typeface="宋体" panose="02010600030101010101" pitchFamily="2" charset="-122"/>
                <a:ea typeface="宋体" panose="02010600030101010101" pitchFamily="2" charset="-122"/>
              </a:rPr>
              <a:t>）嵌套子查询（</a:t>
            </a:r>
            <a:r>
              <a:rPr lang="en-US" altLang="zh-CN" sz="2800" dirty="0">
                <a:solidFill>
                  <a:srgbClr val="CC0000"/>
                </a:solidFill>
                <a:latin typeface="宋体" panose="02010600030101010101" pitchFamily="2" charset="-122"/>
                <a:ea typeface="宋体" panose="02010600030101010101" pitchFamily="2" charset="-122"/>
              </a:rPr>
              <a:t>Nested Sub-Query</a:t>
            </a:r>
            <a:r>
              <a:rPr lang="zh-CN" altLang="en-US" sz="3600" dirty="0">
                <a:solidFill>
                  <a:srgbClr val="CC0000"/>
                </a:solidFill>
                <a:latin typeface="宋体" panose="02010600030101010101" pitchFamily="2" charset="-122"/>
                <a:ea typeface="宋体" panose="02010600030101010101" pitchFamily="2" charset="-122"/>
              </a:rPr>
              <a:t>）</a:t>
            </a:r>
            <a:endParaRPr lang="zh-CN" altLang="en-US" sz="3600" dirty="0">
              <a:solidFill>
                <a:srgbClr val="CC0000"/>
              </a:solidFill>
              <a:latin typeface="宋体" panose="02010600030101010101" pitchFamily="2" charset="-122"/>
              <a:ea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3"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三、数据库操纵子语言及其操作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82947" name="Rectangle 3"/>
          <p:cNvSpPr txBox="1"/>
          <p:nvPr/>
        </p:nvSpPr>
        <p:spPr>
          <a:xfrm>
            <a:off x="533400" y="1571625"/>
            <a:ext cx="8255000" cy="2535238"/>
          </a:xfrm>
          <a:prstGeom prst="rect">
            <a:avLst/>
          </a:prstGeom>
          <a:noFill/>
          <a:ln w="9525">
            <a:noFill/>
          </a:ln>
        </p:spPr>
        <p:txBody>
          <a:bodyPr anchor="t" anchorCtr="0"/>
          <a:p>
            <a:pPr marL="342900" indent="-342900">
              <a:lnSpc>
                <a:spcPct val="90000"/>
              </a:lnSpc>
              <a:spcBef>
                <a:spcPct val="20000"/>
              </a:spcBef>
              <a:buClr>
                <a:srgbClr val="0033CC"/>
              </a:buClr>
              <a:buSzPct val="80000"/>
            </a:pPr>
            <a:r>
              <a:rPr lang="en-US" altLang="zh-CN" sz="2400" dirty="0">
                <a:latin typeface="华文楷体" panose="02010600040101010101" pitchFamily="2" charset="-122"/>
                <a:ea typeface="宋体" panose="02010600030101010101" pitchFamily="2" charset="-122"/>
              </a:rPr>
              <a:t>SELECT emp.empno, emp.ename, emp.job, emp.sal</a:t>
            </a:r>
            <a:endParaRPr lang="en-US" altLang="zh-CN" sz="2400" dirty="0">
              <a:latin typeface="华文楷体" panose="02010600040101010101" pitchFamily="2" charset="-122"/>
              <a:ea typeface="宋体" panose="02010600030101010101" pitchFamily="2" charset="-122"/>
            </a:endParaRPr>
          </a:p>
          <a:p>
            <a:pPr marL="342900" indent="-342900">
              <a:lnSpc>
                <a:spcPct val="90000"/>
              </a:lnSpc>
              <a:spcBef>
                <a:spcPct val="20000"/>
              </a:spcBef>
              <a:buClr>
                <a:srgbClr val="0033CC"/>
              </a:buClr>
              <a:buSzPct val="80000"/>
            </a:pPr>
            <a:r>
              <a:rPr lang="en-US" altLang="zh-CN" sz="2400" dirty="0">
                <a:latin typeface="华文楷体" panose="02010600040101010101" pitchFamily="2" charset="-122"/>
                <a:ea typeface="宋体" panose="02010600030101010101" pitchFamily="2" charset="-122"/>
              </a:rPr>
              <a:t>FROM    emp </a:t>
            </a:r>
            <a:endParaRPr lang="en-US" altLang="zh-CN" sz="2400" dirty="0">
              <a:latin typeface="华文楷体" panose="02010600040101010101" pitchFamily="2" charset="-122"/>
              <a:ea typeface="宋体" panose="02010600030101010101" pitchFamily="2" charset="-122"/>
            </a:endParaRPr>
          </a:p>
          <a:p>
            <a:pPr marL="342900" indent="-342900">
              <a:lnSpc>
                <a:spcPct val="90000"/>
              </a:lnSpc>
              <a:spcBef>
                <a:spcPct val="20000"/>
              </a:spcBef>
              <a:buClr>
                <a:srgbClr val="0033CC"/>
              </a:buClr>
              <a:buSzPct val="80000"/>
            </a:pPr>
            <a:r>
              <a:rPr lang="en-US" altLang="zh-CN" sz="2400" dirty="0">
                <a:latin typeface="华文楷体" panose="02010600040101010101" pitchFamily="2" charset="-122"/>
                <a:ea typeface="宋体" panose="02010600030101010101" pitchFamily="2" charset="-122"/>
              </a:rPr>
              <a:t>WHERE  sal &gt;= (</a:t>
            </a:r>
            <a:r>
              <a:rPr lang="en-US" altLang="zh-CN" sz="2400" dirty="0">
                <a:solidFill>
                  <a:srgbClr val="0000CC"/>
                </a:solidFill>
                <a:latin typeface="华文楷体" panose="02010600040101010101" pitchFamily="2" charset="-122"/>
                <a:ea typeface="宋体" panose="02010600030101010101" pitchFamily="2" charset="-122"/>
              </a:rPr>
              <a:t>SELECT sal    FROM emp </a:t>
            </a:r>
            <a:endParaRPr lang="en-US" altLang="zh-CN" sz="2400" dirty="0">
              <a:solidFill>
                <a:srgbClr val="0000CC"/>
              </a:solidFill>
              <a:latin typeface="华文楷体" panose="02010600040101010101" pitchFamily="2" charset="-122"/>
              <a:ea typeface="宋体" panose="02010600030101010101" pitchFamily="2" charset="-122"/>
            </a:endParaRPr>
          </a:p>
          <a:p>
            <a:pPr marL="342900" indent="-342900">
              <a:lnSpc>
                <a:spcPct val="90000"/>
              </a:lnSpc>
              <a:spcBef>
                <a:spcPct val="20000"/>
              </a:spcBef>
              <a:buClr>
                <a:srgbClr val="0033CC"/>
              </a:buClr>
              <a:buSzPct val="80000"/>
            </a:pPr>
            <a:r>
              <a:rPr lang="en-US" altLang="zh-CN" sz="2400" dirty="0">
                <a:solidFill>
                  <a:srgbClr val="0000CC"/>
                </a:solidFill>
                <a:latin typeface="华文楷体" panose="02010600040101010101" pitchFamily="2" charset="-122"/>
                <a:ea typeface="宋体" panose="02010600030101010101" pitchFamily="2" charset="-122"/>
              </a:rPr>
              <a:t>                                WHERE ename='WARD' )</a:t>
            </a:r>
            <a:endParaRPr lang="en-US" altLang="zh-CN" sz="2400" dirty="0">
              <a:latin typeface="华文楷体" panose="02010600040101010101" pitchFamily="2" charset="-122"/>
              <a:ea typeface="宋体" panose="02010600030101010101" pitchFamily="2" charset="-122"/>
            </a:endParaRPr>
          </a:p>
          <a:p>
            <a:pPr marL="342900" indent="-342900">
              <a:lnSpc>
                <a:spcPct val="90000"/>
              </a:lnSpc>
              <a:spcBef>
                <a:spcPct val="20000"/>
              </a:spcBef>
              <a:buClr>
                <a:srgbClr val="0033CC"/>
              </a:buClr>
              <a:buSzPct val="80000"/>
            </a:pPr>
            <a:endParaRPr lang="en-US" altLang="zh-CN" sz="2400" dirty="0">
              <a:latin typeface="华文楷体" panose="02010600040101010101" pitchFamily="2" charset="-122"/>
              <a:ea typeface="宋体" panose="02010600030101010101" pitchFamily="2" charset="-122"/>
            </a:endParaRPr>
          </a:p>
          <a:p>
            <a:pPr marL="342900" indent="-342900">
              <a:lnSpc>
                <a:spcPct val="125000"/>
              </a:lnSpc>
              <a:spcBef>
                <a:spcPct val="20000"/>
              </a:spcBef>
              <a:buClr>
                <a:srgbClr val="0033CC"/>
              </a:buClr>
              <a:buSzPct val="80000"/>
            </a:pPr>
            <a:r>
              <a:rPr lang="zh-CN" altLang="en-US" sz="2400" dirty="0">
                <a:latin typeface="华文楷体" panose="02010600040101010101" pitchFamily="2" charset="-122"/>
                <a:ea typeface="宋体" panose="02010600030101010101" pitchFamily="2" charset="-122"/>
              </a:rPr>
              <a:t>子查询</a:t>
            </a:r>
            <a:r>
              <a:rPr lang="en-US" altLang="zh-CN" sz="2400" dirty="0">
                <a:latin typeface="华文楷体" panose="02010600040101010101" pitchFamily="2" charset="-122"/>
                <a:ea typeface="宋体" panose="02010600030101010101" pitchFamily="2" charset="-122"/>
              </a:rPr>
              <a:t>:</a:t>
            </a:r>
            <a:r>
              <a:rPr lang="zh-CN" altLang="en-US" sz="2400" dirty="0">
                <a:latin typeface="华文楷体" panose="02010600040101010101" pitchFamily="2" charset="-122"/>
                <a:ea typeface="宋体" panose="02010600030101010101" pitchFamily="2" charset="-122"/>
              </a:rPr>
              <a:t>从</a:t>
            </a:r>
            <a:r>
              <a:rPr lang="en-US" altLang="zh-CN" sz="2400" dirty="0">
                <a:latin typeface="华文楷体" panose="02010600040101010101" pitchFamily="2" charset="-122"/>
                <a:ea typeface="宋体" panose="02010600030101010101" pitchFamily="2" charset="-122"/>
              </a:rPr>
              <a:t>emp</a:t>
            </a:r>
            <a:r>
              <a:rPr lang="zh-CN" altLang="en-US" sz="2400" dirty="0">
                <a:latin typeface="华文楷体" panose="02010600040101010101" pitchFamily="2" charset="-122"/>
                <a:ea typeface="宋体" panose="02010600030101010101" pitchFamily="2" charset="-122"/>
              </a:rPr>
              <a:t>数据表中查询姓名为</a:t>
            </a:r>
            <a:r>
              <a:rPr lang="en-US" altLang="zh-CN" sz="2400" dirty="0">
                <a:latin typeface="华文楷体" panose="02010600040101010101" pitchFamily="2" charset="-122"/>
                <a:ea typeface="宋体" panose="02010600030101010101" pitchFamily="2" charset="-122"/>
              </a:rPr>
              <a:t>WARD</a:t>
            </a:r>
            <a:r>
              <a:rPr lang="zh-CN" altLang="en-US" sz="2400" dirty="0">
                <a:latin typeface="华文楷体" panose="02010600040101010101" pitchFamily="2" charset="-122"/>
                <a:ea typeface="宋体" panose="02010600030101010101" pitchFamily="2" charset="-122"/>
              </a:rPr>
              <a:t>的员工的薪水</a:t>
            </a:r>
            <a:endParaRPr lang="zh-CN" altLang="en-US" sz="2400" dirty="0">
              <a:latin typeface="华文楷体" panose="02010600040101010101" pitchFamily="2" charset="-122"/>
              <a:ea typeface="宋体" panose="02010600030101010101" pitchFamily="2" charset="-122"/>
            </a:endParaRPr>
          </a:p>
          <a:p>
            <a:pPr marL="342900" indent="-342900">
              <a:lnSpc>
                <a:spcPct val="125000"/>
              </a:lnSpc>
              <a:spcBef>
                <a:spcPct val="20000"/>
              </a:spcBef>
              <a:buClr>
                <a:srgbClr val="0033CC"/>
              </a:buClr>
              <a:buSzPct val="80000"/>
            </a:pPr>
            <a:r>
              <a:rPr lang="zh-CN" altLang="en-US" sz="2400" dirty="0">
                <a:latin typeface="华文楷体" panose="02010600040101010101" pitchFamily="2" charset="-122"/>
                <a:ea typeface="宋体" panose="02010600030101010101" pitchFamily="2" charset="-122"/>
              </a:rPr>
              <a:t>父查询</a:t>
            </a:r>
            <a:r>
              <a:rPr lang="en-US" altLang="zh-CN" sz="2400" dirty="0">
                <a:latin typeface="华文楷体" panose="02010600040101010101" pitchFamily="2" charset="-122"/>
                <a:ea typeface="宋体" panose="02010600030101010101" pitchFamily="2" charset="-122"/>
              </a:rPr>
              <a:t>:</a:t>
            </a:r>
            <a:r>
              <a:rPr lang="zh-CN" altLang="en-US" sz="2400" dirty="0">
                <a:latin typeface="华文楷体" panose="02010600040101010101" pitchFamily="2" charset="-122"/>
                <a:ea typeface="宋体" panose="02010600030101010101" pitchFamily="2" charset="-122"/>
              </a:rPr>
              <a:t>找出</a:t>
            </a:r>
            <a:r>
              <a:rPr lang="en-US" altLang="zh-CN" sz="2400" dirty="0">
                <a:latin typeface="华文楷体" panose="02010600040101010101" pitchFamily="2" charset="-122"/>
                <a:ea typeface="宋体" panose="02010600030101010101" pitchFamily="2" charset="-122"/>
              </a:rPr>
              <a:t>emp</a:t>
            </a:r>
            <a:r>
              <a:rPr lang="zh-CN" altLang="en-US" sz="2400" dirty="0">
                <a:latin typeface="华文楷体" panose="02010600040101010101" pitchFamily="2" charset="-122"/>
                <a:ea typeface="宋体" panose="02010600030101010101" pitchFamily="2" charset="-122"/>
              </a:rPr>
              <a:t>数据表中薪水大于等于</a:t>
            </a:r>
            <a:r>
              <a:rPr lang="en-US" altLang="zh-CN" sz="2400" dirty="0">
                <a:latin typeface="华文楷体" panose="02010600040101010101" pitchFamily="2" charset="-122"/>
                <a:ea typeface="宋体" panose="02010600030101010101" pitchFamily="2" charset="-122"/>
              </a:rPr>
              <a:t>WARD</a:t>
            </a:r>
            <a:r>
              <a:rPr lang="zh-CN" altLang="en-US" sz="2400" dirty="0">
                <a:latin typeface="华文楷体" panose="02010600040101010101" pitchFamily="2" charset="-122"/>
                <a:ea typeface="宋体" panose="02010600030101010101" pitchFamily="2" charset="-122"/>
              </a:rPr>
              <a:t>的薪水的员工</a:t>
            </a:r>
            <a:endParaRPr lang="zh-CN" altLang="en-US" sz="2400" dirty="0">
              <a:latin typeface="华文楷体" panose="02010600040101010101" pitchFamily="2" charset="-122"/>
              <a:ea typeface="宋体" panose="02010600030101010101" pitchFamily="2" charset="-122"/>
            </a:endParaRPr>
          </a:p>
        </p:txBody>
      </p:sp>
      <p:sp>
        <p:nvSpPr>
          <p:cNvPr id="105475" name="Rectangle 2"/>
          <p:cNvSpPr txBox="1"/>
          <p:nvPr/>
        </p:nvSpPr>
        <p:spPr>
          <a:xfrm>
            <a:off x="515938" y="927100"/>
            <a:ext cx="8229600" cy="706438"/>
          </a:xfrm>
          <a:prstGeom prst="rect">
            <a:avLst/>
          </a:prstGeom>
          <a:noFill/>
          <a:ln w="9525">
            <a:noFill/>
          </a:ln>
        </p:spPr>
        <p:txBody>
          <a:bodyPr anchor="t" anchorCtr="0"/>
          <a:p>
            <a:pPr>
              <a:buFont typeface="Wingdings" panose="05000000000000000000" pitchFamily="2" charset="2"/>
              <a:buChar char="p"/>
            </a:pPr>
            <a:r>
              <a:rPr lang="zh-CN" altLang="en-US" sz="2800" dirty="0">
                <a:solidFill>
                  <a:srgbClr val="3333CC"/>
                </a:solidFill>
                <a:latin typeface="Arial" panose="020B0604020202020204" pitchFamily="34" charset="0"/>
                <a:ea typeface="黑体" panose="02010609060101010101" pitchFamily="1" charset="-122"/>
              </a:rPr>
              <a:t> 嵌套子查询实例一</a:t>
            </a:r>
            <a:endParaRPr lang="zh-CN" altLang="en-US" sz="2800" dirty="0">
              <a:solidFill>
                <a:srgbClr val="33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2947">
                                            <p:txEl>
                                              <p:charRg st="152" end="180"/>
                                            </p:txEl>
                                          </p:spTgt>
                                        </p:tgtEl>
                                        <p:attrNameLst>
                                          <p:attrName>style.visibility</p:attrName>
                                        </p:attrNameLst>
                                      </p:cBhvr>
                                      <p:to>
                                        <p:strVal val="visible"/>
                                      </p:to>
                                    </p:set>
                                    <p:animEffect transition="in" filter="blinds(horizontal)">
                                      <p:cBhvr>
                                        <p:cTn id="7" dur="500"/>
                                        <p:tgtEl>
                                          <p:spTgt spid="82947">
                                            <p:txEl>
                                              <p:charRg st="152" end="18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2947">
                                            <p:txEl>
                                              <p:charRg st="180" end="210"/>
                                            </p:txEl>
                                          </p:spTgt>
                                        </p:tgtEl>
                                        <p:attrNameLst>
                                          <p:attrName>style.visibility</p:attrName>
                                        </p:attrNameLst>
                                      </p:cBhvr>
                                      <p:to>
                                        <p:strVal val="visible"/>
                                      </p:to>
                                    </p:set>
                                    <p:animEffect transition="in" filter="blinds(horizontal)">
                                      <p:cBhvr>
                                        <p:cTn id="12" dur="500"/>
                                        <p:tgtEl>
                                          <p:spTgt spid="82947">
                                            <p:txEl>
                                              <p:charRg st="180" end="2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5"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1" charset="-122"/>
              </a:rPr>
              <a:t>四、</a:t>
            </a:r>
            <a:r>
              <a:rPr lang="en-US" altLang="zh-CN" sz="3200" dirty="0">
                <a:solidFill>
                  <a:srgbClr val="FF0000"/>
                </a:solidFill>
                <a:ea typeface="黑体" panose="02010609060101010101" pitchFamily="1" charset="-122"/>
              </a:rPr>
              <a:t>T-SQL</a:t>
            </a:r>
            <a:r>
              <a:rPr lang="zh-CN" altLang="en-US" sz="3200" dirty="0">
                <a:solidFill>
                  <a:srgbClr val="FF0000"/>
                </a:solidFill>
                <a:ea typeface="黑体" panose="02010609060101010101" pitchFamily="1" charset="-122"/>
              </a:rPr>
              <a:t>编程</a:t>
            </a:r>
            <a:endParaRPr lang="zh-CN" altLang="en-US" sz="3200" dirty="0">
              <a:solidFill>
                <a:srgbClr val="FF0000"/>
              </a:solidFill>
              <a:ea typeface="黑体" panose="02010609060101010101" pitchFamily="1" charset="-122"/>
            </a:endParaRPr>
          </a:p>
        </p:txBody>
      </p:sp>
      <p:sp>
        <p:nvSpPr>
          <p:cNvPr id="101379" name="Rectangle 3"/>
          <p:cNvSpPr txBox="1"/>
          <p:nvPr/>
        </p:nvSpPr>
        <p:spPr>
          <a:xfrm>
            <a:off x="501650" y="855663"/>
            <a:ext cx="8642350" cy="747712"/>
          </a:xfrm>
          <a:prstGeom prst="rect">
            <a:avLst/>
          </a:prstGeom>
          <a:noFill/>
          <a:ln w="9525">
            <a:noFill/>
          </a:ln>
        </p:spPr>
        <p:txBody>
          <a:bodyPr anchor="t" anchorCtr="0"/>
          <a:p>
            <a:pPr>
              <a:buFont typeface="Wingdings" panose="05000000000000000000" pitchFamily="2" charset="2"/>
            </a:pPr>
            <a:r>
              <a:rPr lang="en-US" altLang="zh-CN" sz="2400" dirty="0">
                <a:solidFill>
                  <a:srgbClr val="3333CC"/>
                </a:solidFill>
                <a:latin typeface="宋体" panose="02010600030101010101" pitchFamily="2" charset="-122"/>
                <a:ea typeface="黑体" panose="02010609060101010101" pitchFamily="1" charset="-122"/>
              </a:rPr>
              <a:t>1.</a:t>
            </a:r>
            <a:r>
              <a:rPr lang="zh-CN" altLang="en-US" sz="2400" dirty="0">
                <a:solidFill>
                  <a:srgbClr val="3333CC"/>
                </a:solidFill>
                <a:latin typeface="宋体" panose="02010600030101010101" pitchFamily="2" charset="-122"/>
                <a:ea typeface="黑体" panose="02010609060101010101" pitchFamily="1" charset="-122"/>
              </a:rPr>
              <a:t>变量</a:t>
            </a:r>
            <a:endParaRPr lang="zh-CN" altLang="en-US" sz="2400" dirty="0">
              <a:solidFill>
                <a:srgbClr val="3333CC"/>
              </a:solidFill>
              <a:latin typeface="宋体" panose="02010600030101010101" pitchFamily="2" charset="-122"/>
              <a:ea typeface="黑体" panose="02010609060101010101" pitchFamily="1" charset="-122"/>
            </a:endParaRPr>
          </a:p>
        </p:txBody>
      </p:sp>
      <p:sp>
        <p:nvSpPr>
          <p:cNvPr id="121903" name="文本框 20"/>
          <p:cNvSpPr txBox="1"/>
          <p:nvPr/>
        </p:nvSpPr>
        <p:spPr>
          <a:xfrm>
            <a:off x="610235" y="1370330"/>
            <a:ext cx="8312150" cy="39878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sym typeface="+mn-ea"/>
              </a:rPr>
              <a:t>   </a:t>
            </a:r>
            <a:r>
              <a:rPr lang="zh-CN" altLang="en-US" dirty="0">
                <a:sym typeface="+mn-ea"/>
              </a:rPr>
              <a:t>数据库中通常有局部变量和全局变量</a:t>
            </a:r>
            <a:r>
              <a:rPr lang="zh-CN" altLang="en-US" dirty="0">
                <a:sym typeface="+mn-ea"/>
              </a:rPr>
              <a:t>两类。</a:t>
            </a:r>
            <a:endParaRPr lang="zh-CN" altLang="en-US" dirty="0">
              <a:sym typeface="+mn-ea"/>
            </a:endParaRPr>
          </a:p>
        </p:txBody>
      </p:sp>
      <p:sp>
        <p:nvSpPr>
          <p:cNvPr id="3" name="文本框 2"/>
          <p:cNvSpPr txBox="1"/>
          <p:nvPr/>
        </p:nvSpPr>
        <p:spPr>
          <a:xfrm>
            <a:off x="610235" y="1769110"/>
            <a:ext cx="4572000" cy="429895"/>
          </a:xfrm>
          <a:prstGeom prst="rect">
            <a:avLst/>
          </a:prstGeom>
          <a:noFill/>
        </p:spPr>
        <p:txBody>
          <a:bodyPr wrap="square" rtlCol="0" anchor="t">
            <a:spAutoFit/>
          </a:bodyPr>
          <a:p>
            <a:pPr marL="342900" lvl="0" indent="-342900" eaLnBrk="1" hangingPunct="1">
              <a:buFont typeface="Arial" panose="020B0604020202020204" pitchFamily="34" charset="0"/>
              <a:buNone/>
            </a:pPr>
            <a:r>
              <a:rPr lang="zh-CN" altLang="en-US" sz="2200" dirty="0">
                <a:solidFill>
                  <a:srgbClr val="0000FF"/>
                </a:solidFill>
                <a:latin typeface="华文中宋" panose="02010600040101010101" charset="-122"/>
                <a:ea typeface="华文中宋" panose="02010600040101010101" charset="-122"/>
                <a:cs typeface="华文中宋" panose="02010600040101010101" charset="-122"/>
                <a:sym typeface="+mn-ea"/>
              </a:rPr>
              <a:t>（</a:t>
            </a:r>
            <a:r>
              <a:rPr lang="en-US" altLang="zh-CN" sz="2200" dirty="0">
                <a:solidFill>
                  <a:srgbClr val="0000FF"/>
                </a:solidFill>
                <a:latin typeface="华文中宋" panose="02010600040101010101" charset="-122"/>
                <a:ea typeface="华文中宋" panose="02010600040101010101" charset="-122"/>
                <a:cs typeface="华文中宋" panose="02010600040101010101" charset="-122"/>
                <a:sym typeface="+mn-ea"/>
              </a:rPr>
              <a:t>1</a:t>
            </a:r>
            <a:r>
              <a:rPr lang="zh-CN" altLang="en-US" sz="2200" dirty="0">
                <a:solidFill>
                  <a:srgbClr val="0000FF"/>
                </a:solidFill>
                <a:latin typeface="华文中宋" panose="02010600040101010101" charset="-122"/>
                <a:ea typeface="华文中宋" panose="02010600040101010101" charset="-122"/>
                <a:cs typeface="华文中宋" panose="02010600040101010101" charset="-122"/>
                <a:sym typeface="+mn-ea"/>
              </a:rPr>
              <a:t>）局部变量</a:t>
            </a:r>
            <a:endParaRPr lang="zh-CN" altLang="en-US" sz="2200" dirty="0">
              <a:solidFill>
                <a:srgbClr val="0000FF"/>
              </a:solidFill>
              <a:latin typeface="华文中宋" panose="02010600040101010101" charset="-122"/>
              <a:ea typeface="华文中宋" panose="02010600040101010101" charset="-122"/>
              <a:cs typeface="华文中宋" panose="02010600040101010101" charset="-122"/>
              <a:sym typeface="+mn-ea"/>
            </a:endParaRPr>
          </a:p>
        </p:txBody>
      </p:sp>
      <p:sp>
        <p:nvSpPr>
          <p:cNvPr id="4" name="文本框 20"/>
          <p:cNvSpPr txBox="1"/>
          <p:nvPr/>
        </p:nvSpPr>
        <p:spPr>
          <a:xfrm>
            <a:off x="737235" y="2229485"/>
            <a:ext cx="8312150" cy="70675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sym typeface="+mn-ea"/>
              </a:rPr>
              <a:t>   </a:t>
            </a:r>
            <a:r>
              <a:rPr lang="zh-CN" altLang="en-US" dirty="0">
                <a:sym typeface="+mn-ea"/>
              </a:rPr>
              <a:t>局部变量用</a:t>
            </a:r>
            <a:r>
              <a:rPr lang="en-US" altLang="zh-CN" dirty="0">
                <a:sym typeface="+mn-ea"/>
              </a:rPr>
              <a:t>“@</a:t>
            </a:r>
            <a:r>
              <a:rPr lang="zh-CN" altLang="en-US" dirty="0">
                <a:sym typeface="+mn-ea"/>
              </a:rPr>
              <a:t>变量名</a:t>
            </a:r>
            <a:r>
              <a:rPr lang="en-US" altLang="zh-CN" dirty="0">
                <a:sym typeface="+mn-ea"/>
              </a:rPr>
              <a:t>”</a:t>
            </a:r>
            <a:r>
              <a:rPr lang="zh-CN" altLang="en-US" dirty="0">
                <a:sym typeface="+mn-ea"/>
              </a:rPr>
              <a:t>来表示，一般由用户自定义和</a:t>
            </a:r>
            <a:r>
              <a:rPr lang="zh-CN" altLang="en-US" dirty="0">
                <a:sym typeface="+mn-ea"/>
              </a:rPr>
              <a:t>使用。</a:t>
            </a:r>
            <a:endParaRPr lang="zh-CN" altLang="en-US" dirty="0">
              <a:sym typeface="+mn-ea"/>
            </a:endParaRPr>
          </a:p>
          <a:p>
            <a:pPr marL="0" lvl="0" indent="0" eaLnBrk="1" hangingPunct="1">
              <a:spcBef>
                <a:spcPct val="0"/>
              </a:spcBef>
              <a:buClrTx/>
              <a:buSzTx/>
              <a:buFont typeface="Arial" panose="020B0604020202020204" pitchFamily="34" charset="0"/>
              <a:buNone/>
            </a:pPr>
            <a:endParaRPr lang="zh-CN" altLang="en-US" dirty="0">
              <a:sym typeface="+mn-ea"/>
            </a:endParaRPr>
          </a:p>
        </p:txBody>
      </p:sp>
      <p:sp>
        <p:nvSpPr>
          <p:cNvPr id="5" name="文本框 20"/>
          <p:cNvSpPr txBox="1"/>
          <p:nvPr/>
        </p:nvSpPr>
        <p:spPr>
          <a:xfrm>
            <a:off x="737235" y="2722245"/>
            <a:ext cx="8312150" cy="39878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sym typeface="+mn-ea"/>
              </a:rPr>
              <a:t>   </a:t>
            </a:r>
            <a:r>
              <a:rPr lang="en-US" altLang="zh-CN" dirty="0">
                <a:solidFill>
                  <a:srgbClr val="0000FF"/>
                </a:solidFill>
                <a:latin typeface="华文中宋" panose="02010600040101010101" charset="-122"/>
                <a:ea typeface="华文中宋" panose="02010600040101010101" charset="-122"/>
                <a:cs typeface="华文中宋" panose="02010600040101010101" charset="-122"/>
                <a:sym typeface="+mn-ea"/>
              </a:rPr>
              <a:t>1）局部变量定义的语法</a:t>
            </a:r>
            <a:endParaRPr lang="zh-CN" altLang="en-US" dirty="0">
              <a:sym typeface="+mn-ea"/>
            </a:endParaRPr>
          </a:p>
        </p:txBody>
      </p:sp>
      <p:sp>
        <p:nvSpPr>
          <p:cNvPr id="22" name="文本框 21"/>
          <p:cNvSpPr txBox="1"/>
          <p:nvPr/>
        </p:nvSpPr>
        <p:spPr>
          <a:xfrm>
            <a:off x="3885565" y="2691130"/>
            <a:ext cx="4191000" cy="42354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0"/>
              </a:spcBef>
              <a:buClrTx/>
              <a:buSzTx/>
              <a:buFont typeface="Arial" panose="020B0604020202020204" pitchFamily="34" charset="0"/>
              <a:buNone/>
            </a:pPr>
            <a:r>
              <a:rPr lang="en-US" altLang="zh-CN" sz="1800" dirty="0">
                <a:solidFill>
                  <a:srgbClr val="FF0000"/>
                </a:solidFill>
                <a:sym typeface="+mn-ea"/>
              </a:rPr>
              <a:t>DECLARE  </a:t>
            </a:r>
            <a:r>
              <a:rPr lang="en-US" altLang="zh-CN" sz="1800" dirty="0">
                <a:solidFill>
                  <a:srgbClr val="FF0000"/>
                </a:solidFill>
                <a:sym typeface="+mn-ea"/>
              </a:rPr>
              <a:t>@</a:t>
            </a:r>
            <a:r>
              <a:rPr lang="zh-CN" altLang="en-US" sz="1800" dirty="0">
                <a:solidFill>
                  <a:srgbClr val="FF0000"/>
                </a:solidFill>
                <a:sym typeface="+mn-ea"/>
              </a:rPr>
              <a:t>变量名</a:t>
            </a:r>
            <a:r>
              <a:rPr lang="en-US" altLang="zh-CN" sz="1800" dirty="0">
                <a:solidFill>
                  <a:srgbClr val="FF0000"/>
                </a:solidFill>
                <a:sym typeface="+mn-ea"/>
              </a:rPr>
              <a:t> </a:t>
            </a:r>
            <a:r>
              <a:rPr lang="zh-CN" altLang="en-US" sz="1800" dirty="0">
                <a:solidFill>
                  <a:srgbClr val="FF0000"/>
                </a:solidFill>
                <a:sym typeface="+mn-ea"/>
              </a:rPr>
              <a:t>数据类型</a:t>
            </a:r>
            <a:r>
              <a:rPr lang="en-US" altLang="zh-CN" sz="1800" dirty="0">
                <a:solidFill>
                  <a:srgbClr val="FF0000"/>
                </a:solidFill>
                <a:sym typeface="+mn-ea"/>
              </a:rPr>
              <a:t> [,…n]</a:t>
            </a:r>
            <a:r>
              <a:rPr lang="en-US" altLang="zh-CN" sz="1800" dirty="0">
                <a:solidFill>
                  <a:srgbClr val="FF0000"/>
                </a:solidFill>
                <a:sym typeface="+mn-ea"/>
              </a:rPr>
              <a:t> </a:t>
            </a:r>
            <a:endParaRPr lang="en-US" altLang="zh-CN" sz="1800" dirty="0">
              <a:solidFill>
                <a:srgbClr val="FF0000"/>
              </a:solidFill>
              <a:sym typeface="+mn-ea"/>
            </a:endParaRPr>
          </a:p>
        </p:txBody>
      </p:sp>
      <p:sp>
        <p:nvSpPr>
          <p:cNvPr id="8" name="文本框 20"/>
          <p:cNvSpPr txBox="1"/>
          <p:nvPr/>
        </p:nvSpPr>
        <p:spPr>
          <a:xfrm>
            <a:off x="831850" y="3627120"/>
            <a:ext cx="5285740" cy="39878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sym typeface="+mn-ea"/>
              </a:rPr>
              <a:t>   </a:t>
            </a:r>
            <a:r>
              <a:rPr lang="zh-CN" altLang="en-US" dirty="0">
                <a:sym typeface="+mn-ea"/>
              </a:rPr>
              <a:t>变量一旦定义，系统自动赋</a:t>
            </a:r>
            <a:r>
              <a:rPr lang="en-US" altLang="zh-CN" dirty="0">
                <a:sym typeface="+mn-ea"/>
              </a:rPr>
              <a:t>NULL</a:t>
            </a:r>
            <a:r>
              <a:rPr lang="zh-CN" altLang="en-US" dirty="0">
                <a:sym typeface="+mn-ea"/>
              </a:rPr>
              <a:t>值。</a:t>
            </a:r>
            <a:endParaRPr lang="en-US" altLang="zh-CN" dirty="0">
              <a:sym typeface="+mn-ea"/>
            </a:endParaRPr>
          </a:p>
        </p:txBody>
      </p:sp>
      <p:sp>
        <p:nvSpPr>
          <p:cNvPr id="9" name="文本框 8"/>
          <p:cNvSpPr txBox="1"/>
          <p:nvPr/>
        </p:nvSpPr>
        <p:spPr>
          <a:xfrm>
            <a:off x="981710" y="3166110"/>
            <a:ext cx="6264910" cy="46037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0"/>
              </a:spcBef>
              <a:buClrTx/>
              <a:buSzTx/>
              <a:buFont typeface="Arial" panose="020B0604020202020204" pitchFamily="34" charset="0"/>
              <a:buNone/>
            </a:pPr>
            <a:r>
              <a:rPr lang="zh-CN" altLang="en-US" dirty="0">
                <a:solidFill>
                  <a:srgbClr val="0000FF"/>
                </a:solidFill>
                <a:sym typeface="+mn-ea"/>
              </a:rPr>
              <a:t>例</a:t>
            </a:r>
            <a:r>
              <a:rPr lang="en-US" altLang="zh-CN" dirty="0">
                <a:solidFill>
                  <a:srgbClr val="0000FF"/>
                </a:solidFill>
                <a:sym typeface="+mn-ea"/>
              </a:rPr>
              <a:t>1</a:t>
            </a:r>
            <a:r>
              <a:rPr lang="zh-CN" altLang="en-US" dirty="0">
                <a:solidFill>
                  <a:srgbClr val="0000FF"/>
                </a:solidFill>
                <a:sym typeface="+mn-ea"/>
              </a:rPr>
              <a:t>：</a:t>
            </a:r>
            <a:endParaRPr lang="zh-CN" altLang="en-US" dirty="0">
              <a:solidFill>
                <a:srgbClr val="0000FF"/>
              </a:solidFill>
              <a:sym typeface="+mn-ea"/>
            </a:endParaRPr>
          </a:p>
        </p:txBody>
      </p:sp>
      <p:sp>
        <p:nvSpPr>
          <p:cNvPr id="10" name="文本框 20"/>
          <p:cNvSpPr txBox="1"/>
          <p:nvPr/>
        </p:nvSpPr>
        <p:spPr>
          <a:xfrm>
            <a:off x="1490345" y="3207385"/>
            <a:ext cx="5756275" cy="39878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b="0" dirty="0">
                <a:sym typeface="+mn-ea"/>
              </a:rPr>
              <a:t>   DECLARE @myqty int,@mag varchar(40)</a:t>
            </a:r>
            <a:endParaRPr lang="zh-CN" altLang="en-US" b="0" dirty="0">
              <a:sym typeface="+mn-ea"/>
            </a:endParaRPr>
          </a:p>
        </p:txBody>
      </p:sp>
      <p:sp>
        <p:nvSpPr>
          <p:cNvPr id="11" name="文本框 20"/>
          <p:cNvSpPr txBox="1"/>
          <p:nvPr/>
        </p:nvSpPr>
        <p:spPr>
          <a:xfrm>
            <a:off x="737235" y="4090670"/>
            <a:ext cx="8312150" cy="39878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sym typeface="+mn-ea"/>
              </a:rPr>
              <a:t>   </a:t>
            </a:r>
            <a:r>
              <a:rPr lang="en-US" altLang="zh-CN" dirty="0">
                <a:solidFill>
                  <a:srgbClr val="0000FF"/>
                </a:solidFill>
                <a:latin typeface="华文中宋" panose="02010600040101010101" charset="-122"/>
                <a:ea typeface="华文中宋" panose="02010600040101010101" charset="-122"/>
                <a:cs typeface="华文中宋" panose="02010600040101010101" charset="-122"/>
                <a:sym typeface="+mn-ea"/>
              </a:rPr>
              <a:t>2</a:t>
            </a:r>
            <a:r>
              <a:rPr lang="zh-CN" altLang="en-US" dirty="0">
                <a:solidFill>
                  <a:srgbClr val="0000FF"/>
                </a:solidFill>
                <a:latin typeface="华文中宋" panose="02010600040101010101" charset="-122"/>
                <a:ea typeface="华文中宋" panose="02010600040101010101" charset="-122"/>
                <a:cs typeface="华文中宋" panose="02010600040101010101" charset="-122"/>
                <a:sym typeface="+mn-ea"/>
              </a:rPr>
              <a:t>）局部变量直接赋值</a:t>
            </a:r>
            <a:endParaRPr lang="zh-CN" altLang="en-US" dirty="0">
              <a:solidFill>
                <a:srgbClr val="0000FF"/>
              </a:solidFill>
              <a:latin typeface="华文中宋" panose="02010600040101010101" charset="-122"/>
              <a:ea typeface="华文中宋" panose="02010600040101010101" charset="-122"/>
              <a:cs typeface="华文中宋" panose="02010600040101010101" charset="-122"/>
              <a:sym typeface="+mn-ea"/>
            </a:endParaRPr>
          </a:p>
        </p:txBody>
      </p:sp>
      <p:sp>
        <p:nvSpPr>
          <p:cNvPr id="12" name="文本框 11"/>
          <p:cNvSpPr txBox="1"/>
          <p:nvPr/>
        </p:nvSpPr>
        <p:spPr>
          <a:xfrm>
            <a:off x="3938905" y="3983355"/>
            <a:ext cx="4191000" cy="75565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0"/>
              </a:spcBef>
              <a:buClrTx/>
              <a:buSzTx/>
              <a:buFont typeface="Arial" panose="020B0604020202020204" pitchFamily="34" charset="0"/>
              <a:buNone/>
            </a:pPr>
            <a:r>
              <a:rPr lang="en-US" altLang="zh-CN" sz="1800" dirty="0">
                <a:solidFill>
                  <a:srgbClr val="FF0000"/>
                </a:solidFill>
                <a:sym typeface="+mn-ea"/>
              </a:rPr>
              <a:t>SELECT {@</a:t>
            </a:r>
            <a:r>
              <a:rPr lang="zh-CN" altLang="en-US" sz="1800" dirty="0">
                <a:solidFill>
                  <a:srgbClr val="FF0000"/>
                </a:solidFill>
                <a:sym typeface="+mn-ea"/>
              </a:rPr>
              <a:t>变量名</a:t>
            </a:r>
            <a:r>
              <a:rPr lang="en-US" altLang="zh-CN" sz="1800" dirty="0">
                <a:solidFill>
                  <a:srgbClr val="FF0000"/>
                </a:solidFill>
                <a:sym typeface="+mn-ea"/>
              </a:rPr>
              <a:t>=</a:t>
            </a:r>
            <a:r>
              <a:rPr lang="zh-CN" altLang="en-US" sz="1800" dirty="0">
                <a:solidFill>
                  <a:srgbClr val="FF0000"/>
                </a:solidFill>
                <a:sym typeface="+mn-ea"/>
              </a:rPr>
              <a:t>值</a:t>
            </a:r>
            <a:r>
              <a:rPr lang="en-US" altLang="zh-CN" sz="1800" dirty="0">
                <a:solidFill>
                  <a:srgbClr val="FF0000"/>
                </a:solidFill>
                <a:sym typeface="+mn-ea"/>
              </a:rPr>
              <a:t>} [,..n]</a:t>
            </a:r>
            <a:endParaRPr lang="en-US" altLang="zh-CN" sz="1800" dirty="0">
              <a:solidFill>
                <a:srgbClr val="FF0000"/>
              </a:solidFill>
              <a:sym typeface="+mn-ea"/>
            </a:endParaRPr>
          </a:p>
          <a:p>
            <a:pPr marL="0" lvl="0" indent="0" eaLnBrk="1" hangingPunct="1">
              <a:lnSpc>
                <a:spcPct val="120000"/>
              </a:lnSpc>
              <a:spcBef>
                <a:spcPct val="0"/>
              </a:spcBef>
              <a:buClrTx/>
              <a:buSzTx/>
              <a:buFont typeface="Arial" panose="020B0604020202020204" pitchFamily="34" charset="0"/>
              <a:buNone/>
            </a:pPr>
            <a:r>
              <a:rPr lang="en-US" altLang="zh-CN" sz="1800" dirty="0">
                <a:solidFill>
                  <a:srgbClr val="FF0000"/>
                </a:solidFill>
                <a:sym typeface="+mn-ea"/>
              </a:rPr>
              <a:t>SET </a:t>
            </a:r>
            <a:r>
              <a:rPr lang="en-US" altLang="zh-CN" sz="1800" dirty="0">
                <a:solidFill>
                  <a:srgbClr val="FF0000"/>
                </a:solidFill>
                <a:sym typeface="+mn-ea"/>
              </a:rPr>
              <a:t>@</a:t>
            </a:r>
            <a:r>
              <a:rPr lang="zh-CN" altLang="en-US" sz="1800" dirty="0">
                <a:solidFill>
                  <a:srgbClr val="FF0000"/>
                </a:solidFill>
                <a:sym typeface="+mn-ea"/>
              </a:rPr>
              <a:t>变量名</a:t>
            </a:r>
            <a:r>
              <a:rPr lang="en-US" altLang="zh-CN" sz="1800" dirty="0">
                <a:solidFill>
                  <a:srgbClr val="FF0000"/>
                </a:solidFill>
                <a:sym typeface="+mn-ea"/>
              </a:rPr>
              <a:t>=</a:t>
            </a:r>
            <a:r>
              <a:rPr lang="zh-CN" altLang="en-US" sz="1800" dirty="0">
                <a:solidFill>
                  <a:srgbClr val="FF0000"/>
                </a:solidFill>
                <a:sym typeface="+mn-ea"/>
              </a:rPr>
              <a:t>值</a:t>
            </a:r>
            <a:endParaRPr lang="en-US" altLang="zh-CN" sz="1800" dirty="0">
              <a:solidFill>
                <a:srgbClr val="FF0000"/>
              </a:solidFill>
              <a:sym typeface="+mn-ea"/>
            </a:endParaRPr>
          </a:p>
        </p:txBody>
      </p:sp>
      <p:sp>
        <p:nvSpPr>
          <p:cNvPr id="16" name="文本框 20"/>
          <p:cNvSpPr txBox="1"/>
          <p:nvPr/>
        </p:nvSpPr>
        <p:spPr>
          <a:xfrm>
            <a:off x="501650" y="4716780"/>
            <a:ext cx="8547735" cy="39878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sym typeface="+mn-ea"/>
              </a:rPr>
              <a:t>   </a:t>
            </a:r>
            <a:r>
              <a:rPr lang="zh-CN" altLang="en-US" dirty="0">
                <a:sym typeface="+mn-ea"/>
              </a:rPr>
              <a:t>说明：</a:t>
            </a:r>
            <a:r>
              <a:rPr lang="en-US" altLang="zh-CN" dirty="0">
                <a:sym typeface="+mn-ea"/>
              </a:rPr>
              <a:t>SET</a:t>
            </a:r>
            <a:r>
              <a:rPr lang="zh-CN" altLang="en-US" dirty="0">
                <a:sym typeface="+mn-ea"/>
              </a:rPr>
              <a:t>一次只能为一个变量赋值，</a:t>
            </a:r>
            <a:r>
              <a:rPr lang="en-US" altLang="zh-CN" dirty="0">
                <a:sym typeface="+mn-ea"/>
              </a:rPr>
              <a:t>SELECT</a:t>
            </a:r>
            <a:r>
              <a:rPr lang="zh-CN" altLang="en-US" dirty="0">
                <a:sym typeface="+mn-ea"/>
              </a:rPr>
              <a:t>可以一次为多个变量</a:t>
            </a:r>
            <a:r>
              <a:rPr lang="zh-CN" altLang="en-US" dirty="0">
                <a:sym typeface="+mn-ea"/>
              </a:rPr>
              <a:t>赋值。</a:t>
            </a:r>
            <a:endParaRPr lang="zh-CN" altLang="en-US" dirty="0">
              <a:sym typeface="+mn-ea"/>
            </a:endParaRPr>
          </a:p>
        </p:txBody>
      </p:sp>
      <p:sp>
        <p:nvSpPr>
          <p:cNvPr id="17" name="文本框 16"/>
          <p:cNvSpPr txBox="1"/>
          <p:nvPr/>
        </p:nvSpPr>
        <p:spPr>
          <a:xfrm>
            <a:off x="1672590" y="5116195"/>
            <a:ext cx="7376795" cy="1106805"/>
          </a:xfrm>
          <a:prstGeom prst="rect">
            <a:avLst/>
          </a:prstGeom>
          <a:noFill/>
        </p:spPr>
        <p:txBody>
          <a:bodyPr wrap="square" rtlCol="0" anchor="t">
            <a:spAutoFit/>
          </a:bodyPr>
          <a:p>
            <a:pPr>
              <a:lnSpc>
                <a:spcPct val="110000"/>
              </a:lnSpc>
              <a:spcBef>
                <a:spcPts val="0"/>
              </a:spcBef>
              <a:spcAft>
                <a:spcPts val="0"/>
              </a:spcAft>
            </a:pPr>
            <a:r>
              <a:rPr sz="2000">
                <a:solidFill>
                  <a:srgbClr val="0000FF"/>
                </a:solidFill>
              </a:rPr>
              <a:t>DECLARE</a:t>
            </a:r>
            <a:r>
              <a:rPr sz="2000"/>
              <a:t> @myqty </a:t>
            </a:r>
            <a:r>
              <a:rPr sz="2000">
                <a:solidFill>
                  <a:srgbClr val="0000FF"/>
                </a:solidFill>
              </a:rPr>
              <a:t>int</a:t>
            </a:r>
            <a:endParaRPr sz="2000">
              <a:solidFill>
                <a:srgbClr val="0000FF"/>
              </a:solidFill>
            </a:endParaRPr>
          </a:p>
          <a:p>
            <a:pPr>
              <a:lnSpc>
                <a:spcPct val="110000"/>
              </a:lnSpc>
              <a:spcBef>
                <a:spcPts val="0"/>
              </a:spcBef>
              <a:spcAft>
                <a:spcPts val="0"/>
              </a:spcAft>
            </a:pPr>
            <a:r>
              <a:rPr sz="2000">
                <a:solidFill>
                  <a:srgbClr val="0000FF"/>
                </a:solidFill>
              </a:rPr>
              <a:t>SET</a:t>
            </a:r>
            <a:r>
              <a:rPr sz="2000"/>
              <a:t> @myqty= 20</a:t>
            </a:r>
            <a:endParaRPr sz="2000"/>
          </a:p>
          <a:p>
            <a:pPr>
              <a:lnSpc>
                <a:spcPct val="110000"/>
              </a:lnSpc>
              <a:spcBef>
                <a:spcPts val="0"/>
              </a:spcBef>
              <a:spcAft>
                <a:spcPts val="0"/>
              </a:spcAft>
            </a:pPr>
            <a:r>
              <a:rPr sz="2000">
                <a:solidFill>
                  <a:srgbClr val="0000FF"/>
                </a:solidFill>
              </a:rPr>
              <a:t>SELECT</a:t>
            </a:r>
            <a:r>
              <a:rPr sz="2000"/>
              <a:t> * </a:t>
            </a:r>
            <a:r>
              <a:rPr sz="2000">
                <a:solidFill>
                  <a:srgbClr val="0000FF"/>
                </a:solidFill>
              </a:rPr>
              <a:t>FROM </a:t>
            </a:r>
            <a:r>
              <a:rPr sz="2000"/>
              <a:t>stu </a:t>
            </a:r>
            <a:r>
              <a:rPr sz="2000">
                <a:solidFill>
                  <a:srgbClr val="0000FF"/>
                </a:solidFill>
              </a:rPr>
              <a:t>WHERE</a:t>
            </a:r>
            <a:r>
              <a:rPr sz="2000"/>
              <a:t> Sage &lt;=@myqty</a:t>
            </a:r>
            <a:endParaRPr sz="2000"/>
          </a:p>
        </p:txBody>
      </p:sp>
      <p:sp>
        <p:nvSpPr>
          <p:cNvPr id="18" name="文本框 17"/>
          <p:cNvSpPr txBox="1"/>
          <p:nvPr/>
        </p:nvSpPr>
        <p:spPr>
          <a:xfrm>
            <a:off x="981710" y="5116195"/>
            <a:ext cx="690880" cy="46037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0"/>
              </a:spcBef>
              <a:buClrTx/>
              <a:buSzTx/>
              <a:buFont typeface="Arial" panose="020B0604020202020204" pitchFamily="34" charset="0"/>
              <a:buNone/>
            </a:pPr>
            <a:r>
              <a:rPr lang="zh-CN" altLang="en-US" dirty="0">
                <a:solidFill>
                  <a:srgbClr val="0000FF"/>
                </a:solidFill>
                <a:sym typeface="+mn-ea"/>
              </a:rPr>
              <a:t>例</a:t>
            </a:r>
            <a:r>
              <a:rPr lang="en-US" altLang="zh-CN" dirty="0">
                <a:solidFill>
                  <a:srgbClr val="0000FF"/>
                </a:solidFill>
                <a:sym typeface="+mn-ea"/>
              </a:rPr>
              <a:t>2</a:t>
            </a:r>
            <a:r>
              <a:rPr lang="zh-CN" altLang="en-US" dirty="0">
                <a:solidFill>
                  <a:srgbClr val="0000FF"/>
                </a:solidFill>
                <a:sym typeface="+mn-ea"/>
              </a:rPr>
              <a:t>：</a:t>
            </a:r>
            <a:endParaRPr lang="zh-CN" altLang="en-US" dirty="0">
              <a:solidFill>
                <a:srgbClr val="0000FF"/>
              </a:solidFill>
              <a:sym typeface="+mn-ea"/>
            </a:endParaRPr>
          </a:p>
        </p:txBody>
      </p:sp>
      <p:pic>
        <p:nvPicPr>
          <p:cNvPr id="2" name="图片 1"/>
          <p:cNvPicPr>
            <a:picLocks noChangeAspect="1"/>
          </p:cNvPicPr>
          <p:nvPr/>
        </p:nvPicPr>
        <p:blipFill>
          <a:blip r:embed="rId1"/>
          <a:stretch>
            <a:fillRect/>
          </a:stretch>
        </p:blipFill>
        <p:spPr>
          <a:xfrm>
            <a:off x="3885565" y="3298190"/>
            <a:ext cx="4716780" cy="2849880"/>
          </a:xfrm>
          <a:prstGeom prst="rect">
            <a:avLst/>
          </a:prstGeom>
          <a:ln>
            <a:solidFill>
              <a:schemeClr val="accent1"/>
            </a:solid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ppt_x"/>
                                          </p:val>
                                        </p:tav>
                                        <p:tav tm="100000">
                                          <p:val>
                                            <p:strVal val="#ppt_x"/>
                                          </p:val>
                                        </p:tav>
                                      </p:tavLst>
                                    </p:anim>
                                    <p:anim calcmode="lin" valueType="num">
                                      <p:cBhvr additive="base">
                                        <p:cTn id="1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 calcmode="lin" valueType="num">
                                      <p:cBhvr additive="base">
                                        <p:cTn id="21" dur="500" fill="hold"/>
                                        <p:tgtEl>
                                          <p:spTgt spid="12"/>
                                        </p:tgtEl>
                                        <p:attrNameLst>
                                          <p:attrName>ppt_x</p:attrName>
                                        </p:attrNameLst>
                                      </p:cBhvr>
                                      <p:tavLst>
                                        <p:tav tm="0">
                                          <p:val>
                                            <p:strVal val="#ppt_x"/>
                                          </p:val>
                                        </p:tav>
                                        <p:tav tm="100000">
                                          <p:val>
                                            <p:strVal val="#ppt_x"/>
                                          </p:val>
                                        </p:tav>
                                      </p:tavLst>
                                    </p:anim>
                                    <p:anim calcmode="lin" valueType="num">
                                      <p:cBhvr additive="base">
                                        <p:cTn id="22" dur="500" fill="hold"/>
                                        <p:tgtEl>
                                          <p:spTgt spid="12"/>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fill="hold"/>
                                        <p:tgtEl>
                                          <p:spTgt spid="11"/>
                                        </p:tgtEl>
                                        <p:attrNameLst>
                                          <p:attrName>ppt_x</p:attrName>
                                        </p:attrNameLst>
                                      </p:cBhvr>
                                      <p:tavLst>
                                        <p:tav tm="0">
                                          <p:val>
                                            <p:strVal val="#ppt_x"/>
                                          </p:val>
                                        </p:tav>
                                        <p:tav tm="100000">
                                          <p:val>
                                            <p:strVal val="#ppt_x"/>
                                          </p:val>
                                        </p:tav>
                                      </p:tavLst>
                                    </p:anim>
                                    <p:anim calcmode="lin" valueType="num">
                                      <p:cBhvr additive="base">
                                        <p:cTn id="26" dur="500" fill="hold"/>
                                        <p:tgtEl>
                                          <p:spTgt spid="11"/>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anim calcmode="lin" valueType="num">
                                      <p:cBhvr additive="base">
                                        <p:cTn id="29" dur="500" fill="hold"/>
                                        <p:tgtEl>
                                          <p:spTgt spid="16"/>
                                        </p:tgtEl>
                                        <p:attrNameLst>
                                          <p:attrName>ppt_x</p:attrName>
                                        </p:attrNameLst>
                                      </p:cBhvr>
                                      <p:tavLst>
                                        <p:tav tm="0">
                                          <p:val>
                                            <p:strVal val="#ppt_x"/>
                                          </p:val>
                                        </p:tav>
                                        <p:tav tm="100000">
                                          <p:val>
                                            <p:strVal val="#ppt_x"/>
                                          </p:val>
                                        </p:tav>
                                      </p:tavLst>
                                    </p:anim>
                                    <p:anim calcmode="lin" valueType="num">
                                      <p:cBhvr additive="base">
                                        <p:cTn id="30"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anim calcmode="lin" valueType="num">
                                      <p:cBhvr additive="base">
                                        <p:cTn id="35" dur="500" fill="hold"/>
                                        <p:tgtEl>
                                          <p:spTgt spid="17"/>
                                        </p:tgtEl>
                                        <p:attrNameLst>
                                          <p:attrName>ppt_x</p:attrName>
                                        </p:attrNameLst>
                                      </p:cBhvr>
                                      <p:tavLst>
                                        <p:tav tm="0">
                                          <p:val>
                                            <p:strVal val="#ppt_x"/>
                                          </p:val>
                                        </p:tav>
                                        <p:tav tm="100000">
                                          <p:val>
                                            <p:strVal val="#ppt_x"/>
                                          </p:val>
                                        </p:tav>
                                      </p:tavLst>
                                    </p:anim>
                                    <p:anim calcmode="lin" valueType="num">
                                      <p:cBhvr additive="base">
                                        <p:cTn id="36" dur="500" fill="hold"/>
                                        <p:tgtEl>
                                          <p:spTgt spid="17"/>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anim calcmode="lin" valueType="num">
                                      <p:cBhvr additive="base">
                                        <p:cTn id="39" dur="500" fill="hold"/>
                                        <p:tgtEl>
                                          <p:spTgt spid="18"/>
                                        </p:tgtEl>
                                        <p:attrNameLst>
                                          <p:attrName>ppt_x</p:attrName>
                                        </p:attrNameLst>
                                      </p:cBhvr>
                                      <p:tavLst>
                                        <p:tav tm="0">
                                          <p:val>
                                            <p:strVal val="#ppt_x"/>
                                          </p:val>
                                        </p:tav>
                                        <p:tav tm="100000">
                                          <p:val>
                                            <p:strVal val="#ppt_x"/>
                                          </p:val>
                                        </p:tav>
                                      </p:tavLst>
                                    </p:anim>
                                    <p:anim calcmode="lin" valueType="num">
                                      <p:cBhvr additive="base">
                                        <p:cTn id="40"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2"/>
                                        </p:tgtEl>
                                        <p:attrNameLst>
                                          <p:attrName>style.visibility</p:attrName>
                                        </p:attrNameLst>
                                      </p:cBhvr>
                                      <p:to>
                                        <p:strVal val="visible"/>
                                      </p:to>
                                    </p:set>
                                    <p:anim calcmode="lin" valueType="num">
                                      <p:cBhvr additive="base">
                                        <p:cTn id="45" dur="500" fill="hold"/>
                                        <p:tgtEl>
                                          <p:spTgt spid="2"/>
                                        </p:tgtEl>
                                        <p:attrNameLst>
                                          <p:attrName>ppt_x</p:attrName>
                                        </p:attrNameLst>
                                      </p:cBhvr>
                                      <p:tavLst>
                                        <p:tav tm="0">
                                          <p:val>
                                            <p:strVal val="#ppt_x"/>
                                          </p:val>
                                        </p:tav>
                                        <p:tav tm="100000">
                                          <p:val>
                                            <p:strVal val="#ppt_x"/>
                                          </p:val>
                                        </p:tav>
                                      </p:tavLst>
                                    </p:anim>
                                    <p:anim calcmode="lin" valueType="num">
                                      <p:cBhvr additive="base">
                                        <p:cTn id="4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8" grpId="1"/>
      <p:bldP spid="9" grpId="1"/>
      <p:bldP spid="10" grpId="1"/>
      <p:bldP spid="12" grpId="0"/>
      <p:bldP spid="11" grpId="0"/>
      <p:bldP spid="12" grpId="1"/>
      <p:bldP spid="11" grpId="1"/>
      <p:bldP spid="16" grpId="0"/>
      <p:bldP spid="16" grpId="1"/>
      <p:bldP spid="17" grpId="0"/>
      <p:bldP spid="18" grpId="0"/>
      <p:bldP spid="17" grpId="1"/>
      <p:bldP spid="18" grpId="1"/>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 name="文本框 20"/>
          <p:cNvSpPr txBox="1"/>
          <p:nvPr>
            <p:custDataLst>
              <p:tags r:id="rId1"/>
            </p:custDataLst>
          </p:nvPr>
        </p:nvSpPr>
        <p:spPr>
          <a:xfrm>
            <a:off x="405765" y="866140"/>
            <a:ext cx="4950460" cy="42989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200" dirty="0">
                <a:sym typeface="+mn-ea"/>
              </a:rPr>
              <a:t>   </a:t>
            </a:r>
            <a:r>
              <a:rPr lang="en-US" altLang="zh-CN" sz="2200" dirty="0">
                <a:solidFill>
                  <a:srgbClr val="0000FF"/>
                </a:solidFill>
                <a:latin typeface="华文中宋" panose="02010600040101010101" charset="-122"/>
                <a:ea typeface="华文中宋" panose="02010600040101010101" charset="-122"/>
                <a:cs typeface="华文中宋" panose="02010600040101010101" charset="-122"/>
                <a:sym typeface="+mn-ea"/>
              </a:rPr>
              <a:t>3）局部变量间接赋值</a:t>
            </a:r>
            <a:endParaRPr lang="en-US" altLang="zh-CN" sz="2200" dirty="0">
              <a:solidFill>
                <a:srgbClr val="0000FF"/>
              </a:solidFill>
              <a:latin typeface="华文中宋" panose="02010600040101010101" charset="-122"/>
              <a:ea typeface="华文中宋" panose="02010600040101010101" charset="-122"/>
              <a:cs typeface="华文中宋" panose="02010600040101010101" charset="-122"/>
              <a:sym typeface="+mn-ea"/>
            </a:endParaRPr>
          </a:p>
        </p:txBody>
      </p:sp>
      <p:sp>
        <p:nvSpPr>
          <p:cNvPr id="131075"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1" charset="-122"/>
              </a:rPr>
              <a:t>四、</a:t>
            </a:r>
            <a:r>
              <a:rPr lang="en-US" altLang="zh-CN" sz="3200" dirty="0">
                <a:solidFill>
                  <a:srgbClr val="FF0000"/>
                </a:solidFill>
                <a:ea typeface="黑体" panose="02010609060101010101" pitchFamily="1" charset="-122"/>
              </a:rPr>
              <a:t>T-SQL</a:t>
            </a:r>
            <a:r>
              <a:rPr lang="zh-CN" altLang="en-US" sz="3200" dirty="0">
                <a:solidFill>
                  <a:srgbClr val="FF0000"/>
                </a:solidFill>
                <a:ea typeface="黑体" panose="02010609060101010101" pitchFamily="1" charset="-122"/>
              </a:rPr>
              <a:t>编程</a:t>
            </a:r>
            <a:endParaRPr lang="zh-CN" altLang="en-US" sz="3200" dirty="0">
              <a:solidFill>
                <a:srgbClr val="FF0000"/>
              </a:solidFill>
              <a:ea typeface="黑体" panose="02010609060101010101" pitchFamily="1" charset="-122"/>
            </a:endParaRPr>
          </a:p>
        </p:txBody>
      </p:sp>
      <p:sp>
        <p:nvSpPr>
          <p:cNvPr id="17" name="文本框 16"/>
          <p:cNvSpPr txBox="1"/>
          <p:nvPr>
            <p:custDataLst>
              <p:tags r:id="rId2"/>
            </p:custDataLst>
          </p:nvPr>
        </p:nvSpPr>
        <p:spPr>
          <a:xfrm>
            <a:off x="1241425" y="1282065"/>
            <a:ext cx="7376795" cy="1568450"/>
          </a:xfrm>
          <a:prstGeom prst="rect">
            <a:avLst/>
          </a:prstGeom>
          <a:noFill/>
        </p:spPr>
        <p:txBody>
          <a:bodyPr wrap="square" rtlCol="0" anchor="t">
            <a:spAutoFit/>
          </a:bodyPr>
          <a:p>
            <a:pPr>
              <a:lnSpc>
                <a:spcPct val="120000"/>
              </a:lnSpc>
              <a:spcBef>
                <a:spcPts val="0"/>
              </a:spcBef>
              <a:spcAft>
                <a:spcPts val="0"/>
              </a:spcAft>
            </a:pPr>
            <a:r>
              <a:rPr sz="2000">
                <a:solidFill>
                  <a:srgbClr val="0000FF"/>
                </a:solidFill>
              </a:rPr>
              <a:t>DECLARE</a:t>
            </a:r>
            <a:r>
              <a:rPr sz="2000"/>
              <a:t> @s </a:t>
            </a:r>
            <a:r>
              <a:rPr sz="2000">
                <a:solidFill>
                  <a:srgbClr val="0000FF"/>
                </a:solidFill>
              </a:rPr>
              <a:t>int</a:t>
            </a:r>
            <a:endParaRPr sz="2000">
              <a:solidFill>
                <a:srgbClr val="0000FF"/>
              </a:solidFill>
            </a:endParaRPr>
          </a:p>
          <a:p>
            <a:pPr>
              <a:lnSpc>
                <a:spcPct val="120000"/>
              </a:lnSpc>
              <a:spcBef>
                <a:spcPts val="0"/>
              </a:spcBef>
              <a:spcAft>
                <a:spcPts val="0"/>
              </a:spcAft>
            </a:pPr>
            <a:r>
              <a:rPr sz="2000">
                <a:solidFill>
                  <a:srgbClr val="0000FF"/>
                </a:solidFill>
              </a:rPr>
              <a:t>SELECT</a:t>
            </a:r>
            <a:r>
              <a:rPr sz="2000"/>
              <a:t> @s=mark </a:t>
            </a:r>
            <a:r>
              <a:rPr sz="2000">
                <a:solidFill>
                  <a:srgbClr val="0000FF"/>
                </a:solidFill>
              </a:rPr>
              <a:t>from</a:t>
            </a:r>
            <a:r>
              <a:rPr sz="2000"/>
              <a:t> ctake </a:t>
            </a:r>
            <a:r>
              <a:rPr sz="2000">
                <a:solidFill>
                  <a:srgbClr val="0000FF"/>
                </a:solidFill>
              </a:rPr>
              <a:t>where</a:t>
            </a:r>
            <a:r>
              <a:rPr sz="2000"/>
              <a:t> SID='2015031001' </a:t>
            </a:r>
            <a:r>
              <a:rPr sz="2000">
                <a:solidFill>
                  <a:srgbClr val="0000FF"/>
                </a:solidFill>
              </a:rPr>
              <a:t>and </a:t>
            </a:r>
            <a:r>
              <a:rPr sz="2000"/>
              <a:t>CID='bk1001'</a:t>
            </a:r>
            <a:endParaRPr sz="2000"/>
          </a:p>
          <a:p>
            <a:pPr>
              <a:lnSpc>
                <a:spcPct val="120000"/>
              </a:lnSpc>
              <a:spcBef>
                <a:spcPts val="0"/>
              </a:spcBef>
              <a:spcAft>
                <a:spcPts val="0"/>
              </a:spcAft>
            </a:pPr>
            <a:r>
              <a:rPr sz="2000">
                <a:solidFill>
                  <a:srgbClr val="0000FF"/>
                </a:solidFill>
              </a:rPr>
              <a:t>SELECT</a:t>
            </a:r>
            <a:r>
              <a:rPr sz="2000"/>
              <a:t> @s</a:t>
            </a:r>
            <a:endParaRPr sz="2000"/>
          </a:p>
        </p:txBody>
      </p:sp>
      <p:sp>
        <p:nvSpPr>
          <p:cNvPr id="18" name="文本框 17"/>
          <p:cNvSpPr txBox="1"/>
          <p:nvPr>
            <p:custDataLst>
              <p:tags r:id="rId3"/>
            </p:custDataLst>
          </p:nvPr>
        </p:nvSpPr>
        <p:spPr>
          <a:xfrm>
            <a:off x="607695" y="1296035"/>
            <a:ext cx="690880" cy="46037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0"/>
              </a:spcBef>
              <a:buClrTx/>
              <a:buSzTx/>
              <a:buFont typeface="Arial" panose="020B0604020202020204" pitchFamily="34" charset="0"/>
              <a:buNone/>
            </a:pPr>
            <a:r>
              <a:rPr lang="zh-CN" altLang="en-US" dirty="0">
                <a:solidFill>
                  <a:srgbClr val="0000FF"/>
                </a:solidFill>
                <a:sym typeface="+mn-ea"/>
              </a:rPr>
              <a:t>例</a:t>
            </a:r>
            <a:r>
              <a:rPr lang="en-US" altLang="zh-CN" dirty="0">
                <a:solidFill>
                  <a:srgbClr val="0000FF"/>
                </a:solidFill>
                <a:sym typeface="+mn-ea"/>
              </a:rPr>
              <a:t>3</a:t>
            </a:r>
            <a:r>
              <a:rPr lang="zh-CN" altLang="en-US" dirty="0">
                <a:solidFill>
                  <a:srgbClr val="0000FF"/>
                </a:solidFill>
                <a:sym typeface="+mn-ea"/>
              </a:rPr>
              <a:t>：</a:t>
            </a:r>
            <a:endParaRPr lang="zh-CN" altLang="en-US" dirty="0">
              <a:solidFill>
                <a:srgbClr val="0000FF"/>
              </a:solidFill>
              <a:sym typeface="+mn-ea"/>
            </a:endParaRPr>
          </a:p>
        </p:txBody>
      </p:sp>
      <p:sp>
        <p:nvSpPr>
          <p:cNvPr id="3" name="文本框 2"/>
          <p:cNvSpPr txBox="1"/>
          <p:nvPr>
            <p:custDataLst>
              <p:tags r:id="rId4"/>
            </p:custDataLst>
          </p:nvPr>
        </p:nvSpPr>
        <p:spPr>
          <a:xfrm>
            <a:off x="843280" y="4981575"/>
            <a:ext cx="7983855" cy="706755"/>
          </a:xfrm>
          <a:prstGeom prst="rect">
            <a:avLst/>
          </a:prstGeom>
          <a:noFill/>
        </p:spPr>
        <p:txBody>
          <a:bodyPr wrap="square" rtlCol="0" anchor="t">
            <a:spAutoFit/>
          </a:bodyPr>
          <a:p>
            <a:r>
              <a:rPr sz="2000">
                <a:solidFill>
                  <a:srgbClr val="FF0000"/>
                </a:solidFill>
              </a:rPr>
              <a:t>SET @s=</a:t>
            </a:r>
            <a:r>
              <a:rPr sz="2000"/>
              <a:t>(SELECT mark from ctake where SID='2015031001' and CID='bk1001' )</a:t>
            </a:r>
            <a:endParaRPr sz="2000"/>
          </a:p>
        </p:txBody>
      </p:sp>
      <p:sp>
        <p:nvSpPr>
          <p:cNvPr id="4" name="文本框 20"/>
          <p:cNvSpPr txBox="1"/>
          <p:nvPr>
            <p:custDataLst>
              <p:tags r:id="rId5"/>
            </p:custDataLst>
          </p:nvPr>
        </p:nvSpPr>
        <p:spPr>
          <a:xfrm>
            <a:off x="607695" y="5693410"/>
            <a:ext cx="3448685" cy="42989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200" dirty="0">
                <a:solidFill>
                  <a:srgbClr val="0000FF"/>
                </a:solidFill>
                <a:latin typeface="华文中宋" panose="02010600040101010101" charset="-122"/>
                <a:ea typeface="华文中宋" panose="02010600040101010101" charset="-122"/>
                <a:cs typeface="华文中宋" panose="02010600040101010101" charset="-122"/>
                <a:sym typeface="+mn-ea"/>
              </a:rPr>
              <a:t>4</a:t>
            </a:r>
            <a:r>
              <a:rPr lang="zh-CN" altLang="en-US" sz="2200" dirty="0">
                <a:solidFill>
                  <a:srgbClr val="0000FF"/>
                </a:solidFill>
                <a:latin typeface="华文中宋" panose="02010600040101010101" charset="-122"/>
                <a:ea typeface="华文中宋" panose="02010600040101010101" charset="-122"/>
                <a:cs typeface="华文中宋" panose="02010600040101010101" charset="-122"/>
                <a:sym typeface="+mn-ea"/>
              </a:rPr>
              <a:t>）查看局部</a:t>
            </a:r>
            <a:r>
              <a:rPr lang="zh-CN" altLang="en-US" sz="2200" dirty="0">
                <a:solidFill>
                  <a:srgbClr val="0000FF"/>
                </a:solidFill>
                <a:latin typeface="华文中宋" panose="02010600040101010101" charset="-122"/>
                <a:ea typeface="华文中宋" panose="02010600040101010101" charset="-122"/>
                <a:cs typeface="华文中宋" panose="02010600040101010101" charset="-122"/>
                <a:sym typeface="+mn-ea"/>
              </a:rPr>
              <a:t>变量值</a:t>
            </a:r>
            <a:endParaRPr lang="zh-CN" altLang="en-US" sz="2200" dirty="0">
              <a:solidFill>
                <a:srgbClr val="0000FF"/>
              </a:solidFill>
              <a:latin typeface="华文中宋" panose="02010600040101010101" charset="-122"/>
              <a:ea typeface="华文中宋" panose="02010600040101010101" charset="-122"/>
              <a:cs typeface="华文中宋" panose="02010600040101010101" charset="-122"/>
              <a:sym typeface="+mn-ea"/>
            </a:endParaRPr>
          </a:p>
        </p:txBody>
      </p:sp>
      <p:sp>
        <p:nvSpPr>
          <p:cNvPr id="5" name="文本框 4"/>
          <p:cNvSpPr txBox="1"/>
          <p:nvPr>
            <p:custDataLst>
              <p:tags r:id="rId6"/>
            </p:custDataLst>
          </p:nvPr>
        </p:nvSpPr>
        <p:spPr>
          <a:xfrm>
            <a:off x="3364230" y="5723890"/>
            <a:ext cx="2774950" cy="429895"/>
          </a:xfrm>
          <a:prstGeom prst="rect">
            <a:avLst/>
          </a:prstGeom>
          <a:noFill/>
        </p:spPr>
        <p:txBody>
          <a:bodyPr wrap="square" rtlCol="0" anchor="t">
            <a:spAutoFit/>
          </a:bodyPr>
          <a:p>
            <a:r>
              <a:rPr lang="en-US" altLang="zh-CN" sz="2200" dirty="0">
                <a:solidFill>
                  <a:srgbClr val="FF0000"/>
                </a:solidFill>
                <a:sym typeface="+mn-ea"/>
              </a:rPr>
              <a:t>SELECT @</a:t>
            </a:r>
            <a:r>
              <a:rPr lang="zh-CN" altLang="en-US" sz="2200" dirty="0">
                <a:solidFill>
                  <a:srgbClr val="FF0000"/>
                </a:solidFill>
                <a:sym typeface="+mn-ea"/>
              </a:rPr>
              <a:t>变量名</a:t>
            </a:r>
            <a:endParaRPr lang="zh-CN" altLang="en-US" sz="2200" dirty="0">
              <a:solidFill>
                <a:srgbClr val="FF0000"/>
              </a:solidFill>
              <a:sym typeface="+mn-ea"/>
            </a:endParaRPr>
          </a:p>
        </p:txBody>
      </p:sp>
      <p:pic>
        <p:nvPicPr>
          <p:cNvPr id="2" name="图片 1"/>
          <p:cNvPicPr>
            <a:picLocks noChangeAspect="1"/>
          </p:cNvPicPr>
          <p:nvPr/>
        </p:nvPicPr>
        <p:blipFill>
          <a:blip r:embed="rId7"/>
          <a:stretch>
            <a:fillRect/>
          </a:stretch>
        </p:blipFill>
        <p:spPr>
          <a:xfrm>
            <a:off x="1364615" y="2850515"/>
            <a:ext cx="6774180" cy="2049780"/>
          </a:xfrm>
          <a:prstGeom prst="rect">
            <a:avLst/>
          </a:prstGeom>
          <a:ln>
            <a:solidFill>
              <a:schemeClr val="accent1"/>
            </a:solid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additive="base">
                                        <p:cTn id="23" dur="500" fill="hold"/>
                                        <p:tgtEl>
                                          <p:spTgt spid="5"/>
                                        </p:tgtEl>
                                        <p:attrNameLst>
                                          <p:attrName>ppt_x</p:attrName>
                                        </p:attrNameLst>
                                      </p:cBhvr>
                                      <p:tavLst>
                                        <p:tav tm="0">
                                          <p:val>
                                            <p:strVal val="#ppt_x"/>
                                          </p:val>
                                        </p:tav>
                                        <p:tav tm="100000">
                                          <p:val>
                                            <p:strVal val="#ppt_x"/>
                                          </p:val>
                                        </p:tav>
                                      </p:tavLst>
                                    </p:anim>
                                    <p:anim calcmode="lin" valueType="num">
                                      <p:cBhvr additive="base">
                                        <p:cTn id="2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4" grpId="0"/>
      <p:bldP spid="5" grpId="0"/>
      <p:bldP spid="4" grpId="1"/>
      <p:bldP spid="5" grpId="1"/>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5"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1" charset="-122"/>
              </a:rPr>
              <a:t>四、</a:t>
            </a:r>
            <a:r>
              <a:rPr lang="en-US" altLang="zh-CN" sz="3200" dirty="0">
                <a:solidFill>
                  <a:srgbClr val="FF0000"/>
                </a:solidFill>
                <a:ea typeface="黑体" panose="02010609060101010101" pitchFamily="1" charset="-122"/>
              </a:rPr>
              <a:t>T-SQL</a:t>
            </a:r>
            <a:r>
              <a:rPr lang="zh-CN" altLang="en-US" sz="3200" dirty="0">
                <a:solidFill>
                  <a:srgbClr val="FF0000"/>
                </a:solidFill>
                <a:ea typeface="黑体" panose="02010609060101010101" pitchFamily="1" charset="-122"/>
              </a:rPr>
              <a:t>编程</a:t>
            </a:r>
            <a:endParaRPr lang="zh-CN" altLang="en-US" sz="3200" dirty="0">
              <a:solidFill>
                <a:srgbClr val="FF0000"/>
              </a:solidFill>
              <a:ea typeface="黑体" panose="02010609060101010101" pitchFamily="1" charset="-122"/>
            </a:endParaRPr>
          </a:p>
        </p:txBody>
      </p:sp>
      <p:sp>
        <p:nvSpPr>
          <p:cNvPr id="6" name="文本框 5"/>
          <p:cNvSpPr txBox="1"/>
          <p:nvPr/>
        </p:nvSpPr>
        <p:spPr>
          <a:xfrm>
            <a:off x="501650" y="904240"/>
            <a:ext cx="4572000" cy="429895"/>
          </a:xfrm>
          <a:prstGeom prst="rect">
            <a:avLst/>
          </a:prstGeom>
          <a:noFill/>
        </p:spPr>
        <p:txBody>
          <a:bodyPr wrap="square" rtlCol="0" anchor="t">
            <a:spAutoFit/>
          </a:bodyPr>
          <a:p>
            <a:pPr marL="342900" lvl="0" indent="-342900" eaLnBrk="1" hangingPunct="1">
              <a:buFont typeface="Arial" panose="020B0604020202020204" pitchFamily="34" charset="0"/>
              <a:buNone/>
            </a:pPr>
            <a:r>
              <a:rPr lang="zh-CN" altLang="en-US" sz="2200" dirty="0">
                <a:solidFill>
                  <a:srgbClr val="0000FF"/>
                </a:solidFill>
                <a:latin typeface="华文中宋" panose="02010600040101010101" charset="-122"/>
                <a:ea typeface="华文中宋" panose="02010600040101010101" charset="-122"/>
                <a:cs typeface="华文中宋" panose="02010600040101010101" charset="-122"/>
                <a:sym typeface="+mn-ea"/>
              </a:rPr>
              <a:t>（</a:t>
            </a:r>
            <a:r>
              <a:rPr lang="en-US" altLang="zh-CN" sz="2200" dirty="0">
                <a:solidFill>
                  <a:srgbClr val="0000FF"/>
                </a:solidFill>
                <a:latin typeface="华文中宋" panose="02010600040101010101" charset="-122"/>
                <a:ea typeface="华文中宋" panose="02010600040101010101" charset="-122"/>
                <a:cs typeface="华文中宋" panose="02010600040101010101" charset="-122"/>
                <a:sym typeface="+mn-ea"/>
              </a:rPr>
              <a:t>2</a:t>
            </a:r>
            <a:r>
              <a:rPr lang="zh-CN" altLang="en-US" sz="2200" dirty="0">
                <a:solidFill>
                  <a:srgbClr val="0000FF"/>
                </a:solidFill>
                <a:latin typeface="华文中宋" panose="02010600040101010101" charset="-122"/>
                <a:ea typeface="华文中宋" panose="02010600040101010101" charset="-122"/>
                <a:cs typeface="华文中宋" panose="02010600040101010101" charset="-122"/>
                <a:sym typeface="+mn-ea"/>
              </a:rPr>
              <a:t>）全局</a:t>
            </a:r>
            <a:r>
              <a:rPr lang="zh-CN" altLang="en-US" sz="2200" dirty="0">
                <a:solidFill>
                  <a:srgbClr val="0000FF"/>
                </a:solidFill>
                <a:latin typeface="华文中宋" panose="02010600040101010101" charset="-122"/>
                <a:ea typeface="华文中宋" panose="02010600040101010101" charset="-122"/>
                <a:cs typeface="华文中宋" panose="02010600040101010101" charset="-122"/>
                <a:sym typeface="+mn-ea"/>
              </a:rPr>
              <a:t>变量</a:t>
            </a:r>
            <a:endParaRPr lang="zh-CN" altLang="en-US" sz="2200" dirty="0">
              <a:solidFill>
                <a:srgbClr val="0000FF"/>
              </a:solidFill>
              <a:latin typeface="华文中宋" panose="02010600040101010101" charset="-122"/>
              <a:ea typeface="华文中宋" panose="02010600040101010101" charset="-122"/>
              <a:cs typeface="华文中宋" panose="02010600040101010101" charset="-122"/>
              <a:sym typeface="+mn-ea"/>
            </a:endParaRPr>
          </a:p>
        </p:txBody>
      </p:sp>
      <p:sp>
        <p:nvSpPr>
          <p:cNvPr id="16" name="文本框 20"/>
          <p:cNvSpPr txBox="1"/>
          <p:nvPr/>
        </p:nvSpPr>
        <p:spPr>
          <a:xfrm>
            <a:off x="457200" y="1334135"/>
            <a:ext cx="8418830" cy="130873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ts val="0"/>
              </a:spcBef>
              <a:spcAft>
                <a:spcPts val="0"/>
              </a:spcAft>
              <a:buClrTx/>
              <a:buSzTx/>
              <a:buFont typeface="Arial" panose="020B0604020202020204" pitchFamily="34" charset="0"/>
              <a:buNone/>
            </a:pPr>
            <a:r>
              <a:rPr lang="en-US" altLang="zh-CN" dirty="0">
                <a:sym typeface="+mn-ea"/>
              </a:rPr>
              <a:t>      </a:t>
            </a:r>
            <a:r>
              <a:rPr lang="zh-CN" altLang="en-US" sz="2200" dirty="0">
                <a:sym typeface="+mn-ea"/>
              </a:rPr>
              <a:t>全局变量用</a:t>
            </a:r>
            <a:r>
              <a:rPr lang="en-US" altLang="zh-CN" sz="2200" dirty="0">
                <a:sym typeface="+mn-ea"/>
              </a:rPr>
              <a:t>“@@</a:t>
            </a:r>
            <a:r>
              <a:rPr lang="zh-CN" altLang="en-US" sz="2200" dirty="0">
                <a:sym typeface="+mn-ea"/>
              </a:rPr>
              <a:t>变量名</a:t>
            </a:r>
            <a:r>
              <a:rPr lang="en-US" altLang="zh-CN" sz="2200" dirty="0">
                <a:sym typeface="+mn-ea"/>
              </a:rPr>
              <a:t>”</a:t>
            </a:r>
            <a:r>
              <a:rPr lang="zh-CN" altLang="en-US" sz="2200" dirty="0">
                <a:sym typeface="+mn-ea"/>
              </a:rPr>
              <a:t>表示，由系统定义，用于表示系统运行过程中的运行状态，用户只能引用，不能修改和定义。常用的全局变量有</a:t>
            </a:r>
            <a:r>
              <a:rPr lang="en-US" altLang="zh-CN" sz="2200" dirty="0">
                <a:sym typeface="+mn-ea"/>
              </a:rPr>
              <a:t>5</a:t>
            </a:r>
            <a:r>
              <a:rPr lang="zh-CN" altLang="en-US" sz="2200" dirty="0">
                <a:sym typeface="+mn-ea"/>
              </a:rPr>
              <a:t>种。</a:t>
            </a:r>
            <a:endParaRPr lang="zh-CN" altLang="en-US" sz="2200" dirty="0">
              <a:sym typeface="+mn-ea"/>
            </a:endParaRPr>
          </a:p>
        </p:txBody>
      </p:sp>
      <p:sp>
        <p:nvSpPr>
          <p:cNvPr id="9" name="文本框 8"/>
          <p:cNvSpPr txBox="1"/>
          <p:nvPr/>
        </p:nvSpPr>
        <p:spPr>
          <a:xfrm>
            <a:off x="532765" y="2577465"/>
            <a:ext cx="8154035" cy="3594100"/>
          </a:xfrm>
          <a:prstGeom prst="rect">
            <a:avLst/>
          </a:prstGeom>
          <a:noFill/>
        </p:spPr>
        <p:txBody>
          <a:bodyPr wrap="square" rtlCol="0" anchor="t">
            <a:spAutoFit/>
          </a:bodyPr>
          <a:p>
            <a:pPr marL="285750" indent="-285750">
              <a:lnSpc>
                <a:spcPct val="115000"/>
              </a:lnSpc>
              <a:spcBef>
                <a:spcPts val="0"/>
              </a:spcBef>
              <a:spcAft>
                <a:spcPts val="0"/>
              </a:spcAft>
              <a:buFont typeface="Wingdings" panose="05000000000000000000" charset="0"/>
              <a:buChar char="p"/>
            </a:pPr>
            <a:r>
              <a:rPr lang="en-US" altLang="zh-CN" sz="2200" dirty="0">
                <a:solidFill>
                  <a:srgbClr val="0000FF"/>
                </a:solidFill>
                <a:sym typeface="+mn-ea"/>
              </a:rPr>
              <a:t>@@error</a:t>
            </a:r>
            <a:r>
              <a:rPr lang="zh-CN" altLang="en-US" sz="2200" dirty="0">
                <a:solidFill>
                  <a:srgbClr val="0000FF"/>
                </a:solidFill>
                <a:sym typeface="+mn-ea"/>
              </a:rPr>
              <a:t>：</a:t>
            </a:r>
            <a:r>
              <a:rPr lang="zh-CN" altLang="en-US" sz="2200" dirty="0">
                <a:sym typeface="+mn-ea"/>
              </a:rPr>
              <a:t>返回执行的上一个语句产生的错误</a:t>
            </a:r>
            <a:r>
              <a:rPr lang="zh-CN" altLang="en-US" sz="2200" dirty="0">
                <a:sym typeface="+mn-ea"/>
              </a:rPr>
              <a:t>码。</a:t>
            </a:r>
            <a:endParaRPr lang="zh-CN" altLang="en-US" sz="2200" dirty="0">
              <a:sym typeface="+mn-ea"/>
            </a:endParaRPr>
          </a:p>
          <a:p>
            <a:pPr marL="285750" indent="-285750">
              <a:lnSpc>
                <a:spcPct val="115000"/>
              </a:lnSpc>
              <a:spcBef>
                <a:spcPts val="0"/>
              </a:spcBef>
              <a:spcAft>
                <a:spcPts val="0"/>
              </a:spcAft>
              <a:buFont typeface="Wingdings" panose="05000000000000000000" charset="0"/>
              <a:buChar char="p"/>
            </a:pPr>
            <a:r>
              <a:rPr lang="en-US" altLang="zh-CN" sz="2200" dirty="0">
                <a:solidFill>
                  <a:srgbClr val="0000FF"/>
                </a:solidFill>
                <a:sym typeface="+mn-ea"/>
              </a:rPr>
              <a:t>@@rowcount：</a:t>
            </a:r>
            <a:r>
              <a:rPr lang="zh-CN" altLang="en-US" sz="2200" dirty="0">
                <a:sym typeface="+mn-ea"/>
              </a:rPr>
              <a:t>返回受上一个语句影响的行数。任何不返回行的语句将置该变量的值为</a:t>
            </a:r>
            <a:r>
              <a:rPr lang="zh-CN" altLang="en-US" sz="2200" dirty="0">
                <a:sym typeface="+mn-ea"/>
              </a:rPr>
              <a:t>零。</a:t>
            </a:r>
            <a:endParaRPr lang="zh-CN" altLang="en-US" sz="2200" dirty="0">
              <a:sym typeface="+mn-ea"/>
            </a:endParaRPr>
          </a:p>
          <a:p>
            <a:pPr marL="285750" indent="-285750">
              <a:lnSpc>
                <a:spcPct val="115000"/>
              </a:lnSpc>
              <a:spcBef>
                <a:spcPts val="0"/>
              </a:spcBef>
              <a:spcAft>
                <a:spcPts val="0"/>
              </a:spcAft>
              <a:buFont typeface="Wingdings" panose="05000000000000000000" charset="0"/>
              <a:buChar char="p"/>
            </a:pPr>
            <a:r>
              <a:rPr lang="en-US" altLang="zh-CN" sz="2200" dirty="0">
                <a:solidFill>
                  <a:srgbClr val="0000FF"/>
                </a:solidFill>
                <a:sym typeface="+mn-ea"/>
              </a:rPr>
              <a:t>@@version：</a:t>
            </a:r>
            <a:r>
              <a:rPr lang="zh-CN" altLang="en-US" sz="2200" dirty="0">
                <a:sym typeface="+mn-ea"/>
              </a:rPr>
              <a:t>返回当前的数据库版本、处理器体系结构、生成日期。</a:t>
            </a:r>
            <a:endParaRPr lang="zh-CN" altLang="en-US" sz="2200" dirty="0">
              <a:sym typeface="+mn-ea"/>
            </a:endParaRPr>
          </a:p>
          <a:p>
            <a:pPr marL="285750" indent="-285750" algn="l">
              <a:lnSpc>
                <a:spcPct val="115000"/>
              </a:lnSpc>
              <a:spcBef>
                <a:spcPts val="0"/>
              </a:spcBef>
              <a:spcAft>
                <a:spcPts val="0"/>
              </a:spcAft>
              <a:buClrTx/>
              <a:buSzTx/>
              <a:buFont typeface="Wingdings" panose="05000000000000000000" charset="0"/>
              <a:buChar char="p"/>
            </a:pPr>
            <a:r>
              <a:rPr lang="en-US" altLang="zh-CN" sz="2200" dirty="0">
                <a:solidFill>
                  <a:srgbClr val="0000FF"/>
                </a:solidFill>
                <a:sym typeface="+mn-ea"/>
              </a:rPr>
              <a:t>@@trancount：</a:t>
            </a:r>
            <a:r>
              <a:rPr lang="zh-CN" altLang="en-US" sz="2200" dirty="0">
                <a:sym typeface="+mn-ea"/>
              </a:rPr>
              <a:t>返回当前连接的活动事务数。</a:t>
            </a:r>
            <a:endParaRPr lang="zh-CN" altLang="en-US" sz="2200" dirty="0">
              <a:sym typeface="+mn-ea"/>
            </a:endParaRPr>
          </a:p>
          <a:p>
            <a:pPr marL="285750" indent="-285750" algn="l">
              <a:lnSpc>
                <a:spcPct val="115000"/>
              </a:lnSpc>
              <a:spcBef>
                <a:spcPts val="0"/>
              </a:spcBef>
              <a:spcAft>
                <a:spcPts val="0"/>
              </a:spcAft>
              <a:buClrTx/>
              <a:buSzTx/>
              <a:buFont typeface="Wingdings" panose="05000000000000000000" charset="0"/>
              <a:buChar char="p"/>
            </a:pPr>
            <a:r>
              <a:rPr lang="en-US" altLang="zh-CN" sz="2200" dirty="0">
                <a:solidFill>
                  <a:srgbClr val="0000FF"/>
                </a:solidFill>
                <a:sym typeface="+mn-ea"/>
              </a:rPr>
              <a:t>@@fetch_status：</a:t>
            </a:r>
            <a:r>
              <a:rPr lang="zh-CN" altLang="en-US" sz="2200" dirty="0">
                <a:sym typeface="+mn-ea"/>
              </a:rPr>
              <a:t>返回针对连接当前打开的任何游标打出的上一条游标语句的状态。</a:t>
            </a:r>
            <a:r>
              <a:rPr lang="en-US" altLang="zh-CN" sz="2200" dirty="0">
                <a:sym typeface="+mn-ea"/>
              </a:rPr>
              <a:t>0:fetch</a:t>
            </a:r>
            <a:r>
              <a:rPr lang="zh-CN" altLang="en-US" sz="2200" dirty="0">
                <a:sym typeface="+mn-ea"/>
              </a:rPr>
              <a:t>语句成功；</a:t>
            </a:r>
            <a:r>
              <a:rPr lang="en-US" altLang="zh-CN" sz="2200" dirty="0">
                <a:sym typeface="+mn-ea"/>
              </a:rPr>
              <a:t>-1:fetch</a:t>
            </a:r>
            <a:r>
              <a:rPr lang="zh-CN" altLang="en-US" sz="2200" dirty="0">
                <a:sym typeface="+mn-ea"/>
              </a:rPr>
              <a:t>语句失败；</a:t>
            </a:r>
            <a:r>
              <a:rPr lang="en-US" altLang="zh-CN" sz="2200" dirty="0">
                <a:sym typeface="+mn-ea"/>
              </a:rPr>
              <a:t>-2:</a:t>
            </a:r>
            <a:r>
              <a:rPr lang="zh-CN" altLang="en-US" sz="2200" dirty="0">
                <a:sym typeface="+mn-ea"/>
              </a:rPr>
              <a:t>提取的行</a:t>
            </a:r>
            <a:r>
              <a:rPr lang="zh-CN" altLang="en-US" sz="2200" dirty="0">
                <a:sym typeface="+mn-ea"/>
              </a:rPr>
              <a:t>不存在。</a:t>
            </a:r>
            <a:endParaRPr lang="zh-CN" altLang="en-US" sz="2200" dirty="0">
              <a:sym typeface="+mn-ea"/>
            </a:endParaRPr>
          </a:p>
        </p:txBody>
      </p:sp>
      <p:sp>
        <p:nvSpPr>
          <p:cNvPr id="2" name="文本框 1"/>
          <p:cNvSpPr txBox="1"/>
          <p:nvPr/>
        </p:nvSpPr>
        <p:spPr>
          <a:xfrm>
            <a:off x="9645650" y="1533525"/>
            <a:ext cx="3048000" cy="368300"/>
          </a:xfrm>
          <a:prstGeom prst="rect">
            <a:avLst/>
          </a:prstGeom>
          <a:noFill/>
        </p:spPr>
        <p:txBody>
          <a:bodyPr wrap="square" rtlCol="0">
            <a:spAutoFit/>
          </a:bodyPr>
          <a:p>
            <a:endParaRPr lang="zh-CN" altLang="en-US"/>
          </a:p>
        </p:txBody>
      </p:sp>
    </p:spTree>
  </p:cSld>
  <p:clrMapOvr>
    <a:masterClrMapping/>
  </p:clrMapOvr>
  <p:transition/>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5"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1" charset="-122"/>
              </a:rPr>
              <a:t>四、</a:t>
            </a:r>
            <a:r>
              <a:rPr lang="en-US" altLang="zh-CN" sz="3200" dirty="0">
                <a:solidFill>
                  <a:srgbClr val="FF0000"/>
                </a:solidFill>
                <a:ea typeface="黑体" panose="02010609060101010101" pitchFamily="1" charset="-122"/>
              </a:rPr>
              <a:t>T-SQL</a:t>
            </a:r>
            <a:r>
              <a:rPr lang="zh-CN" altLang="en-US" sz="3200" dirty="0">
                <a:solidFill>
                  <a:srgbClr val="FF0000"/>
                </a:solidFill>
                <a:ea typeface="黑体" panose="02010609060101010101" pitchFamily="1" charset="-122"/>
              </a:rPr>
              <a:t>编程</a:t>
            </a:r>
            <a:endParaRPr lang="zh-CN" altLang="en-US" sz="3200" dirty="0">
              <a:solidFill>
                <a:srgbClr val="FF0000"/>
              </a:solidFill>
              <a:ea typeface="黑体" panose="02010609060101010101" pitchFamily="1" charset="-122"/>
            </a:endParaRPr>
          </a:p>
        </p:txBody>
      </p:sp>
      <p:sp>
        <p:nvSpPr>
          <p:cNvPr id="101379" name="Rectangle 3"/>
          <p:cNvSpPr txBox="1"/>
          <p:nvPr/>
        </p:nvSpPr>
        <p:spPr>
          <a:xfrm>
            <a:off x="501650" y="855663"/>
            <a:ext cx="8642350" cy="747712"/>
          </a:xfrm>
          <a:prstGeom prst="rect">
            <a:avLst/>
          </a:prstGeom>
          <a:noFill/>
          <a:ln w="9525">
            <a:noFill/>
          </a:ln>
        </p:spPr>
        <p:txBody>
          <a:bodyPr anchor="t" anchorCtr="0"/>
          <a:p>
            <a:pPr>
              <a:buFont typeface="Wingdings" panose="05000000000000000000" pitchFamily="2" charset="2"/>
            </a:pPr>
            <a:r>
              <a:rPr lang="en-US" altLang="zh-CN" sz="2400" dirty="0">
                <a:solidFill>
                  <a:srgbClr val="3333CC"/>
                </a:solidFill>
                <a:latin typeface="宋体" panose="02010600030101010101" pitchFamily="2" charset="-122"/>
                <a:ea typeface="黑体" panose="02010609060101010101" pitchFamily="1" charset="-122"/>
              </a:rPr>
              <a:t>2.</a:t>
            </a:r>
            <a:r>
              <a:rPr lang="zh-CN" altLang="en-US" sz="2400" dirty="0">
                <a:solidFill>
                  <a:srgbClr val="3333CC"/>
                </a:solidFill>
                <a:latin typeface="宋体" panose="02010600030101010101" pitchFamily="2" charset="-122"/>
                <a:ea typeface="黑体" panose="02010609060101010101" pitchFamily="1" charset="-122"/>
              </a:rPr>
              <a:t>函数</a:t>
            </a:r>
            <a:endParaRPr lang="zh-CN" altLang="en-US" sz="2400" dirty="0">
              <a:solidFill>
                <a:srgbClr val="3333CC"/>
              </a:solidFill>
              <a:latin typeface="宋体" panose="02010600030101010101" pitchFamily="2" charset="-122"/>
              <a:ea typeface="黑体" panose="02010609060101010101" pitchFamily="1" charset="-122"/>
            </a:endParaRPr>
          </a:p>
        </p:txBody>
      </p:sp>
      <p:sp>
        <p:nvSpPr>
          <p:cNvPr id="3" name="文本框 2"/>
          <p:cNvSpPr txBox="1"/>
          <p:nvPr/>
        </p:nvSpPr>
        <p:spPr>
          <a:xfrm>
            <a:off x="501650" y="1265555"/>
            <a:ext cx="4572000" cy="429895"/>
          </a:xfrm>
          <a:prstGeom prst="rect">
            <a:avLst/>
          </a:prstGeom>
          <a:noFill/>
        </p:spPr>
        <p:txBody>
          <a:bodyPr wrap="square" rtlCol="0" anchor="t">
            <a:spAutoFit/>
          </a:bodyPr>
          <a:p>
            <a:pPr marL="342900" lvl="0" indent="-342900" eaLnBrk="1" hangingPunct="1">
              <a:buFont typeface="Arial" panose="020B0604020202020204" pitchFamily="34" charset="0"/>
              <a:buNone/>
            </a:pPr>
            <a:r>
              <a:rPr lang="zh-CN" altLang="en-US" sz="2200" dirty="0">
                <a:solidFill>
                  <a:srgbClr val="0000FF"/>
                </a:solidFill>
                <a:latin typeface="华文中宋" panose="02010600040101010101" charset="-122"/>
                <a:ea typeface="华文中宋" panose="02010600040101010101" charset="-122"/>
                <a:cs typeface="华文中宋" panose="02010600040101010101" charset="-122"/>
                <a:sym typeface="+mn-ea"/>
              </a:rPr>
              <a:t>（</a:t>
            </a:r>
            <a:r>
              <a:rPr lang="en-US" altLang="zh-CN" sz="2200" dirty="0">
                <a:solidFill>
                  <a:srgbClr val="0000FF"/>
                </a:solidFill>
                <a:latin typeface="华文中宋" panose="02010600040101010101" charset="-122"/>
                <a:ea typeface="华文中宋" panose="02010600040101010101" charset="-122"/>
                <a:cs typeface="华文中宋" panose="02010600040101010101" charset="-122"/>
                <a:sym typeface="+mn-ea"/>
              </a:rPr>
              <a:t>1</a:t>
            </a:r>
            <a:r>
              <a:rPr lang="zh-CN" altLang="en-US" sz="2200" dirty="0">
                <a:solidFill>
                  <a:srgbClr val="0000FF"/>
                </a:solidFill>
                <a:latin typeface="华文中宋" panose="02010600040101010101" charset="-122"/>
                <a:ea typeface="华文中宋" panose="02010600040101010101" charset="-122"/>
                <a:cs typeface="华文中宋" panose="02010600040101010101" charset="-122"/>
                <a:sym typeface="+mn-ea"/>
              </a:rPr>
              <a:t>）字符串</a:t>
            </a:r>
            <a:r>
              <a:rPr lang="zh-CN" altLang="en-US" sz="2200" dirty="0">
                <a:solidFill>
                  <a:srgbClr val="0000FF"/>
                </a:solidFill>
                <a:latin typeface="华文中宋" panose="02010600040101010101" charset="-122"/>
                <a:ea typeface="华文中宋" panose="02010600040101010101" charset="-122"/>
                <a:cs typeface="华文中宋" panose="02010600040101010101" charset="-122"/>
                <a:sym typeface="+mn-ea"/>
              </a:rPr>
              <a:t>操作</a:t>
            </a:r>
            <a:endParaRPr lang="zh-CN" altLang="en-US" sz="2200" dirty="0">
              <a:solidFill>
                <a:srgbClr val="0000FF"/>
              </a:solidFill>
              <a:latin typeface="华文中宋" panose="02010600040101010101" charset="-122"/>
              <a:ea typeface="华文中宋" panose="02010600040101010101" charset="-122"/>
              <a:cs typeface="华文中宋" panose="02010600040101010101" charset="-122"/>
              <a:sym typeface="+mn-ea"/>
            </a:endParaRPr>
          </a:p>
        </p:txBody>
      </p:sp>
      <p:sp>
        <p:nvSpPr>
          <p:cNvPr id="121903" name="文本框 20"/>
          <p:cNvSpPr txBox="1"/>
          <p:nvPr/>
        </p:nvSpPr>
        <p:spPr>
          <a:xfrm>
            <a:off x="610235" y="1698625"/>
            <a:ext cx="8312150" cy="39878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sym typeface="+mn-ea"/>
              </a:rPr>
              <a:t>   </a:t>
            </a:r>
            <a:r>
              <a:rPr lang="zh-CN" altLang="en-US" dirty="0">
                <a:sym typeface="+mn-ea"/>
              </a:rPr>
              <a:t>字符串操作包括字符串的连接操作符和字符串</a:t>
            </a:r>
            <a:r>
              <a:rPr lang="zh-CN" altLang="en-US" dirty="0">
                <a:sym typeface="+mn-ea"/>
              </a:rPr>
              <a:t>函数。</a:t>
            </a:r>
            <a:endParaRPr lang="zh-CN" altLang="en-US" dirty="0">
              <a:sym typeface="+mn-ea"/>
            </a:endParaRPr>
          </a:p>
        </p:txBody>
      </p:sp>
      <p:sp>
        <p:nvSpPr>
          <p:cNvPr id="5" name="文本框 20"/>
          <p:cNvSpPr txBox="1"/>
          <p:nvPr/>
        </p:nvSpPr>
        <p:spPr>
          <a:xfrm>
            <a:off x="610235" y="1964690"/>
            <a:ext cx="8312150" cy="86804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50000"/>
              </a:lnSpc>
              <a:spcBef>
                <a:spcPts val="0"/>
              </a:spcBef>
              <a:spcAft>
                <a:spcPts val="35"/>
              </a:spcAft>
              <a:buClrTx/>
              <a:buSzTx/>
              <a:buFont typeface="Arial" panose="020B0604020202020204" pitchFamily="34" charset="0"/>
              <a:buNone/>
            </a:pPr>
            <a:r>
              <a:rPr lang="en-US" altLang="zh-CN" dirty="0">
                <a:sym typeface="+mn-ea"/>
              </a:rPr>
              <a:t>   1</a:t>
            </a:r>
            <a:r>
              <a:rPr lang="zh-CN" altLang="en-US" dirty="0">
                <a:sym typeface="+mn-ea"/>
              </a:rPr>
              <a:t>）连接操作符</a:t>
            </a:r>
            <a:r>
              <a:rPr lang="en-US" altLang="zh-CN" dirty="0">
                <a:sym typeface="+mn-ea"/>
              </a:rPr>
              <a:t>“+”</a:t>
            </a:r>
            <a:endParaRPr lang="en-US" altLang="zh-CN" dirty="0">
              <a:sym typeface="+mn-ea"/>
            </a:endParaRPr>
          </a:p>
          <a:p>
            <a:pPr marL="0" lvl="0" indent="0" eaLnBrk="1" hangingPunct="1">
              <a:lnSpc>
                <a:spcPct val="100000"/>
              </a:lnSpc>
              <a:spcBef>
                <a:spcPts val="25"/>
              </a:spcBef>
              <a:spcAft>
                <a:spcPts val="0"/>
              </a:spcAft>
              <a:buClrTx/>
              <a:buSzTx/>
              <a:buFont typeface="Arial" panose="020B0604020202020204" pitchFamily="34" charset="0"/>
              <a:buNone/>
            </a:pPr>
            <a:r>
              <a:rPr lang="en-US" altLang="zh-CN" dirty="0">
                <a:sym typeface="+mn-ea"/>
              </a:rPr>
              <a:t>    </a:t>
            </a:r>
            <a:r>
              <a:rPr lang="zh-CN" altLang="en-US" dirty="0">
                <a:sym typeface="+mn-ea"/>
              </a:rPr>
              <a:t>用途：使用</a:t>
            </a:r>
            <a:r>
              <a:rPr lang="en-US" altLang="zh-CN" dirty="0">
                <a:sym typeface="+mn-ea"/>
              </a:rPr>
              <a:t>“+”</a:t>
            </a:r>
            <a:r>
              <a:rPr lang="zh-CN" altLang="en-US" dirty="0">
                <a:sym typeface="+mn-ea"/>
              </a:rPr>
              <a:t>连接字符串。结果字符串最大不超过</a:t>
            </a:r>
            <a:r>
              <a:rPr lang="en-US" altLang="zh-CN" dirty="0">
                <a:sym typeface="+mn-ea"/>
              </a:rPr>
              <a:t>255</a:t>
            </a:r>
            <a:r>
              <a:rPr lang="zh-CN" altLang="en-US" dirty="0">
                <a:sym typeface="+mn-ea"/>
              </a:rPr>
              <a:t>个</a:t>
            </a:r>
            <a:r>
              <a:rPr lang="zh-CN" altLang="en-US" dirty="0">
                <a:sym typeface="+mn-ea"/>
              </a:rPr>
              <a:t>字符。</a:t>
            </a:r>
            <a:endParaRPr lang="zh-CN" altLang="en-US" dirty="0">
              <a:sym typeface="+mn-ea"/>
            </a:endParaRPr>
          </a:p>
        </p:txBody>
      </p:sp>
      <p:sp>
        <p:nvSpPr>
          <p:cNvPr id="17" name="文本框 16"/>
          <p:cNvSpPr txBox="1"/>
          <p:nvPr/>
        </p:nvSpPr>
        <p:spPr>
          <a:xfrm>
            <a:off x="1545590" y="2857500"/>
            <a:ext cx="7376795" cy="462915"/>
          </a:xfrm>
          <a:prstGeom prst="rect">
            <a:avLst/>
          </a:prstGeom>
          <a:noFill/>
        </p:spPr>
        <p:txBody>
          <a:bodyPr wrap="square" rtlCol="0" anchor="t">
            <a:spAutoFit/>
          </a:bodyPr>
          <a:p>
            <a:pPr>
              <a:lnSpc>
                <a:spcPct val="110000"/>
              </a:lnSpc>
              <a:spcBef>
                <a:spcPts val="0"/>
              </a:spcBef>
              <a:spcAft>
                <a:spcPts val="0"/>
              </a:spcAft>
            </a:pPr>
            <a:r>
              <a:rPr lang="en-US" sz="2200"/>
              <a:t>’china’+’,’+’Chengdu’=’China,Chengdu’</a:t>
            </a:r>
            <a:endParaRPr lang="en-US" sz="2200"/>
          </a:p>
        </p:txBody>
      </p:sp>
      <p:sp>
        <p:nvSpPr>
          <p:cNvPr id="18" name="文本框 17"/>
          <p:cNvSpPr txBox="1"/>
          <p:nvPr/>
        </p:nvSpPr>
        <p:spPr>
          <a:xfrm>
            <a:off x="854710" y="2804160"/>
            <a:ext cx="690880" cy="49720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0"/>
              </a:spcBef>
              <a:buClrTx/>
              <a:buSzTx/>
              <a:buFont typeface="Arial" panose="020B0604020202020204" pitchFamily="34" charset="0"/>
              <a:buNone/>
            </a:pPr>
            <a:r>
              <a:rPr lang="zh-CN" altLang="en-US" sz="2200" dirty="0">
                <a:solidFill>
                  <a:srgbClr val="0000FF"/>
                </a:solidFill>
                <a:sym typeface="+mn-ea"/>
              </a:rPr>
              <a:t>例</a:t>
            </a:r>
            <a:r>
              <a:rPr lang="en-US" altLang="zh-CN" sz="2200" dirty="0">
                <a:solidFill>
                  <a:srgbClr val="0000FF"/>
                </a:solidFill>
                <a:sym typeface="+mn-ea"/>
              </a:rPr>
              <a:t>4</a:t>
            </a:r>
            <a:r>
              <a:rPr lang="zh-CN" altLang="en-US" sz="2200" dirty="0">
                <a:solidFill>
                  <a:srgbClr val="0000FF"/>
                </a:solidFill>
                <a:sym typeface="+mn-ea"/>
              </a:rPr>
              <a:t>：</a:t>
            </a:r>
            <a:endParaRPr lang="zh-CN" altLang="en-US" sz="2200" dirty="0">
              <a:solidFill>
                <a:srgbClr val="0000FF"/>
              </a:solidFill>
              <a:sym typeface="+mn-ea"/>
            </a:endParaRPr>
          </a:p>
        </p:txBody>
      </p:sp>
      <p:sp>
        <p:nvSpPr>
          <p:cNvPr id="6" name="文本框 20"/>
          <p:cNvSpPr txBox="1"/>
          <p:nvPr/>
        </p:nvSpPr>
        <p:spPr>
          <a:xfrm>
            <a:off x="610235" y="3141345"/>
            <a:ext cx="8312150" cy="55308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50000"/>
              </a:lnSpc>
              <a:spcBef>
                <a:spcPts val="0"/>
              </a:spcBef>
              <a:spcAft>
                <a:spcPts val="35"/>
              </a:spcAft>
              <a:buClrTx/>
              <a:buSzTx/>
              <a:buFont typeface="Arial" panose="020B0604020202020204" pitchFamily="34" charset="0"/>
              <a:buNone/>
            </a:pPr>
            <a:r>
              <a:rPr lang="en-US" altLang="zh-CN" dirty="0">
                <a:sym typeface="+mn-ea"/>
              </a:rPr>
              <a:t>   2</a:t>
            </a:r>
            <a:r>
              <a:rPr lang="zh-CN" altLang="en-US" dirty="0">
                <a:sym typeface="+mn-ea"/>
              </a:rPr>
              <a:t>）常用字符串</a:t>
            </a:r>
            <a:r>
              <a:rPr lang="zh-CN" altLang="en-US" dirty="0">
                <a:sym typeface="+mn-ea"/>
              </a:rPr>
              <a:t>函数</a:t>
            </a:r>
            <a:endParaRPr lang="zh-CN" altLang="en-US" dirty="0">
              <a:sym typeface="+mn-ea"/>
            </a:endParaRPr>
          </a:p>
        </p:txBody>
      </p:sp>
      <p:graphicFrame>
        <p:nvGraphicFramePr>
          <p:cNvPr id="7" name="表格 6"/>
          <p:cNvGraphicFramePr/>
          <p:nvPr>
            <p:custDataLst>
              <p:tags r:id="rId1"/>
            </p:custDataLst>
          </p:nvPr>
        </p:nvGraphicFramePr>
        <p:xfrm>
          <a:off x="332740" y="3694430"/>
          <a:ext cx="8589645" cy="2896235"/>
        </p:xfrm>
        <a:graphic>
          <a:graphicData uri="http://schemas.openxmlformats.org/drawingml/2006/table">
            <a:tbl>
              <a:tblPr firstRow="1" bandRow="1">
                <a:tableStyleId>{5C22544A-7EE6-4342-B048-85BDC9FD1C3A}</a:tableStyleId>
              </a:tblPr>
              <a:tblGrid>
                <a:gridCol w="1159510"/>
                <a:gridCol w="3990340"/>
                <a:gridCol w="2299335"/>
                <a:gridCol w="1140460"/>
              </a:tblGrid>
              <a:tr h="365760">
                <a:tc>
                  <a:txBody>
                    <a:bodyPr/>
                    <a:p>
                      <a:pPr algn="ctr">
                        <a:buNone/>
                      </a:pPr>
                      <a:r>
                        <a:rPr lang="zh-CN" altLang="en-US">
                          <a:solidFill>
                            <a:srgbClr val="C00000"/>
                          </a:solidFill>
                        </a:rPr>
                        <a:t>函数</a:t>
                      </a:r>
                      <a:endParaRPr lang="zh-CN" altLang="en-US">
                        <a:solidFill>
                          <a:srgbClr val="C00000"/>
                        </a:solidFill>
                      </a:endParaRPr>
                    </a:p>
                  </a:txBody>
                  <a:tcPr/>
                </a:tc>
                <a:tc>
                  <a:txBody>
                    <a:bodyPr/>
                    <a:p>
                      <a:pPr algn="ctr">
                        <a:buNone/>
                      </a:pPr>
                      <a:r>
                        <a:rPr lang="zh-CN" altLang="en-US">
                          <a:solidFill>
                            <a:srgbClr val="C00000"/>
                          </a:solidFill>
                        </a:rPr>
                        <a:t>语法</a:t>
                      </a:r>
                      <a:endParaRPr lang="zh-CN" altLang="en-US">
                        <a:solidFill>
                          <a:srgbClr val="C00000"/>
                        </a:solidFill>
                      </a:endParaRPr>
                    </a:p>
                  </a:txBody>
                  <a:tcPr/>
                </a:tc>
                <a:tc>
                  <a:txBody>
                    <a:bodyPr/>
                    <a:p>
                      <a:pPr algn="ctr">
                        <a:buNone/>
                      </a:pPr>
                      <a:r>
                        <a:rPr lang="zh-CN" altLang="en-US">
                          <a:solidFill>
                            <a:srgbClr val="C00000"/>
                          </a:solidFill>
                        </a:rPr>
                        <a:t>示例</a:t>
                      </a:r>
                      <a:endParaRPr lang="zh-CN" altLang="en-US">
                        <a:solidFill>
                          <a:srgbClr val="C00000"/>
                        </a:solidFill>
                      </a:endParaRPr>
                    </a:p>
                  </a:txBody>
                  <a:tcPr/>
                </a:tc>
                <a:tc>
                  <a:txBody>
                    <a:bodyPr/>
                    <a:p>
                      <a:pPr algn="ctr">
                        <a:buNone/>
                      </a:pPr>
                      <a:r>
                        <a:rPr lang="zh-CN" altLang="en-US">
                          <a:solidFill>
                            <a:srgbClr val="C00000"/>
                          </a:solidFill>
                        </a:rPr>
                        <a:t>结果</a:t>
                      </a:r>
                      <a:endParaRPr lang="zh-CN" altLang="en-US">
                        <a:solidFill>
                          <a:srgbClr val="C00000"/>
                        </a:solidFill>
                      </a:endParaRPr>
                    </a:p>
                  </a:txBody>
                  <a:tcPr/>
                </a:tc>
              </a:tr>
              <a:tr h="296545">
                <a:tc>
                  <a:txBody>
                    <a:bodyPr/>
                    <a:p>
                      <a:pPr>
                        <a:buNone/>
                      </a:pPr>
                      <a:r>
                        <a:rPr lang="en-US" altLang="zh-CN" sz="1600"/>
                        <a:t>substring</a:t>
                      </a:r>
                      <a:endParaRPr lang="en-US" altLang="zh-CN" sz="1600"/>
                    </a:p>
                  </a:txBody>
                  <a:tcPr/>
                </a:tc>
                <a:tc>
                  <a:txBody>
                    <a:bodyPr/>
                    <a:p>
                      <a:pPr>
                        <a:buNone/>
                      </a:pPr>
                      <a:r>
                        <a:rPr lang="en-US" altLang="zh-CN" sz="1600">
                          <a:sym typeface="+mn-ea"/>
                        </a:rPr>
                        <a:t>substring(</a:t>
                      </a:r>
                      <a:r>
                        <a:rPr lang="zh-CN" altLang="en-US" sz="1600">
                          <a:sym typeface="+mn-ea"/>
                        </a:rPr>
                        <a:t>字符串表达式</a:t>
                      </a:r>
                      <a:r>
                        <a:rPr lang="en-US" altLang="zh-CN" sz="1600">
                          <a:sym typeface="+mn-ea"/>
                        </a:rPr>
                        <a:t>,</a:t>
                      </a:r>
                      <a:r>
                        <a:rPr lang="zh-CN" altLang="en-US" sz="1600">
                          <a:sym typeface="+mn-ea"/>
                        </a:rPr>
                        <a:t>开始位置</a:t>
                      </a:r>
                      <a:r>
                        <a:rPr lang="en-US" altLang="zh-CN" sz="1600">
                          <a:sym typeface="+mn-ea"/>
                        </a:rPr>
                        <a:t>,</a:t>
                      </a:r>
                      <a:r>
                        <a:rPr lang="zh-CN" altLang="en-US" sz="1600">
                          <a:sym typeface="+mn-ea"/>
                        </a:rPr>
                        <a:t>长度</a:t>
                      </a:r>
                      <a:r>
                        <a:rPr lang="en-US" altLang="zh-CN" sz="1600">
                          <a:sym typeface="+mn-ea"/>
                        </a:rPr>
                        <a:t>)</a:t>
                      </a:r>
                      <a:endParaRPr lang="zh-CN" altLang="en-US" sz="1600">
                        <a:sym typeface="+mn-ea"/>
                      </a:endParaRPr>
                    </a:p>
                  </a:txBody>
                  <a:tcPr/>
                </a:tc>
                <a:tc>
                  <a:txBody>
                    <a:bodyPr/>
                    <a:p>
                      <a:pPr>
                        <a:buNone/>
                      </a:pPr>
                      <a:r>
                        <a:rPr lang="en-US" altLang="zh-CN" sz="1600">
                          <a:sym typeface="+mn-ea"/>
                        </a:rPr>
                        <a:t>substring(‘abcde',2,2</a:t>
                      </a:r>
                      <a:r>
                        <a:rPr lang="en-US" altLang="zh-CN" sz="1600">
                          <a:sym typeface="+mn-ea"/>
                        </a:rPr>
                        <a:t>)</a:t>
                      </a:r>
                      <a:endParaRPr lang="zh-CN" altLang="en-US" sz="1600"/>
                    </a:p>
                  </a:txBody>
                  <a:tcPr/>
                </a:tc>
                <a:tc>
                  <a:txBody>
                    <a:bodyPr/>
                    <a:p>
                      <a:pPr>
                        <a:buNone/>
                      </a:pPr>
                      <a:r>
                        <a:rPr lang="en-US" altLang="zh-CN" sz="1600"/>
                        <a:t>’</a:t>
                      </a:r>
                      <a:r>
                        <a:rPr lang="en-US" altLang="zh-CN" sz="1600"/>
                        <a:t>bc’</a:t>
                      </a:r>
                      <a:endParaRPr lang="en-US" altLang="zh-CN" sz="1600"/>
                    </a:p>
                  </a:txBody>
                  <a:tcPr/>
                </a:tc>
              </a:tr>
              <a:tr h="366395">
                <a:tc>
                  <a:txBody>
                    <a:bodyPr/>
                    <a:p>
                      <a:pPr>
                        <a:buNone/>
                      </a:pPr>
                      <a:r>
                        <a:rPr lang="en-US" altLang="zh-CN"/>
                        <a:t>left</a:t>
                      </a:r>
                      <a:endParaRPr lang="en-US" altLang="zh-CN"/>
                    </a:p>
                  </a:txBody>
                  <a:tcPr/>
                </a:tc>
                <a:tc>
                  <a:txBody>
                    <a:bodyPr/>
                    <a:p>
                      <a:pPr>
                        <a:buNone/>
                      </a:pPr>
                      <a:r>
                        <a:rPr lang="en-US" altLang="zh-CN" sz="1800">
                          <a:sym typeface="+mn-ea"/>
                        </a:rPr>
                        <a:t>left</a:t>
                      </a:r>
                      <a:r>
                        <a:rPr lang="en-US" altLang="zh-CN" sz="1800"/>
                        <a:t>(</a:t>
                      </a:r>
                      <a:r>
                        <a:rPr lang="zh-CN" altLang="en-US" sz="1800">
                          <a:sym typeface="+mn-ea"/>
                        </a:rPr>
                        <a:t>字符串表达式</a:t>
                      </a:r>
                      <a:r>
                        <a:rPr lang="en-US" altLang="zh-CN" sz="1800">
                          <a:sym typeface="+mn-ea"/>
                        </a:rPr>
                        <a:t>,</a:t>
                      </a:r>
                      <a:r>
                        <a:rPr lang="zh-CN" altLang="en-US" sz="1800">
                          <a:sym typeface="+mn-ea"/>
                        </a:rPr>
                        <a:t>长度</a:t>
                      </a:r>
                      <a:r>
                        <a:rPr lang="en-US" altLang="zh-CN" sz="1800">
                          <a:sym typeface="+mn-ea"/>
                        </a:rPr>
                        <a:t>)</a:t>
                      </a:r>
                      <a:endParaRPr lang="zh-CN" altLang="en-US"/>
                    </a:p>
                  </a:txBody>
                  <a:tcPr/>
                </a:tc>
                <a:tc>
                  <a:txBody>
                    <a:bodyPr/>
                    <a:p>
                      <a:pPr>
                        <a:buNone/>
                      </a:pPr>
                      <a:r>
                        <a:rPr lang="en-US" altLang="zh-CN" sz="1800">
                          <a:sym typeface="+mn-ea"/>
                        </a:rPr>
                        <a:t>left</a:t>
                      </a:r>
                      <a:r>
                        <a:rPr lang="en-US" altLang="zh-CN" sz="1800">
                          <a:sym typeface="+mn-ea"/>
                        </a:rPr>
                        <a:t>(</a:t>
                      </a:r>
                      <a:r>
                        <a:rPr lang="en-US" altLang="zh-CN" sz="1800">
                          <a:sym typeface="+mn-ea"/>
                        </a:rPr>
                        <a:t>‘abcde',3)</a:t>
                      </a:r>
                      <a:endParaRPr lang="zh-CN" altLang="en-US"/>
                    </a:p>
                  </a:txBody>
                  <a:tcPr/>
                </a:tc>
                <a:tc>
                  <a:txBody>
                    <a:bodyPr/>
                    <a:p>
                      <a:pPr>
                        <a:buNone/>
                      </a:pPr>
                      <a:r>
                        <a:rPr lang="en-US" altLang="zh-CN"/>
                        <a:t>‘abc’</a:t>
                      </a:r>
                      <a:endParaRPr lang="en-US" altLang="zh-CN"/>
                    </a:p>
                  </a:txBody>
                  <a:tcPr/>
                </a:tc>
              </a:tr>
              <a:tr h="365760">
                <a:tc>
                  <a:txBody>
                    <a:bodyPr/>
                    <a:p>
                      <a:pPr>
                        <a:buNone/>
                      </a:pPr>
                      <a:r>
                        <a:rPr lang="en-US" altLang="zh-CN"/>
                        <a:t>right</a:t>
                      </a:r>
                      <a:endParaRPr lang="en-US" altLang="zh-CN"/>
                    </a:p>
                  </a:txBody>
                  <a:tcPr/>
                </a:tc>
                <a:tc>
                  <a:txBody>
                    <a:bodyPr/>
                    <a:p>
                      <a:pPr>
                        <a:buNone/>
                      </a:pPr>
                      <a:r>
                        <a:rPr lang="en-US" altLang="zh-CN" sz="1800">
                          <a:sym typeface="+mn-ea"/>
                        </a:rPr>
                        <a:t>right</a:t>
                      </a:r>
                      <a:r>
                        <a:rPr lang="en-US" altLang="zh-CN" sz="1800"/>
                        <a:t>(</a:t>
                      </a:r>
                      <a:r>
                        <a:rPr lang="zh-CN" altLang="en-US" sz="1800">
                          <a:sym typeface="+mn-ea"/>
                        </a:rPr>
                        <a:t>字符串表达式</a:t>
                      </a:r>
                      <a:r>
                        <a:rPr lang="en-US" altLang="zh-CN" sz="1800">
                          <a:sym typeface="+mn-ea"/>
                        </a:rPr>
                        <a:t>,</a:t>
                      </a:r>
                      <a:r>
                        <a:rPr lang="zh-CN" altLang="en-US" sz="1800">
                          <a:sym typeface="+mn-ea"/>
                        </a:rPr>
                        <a:t>长度</a:t>
                      </a:r>
                      <a:r>
                        <a:rPr lang="en-US" altLang="zh-CN" sz="1800">
                          <a:sym typeface="+mn-ea"/>
                        </a:rPr>
                        <a:t>)</a:t>
                      </a:r>
                      <a:endParaRPr lang="zh-CN" altLang="en-US"/>
                    </a:p>
                  </a:txBody>
                  <a:tcPr/>
                </a:tc>
                <a:tc>
                  <a:txBody>
                    <a:bodyPr/>
                    <a:p>
                      <a:pPr>
                        <a:buNone/>
                      </a:pPr>
                      <a:r>
                        <a:rPr lang="en-US" altLang="zh-CN" sz="1800">
                          <a:sym typeface="+mn-ea"/>
                        </a:rPr>
                        <a:t>right(</a:t>
                      </a:r>
                      <a:r>
                        <a:rPr lang="en-US" altLang="zh-CN" sz="1800">
                          <a:sym typeface="+mn-ea"/>
                        </a:rPr>
                        <a:t>‘abcde',3)</a:t>
                      </a:r>
                      <a:endParaRPr lang="zh-CN" altLang="en-US"/>
                    </a:p>
                  </a:txBody>
                  <a:tcPr/>
                </a:tc>
                <a:tc>
                  <a:txBody>
                    <a:bodyPr/>
                    <a:p>
                      <a:pPr>
                        <a:buNone/>
                      </a:pPr>
                      <a:r>
                        <a:rPr lang="en-US" altLang="zh-CN"/>
                        <a:t>‘cde’</a:t>
                      </a:r>
                      <a:endParaRPr lang="en-US" altLang="zh-CN"/>
                    </a:p>
                  </a:txBody>
                  <a:tcPr/>
                </a:tc>
              </a:tr>
              <a:tr h="365760">
                <a:tc>
                  <a:txBody>
                    <a:bodyPr/>
                    <a:p>
                      <a:pPr>
                        <a:buNone/>
                      </a:pPr>
                      <a:r>
                        <a:rPr lang="en-US" altLang="zh-CN"/>
                        <a:t>upper</a:t>
                      </a:r>
                      <a:endParaRPr lang="en-US" altLang="zh-CN"/>
                    </a:p>
                  </a:txBody>
                  <a:tcPr/>
                </a:tc>
                <a:tc>
                  <a:txBody>
                    <a:bodyPr/>
                    <a:p>
                      <a:pPr>
                        <a:buNone/>
                      </a:pPr>
                      <a:r>
                        <a:rPr lang="en-US" altLang="zh-CN"/>
                        <a:t>upper(</a:t>
                      </a:r>
                      <a:r>
                        <a:rPr lang="zh-CN" altLang="en-US" sz="1800">
                          <a:sym typeface="+mn-ea"/>
                        </a:rPr>
                        <a:t>字符串表达式</a:t>
                      </a:r>
                      <a:r>
                        <a:rPr lang="en-US" altLang="zh-CN" sz="1800">
                          <a:sym typeface="+mn-ea"/>
                        </a:rPr>
                        <a:t>)</a:t>
                      </a:r>
                      <a:endParaRPr lang="en-US" altLang="zh-CN" sz="1800">
                        <a:sym typeface="+mn-ea"/>
                      </a:endParaRPr>
                    </a:p>
                  </a:txBody>
                  <a:tcPr/>
                </a:tc>
                <a:tc>
                  <a:txBody>
                    <a:bodyPr/>
                    <a:p>
                      <a:pPr>
                        <a:buNone/>
                      </a:pPr>
                      <a:r>
                        <a:rPr lang="en-US" altLang="zh-CN" sz="1800">
                          <a:sym typeface="+mn-ea"/>
                        </a:rPr>
                        <a:t>upper</a:t>
                      </a:r>
                      <a:r>
                        <a:rPr lang="en-US" altLang="zh-CN" sz="1800">
                          <a:sym typeface="+mn-ea"/>
                        </a:rPr>
                        <a:t>(‘abcde',3)</a:t>
                      </a:r>
                      <a:endParaRPr lang="zh-CN" altLang="en-US"/>
                    </a:p>
                  </a:txBody>
                  <a:tcPr/>
                </a:tc>
                <a:tc>
                  <a:txBody>
                    <a:bodyPr/>
                    <a:p>
                      <a:pPr>
                        <a:buNone/>
                      </a:pPr>
                      <a:r>
                        <a:rPr lang="en-US" altLang="zh-CN"/>
                        <a:t>‘</a:t>
                      </a:r>
                      <a:r>
                        <a:rPr lang="en-US" altLang="zh-CN"/>
                        <a:t>ABCDE’</a:t>
                      </a:r>
                      <a:endParaRPr lang="en-US" altLang="zh-CN"/>
                    </a:p>
                  </a:txBody>
                  <a:tcPr/>
                </a:tc>
              </a:tr>
              <a:tr h="365760">
                <a:tc>
                  <a:txBody>
                    <a:bodyPr/>
                    <a:p>
                      <a:pPr>
                        <a:buNone/>
                      </a:pPr>
                      <a:r>
                        <a:rPr lang="en-US" altLang="zh-CN"/>
                        <a:t>lower</a:t>
                      </a:r>
                      <a:endParaRPr lang="en-US" altLang="zh-CN"/>
                    </a:p>
                  </a:txBody>
                  <a:tcPr/>
                </a:tc>
                <a:tc>
                  <a:txBody>
                    <a:bodyPr/>
                    <a:p>
                      <a:pPr>
                        <a:buNone/>
                      </a:pPr>
                      <a:r>
                        <a:rPr lang="en-US" altLang="zh-CN" sz="1800">
                          <a:sym typeface="+mn-ea"/>
                        </a:rPr>
                        <a:t>lower(</a:t>
                      </a:r>
                      <a:r>
                        <a:rPr lang="zh-CN" altLang="en-US" sz="1800">
                          <a:sym typeface="+mn-ea"/>
                        </a:rPr>
                        <a:t>字符串表达式</a:t>
                      </a:r>
                      <a:r>
                        <a:rPr lang="en-US" altLang="zh-CN" sz="1800">
                          <a:sym typeface="+mn-ea"/>
                        </a:rPr>
                        <a:t>)</a:t>
                      </a:r>
                      <a:endParaRPr lang="zh-CN" altLang="en-US"/>
                    </a:p>
                  </a:txBody>
                  <a:tcPr/>
                </a:tc>
                <a:tc>
                  <a:txBody>
                    <a:bodyPr/>
                    <a:p>
                      <a:pPr>
                        <a:buNone/>
                      </a:pPr>
                      <a:r>
                        <a:rPr lang="en-US" altLang="zh-CN" sz="1800">
                          <a:sym typeface="+mn-ea"/>
                        </a:rPr>
                        <a:t>lower(‘aBcDE’)</a:t>
                      </a:r>
                      <a:endParaRPr lang="zh-CN" altLang="en-US"/>
                    </a:p>
                  </a:txBody>
                  <a:tcPr/>
                </a:tc>
                <a:tc>
                  <a:txBody>
                    <a:bodyPr/>
                    <a:p>
                      <a:pPr>
                        <a:buNone/>
                      </a:pPr>
                      <a:r>
                        <a:rPr lang="en-US" altLang="zh-CN"/>
                        <a:t>‘abcde’</a:t>
                      </a:r>
                      <a:endParaRPr lang="en-US" altLang="zh-CN"/>
                    </a:p>
                  </a:txBody>
                  <a:tcPr/>
                </a:tc>
              </a:tr>
              <a:tr h="365760">
                <a:tc>
                  <a:txBody>
                    <a:bodyPr/>
                    <a:p>
                      <a:pPr>
                        <a:buNone/>
                      </a:pPr>
                      <a:r>
                        <a:rPr lang="en-US" altLang="zh-CN"/>
                        <a:t>reverse</a:t>
                      </a:r>
                      <a:endParaRPr lang="en-US" altLang="zh-CN"/>
                    </a:p>
                  </a:txBody>
                  <a:tcPr/>
                </a:tc>
                <a:tc>
                  <a:txBody>
                    <a:bodyPr/>
                    <a:p>
                      <a:pPr>
                        <a:buNone/>
                      </a:pPr>
                      <a:r>
                        <a:rPr lang="en-US" altLang="zh-CN" sz="1800">
                          <a:sym typeface="+mn-ea"/>
                        </a:rPr>
                        <a:t>reverse(</a:t>
                      </a:r>
                      <a:r>
                        <a:rPr lang="zh-CN" altLang="en-US" sz="1800">
                          <a:sym typeface="+mn-ea"/>
                        </a:rPr>
                        <a:t>字符串表达式</a:t>
                      </a:r>
                      <a:r>
                        <a:rPr lang="en-US" altLang="zh-CN" sz="1800">
                          <a:sym typeface="+mn-ea"/>
                        </a:rPr>
                        <a:t>)</a:t>
                      </a:r>
                      <a:endParaRPr lang="zh-CN" altLang="en-US"/>
                    </a:p>
                  </a:txBody>
                  <a:tcPr/>
                </a:tc>
                <a:tc>
                  <a:txBody>
                    <a:bodyPr/>
                    <a:p>
                      <a:pPr>
                        <a:buNone/>
                      </a:pPr>
                      <a:r>
                        <a:rPr lang="en-US" altLang="zh-CN" sz="1800">
                          <a:sym typeface="+mn-ea"/>
                        </a:rPr>
                        <a:t>reverse(‘ABCDE’)</a:t>
                      </a:r>
                      <a:endParaRPr lang="zh-CN" altLang="en-US"/>
                    </a:p>
                  </a:txBody>
                  <a:tcPr/>
                </a:tc>
                <a:tc>
                  <a:txBody>
                    <a:bodyPr/>
                    <a:p>
                      <a:pPr>
                        <a:buNone/>
                      </a:pPr>
                      <a:r>
                        <a:rPr lang="en-US" altLang="zh-CN" sz="1800">
                          <a:sym typeface="+mn-ea"/>
                        </a:rPr>
                        <a:t>‘EDCB</a:t>
                      </a:r>
                      <a:r>
                        <a:rPr lang="en-US" altLang="zh-CN" sz="1800">
                          <a:sym typeface="+mn-ea"/>
                        </a:rPr>
                        <a:t>A’</a:t>
                      </a:r>
                      <a:endParaRPr lang="zh-CN" altLang="en-US"/>
                    </a:p>
                  </a:txBody>
                  <a:tcPr/>
                </a:tc>
              </a:tr>
            </a:tbl>
          </a:graphicData>
        </a:graphic>
      </p:graphicFrame>
      <p:pic>
        <p:nvPicPr>
          <p:cNvPr id="2" name="图片 1"/>
          <p:cNvPicPr>
            <a:picLocks noChangeAspect="1"/>
          </p:cNvPicPr>
          <p:nvPr/>
        </p:nvPicPr>
        <p:blipFill>
          <a:blip r:embed="rId2"/>
          <a:stretch>
            <a:fillRect/>
          </a:stretch>
        </p:blipFill>
        <p:spPr>
          <a:xfrm>
            <a:off x="5700395" y="2193290"/>
            <a:ext cx="3147060" cy="1226820"/>
          </a:xfrm>
          <a:prstGeom prst="rect">
            <a:avLst/>
          </a:prstGeom>
          <a:ln>
            <a:solidFill>
              <a:schemeClr val="accent1"/>
            </a:solid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ppt_x"/>
                                          </p:val>
                                        </p:tav>
                                        <p:tav tm="100000">
                                          <p:val>
                                            <p:strVal val="#ppt_x"/>
                                          </p:val>
                                        </p:tav>
                                      </p:tavLst>
                                    </p:anim>
                                    <p:anim calcmode="lin" valueType="num">
                                      <p:cBhvr additive="base">
                                        <p:cTn id="12"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ppt_x"/>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ppt_x</p:attrName>
                                        </p:attrNameLst>
                                      </p:cBhvr>
                                      <p:tavLst>
                                        <p:tav tm="0">
                                          <p:val>
                                            <p:strVal val="#ppt_x"/>
                                          </p:val>
                                        </p:tav>
                                        <p:tav tm="100000">
                                          <p:val>
                                            <p:strVal val="#ppt_x"/>
                                          </p:val>
                                        </p:tav>
                                      </p:tavLst>
                                    </p:anim>
                                    <p:anim calcmode="lin" valueType="num">
                                      <p:cBhvr additive="base">
                                        <p:cTn id="24" dur="500" fill="hold"/>
                                        <p:tgtEl>
                                          <p:spTgt spid="7"/>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500" fill="hold"/>
                                        <p:tgtEl>
                                          <p:spTgt spid="6"/>
                                        </p:tgtEl>
                                        <p:attrNameLst>
                                          <p:attrName>ppt_x</p:attrName>
                                        </p:attrNameLst>
                                      </p:cBhvr>
                                      <p:tavLst>
                                        <p:tav tm="0">
                                          <p:val>
                                            <p:strVal val="#ppt_x"/>
                                          </p:val>
                                        </p:tav>
                                        <p:tav tm="100000">
                                          <p:val>
                                            <p:strVal val="#ppt_x"/>
                                          </p:val>
                                        </p:tav>
                                      </p:tavLst>
                                    </p:anim>
                                    <p:anim calcmode="lin" valueType="num">
                                      <p:cBhvr additive="base">
                                        <p:cTn id="2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7" grpId="0"/>
      <p:bldP spid="18" grpId="1"/>
      <p:bldP spid="17" grpId="1"/>
      <p:bldP spid="6" grpId="0"/>
      <p:bldP spid="6" grpId="1"/>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5"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1" charset="-122"/>
              </a:rPr>
              <a:t>四、</a:t>
            </a:r>
            <a:r>
              <a:rPr lang="en-US" altLang="zh-CN" sz="3200" dirty="0">
                <a:solidFill>
                  <a:srgbClr val="FF0000"/>
                </a:solidFill>
                <a:ea typeface="黑体" panose="02010609060101010101" pitchFamily="1" charset="-122"/>
              </a:rPr>
              <a:t>T-SQL</a:t>
            </a:r>
            <a:r>
              <a:rPr lang="zh-CN" altLang="en-US" sz="3200" dirty="0">
                <a:solidFill>
                  <a:srgbClr val="FF0000"/>
                </a:solidFill>
                <a:ea typeface="黑体" panose="02010609060101010101" pitchFamily="1" charset="-122"/>
              </a:rPr>
              <a:t>编程</a:t>
            </a:r>
            <a:endParaRPr lang="zh-CN" altLang="en-US" sz="3200" dirty="0">
              <a:solidFill>
                <a:srgbClr val="FF0000"/>
              </a:solidFill>
              <a:ea typeface="黑体" panose="02010609060101010101" pitchFamily="1" charset="-122"/>
            </a:endParaRPr>
          </a:p>
        </p:txBody>
      </p:sp>
      <p:graphicFrame>
        <p:nvGraphicFramePr>
          <p:cNvPr id="7" name="表格 6"/>
          <p:cNvGraphicFramePr/>
          <p:nvPr>
            <p:custDataLst>
              <p:tags r:id="rId1"/>
            </p:custDataLst>
          </p:nvPr>
        </p:nvGraphicFramePr>
        <p:xfrm>
          <a:off x="332740" y="1359535"/>
          <a:ext cx="8589645" cy="4640580"/>
        </p:xfrm>
        <a:graphic>
          <a:graphicData uri="http://schemas.openxmlformats.org/drawingml/2006/table">
            <a:tbl>
              <a:tblPr firstRow="1" bandRow="1">
                <a:tableStyleId>{5C22544A-7EE6-4342-B048-85BDC9FD1C3A}</a:tableStyleId>
              </a:tblPr>
              <a:tblGrid>
                <a:gridCol w="1159510"/>
                <a:gridCol w="3849370"/>
                <a:gridCol w="2590800"/>
                <a:gridCol w="989965"/>
              </a:tblGrid>
              <a:tr h="365760">
                <a:tc>
                  <a:txBody>
                    <a:bodyPr/>
                    <a:p>
                      <a:pPr algn="ctr">
                        <a:buNone/>
                      </a:pPr>
                      <a:r>
                        <a:rPr lang="zh-CN" altLang="en-US">
                          <a:solidFill>
                            <a:srgbClr val="C00000"/>
                          </a:solidFill>
                        </a:rPr>
                        <a:t>函数</a:t>
                      </a:r>
                      <a:endParaRPr lang="zh-CN" altLang="en-US">
                        <a:solidFill>
                          <a:srgbClr val="C00000"/>
                        </a:solidFill>
                      </a:endParaRPr>
                    </a:p>
                  </a:txBody>
                  <a:tcPr/>
                </a:tc>
                <a:tc>
                  <a:txBody>
                    <a:bodyPr/>
                    <a:p>
                      <a:pPr algn="ctr">
                        <a:buNone/>
                      </a:pPr>
                      <a:r>
                        <a:rPr lang="zh-CN" altLang="en-US">
                          <a:solidFill>
                            <a:srgbClr val="C00000"/>
                          </a:solidFill>
                        </a:rPr>
                        <a:t>语法</a:t>
                      </a:r>
                      <a:endParaRPr lang="zh-CN" altLang="en-US">
                        <a:solidFill>
                          <a:srgbClr val="C00000"/>
                        </a:solidFill>
                      </a:endParaRPr>
                    </a:p>
                  </a:txBody>
                  <a:tcPr/>
                </a:tc>
                <a:tc>
                  <a:txBody>
                    <a:bodyPr/>
                    <a:p>
                      <a:pPr algn="ctr">
                        <a:buNone/>
                      </a:pPr>
                      <a:r>
                        <a:rPr lang="zh-CN" altLang="en-US">
                          <a:solidFill>
                            <a:srgbClr val="C00000"/>
                          </a:solidFill>
                        </a:rPr>
                        <a:t>示例</a:t>
                      </a:r>
                      <a:endParaRPr lang="zh-CN" altLang="en-US">
                        <a:solidFill>
                          <a:srgbClr val="C00000"/>
                        </a:solidFill>
                      </a:endParaRPr>
                    </a:p>
                  </a:txBody>
                  <a:tcPr/>
                </a:tc>
                <a:tc>
                  <a:txBody>
                    <a:bodyPr/>
                    <a:p>
                      <a:pPr algn="ctr">
                        <a:buNone/>
                      </a:pPr>
                      <a:r>
                        <a:rPr lang="zh-CN" altLang="en-US">
                          <a:solidFill>
                            <a:srgbClr val="C00000"/>
                          </a:solidFill>
                        </a:rPr>
                        <a:t>结果</a:t>
                      </a:r>
                      <a:endParaRPr lang="zh-CN" altLang="en-US">
                        <a:solidFill>
                          <a:srgbClr val="C00000"/>
                        </a:solidFill>
                      </a:endParaRPr>
                    </a:p>
                  </a:txBody>
                  <a:tcPr/>
                </a:tc>
              </a:tr>
              <a:tr h="386080">
                <a:tc>
                  <a:txBody>
                    <a:bodyPr/>
                    <a:p>
                      <a:pPr>
                        <a:buNone/>
                      </a:pPr>
                      <a:r>
                        <a:rPr lang="en-US" altLang="zh-CN" sz="1500"/>
                        <a:t>charindex</a:t>
                      </a:r>
                      <a:endParaRPr lang="en-US" altLang="zh-CN" sz="1500"/>
                    </a:p>
                  </a:txBody>
                  <a:tcPr/>
                </a:tc>
                <a:tc>
                  <a:txBody>
                    <a:bodyPr/>
                    <a:p>
                      <a:pPr>
                        <a:buNone/>
                      </a:pPr>
                      <a:r>
                        <a:rPr lang="en-US" altLang="zh-CN" sz="1500">
                          <a:sym typeface="+mn-ea"/>
                        </a:rPr>
                        <a:t>charindex(</a:t>
                      </a:r>
                      <a:r>
                        <a:rPr lang="zh-CN" altLang="en-US" sz="1500">
                          <a:sym typeface="+mn-ea"/>
                        </a:rPr>
                        <a:t>模式</a:t>
                      </a:r>
                      <a:r>
                        <a:rPr lang="en-US" altLang="zh-CN" sz="1500">
                          <a:sym typeface="+mn-ea"/>
                        </a:rPr>
                        <a:t>,</a:t>
                      </a:r>
                      <a:r>
                        <a:rPr lang="zh-CN" altLang="en-US" sz="1500">
                          <a:sym typeface="+mn-ea"/>
                        </a:rPr>
                        <a:t>字符串表达式</a:t>
                      </a:r>
                      <a:r>
                        <a:rPr lang="en-US" altLang="zh-CN" sz="1500">
                          <a:sym typeface="+mn-ea"/>
                        </a:rPr>
                        <a:t>[,</a:t>
                      </a:r>
                      <a:r>
                        <a:rPr lang="zh-CN" altLang="en-US" sz="1500">
                          <a:sym typeface="+mn-ea"/>
                        </a:rPr>
                        <a:t>开始位置</a:t>
                      </a:r>
                      <a:r>
                        <a:rPr lang="en-US" sz="1500">
                          <a:sym typeface="+mn-ea"/>
                        </a:rPr>
                        <a:t>]</a:t>
                      </a:r>
                      <a:r>
                        <a:rPr lang="en-US" altLang="zh-CN" sz="1500">
                          <a:sym typeface="+mn-ea"/>
                        </a:rPr>
                        <a:t>)</a:t>
                      </a:r>
                      <a:endParaRPr lang="zh-CN" altLang="en-US" sz="1500">
                        <a:sym typeface="+mn-ea"/>
                      </a:endParaRPr>
                    </a:p>
                  </a:txBody>
                  <a:tcPr/>
                </a:tc>
                <a:tc>
                  <a:txBody>
                    <a:bodyPr/>
                    <a:p>
                      <a:pPr>
                        <a:buNone/>
                      </a:pPr>
                      <a:r>
                        <a:rPr lang="en-US" altLang="zh-CN" sz="1500">
                          <a:sym typeface="+mn-ea"/>
                        </a:rPr>
                        <a:t>charindex(‘bc',‘abcde',1)</a:t>
                      </a:r>
                      <a:endParaRPr lang="en-US" altLang="zh-CN" sz="1500">
                        <a:sym typeface="+mn-ea"/>
                      </a:endParaRPr>
                    </a:p>
                  </a:txBody>
                  <a:tcPr/>
                </a:tc>
                <a:tc>
                  <a:txBody>
                    <a:bodyPr/>
                    <a:p>
                      <a:pPr>
                        <a:buNone/>
                      </a:pPr>
                      <a:r>
                        <a:rPr lang="en-US" altLang="zh-CN" sz="1500"/>
                        <a:t>2</a:t>
                      </a:r>
                      <a:endParaRPr lang="en-US" altLang="zh-CN" sz="1500"/>
                    </a:p>
                  </a:txBody>
                  <a:tcPr/>
                </a:tc>
              </a:tr>
              <a:tr h="414020">
                <a:tc>
                  <a:txBody>
                    <a:bodyPr/>
                    <a:p>
                      <a:pPr>
                        <a:buNone/>
                      </a:pPr>
                      <a:r>
                        <a:rPr lang="en-US" altLang="zh-CN" sz="1500"/>
                        <a:t>patindex</a:t>
                      </a:r>
                      <a:endParaRPr lang="en-US" altLang="zh-CN" sz="1500"/>
                    </a:p>
                  </a:txBody>
                  <a:tcPr/>
                </a:tc>
                <a:tc>
                  <a:txBody>
                    <a:bodyPr/>
                    <a:p>
                      <a:pPr>
                        <a:buNone/>
                      </a:pPr>
                      <a:r>
                        <a:rPr lang="en-US" altLang="zh-CN" sz="1500">
                          <a:sym typeface="+mn-ea"/>
                        </a:rPr>
                        <a:t>patindex</a:t>
                      </a:r>
                      <a:r>
                        <a:rPr lang="en-US" altLang="zh-CN" sz="1500"/>
                        <a:t>(</a:t>
                      </a:r>
                      <a:r>
                        <a:rPr lang="en-US" sz="1500">
                          <a:sym typeface="+mn-ea"/>
                        </a:rPr>
                        <a:t>‘%</a:t>
                      </a:r>
                      <a:r>
                        <a:rPr lang="zh-CN" altLang="en-US" sz="1500">
                          <a:sym typeface="+mn-ea"/>
                        </a:rPr>
                        <a:t>模式</a:t>
                      </a:r>
                      <a:r>
                        <a:rPr lang="en-US" sz="1500">
                          <a:sym typeface="+mn-ea"/>
                        </a:rPr>
                        <a:t>%’,</a:t>
                      </a:r>
                      <a:r>
                        <a:rPr lang="zh-CN" altLang="en-US" sz="1500">
                          <a:sym typeface="+mn-ea"/>
                        </a:rPr>
                        <a:t>字符串表达式</a:t>
                      </a:r>
                      <a:r>
                        <a:rPr lang="en-US" altLang="zh-CN" sz="1500">
                          <a:sym typeface="+mn-ea"/>
                        </a:rPr>
                        <a:t>)</a:t>
                      </a:r>
                      <a:endParaRPr lang="zh-CN" altLang="en-US" sz="1500"/>
                    </a:p>
                  </a:txBody>
                  <a:tcPr/>
                </a:tc>
                <a:tc>
                  <a:txBody>
                    <a:bodyPr/>
                    <a:p>
                      <a:pPr>
                        <a:buNone/>
                      </a:pPr>
                      <a:r>
                        <a:rPr lang="en-US" altLang="zh-CN" sz="1500">
                          <a:sym typeface="+mn-ea"/>
                        </a:rPr>
                        <a:t>patindex(‘%c_e%',’abcde’)</a:t>
                      </a:r>
                      <a:endParaRPr lang="en-US" altLang="zh-CN" sz="1500">
                        <a:sym typeface="+mn-ea"/>
                      </a:endParaRPr>
                    </a:p>
                  </a:txBody>
                  <a:tcPr/>
                </a:tc>
                <a:tc>
                  <a:txBody>
                    <a:bodyPr/>
                    <a:p>
                      <a:pPr>
                        <a:buNone/>
                      </a:pPr>
                      <a:r>
                        <a:rPr lang="en-US" altLang="zh-CN" sz="1500"/>
                        <a:t>3</a:t>
                      </a:r>
                      <a:endParaRPr lang="en-US" altLang="zh-CN" sz="1500"/>
                    </a:p>
                  </a:txBody>
                  <a:tcPr/>
                </a:tc>
              </a:tr>
              <a:tr h="365760">
                <a:tc>
                  <a:txBody>
                    <a:bodyPr/>
                    <a:p>
                      <a:pPr algn="l">
                        <a:buClrTx/>
                        <a:buSzTx/>
                        <a:buNone/>
                      </a:pPr>
                      <a:r>
                        <a:rPr lang="en-US" altLang="zh-CN" sz="1500"/>
                        <a:t>ascii</a:t>
                      </a:r>
                      <a:endParaRPr lang="en-US" altLang="zh-CN" sz="1500"/>
                    </a:p>
                  </a:txBody>
                  <a:tcPr/>
                </a:tc>
                <a:tc>
                  <a:txBody>
                    <a:bodyPr/>
                    <a:p>
                      <a:pPr algn="l">
                        <a:buClrTx/>
                        <a:buSzTx/>
                        <a:buNone/>
                      </a:pPr>
                      <a:r>
                        <a:rPr lang="en-US" altLang="zh-CN" sz="1500">
                          <a:sym typeface="+mn-ea"/>
                        </a:rPr>
                        <a:t>ascii(</a:t>
                      </a:r>
                      <a:r>
                        <a:rPr lang="zh-CN" altLang="en-US" sz="1500">
                          <a:sym typeface="+mn-ea"/>
                        </a:rPr>
                        <a:t>字符串表达式</a:t>
                      </a:r>
                      <a:r>
                        <a:rPr lang="en-US" altLang="zh-CN" sz="1500">
                          <a:sym typeface="+mn-ea"/>
                        </a:rPr>
                        <a:t>)</a:t>
                      </a:r>
                      <a:endParaRPr lang="en-US" altLang="zh-CN" sz="1500">
                        <a:sym typeface="+mn-ea"/>
                      </a:endParaRPr>
                    </a:p>
                  </a:txBody>
                  <a:tcPr/>
                </a:tc>
                <a:tc>
                  <a:txBody>
                    <a:bodyPr/>
                    <a:p>
                      <a:pPr algn="l">
                        <a:buClrTx/>
                        <a:buSzTx/>
                        <a:buNone/>
                      </a:pPr>
                      <a:r>
                        <a:rPr lang="en-US" altLang="zh-CN" sz="1500">
                          <a:sym typeface="+mn-ea"/>
                        </a:rPr>
                        <a:t>ascii(‘T’)</a:t>
                      </a:r>
                      <a:endParaRPr lang="en-US" altLang="zh-CN" sz="1500">
                        <a:sym typeface="+mn-ea"/>
                      </a:endParaRPr>
                    </a:p>
                  </a:txBody>
                  <a:tcPr/>
                </a:tc>
                <a:tc>
                  <a:txBody>
                    <a:bodyPr/>
                    <a:p>
                      <a:pPr algn="l">
                        <a:buClrTx/>
                        <a:buSzTx/>
                        <a:buNone/>
                      </a:pPr>
                      <a:r>
                        <a:rPr lang="en-US" altLang="zh-CN" sz="1500"/>
                        <a:t>84</a:t>
                      </a:r>
                      <a:endParaRPr lang="en-US" altLang="zh-CN" sz="1500"/>
                    </a:p>
                  </a:txBody>
                  <a:tcPr/>
                </a:tc>
              </a:tr>
              <a:tr h="365760">
                <a:tc>
                  <a:txBody>
                    <a:bodyPr/>
                    <a:p>
                      <a:pPr algn="l">
                        <a:buClrTx/>
                        <a:buSzTx/>
                        <a:buNone/>
                      </a:pPr>
                      <a:r>
                        <a:rPr lang="en-US" altLang="zh-CN" sz="1500"/>
                        <a:t>char</a:t>
                      </a:r>
                      <a:endParaRPr lang="en-US" altLang="zh-CN" sz="1500"/>
                    </a:p>
                  </a:txBody>
                  <a:tcPr/>
                </a:tc>
                <a:tc>
                  <a:txBody>
                    <a:bodyPr/>
                    <a:p>
                      <a:pPr algn="l">
                        <a:buClrTx/>
                        <a:buSzTx/>
                        <a:buNone/>
                      </a:pPr>
                      <a:r>
                        <a:rPr lang="en-US" altLang="zh-CN" sz="1500">
                          <a:sym typeface="+mn-ea"/>
                        </a:rPr>
                        <a:t>char(</a:t>
                      </a:r>
                      <a:r>
                        <a:rPr lang="zh-CN" altLang="en-US" sz="1500">
                          <a:sym typeface="+mn-ea"/>
                        </a:rPr>
                        <a:t>字符串表达式</a:t>
                      </a:r>
                      <a:r>
                        <a:rPr lang="en-US" altLang="zh-CN" sz="1500">
                          <a:sym typeface="+mn-ea"/>
                        </a:rPr>
                        <a:t>)</a:t>
                      </a:r>
                      <a:endParaRPr lang="en-US" altLang="zh-CN" sz="1500">
                        <a:sym typeface="+mn-ea"/>
                      </a:endParaRPr>
                    </a:p>
                  </a:txBody>
                  <a:tcPr/>
                </a:tc>
                <a:tc>
                  <a:txBody>
                    <a:bodyPr/>
                    <a:p>
                      <a:pPr algn="l">
                        <a:buClrTx/>
                        <a:buSzTx/>
                        <a:buNone/>
                      </a:pPr>
                      <a:r>
                        <a:rPr lang="en-US" altLang="zh-CN" sz="1500"/>
                        <a:t>char(84)</a:t>
                      </a:r>
                      <a:endParaRPr lang="en-US" altLang="zh-CN" sz="1500"/>
                    </a:p>
                  </a:txBody>
                  <a:tcPr/>
                </a:tc>
                <a:tc>
                  <a:txBody>
                    <a:bodyPr/>
                    <a:p>
                      <a:pPr algn="l">
                        <a:buClrTx/>
                        <a:buSzTx/>
                        <a:buNone/>
                      </a:pPr>
                      <a:r>
                        <a:rPr lang="en-US" altLang="zh-CN" sz="1500">
                          <a:sym typeface="+mn-ea"/>
                        </a:rPr>
                        <a:t>‘T’</a:t>
                      </a:r>
                      <a:endParaRPr lang="en-US" altLang="zh-CN" sz="1500">
                        <a:sym typeface="+mn-ea"/>
                      </a:endParaRPr>
                    </a:p>
                  </a:txBody>
                  <a:tcPr/>
                </a:tc>
              </a:tr>
              <a:tr h="365760">
                <a:tc>
                  <a:txBody>
                    <a:bodyPr/>
                    <a:p>
                      <a:pPr algn="l">
                        <a:buClrTx/>
                        <a:buSzTx/>
                        <a:buNone/>
                      </a:pPr>
                      <a:r>
                        <a:rPr lang="en-US" altLang="zh-CN" sz="1500"/>
                        <a:t>ltrim</a:t>
                      </a:r>
                      <a:endParaRPr lang="en-US" altLang="zh-CN" sz="1500"/>
                    </a:p>
                  </a:txBody>
                  <a:tcPr/>
                </a:tc>
                <a:tc>
                  <a:txBody>
                    <a:bodyPr/>
                    <a:p>
                      <a:pPr algn="l">
                        <a:buClrTx/>
                        <a:buSzTx/>
                        <a:buNone/>
                      </a:pPr>
                      <a:r>
                        <a:rPr lang="en-US" altLang="zh-CN" sz="1500">
                          <a:sym typeface="+mn-ea"/>
                        </a:rPr>
                        <a:t>ltrim(</a:t>
                      </a:r>
                      <a:r>
                        <a:rPr lang="zh-CN" altLang="en-US" sz="1500">
                          <a:sym typeface="+mn-ea"/>
                        </a:rPr>
                        <a:t>字符串表达式</a:t>
                      </a:r>
                      <a:r>
                        <a:rPr lang="en-US" altLang="zh-CN" sz="1500">
                          <a:sym typeface="+mn-ea"/>
                        </a:rPr>
                        <a:t>)</a:t>
                      </a:r>
                      <a:endParaRPr lang="en-US" altLang="zh-CN" sz="1500">
                        <a:sym typeface="+mn-ea"/>
                      </a:endParaRPr>
                    </a:p>
                  </a:txBody>
                  <a:tcPr/>
                </a:tc>
                <a:tc>
                  <a:txBody>
                    <a:bodyPr/>
                    <a:p>
                      <a:pPr algn="l">
                        <a:buClrTx/>
                        <a:buSzTx/>
                        <a:buNone/>
                      </a:pPr>
                      <a:r>
                        <a:rPr lang="en-US" altLang="zh-CN" sz="1500">
                          <a:sym typeface="+mn-ea"/>
                        </a:rPr>
                        <a:t>ltrim(‘   abcde’)</a:t>
                      </a:r>
                      <a:endParaRPr lang="en-US" altLang="zh-CN" sz="1500">
                        <a:sym typeface="+mn-ea"/>
                      </a:endParaRPr>
                    </a:p>
                  </a:txBody>
                  <a:tcPr/>
                </a:tc>
                <a:tc>
                  <a:txBody>
                    <a:bodyPr/>
                    <a:p>
                      <a:pPr algn="l">
                        <a:buClrTx/>
                        <a:buSzTx/>
                        <a:buNone/>
                      </a:pPr>
                      <a:r>
                        <a:rPr lang="en-US" altLang="zh-CN" sz="1500">
                          <a:sym typeface="+mn-ea"/>
                        </a:rPr>
                        <a:t>‘abcde’</a:t>
                      </a:r>
                      <a:endParaRPr lang="en-US" altLang="zh-CN" sz="1500">
                        <a:sym typeface="+mn-ea"/>
                      </a:endParaRPr>
                    </a:p>
                  </a:txBody>
                  <a:tcPr/>
                </a:tc>
              </a:tr>
              <a:tr h="365760">
                <a:tc>
                  <a:txBody>
                    <a:bodyPr/>
                    <a:p>
                      <a:pPr algn="l">
                        <a:buClrTx/>
                        <a:buSzTx/>
                        <a:buNone/>
                      </a:pPr>
                      <a:r>
                        <a:rPr lang="en-US" altLang="zh-CN" sz="1500"/>
                        <a:t>rtrim</a:t>
                      </a:r>
                      <a:endParaRPr lang="en-US" altLang="zh-CN" sz="1500"/>
                    </a:p>
                  </a:txBody>
                  <a:tcPr/>
                </a:tc>
                <a:tc>
                  <a:txBody>
                    <a:bodyPr/>
                    <a:p>
                      <a:pPr algn="l">
                        <a:buClrTx/>
                        <a:buSzTx/>
                        <a:buNone/>
                      </a:pPr>
                      <a:r>
                        <a:rPr lang="en-US" altLang="zh-CN" sz="1500">
                          <a:sym typeface="+mn-ea"/>
                        </a:rPr>
                        <a:t>rtrim(</a:t>
                      </a:r>
                      <a:r>
                        <a:rPr lang="zh-CN" altLang="en-US" sz="1500">
                          <a:sym typeface="+mn-ea"/>
                        </a:rPr>
                        <a:t>字符串表达式</a:t>
                      </a:r>
                      <a:r>
                        <a:rPr lang="en-US" altLang="zh-CN" sz="1500">
                          <a:sym typeface="+mn-ea"/>
                        </a:rPr>
                        <a:t>)</a:t>
                      </a:r>
                      <a:endParaRPr lang="en-US" altLang="zh-CN" sz="1500">
                        <a:sym typeface="+mn-ea"/>
                      </a:endParaRPr>
                    </a:p>
                  </a:txBody>
                  <a:tcPr/>
                </a:tc>
                <a:tc>
                  <a:txBody>
                    <a:bodyPr/>
                    <a:p>
                      <a:pPr algn="l">
                        <a:buClrTx/>
                        <a:buSzTx/>
                        <a:buNone/>
                      </a:pPr>
                      <a:r>
                        <a:rPr lang="en-US" altLang="zh-CN" sz="1500">
                          <a:sym typeface="+mn-ea"/>
                        </a:rPr>
                        <a:t>rtrim(‘  abcde ’)</a:t>
                      </a:r>
                      <a:endParaRPr lang="en-US" altLang="zh-CN" sz="1500">
                        <a:sym typeface="+mn-ea"/>
                      </a:endParaRPr>
                    </a:p>
                  </a:txBody>
                  <a:tcPr/>
                </a:tc>
                <a:tc>
                  <a:txBody>
                    <a:bodyPr/>
                    <a:p>
                      <a:pPr algn="l">
                        <a:buClrTx/>
                        <a:buSzTx/>
                        <a:buNone/>
                      </a:pPr>
                      <a:r>
                        <a:rPr lang="en-US" altLang="zh-CN" sz="1500">
                          <a:sym typeface="+mn-ea"/>
                        </a:rPr>
                        <a:t>‘  abcde’</a:t>
                      </a:r>
                      <a:endParaRPr lang="en-US" altLang="zh-CN" sz="1500">
                        <a:sym typeface="+mn-ea"/>
                      </a:endParaRPr>
                    </a:p>
                  </a:txBody>
                  <a:tcPr/>
                </a:tc>
              </a:tr>
              <a:tr h="365760">
                <a:tc>
                  <a:txBody>
                    <a:bodyPr/>
                    <a:p>
                      <a:pPr algn="l">
                        <a:buClrTx/>
                        <a:buSzTx/>
                        <a:buNone/>
                      </a:pPr>
                      <a:r>
                        <a:rPr lang="en-US" altLang="zh-CN" sz="1500"/>
                        <a:t>trim</a:t>
                      </a:r>
                      <a:endParaRPr lang="en-US" altLang="zh-CN" sz="1500"/>
                    </a:p>
                  </a:txBody>
                  <a:tcPr/>
                </a:tc>
                <a:tc>
                  <a:txBody>
                    <a:bodyPr/>
                    <a:p>
                      <a:pPr algn="l">
                        <a:buClrTx/>
                        <a:buSzTx/>
                        <a:buNone/>
                      </a:pPr>
                      <a:r>
                        <a:rPr lang="en-US" altLang="zh-CN" sz="1500">
                          <a:sym typeface="+mn-ea"/>
                        </a:rPr>
                        <a:t>trim(</a:t>
                      </a:r>
                      <a:r>
                        <a:rPr lang="zh-CN" altLang="en-US" sz="1500">
                          <a:sym typeface="+mn-ea"/>
                        </a:rPr>
                        <a:t>字符串表达式</a:t>
                      </a:r>
                      <a:r>
                        <a:rPr lang="en-US" altLang="zh-CN" sz="1500">
                          <a:sym typeface="+mn-ea"/>
                        </a:rPr>
                        <a:t>)</a:t>
                      </a:r>
                      <a:endParaRPr lang="en-US" altLang="zh-CN" sz="1500">
                        <a:sym typeface="+mn-ea"/>
                      </a:endParaRPr>
                    </a:p>
                  </a:txBody>
                  <a:tcPr/>
                </a:tc>
                <a:tc>
                  <a:txBody>
                    <a:bodyPr/>
                    <a:p>
                      <a:pPr algn="l">
                        <a:buClrTx/>
                        <a:buSzTx/>
                        <a:buNone/>
                      </a:pPr>
                      <a:r>
                        <a:rPr lang="en-US" altLang="zh-CN" sz="1500">
                          <a:sym typeface="+mn-ea"/>
                        </a:rPr>
                        <a:t>trim(‘  abcde ’)</a:t>
                      </a:r>
                      <a:endParaRPr lang="en-US" altLang="zh-CN" sz="1500">
                        <a:sym typeface="+mn-ea"/>
                      </a:endParaRPr>
                    </a:p>
                  </a:txBody>
                  <a:tcPr/>
                </a:tc>
                <a:tc>
                  <a:txBody>
                    <a:bodyPr/>
                    <a:p>
                      <a:pPr algn="l">
                        <a:buClrTx/>
                        <a:buSzTx/>
                        <a:buNone/>
                      </a:pPr>
                      <a:r>
                        <a:rPr lang="en-US" altLang="zh-CN" sz="1500">
                          <a:sym typeface="+mn-ea"/>
                        </a:rPr>
                        <a:t>‘abcde’</a:t>
                      </a:r>
                      <a:endParaRPr lang="en-US" altLang="zh-CN" sz="1500">
                        <a:sym typeface="+mn-ea"/>
                      </a:endParaRPr>
                    </a:p>
                  </a:txBody>
                  <a:tcPr/>
                </a:tc>
              </a:tr>
              <a:tr h="365760">
                <a:tc>
                  <a:txBody>
                    <a:bodyPr/>
                    <a:p>
                      <a:pPr>
                        <a:buNone/>
                      </a:pPr>
                      <a:r>
                        <a:rPr lang="en-US" altLang="zh-CN" sz="1500"/>
                        <a:t>len</a:t>
                      </a:r>
                      <a:endParaRPr lang="en-US" altLang="zh-CN" sz="1500"/>
                    </a:p>
                  </a:txBody>
                  <a:tcPr/>
                </a:tc>
                <a:tc>
                  <a:txBody>
                    <a:bodyPr/>
                    <a:p>
                      <a:pPr algn="l">
                        <a:buClrTx/>
                        <a:buSzTx/>
                        <a:buNone/>
                      </a:pPr>
                      <a:r>
                        <a:rPr lang="en-US" altLang="zh-CN" sz="1500">
                          <a:sym typeface="+mn-ea"/>
                        </a:rPr>
                        <a:t>len(</a:t>
                      </a:r>
                      <a:r>
                        <a:rPr lang="zh-CN" altLang="en-US" sz="1500">
                          <a:sym typeface="+mn-ea"/>
                        </a:rPr>
                        <a:t>字符串表达式</a:t>
                      </a:r>
                      <a:r>
                        <a:rPr lang="en-US" altLang="zh-CN" sz="1500">
                          <a:sym typeface="+mn-ea"/>
                        </a:rPr>
                        <a:t>)</a:t>
                      </a:r>
                      <a:endParaRPr lang="zh-CN" altLang="en-US" sz="1500">
                        <a:sym typeface="+mn-ea"/>
                      </a:endParaRPr>
                    </a:p>
                  </a:txBody>
                  <a:tcPr/>
                </a:tc>
                <a:tc>
                  <a:txBody>
                    <a:bodyPr/>
                    <a:p>
                      <a:pPr>
                        <a:buNone/>
                      </a:pPr>
                      <a:r>
                        <a:rPr lang="en-US" altLang="zh-CN" sz="1500">
                          <a:sym typeface="+mn-ea"/>
                        </a:rPr>
                        <a:t>len(‘abcde ’)</a:t>
                      </a:r>
                      <a:endParaRPr lang="en-US" altLang="zh-CN" sz="1500">
                        <a:sym typeface="+mn-ea"/>
                      </a:endParaRPr>
                    </a:p>
                  </a:txBody>
                  <a:tcPr/>
                </a:tc>
                <a:tc>
                  <a:txBody>
                    <a:bodyPr/>
                    <a:p>
                      <a:pPr>
                        <a:buNone/>
                      </a:pPr>
                      <a:r>
                        <a:rPr lang="en-US" altLang="zh-CN" sz="1500"/>
                        <a:t>5</a:t>
                      </a:r>
                      <a:endParaRPr lang="en-US" altLang="zh-CN" sz="1500"/>
                    </a:p>
                  </a:txBody>
                  <a:tcPr/>
                </a:tc>
              </a:tr>
              <a:tr h="365760">
                <a:tc>
                  <a:txBody>
                    <a:bodyPr/>
                    <a:p>
                      <a:pPr>
                        <a:buNone/>
                      </a:pPr>
                      <a:r>
                        <a:rPr lang="en-US" altLang="zh-CN" sz="1500"/>
                        <a:t>space</a:t>
                      </a:r>
                      <a:endParaRPr lang="en-US" altLang="zh-CN" sz="1500"/>
                    </a:p>
                  </a:txBody>
                  <a:tcPr/>
                </a:tc>
                <a:tc>
                  <a:txBody>
                    <a:bodyPr/>
                    <a:p>
                      <a:pPr>
                        <a:buNone/>
                      </a:pPr>
                      <a:r>
                        <a:rPr lang="en-US" altLang="zh-CN" sz="1500">
                          <a:sym typeface="+mn-ea"/>
                        </a:rPr>
                        <a:t>space(</a:t>
                      </a:r>
                      <a:r>
                        <a:rPr lang="zh-CN" altLang="en-US" sz="1500">
                          <a:sym typeface="+mn-ea"/>
                        </a:rPr>
                        <a:t>字符串表达式</a:t>
                      </a:r>
                      <a:r>
                        <a:rPr lang="en-US" altLang="zh-CN" sz="1500">
                          <a:sym typeface="+mn-ea"/>
                        </a:rPr>
                        <a:t>)</a:t>
                      </a:r>
                      <a:endParaRPr lang="zh-CN" altLang="en-US" sz="1500">
                        <a:sym typeface="+mn-ea"/>
                      </a:endParaRPr>
                    </a:p>
                  </a:txBody>
                  <a:tcPr/>
                </a:tc>
                <a:tc>
                  <a:txBody>
                    <a:bodyPr/>
                    <a:p>
                      <a:pPr>
                        <a:buNone/>
                      </a:pPr>
                      <a:r>
                        <a:rPr lang="en-US" altLang="zh-CN" sz="1500">
                          <a:sym typeface="+mn-ea"/>
                        </a:rPr>
                        <a:t>space(2)</a:t>
                      </a:r>
                      <a:endParaRPr lang="en-US" altLang="zh-CN" sz="1500">
                        <a:sym typeface="+mn-ea"/>
                      </a:endParaRPr>
                    </a:p>
                  </a:txBody>
                  <a:tcPr/>
                </a:tc>
                <a:tc>
                  <a:txBody>
                    <a:bodyPr/>
                    <a:p>
                      <a:pPr>
                        <a:buNone/>
                      </a:pPr>
                      <a:r>
                        <a:rPr lang="en-US" altLang="zh-CN" sz="1500"/>
                        <a:t>‘  ’</a:t>
                      </a:r>
                      <a:endParaRPr lang="en-US" altLang="zh-CN" sz="1500"/>
                    </a:p>
                  </a:txBody>
                  <a:tcPr/>
                </a:tc>
              </a:tr>
              <a:tr h="365760">
                <a:tc>
                  <a:txBody>
                    <a:bodyPr/>
                    <a:p>
                      <a:pPr>
                        <a:buNone/>
                      </a:pPr>
                      <a:r>
                        <a:rPr lang="en-US" altLang="zh-CN" sz="1500"/>
                        <a:t>replace</a:t>
                      </a:r>
                      <a:endParaRPr lang="en-US" altLang="zh-CN" sz="1500"/>
                    </a:p>
                  </a:txBody>
                  <a:tcPr/>
                </a:tc>
                <a:tc>
                  <a:txBody>
                    <a:bodyPr/>
                    <a:p>
                      <a:pPr algn="l">
                        <a:buClrTx/>
                        <a:buSzTx/>
                        <a:buNone/>
                      </a:pPr>
                      <a:r>
                        <a:rPr lang="en-US" altLang="zh-CN" sz="1500">
                          <a:sym typeface="+mn-ea"/>
                        </a:rPr>
                        <a:t>replace(</a:t>
                      </a:r>
                      <a:r>
                        <a:rPr lang="zh-CN" altLang="en-US" sz="1500">
                          <a:sym typeface="+mn-ea"/>
                        </a:rPr>
                        <a:t>字符串表达式</a:t>
                      </a:r>
                      <a:r>
                        <a:rPr lang="en-US" altLang="zh-CN" sz="1500">
                          <a:sym typeface="+mn-ea"/>
                        </a:rPr>
                        <a:t>,</a:t>
                      </a:r>
                      <a:r>
                        <a:rPr lang="zh-CN" altLang="en-US" sz="1500">
                          <a:sym typeface="+mn-ea"/>
                        </a:rPr>
                        <a:t>搜索串</a:t>
                      </a:r>
                      <a:r>
                        <a:rPr lang="en-US" altLang="zh-CN" sz="1500">
                          <a:sym typeface="+mn-ea"/>
                        </a:rPr>
                        <a:t>,</a:t>
                      </a:r>
                      <a:r>
                        <a:rPr lang="zh-CN" altLang="en-US" sz="1500">
                          <a:sym typeface="+mn-ea"/>
                        </a:rPr>
                        <a:t>替换串</a:t>
                      </a:r>
                      <a:r>
                        <a:rPr lang="en-US" altLang="zh-CN" sz="1500">
                          <a:sym typeface="+mn-ea"/>
                        </a:rPr>
                        <a:t>)</a:t>
                      </a:r>
                      <a:endParaRPr lang="zh-CN" altLang="en-US" sz="1500">
                        <a:sym typeface="+mn-ea"/>
                      </a:endParaRPr>
                    </a:p>
                  </a:txBody>
                  <a:tcPr/>
                </a:tc>
                <a:tc>
                  <a:txBody>
                    <a:bodyPr/>
                    <a:p>
                      <a:pPr>
                        <a:buNone/>
                      </a:pPr>
                      <a:r>
                        <a:rPr lang="en-US" altLang="zh-CN" sz="1500">
                          <a:sym typeface="+mn-ea"/>
                        </a:rPr>
                        <a:t>replace(‘abcde’,’cd’,’fh’)</a:t>
                      </a:r>
                      <a:endParaRPr lang="en-US" altLang="zh-CN" sz="1500">
                        <a:sym typeface="+mn-ea"/>
                      </a:endParaRPr>
                    </a:p>
                  </a:txBody>
                  <a:tcPr/>
                </a:tc>
                <a:tc>
                  <a:txBody>
                    <a:bodyPr/>
                    <a:p>
                      <a:pPr>
                        <a:buNone/>
                      </a:pPr>
                      <a:r>
                        <a:rPr lang="en-US" altLang="zh-CN" sz="1500">
                          <a:sym typeface="+mn-ea"/>
                        </a:rPr>
                        <a:t>‘abfhe’</a:t>
                      </a:r>
                      <a:endParaRPr lang="en-US" altLang="zh-CN" sz="1500">
                        <a:sym typeface="+mn-ea"/>
                      </a:endParaRPr>
                    </a:p>
                  </a:txBody>
                  <a:tcPr/>
                </a:tc>
              </a:tr>
              <a:tr h="365760">
                <a:tc>
                  <a:txBody>
                    <a:bodyPr/>
                    <a:p>
                      <a:pPr>
                        <a:buNone/>
                      </a:pPr>
                      <a:r>
                        <a:rPr lang="en-US" altLang="zh-CN" sz="1500"/>
                        <a:t>replicate</a:t>
                      </a:r>
                      <a:endParaRPr lang="en-US" altLang="zh-CN" sz="1500"/>
                    </a:p>
                  </a:txBody>
                  <a:tcPr/>
                </a:tc>
                <a:tc>
                  <a:txBody>
                    <a:bodyPr/>
                    <a:p>
                      <a:pPr>
                        <a:buNone/>
                      </a:pPr>
                      <a:r>
                        <a:rPr lang="en-US" altLang="zh-CN" sz="1500">
                          <a:sym typeface="+mn-ea"/>
                        </a:rPr>
                        <a:t>replicate(</a:t>
                      </a:r>
                      <a:r>
                        <a:rPr lang="zh-CN" altLang="en-US" sz="1500">
                          <a:sym typeface="+mn-ea"/>
                        </a:rPr>
                        <a:t>字符串表达式</a:t>
                      </a:r>
                      <a:r>
                        <a:rPr lang="en-US" altLang="zh-CN" sz="1500">
                          <a:sym typeface="+mn-ea"/>
                        </a:rPr>
                        <a:t>,</a:t>
                      </a:r>
                      <a:r>
                        <a:rPr lang="zh-CN" altLang="en-US" sz="1500">
                          <a:sym typeface="+mn-ea"/>
                        </a:rPr>
                        <a:t>整数表达式</a:t>
                      </a:r>
                      <a:r>
                        <a:rPr lang="en-US" altLang="zh-CN" sz="1500">
                          <a:sym typeface="+mn-ea"/>
                        </a:rPr>
                        <a:t>)</a:t>
                      </a:r>
                      <a:endParaRPr lang="en-US" altLang="zh-CN" sz="1500">
                        <a:sym typeface="+mn-ea"/>
                      </a:endParaRPr>
                    </a:p>
                  </a:txBody>
                  <a:tcPr/>
                </a:tc>
                <a:tc>
                  <a:txBody>
                    <a:bodyPr/>
                    <a:p>
                      <a:pPr>
                        <a:buNone/>
                      </a:pPr>
                      <a:r>
                        <a:rPr lang="en-US" altLang="zh-CN" sz="1500">
                          <a:sym typeface="+mn-ea"/>
                        </a:rPr>
                        <a:t>replicate(‘abce’,3)</a:t>
                      </a:r>
                      <a:endParaRPr lang="en-US" altLang="zh-CN" sz="1500">
                        <a:sym typeface="+mn-ea"/>
                      </a:endParaRPr>
                    </a:p>
                  </a:txBody>
                  <a:tcPr/>
                </a:tc>
                <a:tc>
                  <a:txBody>
                    <a:bodyPr/>
                    <a:p>
                      <a:pPr>
                        <a:buNone/>
                      </a:pPr>
                      <a:r>
                        <a:rPr lang="en-US" altLang="zh-CN" sz="1500"/>
                        <a:t>‘abcabcabc’</a:t>
                      </a:r>
                      <a:endParaRPr lang="en-US" altLang="zh-CN" sz="1500"/>
                    </a:p>
                  </a:txBody>
                  <a:tcPr/>
                </a:tc>
              </a:tr>
            </a:tbl>
          </a:graphicData>
        </a:graphic>
      </p:graphicFrame>
      <p:sp>
        <p:nvSpPr>
          <p:cNvPr id="101379" name="Rectangle 3"/>
          <p:cNvSpPr txBox="1"/>
          <p:nvPr/>
        </p:nvSpPr>
        <p:spPr>
          <a:xfrm>
            <a:off x="332740" y="830898"/>
            <a:ext cx="8642350" cy="747712"/>
          </a:xfrm>
          <a:prstGeom prst="rect">
            <a:avLst/>
          </a:prstGeom>
          <a:noFill/>
          <a:ln w="9525">
            <a:noFill/>
          </a:ln>
        </p:spPr>
        <p:txBody>
          <a:bodyPr anchor="t" anchorCtr="0"/>
          <a:p>
            <a:pPr>
              <a:buFont typeface="Wingdings" panose="05000000000000000000" pitchFamily="2" charset="2"/>
            </a:pPr>
            <a:r>
              <a:rPr lang="en-US" altLang="zh-CN" sz="2400" dirty="0">
                <a:solidFill>
                  <a:srgbClr val="3333CC"/>
                </a:solidFill>
                <a:latin typeface="宋体" panose="02010600030101010101" pitchFamily="2" charset="-122"/>
                <a:ea typeface="黑体" panose="02010609060101010101" pitchFamily="1" charset="-122"/>
              </a:rPr>
              <a:t>2.</a:t>
            </a:r>
            <a:r>
              <a:rPr lang="zh-CN" altLang="en-US" sz="2400" dirty="0">
                <a:solidFill>
                  <a:srgbClr val="3333CC"/>
                </a:solidFill>
                <a:latin typeface="宋体" panose="02010600030101010101" pitchFamily="2" charset="-122"/>
                <a:ea typeface="黑体" panose="02010609060101010101" pitchFamily="1" charset="-122"/>
              </a:rPr>
              <a:t>函数</a:t>
            </a:r>
            <a:endParaRPr lang="zh-CN" altLang="en-US" sz="2400" dirty="0">
              <a:solidFill>
                <a:srgbClr val="3333CC"/>
              </a:solidFill>
              <a:latin typeface="宋体" panose="02010600030101010101" pitchFamily="2" charset="-122"/>
              <a:ea typeface="黑体" panose="02010609060101010101" pitchFamily="1" charset="-122"/>
            </a:endParaRPr>
          </a:p>
        </p:txBody>
      </p:sp>
    </p:spTree>
  </p:cSld>
  <p:clrMapOvr>
    <a:masterClrMapping/>
  </p:clrMapOvr>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5"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1" charset="-122"/>
              </a:rPr>
              <a:t>四、</a:t>
            </a:r>
            <a:r>
              <a:rPr lang="en-US" altLang="zh-CN" sz="3200" dirty="0">
                <a:solidFill>
                  <a:srgbClr val="FF0000"/>
                </a:solidFill>
                <a:ea typeface="黑体" panose="02010609060101010101" pitchFamily="1" charset="-122"/>
              </a:rPr>
              <a:t>T-SQL</a:t>
            </a:r>
            <a:r>
              <a:rPr lang="zh-CN" altLang="en-US" sz="3200" dirty="0">
                <a:solidFill>
                  <a:srgbClr val="FF0000"/>
                </a:solidFill>
                <a:ea typeface="黑体" panose="02010609060101010101" pitchFamily="1" charset="-122"/>
              </a:rPr>
              <a:t>编程</a:t>
            </a:r>
            <a:endParaRPr lang="zh-CN" altLang="en-US" sz="3200" dirty="0">
              <a:solidFill>
                <a:srgbClr val="FF0000"/>
              </a:solidFill>
              <a:ea typeface="黑体" panose="02010609060101010101" pitchFamily="1" charset="-122"/>
            </a:endParaRPr>
          </a:p>
        </p:txBody>
      </p:sp>
      <p:sp>
        <p:nvSpPr>
          <p:cNvPr id="101379" name="Rectangle 3"/>
          <p:cNvSpPr txBox="1"/>
          <p:nvPr/>
        </p:nvSpPr>
        <p:spPr>
          <a:xfrm>
            <a:off x="332740" y="830898"/>
            <a:ext cx="8642350" cy="747712"/>
          </a:xfrm>
          <a:prstGeom prst="rect">
            <a:avLst/>
          </a:prstGeom>
          <a:noFill/>
          <a:ln w="9525">
            <a:noFill/>
          </a:ln>
        </p:spPr>
        <p:txBody>
          <a:bodyPr anchor="t" anchorCtr="0"/>
          <a:p>
            <a:pPr>
              <a:buFont typeface="Wingdings" panose="05000000000000000000" pitchFamily="2" charset="2"/>
            </a:pPr>
            <a:r>
              <a:rPr lang="en-US" altLang="zh-CN" sz="2400" dirty="0">
                <a:solidFill>
                  <a:srgbClr val="3333CC"/>
                </a:solidFill>
                <a:latin typeface="宋体" panose="02010600030101010101" pitchFamily="2" charset="-122"/>
                <a:ea typeface="黑体" panose="02010609060101010101" pitchFamily="1" charset="-122"/>
              </a:rPr>
              <a:t>2.</a:t>
            </a:r>
            <a:r>
              <a:rPr lang="zh-CN" altLang="en-US" sz="2400" dirty="0">
                <a:solidFill>
                  <a:srgbClr val="3333CC"/>
                </a:solidFill>
                <a:latin typeface="宋体" panose="02010600030101010101" pitchFamily="2" charset="-122"/>
                <a:ea typeface="黑体" panose="02010609060101010101" pitchFamily="1" charset="-122"/>
              </a:rPr>
              <a:t>函数</a:t>
            </a:r>
            <a:endParaRPr lang="zh-CN" altLang="en-US" sz="2400" dirty="0">
              <a:solidFill>
                <a:srgbClr val="3333CC"/>
              </a:solidFill>
              <a:latin typeface="宋体" panose="02010600030101010101" pitchFamily="2" charset="-122"/>
              <a:ea typeface="黑体" panose="02010609060101010101" pitchFamily="1" charset="-122"/>
            </a:endParaRPr>
          </a:p>
        </p:txBody>
      </p:sp>
      <p:sp>
        <p:nvSpPr>
          <p:cNvPr id="3" name="文本框 2"/>
          <p:cNvSpPr txBox="1"/>
          <p:nvPr/>
        </p:nvSpPr>
        <p:spPr>
          <a:xfrm>
            <a:off x="501650" y="1265555"/>
            <a:ext cx="4572000" cy="429895"/>
          </a:xfrm>
          <a:prstGeom prst="rect">
            <a:avLst/>
          </a:prstGeom>
          <a:noFill/>
        </p:spPr>
        <p:txBody>
          <a:bodyPr wrap="square" rtlCol="0" anchor="t">
            <a:spAutoFit/>
          </a:bodyPr>
          <a:p>
            <a:pPr marL="342900" lvl="0" indent="-342900" eaLnBrk="1" hangingPunct="1">
              <a:buFont typeface="Arial" panose="020B0604020202020204" pitchFamily="34" charset="0"/>
              <a:buNone/>
            </a:pPr>
            <a:r>
              <a:rPr lang="zh-CN" altLang="en-US" sz="2200" dirty="0">
                <a:solidFill>
                  <a:srgbClr val="0000FF"/>
                </a:solidFill>
                <a:latin typeface="华文中宋" panose="02010600040101010101" charset="-122"/>
                <a:ea typeface="华文中宋" panose="02010600040101010101" charset="-122"/>
                <a:cs typeface="华文中宋" panose="02010600040101010101" charset="-122"/>
                <a:sym typeface="+mn-ea"/>
              </a:rPr>
              <a:t>（</a:t>
            </a:r>
            <a:r>
              <a:rPr lang="en-US" altLang="zh-CN" sz="2200" dirty="0">
                <a:solidFill>
                  <a:srgbClr val="0000FF"/>
                </a:solidFill>
                <a:latin typeface="华文中宋" panose="02010600040101010101" charset="-122"/>
                <a:ea typeface="华文中宋" panose="02010600040101010101" charset="-122"/>
                <a:cs typeface="华文中宋" panose="02010600040101010101" charset="-122"/>
                <a:sym typeface="+mn-ea"/>
              </a:rPr>
              <a:t>2</a:t>
            </a:r>
            <a:r>
              <a:rPr lang="zh-CN" altLang="en-US" sz="2200" dirty="0">
                <a:solidFill>
                  <a:srgbClr val="0000FF"/>
                </a:solidFill>
                <a:latin typeface="华文中宋" panose="02010600040101010101" charset="-122"/>
                <a:ea typeface="华文中宋" panose="02010600040101010101" charset="-122"/>
                <a:cs typeface="华文中宋" panose="02010600040101010101" charset="-122"/>
                <a:sym typeface="+mn-ea"/>
              </a:rPr>
              <a:t>）类型</a:t>
            </a:r>
            <a:r>
              <a:rPr lang="zh-CN" altLang="en-US" sz="2200" dirty="0">
                <a:solidFill>
                  <a:srgbClr val="0000FF"/>
                </a:solidFill>
                <a:latin typeface="华文中宋" panose="02010600040101010101" charset="-122"/>
                <a:ea typeface="华文中宋" panose="02010600040101010101" charset="-122"/>
                <a:cs typeface="华文中宋" panose="02010600040101010101" charset="-122"/>
                <a:sym typeface="+mn-ea"/>
              </a:rPr>
              <a:t>转换</a:t>
            </a:r>
            <a:endParaRPr lang="zh-CN" altLang="en-US" sz="2200" dirty="0">
              <a:solidFill>
                <a:srgbClr val="0000FF"/>
              </a:solidFill>
              <a:latin typeface="华文中宋" panose="02010600040101010101" charset="-122"/>
              <a:ea typeface="华文中宋" panose="02010600040101010101" charset="-122"/>
              <a:cs typeface="华文中宋" panose="02010600040101010101" charset="-122"/>
              <a:sym typeface="+mn-ea"/>
            </a:endParaRPr>
          </a:p>
        </p:txBody>
      </p:sp>
      <p:sp>
        <p:nvSpPr>
          <p:cNvPr id="121903" name="文本框 20"/>
          <p:cNvSpPr txBox="1"/>
          <p:nvPr/>
        </p:nvSpPr>
        <p:spPr>
          <a:xfrm>
            <a:off x="610235" y="1686560"/>
            <a:ext cx="8312150" cy="39878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sym typeface="+mn-ea"/>
              </a:rPr>
              <a:t>   </a:t>
            </a:r>
            <a:r>
              <a:rPr lang="zh-CN" altLang="en-US" sz="1800" dirty="0">
                <a:sym typeface="+mn-ea"/>
              </a:rPr>
              <a:t>类型转换分为显式和隐式两种，显式用</a:t>
            </a:r>
            <a:r>
              <a:rPr lang="en-US" altLang="zh-CN" sz="1800" dirty="0">
                <a:sym typeface="+mn-ea"/>
              </a:rPr>
              <a:t>convert</a:t>
            </a:r>
            <a:r>
              <a:rPr lang="zh-CN" altLang="en-US" sz="1800" dirty="0">
                <a:sym typeface="+mn-ea"/>
              </a:rPr>
              <a:t>函数，</a:t>
            </a:r>
            <a:r>
              <a:rPr lang="zh-CN" altLang="en-US" sz="1800" dirty="0">
                <a:sym typeface="+mn-ea"/>
              </a:rPr>
              <a:t>隐式由系统自动转换</a:t>
            </a:r>
            <a:r>
              <a:rPr lang="zh-CN" altLang="en-US" sz="1800" dirty="0">
                <a:sym typeface="+mn-ea"/>
              </a:rPr>
              <a:t>。</a:t>
            </a:r>
            <a:endParaRPr lang="zh-CN" altLang="en-US" sz="1800" dirty="0">
              <a:sym typeface="+mn-ea"/>
            </a:endParaRPr>
          </a:p>
        </p:txBody>
      </p:sp>
      <p:graphicFrame>
        <p:nvGraphicFramePr>
          <p:cNvPr id="5" name="表格 4"/>
          <p:cNvGraphicFramePr/>
          <p:nvPr>
            <p:custDataLst>
              <p:tags r:id="rId1"/>
            </p:custDataLst>
          </p:nvPr>
        </p:nvGraphicFramePr>
        <p:xfrm>
          <a:off x="537210" y="2486025"/>
          <a:ext cx="8331200" cy="2926080"/>
        </p:xfrm>
        <a:graphic>
          <a:graphicData uri="http://schemas.openxmlformats.org/drawingml/2006/table">
            <a:tbl>
              <a:tblPr firstRow="1" bandRow="1">
                <a:tableStyleId>{5C22544A-7EE6-4342-B048-85BDC9FD1C3A}</a:tableStyleId>
              </a:tblPr>
              <a:tblGrid>
                <a:gridCol w="1041400"/>
                <a:gridCol w="1041400"/>
                <a:gridCol w="1041400"/>
                <a:gridCol w="1041400"/>
                <a:gridCol w="1041400"/>
                <a:gridCol w="1041400"/>
                <a:gridCol w="1041400"/>
                <a:gridCol w="1041400"/>
              </a:tblGrid>
              <a:tr h="365760">
                <a:tc>
                  <a:txBody>
                    <a:bodyPr/>
                    <a:p>
                      <a:pPr>
                        <a:buNone/>
                      </a:pPr>
                      <a:endParaRPr lang="zh-CN" altLang="en-US"/>
                    </a:p>
                  </a:txBody>
                  <a:tcPr/>
                </a:tc>
                <a:tc>
                  <a:txBody>
                    <a:bodyPr/>
                    <a:p>
                      <a:pPr>
                        <a:buNone/>
                      </a:pPr>
                      <a:r>
                        <a:rPr lang="en-US" altLang="zh-CN">
                          <a:solidFill>
                            <a:srgbClr val="C00000"/>
                          </a:solidFill>
                        </a:rPr>
                        <a:t>real</a:t>
                      </a:r>
                      <a:endParaRPr lang="en-US" altLang="zh-CN">
                        <a:solidFill>
                          <a:srgbClr val="C00000"/>
                        </a:solidFill>
                      </a:endParaRPr>
                    </a:p>
                  </a:txBody>
                  <a:tcPr/>
                </a:tc>
                <a:tc>
                  <a:txBody>
                    <a:bodyPr/>
                    <a:p>
                      <a:pPr>
                        <a:buNone/>
                      </a:pPr>
                      <a:r>
                        <a:rPr lang="en-US" altLang="zh-CN">
                          <a:solidFill>
                            <a:srgbClr val="C00000"/>
                          </a:solidFill>
                        </a:rPr>
                        <a:t>float</a:t>
                      </a:r>
                      <a:endParaRPr lang="en-US" altLang="zh-CN">
                        <a:solidFill>
                          <a:srgbClr val="C00000"/>
                        </a:solidFill>
                      </a:endParaRPr>
                    </a:p>
                  </a:txBody>
                  <a:tcPr/>
                </a:tc>
                <a:tc>
                  <a:txBody>
                    <a:bodyPr/>
                    <a:p>
                      <a:pPr>
                        <a:buNone/>
                      </a:pPr>
                      <a:r>
                        <a:rPr lang="en-US" altLang="zh-CN">
                          <a:solidFill>
                            <a:srgbClr val="C00000"/>
                          </a:solidFill>
                        </a:rPr>
                        <a:t>char</a:t>
                      </a:r>
                      <a:endParaRPr lang="en-US" altLang="zh-CN">
                        <a:solidFill>
                          <a:srgbClr val="C00000"/>
                        </a:solidFill>
                      </a:endParaRPr>
                    </a:p>
                  </a:txBody>
                  <a:tcPr/>
                </a:tc>
                <a:tc>
                  <a:txBody>
                    <a:bodyPr/>
                    <a:p>
                      <a:pPr>
                        <a:buNone/>
                      </a:pPr>
                      <a:r>
                        <a:rPr lang="en-US" altLang="zh-CN">
                          <a:solidFill>
                            <a:srgbClr val="C00000"/>
                          </a:solidFill>
                        </a:rPr>
                        <a:t>varchar</a:t>
                      </a:r>
                      <a:endParaRPr lang="en-US" altLang="zh-CN">
                        <a:solidFill>
                          <a:srgbClr val="C00000"/>
                        </a:solidFill>
                      </a:endParaRPr>
                    </a:p>
                  </a:txBody>
                  <a:tcPr/>
                </a:tc>
                <a:tc>
                  <a:txBody>
                    <a:bodyPr/>
                    <a:p>
                      <a:pPr>
                        <a:buNone/>
                      </a:pPr>
                      <a:r>
                        <a:rPr lang="en-US" altLang="zh-CN">
                          <a:solidFill>
                            <a:srgbClr val="C00000"/>
                          </a:solidFill>
                        </a:rPr>
                        <a:t>money</a:t>
                      </a:r>
                      <a:endParaRPr lang="en-US" altLang="zh-CN">
                        <a:solidFill>
                          <a:srgbClr val="C00000"/>
                        </a:solidFill>
                      </a:endParaRPr>
                    </a:p>
                  </a:txBody>
                  <a:tcPr/>
                </a:tc>
                <a:tc>
                  <a:txBody>
                    <a:bodyPr/>
                    <a:p>
                      <a:pPr>
                        <a:buNone/>
                      </a:pPr>
                      <a:r>
                        <a:rPr lang="en-US" altLang="zh-CN">
                          <a:solidFill>
                            <a:srgbClr val="C00000"/>
                          </a:solidFill>
                        </a:rPr>
                        <a:t>decimal</a:t>
                      </a:r>
                      <a:endParaRPr lang="en-US" altLang="zh-CN">
                        <a:solidFill>
                          <a:srgbClr val="C00000"/>
                        </a:solidFill>
                      </a:endParaRPr>
                    </a:p>
                  </a:txBody>
                  <a:tcPr/>
                </a:tc>
                <a:tc>
                  <a:txBody>
                    <a:bodyPr/>
                    <a:p>
                      <a:pPr>
                        <a:buNone/>
                      </a:pPr>
                      <a:r>
                        <a:rPr lang="en-US" altLang="zh-CN">
                          <a:solidFill>
                            <a:srgbClr val="C00000"/>
                          </a:solidFill>
                        </a:rPr>
                        <a:t>binary</a:t>
                      </a:r>
                      <a:endParaRPr lang="en-US" altLang="zh-CN">
                        <a:solidFill>
                          <a:srgbClr val="C00000"/>
                        </a:solidFill>
                      </a:endParaRPr>
                    </a:p>
                  </a:txBody>
                  <a:tcPr/>
                </a:tc>
              </a:tr>
              <a:tr h="330200">
                <a:tc>
                  <a:txBody>
                    <a:bodyPr/>
                    <a:p>
                      <a:pPr>
                        <a:buNone/>
                      </a:pPr>
                      <a:r>
                        <a:rPr lang="en-US" altLang="zh-CN" sz="1800">
                          <a:solidFill>
                            <a:srgbClr val="C00000"/>
                          </a:solidFill>
                          <a:sym typeface="+mn-ea"/>
                        </a:rPr>
                        <a:t>real</a:t>
                      </a:r>
                      <a:endParaRPr lang="zh-CN" altLang="en-US"/>
                    </a:p>
                  </a:txBody>
                  <a:tcPr/>
                </a:tc>
                <a:tc>
                  <a:txBody>
                    <a:bodyPr/>
                    <a:p>
                      <a:pPr algn="ctr">
                        <a:buNone/>
                      </a:pPr>
                      <a:r>
                        <a:rPr lang="en-US" altLang="zh-CN"/>
                        <a:t>--</a:t>
                      </a:r>
                      <a:endParaRPr lang="en-US" altLang="zh-CN"/>
                    </a:p>
                  </a:txBody>
                  <a:tcPr/>
                </a:tc>
                <a:tc>
                  <a:txBody>
                    <a:bodyPr/>
                    <a:p>
                      <a:pPr algn="ctr">
                        <a:buNone/>
                      </a:pPr>
                      <a:r>
                        <a:rPr lang="en-US" altLang="zh-CN"/>
                        <a:t>i</a:t>
                      </a:r>
                      <a:endParaRPr lang="en-US" altLang="zh-CN"/>
                    </a:p>
                  </a:txBody>
                  <a:tcPr/>
                </a:tc>
                <a:tc>
                  <a:txBody>
                    <a:bodyPr/>
                    <a:p>
                      <a:pPr algn="ctr">
                        <a:buNone/>
                      </a:pPr>
                      <a:r>
                        <a:rPr lang="en-US" altLang="zh-CN"/>
                        <a:t>i</a:t>
                      </a:r>
                      <a:endParaRPr lang="en-US" altLang="zh-CN"/>
                    </a:p>
                  </a:txBody>
                  <a:tcPr/>
                </a:tc>
                <a:tc>
                  <a:txBody>
                    <a:bodyPr/>
                    <a:p>
                      <a:pPr algn="ctr">
                        <a:buNone/>
                      </a:pPr>
                      <a:r>
                        <a:rPr lang="en-US" altLang="zh-CN"/>
                        <a:t>i</a:t>
                      </a:r>
                      <a:endParaRPr lang="en-US" altLang="zh-CN"/>
                    </a:p>
                  </a:txBody>
                  <a:tcPr/>
                </a:tc>
                <a:tc>
                  <a:txBody>
                    <a:bodyPr/>
                    <a:p>
                      <a:pPr algn="ctr">
                        <a:buNone/>
                      </a:pPr>
                      <a:r>
                        <a:rPr lang="en-US" altLang="zh-CN"/>
                        <a:t>i</a:t>
                      </a:r>
                      <a:endParaRPr lang="en-US" altLang="zh-CN"/>
                    </a:p>
                  </a:txBody>
                  <a:tcPr/>
                </a:tc>
                <a:tc>
                  <a:txBody>
                    <a:bodyPr/>
                    <a:p>
                      <a:pPr algn="ctr">
                        <a:buNone/>
                      </a:pPr>
                      <a:r>
                        <a:rPr lang="en-US" altLang="zh-CN"/>
                        <a:t>i</a:t>
                      </a:r>
                      <a:endParaRPr lang="en-US" altLang="zh-CN"/>
                    </a:p>
                  </a:txBody>
                  <a:tcPr/>
                </a:tc>
                <a:tc>
                  <a:txBody>
                    <a:bodyPr/>
                    <a:p>
                      <a:pPr algn="ctr">
                        <a:buNone/>
                      </a:pPr>
                      <a:r>
                        <a:rPr lang="en-US" altLang="zh-CN"/>
                        <a:t>i</a:t>
                      </a:r>
                      <a:endParaRPr lang="en-US" altLang="zh-CN"/>
                    </a:p>
                  </a:txBody>
                  <a:tcPr/>
                </a:tc>
              </a:tr>
              <a:tr h="365760">
                <a:tc>
                  <a:txBody>
                    <a:bodyPr/>
                    <a:p>
                      <a:pPr>
                        <a:buNone/>
                      </a:pPr>
                      <a:r>
                        <a:rPr lang="en-US" altLang="zh-CN" sz="1800">
                          <a:solidFill>
                            <a:srgbClr val="C00000"/>
                          </a:solidFill>
                          <a:sym typeface="+mn-ea"/>
                        </a:rPr>
                        <a:t>float</a:t>
                      </a:r>
                      <a:endParaRPr lang="zh-CN" altLang="en-US"/>
                    </a:p>
                  </a:txBody>
                  <a:tcPr/>
                </a:tc>
                <a:tc>
                  <a:txBody>
                    <a:bodyPr/>
                    <a:p>
                      <a:pPr algn="ctr">
                        <a:buNone/>
                      </a:pPr>
                      <a:r>
                        <a:rPr lang="en-US" altLang="zh-CN"/>
                        <a:t>i</a:t>
                      </a:r>
                      <a:endParaRPr lang="en-US" altLang="zh-CN"/>
                    </a:p>
                  </a:txBody>
                  <a:tcPr/>
                </a:tc>
                <a:tc>
                  <a:txBody>
                    <a:bodyPr/>
                    <a:p>
                      <a:pPr algn="ctr">
                        <a:buNone/>
                      </a:pPr>
                      <a:r>
                        <a:rPr lang="en-US" altLang="zh-CN"/>
                        <a:t>--</a:t>
                      </a:r>
                      <a:endParaRPr lang="en-US" altLang="zh-CN"/>
                    </a:p>
                  </a:txBody>
                  <a:tcPr/>
                </a:tc>
                <a:tc>
                  <a:txBody>
                    <a:bodyPr/>
                    <a:p>
                      <a:pPr algn="ctr">
                        <a:buNone/>
                      </a:pPr>
                      <a:r>
                        <a:rPr lang="en-US" altLang="zh-CN"/>
                        <a:t>i</a:t>
                      </a:r>
                      <a:endParaRPr lang="en-US" altLang="zh-CN"/>
                    </a:p>
                  </a:txBody>
                  <a:tcPr/>
                </a:tc>
                <a:tc>
                  <a:txBody>
                    <a:bodyPr/>
                    <a:p>
                      <a:pPr algn="ctr">
                        <a:buNone/>
                      </a:pPr>
                      <a:r>
                        <a:rPr lang="en-US" altLang="zh-CN"/>
                        <a:t>i</a:t>
                      </a:r>
                      <a:endParaRPr lang="en-US" altLang="zh-CN"/>
                    </a:p>
                  </a:txBody>
                  <a:tcPr/>
                </a:tc>
                <a:tc>
                  <a:txBody>
                    <a:bodyPr/>
                    <a:p>
                      <a:pPr algn="ctr">
                        <a:buNone/>
                      </a:pPr>
                      <a:r>
                        <a:rPr lang="en-US" altLang="zh-CN"/>
                        <a:t>i</a:t>
                      </a:r>
                      <a:endParaRPr lang="en-US" altLang="zh-CN"/>
                    </a:p>
                  </a:txBody>
                  <a:tcPr/>
                </a:tc>
                <a:tc>
                  <a:txBody>
                    <a:bodyPr/>
                    <a:p>
                      <a:pPr algn="ctr">
                        <a:buNone/>
                      </a:pPr>
                      <a:r>
                        <a:rPr lang="en-US" altLang="zh-CN"/>
                        <a:t>i</a:t>
                      </a:r>
                      <a:endParaRPr lang="en-US" altLang="zh-CN"/>
                    </a:p>
                  </a:txBody>
                  <a:tcPr/>
                </a:tc>
                <a:tc>
                  <a:txBody>
                    <a:bodyPr/>
                    <a:p>
                      <a:pPr algn="ctr">
                        <a:buNone/>
                      </a:pPr>
                      <a:r>
                        <a:rPr lang="en-US" altLang="zh-CN"/>
                        <a:t>i</a:t>
                      </a:r>
                      <a:endParaRPr lang="en-US" altLang="zh-CN"/>
                    </a:p>
                  </a:txBody>
                  <a:tcPr/>
                </a:tc>
              </a:tr>
              <a:tr h="365760">
                <a:tc>
                  <a:txBody>
                    <a:bodyPr/>
                    <a:p>
                      <a:pPr>
                        <a:buNone/>
                      </a:pPr>
                      <a:r>
                        <a:rPr lang="en-US" altLang="zh-CN" sz="1800">
                          <a:solidFill>
                            <a:srgbClr val="C00000"/>
                          </a:solidFill>
                          <a:sym typeface="+mn-ea"/>
                        </a:rPr>
                        <a:t>char</a:t>
                      </a:r>
                      <a:endParaRPr lang="zh-CN" altLang="en-US"/>
                    </a:p>
                  </a:txBody>
                  <a:tcPr/>
                </a:tc>
                <a:tc>
                  <a:txBody>
                    <a:bodyPr/>
                    <a:p>
                      <a:pPr algn="ctr">
                        <a:buNone/>
                      </a:pPr>
                      <a:r>
                        <a:rPr lang="en-US" altLang="zh-CN"/>
                        <a:t>i</a:t>
                      </a:r>
                      <a:endParaRPr lang="en-US" altLang="zh-CN"/>
                    </a:p>
                  </a:txBody>
                  <a:tcPr/>
                </a:tc>
                <a:tc>
                  <a:txBody>
                    <a:bodyPr/>
                    <a:p>
                      <a:pPr algn="ctr">
                        <a:buNone/>
                      </a:pPr>
                      <a:r>
                        <a:rPr lang="en-US" altLang="zh-CN"/>
                        <a:t>i</a:t>
                      </a:r>
                      <a:endParaRPr lang="en-US" altLang="zh-CN"/>
                    </a:p>
                  </a:txBody>
                  <a:tcPr/>
                </a:tc>
                <a:tc>
                  <a:txBody>
                    <a:bodyPr/>
                    <a:p>
                      <a:pPr algn="ctr">
                        <a:buNone/>
                      </a:pPr>
                      <a:r>
                        <a:rPr lang="en-US" altLang="zh-CN" sz="1800">
                          <a:sym typeface="+mn-ea"/>
                        </a:rPr>
                        <a:t>--</a:t>
                      </a:r>
                      <a:endParaRPr lang="zh-CN" altLang="en-US"/>
                    </a:p>
                  </a:txBody>
                  <a:tcPr/>
                </a:tc>
                <a:tc>
                  <a:txBody>
                    <a:bodyPr/>
                    <a:p>
                      <a:pPr algn="ctr">
                        <a:buNone/>
                      </a:pPr>
                      <a:r>
                        <a:rPr lang="en-US" altLang="zh-CN"/>
                        <a:t>i</a:t>
                      </a:r>
                      <a:endParaRPr lang="en-US" altLang="zh-CN"/>
                    </a:p>
                  </a:txBody>
                  <a:tcPr/>
                </a:tc>
                <a:tc>
                  <a:txBody>
                    <a:bodyPr/>
                    <a:p>
                      <a:pPr algn="ctr">
                        <a:buNone/>
                      </a:pPr>
                      <a:r>
                        <a:rPr lang="en-US" altLang="zh-CN"/>
                        <a:t>i</a:t>
                      </a:r>
                      <a:endParaRPr lang="en-US" altLang="zh-CN"/>
                    </a:p>
                  </a:txBody>
                  <a:tcPr/>
                </a:tc>
                <a:tc>
                  <a:txBody>
                    <a:bodyPr/>
                    <a:p>
                      <a:pPr algn="ctr">
                        <a:buNone/>
                      </a:pPr>
                      <a:r>
                        <a:rPr lang="en-US" altLang="zh-CN"/>
                        <a:t>i</a:t>
                      </a:r>
                      <a:endParaRPr lang="en-US" altLang="zh-CN"/>
                    </a:p>
                  </a:txBody>
                  <a:tcPr/>
                </a:tc>
                <a:tc>
                  <a:txBody>
                    <a:bodyPr/>
                    <a:p>
                      <a:pPr algn="ctr">
                        <a:buNone/>
                      </a:pPr>
                      <a:r>
                        <a:rPr lang="en-US" altLang="zh-CN">
                          <a:solidFill>
                            <a:srgbClr val="C00000"/>
                          </a:solidFill>
                        </a:rPr>
                        <a:t>e</a:t>
                      </a:r>
                      <a:endParaRPr lang="en-US" altLang="zh-CN">
                        <a:solidFill>
                          <a:srgbClr val="C00000"/>
                        </a:solidFill>
                      </a:endParaRPr>
                    </a:p>
                  </a:txBody>
                  <a:tcPr/>
                </a:tc>
              </a:tr>
              <a:tr h="365760">
                <a:tc>
                  <a:txBody>
                    <a:bodyPr/>
                    <a:p>
                      <a:pPr>
                        <a:buNone/>
                      </a:pPr>
                      <a:r>
                        <a:rPr lang="en-US" altLang="zh-CN" sz="1800">
                          <a:solidFill>
                            <a:srgbClr val="C00000"/>
                          </a:solidFill>
                          <a:sym typeface="+mn-ea"/>
                        </a:rPr>
                        <a:t>varchar</a:t>
                      </a:r>
                      <a:endParaRPr lang="zh-CN" altLang="en-US"/>
                    </a:p>
                  </a:txBody>
                  <a:tcPr/>
                </a:tc>
                <a:tc>
                  <a:txBody>
                    <a:bodyPr/>
                    <a:p>
                      <a:pPr algn="ctr">
                        <a:buNone/>
                      </a:pPr>
                      <a:r>
                        <a:rPr lang="en-US" altLang="zh-CN"/>
                        <a:t>i</a:t>
                      </a:r>
                      <a:endParaRPr lang="en-US" altLang="zh-CN"/>
                    </a:p>
                  </a:txBody>
                  <a:tcPr/>
                </a:tc>
                <a:tc>
                  <a:txBody>
                    <a:bodyPr/>
                    <a:p>
                      <a:pPr algn="ctr">
                        <a:buNone/>
                      </a:pPr>
                      <a:r>
                        <a:rPr lang="en-US" altLang="zh-CN"/>
                        <a:t>i</a:t>
                      </a:r>
                      <a:endParaRPr lang="en-US" altLang="zh-CN"/>
                    </a:p>
                  </a:txBody>
                  <a:tcPr/>
                </a:tc>
                <a:tc>
                  <a:txBody>
                    <a:bodyPr/>
                    <a:p>
                      <a:pPr algn="ctr">
                        <a:buNone/>
                      </a:pPr>
                      <a:r>
                        <a:rPr lang="en-US" altLang="zh-CN"/>
                        <a:t>i</a:t>
                      </a:r>
                      <a:endParaRPr lang="en-US" altLang="zh-CN"/>
                    </a:p>
                  </a:txBody>
                  <a:tcPr/>
                </a:tc>
                <a:tc>
                  <a:txBody>
                    <a:bodyPr/>
                    <a:p>
                      <a:pPr algn="ctr">
                        <a:buNone/>
                      </a:pPr>
                      <a:r>
                        <a:rPr lang="en-US" altLang="zh-CN" sz="1800">
                          <a:sym typeface="+mn-ea"/>
                        </a:rPr>
                        <a:t>--</a:t>
                      </a:r>
                      <a:endParaRPr lang="zh-CN" altLang="en-US"/>
                    </a:p>
                  </a:txBody>
                  <a:tcPr/>
                </a:tc>
                <a:tc>
                  <a:txBody>
                    <a:bodyPr/>
                    <a:p>
                      <a:pPr algn="ctr">
                        <a:buNone/>
                      </a:pPr>
                      <a:r>
                        <a:rPr lang="en-US" altLang="zh-CN"/>
                        <a:t>i</a:t>
                      </a:r>
                      <a:endParaRPr lang="en-US" altLang="zh-CN"/>
                    </a:p>
                  </a:txBody>
                  <a:tcPr/>
                </a:tc>
                <a:tc>
                  <a:txBody>
                    <a:bodyPr/>
                    <a:p>
                      <a:pPr algn="ctr">
                        <a:buNone/>
                      </a:pPr>
                      <a:r>
                        <a:rPr lang="en-US" altLang="zh-CN"/>
                        <a:t>i</a:t>
                      </a:r>
                      <a:endParaRPr lang="en-US" altLang="zh-CN"/>
                    </a:p>
                  </a:txBody>
                  <a:tcPr/>
                </a:tc>
                <a:tc>
                  <a:txBody>
                    <a:bodyPr/>
                    <a:p>
                      <a:pPr algn="ctr">
                        <a:buNone/>
                      </a:pPr>
                      <a:r>
                        <a:rPr lang="en-US" altLang="zh-CN">
                          <a:solidFill>
                            <a:srgbClr val="C00000"/>
                          </a:solidFill>
                        </a:rPr>
                        <a:t>e</a:t>
                      </a:r>
                      <a:endParaRPr lang="en-US" altLang="zh-CN">
                        <a:solidFill>
                          <a:srgbClr val="C00000"/>
                        </a:solidFill>
                      </a:endParaRPr>
                    </a:p>
                  </a:txBody>
                  <a:tcPr/>
                </a:tc>
              </a:tr>
              <a:tr h="365760">
                <a:tc>
                  <a:txBody>
                    <a:bodyPr/>
                    <a:p>
                      <a:pPr>
                        <a:buNone/>
                      </a:pPr>
                      <a:r>
                        <a:rPr lang="en-US" altLang="zh-CN" sz="1800">
                          <a:solidFill>
                            <a:srgbClr val="C00000"/>
                          </a:solidFill>
                          <a:sym typeface="+mn-ea"/>
                        </a:rPr>
                        <a:t>money</a:t>
                      </a:r>
                      <a:endParaRPr lang="zh-CN" altLang="en-US"/>
                    </a:p>
                  </a:txBody>
                  <a:tcPr/>
                </a:tc>
                <a:tc>
                  <a:txBody>
                    <a:bodyPr/>
                    <a:p>
                      <a:pPr algn="ctr">
                        <a:buNone/>
                      </a:pPr>
                      <a:r>
                        <a:rPr lang="en-US" altLang="zh-CN"/>
                        <a:t>i</a:t>
                      </a:r>
                      <a:endParaRPr lang="en-US" altLang="zh-CN"/>
                    </a:p>
                  </a:txBody>
                  <a:tcPr/>
                </a:tc>
                <a:tc>
                  <a:txBody>
                    <a:bodyPr/>
                    <a:p>
                      <a:pPr algn="ctr">
                        <a:buNone/>
                      </a:pPr>
                      <a:r>
                        <a:rPr lang="en-US" altLang="zh-CN"/>
                        <a:t>i</a:t>
                      </a:r>
                      <a:endParaRPr lang="en-US" altLang="zh-CN"/>
                    </a:p>
                  </a:txBody>
                  <a:tcPr/>
                </a:tc>
                <a:tc>
                  <a:txBody>
                    <a:bodyPr/>
                    <a:p>
                      <a:pPr algn="ctr">
                        <a:buNone/>
                      </a:pPr>
                      <a:r>
                        <a:rPr lang="en-US" altLang="zh-CN"/>
                        <a:t>i</a:t>
                      </a:r>
                      <a:endParaRPr lang="en-US" altLang="zh-CN"/>
                    </a:p>
                  </a:txBody>
                  <a:tcPr/>
                </a:tc>
                <a:tc>
                  <a:txBody>
                    <a:bodyPr/>
                    <a:p>
                      <a:pPr algn="ctr">
                        <a:buNone/>
                      </a:pPr>
                      <a:r>
                        <a:rPr lang="en-US" altLang="zh-CN"/>
                        <a:t>i</a:t>
                      </a:r>
                      <a:endParaRPr lang="en-US" altLang="zh-CN"/>
                    </a:p>
                  </a:txBody>
                  <a:tcPr/>
                </a:tc>
                <a:tc>
                  <a:txBody>
                    <a:bodyPr/>
                    <a:p>
                      <a:pPr algn="ctr">
                        <a:buNone/>
                      </a:pPr>
                      <a:r>
                        <a:rPr lang="en-US" altLang="zh-CN" sz="1800">
                          <a:sym typeface="+mn-ea"/>
                        </a:rPr>
                        <a:t>--</a:t>
                      </a:r>
                      <a:endParaRPr lang="zh-CN" altLang="en-US"/>
                    </a:p>
                  </a:txBody>
                  <a:tcPr/>
                </a:tc>
                <a:tc>
                  <a:txBody>
                    <a:bodyPr/>
                    <a:p>
                      <a:pPr algn="ctr">
                        <a:buNone/>
                      </a:pPr>
                      <a:r>
                        <a:rPr lang="en-US" altLang="zh-CN"/>
                        <a:t>i</a:t>
                      </a:r>
                      <a:endParaRPr lang="en-US" altLang="zh-CN"/>
                    </a:p>
                  </a:txBody>
                  <a:tcPr/>
                </a:tc>
                <a:tc>
                  <a:txBody>
                    <a:bodyPr/>
                    <a:p>
                      <a:pPr algn="ctr">
                        <a:buNone/>
                      </a:pPr>
                      <a:r>
                        <a:rPr lang="en-US" altLang="zh-CN"/>
                        <a:t>i</a:t>
                      </a:r>
                      <a:endParaRPr lang="en-US" altLang="zh-CN"/>
                    </a:p>
                  </a:txBody>
                  <a:tcPr/>
                </a:tc>
              </a:tr>
              <a:tr h="365760">
                <a:tc>
                  <a:txBody>
                    <a:bodyPr/>
                    <a:p>
                      <a:pPr>
                        <a:buNone/>
                      </a:pPr>
                      <a:r>
                        <a:rPr lang="en-US" altLang="zh-CN" sz="1800">
                          <a:solidFill>
                            <a:srgbClr val="C00000"/>
                          </a:solidFill>
                          <a:sym typeface="+mn-ea"/>
                        </a:rPr>
                        <a:t>decimal</a:t>
                      </a:r>
                      <a:endParaRPr lang="zh-CN" altLang="en-US"/>
                    </a:p>
                  </a:txBody>
                  <a:tcPr/>
                </a:tc>
                <a:tc>
                  <a:txBody>
                    <a:bodyPr/>
                    <a:p>
                      <a:pPr algn="ctr">
                        <a:buNone/>
                      </a:pPr>
                      <a:r>
                        <a:rPr lang="en-US" altLang="zh-CN"/>
                        <a:t>i</a:t>
                      </a:r>
                      <a:endParaRPr lang="en-US" altLang="zh-CN"/>
                    </a:p>
                  </a:txBody>
                  <a:tcPr/>
                </a:tc>
                <a:tc>
                  <a:txBody>
                    <a:bodyPr/>
                    <a:p>
                      <a:pPr algn="ctr">
                        <a:buNone/>
                      </a:pPr>
                      <a:r>
                        <a:rPr lang="en-US" altLang="zh-CN"/>
                        <a:t>i</a:t>
                      </a:r>
                      <a:endParaRPr lang="en-US" altLang="zh-CN"/>
                    </a:p>
                  </a:txBody>
                  <a:tcPr/>
                </a:tc>
                <a:tc>
                  <a:txBody>
                    <a:bodyPr/>
                    <a:p>
                      <a:pPr algn="ctr">
                        <a:buNone/>
                      </a:pPr>
                      <a:r>
                        <a:rPr lang="en-US" altLang="zh-CN"/>
                        <a:t>i</a:t>
                      </a:r>
                      <a:endParaRPr lang="en-US" altLang="zh-CN"/>
                    </a:p>
                  </a:txBody>
                  <a:tcPr/>
                </a:tc>
                <a:tc>
                  <a:txBody>
                    <a:bodyPr/>
                    <a:p>
                      <a:pPr algn="ctr">
                        <a:buNone/>
                      </a:pPr>
                      <a:r>
                        <a:rPr lang="en-US" altLang="zh-CN"/>
                        <a:t>i</a:t>
                      </a:r>
                      <a:endParaRPr lang="en-US" altLang="zh-CN"/>
                    </a:p>
                  </a:txBody>
                  <a:tcPr/>
                </a:tc>
                <a:tc>
                  <a:txBody>
                    <a:bodyPr/>
                    <a:p>
                      <a:pPr algn="ctr">
                        <a:buNone/>
                      </a:pPr>
                      <a:r>
                        <a:rPr lang="en-US" altLang="zh-CN"/>
                        <a:t>i</a:t>
                      </a:r>
                      <a:endParaRPr lang="en-US" altLang="zh-CN"/>
                    </a:p>
                  </a:txBody>
                  <a:tcPr/>
                </a:tc>
                <a:tc>
                  <a:txBody>
                    <a:bodyPr/>
                    <a:p>
                      <a:pPr algn="ctr">
                        <a:buNone/>
                      </a:pPr>
                      <a:r>
                        <a:rPr lang="en-US" altLang="zh-CN" sz="1800">
                          <a:solidFill>
                            <a:srgbClr val="C00000"/>
                          </a:solidFill>
                          <a:sym typeface="+mn-ea"/>
                        </a:rPr>
                        <a:t>e</a:t>
                      </a:r>
                      <a:endParaRPr lang="en-US" altLang="zh-CN" sz="1800">
                        <a:solidFill>
                          <a:srgbClr val="C00000"/>
                        </a:solidFill>
                        <a:sym typeface="+mn-ea"/>
                      </a:endParaRPr>
                    </a:p>
                  </a:txBody>
                  <a:tcPr/>
                </a:tc>
                <a:tc>
                  <a:txBody>
                    <a:bodyPr/>
                    <a:p>
                      <a:pPr algn="ctr">
                        <a:buNone/>
                      </a:pPr>
                      <a:r>
                        <a:rPr lang="en-US" altLang="zh-CN"/>
                        <a:t>i</a:t>
                      </a:r>
                      <a:endParaRPr lang="en-US" altLang="zh-CN"/>
                    </a:p>
                  </a:txBody>
                  <a:tcPr/>
                </a:tc>
              </a:tr>
              <a:tr h="365760">
                <a:tc>
                  <a:txBody>
                    <a:bodyPr/>
                    <a:p>
                      <a:pPr>
                        <a:buNone/>
                      </a:pPr>
                      <a:r>
                        <a:rPr lang="en-US" altLang="zh-CN" sz="1800">
                          <a:solidFill>
                            <a:srgbClr val="C00000"/>
                          </a:solidFill>
                          <a:sym typeface="+mn-ea"/>
                        </a:rPr>
                        <a:t>binary</a:t>
                      </a:r>
                      <a:endParaRPr lang="zh-CN" altLang="en-US"/>
                    </a:p>
                  </a:txBody>
                  <a:tcPr/>
                </a:tc>
                <a:tc>
                  <a:txBody>
                    <a:bodyPr/>
                    <a:p>
                      <a:pPr algn="ctr">
                        <a:buNone/>
                      </a:pPr>
                      <a:r>
                        <a:rPr lang="en-US" altLang="zh-CN">
                          <a:solidFill>
                            <a:srgbClr val="0000FF"/>
                          </a:solidFill>
                        </a:rPr>
                        <a:t>n</a:t>
                      </a:r>
                      <a:endParaRPr lang="en-US" altLang="zh-CN">
                        <a:solidFill>
                          <a:srgbClr val="0000FF"/>
                        </a:solidFill>
                      </a:endParaRPr>
                    </a:p>
                  </a:txBody>
                  <a:tcPr/>
                </a:tc>
                <a:tc>
                  <a:txBody>
                    <a:bodyPr/>
                    <a:p>
                      <a:pPr algn="ctr">
                        <a:buNone/>
                      </a:pPr>
                      <a:r>
                        <a:rPr lang="en-US" altLang="zh-CN">
                          <a:solidFill>
                            <a:srgbClr val="0000FF"/>
                          </a:solidFill>
                        </a:rPr>
                        <a:t>n</a:t>
                      </a:r>
                      <a:endParaRPr lang="en-US" altLang="zh-CN">
                        <a:solidFill>
                          <a:srgbClr val="0000FF"/>
                        </a:solidFill>
                      </a:endParaRPr>
                    </a:p>
                  </a:txBody>
                  <a:tcPr/>
                </a:tc>
                <a:tc>
                  <a:txBody>
                    <a:bodyPr/>
                    <a:p>
                      <a:pPr algn="ctr">
                        <a:buNone/>
                      </a:pPr>
                      <a:r>
                        <a:rPr lang="en-US" altLang="zh-CN"/>
                        <a:t>i</a:t>
                      </a:r>
                      <a:endParaRPr lang="en-US" altLang="zh-CN"/>
                    </a:p>
                  </a:txBody>
                  <a:tcPr/>
                </a:tc>
                <a:tc>
                  <a:txBody>
                    <a:bodyPr/>
                    <a:p>
                      <a:pPr algn="ctr">
                        <a:buNone/>
                      </a:pPr>
                      <a:r>
                        <a:rPr lang="en-US" altLang="zh-CN"/>
                        <a:t>i</a:t>
                      </a:r>
                      <a:endParaRPr lang="en-US" altLang="zh-CN"/>
                    </a:p>
                  </a:txBody>
                  <a:tcPr/>
                </a:tc>
                <a:tc>
                  <a:txBody>
                    <a:bodyPr/>
                    <a:p>
                      <a:pPr algn="ctr">
                        <a:buNone/>
                      </a:pPr>
                      <a:r>
                        <a:rPr lang="en-US" altLang="zh-CN"/>
                        <a:t>i</a:t>
                      </a:r>
                      <a:endParaRPr lang="en-US" altLang="zh-CN"/>
                    </a:p>
                  </a:txBody>
                  <a:tcPr/>
                </a:tc>
                <a:tc>
                  <a:txBody>
                    <a:bodyPr/>
                    <a:p>
                      <a:pPr algn="ctr">
                        <a:buNone/>
                      </a:pPr>
                      <a:r>
                        <a:rPr lang="en-US" altLang="zh-CN"/>
                        <a:t>i</a:t>
                      </a:r>
                      <a:endParaRPr lang="en-US" altLang="zh-CN"/>
                    </a:p>
                  </a:txBody>
                  <a:tcPr/>
                </a:tc>
                <a:tc>
                  <a:txBody>
                    <a:bodyPr/>
                    <a:p>
                      <a:pPr algn="ctr">
                        <a:buNone/>
                      </a:pPr>
                      <a:r>
                        <a:rPr lang="en-US" altLang="zh-CN" sz="1800">
                          <a:sym typeface="+mn-ea"/>
                        </a:rPr>
                        <a:t>--</a:t>
                      </a:r>
                      <a:endParaRPr lang="zh-CN" altLang="en-US"/>
                    </a:p>
                  </a:txBody>
                  <a:tcPr/>
                </a:tc>
              </a:tr>
            </a:tbl>
          </a:graphicData>
        </a:graphic>
      </p:graphicFrame>
      <p:sp>
        <p:nvSpPr>
          <p:cNvPr id="6" name="文本框 20"/>
          <p:cNvSpPr txBox="1"/>
          <p:nvPr/>
        </p:nvSpPr>
        <p:spPr>
          <a:xfrm>
            <a:off x="457200" y="5478780"/>
            <a:ext cx="8312150" cy="39878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sym typeface="+mn-ea"/>
              </a:rPr>
              <a:t>   </a:t>
            </a:r>
            <a:r>
              <a:rPr lang="en-US" sz="1800" dirty="0">
                <a:sym typeface="+mn-ea"/>
              </a:rPr>
              <a:t>--</a:t>
            </a:r>
            <a:r>
              <a:rPr lang="zh-CN" altLang="en-US" sz="1800" dirty="0">
                <a:sym typeface="+mn-ea"/>
              </a:rPr>
              <a:t>表示本身类型转换；</a:t>
            </a:r>
            <a:r>
              <a:rPr lang="en-US" altLang="zh-CN" sz="1800" dirty="0">
                <a:sym typeface="+mn-ea"/>
              </a:rPr>
              <a:t>i</a:t>
            </a:r>
            <a:r>
              <a:rPr lang="zh-CN" altLang="en-US" sz="1800" dirty="0">
                <a:sym typeface="+mn-ea"/>
              </a:rPr>
              <a:t>表示隐式转换；</a:t>
            </a:r>
            <a:r>
              <a:rPr lang="en-US" altLang="zh-CN" sz="1800" dirty="0">
                <a:sym typeface="+mn-ea"/>
              </a:rPr>
              <a:t>e</a:t>
            </a:r>
            <a:r>
              <a:rPr lang="zh-CN" altLang="en-US" sz="1800" dirty="0">
                <a:sym typeface="+mn-ea"/>
              </a:rPr>
              <a:t>表示需要显式转换；</a:t>
            </a:r>
            <a:r>
              <a:rPr lang="en-US" altLang="zh-CN" sz="1800" dirty="0">
                <a:sym typeface="+mn-ea"/>
              </a:rPr>
              <a:t>n</a:t>
            </a:r>
            <a:r>
              <a:rPr lang="zh-CN" altLang="en-US" sz="1800" dirty="0">
                <a:sym typeface="+mn-ea"/>
              </a:rPr>
              <a:t>表示不允许</a:t>
            </a:r>
            <a:r>
              <a:rPr lang="zh-CN" altLang="en-US" sz="1800" dirty="0">
                <a:sym typeface="+mn-ea"/>
              </a:rPr>
              <a:t>转换。</a:t>
            </a:r>
            <a:endParaRPr lang="zh-CN" altLang="en-US" sz="1800" dirty="0">
              <a:sym typeface="+mn-ea"/>
            </a:endParaRPr>
          </a:p>
        </p:txBody>
      </p:sp>
      <p:sp>
        <p:nvSpPr>
          <p:cNvPr id="8" name="文本框 20"/>
          <p:cNvSpPr txBox="1"/>
          <p:nvPr/>
        </p:nvSpPr>
        <p:spPr>
          <a:xfrm>
            <a:off x="457200" y="5812790"/>
            <a:ext cx="8538845" cy="39878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sym typeface="+mn-ea"/>
              </a:rPr>
              <a:t>   </a:t>
            </a:r>
            <a:r>
              <a:rPr lang="zh-CN" altLang="en-US" sz="1800" dirty="0">
                <a:sym typeface="+mn-ea"/>
              </a:rPr>
              <a:t>在字符串</a:t>
            </a:r>
            <a:r>
              <a:rPr lang="en-US" altLang="zh-CN" sz="1800" dirty="0">
                <a:sym typeface="+mn-ea"/>
              </a:rPr>
              <a:t>(</a:t>
            </a:r>
            <a:r>
              <a:rPr lang="zh-CN" altLang="en-US" sz="1800" dirty="0">
                <a:sym typeface="+mn-ea"/>
              </a:rPr>
              <a:t>包括</a:t>
            </a:r>
            <a:r>
              <a:rPr lang="en-US" altLang="zh-CN" sz="1800" dirty="0">
                <a:sym typeface="+mn-ea"/>
              </a:rPr>
              <a:t>char</a:t>
            </a:r>
            <a:r>
              <a:rPr lang="zh-CN" altLang="en-US" sz="1800" dirty="0">
                <a:sym typeface="+mn-ea"/>
              </a:rPr>
              <a:t>、</a:t>
            </a:r>
            <a:r>
              <a:rPr lang="en-US" altLang="zh-CN" sz="1800" dirty="0">
                <a:sym typeface="+mn-ea"/>
              </a:rPr>
              <a:t>varchar</a:t>
            </a:r>
            <a:r>
              <a:rPr lang="zh-CN" altLang="en-US" sz="1800" dirty="0">
                <a:sym typeface="+mn-ea"/>
              </a:rPr>
              <a:t>、</a:t>
            </a:r>
            <a:r>
              <a:rPr lang="en-US" altLang="zh-CN" sz="1800" dirty="0">
                <a:sym typeface="+mn-ea"/>
              </a:rPr>
              <a:t>nchar</a:t>
            </a:r>
            <a:r>
              <a:rPr lang="zh-CN" altLang="en-US" sz="1800" dirty="0">
                <a:sym typeface="+mn-ea"/>
              </a:rPr>
              <a:t>、</a:t>
            </a:r>
            <a:r>
              <a:rPr lang="en-US" altLang="zh-CN" sz="1800" dirty="0">
                <a:sym typeface="+mn-ea"/>
              </a:rPr>
              <a:t>nvarchar)</a:t>
            </a:r>
            <a:r>
              <a:rPr lang="zh-CN" altLang="en-US" sz="1800" dirty="0">
                <a:sym typeface="+mn-ea"/>
              </a:rPr>
              <a:t>到</a:t>
            </a:r>
            <a:r>
              <a:rPr lang="en-US" altLang="zh-CN" sz="1800" dirty="0">
                <a:sym typeface="+mn-ea"/>
              </a:rPr>
              <a:t>datetime</a:t>
            </a:r>
            <a:r>
              <a:rPr lang="zh-CN" altLang="en-US" sz="1800" dirty="0">
                <a:sym typeface="+mn-ea"/>
              </a:rPr>
              <a:t>、</a:t>
            </a:r>
            <a:r>
              <a:rPr lang="en-US" altLang="zh-CN" sz="1800" dirty="0">
                <a:sym typeface="+mn-ea"/>
              </a:rPr>
              <a:t>smallint</a:t>
            </a:r>
            <a:r>
              <a:rPr lang="zh-CN" altLang="en-US" sz="1800" dirty="0">
                <a:sym typeface="+mn-ea"/>
              </a:rPr>
              <a:t>与</a:t>
            </a:r>
            <a:r>
              <a:rPr lang="en-US" altLang="zh-CN" sz="1800" dirty="0">
                <a:sym typeface="+mn-ea"/>
              </a:rPr>
              <a:t>int</a:t>
            </a:r>
            <a:r>
              <a:rPr lang="zh-CN" altLang="en-US" sz="1800" dirty="0">
                <a:sym typeface="+mn-ea"/>
              </a:rPr>
              <a:t>。</a:t>
            </a:r>
            <a:endParaRPr lang="zh-CN" altLang="en-US" sz="1800" dirty="0">
              <a:sym typeface="+mn-ea"/>
            </a:endParaRPr>
          </a:p>
        </p:txBody>
      </p:sp>
      <p:sp>
        <p:nvSpPr>
          <p:cNvPr id="9" name="文本框 20"/>
          <p:cNvSpPr txBox="1"/>
          <p:nvPr/>
        </p:nvSpPr>
        <p:spPr>
          <a:xfrm>
            <a:off x="501650" y="1910080"/>
            <a:ext cx="8312150" cy="55308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50000"/>
              </a:lnSpc>
              <a:spcBef>
                <a:spcPts val="0"/>
              </a:spcBef>
              <a:spcAft>
                <a:spcPts val="35"/>
              </a:spcAft>
              <a:buClrTx/>
              <a:buSzTx/>
              <a:buFont typeface="Arial" panose="020B0604020202020204" pitchFamily="34" charset="0"/>
              <a:buNone/>
            </a:pPr>
            <a:r>
              <a:rPr lang="en-US" altLang="zh-CN" dirty="0">
                <a:sym typeface="+mn-ea"/>
              </a:rPr>
              <a:t>   1</a:t>
            </a:r>
            <a:r>
              <a:rPr lang="zh-CN" altLang="en-US" dirty="0">
                <a:sym typeface="+mn-ea"/>
              </a:rPr>
              <a:t>）隐式</a:t>
            </a:r>
            <a:r>
              <a:rPr lang="zh-CN" altLang="en-US" dirty="0">
                <a:sym typeface="+mn-ea"/>
              </a:rPr>
              <a:t>转换</a:t>
            </a:r>
            <a:endParaRPr lang="zh-CN" altLang="en-US" dirty="0">
              <a:sym typeface="+mn-ea"/>
            </a:endParaRPr>
          </a:p>
        </p:txBody>
      </p:sp>
    </p:spTree>
  </p:cSld>
  <p:clrMapOvr>
    <a:masterClrMapping/>
  </p:clrMapOvr>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5"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1" charset="-122"/>
              </a:rPr>
              <a:t>四、</a:t>
            </a:r>
            <a:r>
              <a:rPr lang="en-US" altLang="zh-CN" sz="3200" dirty="0">
                <a:solidFill>
                  <a:srgbClr val="FF0000"/>
                </a:solidFill>
                <a:ea typeface="黑体" panose="02010609060101010101" pitchFamily="1" charset="-122"/>
              </a:rPr>
              <a:t>T-SQL</a:t>
            </a:r>
            <a:r>
              <a:rPr lang="zh-CN" altLang="en-US" sz="3200" dirty="0">
                <a:solidFill>
                  <a:srgbClr val="FF0000"/>
                </a:solidFill>
                <a:ea typeface="黑体" panose="02010609060101010101" pitchFamily="1" charset="-122"/>
              </a:rPr>
              <a:t>编程</a:t>
            </a:r>
            <a:endParaRPr lang="zh-CN" altLang="en-US" sz="3200" dirty="0">
              <a:solidFill>
                <a:srgbClr val="FF0000"/>
              </a:solidFill>
              <a:ea typeface="黑体" panose="02010609060101010101" pitchFamily="1" charset="-122"/>
            </a:endParaRPr>
          </a:p>
        </p:txBody>
      </p:sp>
      <p:sp>
        <p:nvSpPr>
          <p:cNvPr id="9" name="文本框 20"/>
          <p:cNvSpPr txBox="1"/>
          <p:nvPr/>
        </p:nvSpPr>
        <p:spPr>
          <a:xfrm>
            <a:off x="374650" y="1160145"/>
            <a:ext cx="8312150" cy="55308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50000"/>
              </a:lnSpc>
              <a:spcBef>
                <a:spcPts val="0"/>
              </a:spcBef>
              <a:spcAft>
                <a:spcPts val="35"/>
              </a:spcAft>
              <a:buClrTx/>
              <a:buSzTx/>
              <a:buFont typeface="Arial" panose="020B0604020202020204" pitchFamily="34" charset="0"/>
              <a:buNone/>
            </a:pPr>
            <a:r>
              <a:rPr lang="en-US" altLang="zh-CN" dirty="0">
                <a:sym typeface="+mn-ea"/>
              </a:rPr>
              <a:t>   2</a:t>
            </a:r>
            <a:r>
              <a:rPr lang="zh-CN" altLang="en-US" dirty="0">
                <a:sym typeface="+mn-ea"/>
              </a:rPr>
              <a:t>）显</a:t>
            </a:r>
            <a:r>
              <a:rPr lang="zh-CN" altLang="en-US" dirty="0">
                <a:sym typeface="+mn-ea"/>
              </a:rPr>
              <a:t>式转换</a:t>
            </a:r>
            <a:endParaRPr lang="zh-CN" altLang="en-US" dirty="0">
              <a:sym typeface="+mn-ea"/>
            </a:endParaRPr>
          </a:p>
        </p:txBody>
      </p:sp>
      <p:sp>
        <p:nvSpPr>
          <p:cNvPr id="101379" name="Rectangle 3"/>
          <p:cNvSpPr txBox="1"/>
          <p:nvPr/>
        </p:nvSpPr>
        <p:spPr>
          <a:xfrm>
            <a:off x="332740" y="831215"/>
            <a:ext cx="8642350" cy="430530"/>
          </a:xfrm>
          <a:prstGeom prst="rect">
            <a:avLst/>
          </a:prstGeom>
          <a:noFill/>
          <a:ln w="9525">
            <a:noFill/>
          </a:ln>
        </p:spPr>
        <p:txBody>
          <a:bodyPr anchor="t" anchorCtr="0"/>
          <a:p>
            <a:pPr>
              <a:buFont typeface="Wingdings" panose="05000000000000000000" pitchFamily="2" charset="2"/>
            </a:pPr>
            <a:r>
              <a:rPr lang="en-US" altLang="zh-CN" sz="2400" dirty="0">
                <a:solidFill>
                  <a:srgbClr val="3333CC"/>
                </a:solidFill>
                <a:latin typeface="宋体" panose="02010600030101010101" pitchFamily="2" charset="-122"/>
                <a:ea typeface="黑体" panose="02010609060101010101" pitchFamily="1" charset="-122"/>
              </a:rPr>
              <a:t>2.</a:t>
            </a:r>
            <a:r>
              <a:rPr lang="zh-CN" altLang="en-US" sz="2400" dirty="0">
                <a:solidFill>
                  <a:srgbClr val="3333CC"/>
                </a:solidFill>
                <a:latin typeface="宋体" panose="02010600030101010101" pitchFamily="2" charset="-122"/>
                <a:ea typeface="黑体" panose="02010609060101010101" pitchFamily="1" charset="-122"/>
              </a:rPr>
              <a:t>函数</a:t>
            </a:r>
            <a:endParaRPr lang="zh-CN" altLang="en-US" sz="2400" dirty="0">
              <a:solidFill>
                <a:srgbClr val="3333CC"/>
              </a:solidFill>
              <a:latin typeface="宋体" panose="02010600030101010101" pitchFamily="2" charset="-122"/>
              <a:ea typeface="黑体" panose="02010609060101010101" pitchFamily="1" charset="-122"/>
            </a:endParaRPr>
          </a:p>
        </p:txBody>
      </p:sp>
      <p:sp>
        <p:nvSpPr>
          <p:cNvPr id="121903" name="文本框 20"/>
          <p:cNvSpPr txBox="1"/>
          <p:nvPr/>
        </p:nvSpPr>
        <p:spPr>
          <a:xfrm>
            <a:off x="610235" y="1698625"/>
            <a:ext cx="8312150" cy="70675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sym typeface="+mn-ea"/>
              </a:rPr>
              <a:t>用途：有些类型之间不能直接比较，必须用</a:t>
            </a:r>
            <a:r>
              <a:rPr lang="en-US" altLang="zh-CN" dirty="0">
                <a:sym typeface="+mn-ea"/>
              </a:rPr>
              <a:t>CAST</a:t>
            </a:r>
            <a:r>
              <a:rPr lang="zh-CN" altLang="en-US" dirty="0">
                <a:sym typeface="+mn-ea"/>
              </a:rPr>
              <a:t>函数或</a:t>
            </a:r>
            <a:r>
              <a:rPr lang="en-US" altLang="zh-CN" dirty="0">
                <a:sym typeface="+mn-ea"/>
              </a:rPr>
              <a:t>CONVERT</a:t>
            </a:r>
            <a:r>
              <a:rPr lang="zh-CN" altLang="en-US" dirty="0">
                <a:sym typeface="+mn-ea"/>
              </a:rPr>
              <a:t>函数做显式</a:t>
            </a:r>
            <a:r>
              <a:rPr lang="zh-CN" altLang="en-US" dirty="0">
                <a:sym typeface="+mn-ea"/>
              </a:rPr>
              <a:t>转换。</a:t>
            </a:r>
            <a:endParaRPr lang="zh-CN" altLang="en-US" dirty="0">
              <a:sym typeface="+mn-ea"/>
            </a:endParaRPr>
          </a:p>
        </p:txBody>
      </p:sp>
      <p:sp>
        <p:nvSpPr>
          <p:cNvPr id="5" name="文本框 4"/>
          <p:cNvSpPr txBox="1"/>
          <p:nvPr>
            <p:custDataLst>
              <p:tags r:id="rId1"/>
            </p:custDataLst>
          </p:nvPr>
        </p:nvSpPr>
        <p:spPr>
          <a:xfrm>
            <a:off x="715010" y="2405380"/>
            <a:ext cx="6323330" cy="398780"/>
          </a:xfrm>
          <a:prstGeom prst="rect">
            <a:avLst/>
          </a:prstGeom>
          <a:noFill/>
        </p:spPr>
        <p:txBody>
          <a:bodyPr wrap="square" rtlCol="0" anchor="t">
            <a:spAutoFit/>
          </a:bodyPr>
          <a:p>
            <a:r>
              <a:rPr lang="en-US" altLang="zh-CN" sz="2000" dirty="0">
                <a:solidFill>
                  <a:srgbClr val="FF0000"/>
                </a:solidFill>
                <a:sym typeface="+mn-ea"/>
              </a:rPr>
              <a:t>cast(</a:t>
            </a:r>
            <a:r>
              <a:rPr lang="zh-CN" altLang="en-US" sz="2000" dirty="0">
                <a:solidFill>
                  <a:srgbClr val="FF0000"/>
                </a:solidFill>
                <a:sym typeface="+mn-ea"/>
              </a:rPr>
              <a:t>表达式</a:t>
            </a:r>
            <a:r>
              <a:rPr lang="en-US" altLang="zh-CN" sz="2000" dirty="0">
                <a:solidFill>
                  <a:srgbClr val="FF0000"/>
                </a:solidFill>
                <a:sym typeface="+mn-ea"/>
              </a:rPr>
              <a:t> as </a:t>
            </a:r>
            <a:r>
              <a:rPr lang="zh-CN" altLang="en-US" sz="2000" dirty="0">
                <a:solidFill>
                  <a:srgbClr val="FF0000"/>
                </a:solidFill>
                <a:sym typeface="+mn-ea"/>
              </a:rPr>
              <a:t>数据类型</a:t>
            </a:r>
            <a:r>
              <a:rPr lang="en-US" altLang="zh-CN" sz="2000" dirty="0">
                <a:solidFill>
                  <a:srgbClr val="FF0000"/>
                </a:solidFill>
                <a:sym typeface="+mn-ea"/>
              </a:rPr>
              <a:t> [(length)]</a:t>
            </a:r>
            <a:endParaRPr lang="en-US" altLang="zh-CN" sz="2000" dirty="0">
              <a:solidFill>
                <a:srgbClr val="FF0000"/>
              </a:solidFill>
              <a:sym typeface="+mn-ea"/>
            </a:endParaRPr>
          </a:p>
        </p:txBody>
      </p:sp>
      <p:sp>
        <p:nvSpPr>
          <p:cNvPr id="17" name="文本框 16"/>
          <p:cNvSpPr txBox="1"/>
          <p:nvPr/>
        </p:nvSpPr>
        <p:spPr>
          <a:xfrm>
            <a:off x="1468120" y="2842260"/>
            <a:ext cx="7376795" cy="395605"/>
          </a:xfrm>
          <a:prstGeom prst="rect">
            <a:avLst/>
          </a:prstGeom>
          <a:noFill/>
        </p:spPr>
        <p:txBody>
          <a:bodyPr wrap="square" rtlCol="0" anchor="t">
            <a:spAutoFit/>
          </a:bodyPr>
          <a:p>
            <a:pPr>
              <a:lnSpc>
                <a:spcPct val="110000"/>
              </a:lnSpc>
              <a:spcBef>
                <a:spcPts val="0"/>
              </a:spcBef>
              <a:spcAft>
                <a:spcPts val="0"/>
              </a:spcAft>
            </a:pPr>
            <a:r>
              <a:rPr lang="en-US">
                <a:solidFill>
                  <a:srgbClr val="0000FF"/>
                </a:solidFill>
              </a:rPr>
              <a:t>cast(</a:t>
            </a:r>
            <a:r>
              <a:rPr lang="en-US"/>
              <a:t>‘ab’ </a:t>
            </a:r>
            <a:r>
              <a:rPr lang="en-US">
                <a:solidFill>
                  <a:srgbClr val="0000FF"/>
                </a:solidFill>
              </a:rPr>
              <a:t>as binary(2))</a:t>
            </a:r>
            <a:r>
              <a:rPr lang="en-US"/>
              <a:t> </a:t>
            </a:r>
            <a:r>
              <a:rPr lang="zh-CN" altLang="en-US"/>
              <a:t>结果为</a:t>
            </a:r>
            <a:r>
              <a:rPr lang="en-US" altLang="zh-CN"/>
              <a:t> 0</a:t>
            </a:r>
            <a:r>
              <a:rPr lang="en-US" altLang="zh-CN"/>
              <a:t>x6162</a:t>
            </a:r>
            <a:endParaRPr lang="en-US" altLang="zh-CN"/>
          </a:p>
        </p:txBody>
      </p:sp>
      <p:sp>
        <p:nvSpPr>
          <p:cNvPr id="18" name="文本框 17"/>
          <p:cNvSpPr txBox="1"/>
          <p:nvPr/>
        </p:nvSpPr>
        <p:spPr>
          <a:xfrm>
            <a:off x="715010" y="2804160"/>
            <a:ext cx="690880" cy="46037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0"/>
              </a:spcBef>
              <a:buClrTx/>
              <a:buSzTx/>
              <a:buFont typeface="Arial" panose="020B0604020202020204" pitchFamily="34" charset="0"/>
              <a:buNone/>
            </a:pPr>
            <a:r>
              <a:rPr lang="zh-CN" altLang="en-US" dirty="0">
                <a:solidFill>
                  <a:srgbClr val="0000FF"/>
                </a:solidFill>
                <a:sym typeface="+mn-ea"/>
              </a:rPr>
              <a:t>例</a:t>
            </a:r>
            <a:r>
              <a:rPr lang="en-US" altLang="zh-CN" dirty="0">
                <a:solidFill>
                  <a:srgbClr val="0000FF"/>
                </a:solidFill>
                <a:sym typeface="+mn-ea"/>
              </a:rPr>
              <a:t>5</a:t>
            </a:r>
            <a:r>
              <a:rPr lang="zh-CN" altLang="en-US" dirty="0">
                <a:solidFill>
                  <a:srgbClr val="0000FF"/>
                </a:solidFill>
                <a:sym typeface="+mn-ea"/>
              </a:rPr>
              <a:t>：</a:t>
            </a:r>
            <a:endParaRPr lang="zh-CN" altLang="en-US" dirty="0">
              <a:solidFill>
                <a:srgbClr val="0000FF"/>
              </a:solidFill>
              <a:sym typeface="+mn-ea"/>
            </a:endParaRPr>
          </a:p>
        </p:txBody>
      </p:sp>
      <p:sp>
        <p:nvSpPr>
          <p:cNvPr id="4" name="文本框 3"/>
          <p:cNvSpPr txBox="1"/>
          <p:nvPr>
            <p:custDataLst>
              <p:tags r:id="rId2"/>
            </p:custDataLst>
          </p:nvPr>
        </p:nvSpPr>
        <p:spPr>
          <a:xfrm>
            <a:off x="715010" y="3326765"/>
            <a:ext cx="6323330" cy="398780"/>
          </a:xfrm>
          <a:prstGeom prst="rect">
            <a:avLst/>
          </a:prstGeom>
          <a:noFill/>
        </p:spPr>
        <p:txBody>
          <a:bodyPr wrap="square" rtlCol="0" anchor="t">
            <a:spAutoFit/>
          </a:bodyPr>
          <a:p>
            <a:r>
              <a:rPr lang="en-US" altLang="zh-CN" sz="2000" dirty="0">
                <a:solidFill>
                  <a:srgbClr val="FF0000"/>
                </a:solidFill>
                <a:sym typeface="+mn-ea"/>
              </a:rPr>
              <a:t>convert(</a:t>
            </a:r>
            <a:r>
              <a:rPr lang="zh-CN" altLang="en-US" sz="2000" dirty="0">
                <a:solidFill>
                  <a:srgbClr val="FF0000"/>
                </a:solidFill>
                <a:sym typeface="+mn-ea"/>
              </a:rPr>
              <a:t>类型符</a:t>
            </a:r>
            <a:r>
              <a:rPr lang="en-US" altLang="zh-CN" sz="2000" dirty="0">
                <a:solidFill>
                  <a:srgbClr val="FF0000"/>
                </a:solidFill>
                <a:sym typeface="+mn-ea"/>
              </a:rPr>
              <a:t>,</a:t>
            </a:r>
            <a:r>
              <a:rPr lang="zh-CN" altLang="en-US" sz="2000" dirty="0">
                <a:solidFill>
                  <a:srgbClr val="FF0000"/>
                </a:solidFill>
                <a:sym typeface="+mn-ea"/>
              </a:rPr>
              <a:t>表达式</a:t>
            </a:r>
            <a:r>
              <a:rPr lang="en-US" altLang="zh-CN" sz="2000" dirty="0">
                <a:solidFill>
                  <a:srgbClr val="FF0000"/>
                </a:solidFill>
                <a:sym typeface="+mn-ea"/>
              </a:rPr>
              <a:t>[,style])</a:t>
            </a:r>
            <a:endParaRPr lang="en-US" altLang="zh-CN" sz="2000" dirty="0">
              <a:solidFill>
                <a:srgbClr val="FF0000"/>
              </a:solidFill>
              <a:sym typeface="+mn-ea"/>
            </a:endParaRPr>
          </a:p>
        </p:txBody>
      </p:sp>
      <p:sp>
        <p:nvSpPr>
          <p:cNvPr id="7" name="文本框 20"/>
          <p:cNvSpPr txBox="1"/>
          <p:nvPr/>
        </p:nvSpPr>
        <p:spPr>
          <a:xfrm>
            <a:off x="4483735" y="3343275"/>
            <a:ext cx="4605655" cy="39878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dirty="0">
                <a:sym typeface="+mn-ea"/>
              </a:rPr>
              <a:t>style(</a:t>
            </a:r>
            <a:r>
              <a:rPr lang="zh-CN" altLang="en-US" dirty="0">
                <a:sym typeface="+mn-ea"/>
              </a:rPr>
              <a:t>样式</a:t>
            </a:r>
            <a:r>
              <a:rPr lang="en-US" altLang="zh-CN" dirty="0">
                <a:sym typeface="+mn-ea"/>
              </a:rPr>
              <a:t>)</a:t>
            </a:r>
            <a:r>
              <a:rPr lang="zh-CN" altLang="en-US" dirty="0">
                <a:sym typeface="+mn-ea"/>
              </a:rPr>
              <a:t>参数来指定日期时间的</a:t>
            </a:r>
            <a:r>
              <a:rPr lang="zh-CN" altLang="en-US" dirty="0">
                <a:sym typeface="+mn-ea"/>
              </a:rPr>
              <a:t>格式</a:t>
            </a:r>
            <a:endParaRPr lang="zh-CN" altLang="en-US" dirty="0">
              <a:sym typeface="+mn-ea"/>
            </a:endParaRPr>
          </a:p>
        </p:txBody>
      </p:sp>
      <p:graphicFrame>
        <p:nvGraphicFramePr>
          <p:cNvPr id="11" name="表格 10"/>
          <p:cNvGraphicFramePr/>
          <p:nvPr>
            <p:custDataLst>
              <p:tags r:id="rId3"/>
            </p:custDataLst>
          </p:nvPr>
        </p:nvGraphicFramePr>
        <p:xfrm>
          <a:off x="374650" y="3814445"/>
          <a:ext cx="8382000" cy="2217420"/>
        </p:xfrm>
        <a:graphic>
          <a:graphicData uri="http://schemas.openxmlformats.org/drawingml/2006/table">
            <a:tbl>
              <a:tblPr firstRow="1" bandRow="1">
                <a:tableStyleId>{5C22544A-7EE6-4342-B048-85BDC9FD1C3A}</a:tableStyleId>
              </a:tblPr>
              <a:tblGrid>
                <a:gridCol w="1627505"/>
                <a:gridCol w="2563495"/>
                <a:gridCol w="1830705"/>
                <a:gridCol w="2360295"/>
              </a:tblGrid>
              <a:tr h="369570">
                <a:tc>
                  <a:txBody>
                    <a:bodyPr/>
                    <a:p>
                      <a:pPr algn="ctr">
                        <a:buNone/>
                      </a:pPr>
                      <a:r>
                        <a:rPr lang="en-US" altLang="zh-CN">
                          <a:solidFill>
                            <a:srgbClr val="0000FF"/>
                          </a:solidFill>
                        </a:rPr>
                        <a:t>Style</a:t>
                      </a:r>
                      <a:r>
                        <a:rPr lang="zh-CN" altLang="en-US">
                          <a:solidFill>
                            <a:srgbClr val="0000FF"/>
                          </a:solidFill>
                        </a:rPr>
                        <a:t>取值</a:t>
                      </a:r>
                      <a:endParaRPr lang="zh-CN" altLang="en-US">
                        <a:solidFill>
                          <a:srgbClr val="0000FF"/>
                        </a:solidFill>
                      </a:endParaRPr>
                    </a:p>
                  </a:txBody>
                  <a:tcPr/>
                </a:tc>
                <a:tc>
                  <a:txBody>
                    <a:bodyPr/>
                    <a:p>
                      <a:pPr algn="ctr">
                        <a:buNone/>
                      </a:pPr>
                      <a:r>
                        <a:rPr lang="zh-CN" altLang="en-US">
                          <a:solidFill>
                            <a:srgbClr val="0000FF"/>
                          </a:solidFill>
                        </a:rPr>
                        <a:t>输出格式</a:t>
                      </a:r>
                      <a:endParaRPr lang="zh-CN" altLang="en-US">
                        <a:solidFill>
                          <a:srgbClr val="0000FF"/>
                        </a:solidFill>
                      </a:endParaRPr>
                    </a:p>
                  </a:txBody>
                  <a:tcPr/>
                </a:tc>
                <a:tc>
                  <a:txBody>
                    <a:bodyPr/>
                    <a:p>
                      <a:pPr algn="ctr">
                        <a:buNone/>
                      </a:pPr>
                      <a:r>
                        <a:rPr lang="en-US" altLang="zh-CN">
                          <a:solidFill>
                            <a:srgbClr val="0000FF"/>
                          </a:solidFill>
                        </a:rPr>
                        <a:t>Style</a:t>
                      </a:r>
                      <a:r>
                        <a:rPr lang="zh-CN" altLang="en-US">
                          <a:solidFill>
                            <a:srgbClr val="0000FF"/>
                          </a:solidFill>
                        </a:rPr>
                        <a:t>取值</a:t>
                      </a:r>
                      <a:endParaRPr lang="zh-CN" altLang="en-US">
                        <a:solidFill>
                          <a:srgbClr val="0000FF"/>
                        </a:solidFill>
                      </a:endParaRPr>
                    </a:p>
                  </a:txBody>
                  <a:tcPr/>
                </a:tc>
                <a:tc>
                  <a:txBody>
                    <a:bodyPr/>
                    <a:p>
                      <a:pPr algn="ctr">
                        <a:buNone/>
                      </a:pPr>
                      <a:r>
                        <a:rPr lang="zh-CN" altLang="en-US">
                          <a:solidFill>
                            <a:srgbClr val="0000FF"/>
                          </a:solidFill>
                        </a:rPr>
                        <a:t>输出格式</a:t>
                      </a:r>
                      <a:endParaRPr lang="zh-CN" altLang="en-US">
                        <a:solidFill>
                          <a:srgbClr val="0000FF"/>
                        </a:solidFill>
                      </a:endParaRPr>
                    </a:p>
                  </a:txBody>
                  <a:tcPr/>
                </a:tc>
              </a:tr>
              <a:tr h="369570">
                <a:tc>
                  <a:txBody>
                    <a:bodyPr/>
                    <a:p>
                      <a:pPr algn="ctr">
                        <a:buNone/>
                      </a:pPr>
                      <a:r>
                        <a:rPr lang="en-US" altLang="zh-CN"/>
                        <a:t>1</a:t>
                      </a:r>
                      <a:endParaRPr lang="en-US" altLang="zh-CN"/>
                    </a:p>
                  </a:txBody>
                  <a:tcPr/>
                </a:tc>
                <a:tc>
                  <a:txBody>
                    <a:bodyPr/>
                    <a:p>
                      <a:pPr algn="ctr">
                        <a:buNone/>
                      </a:pPr>
                      <a:r>
                        <a:rPr lang="en-US" altLang="zh-CN"/>
                        <a:t>mm/dd/yy</a:t>
                      </a:r>
                      <a:endParaRPr lang="en-US" altLang="zh-CN"/>
                    </a:p>
                  </a:txBody>
                  <a:tcPr/>
                </a:tc>
                <a:tc>
                  <a:txBody>
                    <a:bodyPr/>
                    <a:p>
                      <a:pPr algn="ctr">
                        <a:buNone/>
                      </a:pPr>
                      <a:r>
                        <a:rPr lang="en-US" altLang="zh-CN"/>
                        <a:t>101</a:t>
                      </a:r>
                      <a:endParaRPr lang="en-US" altLang="zh-CN"/>
                    </a:p>
                  </a:txBody>
                  <a:tcPr/>
                </a:tc>
                <a:tc>
                  <a:txBody>
                    <a:bodyPr/>
                    <a:p>
                      <a:pPr algn="ctr">
                        <a:buNone/>
                      </a:pPr>
                      <a:r>
                        <a:rPr lang="en-US" altLang="zh-CN" sz="1800">
                          <a:sym typeface="+mn-ea"/>
                        </a:rPr>
                        <a:t>mm/dd/yyyy</a:t>
                      </a:r>
                      <a:endParaRPr lang="zh-CN" altLang="en-US"/>
                    </a:p>
                  </a:txBody>
                  <a:tcPr/>
                </a:tc>
              </a:tr>
              <a:tr h="369570">
                <a:tc>
                  <a:txBody>
                    <a:bodyPr/>
                    <a:p>
                      <a:pPr algn="ctr">
                        <a:buNone/>
                      </a:pPr>
                      <a:r>
                        <a:rPr lang="en-US" altLang="zh-CN"/>
                        <a:t>2</a:t>
                      </a:r>
                      <a:endParaRPr lang="en-US" altLang="zh-CN"/>
                    </a:p>
                  </a:txBody>
                  <a:tcPr/>
                </a:tc>
                <a:tc>
                  <a:txBody>
                    <a:bodyPr/>
                    <a:p>
                      <a:pPr algn="ctr">
                        <a:buNone/>
                      </a:pPr>
                      <a:r>
                        <a:rPr lang="en-US" altLang="zh-CN"/>
                        <a:t>yy.mm.dd</a:t>
                      </a:r>
                      <a:endParaRPr lang="en-US" altLang="zh-CN"/>
                    </a:p>
                  </a:txBody>
                  <a:tcPr/>
                </a:tc>
                <a:tc>
                  <a:txBody>
                    <a:bodyPr/>
                    <a:p>
                      <a:pPr algn="ctr">
                        <a:buNone/>
                      </a:pPr>
                      <a:r>
                        <a:rPr lang="en-US" altLang="zh-CN"/>
                        <a:t>102</a:t>
                      </a:r>
                      <a:endParaRPr lang="en-US" altLang="zh-CN"/>
                    </a:p>
                  </a:txBody>
                  <a:tcPr/>
                </a:tc>
                <a:tc>
                  <a:txBody>
                    <a:bodyPr/>
                    <a:p>
                      <a:pPr algn="ctr">
                        <a:buNone/>
                      </a:pPr>
                      <a:r>
                        <a:rPr lang="en-US" altLang="zh-CN" sz="1800">
                          <a:sym typeface="+mn-ea"/>
                        </a:rPr>
                        <a:t>yyyy.mm.dd</a:t>
                      </a:r>
                      <a:endParaRPr lang="zh-CN" altLang="en-US"/>
                    </a:p>
                  </a:txBody>
                  <a:tcPr/>
                </a:tc>
              </a:tr>
              <a:tr h="369570">
                <a:tc>
                  <a:txBody>
                    <a:bodyPr/>
                    <a:p>
                      <a:pPr algn="ctr">
                        <a:buNone/>
                      </a:pPr>
                      <a:r>
                        <a:rPr lang="en-US" altLang="zh-CN"/>
                        <a:t>3</a:t>
                      </a:r>
                      <a:endParaRPr lang="en-US" altLang="zh-CN"/>
                    </a:p>
                  </a:txBody>
                  <a:tcPr/>
                </a:tc>
                <a:tc>
                  <a:txBody>
                    <a:bodyPr/>
                    <a:p>
                      <a:pPr algn="ctr">
                        <a:buNone/>
                      </a:pPr>
                      <a:r>
                        <a:rPr lang="en-US" altLang="zh-CN"/>
                        <a:t>dd/mm/yy</a:t>
                      </a:r>
                      <a:endParaRPr lang="en-US" altLang="zh-CN"/>
                    </a:p>
                  </a:txBody>
                  <a:tcPr/>
                </a:tc>
                <a:tc>
                  <a:txBody>
                    <a:bodyPr/>
                    <a:p>
                      <a:pPr algn="ctr">
                        <a:buNone/>
                      </a:pPr>
                      <a:r>
                        <a:rPr lang="en-US" altLang="zh-CN"/>
                        <a:t>103</a:t>
                      </a:r>
                      <a:endParaRPr lang="en-US" altLang="zh-CN"/>
                    </a:p>
                  </a:txBody>
                  <a:tcPr/>
                </a:tc>
                <a:tc>
                  <a:txBody>
                    <a:bodyPr/>
                    <a:p>
                      <a:pPr algn="ctr">
                        <a:buNone/>
                      </a:pPr>
                      <a:r>
                        <a:rPr lang="en-US" altLang="zh-CN" sz="1800">
                          <a:sym typeface="+mn-ea"/>
                        </a:rPr>
                        <a:t>dd/mm/yyyy</a:t>
                      </a:r>
                      <a:endParaRPr lang="zh-CN" altLang="en-US"/>
                    </a:p>
                  </a:txBody>
                  <a:tcPr/>
                </a:tc>
              </a:tr>
              <a:tr h="369570">
                <a:tc>
                  <a:txBody>
                    <a:bodyPr/>
                    <a:p>
                      <a:pPr algn="ctr">
                        <a:buNone/>
                      </a:pPr>
                      <a:r>
                        <a:rPr lang="en-US" altLang="zh-CN"/>
                        <a:t>4</a:t>
                      </a:r>
                      <a:endParaRPr lang="en-US" altLang="zh-CN"/>
                    </a:p>
                  </a:txBody>
                  <a:tcPr/>
                </a:tc>
                <a:tc>
                  <a:txBody>
                    <a:bodyPr/>
                    <a:p>
                      <a:pPr algn="ctr">
                        <a:buNone/>
                      </a:pPr>
                      <a:r>
                        <a:rPr lang="en-US" altLang="zh-CN"/>
                        <a:t>dd.mm.yy</a:t>
                      </a:r>
                      <a:endParaRPr lang="en-US" altLang="zh-CN"/>
                    </a:p>
                  </a:txBody>
                  <a:tcPr/>
                </a:tc>
                <a:tc>
                  <a:txBody>
                    <a:bodyPr/>
                    <a:p>
                      <a:pPr algn="ctr">
                        <a:buNone/>
                      </a:pPr>
                      <a:r>
                        <a:rPr lang="en-US" altLang="zh-CN"/>
                        <a:t>104</a:t>
                      </a:r>
                      <a:endParaRPr lang="en-US" altLang="zh-CN"/>
                    </a:p>
                  </a:txBody>
                  <a:tcPr/>
                </a:tc>
                <a:tc>
                  <a:txBody>
                    <a:bodyPr/>
                    <a:p>
                      <a:pPr algn="ctr">
                        <a:buNone/>
                      </a:pPr>
                      <a:r>
                        <a:rPr lang="en-US" altLang="zh-CN" sz="1800">
                          <a:sym typeface="+mn-ea"/>
                        </a:rPr>
                        <a:t>dd.mm.yyyy</a:t>
                      </a:r>
                      <a:endParaRPr lang="zh-CN" altLang="en-US"/>
                    </a:p>
                  </a:txBody>
                  <a:tcPr/>
                </a:tc>
              </a:tr>
              <a:tr h="369570">
                <a:tc>
                  <a:txBody>
                    <a:bodyPr/>
                    <a:p>
                      <a:pPr algn="ctr">
                        <a:buNone/>
                      </a:pPr>
                      <a:r>
                        <a:rPr lang="en-US" altLang="zh-CN"/>
                        <a:t>5</a:t>
                      </a:r>
                      <a:endParaRPr lang="en-US" altLang="zh-CN"/>
                    </a:p>
                  </a:txBody>
                  <a:tcPr/>
                </a:tc>
                <a:tc>
                  <a:txBody>
                    <a:bodyPr/>
                    <a:p>
                      <a:pPr algn="ctr">
                        <a:buNone/>
                      </a:pPr>
                      <a:r>
                        <a:rPr lang="en-US" altLang="zh-CN"/>
                        <a:t>dd-mm-yy</a:t>
                      </a:r>
                      <a:endParaRPr lang="en-US" altLang="zh-CN"/>
                    </a:p>
                  </a:txBody>
                  <a:tcPr/>
                </a:tc>
                <a:tc>
                  <a:txBody>
                    <a:bodyPr/>
                    <a:p>
                      <a:pPr algn="ctr">
                        <a:buNone/>
                      </a:pPr>
                      <a:r>
                        <a:rPr lang="en-US" altLang="zh-CN"/>
                        <a:t>105</a:t>
                      </a:r>
                      <a:endParaRPr lang="en-US" altLang="zh-CN"/>
                    </a:p>
                  </a:txBody>
                  <a:tcPr/>
                </a:tc>
                <a:tc>
                  <a:txBody>
                    <a:bodyPr/>
                    <a:p>
                      <a:pPr algn="ctr">
                        <a:buNone/>
                      </a:pPr>
                      <a:r>
                        <a:rPr lang="en-US" altLang="zh-CN" sz="1800">
                          <a:sym typeface="+mn-ea"/>
                        </a:rPr>
                        <a:t>dd-mm-yyyy</a:t>
                      </a:r>
                      <a:endParaRPr lang="zh-CN" altLang="en-US"/>
                    </a:p>
                  </a:txBody>
                  <a:tcPr/>
                </a:tc>
              </a:tr>
            </a:tbl>
          </a:graphicData>
        </a:graphic>
      </p:graphicFrame>
      <p:sp>
        <p:nvSpPr>
          <p:cNvPr id="14" name="文本框 13"/>
          <p:cNvSpPr txBox="1"/>
          <p:nvPr/>
        </p:nvSpPr>
        <p:spPr>
          <a:xfrm>
            <a:off x="3152140" y="3343275"/>
            <a:ext cx="5692775" cy="1207135"/>
          </a:xfrm>
          <a:prstGeom prst="rect">
            <a:avLst/>
          </a:prstGeom>
          <a:solidFill>
            <a:schemeClr val="bg1"/>
          </a:solidFill>
          <a:ln>
            <a:solidFill>
              <a:schemeClr val="accent2"/>
            </a:solidFill>
          </a:ln>
        </p:spPr>
        <p:txBody>
          <a:bodyPr wrap="square" rtlCol="0" anchor="t">
            <a:spAutoFit/>
          </a:bodyPr>
          <a:p>
            <a:pPr>
              <a:lnSpc>
                <a:spcPct val="125000"/>
              </a:lnSpc>
              <a:spcBef>
                <a:spcPts val="0"/>
              </a:spcBef>
              <a:spcAft>
                <a:spcPts val="0"/>
              </a:spcAft>
            </a:pPr>
            <a:r>
              <a:rPr lang="zh-CN" sz="2200">
                <a:solidFill>
                  <a:srgbClr val="0000FF"/>
                </a:solidFill>
              </a:rPr>
              <a:t>例</a:t>
            </a:r>
            <a:r>
              <a:rPr lang="en-US" altLang="zh-CN" sz="2200">
                <a:solidFill>
                  <a:srgbClr val="0000FF"/>
                </a:solidFill>
              </a:rPr>
              <a:t>5</a:t>
            </a:r>
            <a:r>
              <a:rPr lang="zh-CN" sz="2200">
                <a:solidFill>
                  <a:srgbClr val="0000FF"/>
                </a:solidFill>
              </a:rPr>
              <a:t>：</a:t>
            </a:r>
            <a:r>
              <a:rPr>
                <a:solidFill>
                  <a:srgbClr val="C00000"/>
                </a:solidFill>
              </a:rPr>
              <a:t>SELECT CONVERT</a:t>
            </a:r>
            <a:r>
              <a:t>(</a:t>
            </a:r>
            <a:r>
              <a:rPr>
                <a:solidFill>
                  <a:srgbClr val="0000FF"/>
                </a:solidFill>
              </a:rPr>
              <a:t>char(20)</a:t>
            </a:r>
            <a:r>
              <a:t>,birthdate,</a:t>
            </a:r>
            <a:r>
              <a:rPr>
                <a:solidFill>
                  <a:srgbClr val="0000FF"/>
                </a:solidFill>
              </a:rPr>
              <a:t>105</a:t>
            </a:r>
            <a:r>
              <a:t>) </a:t>
            </a:r>
            <a:r>
              <a:rPr>
                <a:solidFill>
                  <a:srgbClr val="CC0000"/>
                </a:solidFill>
              </a:rPr>
              <a:t>FROM</a:t>
            </a:r>
            <a:r>
              <a:t> stu </a:t>
            </a:r>
            <a:r>
              <a:rPr>
                <a:solidFill>
                  <a:srgbClr val="CC0000"/>
                </a:solidFill>
              </a:rPr>
              <a:t>WHERE</a:t>
            </a:r>
            <a:r>
              <a:t> sid='2015031001'</a:t>
            </a:r>
          </a:p>
          <a:p>
            <a:pPr>
              <a:lnSpc>
                <a:spcPct val="125000"/>
              </a:lnSpc>
              <a:spcBef>
                <a:spcPts val="0"/>
              </a:spcBef>
              <a:spcAft>
                <a:spcPts val="0"/>
              </a:spcAft>
            </a:pPr>
            <a:r>
              <a:rPr lang="zh-CN" altLang="en-US">
                <a:solidFill>
                  <a:schemeClr val="tx1"/>
                </a:solidFill>
              </a:rPr>
              <a:t>其中：</a:t>
            </a:r>
            <a:r>
              <a:rPr>
                <a:sym typeface="+mn-ea"/>
              </a:rPr>
              <a:t>birthdate</a:t>
            </a:r>
            <a:r>
              <a:rPr lang="zh-CN" altLang="en-US">
                <a:sym typeface="+mn-ea"/>
              </a:rPr>
              <a:t>为日期型，返回值为</a:t>
            </a:r>
            <a:r>
              <a:rPr lang="en-US" altLang="zh-CN">
                <a:sym typeface="+mn-ea"/>
              </a:rPr>
              <a:t>“30-06-2000”</a:t>
            </a:r>
            <a:endParaRPr lang="en-US" altLang="zh-CN">
              <a:sym typeface="+mn-ea"/>
            </a:endParaRPr>
          </a:p>
        </p:txBody>
      </p:sp>
      <p:pic>
        <p:nvPicPr>
          <p:cNvPr id="2" name="图片 1"/>
          <p:cNvPicPr>
            <a:picLocks noChangeAspect="1"/>
          </p:cNvPicPr>
          <p:nvPr/>
        </p:nvPicPr>
        <p:blipFill>
          <a:blip r:embed="rId4"/>
          <a:stretch>
            <a:fillRect/>
          </a:stretch>
        </p:blipFill>
        <p:spPr>
          <a:xfrm>
            <a:off x="3808095" y="4590415"/>
            <a:ext cx="5036820" cy="1600200"/>
          </a:xfrm>
          <a:prstGeom prst="rect">
            <a:avLst/>
          </a:prstGeom>
          <a:ln>
            <a:solidFill>
              <a:schemeClr val="accent1"/>
            </a:solid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fill="hold"/>
                                        <p:tgtEl>
                                          <p:spTgt spid="14"/>
                                        </p:tgtEl>
                                        <p:attrNameLst>
                                          <p:attrName>ppt_x</p:attrName>
                                        </p:attrNameLst>
                                      </p:cBhvr>
                                      <p:tavLst>
                                        <p:tav tm="0">
                                          <p:val>
                                            <p:strVal val="#ppt_x"/>
                                          </p:val>
                                        </p:tav>
                                        <p:tav tm="100000">
                                          <p:val>
                                            <p:strVal val="#ppt_x"/>
                                          </p:val>
                                        </p:tav>
                                      </p:tavLst>
                                    </p:anim>
                                    <p:anim calcmode="lin" valueType="num">
                                      <p:cBhvr additive="base">
                                        <p:cTn id="1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ldLvl="0" animBg="1"/>
      <p:bldP spid="14" grpId="1" animBg="1"/>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5"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1" charset="-122"/>
              </a:rPr>
              <a:t>四、</a:t>
            </a:r>
            <a:r>
              <a:rPr lang="en-US" altLang="zh-CN" sz="3200" dirty="0">
                <a:solidFill>
                  <a:srgbClr val="FF0000"/>
                </a:solidFill>
                <a:ea typeface="黑体" panose="02010609060101010101" pitchFamily="1" charset="-122"/>
              </a:rPr>
              <a:t>T-SQL</a:t>
            </a:r>
            <a:r>
              <a:rPr lang="zh-CN" altLang="en-US" sz="3200" dirty="0">
                <a:solidFill>
                  <a:srgbClr val="FF0000"/>
                </a:solidFill>
                <a:ea typeface="黑体" panose="02010609060101010101" pitchFamily="1" charset="-122"/>
              </a:rPr>
              <a:t>编程</a:t>
            </a:r>
            <a:endParaRPr lang="zh-CN" altLang="en-US" sz="3200" dirty="0">
              <a:solidFill>
                <a:srgbClr val="FF0000"/>
              </a:solidFill>
              <a:ea typeface="黑体" panose="02010609060101010101" pitchFamily="1" charset="-122"/>
            </a:endParaRPr>
          </a:p>
        </p:txBody>
      </p:sp>
      <p:sp>
        <p:nvSpPr>
          <p:cNvPr id="101379" name="Rectangle 3"/>
          <p:cNvSpPr txBox="1"/>
          <p:nvPr/>
        </p:nvSpPr>
        <p:spPr>
          <a:xfrm>
            <a:off x="332740" y="830898"/>
            <a:ext cx="8642350" cy="747712"/>
          </a:xfrm>
          <a:prstGeom prst="rect">
            <a:avLst/>
          </a:prstGeom>
          <a:noFill/>
          <a:ln w="9525">
            <a:noFill/>
          </a:ln>
        </p:spPr>
        <p:txBody>
          <a:bodyPr anchor="t" anchorCtr="0"/>
          <a:p>
            <a:pPr>
              <a:buFont typeface="Wingdings" panose="05000000000000000000" pitchFamily="2" charset="2"/>
            </a:pPr>
            <a:r>
              <a:rPr lang="en-US" altLang="zh-CN" sz="2400" dirty="0">
                <a:solidFill>
                  <a:srgbClr val="3333CC"/>
                </a:solidFill>
                <a:latin typeface="宋体" panose="02010600030101010101" pitchFamily="2" charset="-122"/>
                <a:ea typeface="黑体" panose="02010609060101010101" pitchFamily="1" charset="-122"/>
              </a:rPr>
              <a:t>2.</a:t>
            </a:r>
            <a:r>
              <a:rPr lang="zh-CN" altLang="en-US" sz="2400" dirty="0">
                <a:solidFill>
                  <a:srgbClr val="3333CC"/>
                </a:solidFill>
                <a:latin typeface="宋体" panose="02010600030101010101" pitchFamily="2" charset="-122"/>
                <a:ea typeface="黑体" panose="02010609060101010101" pitchFamily="1" charset="-122"/>
              </a:rPr>
              <a:t>函数</a:t>
            </a:r>
            <a:endParaRPr lang="zh-CN" altLang="en-US" sz="2400" dirty="0">
              <a:solidFill>
                <a:srgbClr val="3333CC"/>
              </a:solidFill>
              <a:latin typeface="宋体" panose="02010600030101010101" pitchFamily="2" charset="-122"/>
              <a:ea typeface="黑体" panose="02010609060101010101" pitchFamily="1" charset="-122"/>
            </a:endParaRPr>
          </a:p>
        </p:txBody>
      </p:sp>
      <p:sp>
        <p:nvSpPr>
          <p:cNvPr id="3" name="文本框 2"/>
          <p:cNvSpPr txBox="1"/>
          <p:nvPr/>
        </p:nvSpPr>
        <p:spPr>
          <a:xfrm>
            <a:off x="404495" y="1269365"/>
            <a:ext cx="4572000" cy="429895"/>
          </a:xfrm>
          <a:prstGeom prst="rect">
            <a:avLst/>
          </a:prstGeom>
          <a:noFill/>
        </p:spPr>
        <p:txBody>
          <a:bodyPr wrap="square" rtlCol="0" anchor="t">
            <a:spAutoFit/>
          </a:bodyPr>
          <a:p>
            <a:pPr marL="342900" lvl="0" indent="-342900" eaLnBrk="1" hangingPunct="1">
              <a:buFont typeface="Arial" panose="020B0604020202020204" pitchFamily="34" charset="0"/>
              <a:buNone/>
            </a:pPr>
            <a:r>
              <a:rPr lang="zh-CN" altLang="en-US" sz="2200" dirty="0">
                <a:solidFill>
                  <a:srgbClr val="0000FF"/>
                </a:solidFill>
                <a:latin typeface="华文中宋" panose="02010600040101010101" charset="-122"/>
                <a:ea typeface="华文中宋" panose="02010600040101010101" charset="-122"/>
                <a:cs typeface="华文中宋" panose="02010600040101010101" charset="-122"/>
                <a:sym typeface="+mn-ea"/>
              </a:rPr>
              <a:t>（</a:t>
            </a:r>
            <a:r>
              <a:rPr lang="en-US" altLang="zh-CN" sz="2200" dirty="0">
                <a:solidFill>
                  <a:srgbClr val="0000FF"/>
                </a:solidFill>
                <a:latin typeface="华文中宋" panose="02010600040101010101" charset="-122"/>
                <a:ea typeface="华文中宋" panose="02010600040101010101" charset="-122"/>
                <a:cs typeface="华文中宋" panose="02010600040101010101" charset="-122"/>
                <a:sym typeface="+mn-ea"/>
              </a:rPr>
              <a:t>2</a:t>
            </a:r>
            <a:r>
              <a:rPr lang="zh-CN" altLang="en-US" sz="2200" dirty="0">
                <a:solidFill>
                  <a:srgbClr val="0000FF"/>
                </a:solidFill>
                <a:latin typeface="华文中宋" panose="02010600040101010101" charset="-122"/>
                <a:ea typeface="华文中宋" panose="02010600040101010101" charset="-122"/>
                <a:cs typeface="华文中宋" panose="02010600040101010101" charset="-122"/>
                <a:sym typeface="+mn-ea"/>
              </a:rPr>
              <a:t>）时间</a:t>
            </a:r>
            <a:r>
              <a:rPr lang="zh-CN" altLang="en-US" sz="2200" dirty="0">
                <a:solidFill>
                  <a:srgbClr val="0000FF"/>
                </a:solidFill>
                <a:latin typeface="华文中宋" panose="02010600040101010101" charset="-122"/>
                <a:ea typeface="华文中宋" panose="02010600040101010101" charset="-122"/>
                <a:cs typeface="华文中宋" panose="02010600040101010101" charset="-122"/>
                <a:sym typeface="+mn-ea"/>
              </a:rPr>
              <a:t>函数</a:t>
            </a:r>
            <a:endParaRPr lang="zh-CN" altLang="en-US" sz="2200" dirty="0">
              <a:solidFill>
                <a:srgbClr val="0000FF"/>
              </a:solidFill>
              <a:latin typeface="华文中宋" panose="02010600040101010101" charset="-122"/>
              <a:ea typeface="华文中宋" panose="02010600040101010101" charset="-122"/>
              <a:cs typeface="华文中宋" panose="02010600040101010101" charset="-122"/>
              <a:sym typeface="+mn-ea"/>
            </a:endParaRPr>
          </a:p>
        </p:txBody>
      </p:sp>
      <p:sp>
        <p:nvSpPr>
          <p:cNvPr id="5" name="文本框 4"/>
          <p:cNvSpPr txBox="1"/>
          <p:nvPr>
            <p:custDataLst>
              <p:tags r:id="rId1"/>
            </p:custDataLst>
          </p:nvPr>
        </p:nvSpPr>
        <p:spPr>
          <a:xfrm>
            <a:off x="457200" y="1699260"/>
            <a:ext cx="8578215" cy="3046095"/>
          </a:xfrm>
          <a:prstGeom prst="rect">
            <a:avLst/>
          </a:prstGeom>
          <a:noFill/>
        </p:spPr>
        <p:txBody>
          <a:bodyPr wrap="square" rtlCol="0" anchor="t">
            <a:spAutoFit/>
          </a:bodyPr>
          <a:p>
            <a:pPr marL="342900" indent="-342900">
              <a:lnSpc>
                <a:spcPct val="120000"/>
              </a:lnSpc>
              <a:spcBef>
                <a:spcPts val="0"/>
              </a:spcBef>
              <a:spcAft>
                <a:spcPts val="0"/>
              </a:spcAft>
              <a:buFont typeface="Wingdings" panose="05000000000000000000" charset="0"/>
              <a:buChar char="Ø"/>
            </a:pPr>
            <a:r>
              <a:rPr lang="en-US" altLang="zh-CN" sz="2000" dirty="0">
                <a:solidFill>
                  <a:srgbClr val="FF0000"/>
                </a:solidFill>
                <a:sym typeface="+mn-ea"/>
              </a:rPr>
              <a:t>getdate():</a:t>
            </a:r>
            <a:r>
              <a:rPr lang="zh-CN" altLang="en-US" sz="2000" dirty="0">
                <a:solidFill>
                  <a:schemeClr val="tx1"/>
                </a:solidFill>
                <a:sym typeface="+mn-ea"/>
              </a:rPr>
              <a:t>返回服务器操作系统时间。</a:t>
            </a:r>
            <a:endParaRPr lang="zh-CN" altLang="en-US" sz="2000" dirty="0">
              <a:solidFill>
                <a:schemeClr val="tx1"/>
              </a:solidFill>
              <a:sym typeface="+mn-ea"/>
            </a:endParaRPr>
          </a:p>
          <a:p>
            <a:pPr marL="342900" indent="-342900">
              <a:lnSpc>
                <a:spcPct val="120000"/>
              </a:lnSpc>
              <a:spcBef>
                <a:spcPts val="0"/>
              </a:spcBef>
              <a:spcAft>
                <a:spcPts val="0"/>
              </a:spcAft>
              <a:buFont typeface="Wingdings" panose="05000000000000000000" charset="0"/>
              <a:buChar char="Ø"/>
            </a:pPr>
            <a:r>
              <a:rPr lang="en-US" altLang="zh-CN" sz="2000" dirty="0">
                <a:solidFill>
                  <a:srgbClr val="FF0000"/>
                </a:solidFill>
                <a:sym typeface="+mn-ea"/>
              </a:rPr>
              <a:t>datename(</a:t>
            </a:r>
            <a:r>
              <a:rPr lang="zh-CN" altLang="en-US" sz="2000" dirty="0">
                <a:solidFill>
                  <a:srgbClr val="FF0000"/>
                </a:solidFill>
                <a:sym typeface="+mn-ea"/>
              </a:rPr>
              <a:t>日期元素</a:t>
            </a:r>
            <a:r>
              <a:rPr lang="en-US" altLang="zh-CN" sz="2000" dirty="0">
                <a:solidFill>
                  <a:srgbClr val="FF0000"/>
                </a:solidFill>
                <a:sym typeface="+mn-ea"/>
              </a:rPr>
              <a:t>,</a:t>
            </a:r>
            <a:r>
              <a:rPr lang="zh-CN" altLang="en-US" sz="2000" dirty="0">
                <a:solidFill>
                  <a:srgbClr val="FF0000"/>
                </a:solidFill>
                <a:sym typeface="+mn-ea"/>
              </a:rPr>
              <a:t>日期表达式</a:t>
            </a:r>
            <a:r>
              <a:rPr lang="en-US" altLang="zh-CN" sz="2000" dirty="0">
                <a:solidFill>
                  <a:srgbClr val="FF0000"/>
                </a:solidFill>
                <a:sym typeface="+mn-ea"/>
              </a:rPr>
              <a:t>)</a:t>
            </a:r>
            <a:r>
              <a:rPr lang="zh-CN" altLang="en-US" sz="2000" dirty="0">
                <a:solidFill>
                  <a:srgbClr val="FF0000"/>
                </a:solidFill>
                <a:sym typeface="+mn-ea"/>
              </a:rPr>
              <a:t>：</a:t>
            </a:r>
            <a:r>
              <a:rPr lang="zh-CN" altLang="en-US" sz="2000" dirty="0">
                <a:solidFill>
                  <a:schemeClr val="tx1"/>
                </a:solidFill>
                <a:sym typeface="+mn-ea"/>
              </a:rPr>
              <a:t>以字符串形式返回日期元素指定的日期</a:t>
            </a:r>
            <a:r>
              <a:rPr lang="zh-CN" altLang="en-US" sz="2000" dirty="0">
                <a:solidFill>
                  <a:schemeClr val="tx1"/>
                </a:solidFill>
                <a:sym typeface="+mn-ea"/>
              </a:rPr>
              <a:t>名称。</a:t>
            </a:r>
            <a:endParaRPr lang="zh-CN" altLang="en-US" sz="2000" dirty="0">
              <a:solidFill>
                <a:schemeClr val="tx1"/>
              </a:solidFill>
              <a:sym typeface="+mn-ea"/>
            </a:endParaRPr>
          </a:p>
          <a:p>
            <a:pPr marL="342900" indent="-342900">
              <a:lnSpc>
                <a:spcPct val="120000"/>
              </a:lnSpc>
              <a:spcBef>
                <a:spcPts val="0"/>
              </a:spcBef>
              <a:spcAft>
                <a:spcPts val="0"/>
              </a:spcAft>
              <a:buFont typeface="Wingdings" panose="05000000000000000000" charset="0"/>
              <a:buChar char="Ø"/>
            </a:pPr>
            <a:r>
              <a:rPr lang="en-US" altLang="zh-CN" sz="2000" dirty="0">
                <a:solidFill>
                  <a:srgbClr val="FF0000"/>
                </a:solidFill>
                <a:sym typeface="+mn-ea"/>
              </a:rPr>
              <a:t>datepart</a:t>
            </a:r>
            <a:r>
              <a:rPr lang="en-US" altLang="zh-CN" sz="2000" dirty="0">
                <a:solidFill>
                  <a:srgbClr val="FF0000"/>
                </a:solidFill>
                <a:sym typeface="+mn-ea"/>
              </a:rPr>
              <a:t>(</a:t>
            </a:r>
            <a:r>
              <a:rPr lang="zh-CN" altLang="en-US" sz="2000" dirty="0">
                <a:solidFill>
                  <a:srgbClr val="FF0000"/>
                </a:solidFill>
                <a:sym typeface="+mn-ea"/>
              </a:rPr>
              <a:t>日期元素</a:t>
            </a:r>
            <a:r>
              <a:rPr lang="en-US" altLang="zh-CN" sz="2000" dirty="0">
                <a:solidFill>
                  <a:srgbClr val="FF0000"/>
                </a:solidFill>
                <a:sym typeface="+mn-ea"/>
              </a:rPr>
              <a:t>,</a:t>
            </a:r>
            <a:r>
              <a:rPr lang="zh-CN" altLang="en-US" sz="2000" dirty="0">
                <a:solidFill>
                  <a:srgbClr val="FF0000"/>
                </a:solidFill>
                <a:sym typeface="+mn-ea"/>
              </a:rPr>
              <a:t>日期表达式</a:t>
            </a:r>
            <a:r>
              <a:rPr lang="en-US" altLang="zh-CN" sz="2000" dirty="0">
                <a:solidFill>
                  <a:srgbClr val="FF0000"/>
                </a:solidFill>
                <a:sym typeface="+mn-ea"/>
              </a:rPr>
              <a:t>)</a:t>
            </a:r>
            <a:r>
              <a:rPr lang="zh-CN" altLang="en-US" sz="2000" dirty="0">
                <a:solidFill>
                  <a:srgbClr val="FF0000"/>
                </a:solidFill>
                <a:sym typeface="+mn-ea"/>
              </a:rPr>
              <a:t>：</a:t>
            </a:r>
            <a:r>
              <a:rPr lang="zh-CN" altLang="en-US" sz="2000" dirty="0">
                <a:sym typeface="+mn-ea"/>
              </a:rPr>
              <a:t>以数值形式返回指定的日期</a:t>
            </a:r>
            <a:r>
              <a:rPr lang="zh-CN" altLang="en-US" sz="2000" dirty="0">
                <a:sym typeface="+mn-ea"/>
              </a:rPr>
              <a:t>名字。</a:t>
            </a:r>
            <a:endParaRPr lang="zh-CN" altLang="en-US" sz="2000" dirty="0">
              <a:sym typeface="+mn-ea"/>
            </a:endParaRPr>
          </a:p>
          <a:p>
            <a:pPr marL="342900" indent="-342900">
              <a:lnSpc>
                <a:spcPct val="120000"/>
              </a:lnSpc>
              <a:spcBef>
                <a:spcPts val="0"/>
              </a:spcBef>
              <a:spcAft>
                <a:spcPts val="0"/>
              </a:spcAft>
              <a:buFont typeface="Wingdings" panose="05000000000000000000" charset="0"/>
              <a:buChar char="Ø"/>
            </a:pPr>
            <a:r>
              <a:rPr lang="en-US" altLang="zh-CN" sz="2000" dirty="0">
                <a:solidFill>
                  <a:srgbClr val="FF0000"/>
                </a:solidFill>
                <a:sym typeface="+mn-ea"/>
              </a:rPr>
              <a:t>year/month/day(</a:t>
            </a:r>
            <a:r>
              <a:rPr lang="zh-CN" altLang="en-US" sz="2000" dirty="0">
                <a:solidFill>
                  <a:srgbClr val="FF0000"/>
                </a:solidFill>
                <a:sym typeface="+mn-ea"/>
              </a:rPr>
              <a:t>日期表达式</a:t>
            </a:r>
            <a:r>
              <a:rPr lang="en-US" altLang="zh-CN" sz="2000" dirty="0">
                <a:solidFill>
                  <a:srgbClr val="FF0000"/>
                </a:solidFill>
                <a:sym typeface="+mn-ea"/>
              </a:rPr>
              <a:t>)</a:t>
            </a:r>
            <a:r>
              <a:rPr lang="zh-CN" altLang="en-US" sz="2000" dirty="0">
                <a:solidFill>
                  <a:srgbClr val="FF0000"/>
                </a:solidFill>
                <a:sym typeface="+mn-ea"/>
              </a:rPr>
              <a:t>：</a:t>
            </a:r>
            <a:r>
              <a:rPr lang="zh-CN" altLang="en-US" sz="2000" dirty="0">
                <a:sym typeface="+mn-ea"/>
              </a:rPr>
              <a:t>分别返回日期表达式中的年、月、</a:t>
            </a:r>
            <a:r>
              <a:rPr lang="zh-CN" altLang="en-US" sz="2000" dirty="0">
                <a:sym typeface="+mn-ea"/>
              </a:rPr>
              <a:t>日。</a:t>
            </a:r>
            <a:endParaRPr lang="zh-CN" altLang="en-US" sz="2000" dirty="0">
              <a:sym typeface="+mn-ea"/>
            </a:endParaRPr>
          </a:p>
          <a:p>
            <a:pPr marL="342900" indent="-342900">
              <a:lnSpc>
                <a:spcPct val="120000"/>
              </a:lnSpc>
              <a:spcBef>
                <a:spcPts val="0"/>
              </a:spcBef>
              <a:spcAft>
                <a:spcPts val="0"/>
              </a:spcAft>
              <a:buFont typeface="Wingdings" panose="05000000000000000000" charset="0"/>
              <a:buChar char="Ø"/>
            </a:pPr>
            <a:r>
              <a:rPr lang="en-US" altLang="zh-CN" sz="2000" dirty="0">
                <a:solidFill>
                  <a:srgbClr val="FF0000"/>
                </a:solidFill>
                <a:sym typeface="+mn-ea"/>
              </a:rPr>
              <a:t>dateadd(</a:t>
            </a:r>
            <a:r>
              <a:rPr lang="zh-CN" altLang="en-US" sz="2000" dirty="0">
                <a:solidFill>
                  <a:srgbClr val="FF0000"/>
                </a:solidFill>
                <a:sym typeface="+mn-ea"/>
              </a:rPr>
              <a:t>日期元素</a:t>
            </a:r>
            <a:r>
              <a:rPr lang="en-US" altLang="zh-CN" sz="2000" dirty="0">
                <a:solidFill>
                  <a:srgbClr val="FF0000"/>
                </a:solidFill>
                <a:sym typeface="+mn-ea"/>
              </a:rPr>
              <a:t>,</a:t>
            </a:r>
            <a:r>
              <a:rPr lang="zh-CN" altLang="en-US" sz="2000" dirty="0">
                <a:solidFill>
                  <a:srgbClr val="FF0000"/>
                </a:solidFill>
                <a:sym typeface="+mn-ea"/>
              </a:rPr>
              <a:t>数值</a:t>
            </a:r>
            <a:r>
              <a:rPr lang="en-US" altLang="zh-CN" sz="2000" dirty="0">
                <a:solidFill>
                  <a:srgbClr val="FF0000"/>
                </a:solidFill>
                <a:sym typeface="+mn-ea"/>
              </a:rPr>
              <a:t>,</a:t>
            </a:r>
            <a:r>
              <a:rPr lang="zh-CN" altLang="en-US" sz="2000" dirty="0">
                <a:solidFill>
                  <a:srgbClr val="FF0000"/>
                </a:solidFill>
                <a:sym typeface="+mn-ea"/>
              </a:rPr>
              <a:t>日期表达式</a:t>
            </a:r>
            <a:r>
              <a:rPr lang="en-US" altLang="zh-CN" sz="2000" dirty="0">
                <a:solidFill>
                  <a:srgbClr val="FF0000"/>
                </a:solidFill>
                <a:sym typeface="+mn-ea"/>
              </a:rPr>
              <a:t>)</a:t>
            </a:r>
            <a:r>
              <a:rPr lang="zh-CN" altLang="en-US" sz="2000" dirty="0">
                <a:solidFill>
                  <a:srgbClr val="FF0000"/>
                </a:solidFill>
                <a:sym typeface="+mn-ea"/>
              </a:rPr>
              <a:t>：</a:t>
            </a:r>
            <a:r>
              <a:rPr lang="zh-CN" altLang="en-US" sz="2000" dirty="0">
                <a:sym typeface="+mn-ea"/>
              </a:rPr>
              <a:t>将数值转换为日期元素指定部分。</a:t>
            </a:r>
            <a:endParaRPr lang="zh-CN" altLang="en-US" sz="2000" dirty="0">
              <a:sym typeface="+mn-ea"/>
            </a:endParaRPr>
          </a:p>
          <a:p>
            <a:pPr marL="342900" indent="-342900">
              <a:lnSpc>
                <a:spcPct val="120000"/>
              </a:lnSpc>
              <a:spcBef>
                <a:spcPts val="0"/>
              </a:spcBef>
              <a:spcAft>
                <a:spcPts val="0"/>
              </a:spcAft>
              <a:buFont typeface="Wingdings" panose="05000000000000000000" charset="0"/>
              <a:buChar char="Ø"/>
            </a:pPr>
            <a:r>
              <a:rPr lang="en-US" altLang="zh-CN" sz="2000" dirty="0">
                <a:solidFill>
                  <a:srgbClr val="FF0000"/>
                </a:solidFill>
                <a:sym typeface="+mn-ea"/>
              </a:rPr>
              <a:t>datediff(</a:t>
            </a:r>
            <a:r>
              <a:rPr lang="zh-CN" altLang="en-US" sz="2000" dirty="0">
                <a:solidFill>
                  <a:srgbClr val="FF0000"/>
                </a:solidFill>
                <a:sym typeface="+mn-ea"/>
              </a:rPr>
              <a:t>日期元素</a:t>
            </a:r>
            <a:r>
              <a:rPr lang="en-US" altLang="zh-CN" sz="2000" dirty="0">
                <a:solidFill>
                  <a:srgbClr val="FF0000"/>
                </a:solidFill>
                <a:sym typeface="+mn-ea"/>
              </a:rPr>
              <a:t>,</a:t>
            </a:r>
            <a:r>
              <a:rPr lang="zh-CN" altLang="en-US" sz="2000" dirty="0">
                <a:solidFill>
                  <a:srgbClr val="FF0000"/>
                </a:solidFill>
                <a:sym typeface="+mn-ea"/>
              </a:rPr>
              <a:t>较早日期表达式</a:t>
            </a:r>
            <a:r>
              <a:rPr lang="en-US" altLang="zh-CN" sz="2000" dirty="0">
                <a:solidFill>
                  <a:srgbClr val="FF0000"/>
                </a:solidFill>
                <a:sym typeface="+mn-ea"/>
              </a:rPr>
              <a:t>,</a:t>
            </a:r>
            <a:r>
              <a:rPr lang="zh-CN" altLang="en-US" sz="2000" dirty="0">
                <a:solidFill>
                  <a:srgbClr val="FF0000"/>
                </a:solidFill>
                <a:sym typeface="+mn-ea"/>
              </a:rPr>
              <a:t>较晚日期表达式</a:t>
            </a:r>
            <a:r>
              <a:rPr lang="en-US" altLang="zh-CN" sz="2000" dirty="0">
                <a:solidFill>
                  <a:srgbClr val="FF0000"/>
                </a:solidFill>
                <a:sym typeface="+mn-ea"/>
              </a:rPr>
              <a:t>)</a:t>
            </a:r>
            <a:r>
              <a:rPr lang="zh-CN" altLang="en-US" sz="2000" dirty="0">
                <a:solidFill>
                  <a:srgbClr val="FF0000"/>
                </a:solidFill>
                <a:sym typeface="+mn-ea"/>
              </a:rPr>
              <a:t>：</a:t>
            </a:r>
            <a:r>
              <a:rPr lang="zh-CN" altLang="en-US" sz="2000" dirty="0">
                <a:sym typeface="+mn-ea"/>
              </a:rPr>
              <a:t>两个日期相减后，按日期元素指定部分转化后返回。</a:t>
            </a:r>
            <a:endParaRPr lang="zh-CN" altLang="en-US" sz="2000" dirty="0">
              <a:sym typeface="+mn-ea"/>
            </a:endParaRPr>
          </a:p>
        </p:txBody>
      </p:sp>
      <p:sp>
        <p:nvSpPr>
          <p:cNvPr id="9" name="文本框 8"/>
          <p:cNvSpPr txBox="1"/>
          <p:nvPr/>
        </p:nvSpPr>
        <p:spPr>
          <a:xfrm>
            <a:off x="2280920" y="2903855"/>
            <a:ext cx="6636385" cy="3271520"/>
          </a:xfrm>
          <a:prstGeom prst="rect">
            <a:avLst/>
          </a:prstGeom>
          <a:solidFill>
            <a:schemeClr val="bg1"/>
          </a:solidFill>
        </p:spPr>
        <p:txBody>
          <a:bodyPr wrap="square" rtlCol="0" anchor="t">
            <a:spAutoFit/>
          </a:bodyPr>
          <a:p>
            <a:pPr marL="285750" indent="-285750">
              <a:lnSpc>
                <a:spcPct val="115000"/>
              </a:lnSpc>
              <a:spcBef>
                <a:spcPts val="0"/>
              </a:spcBef>
              <a:spcAft>
                <a:spcPts val="0"/>
              </a:spcAft>
              <a:buFont typeface="Wingdings" panose="05000000000000000000" charset="0"/>
              <a:buChar char="p"/>
            </a:pPr>
            <a:r>
              <a:rPr lang="en-US" altLang="zh-CN" dirty="0">
                <a:solidFill>
                  <a:srgbClr val="0000FF"/>
                </a:solidFill>
                <a:sym typeface="+mn-ea"/>
              </a:rPr>
              <a:t>yy</a:t>
            </a:r>
            <a:r>
              <a:rPr lang="zh-CN" altLang="en-US" dirty="0">
                <a:solidFill>
                  <a:srgbClr val="0000FF"/>
                </a:solidFill>
                <a:sym typeface="+mn-ea"/>
              </a:rPr>
              <a:t>：</a:t>
            </a:r>
            <a:r>
              <a:rPr lang="zh-CN" altLang="en-US" dirty="0">
                <a:sym typeface="+mn-ea"/>
              </a:rPr>
              <a:t>返回日期表达式中的年或</a:t>
            </a:r>
            <a:r>
              <a:rPr lang="zh-CN" altLang="en-US" dirty="0">
                <a:sym typeface="+mn-ea"/>
              </a:rPr>
              <a:t>年数。</a:t>
            </a:r>
            <a:endParaRPr lang="zh-CN" altLang="en-US" dirty="0">
              <a:sym typeface="+mn-ea"/>
            </a:endParaRPr>
          </a:p>
          <a:p>
            <a:pPr marL="285750" indent="-285750">
              <a:lnSpc>
                <a:spcPct val="115000"/>
              </a:lnSpc>
              <a:spcBef>
                <a:spcPts val="0"/>
              </a:spcBef>
              <a:spcAft>
                <a:spcPts val="0"/>
              </a:spcAft>
              <a:buFont typeface="Wingdings" panose="05000000000000000000" charset="0"/>
              <a:buChar char="p"/>
            </a:pPr>
            <a:r>
              <a:rPr lang="en-US" altLang="zh-CN" sz="1800" dirty="0">
                <a:solidFill>
                  <a:srgbClr val="0000FF"/>
                </a:solidFill>
                <a:sym typeface="+mn-ea"/>
              </a:rPr>
              <a:t>qq：</a:t>
            </a:r>
            <a:r>
              <a:rPr lang="zh-CN" altLang="en-US" dirty="0">
                <a:sym typeface="+mn-ea"/>
              </a:rPr>
              <a:t>返回日期表达式中的季或季数</a:t>
            </a:r>
            <a:r>
              <a:rPr lang="zh-CN" altLang="en-US" dirty="0">
                <a:sym typeface="+mn-ea"/>
              </a:rPr>
              <a:t>。</a:t>
            </a:r>
            <a:endParaRPr lang="zh-CN" altLang="en-US" dirty="0">
              <a:sym typeface="+mn-ea"/>
            </a:endParaRPr>
          </a:p>
          <a:p>
            <a:pPr marL="285750" indent="-285750">
              <a:lnSpc>
                <a:spcPct val="115000"/>
              </a:lnSpc>
              <a:spcBef>
                <a:spcPts val="0"/>
              </a:spcBef>
              <a:spcAft>
                <a:spcPts val="0"/>
              </a:spcAft>
              <a:buFont typeface="Wingdings" panose="05000000000000000000" charset="0"/>
              <a:buChar char="p"/>
            </a:pPr>
            <a:r>
              <a:rPr lang="en-US" altLang="zh-CN" dirty="0">
                <a:solidFill>
                  <a:srgbClr val="0000FF"/>
                </a:solidFill>
                <a:sym typeface="+mn-ea"/>
              </a:rPr>
              <a:t>mm：</a:t>
            </a:r>
            <a:r>
              <a:rPr lang="zh-CN" altLang="en-US" sz="1800" dirty="0">
                <a:sym typeface="+mn-ea"/>
              </a:rPr>
              <a:t>返回日期表达式中的月或</a:t>
            </a:r>
            <a:r>
              <a:rPr lang="zh-CN" altLang="en-US" sz="1800" dirty="0">
                <a:sym typeface="+mn-ea"/>
              </a:rPr>
              <a:t>月数</a:t>
            </a:r>
            <a:r>
              <a:rPr lang="zh-CN" altLang="en-US" sz="1800" dirty="0">
                <a:sym typeface="+mn-ea"/>
              </a:rPr>
              <a:t>。</a:t>
            </a:r>
            <a:endParaRPr lang="zh-CN" altLang="en-US" sz="1800" dirty="0">
              <a:sym typeface="+mn-ea"/>
            </a:endParaRPr>
          </a:p>
          <a:p>
            <a:pPr marL="285750" indent="-285750" algn="l">
              <a:lnSpc>
                <a:spcPct val="115000"/>
              </a:lnSpc>
              <a:spcBef>
                <a:spcPts val="0"/>
              </a:spcBef>
              <a:spcAft>
                <a:spcPts val="0"/>
              </a:spcAft>
              <a:buClrTx/>
              <a:buSzTx/>
              <a:buFont typeface="Wingdings" panose="05000000000000000000" charset="0"/>
              <a:buChar char="p"/>
            </a:pPr>
            <a:r>
              <a:rPr lang="en-US" altLang="zh-CN" dirty="0">
                <a:solidFill>
                  <a:srgbClr val="0000FF"/>
                </a:solidFill>
                <a:sym typeface="+mn-ea"/>
              </a:rPr>
              <a:t>dw：</a:t>
            </a:r>
            <a:r>
              <a:rPr lang="zh-CN" altLang="en-US" sz="1800" dirty="0">
                <a:sym typeface="+mn-ea"/>
              </a:rPr>
              <a:t>返回日期表达式中的</a:t>
            </a:r>
            <a:r>
              <a:rPr lang="zh-CN" altLang="en-US" sz="1800" dirty="0">
                <a:sym typeface="+mn-ea"/>
              </a:rPr>
              <a:t>星期几。</a:t>
            </a:r>
            <a:endParaRPr lang="zh-CN" altLang="en-US" sz="1800" dirty="0">
              <a:sym typeface="+mn-ea"/>
            </a:endParaRPr>
          </a:p>
          <a:p>
            <a:pPr marL="285750" indent="-285750" algn="l">
              <a:lnSpc>
                <a:spcPct val="115000"/>
              </a:lnSpc>
              <a:spcBef>
                <a:spcPts val="0"/>
              </a:spcBef>
              <a:spcAft>
                <a:spcPts val="0"/>
              </a:spcAft>
              <a:buClrTx/>
              <a:buSzTx/>
              <a:buFont typeface="Wingdings" panose="05000000000000000000" charset="0"/>
              <a:buChar char="p"/>
            </a:pPr>
            <a:r>
              <a:rPr lang="en-US" altLang="zh-CN" sz="1800" dirty="0">
                <a:solidFill>
                  <a:srgbClr val="0000FF"/>
                </a:solidFill>
                <a:sym typeface="+mn-ea"/>
              </a:rPr>
              <a:t>dy：</a:t>
            </a:r>
            <a:r>
              <a:rPr lang="zh-CN" altLang="en-US" sz="1800" dirty="0">
                <a:sym typeface="+mn-ea"/>
              </a:rPr>
              <a:t>返回日期表达式表示的一年中的第</a:t>
            </a:r>
            <a:r>
              <a:rPr lang="zh-CN" altLang="en-US" sz="1800" dirty="0">
                <a:sym typeface="+mn-ea"/>
              </a:rPr>
              <a:t>几天。</a:t>
            </a:r>
            <a:endParaRPr lang="zh-CN" altLang="en-US" sz="1800" dirty="0">
              <a:sym typeface="+mn-ea"/>
            </a:endParaRPr>
          </a:p>
          <a:p>
            <a:pPr marL="285750" indent="-285750" algn="l">
              <a:lnSpc>
                <a:spcPct val="115000"/>
              </a:lnSpc>
              <a:spcBef>
                <a:spcPts val="0"/>
              </a:spcBef>
              <a:spcAft>
                <a:spcPts val="0"/>
              </a:spcAft>
              <a:buClrTx/>
              <a:buSzTx/>
              <a:buFont typeface="Wingdings" panose="05000000000000000000" charset="0"/>
              <a:buChar char="p"/>
            </a:pPr>
            <a:r>
              <a:rPr lang="en-US" altLang="zh-CN" sz="1800" dirty="0">
                <a:solidFill>
                  <a:srgbClr val="0000FF"/>
                </a:solidFill>
                <a:sym typeface="+mn-ea"/>
              </a:rPr>
              <a:t>dd：</a:t>
            </a:r>
            <a:r>
              <a:rPr lang="zh-CN" altLang="en-US" sz="1800" dirty="0">
                <a:sym typeface="+mn-ea"/>
              </a:rPr>
              <a:t>返回日期表达式中的天或</a:t>
            </a:r>
            <a:r>
              <a:rPr lang="zh-CN" altLang="en-US" sz="1800" dirty="0">
                <a:sym typeface="+mn-ea"/>
              </a:rPr>
              <a:t>天数。</a:t>
            </a:r>
            <a:endParaRPr lang="zh-CN" altLang="en-US" sz="1800" dirty="0">
              <a:sym typeface="+mn-ea"/>
            </a:endParaRPr>
          </a:p>
          <a:p>
            <a:pPr marL="285750" indent="-285750" algn="l">
              <a:lnSpc>
                <a:spcPct val="115000"/>
              </a:lnSpc>
              <a:spcBef>
                <a:spcPts val="0"/>
              </a:spcBef>
              <a:spcAft>
                <a:spcPts val="0"/>
              </a:spcAft>
              <a:buClrTx/>
              <a:buSzTx/>
              <a:buFont typeface="Wingdings" panose="05000000000000000000" charset="0"/>
              <a:buChar char="p"/>
            </a:pPr>
            <a:r>
              <a:rPr lang="en-US" altLang="zh-CN" sz="1800" dirty="0">
                <a:solidFill>
                  <a:srgbClr val="0000FF"/>
                </a:solidFill>
                <a:sym typeface="+mn-ea"/>
              </a:rPr>
              <a:t>wk：</a:t>
            </a:r>
            <a:r>
              <a:rPr lang="zh-CN" altLang="en-US" sz="1800" dirty="0">
                <a:sym typeface="+mn-ea"/>
              </a:rPr>
              <a:t>返回日期表达式表示的一年中的第几个星期或星期</a:t>
            </a:r>
            <a:r>
              <a:rPr lang="zh-CN" altLang="en-US" sz="1800" dirty="0">
                <a:sym typeface="+mn-ea"/>
              </a:rPr>
              <a:t>几。</a:t>
            </a:r>
            <a:endParaRPr lang="zh-CN" altLang="en-US" sz="1800" dirty="0">
              <a:sym typeface="+mn-ea"/>
            </a:endParaRPr>
          </a:p>
          <a:p>
            <a:pPr marL="285750" indent="-285750" algn="l">
              <a:lnSpc>
                <a:spcPct val="115000"/>
              </a:lnSpc>
              <a:spcBef>
                <a:spcPts val="0"/>
              </a:spcBef>
              <a:spcAft>
                <a:spcPts val="0"/>
              </a:spcAft>
              <a:buClrTx/>
              <a:buSzTx/>
              <a:buFont typeface="Wingdings" panose="05000000000000000000" charset="0"/>
              <a:buChar char="p"/>
            </a:pPr>
            <a:r>
              <a:rPr lang="en-US" altLang="zh-CN" sz="1800" dirty="0">
                <a:solidFill>
                  <a:srgbClr val="0000FF"/>
                </a:solidFill>
                <a:sym typeface="+mn-ea"/>
              </a:rPr>
              <a:t>hh：</a:t>
            </a:r>
            <a:r>
              <a:rPr lang="zh-CN" altLang="en-US" sz="1800" dirty="0">
                <a:sym typeface="+mn-ea"/>
              </a:rPr>
              <a:t>返回日期表达式中的小时或小时数。</a:t>
            </a:r>
            <a:endParaRPr lang="zh-CN" altLang="en-US" sz="1800" dirty="0">
              <a:sym typeface="+mn-ea"/>
            </a:endParaRPr>
          </a:p>
          <a:p>
            <a:pPr marL="285750" indent="-285750" algn="l">
              <a:lnSpc>
                <a:spcPct val="115000"/>
              </a:lnSpc>
              <a:spcBef>
                <a:spcPts val="0"/>
              </a:spcBef>
              <a:spcAft>
                <a:spcPts val="0"/>
              </a:spcAft>
              <a:buClrTx/>
              <a:buSzTx/>
              <a:buFont typeface="Wingdings" panose="05000000000000000000" charset="0"/>
              <a:buChar char="p"/>
            </a:pPr>
            <a:r>
              <a:rPr lang="en-US" altLang="zh-CN" sz="1800" dirty="0">
                <a:solidFill>
                  <a:srgbClr val="0000FF"/>
                </a:solidFill>
                <a:sym typeface="+mn-ea"/>
              </a:rPr>
              <a:t>mi：</a:t>
            </a:r>
            <a:r>
              <a:rPr lang="zh-CN" altLang="en-US" sz="1800" dirty="0">
                <a:sym typeface="+mn-ea"/>
              </a:rPr>
              <a:t>返回日期表达式中的分或</a:t>
            </a:r>
            <a:r>
              <a:rPr lang="zh-CN" altLang="en-US" sz="1800" dirty="0">
                <a:sym typeface="+mn-ea"/>
              </a:rPr>
              <a:t>分钟数。</a:t>
            </a:r>
            <a:endParaRPr lang="en-US" altLang="zh-CN" sz="1800" dirty="0">
              <a:solidFill>
                <a:srgbClr val="0000FF"/>
              </a:solidFill>
              <a:sym typeface="+mn-ea"/>
            </a:endParaRPr>
          </a:p>
          <a:p>
            <a:pPr marL="285750" indent="-285750" algn="l">
              <a:lnSpc>
                <a:spcPct val="115000"/>
              </a:lnSpc>
              <a:spcBef>
                <a:spcPts val="0"/>
              </a:spcBef>
              <a:spcAft>
                <a:spcPts val="0"/>
              </a:spcAft>
              <a:buClrTx/>
              <a:buSzTx/>
              <a:buFont typeface="Wingdings" panose="05000000000000000000" charset="0"/>
              <a:buChar char="p"/>
            </a:pPr>
            <a:r>
              <a:rPr lang="en-US" altLang="zh-CN" sz="1800" dirty="0">
                <a:solidFill>
                  <a:srgbClr val="0000FF"/>
                </a:solidFill>
                <a:sym typeface="+mn-ea"/>
              </a:rPr>
              <a:t>ss：</a:t>
            </a:r>
            <a:r>
              <a:rPr lang="zh-CN" altLang="en-US" sz="1800" dirty="0">
                <a:sym typeface="+mn-ea"/>
              </a:rPr>
              <a:t>返回日期表达式中的秒或秒数。</a:t>
            </a:r>
            <a:endParaRPr lang="zh-CN" altLang="en-US" sz="1800" dirty="0">
              <a:sym typeface="+mn-ea"/>
            </a:endParaRPr>
          </a:p>
        </p:txBody>
      </p:sp>
      <p:sp>
        <p:nvSpPr>
          <p:cNvPr id="14" name="文本框 13"/>
          <p:cNvSpPr txBox="1"/>
          <p:nvPr/>
        </p:nvSpPr>
        <p:spPr>
          <a:xfrm>
            <a:off x="3721100" y="760730"/>
            <a:ext cx="4965700" cy="860425"/>
          </a:xfrm>
          <a:prstGeom prst="rect">
            <a:avLst/>
          </a:prstGeom>
          <a:solidFill>
            <a:schemeClr val="bg1"/>
          </a:solidFill>
          <a:ln>
            <a:solidFill>
              <a:schemeClr val="accent2"/>
            </a:solidFill>
          </a:ln>
        </p:spPr>
        <p:txBody>
          <a:bodyPr wrap="square" rtlCol="0" anchor="t">
            <a:spAutoFit/>
          </a:bodyPr>
          <a:p>
            <a:pPr>
              <a:lnSpc>
                <a:spcPct val="125000"/>
              </a:lnSpc>
              <a:spcBef>
                <a:spcPts val="0"/>
              </a:spcBef>
              <a:spcAft>
                <a:spcPts val="0"/>
              </a:spcAft>
            </a:pPr>
            <a:r>
              <a:rPr lang="zh-CN" sz="2200">
                <a:solidFill>
                  <a:srgbClr val="0000FF"/>
                </a:solidFill>
              </a:rPr>
              <a:t>例</a:t>
            </a:r>
            <a:r>
              <a:rPr lang="en-US" altLang="zh-CN" sz="2200">
                <a:solidFill>
                  <a:srgbClr val="0000FF"/>
                </a:solidFill>
              </a:rPr>
              <a:t>5</a:t>
            </a:r>
            <a:r>
              <a:rPr lang="zh-CN" sz="2200">
                <a:solidFill>
                  <a:srgbClr val="0000FF"/>
                </a:solidFill>
              </a:rPr>
              <a:t>：</a:t>
            </a:r>
            <a:r>
              <a:rPr>
                <a:solidFill>
                  <a:srgbClr val="C00000"/>
                </a:solidFill>
              </a:rPr>
              <a:t>SELECT </a:t>
            </a:r>
            <a:r>
              <a:rPr lang="en-US">
                <a:solidFill>
                  <a:srgbClr val="0000FF"/>
                </a:solidFill>
              </a:rPr>
              <a:t>DATE_FORMAT(NOW(),%M)  </a:t>
            </a:r>
            <a:r>
              <a:rPr lang="en-US">
                <a:solidFill>
                  <a:srgbClr val="C00000"/>
                </a:solidFill>
              </a:rPr>
              <a:t>  </a:t>
            </a:r>
            <a:endParaRPr lang="en-US">
              <a:solidFill>
                <a:srgbClr val="C00000"/>
              </a:solidFill>
            </a:endParaRPr>
          </a:p>
          <a:p>
            <a:pPr>
              <a:lnSpc>
                <a:spcPct val="125000"/>
              </a:lnSpc>
              <a:spcBef>
                <a:spcPts val="0"/>
              </a:spcBef>
              <a:spcAft>
                <a:spcPts val="0"/>
              </a:spcAft>
            </a:pPr>
            <a:r>
              <a:rPr lang="en-US">
                <a:solidFill>
                  <a:srgbClr val="C00000"/>
                </a:solidFill>
              </a:rPr>
              <a:t>           </a:t>
            </a:r>
            <a:r>
              <a:rPr lang="en-US">
                <a:solidFill>
                  <a:srgbClr val="0000FF"/>
                </a:solidFill>
              </a:rPr>
              <a:t>AS</a:t>
            </a:r>
            <a:r>
              <a:rPr lang="en-US">
                <a:solidFill>
                  <a:srgbClr val="C00000"/>
                </a:solidFill>
              </a:rPr>
              <a:t> MonthName</a:t>
            </a:r>
            <a:endParaRPr lang="en-US">
              <a:solidFill>
                <a:srgbClr val="C00000"/>
              </a:solidFill>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ppt_x"/>
                                          </p:val>
                                        </p:tav>
                                        <p:tav tm="100000">
                                          <p:val>
                                            <p:strVal val="#ppt_x"/>
                                          </p:val>
                                        </p:tav>
                                      </p:tavLst>
                                    </p:anim>
                                    <p:anim calcmode="lin" valueType="num">
                                      <p:cBhvr additive="base">
                                        <p:cTn id="2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9" grpId="0" animBg="1"/>
      <p:bldP spid="9" grpId="1" animBg="1"/>
      <p:bldP spid="14" grpId="0" animBg="1"/>
      <p:bldP spid="14" grpId="1" animBg="1"/>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5"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1" charset="-122"/>
              </a:rPr>
              <a:t>四、</a:t>
            </a:r>
            <a:r>
              <a:rPr lang="en-US" altLang="zh-CN" sz="3200" dirty="0">
                <a:solidFill>
                  <a:srgbClr val="FF0000"/>
                </a:solidFill>
                <a:ea typeface="黑体" panose="02010609060101010101" pitchFamily="1" charset="-122"/>
              </a:rPr>
              <a:t>T-SQL</a:t>
            </a:r>
            <a:r>
              <a:rPr lang="zh-CN" altLang="en-US" sz="3200" dirty="0">
                <a:solidFill>
                  <a:srgbClr val="FF0000"/>
                </a:solidFill>
                <a:ea typeface="黑体" panose="02010609060101010101" pitchFamily="1" charset="-122"/>
              </a:rPr>
              <a:t>编程</a:t>
            </a:r>
            <a:endParaRPr lang="zh-CN" altLang="en-US" sz="3200" dirty="0">
              <a:solidFill>
                <a:srgbClr val="FF0000"/>
              </a:solidFill>
              <a:ea typeface="黑体" panose="02010609060101010101" pitchFamily="1" charset="-122"/>
            </a:endParaRPr>
          </a:p>
        </p:txBody>
      </p:sp>
      <p:sp>
        <p:nvSpPr>
          <p:cNvPr id="101379" name="Rectangle 3"/>
          <p:cNvSpPr txBox="1"/>
          <p:nvPr/>
        </p:nvSpPr>
        <p:spPr>
          <a:xfrm>
            <a:off x="332740" y="830898"/>
            <a:ext cx="8642350" cy="747712"/>
          </a:xfrm>
          <a:prstGeom prst="rect">
            <a:avLst/>
          </a:prstGeom>
          <a:noFill/>
          <a:ln w="9525">
            <a:noFill/>
          </a:ln>
        </p:spPr>
        <p:txBody>
          <a:bodyPr anchor="t" anchorCtr="0"/>
          <a:p>
            <a:pPr>
              <a:buFont typeface="Wingdings" panose="05000000000000000000" pitchFamily="2" charset="2"/>
            </a:pPr>
            <a:r>
              <a:rPr lang="en-US" altLang="zh-CN" sz="2400" dirty="0">
                <a:solidFill>
                  <a:srgbClr val="3333CC"/>
                </a:solidFill>
                <a:latin typeface="宋体" panose="02010600030101010101" pitchFamily="2" charset="-122"/>
                <a:ea typeface="黑体" panose="02010609060101010101" pitchFamily="1" charset="-122"/>
              </a:rPr>
              <a:t>2.</a:t>
            </a:r>
            <a:r>
              <a:rPr lang="zh-CN" altLang="en-US" sz="2400" dirty="0">
                <a:solidFill>
                  <a:srgbClr val="3333CC"/>
                </a:solidFill>
                <a:latin typeface="宋体" panose="02010600030101010101" pitchFamily="2" charset="-122"/>
                <a:ea typeface="黑体" panose="02010609060101010101" pitchFamily="1" charset="-122"/>
              </a:rPr>
              <a:t>函数</a:t>
            </a:r>
            <a:endParaRPr lang="zh-CN" altLang="en-US" sz="2400" dirty="0">
              <a:solidFill>
                <a:srgbClr val="3333CC"/>
              </a:solidFill>
              <a:latin typeface="宋体" panose="02010600030101010101" pitchFamily="2" charset="-122"/>
              <a:ea typeface="黑体" panose="02010609060101010101" pitchFamily="1" charset="-122"/>
            </a:endParaRPr>
          </a:p>
        </p:txBody>
      </p:sp>
      <p:sp>
        <p:nvSpPr>
          <p:cNvPr id="3" name="文本框 2"/>
          <p:cNvSpPr txBox="1"/>
          <p:nvPr/>
        </p:nvSpPr>
        <p:spPr>
          <a:xfrm>
            <a:off x="404495" y="1269365"/>
            <a:ext cx="4572000" cy="429895"/>
          </a:xfrm>
          <a:prstGeom prst="rect">
            <a:avLst/>
          </a:prstGeom>
          <a:noFill/>
        </p:spPr>
        <p:txBody>
          <a:bodyPr wrap="square" rtlCol="0" anchor="t">
            <a:spAutoFit/>
          </a:bodyPr>
          <a:p>
            <a:pPr marL="342900" lvl="0" indent="-342900" eaLnBrk="1" hangingPunct="1">
              <a:buFont typeface="Arial" panose="020B0604020202020204" pitchFamily="34" charset="0"/>
              <a:buNone/>
            </a:pPr>
            <a:r>
              <a:rPr lang="zh-CN" altLang="en-US" sz="2200" dirty="0">
                <a:solidFill>
                  <a:srgbClr val="0000FF"/>
                </a:solidFill>
                <a:latin typeface="华文中宋" panose="02010600040101010101" charset="-122"/>
                <a:ea typeface="华文中宋" panose="02010600040101010101" charset="-122"/>
                <a:cs typeface="华文中宋" panose="02010600040101010101" charset="-122"/>
                <a:sym typeface="+mn-ea"/>
              </a:rPr>
              <a:t>（</a:t>
            </a:r>
            <a:r>
              <a:rPr lang="en-US" altLang="zh-CN" sz="2200" dirty="0">
                <a:solidFill>
                  <a:srgbClr val="0000FF"/>
                </a:solidFill>
                <a:latin typeface="华文中宋" panose="02010600040101010101" charset="-122"/>
                <a:ea typeface="华文中宋" panose="02010600040101010101" charset="-122"/>
                <a:cs typeface="华文中宋" panose="02010600040101010101" charset="-122"/>
                <a:sym typeface="+mn-ea"/>
              </a:rPr>
              <a:t>3</a:t>
            </a:r>
            <a:r>
              <a:rPr lang="zh-CN" altLang="en-US" sz="2200" dirty="0">
                <a:solidFill>
                  <a:srgbClr val="0000FF"/>
                </a:solidFill>
                <a:latin typeface="华文中宋" panose="02010600040101010101" charset="-122"/>
                <a:ea typeface="华文中宋" panose="02010600040101010101" charset="-122"/>
                <a:cs typeface="华文中宋" panose="02010600040101010101" charset="-122"/>
                <a:sym typeface="+mn-ea"/>
              </a:rPr>
              <a:t>）</a:t>
            </a:r>
            <a:r>
              <a:rPr lang="zh-CN" altLang="en-US" sz="2200" dirty="0">
                <a:solidFill>
                  <a:srgbClr val="0000FF"/>
                </a:solidFill>
                <a:latin typeface="华文中宋" panose="02010600040101010101" charset="-122"/>
                <a:ea typeface="华文中宋" panose="02010600040101010101" charset="-122"/>
                <a:cs typeface="华文中宋" panose="02010600040101010101" charset="-122"/>
                <a:sym typeface="+mn-ea"/>
              </a:rPr>
              <a:t>数学函数</a:t>
            </a:r>
            <a:endParaRPr lang="zh-CN" altLang="en-US" sz="2200" dirty="0">
              <a:solidFill>
                <a:srgbClr val="0000FF"/>
              </a:solidFill>
              <a:latin typeface="华文中宋" panose="02010600040101010101" charset="-122"/>
              <a:ea typeface="华文中宋" panose="02010600040101010101" charset="-122"/>
              <a:cs typeface="华文中宋" panose="02010600040101010101" charset="-122"/>
              <a:sym typeface="+mn-ea"/>
            </a:endParaRPr>
          </a:p>
        </p:txBody>
      </p:sp>
      <p:graphicFrame>
        <p:nvGraphicFramePr>
          <p:cNvPr id="2" name="表格 1"/>
          <p:cNvGraphicFramePr/>
          <p:nvPr>
            <p:custDataLst>
              <p:tags r:id="rId1"/>
            </p:custDataLst>
          </p:nvPr>
        </p:nvGraphicFramePr>
        <p:xfrm>
          <a:off x="563245" y="1751965"/>
          <a:ext cx="8293735" cy="4309745"/>
        </p:xfrm>
        <a:graphic>
          <a:graphicData uri="http://schemas.openxmlformats.org/drawingml/2006/table">
            <a:tbl>
              <a:tblPr firstRow="1" bandRow="1">
                <a:tableStyleId>{5C22544A-7EE6-4342-B048-85BDC9FD1C3A}</a:tableStyleId>
              </a:tblPr>
              <a:tblGrid>
                <a:gridCol w="5055235"/>
                <a:gridCol w="1945640"/>
                <a:gridCol w="1292860"/>
              </a:tblGrid>
              <a:tr h="368935">
                <a:tc>
                  <a:txBody>
                    <a:bodyPr/>
                    <a:p>
                      <a:pPr algn="ctr">
                        <a:buNone/>
                      </a:pPr>
                      <a:r>
                        <a:rPr lang="zh-CN" altLang="en-US">
                          <a:solidFill>
                            <a:srgbClr val="0000FF"/>
                          </a:solidFill>
                          <a:latin typeface="华文中宋" panose="02010600040101010101" charset="-122"/>
                          <a:ea typeface="华文中宋" panose="02010600040101010101" charset="-122"/>
                        </a:rPr>
                        <a:t>函数</a:t>
                      </a:r>
                      <a:endParaRPr lang="zh-CN" altLang="en-US">
                        <a:solidFill>
                          <a:srgbClr val="0000FF"/>
                        </a:solidFill>
                        <a:latin typeface="华文中宋" panose="02010600040101010101" charset="-122"/>
                        <a:ea typeface="华文中宋" panose="02010600040101010101" charset="-122"/>
                      </a:endParaRPr>
                    </a:p>
                  </a:txBody>
                  <a:tcPr/>
                </a:tc>
                <a:tc>
                  <a:txBody>
                    <a:bodyPr/>
                    <a:p>
                      <a:pPr algn="ctr">
                        <a:buNone/>
                      </a:pPr>
                      <a:r>
                        <a:rPr lang="zh-CN" altLang="en-US">
                          <a:solidFill>
                            <a:srgbClr val="0000FF"/>
                          </a:solidFill>
                          <a:latin typeface="华文中宋" panose="02010600040101010101" charset="-122"/>
                          <a:ea typeface="华文中宋" panose="02010600040101010101" charset="-122"/>
                        </a:rPr>
                        <a:t>示例</a:t>
                      </a:r>
                      <a:endParaRPr lang="zh-CN" altLang="en-US">
                        <a:solidFill>
                          <a:srgbClr val="0000FF"/>
                        </a:solidFill>
                        <a:latin typeface="华文中宋" panose="02010600040101010101" charset="-122"/>
                        <a:ea typeface="华文中宋" panose="02010600040101010101" charset="-122"/>
                      </a:endParaRPr>
                    </a:p>
                  </a:txBody>
                  <a:tcPr/>
                </a:tc>
                <a:tc>
                  <a:txBody>
                    <a:bodyPr/>
                    <a:p>
                      <a:pPr algn="ctr">
                        <a:buNone/>
                      </a:pPr>
                      <a:r>
                        <a:rPr lang="zh-CN" altLang="en-US">
                          <a:solidFill>
                            <a:srgbClr val="0000FF"/>
                          </a:solidFill>
                          <a:latin typeface="华文中宋" panose="02010600040101010101" charset="-122"/>
                          <a:ea typeface="华文中宋" panose="02010600040101010101" charset="-122"/>
                        </a:rPr>
                        <a:t>结果</a:t>
                      </a:r>
                      <a:endParaRPr lang="zh-CN" altLang="en-US">
                        <a:solidFill>
                          <a:srgbClr val="0000FF"/>
                        </a:solidFill>
                        <a:latin typeface="华文中宋" panose="02010600040101010101" charset="-122"/>
                        <a:ea typeface="华文中宋" panose="02010600040101010101" charset="-122"/>
                      </a:endParaRPr>
                    </a:p>
                  </a:txBody>
                  <a:tcPr/>
                </a:tc>
              </a:tr>
              <a:tr h="353060">
                <a:tc>
                  <a:txBody>
                    <a:bodyPr/>
                    <a:p>
                      <a:pPr>
                        <a:buNone/>
                      </a:pPr>
                      <a:r>
                        <a:rPr lang="en-US" altLang="zh-CN" sz="1700"/>
                        <a:t>abs(</a:t>
                      </a:r>
                      <a:r>
                        <a:rPr lang="zh-CN" altLang="en-US" sz="1700"/>
                        <a:t>数值表达式</a:t>
                      </a:r>
                      <a:r>
                        <a:rPr lang="en-US" altLang="zh-CN" sz="1700"/>
                        <a:t>)</a:t>
                      </a:r>
                      <a:endParaRPr lang="en-US" altLang="zh-CN" sz="1700"/>
                    </a:p>
                  </a:txBody>
                  <a:tcPr/>
                </a:tc>
                <a:tc>
                  <a:txBody>
                    <a:bodyPr/>
                    <a:p>
                      <a:pPr>
                        <a:buNone/>
                      </a:pPr>
                      <a:r>
                        <a:rPr lang="en-US" altLang="zh-CN" sz="1700"/>
                        <a:t>abs(-100)</a:t>
                      </a:r>
                      <a:endParaRPr lang="en-US" altLang="zh-CN" sz="1700"/>
                    </a:p>
                  </a:txBody>
                  <a:tcPr/>
                </a:tc>
                <a:tc>
                  <a:txBody>
                    <a:bodyPr/>
                    <a:p>
                      <a:pPr>
                        <a:buNone/>
                      </a:pPr>
                      <a:r>
                        <a:rPr lang="en-US" altLang="zh-CN" sz="1700"/>
                        <a:t>100</a:t>
                      </a:r>
                      <a:endParaRPr lang="en-US" altLang="zh-CN" sz="1700"/>
                    </a:p>
                  </a:txBody>
                  <a:tcPr/>
                </a:tc>
              </a:tr>
              <a:tr h="353695">
                <a:tc>
                  <a:txBody>
                    <a:bodyPr/>
                    <a:p>
                      <a:pPr>
                        <a:buNone/>
                      </a:pPr>
                      <a:r>
                        <a:rPr lang="en-US" altLang="zh-CN" sz="1700"/>
                        <a:t>ceiling(</a:t>
                      </a:r>
                      <a:r>
                        <a:rPr lang="zh-CN" altLang="en-US" sz="1700">
                          <a:sym typeface="+mn-ea"/>
                        </a:rPr>
                        <a:t>数值表达式</a:t>
                      </a:r>
                      <a:r>
                        <a:rPr lang="en-US" altLang="zh-CN" sz="1700">
                          <a:sym typeface="+mn-ea"/>
                        </a:rPr>
                        <a:t>)</a:t>
                      </a:r>
                      <a:endParaRPr lang="en-US" altLang="zh-CN" sz="1700"/>
                    </a:p>
                  </a:txBody>
                  <a:tcPr/>
                </a:tc>
                <a:tc>
                  <a:txBody>
                    <a:bodyPr/>
                    <a:p>
                      <a:pPr>
                        <a:buNone/>
                      </a:pPr>
                      <a:r>
                        <a:rPr lang="en-US" altLang="zh-CN" sz="1700">
                          <a:sym typeface="+mn-ea"/>
                        </a:rPr>
                        <a:t>ceiling(99.2)</a:t>
                      </a:r>
                      <a:endParaRPr lang="en-US" altLang="zh-CN" sz="1700">
                        <a:sym typeface="+mn-ea"/>
                      </a:endParaRPr>
                    </a:p>
                  </a:txBody>
                  <a:tcPr/>
                </a:tc>
                <a:tc>
                  <a:txBody>
                    <a:bodyPr/>
                    <a:p>
                      <a:pPr>
                        <a:buNone/>
                      </a:pPr>
                      <a:r>
                        <a:rPr lang="en-US" altLang="zh-CN" sz="1700"/>
                        <a:t>100</a:t>
                      </a:r>
                      <a:endParaRPr lang="en-US" altLang="zh-CN" sz="1700"/>
                    </a:p>
                  </a:txBody>
                  <a:tcPr/>
                </a:tc>
              </a:tr>
              <a:tr h="353060">
                <a:tc>
                  <a:txBody>
                    <a:bodyPr/>
                    <a:p>
                      <a:pPr>
                        <a:buNone/>
                      </a:pPr>
                      <a:r>
                        <a:rPr lang="en-US" altLang="zh-CN" sz="1700"/>
                        <a:t>floor</a:t>
                      </a:r>
                      <a:r>
                        <a:rPr lang="en-US" altLang="zh-CN" sz="1700">
                          <a:sym typeface="+mn-ea"/>
                        </a:rPr>
                        <a:t>(</a:t>
                      </a:r>
                      <a:r>
                        <a:rPr lang="zh-CN" altLang="en-US" sz="1700">
                          <a:sym typeface="+mn-ea"/>
                        </a:rPr>
                        <a:t>数值表达式</a:t>
                      </a:r>
                      <a:r>
                        <a:rPr lang="en-US" altLang="zh-CN" sz="1700">
                          <a:sym typeface="+mn-ea"/>
                        </a:rPr>
                        <a:t>)</a:t>
                      </a:r>
                      <a:endParaRPr lang="en-US" altLang="zh-CN" sz="1700"/>
                    </a:p>
                  </a:txBody>
                  <a:tcPr/>
                </a:tc>
                <a:tc>
                  <a:txBody>
                    <a:bodyPr/>
                    <a:p>
                      <a:pPr>
                        <a:buNone/>
                      </a:pPr>
                      <a:r>
                        <a:rPr lang="en-US" altLang="zh-CN" sz="1700">
                          <a:sym typeface="+mn-ea"/>
                        </a:rPr>
                        <a:t>floor</a:t>
                      </a:r>
                      <a:r>
                        <a:rPr lang="en-US" altLang="zh-CN" sz="1700">
                          <a:sym typeface="+mn-ea"/>
                        </a:rPr>
                        <a:t>(99.2)</a:t>
                      </a:r>
                      <a:endParaRPr lang="en-US" altLang="zh-CN" sz="1700"/>
                    </a:p>
                  </a:txBody>
                  <a:tcPr/>
                </a:tc>
                <a:tc>
                  <a:txBody>
                    <a:bodyPr/>
                    <a:p>
                      <a:pPr>
                        <a:buNone/>
                      </a:pPr>
                      <a:r>
                        <a:rPr lang="en-US" altLang="zh-CN" sz="1700"/>
                        <a:t>99</a:t>
                      </a:r>
                      <a:endParaRPr lang="en-US" altLang="zh-CN" sz="1700"/>
                    </a:p>
                  </a:txBody>
                  <a:tcPr/>
                </a:tc>
              </a:tr>
              <a:tr h="353695">
                <a:tc>
                  <a:txBody>
                    <a:bodyPr/>
                    <a:p>
                      <a:pPr>
                        <a:buNone/>
                      </a:pPr>
                      <a:r>
                        <a:rPr lang="en-US" altLang="zh-CN" sz="1700"/>
                        <a:t>round(</a:t>
                      </a:r>
                      <a:r>
                        <a:rPr lang="zh-CN" altLang="en-US" sz="1700">
                          <a:sym typeface="+mn-ea"/>
                        </a:rPr>
                        <a:t>数值表达式</a:t>
                      </a:r>
                      <a:r>
                        <a:rPr lang="en-US" altLang="zh-CN" sz="1700">
                          <a:sym typeface="+mn-ea"/>
                        </a:rPr>
                        <a:t>,</a:t>
                      </a:r>
                      <a:r>
                        <a:rPr lang="zh-CN" altLang="en-US" sz="1700">
                          <a:sym typeface="+mn-ea"/>
                        </a:rPr>
                        <a:t>整数表达式</a:t>
                      </a:r>
                      <a:r>
                        <a:rPr lang="en-US" altLang="zh-CN" sz="1700">
                          <a:sym typeface="+mn-ea"/>
                        </a:rPr>
                        <a:t>)</a:t>
                      </a:r>
                      <a:endParaRPr lang="en-US" altLang="zh-CN" sz="1700">
                        <a:sym typeface="+mn-ea"/>
                      </a:endParaRPr>
                    </a:p>
                  </a:txBody>
                  <a:tcPr/>
                </a:tc>
                <a:tc>
                  <a:txBody>
                    <a:bodyPr/>
                    <a:p>
                      <a:pPr>
                        <a:buNone/>
                      </a:pPr>
                      <a:r>
                        <a:rPr lang="en-US" altLang="zh-CN" sz="1700">
                          <a:sym typeface="+mn-ea"/>
                        </a:rPr>
                        <a:t>round(66.2387,2)</a:t>
                      </a:r>
                      <a:endParaRPr lang="en-US" altLang="zh-CN" sz="1700">
                        <a:sym typeface="+mn-ea"/>
                      </a:endParaRPr>
                    </a:p>
                  </a:txBody>
                  <a:tcPr/>
                </a:tc>
                <a:tc>
                  <a:txBody>
                    <a:bodyPr/>
                    <a:p>
                      <a:pPr>
                        <a:buNone/>
                      </a:pPr>
                      <a:r>
                        <a:rPr lang="en-US" altLang="zh-CN" sz="1700"/>
                        <a:t>66.24</a:t>
                      </a:r>
                      <a:endParaRPr lang="en-US" altLang="zh-CN" sz="1700"/>
                    </a:p>
                  </a:txBody>
                  <a:tcPr/>
                </a:tc>
              </a:tr>
              <a:tr h="353060">
                <a:tc>
                  <a:txBody>
                    <a:bodyPr/>
                    <a:p>
                      <a:pPr>
                        <a:buNone/>
                      </a:pPr>
                      <a:r>
                        <a:rPr lang="en-US" altLang="zh-CN" sz="1700"/>
                        <a:t>exp(</a:t>
                      </a:r>
                      <a:r>
                        <a:rPr lang="zh-CN" altLang="en-US" sz="1700"/>
                        <a:t>浮点表达式</a:t>
                      </a:r>
                      <a:r>
                        <a:rPr lang="en-US" altLang="zh-CN" sz="1700"/>
                        <a:t>)</a:t>
                      </a:r>
                      <a:endParaRPr lang="en-US" altLang="zh-CN" sz="1700"/>
                    </a:p>
                  </a:txBody>
                  <a:tcPr/>
                </a:tc>
                <a:tc>
                  <a:txBody>
                    <a:bodyPr/>
                    <a:p>
                      <a:pPr>
                        <a:buNone/>
                      </a:pPr>
                      <a:r>
                        <a:rPr lang="en-US" altLang="zh-CN" sz="1700"/>
                        <a:t>exp(0)</a:t>
                      </a:r>
                      <a:endParaRPr lang="en-US" altLang="zh-CN" sz="1700"/>
                    </a:p>
                  </a:txBody>
                  <a:tcPr/>
                </a:tc>
                <a:tc>
                  <a:txBody>
                    <a:bodyPr/>
                    <a:p>
                      <a:pPr>
                        <a:buNone/>
                      </a:pPr>
                      <a:r>
                        <a:rPr lang="en-US" altLang="zh-CN" sz="1700"/>
                        <a:t>1</a:t>
                      </a:r>
                      <a:endParaRPr lang="en-US" altLang="zh-CN" sz="1700"/>
                    </a:p>
                  </a:txBody>
                  <a:tcPr/>
                </a:tc>
              </a:tr>
              <a:tr h="353695">
                <a:tc>
                  <a:txBody>
                    <a:bodyPr/>
                    <a:p>
                      <a:pPr>
                        <a:buNone/>
                      </a:pPr>
                      <a:r>
                        <a:rPr lang="en-US" altLang="zh-CN" sz="1700"/>
                        <a:t>rand([</a:t>
                      </a:r>
                      <a:r>
                        <a:rPr lang="zh-CN" altLang="en-US" sz="1700"/>
                        <a:t>整数</a:t>
                      </a:r>
                      <a:r>
                        <a:rPr lang="en-US" altLang="zh-CN" sz="1700"/>
                        <a:t>])</a:t>
                      </a:r>
                      <a:endParaRPr lang="en-US" altLang="zh-CN" sz="1700"/>
                    </a:p>
                  </a:txBody>
                  <a:tcPr/>
                </a:tc>
                <a:tc>
                  <a:txBody>
                    <a:bodyPr/>
                    <a:p>
                      <a:pPr>
                        <a:buNone/>
                      </a:pPr>
                      <a:r>
                        <a:rPr lang="en-US" altLang="zh-CN" sz="1700"/>
                        <a:t>rand(23)</a:t>
                      </a:r>
                      <a:endParaRPr lang="en-US" altLang="zh-CN" sz="1700"/>
                    </a:p>
                  </a:txBody>
                  <a:tcPr/>
                </a:tc>
                <a:tc>
                  <a:txBody>
                    <a:bodyPr/>
                    <a:p>
                      <a:pPr>
                        <a:buNone/>
                      </a:pPr>
                      <a:r>
                        <a:rPr lang="zh-CN" altLang="en-US" sz="1700"/>
                        <a:t>0.714002</a:t>
                      </a:r>
                      <a:endParaRPr lang="zh-CN" altLang="en-US" sz="1700"/>
                    </a:p>
                  </a:txBody>
                  <a:tcPr/>
                </a:tc>
              </a:tr>
              <a:tr h="353060">
                <a:tc>
                  <a:txBody>
                    <a:bodyPr/>
                    <a:p>
                      <a:pPr>
                        <a:buNone/>
                      </a:pPr>
                      <a:r>
                        <a:rPr lang="en-US" altLang="zh-CN" sz="1700"/>
                        <a:t>log(</a:t>
                      </a:r>
                      <a:r>
                        <a:rPr lang="zh-CN" altLang="en-US" sz="1700"/>
                        <a:t>浮点表达式</a:t>
                      </a:r>
                      <a:r>
                        <a:rPr lang="en-US" altLang="zh-CN" sz="1700"/>
                        <a:t>)</a:t>
                      </a:r>
                      <a:endParaRPr lang="en-US" altLang="zh-CN" sz="1700"/>
                    </a:p>
                  </a:txBody>
                  <a:tcPr/>
                </a:tc>
                <a:tc>
                  <a:txBody>
                    <a:bodyPr/>
                    <a:p>
                      <a:pPr>
                        <a:buNone/>
                      </a:pPr>
                      <a:r>
                        <a:rPr lang="en-US" altLang="zh-CN" sz="1700"/>
                        <a:t>log(1)</a:t>
                      </a:r>
                      <a:endParaRPr lang="en-US" altLang="zh-CN" sz="1700"/>
                    </a:p>
                  </a:txBody>
                  <a:tcPr/>
                </a:tc>
                <a:tc>
                  <a:txBody>
                    <a:bodyPr/>
                    <a:p>
                      <a:pPr>
                        <a:buNone/>
                      </a:pPr>
                      <a:r>
                        <a:rPr lang="en-US" altLang="zh-CN" sz="1700"/>
                        <a:t>0</a:t>
                      </a:r>
                      <a:endParaRPr lang="en-US" altLang="zh-CN" sz="1700"/>
                    </a:p>
                  </a:txBody>
                  <a:tcPr/>
                </a:tc>
              </a:tr>
              <a:tr h="356870">
                <a:tc>
                  <a:txBody>
                    <a:bodyPr/>
                    <a:p>
                      <a:pPr>
                        <a:buNone/>
                      </a:pPr>
                      <a:r>
                        <a:rPr lang="en-US" altLang="zh-CN" sz="1700"/>
                        <a:t>pi()</a:t>
                      </a:r>
                      <a:endParaRPr lang="en-US" altLang="zh-CN" sz="1700"/>
                    </a:p>
                  </a:txBody>
                  <a:tcPr/>
                </a:tc>
                <a:tc>
                  <a:txBody>
                    <a:bodyPr/>
                    <a:p>
                      <a:pPr>
                        <a:buNone/>
                      </a:pPr>
                      <a:r>
                        <a:rPr lang="en-US" altLang="zh-CN" sz="1700">
                          <a:sym typeface="+mn-ea"/>
                        </a:rPr>
                        <a:t>pi()</a:t>
                      </a:r>
                      <a:endParaRPr lang="en-US" altLang="zh-CN" sz="1700">
                        <a:sym typeface="+mn-ea"/>
                      </a:endParaRPr>
                    </a:p>
                  </a:txBody>
                  <a:tcPr/>
                </a:tc>
                <a:tc>
                  <a:txBody>
                    <a:bodyPr/>
                    <a:p>
                      <a:pPr>
                        <a:buNone/>
                      </a:pPr>
                      <a:r>
                        <a:rPr lang="en-US" altLang="zh-CN" sz="1700"/>
                        <a:t>3.14159...</a:t>
                      </a:r>
                      <a:endParaRPr lang="en-US" altLang="zh-CN" sz="1700"/>
                    </a:p>
                  </a:txBody>
                  <a:tcPr/>
                </a:tc>
              </a:tr>
              <a:tr h="353060">
                <a:tc>
                  <a:txBody>
                    <a:bodyPr/>
                    <a:p>
                      <a:pPr>
                        <a:buNone/>
                      </a:pPr>
                      <a:r>
                        <a:rPr lang="en-US" altLang="zh-CN" sz="1700"/>
                        <a:t>power(</a:t>
                      </a:r>
                      <a:r>
                        <a:rPr lang="zh-CN" altLang="en-US" sz="1700">
                          <a:sym typeface="+mn-ea"/>
                        </a:rPr>
                        <a:t>数值表达式</a:t>
                      </a:r>
                      <a:r>
                        <a:rPr lang="en-US" altLang="zh-CN" sz="1700">
                          <a:sym typeface="+mn-ea"/>
                        </a:rPr>
                        <a:t>,</a:t>
                      </a:r>
                      <a:r>
                        <a:rPr lang="zh-CN" altLang="en-US" sz="1700">
                          <a:sym typeface="+mn-ea"/>
                        </a:rPr>
                        <a:t>指数表达式</a:t>
                      </a:r>
                      <a:r>
                        <a:rPr lang="en-US" altLang="zh-CN" sz="1700">
                          <a:sym typeface="+mn-ea"/>
                        </a:rPr>
                        <a:t>)</a:t>
                      </a:r>
                      <a:endParaRPr lang="en-US" altLang="zh-CN" sz="1700"/>
                    </a:p>
                  </a:txBody>
                  <a:tcPr/>
                </a:tc>
                <a:tc>
                  <a:txBody>
                    <a:bodyPr/>
                    <a:p>
                      <a:pPr>
                        <a:buNone/>
                      </a:pPr>
                      <a:r>
                        <a:rPr lang="en-US" altLang="zh-CN" sz="1700">
                          <a:sym typeface="+mn-ea"/>
                        </a:rPr>
                        <a:t>power(2,10)</a:t>
                      </a:r>
                      <a:endParaRPr lang="en-US" altLang="zh-CN" sz="1700">
                        <a:sym typeface="+mn-ea"/>
                      </a:endParaRPr>
                    </a:p>
                  </a:txBody>
                  <a:tcPr/>
                </a:tc>
                <a:tc>
                  <a:txBody>
                    <a:bodyPr/>
                    <a:p>
                      <a:pPr>
                        <a:buNone/>
                      </a:pPr>
                      <a:r>
                        <a:rPr lang="en-US" altLang="zh-CN" sz="1700"/>
                        <a:t>1024</a:t>
                      </a:r>
                      <a:endParaRPr lang="en-US" altLang="zh-CN" sz="1700"/>
                    </a:p>
                  </a:txBody>
                  <a:tcPr/>
                </a:tc>
              </a:tr>
              <a:tr h="353695">
                <a:tc>
                  <a:txBody>
                    <a:bodyPr/>
                    <a:p>
                      <a:pPr>
                        <a:buNone/>
                      </a:pPr>
                      <a:r>
                        <a:rPr lang="en-US" altLang="zh-CN" sz="1700"/>
                        <a:t>sqrt(</a:t>
                      </a:r>
                      <a:r>
                        <a:rPr lang="zh-CN" altLang="en-US" sz="1700">
                          <a:sym typeface="+mn-ea"/>
                        </a:rPr>
                        <a:t>数值表达式</a:t>
                      </a:r>
                      <a:r>
                        <a:rPr lang="en-US" altLang="zh-CN" sz="1700">
                          <a:sym typeface="+mn-ea"/>
                        </a:rPr>
                        <a:t>)</a:t>
                      </a:r>
                      <a:endParaRPr lang="en-US" altLang="zh-CN" sz="1700"/>
                    </a:p>
                  </a:txBody>
                  <a:tcPr/>
                </a:tc>
                <a:tc>
                  <a:txBody>
                    <a:bodyPr/>
                    <a:p>
                      <a:pPr>
                        <a:buNone/>
                      </a:pPr>
                      <a:r>
                        <a:rPr lang="en-US" altLang="zh-CN" sz="1700">
                          <a:sym typeface="+mn-ea"/>
                        </a:rPr>
                        <a:t>sqrt(4)</a:t>
                      </a:r>
                      <a:endParaRPr lang="en-US" altLang="zh-CN" sz="1700">
                        <a:sym typeface="+mn-ea"/>
                      </a:endParaRPr>
                    </a:p>
                  </a:txBody>
                  <a:tcPr/>
                </a:tc>
                <a:tc>
                  <a:txBody>
                    <a:bodyPr/>
                    <a:p>
                      <a:pPr>
                        <a:buNone/>
                      </a:pPr>
                      <a:r>
                        <a:rPr lang="en-US" altLang="zh-CN" sz="1700"/>
                        <a:t>2</a:t>
                      </a:r>
                      <a:endParaRPr lang="en-US" altLang="zh-CN" sz="1700"/>
                    </a:p>
                  </a:txBody>
                  <a:tcPr/>
                </a:tc>
              </a:tr>
              <a:tr h="403860">
                <a:tc>
                  <a:txBody>
                    <a:bodyPr/>
                    <a:p>
                      <a:pPr>
                        <a:buNone/>
                      </a:pPr>
                      <a:r>
                        <a:rPr lang="en-US" altLang="zh-CN" sz="1700"/>
                        <a:t>sin(</a:t>
                      </a:r>
                      <a:r>
                        <a:rPr lang="zh-CN" altLang="en-US" sz="1700">
                          <a:sym typeface="+mn-ea"/>
                        </a:rPr>
                        <a:t>浮点表达式</a:t>
                      </a:r>
                      <a:r>
                        <a:rPr lang="en-US" altLang="zh-CN" sz="1700">
                          <a:sym typeface="+mn-ea"/>
                        </a:rPr>
                        <a:t>),cos(</a:t>
                      </a:r>
                      <a:r>
                        <a:rPr lang="zh-CN" altLang="en-US" sz="1700">
                          <a:sym typeface="+mn-ea"/>
                        </a:rPr>
                        <a:t>浮点表达式</a:t>
                      </a:r>
                      <a:r>
                        <a:rPr lang="en-US" altLang="zh-CN" sz="1700">
                          <a:sym typeface="+mn-ea"/>
                        </a:rPr>
                        <a:t>),</a:t>
                      </a:r>
                      <a:r>
                        <a:rPr lang="en-US" altLang="zh-CN" sz="1700">
                          <a:sym typeface="+mn-ea"/>
                        </a:rPr>
                        <a:t>tan(</a:t>
                      </a:r>
                      <a:r>
                        <a:rPr lang="zh-CN" altLang="en-US" sz="1700">
                          <a:sym typeface="+mn-ea"/>
                        </a:rPr>
                        <a:t>浮点表达式</a:t>
                      </a:r>
                      <a:r>
                        <a:rPr lang="en-US" altLang="zh-CN" sz="1700">
                          <a:sym typeface="+mn-ea"/>
                        </a:rPr>
                        <a:t>)</a:t>
                      </a:r>
                      <a:endParaRPr lang="en-US" altLang="zh-CN" sz="1700"/>
                    </a:p>
                  </a:txBody>
                  <a:tcPr/>
                </a:tc>
                <a:tc>
                  <a:txBody>
                    <a:bodyPr/>
                    <a:p>
                      <a:pPr>
                        <a:buNone/>
                      </a:pPr>
                      <a:r>
                        <a:rPr lang="en-US" altLang="zh-CN" sz="1700">
                          <a:sym typeface="+mn-ea"/>
                        </a:rPr>
                        <a:t>sin(pi())</a:t>
                      </a:r>
                      <a:endParaRPr lang="en-US" altLang="zh-CN" sz="1700">
                        <a:sym typeface="+mn-ea"/>
                      </a:endParaRPr>
                    </a:p>
                  </a:txBody>
                  <a:tcPr/>
                </a:tc>
                <a:tc>
                  <a:txBody>
                    <a:bodyPr/>
                    <a:p>
                      <a:pPr>
                        <a:buNone/>
                      </a:pPr>
                      <a:r>
                        <a:rPr lang="en-US" altLang="zh-CN" sz="1700"/>
                        <a:t>0</a:t>
                      </a:r>
                      <a:endParaRPr lang="en-US" altLang="zh-CN" sz="1700"/>
                    </a:p>
                  </a:txBody>
                  <a:tcPr/>
                </a:tc>
              </a:tr>
            </a:tbl>
          </a:graphicData>
        </a:graphic>
      </p:graphicFrame>
      <p:pic>
        <p:nvPicPr>
          <p:cNvPr id="4" name="图片 3"/>
          <p:cNvPicPr>
            <a:picLocks noChangeAspect="1"/>
          </p:cNvPicPr>
          <p:nvPr/>
        </p:nvPicPr>
        <p:blipFill>
          <a:blip r:embed="rId2"/>
          <a:stretch>
            <a:fillRect/>
          </a:stretch>
        </p:blipFill>
        <p:spPr>
          <a:xfrm>
            <a:off x="4348480" y="725170"/>
            <a:ext cx="2034540" cy="853440"/>
          </a:xfrm>
          <a:prstGeom prst="rect">
            <a:avLst/>
          </a:prstGeom>
          <a:ln>
            <a:solidFill>
              <a:schemeClr val="accent1"/>
            </a:solidFill>
          </a:ln>
        </p:spPr>
      </p:pic>
      <p:pic>
        <p:nvPicPr>
          <p:cNvPr id="5" name="图片 4"/>
          <p:cNvPicPr>
            <a:picLocks noChangeAspect="1"/>
          </p:cNvPicPr>
          <p:nvPr/>
        </p:nvPicPr>
        <p:blipFill>
          <a:blip r:embed="rId3"/>
          <a:stretch>
            <a:fillRect/>
          </a:stretch>
        </p:blipFill>
        <p:spPr>
          <a:xfrm>
            <a:off x="6530340" y="570865"/>
            <a:ext cx="2034540" cy="1181100"/>
          </a:xfrm>
          <a:prstGeom prst="rect">
            <a:avLst/>
          </a:prstGeom>
          <a:ln>
            <a:solidFill>
              <a:schemeClr val="accent1"/>
            </a:solid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0" name="文本框 1"/>
          <p:cNvSpPr txBox="1"/>
          <p:nvPr/>
        </p:nvSpPr>
        <p:spPr>
          <a:xfrm>
            <a:off x="757238" y="1978343"/>
            <a:ext cx="7473950" cy="44513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300" dirty="0"/>
              <a:t>（</a:t>
            </a:r>
            <a:r>
              <a:rPr lang="en-US" altLang="zh-CN" sz="2300" dirty="0"/>
              <a:t>1</a:t>
            </a:r>
            <a:r>
              <a:rPr lang="zh-CN" altLang="en-US" sz="2300" dirty="0"/>
              <a:t>）查询中本月过生日的同学</a:t>
            </a:r>
            <a:endParaRPr lang="zh-CN" altLang="en-US" sz="2300" dirty="0"/>
          </a:p>
        </p:txBody>
      </p:sp>
      <p:sp>
        <p:nvSpPr>
          <p:cNvPr id="3" name="文本框 2"/>
          <p:cNvSpPr txBox="1"/>
          <p:nvPr/>
        </p:nvSpPr>
        <p:spPr>
          <a:xfrm>
            <a:off x="929640" y="2486660"/>
            <a:ext cx="6734175" cy="97599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ts val="0"/>
              </a:spcBef>
              <a:spcAft>
                <a:spcPts val="0"/>
              </a:spcAft>
              <a:buClrTx/>
              <a:buSzTx/>
              <a:buFont typeface="Arial" panose="020B0604020202020204" pitchFamily="34" charset="0"/>
              <a:buNone/>
            </a:pPr>
            <a:r>
              <a:rPr lang="zh-CN" altLang="en-US" sz="2300" dirty="0">
                <a:sym typeface="+mn-ea"/>
              </a:rPr>
              <a:t>select * from stu where</a:t>
            </a:r>
            <a:endParaRPr lang="zh-CN" altLang="en-US" sz="2300" dirty="0"/>
          </a:p>
          <a:p>
            <a:pPr marL="0" lvl="0" indent="0" eaLnBrk="1" hangingPunct="1">
              <a:lnSpc>
                <a:spcPct val="125000"/>
              </a:lnSpc>
              <a:spcBef>
                <a:spcPts val="0"/>
              </a:spcBef>
              <a:spcAft>
                <a:spcPts val="0"/>
              </a:spcAft>
              <a:buClrTx/>
              <a:buSzTx/>
              <a:buFont typeface="Arial" panose="020B0604020202020204" pitchFamily="34" charset="0"/>
              <a:buNone/>
            </a:pPr>
            <a:r>
              <a:rPr lang="zh-CN" altLang="en-US" sz="2300" dirty="0">
                <a:sym typeface="+mn-ea"/>
              </a:rPr>
              <a:t>    </a:t>
            </a:r>
            <a:r>
              <a:rPr lang="zh-CN" altLang="en-US" sz="2300" dirty="0">
                <a:solidFill>
                  <a:srgbClr val="CC00FF"/>
                </a:solidFill>
                <a:sym typeface="+mn-ea"/>
              </a:rPr>
              <a:t>MONTH(BirthDate)=MONTH(GetDate())</a:t>
            </a:r>
            <a:endParaRPr lang="zh-CN" altLang="en-US" sz="2300" dirty="0">
              <a:solidFill>
                <a:srgbClr val="CC00FF"/>
              </a:solidFill>
              <a:sym typeface="+mn-ea"/>
            </a:endParaRPr>
          </a:p>
        </p:txBody>
      </p:sp>
      <p:sp>
        <p:nvSpPr>
          <p:cNvPr id="119854" name="文本框 10"/>
          <p:cNvSpPr txBox="1"/>
          <p:nvPr/>
        </p:nvSpPr>
        <p:spPr>
          <a:xfrm>
            <a:off x="604838" y="860425"/>
            <a:ext cx="4331335" cy="55308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ct val="0"/>
              </a:spcBef>
              <a:buClrTx/>
              <a:buSzTx/>
              <a:buFont typeface="Arial" panose="020B0604020202020204" pitchFamily="34" charset="0"/>
              <a:buNone/>
            </a:pPr>
            <a:r>
              <a:rPr lang="en-US" altLang="zh-CN" sz="2400" dirty="0">
                <a:sym typeface="+mn-ea"/>
              </a:rPr>
              <a:t>1</a:t>
            </a:r>
            <a:r>
              <a:rPr lang="zh-CN" altLang="en-US" sz="2400" dirty="0">
                <a:sym typeface="+mn-ea"/>
              </a:rPr>
              <a:t>、设学生数据库有如下关系：</a:t>
            </a:r>
            <a:endParaRPr lang="zh-CN" altLang="en-US" sz="2400" dirty="0">
              <a:sym typeface="+mn-ea"/>
            </a:endParaRPr>
          </a:p>
        </p:txBody>
      </p:sp>
      <p:graphicFrame>
        <p:nvGraphicFramePr>
          <p:cNvPr id="2" name="表格 1"/>
          <p:cNvGraphicFramePr/>
          <p:nvPr>
            <p:custDataLst>
              <p:tags r:id="rId1"/>
            </p:custDataLst>
          </p:nvPr>
        </p:nvGraphicFramePr>
        <p:xfrm>
          <a:off x="2159000" y="1477645"/>
          <a:ext cx="4953635" cy="396240"/>
        </p:xfrm>
        <a:graphic>
          <a:graphicData uri="http://schemas.openxmlformats.org/drawingml/2006/table">
            <a:tbl>
              <a:tblPr firstRow="1" bandRow="1">
                <a:tableStyleId>{5C22544A-7EE6-4342-B048-85BDC9FD1C3A}</a:tableStyleId>
              </a:tblPr>
              <a:tblGrid>
                <a:gridCol w="1170305"/>
                <a:gridCol w="1143635"/>
                <a:gridCol w="1515745"/>
                <a:gridCol w="1123950"/>
              </a:tblGrid>
              <a:tr h="381000">
                <a:tc>
                  <a:txBody>
                    <a:bodyPr/>
                    <a:lstStyle/>
                    <a:p>
                      <a:pPr>
                        <a:buNone/>
                      </a:pPr>
                      <a:r>
                        <a:rPr lang="zh-CN" altLang="en-US" sz="2000" u="sng">
                          <a:solidFill>
                            <a:schemeClr val="tx1"/>
                          </a:solidFill>
                        </a:rPr>
                        <a:t>s</a:t>
                      </a:r>
                      <a:r>
                        <a:rPr lang="en-US" altLang="zh-CN" sz="2000" u="sng">
                          <a:solidFill>
                            <a:schemeClr val="tx1"/>
                          </a:solidFill>
                        </a:rPr>
                        <a:t>id</a:t>
                      </a:r>
                      <a:endParaRPr lang="en-US" altLang="zh-CN" sz="2000" u="sng">
                        <a:solidFill>
                          <a:schemeClr val="tx1"/>
                        </a:solidFill>
                      </a:endParaRPr>
                    </a:p>
                  </a:txBody>
                  <a:tcPr marL="91421" marR="91421"/>
                </a:tc>
                <a:tc>
                  <a:txBody>
                    <a:bodyPr/>
                    <a:lstStyle/>
                    <a:p>
                      <a:pPr>
                        <a:buNone/>
                      </a:pPr>
                      <a:r>
                        <a:rPr lang="en-US" altLang="zh-CN" sz="2000">
                          <a:solidFill>
                            <a:schemeClr val="tx1"/>
                          </a:solidFill>
                        </a:rPr>
                        <a:t>sname</a:t>
                      </a:r>
                      <a:endParaRPr lang="en-US" altLang="zh-CN" sz="2000">
                        <a:solidFill>
                          <a:schemeClr val="tx1"/>
                        </a:solidFill>
                      </a:endParaRPr>
                    </a:p>
                  </a:txBody>
                  <a:tcPr marL="91421" marR="91421"/>
                </a:tc>
                <a:tc>
                  <a:txBody>
                    <a:bodyPr/>
                    <a:lstStyle/>
                    <a:p>
                      <a:pPr>
                        <a:buNone/>
                      </a:pPr>
                      <a:r>
                        <a:rPr lang="en-US" altLang="zh-CN" sz="2000">
                          <a:solidFill>
                            <a:schemeClr val="tx1"/>
                          </a:solidFill>
                        </a:rPr>
                        <a:t>birthdate</a:t>
                      </a:r>
                      <a:endParaRPr lang="en-US" altLang="zh-CN" sz="2000">
                        <a:solidFill>
                          <a:schemeClr val="tx1"/>
                        </a:solidFill>
                      </a:endParaRPr>
                    </a:p>
                  </a:txBody>
                  <a:tcPr marL="91421" marR="91421"/>
                </a:tc>
                <a:tc>
                  <a:txBody>
                    <a:bodyPr/>
                    <a:lstStyle/>
                    <a:p>
                      <a:pPr>
                        <a:buNone/>
                      </a:pPr>
                      <a:r>
                        <a:rPr lang="en-US" altLang="zh-CN" sz="2000">
                          <a:solidFill>
                            <a:schemeClr val="tx1"/>
                          </a:solidFill>
                        </a:rPr>
                        <a:t>gender</a:t>
                      </a:r>
                      <a:endParaRPr lang="en-US" altLang="zh-CN" sz="2000">
                        <a:solidFill>
                          <a:schemeClr val="tx1"/>
                        </a:solidFill>
                      </a:endParaRPr>
                    </a:p>
                  </a:txBody>
                  <a:tcPr marL="91421" marR="91421"/>
                </a:tc>
              </a:tr>
            </a:tbl>
          </a:graphicData>
        </a:graphic>
      </p:graphicFrame>
      <p:sp>
        <p:nvSpPr>
          <p:cNvPr id="121870" name="文本框 3"/>
          <p:cNvSpPr txBox="1"/>
          <p:nvPr/>
        </p:nvSpPr>
        <p:spPr>
          <a:xfrm>
            <a:off x="757238" y="1391603"/>
            <a:ext cx="1401762" cy="42989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t>stu</a:t>
            </a:r>
            <a:endParaRPr lang="zh-CN" altLang="en-US" sz="2200" dirty="0"/>
          </a:p>
        </p:txBody>
      </p:sp>
      <p:sp>
        <p:nvSpPr>
          <p:cNvPr id="45" name="文本框 44"/>
          <p:cNvSpPr txBox="1"/>
          <p:nvPr/>
        </p:nvSpPr>
        <p:spPr>
          <a:xfrm>
            <a:off x="406400" y="-19050"/>
            <a:ext cx="2681288" cy="830263"/>
          </a:xfrm>
          <a:prstGeom prst="rect">
            <a:avLst/>
          </a:prstGeom>
          <a:noFill/>
        </p:spPr>
        <p:txBody>
          <a:bodyPr wrap="none">
            <a:spAutoFit/>
          </a:bodyPr>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问题研讨：</a:t>
            </a:r>
            <a:endParaRPr kumimoji="0" lang="zh-CN" altLang="en-US" sz="3200" kern="1200" cap="none" spc="0" normalizeH="0" baseline="0" noProof="0" dirty="0">
              <a:latin typeface="Arial" panose="020B0604020202020204" pitchFamily="34" charset="0"/>
              <a:ea typeface="宋体" panose="02010600030101010101" pitchFamily="2" charset="-122"/>
              <a:cs typeface="+mn-cs"/>
            </a:endParaRPr>
          </a:p>
        </p:txBody>
      </p:sp>
      <p:sp>
        <p:nvSpPr>
          <p:cNvPr id="5" name="文本框 1"/>
          <p:cNvSpPr txBox="1"/>
          <p:nvPr/>
        </p:nvSpPr>
        <p:spPr>
          <a:xfrm>
            <a:off x="757238" y="4037648"/>
            <a:ext cx="7473950" cy="44513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300" dirty="0"/>
              <a:t>（</a:t>
            </a:r>
            <a:r>
              <a:rPr lang="en-US" altLang="zh-CN" sz="2300" dirty="0"/>
              <a:t>2</a:t>
            </a:r>
            <a:r>
              <a:rPr lang="zh-CN" altLang="en-US" sz="2300" dirty="0"/>
              <a:t>）查询每个年份出生</a:t>
            </a:r>
            <a:r>
              <a:rPr lang="zh-CN" altLang="en-US" sz="2300" dirty="0"/>
              <a:t>的同学</a:t>
            </a:r>
            <a:r>
              <a:rPr lang="zh-CN" altLang="en-US" sz="2300" dirty="0"/>
              <a:t>人数</a:t>
            </a:r>
            <a:endParaRPr lang="zh-CN" altLang="en-US" sz="2300" dirty="0"/>
          </a:p>
        </p:txBody>
      </p:sp>
      <p:sp>
        <p:nvSpPr>
          <p:cNvPr id="6" name="文本框 5"/>
          <p:cNvSpPr txBox="1"/>
          <p:nvPr/>
        </p:nvSpPr>
        <p:spPr>
          <a:xfrm>
            <a:off x="863600" y="4649470"/>
            <a:ext cx="6734175" cy="97599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ts val="0"/>
              </a:spcBef>
              <a:spcAft>
                <a:spcPts val="0"/>
              </a:spcAft>
              <a:buClrTx/>
              <a:buSzTx/>
              <a:buFont typeface="Arial" panose="020B0604020202020204" pitchFamily="34" charset="0"/>
              <a:buNone/>
            </a:pPr>
            <a:r>
              <a:rPr sz="2300" dirty="0">
                <a:solidFill>
                  <a:srgbClr val="FF0000"/>
                </a:solidFill>
                <a:sym typeface="+mn-ea"/>
              </a:rPr>
              <a:t>select </a:t>
            </a:r>
            <a:r>
              <a:rPr sz="2300" dirty="0">
                <a:solidFill>
                  <a:srgbClr val="0000FF"/>
                </a:solidFill>
                <a:sym typeface="+mn-ea"/>
              </a:rPr>
              <a:t>COUNT</a:t>
            </a:r>
            <a:r>
              <a:rPr sz="2300" dirty="0">
                <a:sym typeface="+mn-ea"/>
              </a:rPr>
              <a:t>(SID) 人数,</a:t>
            </a:r>
            <a:r>
              <a:rPr sz="2300" dirty="0">
                <a:solidFill>
                  <a:srgbClr val="0000FF"/>
                </a:solidFill>
                <a:sym typeface="+mn-ea"/>
              </a:rPr>
              <a:t>YEAR</a:t>
            </a:r>
            <a:r>
              <a:rPr sz="2300" dirty="0">
                <a:sym typeface="+mn-ea"/>
              </a:rPr>
              <a:t>(BirthDate) 年份 </a:t>
            </a:r>
            <a:r>
              <a:rPr sz="2300" dirty="0">
                <a:solidFill>
                  <a:srgbClr val="C00000"/>
                </a:solidFill>
                <a:sym typeface="+mn-ea"/>
              </a:rPr>
              <a:t>from</a:t>
            </a:r>
            <a:r>
              <a:rPr sz="2300" dirty="0">
                <a:sym typeface="+mn-ea"/>
              </a:rPr>
              <a:t> stu  </a:t>
            </a:r>
            <a:r>
              <a:rPr sz="2300" dirty="0">
                <a:solidFill>
                  <a:srgbClr val="C00000"/>
                </a:solidFill>
                <a:sym typeface="+mn-ea"/>
              </a:rPr>
              <a:t>group by</a:t>
            </a:r>
            <a:r>
              <a:rPr sz="2300" dirty="0">
                <a:sym typeface="+mn-ea"/>
              </a:rPr>
              <a:t> </a:t>
            </a:r>
            <a:r>
              <a:rPr sz="2300" dirty="0">
                <a:solidFill>
                  <a:srgbClr val="0000FF"/>
                </a:solidFill>
                <a:sym typeface="+mn-ea"/>
              </a:rPr>
              <a:t>YEAR</a:t>
            </a:r>
            <a:r>
              <a:rPr sz="2300" dirty="0">
                <a:sym typeface="+mn-ea"/>
              </a:rPr>
              <a:t>(BirthDate)</a:t>
            </a:r>
            <a:endParaRPr sz="2300" dirty="0">
              <a:sym typeface="+mn-ea"/>
            </a:endParaRPr>
          </a:p>
        </p:txBody>
      </p:sp>
      <p:pic>
        <p:nvPicPr>
          <p:cNvPr id="7" name="图片 6"/>
          <p:cNvPicPr>
            <a:picLocks noChangeAspect="1"/>
          </p:cNvPicPr>
          <p:nvPr/>
        </p:nvPicPr>
        <p:blipFill>
          <a:blip r:embed="rId2"/>
          <a:stretch>
            <a:fillRect/>
          </a:stretch>
        </p:blipFill>
        <p:spPr>
          <a:xfrm>
            <a:off x="3277870" y="4075430"/>
            <a:ext cx="5283446" cy="2196000"/>
          </a:xfrm>
          <a:prstGeom prst="rect">
            <a:avLst/>
          </a:prstGeom>
          <a:ln>
            <a:solidFill>
              <a:schemeClr val="accent1"/>
            </a:solidFill>
          </a:ln>
        </p:spPr>
      </p:pic>
      <p:pic>
        <p:nvPicPr>
          <p:cNvPr id="8" name="图片 7"/>
          <p:cNvPicPr>
            <a:picLocks noChangeAspect="1"/>
          </p:cNvPicPr>
          <p:nvPr/>
        </p:nvPicPr>
        <p:blipFill>
          <a:blip r:embed="rId3"/>
          <a:stretch>
            <a:fillRect/>
          </a:stretch>
        </p:blipFill>
        <p:spPr>
          <a:xfrm>
            <a:off x="2746375" y="1931035"/>
            <a:ext cx="5814871" cy="1980000"/>
          </a:xfrm>
          <a:prstGeom prst="rect">
            <a:avLst/>
          </a:prstGeom>
          <a:ln>
            <a:solidFill>
              <a:schemeClr val="accent1"/>
            </a:solid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6" grpId="1"/>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5"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1" charset="-122"/>
              </a:rPr>
              <a:t>四、</a:t>
            </a:r>
            <a:r>
              <a:rPr lang="en-US" altLang="zh-CN" sz="3200" dirty="0">
                <a:solidFill>
                  <a:srgbClr val="FF0000"/>
                </a:solidFill>
                <a:ea typeface="黑体" panose="02010609060101010101" pitchFamily="1" charset="-122"/>
              </a:rPr>
              <a:t>T-SQL</a:t>
            </a:r>
            <a:r>
              <a:rPr lang="zh-CN" altLang="en-US" sz="3200" dirty="0">
                <a:solidFill>
                  <a:srgbClr val="FF0000"/>
                </a:solidFill>
                <a:ea typeface="黑体" panose="02010609060101010101" pitchFamily="1" charset="-122"/>
              </a:rPr>
              <a:t>编程</a:t>
            </a:r>
            <a:endParaRPr lang="zh-CN" altLang="en-US" sz="3200" dirty="0">
              <a:solidFill>
                <a:srgbClr val="FF0000"/>
              </a:solidFill>
              <a:ea typeface="黑体" panose="02010609060101010101" pitchFamily="1" charset="-122"/>
            </a:endParaRPr>
          </a:p>
        </p:txBody>
      </p:sp>
      <p:sp>
        <p:nvSpPr>
          <p:cNvPr id="101379" name="Rectangle 3"/>
          <p:cNvSpPr txBox="1"/>
          <p:nvPr/>
        </p:nvSpPr>
        <p:spPr>
          <a:xfrm>
            <a:off x="501650" y="855663"/>
            <a:ext cx="8642350" cy="747712"/>
          </a:xfrm>
          <a:prstGeom prst="rect">
            <a:avLst/>
          </a:prstGeom>
          <a:noFill/>
          <a:ln w="9525">
            <a:noFill/>
          </a:ln>
        </p:spPr>
        <p:txBody>
          <a:bodyPr anchor="t" anchorCtr="0"/>
          <a:p>
            <a:pPr>
              <a:buFont typeface="Wingdings" panose="05000000000000000000" pitchFamily="2" charset="2"/>
            </a:pPr>
            <a:r>
              <a:rPr lang="en-US" altLang="zh-CN" sz="2400" dirty="0">
                <a:solidFill>
                  <a:srgbClr val="3333CC"/>
                </a:solidFill>
                <a:latin typeface="宋体" panose="02010600030101010101" pitchFamily="2" charset="-122"/>
                <a:ea typeface="黑体" panose="02010609060101010101" pitchFamily="1" charset="-122"/>
              </a:rPr>
              <a:t>3.</a:t>
            </a:r>
            <a:r>
              <a:rPr lang="zh-CN" altLang="en-US" sz="2400" dirty="0">
                <a:solidFill>
                  <a:srgbClr val="3333CC"/>
                </a:solidFill>
                <a:latin typeface="宋体" panose="02010600030101010101" pitchFamily="2" charset="-122"/>
                <a:ea typeface="黑体" panose="02010609060101010101" pitchFamily="1" charset="-122"/>
              </a:rPr>
              <a:t>流程控制</a:t>
            </a:r>
            <a:r>
              <a:rPr lang="zh-CN" altLang="en-US" sz="2400" dirty="0">
                <a:solidFill>
                  <a:srgbClr val="3333CC"/>
                </a:solidFill>
                <a:latin typeface="宋体" panose="02010600030101010101" pitchFamily="2" charset="-122"/>
                <a:ea typeface="黑体" panose="02010609060101010101" pitchFamily="1" charset="-122"/>
              </a:rPr>
              <a:t>语句</a:t>
            </a:r>
            <a:endParaRPr lang="zh-CN" altLang="en-US" sz="2400" dirty="0">
              <a:solidFill>
                <a:srgbClr val="3333CC"/>
              </a:solidFill>
              <a:latin typeface="宋体" panose="02010600030101010101" pitchFamily="2" charset="-122"/>
              <a:ea typeface="黑体" panose="02010609060101010101" pitchFamily="1" charset="-122"/>
            </a:endParaRPr>
          </a:p>
        </p:txBody>
      </p:sp>
      <p:sp>
        <p:nvSpPr>
          <p:cNvPr id="16" name="文本框 20"/>
          <p:cNvSpPr txBox="1"/>
          <p:nvPr/>
        </p:nvSpPr>
        <p:spPr>
          <a:xfrm>
            <a:off x="501650" y="1277620"/>
            <a:ext cx="8418830" cy="82994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ts val="0"/>
              </a:spcBef>
              <a:spcAft>
                <a:spcPts val="0"/>
              </a:spcAft>
              <a:buClrTx/>
              <a:buSzTx/>
              <a:buFont typeface="Arial" panose="020B0604020202020204" pitchFamily="34" charset="0"/>
              <a:buNone/>
            </a:pPr>
            <a:r>
              <a:rPr lang="en-US" altLang="zh-CN" dirty="0">
                <a:sym typeface="+mn-ea"/>
              </a:rPr>
              <a:t>      T-SQL</a:t>
            </a:r>
            <a:r>
              <a:rPr lang="zh-CN" altLang="en-US" dirty="0">
                <a:sym typeface="+mn-ea"/>
              </a:rPr>
              <a:t>中的流程控制语句是对</a:t>
            </a:r>
            <a:r>
              <a:rPr lang="en-US" altLang="zh-CN" dirty="0">
                <a:sym typeface="+mn-ea"/>
              </a:rPr>
              <a:t>SQL</a:t>
            </a:r>
            <a:r>
              <a:rPr lang="zh-CN" altLang="en-US" dirty="0">
                <a:sym typeface="+mn-ea"/>
              </a:rPr>
              <a:t>标准的扩展，使得</a:t>
            </a:r>
            <a:r>
              <a:rPr lang="en-US" altLang="zh-CN" dirty="0">
                <a:sym typeface="+mn-ea"/>
              </a:rPr>
              <a:t>T-SQL</a:t>
            </a:r>
            <a:r>
              <a:rPr lang="zh-CN" altLang="en-US" dirty="0">
                <a:sym typeface="+mn-ea"/>
              </a:rPr>
              <a:t>成为功能较强大的编程语言。</a:t>
            </a:r>
            <a:endParaRPr lang="zh-CN" altLang="en-US" dirty="0">
              <a:sym typeface="+mn-ea"/>
            </a:endParaRPr>
          </a:p>
        </p:txBody>
      </p:sp>
      <p:sp>
        <p:nvSpPr>
          <p:cNvPr id="5" name="文本框 4"/>
          <p:cNvSpPr txBox="1"/>
          <p:nvPr/>
        </p:nvSpPr>
        <p:spPr>
          <a:xfrm>
            <a:off x="457200" y="2107565"/>
            <a:ext cx="4572000" cy="429895"/>
          </a:xfrm>
          <a:prstGeom prst="rect">
            <a:avLst/>
          </a:prstGeom>
          <a:noFill/>
        </p:spPr>
        <p:txBody>
          <a:bodyPr wrap="square" rtlCol="0" anchor="t">
            <a:spAutoFit/>
          </a:bodyPr>
          <a:p>
            <a:pPr marL="342900" lvl="0" indent="-342900" eaLnBrk="1" hangingPunct="1">
              <a:buFont typeface="Arial" panose="020B0604020202020204" pitchFamily="34" charset="0"/>
              <a:buNone/>
            </a:pPr>
            <a:r>
              <a:rPr lang="zh-CN" altLang="en-US" sz="2200" dirty="0">
                <a:solidFill>
                  <a:srgbClr val="0000FF"/>
                </a:solidFill>
                <a:latin typeface="华文中宋" panose="02010600040101010101" charset="-122"/>
                <a:ea typeface="华文中宋" panose="02010600040101010101" charset="-122"/>
                <a:cs typeface="华文中宋" panose="02010600040101010101" charset="-122"/>
                <a:sym typeface="+mn-ea"/>
              </a:rPr>
              <a:t>（</a:t>
            </a:r>
            <a:r>
              <a:rPr lang="en-US" altLang="zh-CN" sz="2200" dirty="0">
                <a:solidFill>
                  <a:srgbClr val="0000FF"/>
                </a:solidFill>
                <a:latin typeface="华文中宋" panose="02010600040101010101" charset="-122"/>
                <a:ea typeface="华文中宋" panose="02010600040101010101" charset="-122"/>
                <a:cs typeface="华文中宋" panose="02010600040101010101" charset="-122"/>
                <a:sym typeface="+mn-ea"/>
              </a:rPr>
              <a:t>1</a:t>
            </a:r>
            <a:r>
              <a:rPr lang="zh-CN" altLang="en-US" sz="2200" dirty="0">
                <a:solidFill>
                  <a:srgbClr val="0000FF"/>
                </a:solidFill>
                <a:latin typeface="华文中宋" panose="02010600040101010101" charset="-122"/>
                <a:ea typeface="华文中宋" panose="02010600040101010101" charset="-122"/>
                <a:cs typeface="华文中宋" panose="02010600040101010101" charset="-122"/>
                <a:sym typeface="+mn-ea"/>
              </a:rPr>
              <a:t>）</a:t>
            </a:r>
            <a:r>
              <a:rPr lang="en-US" altLang="zh-CN" sz="2200" dirty="0">
                <a:solidFill>
                  <a:srgbClr val="0000FF"/>
                </a:solidFill>
                <a:latin typeface="华文中宋" panose="02010600040101010101" charset="-122"/>
                <a:ea typeface="华文中宋" panose="02010600040101010101" charset="-122"/>
                <a:cs typeface="华文中宋" panose="02010600040101010101" charset="-122"/>
                <a:sym typeface="+mn-ea"/>
              </a:rPr>
              <a:t>IF(</a:t>
            </a:r>
            <a:r>
              <a:rPr lang="zh-CN" altLang="en-US" sz="2200" dirty="0">
                <a:solidFill>
                  <a:srgbClr val="0000FF"/>
                </a:solidFill>
                <a:latin typeface="华文中宋" panose="02010600040101010101" charset="-122"/>
                <a:ea typeface="华文中宋" panose="02010600040101010101" charset="-122"/>
                <a:cs typeface="华文中宋" panose="02010600040101010101" charset="-122"/>
                <a:sym typeface="+mn-ea"/>
              </a:rPr>
              <a:t>布尔表达式</a:t>
            </a:r>
            <a:r>
              <a:rPr lang="en-US" altLang="zh-CN" sz="2200" dirty="0">
                <a:solidFill>
                  <a:srgbClr val="0000FF"/>
                </a:solidFill>
                <a:latin typeface="华文中宋" panose="02010600040101010101" charset="-122"/>
                <a:ea typeface="华文中宋" panose="02010600040101010101" charset="-122"/>
                <a:cs typeface="华文中宋" panose="02010600040101010101" charset="-122"/>
                <a:sym typeface="+mn-ea"/>
              </a:rPr>
              <a:t>) ELSE [IF]</a:t>
            </a:r>
            <a:r>
              <a:rPr lang="zh-CN" altLang="en-US" sz="2200" dirty="0">
                <a:solidFill>
                  <a:srgbClr val="0000FF"/>
                </a:solidFill>
                <a:latin typeface="华文中宋" panose="02010600040101010101" charset="-122"/>
                <a:ea typeface="华文中宋" panose="02010600040101010101" charset="-122"/>
                <a:cs typeface="华文中宋" panose="02010600040101010101" charset="-122"/>
                <a:sym typeface="+mn-ea"/>
              </a:rPr>
              <a:t>。</a:t>
            </a:r>
            <a:endParaRPr lang="zh-CN" altLang="en-US" sz="2200" dirty="0">
              <a:solidFill>
                <a:srgbClr val="0000FF"/>
              </a:solidFill>
              <a:latin typeface="华文中宋" panose="02010600040101010101" charset="-122"/>
              <a:ea typeface="华文中宋" panose="02010600040101010101" charset="-122"/>
              <a:cs typeface="华文中宋" panose="02010600040101010101" charset="-122"/>
              <a:sym typeface="+mn-ea"/>
            </a:endParaRPr>
          </a:p>
        </p:txBody>
      </p:sp>
      <p:sp>
        <p:nvSpPr>
          <p:cNvPr id="7" name="文本框 20"/>
          <p:cNvSpPr txBox="1"/>
          <p:nvPr/>
        </p:nvSpPr>
        <p:spPr>
          <a:xfrm>
            <a:off x="584200" y="2512695"/>
            <a:ext cx="8103235" cy="476885"/>
          </a:xfrm>
          <a:prstGeom prst="rect">
            <a:avLst/>
          </a:prstGeom>
          <a:noFill/>
          <a:ln w="9525">
            <a:noFill/>
          </a:ln>
        </p:spPr>
        <p:txBody>
          <a:bodyPr wrap="square">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ts val="0"/>
              </a:spcBef>
              <a:spcAft>
                <a:spcPts val="0"/>
              </a:spcAft>
              <a:buClrTx/>
              <a:buSzTx/>
              <a:buFont typeface="Arial" panose="020B0604020202020204" pitchFamily="34" charset="0"/>
              <a:buNone/>
            </a:pPr>
            <a:r>
              <a:rPr lang="en-US" altLang="zh-CN" dirty="0">
                <a:sym typeface="+mn-ea"/>
              </a:rPr>
              <a:t> </a:t>
            </a:r>
            <a:r>
              <a:rPr lang="zh-CN" altLang="en-US" dirty="0">
                <a:sym typeface="+mn-ea"/>
              </a:rPr>
              <a:t>用途：条件分支。用法同</a:t>
            </a:r>
            <a:r>
              <a:rPr lang="en-US" altLang="zh-CN" dirty="0">
                <a:sym typeface="+mn-ea"/>
              </a:rPr>
              <a:t>C/C++</a:t>
            </a:r>
            <a:r>
              <a:rPr lang="zh-CN" altLang="en-US" dirty="0">
                <a:sym typeface="+mn-ea"/>
              </a:rPr>
              <a:t>中条件分支的</a:t>
            </a:r>
            <a:r>
              <a:rPr lang="zh-CN" altLang="en-US" dirty="0">
                <a:sym typeface="+mn-ea"/>
              </a:rPr>
              <a:t>用法。</a:t>
            </a:r>
            <a:endParaRPr lang="zh-CN" altLang="en-US" dirty="0">
              <a:sym typeface="+mn-ea"/>
            </a:endParaRPr>
          </a:p>
          <a:p>
            <a:pPr marL="0" lvl="0" indent="0" eaLnBrk="1" hangingPunct="1">
              <a:lnSpc>
                <a:spcPct val="120000"/>
              </a:lnSpc>
              <a:spcBef>
                <a:spcPts val="0"/>
              </a:spcBef>
              <a:spcAft>
                <a:spcPts val="0"/>
              </a:spcAft>
              <a:buClrTx/>
              <a:buSzTx/>
              <a:buFont typeface="Arial" panose="020B0604020202020204" pitchFamily="34" charset="0"/>
              <a:buNone/>
            </a:pPr>
            <a:endParaRPr lang="zh-CN" altLang="en-US" dirty="0">
              <a:sym typeface="+mn-ea"/>
            </a:endParaRPr>
          </a:p>
        </p:txBody>
      </p:sp>
      <p:sp>
        <p:nvSpPr>
          <p:cNvPr id="17" name="文本框 16"/>
          <p:cNvSpPr txBox="1"/>
          <p:nvPr/>
        </p:nvSpPr>
        <p:spPr>
          <a:xfrm>
            <a:off x="1298575" y="2989580"/>
            <a:ext cx="6101715" cy="2953385"/>
          </a:xfrm>
          <a:prstGeom prst="rect">
            <a:avLst/>
          </a:prstGeom>
          <a:noFill/>
        </p:spPr>
        <p:txBody>
          <a:bodyPr wrap="square" rtlCol="0" anchor="t">
            <a:spAutoFit/>
          </a:bodyPr>
          <a:p>
            <a:pPr>
              <a:lnSpc>
                <a:spcPct val="125000"/>
              </a:lnSpc>
              <a:spcBef>
                <a:spcPts val="0"/>
              </a:spcBef>
              <a:spcAft>
                <a:spcPts val="0"/>
              </a:spcAft>
            </a:pPr>
            <a:r>
              <a:rPr lang="en-US" altLang="zh-CN" sz="2000">
                <a:solidFill>
                  <a:srgbClr val="0000FF"/>
                </a:solidFill>
              </a:rPr>
              <a:t>IF</a:t>
            </a:r>
            <a:r>
              <a:rPr lang="en-US" altLang="zh-CN" sz="2000"/>
              <a:t>( SELECT AVG(mark) from ctake ) &lt;60</a:t>
            </a:r>
            <a:endParaRPr lang="en-US" altLang="zh-CN" sz="2000"/>
          </a:p>
          <a:p>
            <a:pPr>
              <a:lnSpc>
                <a:spcPct val="125000"/>
              </a:lnSpc>
              <a:spcBef>
                <a:spcPts val="0"/>
              </a:spcBef>
              <a:spcAft>
                <a:spcPts val="0"/>
              </a:spcAft>
            </a:pPr>
            <a:r>
              <a:rPr lang="en-US" altLang="zh-CN" sz="2000"/>
              <a:t>   UPDATE </a:t>
            </a:r>
            <a:r>
              <a:rPr lang="en-US" altLang="zh-CN" sz="2000">
                <a:sym typeface="+mn-ea"/>
              </a:rPr>
              <a:t>ctake SET </a:t>
            </a:r>
            <a:r>
              <a:rPr lang="en-US" altLang="zh-CN" sz="2000">
                <a:sym typeface="+mn-ea"/>
              </a:rPr>
              <a:t>mark</a:t>
            </a:r>
            <a:r>
              <a:rPr lang="en-US" altLang="zh-CN" sz="2000">
                <a:sym typeface="+mn-ea"/>
              </a:rPr>
              <a:t>=</a:t>
            </a:r>
            <a:r>
              <a:rPr lang="en-US" altLang="zh-CN" sz="2000">
                <a:sym typeface="+mn-ea"/>
              </a:rPr>
              <a:t>mark</a:t>
            </a:r>
            <a:r>
              <a:rPr lang="en-US" altLang="zh-CN" sz="2000">
                <a:sym typeface="+mn-ea"/>
              </a:rPr>
              <a:t>*1.3</a:t>
            </a:r>
            <a:endParaRPr lang="en-US" altLang="zh-CN" sz="2000">
              <a:sym typeface="+mn-ea"/>
            </a:endParaRPr>
          </a:p>
          <a:p>
            <a:pPr>
              <a:lnSpc>
                <a:spcPct val="125000"/>
              </a:lnSpc>
              <a:spcBef>
                <a:spcPts val="0"/>
              </a:spcBef>
              <a:spcAft>
                <a:spcPts val="0"/>
              </a:spcAft>
            </a:pPr>
            <a:r>
              <a:rPr lang="en-US" altLang="zh-CN" sz="2000">
                <a:solidFill>
                  <a:srgbClr val="0000FF"/>
                </a:solidFill>
              </a:rPr>
              <a:t>ELSE IF</a:t>
            </a:r>
            <a:r>
              <a:rPr lang="en-US" altLang="zh-CN" sz="2000"/>
              <a:t>(</a:t>
            </a:r>
            <a:r>
              <a:rPr lang="en-US" altLang="zh-CN" sz="2000">
                <a:sym typeface="+mn-ea"/>
              </a:rPr>
              <a:t>SELECT AVG(</a:t>
            </a:r>
            <a:r>
              <a:rPr lang="en-US" altLang="zh-CN" sz="2000">
                <a:sym typeface="+mn-ea"/>
              </a:rPr>
              <a:t>mark</a:t>
            </a:r>
            <a:r>
              <a:rPr lang="en-US" altLang="zh-CN" sz="2000">
                <a:sym typeface="+mn-ea"/>
              </a:rPr>
              <a:t>) from ctake) &lt;80</a:t>
            </a:r>
            <a:endParaRPr lang="en-US" altLang="zh-CN" sz="2000"/>
          </a:p>
          <a:p>
            <a:pPr>
              <a:lnSpc>
                <a:spcPct val="125000"/>
              </a:lnSpc>
              <a:spcBef>
                <a:spcPts val="0"/>
              </a:spcBef>
              <a:spcAft>
                <a:spcPts val="0"/>
              </a:spcAft>
            </a:pPr>
            <a:r>
              <a:rPr lang="en-US" altLang="zh-CN" sz="2000">
                <a:sym typeface="+mn-ea"/>
              </a:rPr>
              <a:t>   UPDATE ctake</a:t>
            </a:r>
            <a:r>
              <a:rPr lang="en-US" altLang="zh-CN" sz="2000">
                <a:sym typeface="+mn-ea"/>
              </a:rPr>
              <a:t> SET mark=mark*1.1</a:t>
            </a:r>
            <a:endParaRPr lang="en-US" altLang="zh-CN" sz="2000">
              <a:sym typeface="+mn-ea"/>
            </a:endParaRPr>
          </a:p>
          <a:p>
            <a:pPr>
              <a:lnSpc>
                <a:spcPct val="125000"/>
              </a:lnSpc>
              <a:spcBef>
                <a:spcPts val="0"/>
              </a:spcBef>
              <a:spcAft>
                <a:spcPts val="0"/>
              </a:spcAft>
            </a:pPr>
            <a:r>
              <a:rPr lang="en-US" altLang="zh-CN" sz="2000">
                <a:solidFill>
                  <a:srgbClr val="0000FF"/>
                </a:solidFill>
                <a:sym typeface="+mn-ea"/>
              </a:rPr>
              <a:t>ELSE </a:t>
            </a:r>
            <a:r>
              <a:rPr lang="en-US" altLang="zh-CN" sz="2000">
                <a:sym typeface="+mn-ea"/>
              </a:rPr>
              <a:t>  </a:t>
            </a:r>
            <a:endParaRPr lang="en-US" altLang="zh-CN" sz="2000">
              <a:sym typeface="+mn-ea"/>
            </a:endParaRPr>
          </a:p>
          <a:p>
            <a:pPr>
              <a:lnSpc>
                <a:spcPct val="125000"/>
              </a:lnSpc>
              <a:spcBef>
                <a:spcPts val="0"/>
              </a:spcBef>
              <a:spcAft>
                <a:spcPts val="0"/>
              </a:spcAft>
            </a:pPr>
            <a:r>
              <a:rPr lang="en-US" altLang="zh-CN" sz="2000">
                <a:sym typeface="+mn-ea"/>
              </a:rPr>
              <a:t>   PRINT ‘</a:t>
            </a:r>
            <a:r>
              <a:rPr lang="zh-CN" altLang="en-US" sz="2000">
                <a:sym typeface="+mn-ea"/>
              </a:rPr>
              <a:t>平均成绩较好！</a:t>
            </a:r>
            <a:r>
              <a:rPr lang="en-US" altLang="zh-CN" sz="2000">
                <a:sym typeface="+mn-ea"/>
              </a:rPr>
              <a:t>’</a:t>
            </a:r>
            <a:endParaRPr lang="en-US" altLang="zh-CN" sz="2000">
              <a:sym typeface="+mn-ea"/>
            </a:endParaRPr>
          </a:p>
          <a:p>
            <a:endParaRPr lang="en-US" altLang="zh-CN"/>
          </a:p>
          <a:p>
            <a:r>
              <a:rPr lang="en-US" altLang="zh-CN"/>
              <a:t>   </a:t>
            </a:r>
            <a:endParaRPr lang="en-US" altLang="zh-CN"/>
          </a:p>
        </p:txBody>
      </p:sp>
      <p:sp>
        <p:nvSpPr>
          <p:cNvPr id="18" name="文本框 17"/>
          <p:cNvSpPr txBox="1"/>
          <p:nvPr/>
        </p:nvSpPr>
        <p:spPr>
          <a:xfrm>
            <a:off x="607695" y="2989580"/>
            <a:ext cx="690880" cy="46037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0"/>
              </a:spcBef>
              <a:buClrTx/>
              <a:buSzTx/>
              <a:buFont typeface="Arial" panose="020B0604020202020204" pitchFamily="34" charset="0"/>
              <a:buNone/>
            </a:pPr>
            <a:r>
              <a:rPr lang="zh-CN" altLang="en-US" dirty="0">
                <a:solidFill>
                  <a:srgbClr val="0000FF"/>
                </a:solidFill>
                <a:sym typeface="+mn-ea"/>
              </a:rPr>
              <a:t>例</a:t>
            </a:r>
            <a:r>
              <a:rPr lang="en-US" altLang="zh-CN" dirty="0">
                <a:solidFill>
                  <a:srgbClr val="0000FF"/>
                </a:solidFill>
                <a:sym typeface="+mn-ea"/>
              </a:rPr>
              <a:t>6</a:t>
            </a:r>
            <a:r>
              <a:rPr lang="zh-CN" altLang="en-US" dirty="0">
                <a:solidFill>
                  <a:srgbClr val="0000FF"/>
                </a:solidFill>
                <a:sym typeface="+mn-ea"/>
              </a:rPr>
              <a:t>：</a:t>
            </a:r>
            <a:endParaRPr lang="zh-CN" altLang="en-US" dirty="0">
              <a:solidFill>
                <a:srgbClr val="0000FF"/>
              </a:solidFill>
              <a:sym typeface="+mn-ea"/>
            </a:endParaRPr>
          </a:p>
        </p:txBody>
      </p:sp>
      <p:sp>
        <p:nvSpPr>
          <p:cNvPr id="9" name="文本框 20"/>
          <p:cNvSpPr txBox="1"/>
          <p:nvPr/>
        </p:nvSpPr>
        <p:spPr>
          <a:xfrm>
            <a:off x="584200" y="5357495"/>
            <a:ext cx="8418830" cy="476885"/>
          </a:xfrm>
          <a:prstGeom prst="rect">
            <a:avLst/>
          </a:prstGeom>
          <a:noFill/>
          <a:ln w="9525">
            <a:noFill/>
          </a:ln>
        </p:spPr>
        <p:txBody>
          <a:bodyPr wrap="square">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ts val="0"/>
              </a:spcBef>
              <a:spcAft>
                <a:spcPts val="0"/>
              </a:spcAft>
              <a:buClrTx/>
              <a:buSzTx/>
              <a:buFont typeface="Arial" panose="020B0604020202020204" pitchFamily="34" charset="0"/>
              <a:buNone/>
            </a:pPr>
            <a:r>
              <a:rPr lang="en-US" altLang="zh-CN" dirty="0">
                <a:sym typeface="+mn-ea"/>
              </a:rPr>
              <a:t>      </a:t>
            </a:r>
            <a:r>
              <a:rPr lang="zh-CN" altLang="en-US" dirty="0">
                <a:sym typeface="+mn-ea"/>
              </a:rPr>
              <a:t>如果布尔表达式含有</a:t>
            </a:r>
            <a:r>
              <a:rPr lang="en-US" altLang="zh-CN" dirty="0">
                <a:sym typeface="+mn-ea"/>
              </a:rPr>
              <a:t>SELECT</a:t>
            </a:r>
            <a:r>
              <a:rPr lang="zh-CN" altLang="en-US" dirty="0">
                <a:sym typeface="+mn-ea"/>
              </a:rPr>
              <a:t>语句，则该</a:t>
            </a:r>
            <a:r>
              <a:rPr lang="en-US" altLang="zh-CN" dirty="0">
                <a:sym typeface="+mn-ea"/>
              </a:rPr>
              <a:t>SELECT</a:t>
            </a:r>
            <a:r>
              <a:rPr lang="zh-CN" altLang="en-US" dirty="0">
                <a:sym typeface="+mn-ea"/>
              </a:rPr>
              <a:t>语句必须用圆括号括起来，其分支嵌套级别最多为</a:t>
            </a:r>
            <a:r>
              <a:rPr lang="en-US" altLang="zh-CN" dirty="0">
                <a:sym typeface="+mn-ea"/>
              </a:rPr>
              <a:t>150</a:t>
            </a:r>
            <a:r>
              <a:rPr lang="zh-CN" altLang="en-US" dirty="0">
                <a:sym typeface="+mn-ea"/>
              </a:rPr>
              <a:t>。</a:t>
            </a:r>
            <a:endParaRPr lang="zh-CN" altLang="en-US" dirty="0">
              <a:sym typeface="+mn-ea"/>
            </a:endParaRPr>
          </a:p>
          <a:p>
            <a:pPr marL="0" lvl="0" indent="0" eaLnBrk="1" hangingPunct="1">
              <a:lnSpc>
                <a:spcPct val="120000"/>
              </a:lnSpc>
              <a:spcBef>
                <a:spcPts val="0"/>
              </a:spcBef>
              <a:spcAft>
                <a:spcPts val="0"/>
              </a:spcAft>
              <a:buClrTx/>
              <a:buSzTx/>
              <a:buFont typeface="Arial" panose="020B0604020202020204" pitchFamily="34" charset="0"/>
              <a:buNone/>
            </a:pPr>
            <a:endParaRPr lang="zh-CN" altLang="en-US" dirty="0">
              <a:sym typeface="+mn-ea"/>
            </a:endParaRPr>
          </a:p>
        </p:txBody>
      </p:sp>
      <p:pic>
        <p:nvPicPr>
          <p:cNvPr id="2" name="图片 1"/>
          <p:cNvPicPr>
            <a:picLocks noChangeAspect="1"/>
          </p:cNvPicPr>
          <p:nvPr/>
        </p:nvPicPr>
        <p:blipFill>
          <a:blip r:embed="rId1"/>
          <a:stretch>
            <a:fillRect/>
          </a:stretch>
        </p:blipFill>
        <p:spPr>
          <a:xfrm>
            <a:off x="4121150" y="3639820"/>
            <a:ext cx="4565613" cy="2412000"/>
          </a:xfrm>
          <a:prstGeom prst="rect">
            <a:avLst/>
          </a:prstGeom>
          <a:ln>
            <a:solidFill>
              <a:schemeClr val="accent1"/>
            </a:solid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additive="base">
                                        <p:cTn id="13" dur="500" fill="hold"/>
                                        <p:tgtEl>
                                          <p:spTgt spid="17"/>
                                        </p:tgtEl>
                                        <p:attrNameLst>
                                          <p:attrName>ppt_x</p:attrName>
                                        </p:attrNameLst>
                                      </p:cBhvr>
                                      <p:tavLst>
                                        <p:tav tm="0">
                                          <p:val>
                                            <p:strVal val="#ppt_x"/>
                                          </p:val>
                                        </p:tav>
                                        <p:tav tm="100000">
                                          <p:val>
                                            <p:strVal val="#ppt_x"/>
                                          </p:val>
                                        </p:tav>
                                      </p:tavLst>
                                    </p:anim>
                                    <p:anim calcmode="lin" valueType="num">
                                      <p:cBhvr additive="base">
                                        <p:cTn id="14" dur="500" fill="hold"/>
                                        <p:tgtEl>
                                          <p:spTgt spid="17"/>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anim calcmode="lin" valueType="num">
                                      <p:cBhvr additive="base">
                                        <p:cTn id="17" dur="500" fill="hold"/>
                                        <p:tgtEl>
                                          <p:spTgt spid="18"/>
                                        </p:tgtEl>
                                        <p:attrNameLst>
                                          <p:attrName>ppt_x</p:attrName>
                                        </p:attrNameLst>
                                      </p:cBhvr>
                                      <p:tavLst>
                                        <p:tav tm="0">
                                          <p:val>
                                            <p:strVal val="#ppt_x"/>
                                          </p:val>
                                        </p:tav>
                                        <p:tav tm="100000">
                                          <p:val>
                                            <p:strVal val="#ppt_x"/>
                                          </p:val>
                                        </p:tav>
                                      </p:tavLst>
                                    </p:anim>
                                    <p:anim calcmode="lin" valueType="num">
                                      <p:cBhvr additive="base">
                                        <p:cTn id="18" dur="500" fill="hold"/>
                                        <p:tgtEl>
                                          <p:spTgt spid="18"/>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additive="base">
                                        <p:cTn id="21" dur="500" fill="hold"/>
                                        <p:tgtEl>
                                          <p:spTgt spid="9"/>
                                        </p:tgtEl>
                                        <p:attrNameLst>
                                          <p:attrName>ppt_x</p:attrName>
                                        </p:attrNameLst>
                                      </p:cBhvr>
                                      <p:tavLst>
                                        <p:tav tm="0">
                                          <p:val>
                                            <p:strVal val="#ppt_x"/>
                                          </p:val>
                                        </p:tav>
                                        <p:tav tm="100000">
                                          <p:val>
                                            <p:strVal val="#ppt_x"/>
                                          </p:val>
                                        </p:tav>
                                      </p:tavLst>
                                    </p:anim>
                                    <p:anim calcmode="lin" valueType="num">
                                      <p:cBhvr additive="base">
                                        <p:cTn id="2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 calcmode="lin" valueType="num">
                                      <p:cBhvr additive="base">
                                        <p:cTn id="27" dur="500" fill="hold"/>
                                        <p:tgtEl>
                                          <p:spTgt spid="2"/>
                                        </p:tgtEl>
                                        <p:attrNameLst>
                                          <p:attrName>ppt_x</p:attrName>
                                        </p:attrNameLst>
                                      </p:cBhvr>
                                      <p:tavLst>
                                        <p:tav tm="0">
                                          <p:val>
                                            <p:strVal val="#ppt_x"/>
                                          </p:val>
                                        </p:tav>
                                        <p:tav tm="100000">
                                          <p:val>
                                            <p:strVal val="#ppt_x"/>
                                          </p:val>
                                        </p:tav>
                                      </p:tavLst>
                                    </p:anim>
                                    <p:anim calcmode="lin" valueType="num">
                                      <p:cBhvr additive="base">
                                        <p:cTn id="2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17" grpId="0"/>
      <p:bldP spid="18" grpId="0"/>
      <p:bldP spid="17" grpId="1"/>
      <p:bldP spid="18" grpId="1"/>
      <p:bldP spid="9" grpId="0"/>
      <p:bldP spid="9" grpId="1"/>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5"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1" charset="-122"/>
              </a:rPr>
              <a:t>四、</a:t>
            </a:r>
            <a:r>
              <a:rPr lang="en-US" altLang="zh-CN" sz="3200" dirty="0">
                <a:solidFill>
                  <a:srgbClr val="FF0000"/>
                </a:solidFill>
                <a:ea typeface="黑体" panose="02010609060101010101" pitchFamily="1" charset="-122"/>
              </a:rPr>
              <a:t>T-SQL</a:t>
            </a:r>
            <a:r>
              <a:rPr lang="zh-CN" altLang="en-US" sz="3200" dirty="0">
                <a:solidFill>
                  <a:srgbClr val="FF0000"/>
                </a:solidFill>
                <a:ea typeface="黑体" panose="02010609060101010101" pitchFamily="1" charset="-122"/>
              </a:rPr>
              <a:t>编程</a:t>
            </a:r>
            <a:endParaRPr lang="zh-CN" altLang="en-US" sz="3200" dirty="0">
              <a:solidFill>
                <a:srgbClr val="FF0000"/>
              </a:solidFill>
              <a:ea typeface="黑体" panose="02010609060101010101" pitchFamily="1" charset="-122"/>
            </a:endParaRPr>
          </a:p>
        </p:txBody>
      </p:sp>
      <p:sp>
        <p:nvSpPr>
          <p:cNvPr id="5" name="Rectangle 3"/>
          <p:cNvSpPr txBox="1"/>
          <p:nvPr/>
        </p:nvSpPr>
        <p:spPr>
          <a:xfrm>
            <a:off x="501650" y="1351280"/>
            <a:ext cx="6886575" cy="747395"/>
          </a:xfrm>
          <a:prstGeom prst="rect">
            <a:avLst/>
          </a:prstGeom>
          <a:noFill/>
          <a:ln w="9525">
            <a:noFill/>
          </a:ln>
        </p:spPr>
        <p:txBody>
          <a:bodyPr anchor="t" anchorCtr="0"/>
          <a:p>
            <a:pPr>
              <a:buFont typeface="Wingdings" panose="05000000000000000000" pitchFamily="2" charset="2"/>
            </a:pPr>
            <a:r>
              <a:rPr lang="zh-CN" altLang="en-US" sz="2400" dirty="0">
                <a:solidFill>
                  <a:srgbClr val="0000FF"/>
                </a:solidFill>
                <a:latin typeface="华文中宋" panose="02010600040101010101" charset="-122"/>
                <a:ea typeface="华文中宋" panose="02010600040101010101" charset="-122"/>
                <a:cs typeface="华文中宋" panose="02010600040101010101" charset="-122"/>
                <a:sym typeface="+mn-ea"/>
              </a:rPr>
              <a:t>（</a:t>
            </a:r>
            <a:r>
              <a:rPr lang="en-US" altLang="zh-CN" sz="2400" dirty="0">
                <a:solidFill>
                  <a:srgbClr val="0000FF"/>
                </a:solidFill>
                <a:latin typeface="华文中宋" panose="02010600040101010101" charset="-122"/>
                <a:ea typeface="华文中宋" panose="02010600040101010101" charset="-122"/>
                <a:cs typeface="华文中宋" panose="02010600040101010101" charset="-122"/>
                <a:sym typeface="+mn-ea"/>
              </a:rPr>
              <a:t>2</a:t>
            </a:r>
            <a:r>
              <a:rPr lang="zh-CN" altLang="en-US" sz="2400" dirty="0">
                <a:solidFill>
                  <a:srgbClr val="0000FF"/>
                </a:solidFill>
                <a:latin typeface="华文中宋" panose="02010600040101010101" charset="-122"/>
                <a:ea typeface="华文中宋" panose="02010600040101010101" charset="-122"/>
                <a:cs typeface="华文中宋" panose="02010600040101010101" charset="-122"/>
                <a:sym typeface="+mn-ea"/>
              </a:rPr>
              <a:t>）</a:t>
            </a:r>
            <a:r>
              <a:rPr lang="en-US" altLang="zh-CN" sz="2400" dirty="0">
                <a:solidFill>
                  <a:srgbClr val="0000FF"/>
                </a:solidFill>
                <a:latin typeface="华文中宋" panose="02010600040101010101" charset="-122"/>
                <a:ea typeface="华文中宋" panose="02010600040101010101" charset="-122"/>
                <a:cs typeface="华文中宋" panose="02010600040101010101" charset="-122"/>
              </a:rPr>
              <a:t>判断是否有数据存在</a:t>
            </a:r>
            <a:endParaRPr lang="en-US" altLang="zh-CN" sz="2400" dirty="0">
              <a:solidFill>
                <a:srgbClr val="0000FF"/>
              </a:solidFill>
              <a:latin typeface="华文中宋" panose="02010600040101010101" charset="-122"/>
              <a:ea typeface="华文中宋" panose="02010600040101010101" charset="-122"/>
              <a:cs typeface="华文中宋" panose="02010600040101010101" charset="-122"/>
            </a:endParaRPr>
          </a:p>
        </p:txBody>
      </p:sp>
      <p:sp>
        <p:nvSpPr>
          <p:cNvPr id="4" name="文本框 3"/>
          <p:cNvSpPr txBox="1"/>
          <p:nvPr>
            <p:custDataLst>
              <p:tags r:id="rId1"/>
            </p:custDataLst>
          </p:nvPr>
        </p:nvSpPr>
        <p:spPr>
          <a:xfrm>
            <a:off x="687705" y="1830705"/>
            <a:ext cx="5123180" cy="829945"/>
          </a:xfrm>
          <a:prstGeom prst="rect">
            <a:avLst/>
          </a:prstGeom>
          <a:noFill/>
        </p:spPr>
        <p:txBody>
          <a:bodyPr wrap="square" rtlCol="0" anchor="t">
            <a:spAutoFit/>
          </a:bodyPr>
          <a:p>
            <a:pPr>
              <a:lnSpc>
                <a:spcPct val="120000"/>
              </a:lnSpc>
              <a:spcBef>
                <a:spcPts val="0"/>
              </a:spcBef>
              <a:spcAft>
                <a:spcPts val="0"/>
              </a:spcAft>
            </a:pPr>
            <a:r>
              <a:rPr lang="en-US" altLang="zh-CN" sz="2000" dirty="0">
                <a:solidFill>
                  <a:srgbClr val="FF0000"/>
                </a:solidFill>
                <a:sym typeface="+mn-ea"/>
              </a:rPr>
              <a:t>IF [NOT] EXISTS (SELECT </a:t>
            </a:r>
            <a:r>
              <a:rPr lang="zh-CN" altLang="en-US" sz="2000" dirty="0">
                <a:solidFill>
                  <a:srgbClr val="FF0000"/>
                </a:solidFill>
                <a:sym typeface="+mn-ea"/>
              </a:rPr>
              <a:t>语句</a:t>
            </a:r>
            <a:r>
              <a:rPr lang="en-US" altLang="zh-CN" sz="2000" dirty="0">
                <a:solidFill>
                  <a:srgbClr val="FF0000"/>
                </a:solidFill>
                <a:sym typeface="+mn-ea"/>
              </a:rPr>
              <a:t>)</a:t>
            </a:r>
            <a:endParaRPr lang="en-US" altLang="zh-CN" sz="2000" dirty="0">
              <a:solidFill>
                <a:srgbClr val="FF0000"/>
              </a:solidFill>
              <a:sym typeface="+mn-ea"/>
            </a:endParaRPr>
          </a:p>
          <a:p>
            <a:pPr>
              <a:lnSpc>
                <a:spcPct val="120000"/>
              </a:lnSpc>
              <a:spcBef>
                <a:spcPts val="0"/>
              </a:spcBef>
              <a:spcAft>
                <a:spcPts val="0"/>
              </a:spcAft>
            </a:pPr>
            <a:r>
              <a:rPr lang="en-US" altLang="zh-CN" sz="2000" dirty="0">
                <a:solidFill>
                  <a:srgbClr val="FF0000"/>
                </a:solidFill>
                <a:sym typeface="+mn-ea"/>
              </a:rPr>
              <a:t>     </a:t>
            </a:r>
            <a:r>
              <a:rPr lang="zh-CN" altLang="en-US" sz="2000" dirty="0">
                <a:solidFill>
                  <a:srgbClr val="FF0000"/>
                </a:solidFill>
                <a:sym typeface="+mn-ea"/>
              </a:rPr>
              <a:t>语句块</a:t>
            </a:r>
            <a:endParaRPr lang="zh-CN" altLang="en-US" sz="2000" dirty="0">
              <a:solidFill>
                <a:srgbClr val="FF0000"/>
              </a:solidFill>
              <a:sym typeface="+mn-ea"/>
            </a:endParaRPr>
          </a:p>
        </p:txBody>
      </p:sp>
      <p:sp>
        <p:nvSpPr>
          <p:cNvPr id="7" name="文本框 20"/>
          <p:cNvSpPr txBox="1"/>
          <p:nvPr/>
        </p:nvSpPr>
        <p:spPr>
          <a:xfrm>
            <a:off x="626110" y="2660650"/>
            <a:ext cx="7403465" cy="476885"/>
          </a:xfrm>
          <a:prstGeom prst="rect">
            <a:avLst/>
          </a:prstGeom>
          <a:noFill/>
          <a:ln w="9525">
            <a:noFill/>
          </a:ln>
        </p:spPr>
        <p:txBody>
          <a:bodyPr wrap="square">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ts val="0"/>
              </a:spcBef>
              <a:spcAft>
                <a:spcPts val="0"/>
              </a:spcAft>
              <a:buClrTx/>
              <a:buSzTx/>
              <a:buFont typeface="Arial" panose="020B0604020202020204" pitchFamily="34" charset="0"/>
              <a:buNone/>
            </a:pPr>
            <a:r>
              <a:rPr lang="en-US" altLang="zh-CN" dirty="0">
                <a:sym typeface="+mn-ea"/>
              </a:rPr>
              <a:t> </a:t>
            </a:r>
            <a:r>
              <a:rPr lang="zh-CN" altLang="en-US" dirty="0">
                <a:sym typeface="+mn-ea"/>
              </a:rPr>
              <a:t>用途：判断是否有数据</a:t>
            </a:r>
            <a:r>
              <a:rPr lang="zh-CN" altLang="en-US" dirty="0">
                <a:sym typeface="+mn-ea"/>
              </a:rPr>
              <a:t>存在。</a:t>
            </a:r>
            <a:endParaRPr lang="zh-CN" altLang="en-US" dirty="0">
              <a:sym typeface="+mn-ea"/>
            </a:endParaRPr>
          </a:p>
          <a:p>
            <a:pPr marL="0" lvl="0" indent="0" eaLnBrk="1" hangingPunct="1">
              <a:lnSpc>
                <a:spcPct val="120000"/>
              </a:lnSpc>
              <a:spcBef>
                <a:spcPts val="0"/>
              </a:spcBef>
              <a:spcAft>
                <a:spcPts val="0"/>
              </a:spcAft>
              <a:buClrTx/>
              <a:buSzTx/>
              <a:buFont typeface="Arial" panose="020B0604020202020204" pitchFamily="34" charset="0"/>
              <a:buNone/>
            </a:pPr>
            <a:endParaRPr lang="zh-CN" altLang="en-US" dirty="0">
              <a:sym typeface="+mn-ea"/>
            </a:endParaRPr>
          </a:p>
        </p:txBody>
      </p:sp>
      <p:sp>
        <p:nvSpPr>
          <p:cNvPr id="18" name="文本框 17"/>
          <p:cNvSpPr txBox="1"/>
          <p:nvPr/>
        </p:nvSpPr>
        <p:spPr>
          <a:xfrm>
            <a:off x="687705" y="3124200"/>
            <a:ext cx="690880" cy="49720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0"/>
              </a:spcBef>
              <a:buClrTx/>
              <a:buSzTx/>
              <a:buFont typeface="Arial" panose="020B0604020202020204" pitchFamily="34" charset="0"/>
              <a:buNone/>
            </a:pPr>
            <a:r>
              <a:rPr lang="zh-CN" altLang="en-US" sz="2200" dirty="0">
                <a:solidFill>
                  <a:srgbClr val="0000FF"/>
                </a:solidFill>
                <a:sym typeface="+mn-ea"/>
              </a:rPr>
              <a:t>例</a:t>
            </a:r>
            <a:r>
              <a:rPr lang="en-US" altLang="zh-CN" sz="2200" dirty="0">
                <a:solidFill>
                  <a:srgbClr val="0000FF"/>
                </a:solidFill>
                <a:sym typeface="+mn-ea"/>
              </a:rPr>
              <a:t>7</a:t>
            </a:r>
            <a:r>
              <a:rPr lang="zh-CN" altLang="en-US" sz="2200" dirty="0">
                <a:solidFill>
                  <a:srgbClr val="0000FF"/>
                </a:solidFill>
                <a:sym typeface="+mn-ea"/>
              </a:rPr>
              <a:t>：</a:t>
            </a:r>
            <a:endParaRPr lang="zh-CN" altLang="en-US" sz="2200" dirty="0">
              <a:solidFill>
                <a:srgbClr val="0000FF"/>
              </a:solidFill>
              <a:sym typeface="+mn-ea"/>
            </a:endParaRPr>
          </a:p>
        </p:txBody>
      </p:sp>
      <p:sp>
        <p:nvSpPr>
          <p:cNvPr id="17" name="文本框 16"/>
          <p:cNvSpPr txBox="1"/>
          <p:nvPr/>
        </p:nvSpPr>
        <p:spPr>
          <a:xfrm>
            <a:off x="1378585" y="3165475"/>
            <a:ext cx="6933565" cy="2426335"/>
          </a:xfrm>
          <a:prstGeom prst="rect">
            <a:avLst/>
          </a:prstGeom>
          <a:noFill/>
        </p:spPr>
        <p:txBody>
          <a:bodyPr wrap="square" rtlCol="0" anchor="t">
            <a:spAutoFit/>
          </a:bodyPr>
          <a:p>
            <a:pPr>
              <a:lnSpc>
                <a:spcPct val="115000"/>
              </a:lnSpc>
              <a:spcBef>
                <a:spcPts val="0"/>
              </a:spcBef>
              <a:spcAft>
                <a:spcPts val="0"/>
              </a:spcAft>
            </a:pPr>
            <a:r>
              <a:rPr lang="en-US" altLang="zh-CN" sz="2200">
                <a:solidFill>
                  <a:srgbClr val="0000FF"/>
                </a:solidFill>
              </a:rPr>
              <a:t>IF NOT EXISTS(SELECT * FROM </a:t>
            </a:r>
            <a:r>
              <a:rPr lang="en-US" altLang="zh-CN" sz="2200">
                <a:sym typeface="+mn-ea"/>
              </a:rPr>
              <a:t>stu</a:t>
            </a:r>
            <a:endParaRPr lang="en-US" altLang="zh-CN" sz="2200">
              <a:sym typeface="+mn-ea"/>
            </a:endParaRPr>
          </a:p>
          <a:p>
            <a:pPr>
              <a:lnSpc>
                <a:spcPct val="115000"/>
              </a:lnSpc>
              <a:spcBef>
                <a:spcPts val="0"/>
              </a:spcBef>
              <a:spcAft>
                <a:spcPts val="0"/>
              </a:spcAft>
            </a:pPr>
            <a:r>
              <a:rPr lang="en-US" altLang="zh-CN" sz="2200">
                <a:solidFill>
                  <a:srgbClr val="0000FF"/>
                </a:solidFill>
              </a:rPr>
              <a:t>                   WHERE </a:t>
            </a:r>
            <a:r>
              <a:rPr lang="en-US" altLang="zh-CN" sz="2200">
                <a:sym typeface="+mn-ea"/>
              </a:rPr>
              <a:t>SID='2015031011'</a:t>
            </a:r>
            <a:r>
              <a:rPr lang="en-US" altLang="zh-CN" sz="2200">
                <a:solidFill>
                  <a:srgbClr val="0000FF"/>
                </a:solidFill>
                <a:sym typeface="+mn-ea"/>
              </a:rPr>
              <a:t>)</a:t>
            </a:r>
            <a:endParaRPr lang="en-US" altLang="zh-CN" sz="2200">
              <a:solidFill>
                <a:srgbClr val="0000FF"/>
              </a:solidFill>
              <a:sym typeface="+mn-ea"/>
            </a:endParaRPr>
          </a:p>
          <a:p>
            <a:pPr>
              <a:lnSpc>
                <a:spcPct val="115000"/>
              </a:lnSpc>
              <a:spcBef>
                <a:spcPts val="0"/>
              </a:spcBef>
              <a:spcAft>
                <a:spcPts val="0"/>
              </a:spcAft>
            </a:pPr>
            <a:r>
              <a:rPr lang="en-US" altLang="zh-CN" sz="2200">
                <a:solidFill>
                  <a:srgbClr val="0000FF"/>
                </a:solidFill>
                <a:sym typeface="+mn-ea"/>
              </a:rPr>
              <a:t>BEGIN</a:t>
            </a:r>
            <a:endParaRPr lang="en-US" altLang="zh-CN" sz="2200">
              <a:solidFill>
                <a:srgbClr val="0000FF"/>
              </a:solidFill>
              <a:sym typeface="+mn-ea"/>
            </a:endParaRPr>
          </a:p>
          <a:p>
            <a:pPr>
              <a:lnSpc>
                <a:spcPct val="115000"/>
              </a:lnSpc>
              <a:spcBef>
                <a:spcPts val="0"/>
              </a:spcBef>
              <a:spcAft>
                <a:spcPts val="0"/>
              </a:spcAft>
            </a:pPr>
            <a:r>
              <a:rPr lang="en-US" altLang="zh-CN" sz="2200">
                <a:solidFill>
                  <a:srgbClr val="0000FF"/>
                </a:solidFill>
                <a:sym typeface="+mn-ea"/>
              </a:rPr>
              <a:t>      PRINT </a:t>
            </a:r>
            <a:r>
              <a:rPr lang="en-US" altLang="zh-CN" sz="2200">
                <a:solidFill>
                  <a:schemeClr val="tx1"/>
                </a:solidFill>
                <a:sym typeface="+mn-ea"/>
              </a:rPr>
              <a:t>‘</a:t>
            </a:r>
            <a:r>
              <a:rPr lang="zh-CN" altLang="en-US" sz="2200">
                <a:solidFill>
                  <a:schemeClr val="tx1"/>
                </a:solidFill>
                <a:sym typeface="+mn-ea"/>
              </a:rPr>
              <a:t>没有</a:t>
            </a:r>
            <a:r>
              <a:rPr lang="en-US" altLang="zh-CN" sz="2200">
                <a:solidFill>
                  <a:schemeClr val="tx1"/>
                </a:solidFill>
                <a:sym typeface="+mn-ea"/>
              </a:rPr>
              <a:t>010101</a:t>
            </a:r>
            <a:r>
              <a:rPr lang="zh-CN" altLang="en-US" sz="2200">
                <a:solidFill>
                  <a:schemeClr val="tx1"/>
                </a:solidFill>
                <a:sym typeface="+mn-ea"/>
              </a:rPr>
              <a:t>的任何记录</a:t>
            </a:r>
            <a:r>
              <a:rPr lang="en-US" altLang="zh-CN" sz="2200">
                <a:solidFill>
                  <a:schemeClr val="tx1"/>
                </a:solidFill>
                <a:sym typeface="+mn-ea"/>
              </a:rPr>
              <a:t>’</a:t>
            </a:r>
            <a:endParaRPr lang="en-US" altLang="zh-CN" sz="2200">
              <a:solidFill>
                <a:srgbClr val="0000FF"/>
              </a:solidFill>
              <a:sym typeface="+mn-ea"/>
            </a:endParaRPr>
          </a:p>
          <a:p>
            <a:pPr>
              <a:lnSpc>
                <a:spcPct val="115000"/>
              </a:lnSpc>
              <a:spcBef>
                <a:spcPts val="0"/>
              </a:spcBef>
              <a:spcAft>
                <a:spcPts val="0"/>
              </a:spcAft>
            </a:pPr>
            <a:r>
              <a:rPr lang="en-US" altLang="zh-CN" sz="2200">
                <a:solidFill>
                  <a:srgbClr val="0000FF"/>
                </a:solidFill>
                <a:sym typeface="+mn-ea"/>
              </a:rPr>
              <a:t>      </a:t>
            </a:r>
            <a:r>
              <a:rPr lang="en-US" altLang="zh-CN" sz="2200">
                <a:solidFill>
                  <a:srgbClr val="0000FF"/>
                </a:solidFill>
                <a:sym typeface="+mn-ea"/>
              </a:rPr>
              <a:t>RETURN</a:t>
            </a:r>
            <a:endParaRPr lang="en-US" altLang="zh-CN" sz="2200">
              <a:solidFill>
                <a:srgbClr val="0000FF"/>
              </a:solidFill>
              <a:sym typeface="+mn-ea"/>
            </a:endParaRPr>
          </a:p>
          <a:p>
            <a:pPr>
              <a:lnSpc>
                <a:spcPct val="115000"/>
              </a:lnSpc>
              <a:spcBef>
                <a:spcPts val="0"/>
              </a:spcBef>
              <a:spcAft>
                <a:spcPts val="0"/>
              </a:spcAft>
            </a:pPr>
            <a:r>
              <a:rPr lang="en-US" altLang="zh-CN" sz="2200">
                <a:solidFill>
                  <a:srgbClr val="0000FF"/>
                </a:solidFill>
                <a:sym typeface="+mn-ea"/>
              </a:rPr>
              <a:t>END</a:t>
            </a:r>
            <a:endParaRPr lang="en-US" altLang="zh-CN" sz="2200">
              <a:solidFill>
                <a:srgbClr val="0000FF"/>
              </a:solidFill>
              <a:sym typeface="+mn-ea"/>
            </a:endParaRPr>
          </a:p>
        </p:txBody>
      </p:sp>
      <p:sp>
        <p:nvSpPr>
          <p:cNvPr id="101379" name="Rectangle 3"/>
          <p:cNvSpPr txBox="1"/>
          <p:nvPr/>
        </p:nvSpPr>
        <p:spPr>
          <a:xfrm>
            <a:off x="501650" y="855663"/>
            <a:ext cx="8642350" cy="747712"/>
          </a:xfrm>
          <a:prstGeom prst="rect">
            <a:avLst/>
          </a:prstGeom>
          <a:noFill/>
          <a:ln w="9525">
            <a:noFill/>
          </a:ln>
        </p:spPr>
        <p:txBody>
          <a:bodyPr anchor="t" anchorCtr="0"/>
          <a:p>
            <a:pPr>
              <a:buFont typeface="Wingdings" panose="05000000000000000000" pitchFamily="2" charset="2"/>
            </a:pPr>
            <a:r>
              <a:rPr lang="en-US" altLang="zh-CN" sz="2400" dirty="0">
                <a:solidFill>
                  <a:srgbClr val="3333CC"/>
                </a:solidFill>
                <a:latin typeface="宋体" panose="02010600030101010101" pitchFamily="2" charset="-122"/>
                <a:ea typeface="黑体" panose="02010609060101010101" pitchFamily="1" charset="-122"/>
              </a:rPr>
              <a:t>3.</a:t>
            </a:r>
            <a:r>
              <a:rPr lang="zh-CN" altLang="en-US" sz="2400" dirty="0">
                <a:solidFill>
                  <a:srgbClr val="3333CC"/>
                </a:solidFill>
                <a:latin typeface="宋体" panose="02010600030101010101" pitchFamily="2" charset="-122"/>
                <a:ea typeface="黑体" panose="02010609060101010101" pitchFamily="1" charset="-122"/>
              </a:rPr>
              <a:t>流程控制</a:t>
            </a:r>
            <a:r>
              <a:rPr lang="zh-CN" altLang="en-US" sz="2400" dirty="0">
                <a:solidFill>
                  <a:srgbClr val="3333CC"/>
                </a:solidFill>
                <a:latin typeface="宋体" panose="02010600030101010101" pitchFamily="2" charset="-122"/>
                <a:ea typeface="黑体" panose="02010609060101010101" pitchFamily="1" charset="-122"/>
              </a:rPr>
              <a:t>语句</a:t>
            </a:r>
            <a:endParaRPr lang="zh-CN" altLang="en-US" sz="2400" dirty="0">
              <a:solidFill>
                <a:srgbClr val="3333CC"/>
              </a:solidFill>
              <a:latin typeface="宋体" panose="02010600030101010101" pitchFamily="2" charset="-122"/>
              <a:ea typeface="黑体" panose="02010609060101010101" pitchFamily="1" charset="-122"/>
            </a:endParaRPr>
          </a:p>
        </p:txBody>
      </p:sp>
      <p:pic>
        <p:nvPicPr>
          <p:cNvPr id="2" name="图片 1"/>
          <p:cNvPicPr>
            <a:picLocks noChangeAspect="1"/>
          </p:cNvPicPr>
          <p:nvPr/>
        </p:nvPicPr>
        <p:blipFill>
          <a:blip r:embed="rId2"/>
          <a:stretch>
            <a:fillRect/>
          </a:stretch>
        </p:blipFill>
        <p:spPr>
          <a:xfrm>
            <a:off x="3634105" y="3165475"/>
            <a:ext cx="5052414" cy="2664000"/>
          </a:xfrm>
          <a:prstGeom prst="rect">
            <a:avLst/>
          </a:prstGeom>
          <a:ln>
            <a:solidFill>
              <a:schemeClr val="accent1"/>
            </a:solid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additive="base">
                                        <p:cTn id="13" dur="500" fill="hold"/>
                                        <p:tgtEl>
                                          <p:spTgt spid="17"/>
                                        </p:tgtEl>
                                        <p:attrNameLst>
                                          <p:attrName>ppt_x</p:attrName>
                                        </p:attrNameLst>
                                      </p:cBhvr>
                                      <p:tavLst>
                                        <p:tav tm="0">
                                          <p:val>
                                            <p:strVal val="#ppt_x"/>
                                          </p:val>
                                        </p:tav>
                                        <p:tav tm="100000">
                                          <p:val>
                                            <p:strVal val="#ppt_x"/>
                                          </p:val>
                                        </p:tav>
                                      </p:tavLst>
                                    </p:anim>
                                    <p:anim calcmode="lin" valueType="num">
                                      <p:cBhvr additive="base">
                                        <p:cTn id="14"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8" grpId="1"/>
      <p:bldP spid="17" grpId="0"/>
      <p:bldP spid="17" grpId="1"/>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5"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1" charset="-122"/>
              </a:rPr>
              <a:t>四、</a:t>
            </a:r>
            <a:r>
              <a:rPr lang="en-US" altLang="zh-CN" sz="3200" dirty="0">
                <a:solidFill>
                  <a:srgbClr val="FF0000"/>
                </a:solidFill>
                <a:ea typeface="黑体" panose="02010609060101010101" pitchFamily="1" charset="-122"/>
              </a:rPr>
              <a:t>T-SQL</a:t>
            </a:r>
            <a:r>
              <a:rPr lang="zh-CN" altLang="en-US" sz="3200" dirty="0">
                <a:solidFill>
                  <a:srgbClr val="FF0000"/>
                </a:solidFill>
                <a:ea typeface="黑体" panose="02010609060101010101" pitchFamily="1" charset="-122"/>
              </a:rPr>
              <a:t>编程</a:t>
            </a:r>
            <a:endParaRPr lang="zh-CN" altLang="en-US" sz="3200" dirty="0">
              <a:solidFill>
                <a:srgbClr val="FF0000"/>
              </a:solidFill>
              <a:ea typeface="黑体" panose="02010609060101010101" pitchFamily="1" charset="-122"/>
            </a:endParaRPr>
          </a:p>
        </p:txBody>
      </p:sp>
      <p:sp>
        <p:nvSpPr>
          <p:cNvPr id="101379" name="Rectangle 3"/>
          <p:cNvSpPr txBox="1"/>
          <p:nvPr/>
        </p:nvSpPr>
        <p:spPr>
          <a:xfrm>
            <a:off x="501650" y="855663"/>
            <a:ext cx="8642350" cy="747712"/>
          </a:xfrm>
          <a:prstGeom prst="rect">
            <a:avLst/>
          </a:prstGeom>
          <a:noFill/>
          <a:ln w="9525">
            <a:noFill/>
          </a:ln>
        </p:spPr>
        <p:txBody>
          <a:bodyPr anchor="t" anchorCtr="0"/>
          <a:p>
            <a:pPr>
              <a:buFont typeface="Wingdings" panose="05000000000000000000" pitchFamily="2" charset="2"/>
            </a:pPr>
            <a:r>
              <a:rPr lang="en-US" altLang="zh-CN" sz="2400" dirty="0">
                <a:solidFill>
                  <a:srgbClr val="3333CC"/>
                </a:solidFill>
                <a:latin typeface="宋体" panose="02010600030101010101" pitchFamily="2" charset="-122"/>
                <a:ea typeface="黑体" panose="02010609060101010101" pitchFamily="1" charset="-122"/>
              </a:rPr>
              <a:t>3.</a:t>
            </a:r>
            <a:r>
              <a:rPr lang="zh-CN" altLang="en-US" sz="2400" dirty="0">
                <a:solidFill>
                  <a:srgbClr val="3333CC"/>
                </a:solidFill>
                <a:latin typeface="宋体" panose="02010600030101010101" pitchFamily="2" charset="-122"/>
                <a:ea typeface="黑体" panose="02010609060101010101" pitchFamily="1" charset="-122"/>
              </a:rPr>
              <a:t>流程控制</a:t>
            </a:r>
            <a:r>
              <a:rPr lang="zh-CN" altLang="en-US" sz="2400" dirty="0">
                <a:solidFill>
                  <a:srgbClr val="3333CC"/>
                </a:solidFill>
                <a:latin typeface="宋体" panose="02010600030101010101" pitchFamily="2" charset="-122"/>
                <a:ea typeface="黑体" panose="02010609060101010101" pitchFamily="1" charset="-122"/>
              </a:rPr>
              <a:t>语句</a:t>
            </a:r>
            <a:endParaRPr lang="zh-CN" altLang="en-US" sz="2400" dirty="0">
              <a:solidFill>
                <a:srgbClr val="3333CC"/>
              </a:solidFill>
              <a:latin typeface="宋体" panose="02010600030101010101" pitchFamily="2" charset="-122"/>
              <a:ea typeface="黑体" panose="02010609060101010101" pitchFamily="1" charset="-122"/>
            </a:endParaRPr>
          </a:p>
        </p:txBody>
      </p:sp>
      <p:sp>
        <p:nvSpPr>
          <p:cNvPr id="5" name="文本框 4"/>
          <p:cNvSpPr txBox="1"/>
          <p:nvPr/>
        </p:nvSpPr>
        <p:spPr>
          <a:xfrm>
            <a:off x="377825" y="1313180"/>
            <a:ext cx="4572000" cy="429895"/>
          </a:xfrm>
          <a:prstGeom prst="rect">
            <a:avLst/>
          </a:prstGeom>
          <a:noFill/>
        </p:spPr>
        <p:txBody>
          <a:bodyPr wrap="square" rtlCol="0" anchor="t">
            <a:spAutoFit/>
          </a:bodyPr>
          <a:p>
            <a:pPr marL="342900" lvl="0" indent="-342900" eaLnBrk="1" hangingPunct="1">
              <a:buFont typeface="Arial" panose="020B0604020202020204" pitchFamily="34" charset="0"/>
              <a:buNone/>
            </a:pPr>
            <a:r>
              <a:rPr lang="zh-CN" altLang="en-US" sz="2200" dirty="0">
                <a:solidFill>
                  <a:srgbClr val="0000FF"/>
                </a:solidFill>
                <a:latin typeface="华文中宋" panose="02010600040101010101" charset="-122"/>
                <a:ea typeface="华文中宋" panose="02010600040101010101" charset="-122"/>
                <a:cs typeface="华文中宋" panose="02010600040101010101" charset="-122"/>
                <a:sym typeface="+mn-ea"/>
              </a:rPr>
              <a:t>（</a:t>
            </a:r>
            <a:r>
              <a:rPr lang="en-US" altLang="zh-CN" sz="2200" dirty="0">
                <a:solidFill>
                  <a:srgbClr val="0000FF"/>
                </a:solidFill>
                <a:latin typeface="华文中宋" panose="02010600040101010101" charset="-122"/>
                <a:ea typeface="华文中宋" panose="02010600040101010101" charset="-122"/>
                <a:cs typeface="华文中宋" panose="02010600040101010101" charset="-122"/>
                <a:sym typeface="+mn-ea"/>
              </a:rPr>
              <a:t>3</a:t>
            </a:r>
            <a:r>
              <a:rPr lang="zh-CN" altLang="en-US" sz="2200" dirty="0">
                <a:solidFill>
                  <a:srgbClr val="0000FF"/>
                </a:solidFill>
                <a:latin typeface="华文中宋" panose="02010600040101010101" charset="-122"/>
                <a:ea typeface="华文中宋" panose="02010600040101010101" charset="-122"/>
                <a:cs typeface="华文中宋" panose="02010600040101010101" charset="-122"/>
                <a:sym typeface="+mn-ea"/>
              </a:rPr>
              <a:t>）</a:t>
            </a:r>
            <a:r>
              <a:rPr lang="en-US" altLang="zh-CN" sz="2200" dirty="0">
                <a:solidFill>
                  <a:srgbClr val="0000FF"/>
                </a:solidFill>
                <a:latin typeface="华文中宋" panose="02010600040101010101" charset="-122"/>
                <a:ea typeface="华文中宋" panose="02010600040101010101" charset="-122"/>
                <a:cs typeface="华文中宋" panose="02010600040101010101" charset="-122"/>
                <a:sym typeface="+mn-ea"/>
              </a:rPr>
              <a:t>CASE</a:t>
            </a:r>
            <a:endParaRPr lang="zh-CN" altLang="en-US" sz="2200" dirty="0">
              <a:solidFill>
                <a:srgbClr val="0000FF"/>
              </a:solidFill>
              <a:latin typeface="华文中宋" panose="02010600040101010101" charset="-122"/>
              <a:ea typeface="华文中宋" panose="02010600040101010101" charset="-122"/>
              <a:cs typeface="华文中宋" panose="02010600040101010101" charset="-122"/>
              <a:sym typeface="+mn-ea"/>
            </a:endParaRPr>
          </a:p>
        </p:txBody>
      </p:sp>
      <p:sp>
        <p:nvSpPr>
          <p:cNvPr id="7" name="文本框 20"/>
          <p:cNvSpPr txBox="1"/>
          <p:nvPr/>
        </p:nvSpPr>
        <p:spPr>
          <a:xfrm>
            <a:off x="542925" y="1698625"/>
            <a:ext cx="8418830" cy="476885"/>
          </a:xfrm>
          <a:prstGeom prst="rect">
            <a:avLst/>
          </a:prstGeom>
          <a:noFill/>
          <a:ln w="9525">
            <a:noFill/>
          </a:ln>
        </p:spPr>
        <p:txBody>
          <a:bodyPr wrap="square">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ts val="0"/>
              </a:spcBef>
              <a:spcAft>
                <a:spcPts val="0"/>
              </a:spcAft>
              <a:buClrTx/>
              <a:buSzTx/>
              <a:buFont typeface="Arial" panose="020B0604020202020204" pitchFamily="34" charset="0"/>
              <a:buNone/>
            </a:pPr>
            <a:r>
              <a:rPr lang="en-US" altLang="zh-CN" dirty="0">
                <a:sym typeface="+mn-ea"/>
              </a:rPr>
              <a:t>       </a:t>
            </a:r>
            <a:r>
              <a:rPr lang="zh-CN" altLang="en-US" dirty="0">
                <a:sym typeface="+mn-ea"/>
              </a:rPr>
              <a:t>用途：多重选择分支。分为简单</a:t>
            </a:r>
            <a:r>
              <a:rPr lang="en-US" altLang="zh-CN" dirty="0">
                <a:sym typeface="+mn-ea"/>
              </a:rPr>
              <a:t>CASE</a:t>
            </a:r>
            <a:r>
              <a:rPr lang="zh-CN" altLang="en-US" dirty="0">
                <a:sym typeface="+mn-ea"/>
              </a:rPr>
              <a:t>和搜索</a:t>
            </a:r>
            <a:r>
              <a:rPr lang="en-US" altLang="zh-CN" dirty="0">
                <a:sym typeface="+mn-ea"/>
              </a:rPr>
              <a:t>CASE</a:t>
            </a:r>
            <a:r>
              <a:rPr lang="zh-CN" altLang="en-US" dirty="0">
                <a:sym typeface="+mn-ea"/>
              </a:rPr>
              <a:t>，类似于</a:t>
            </a:r>
            <a:r>
              <a:rPr lang="en-US" altLang="zh-CN" dirty="0">
                <a:sym typeface="+mn-ea"/>
              </a:rPr>
              <a:t>C/C++</a:t>
            </a:r>
            <a:r>
              <a:rPr lang="zh-CN" altLang="en-US" dirty="0">
                <a:sym typeface="+mn-ea"/>
              </a:rPr>
              <a:t>中的</a:t>
            </a:r>
            <a:r>
              <a:rPr lang="en-US" altLang="zh-CN" dirty="0">
                <a:sym typeface="+mn-ea"/>
              </a:rPr>
              <a:t>SWITCH</a:t>
            </a:r>
            <a:r>
              <a:rPr lang="zh-CN" altLang="en-US" dirty="0">
                <a:sym typeface="+mn-ea"/>
              </a:rPr>
              <a:t>用法。</a:t>
            </a:r>
            <a:endParaRPr lang="zh-CN" altLang="en-US" dirty="0">
              <a:sym typeface="+mn-ea"/>
            </a:endParaRPr>
          </a:p>
          <a:p>
            <a:pPr marL="0" lvl="0" indent="0" eaLnBrk="1" hangingPunct="1">
              <a:lnSpc>
                <a:spcPct val="120000"/>
              </a:lnSpc>
              <a:spcBef>
                <a:spcPts val="0"/>
              </a:spcBef>
              <a:spcAft>
                <a:spcPts val="0"/>
              </a:spcAft>
              <a:buClrTx/>
              <a:buSzTx/>
              <a:buFont typeface="Arial" panose="020B0604020202020204" pitchFamily="34" charset="0"/>
              <a:buNone/>
            </a:pPr>
            <a:endParaRPr lang="zh-CN" altLang="en-US" dirty="0">
              <a:sym typeface="+mn-ea"/>
            </a:endParaRPr>
          </a:p>
        </p:txBody>
      </p:sp>
      <p:sp>
        <p:nvSpPr>
          <p:cNvPr id="3" name="文本框 20"/>
          <p:cNvSpPr txBox="1"/>
          <p:nvPr/>
        </p:nvSpPr>
        <p:spPr>
          <a:xfrm>
            <a:off x="542925" y="2527935"/>
            <a:ext cx="8418830" cy="476885"/>
          </a:xfrm>
          <a:prstGeom prst="rect">
            <a:avLst/>
          </a:prstGeom>
          <a:noFill/>
          <a:ln w="9525">
            <a:noFill/>
          </a:ln>
        </p:spPr>
        <p:txBody>
          <a:bodyPr wrap="square">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ts val="0"/>
              </a:spcBef>
              <a:spcAft>
                <a:spcPts val="0"/>
              </a:spcAft>
              <a:buClrTx/>
              <a:buSzTx/>
              <a:buFont typeface="Arial" panose="020B0604020202020204" pitchFamily="34" charset="0"/>
              <a:buNone/>
            </a:pPr>
            <a:r>
              <a:rPr lang="en-US" altLang="zh-CN" dirty="0">
                <a:sym typeface="+mn-ea"/>
              </a:rPr>
              <a:t> </a:t>
            </a:r>
            <a:r>
              <a:rPr lang="en-US" dirty="0">
                <a:sym typeface="+mn-ea"/>
              </a:rPr>
              <a:t>1</a:t>
            </a:r>
            <a:r>
              <a:rPr lang="zh-CN" altLang="en-US" dirty="0">
                <a:sym typeface="+mn-ea"/>
              </a:rPr>
              <a:t>）简单</a:t>
            </a:r>
            <a:r>
              <a:rPr lang="en-US" altLang="zh-CN" dirty="0">
                <a:sym typeface="+mn-ea"/>
              </a:rPr>
              <a:t>CASE</a:t>
            </a:r>
            <a:r>
              <a:rPr lang="zh-CN" altLang="en-US" dirty="0">
                <a:sym typeface="+mn-ea"/>
              </a:rPr>
              <a:t>。将某个表达式与一组简单的表达式比较以决定</a:t>
            </a:r>
            <a:r>
              <a:rPr lang="zh-CN" altLang="en-US" dirty="0">
                <a:sym typeface="+mn-ea"/>
              </a:rPr>
              <a:t>结果。</a:t>
            </a:r>
            <a:endParaRPr lang="zh-CN" altLang="en-US" dirty="0">
              <a:sym typeface="+mn-ea"/>
            </a:endParaRPr>
          </a:p>
        </p:txBody>
      </p:sp>
      <p:sp>
        <p:nvSpPr>
          <p:cNvPr id="4" name="文本框 3"/>
          <p:cNvSpPr txBox="1"/>
          <p:nvPr>
            <p:custDataLst>
              <p:tags r:id="rId1"/>
            </p:custDataLst>
          </p:nvPr>
        </p:nvSpPr>
        <p:spPr>
          <a:xfrm>
            <a:off x="847090" y="3004820"/>
            <a:ext cx="5026025" cy="1751965"/>
          </a:xfrm>
          <a:prstGeom prst="rect">
            <a:avLst/>
          </a:prstGeom>
          <a:noFill/>
        </p:spPr>
        <p:txBody>
          <a:bodyPr wrap="square" rtlCol="0" anchor="t">
            <a:spAutoFit/>
          </a:bodyPr>
          <a:p>
            <a:pPr>
              <a:lnSpc>
                <a:spcPct val="120000"/>
              </a:lnSpc>
              <a:spcBef>
                <a:spcPts val="0"/>
              </a:spcBef>
              <a:spcAft>
                <a:spcPts val="0"/>
              </a:spcAft>
            </a:pPr>
            <a:r>
              <a:rPr lang="en-US" altLang="zh-CN" sz="1800" dirty="0">
                <a:solidFill>
                  <a:srgbClr val="FF0000"/>
                </a:solidFill>
                <a:sym typeface="+mn-ea"/>
              </a:rPr>
              <a:t>CASE </a:t>
            </a:r>
            <a:r>
              <a:rPr lang="zh-CN" altLang="en-US" sz="1800" dirty="0">
                <a:solidFill>
                  <a:srgbClr val="FF0000"/>
                </a:solidFill>
                <a:sym typeface="+mn-ea"/>
              </a:rPr>
              <a:t>输入</a:t>
            </a:r>
            <a:r>
              <a:rPr lang="zh-CN" altLang="en-US" sz="1800" dirty="0">
                <a:solidFill>
                  <a:srgbClr val="FF0000"/>
                </a:solidFill>
                <a:sym typeface="+mn-ea"/>
              </a:rPr>
              <a:t>表达式</a:t>
            </a:r>
            <a:endParaRPr lang="zh-CN" altLang="en-US" sz="1800" dirty="0">
              <a:solidFill>
                <a:srgbClr val="FF0000"/>
              </a:solidFill>
              <a:sym typeface="+mn-ea"/>
            </a:endParaRPr>
          </a:p>
          <a:p>
            <a:pPr>
              <a:lnSpc>
                <a:spcPct val="120000"/>
              </a:lnSpc>
              <a:spcBef>
                <a:spcPts val="0"/>
              </a:spcBef>
              <a:spcAft>
                <a:spcPts val="0"/>
              </a:spcAft>
            </a:pPr>
            <a:r>
              <a:rPr lang="en-US" altLang="zh-CN" sz="1800" dirty="0">
                <a:solidFill>
                  <a:srgbClr val="FF0000"/>
                </a:solidFill>
                <a:sym typeface="+mn-ea"/>
              </a:rPr>
              <a:t>      WHEN </a:t>
            </a:r>
            <a:r>
              <a:rPr lang="zh-CN" altLang="en-US" sz="1800" dirty="0">
                <a:solidFill>
                  <a:srgbClr val="FF0000"/>
                </a:solidFill>
                <a:sym typeface="+mn-ea"/>
              </a:rPr>
              <a:t>表达式</a:t>
            </a:r>
            <a:r>
              <a:rPr lang="en-US" altLang="zh-CN" sz="1800" dirty="0">
                <a:solidFill>
                  <a:srgbClr val="FF0000"/>
                </a:solidFill>
                <a:sym typeface="+mn-ea"/>
              </a:rPr>
              <a:t>1 THEN </a:t>
            </a:r>
            <a:r>
              <a:rPr lang="zh-CN" altLang="en-US" sz="1800" dirty="0">
                <a:solidFill>
                  <a:srgbClr val="FF0000"/>
                </a:solidFill>
                <a:sym typeface="+mn-ea"/>
              </a:rPr>
              <a:t>结果表达式</a:t>
            </a:r>
            <a:r>
              <a:rPr lang="en-US" altLang="zh-CN" sz="1800" dirty="0">
                <a:solidFill>
                  <a:srgbClr val="FF0000"/>
                </a:solidFill>
                <a:sym typeface="+mn-ea"/>
              </a:rPr>
              <a:t>1</a:t>
            </a:r>
            <a:endParaRPr lang="en-US" altLang="zh-CN" sz="1800" dirty="0">
              <a:solidFill>
                <a:srgbClr val="FF0000"/>
              </a:solidFill>
              <a:sym typeface="+mn-ea"/>
            </a:endParaRPr>
          </a:p>
          <a:p>
            <a:pPr>
              <a:lnSpc>
                <a:spcPct val="120000"/>
              </a:lnSpc>
              <a:spcBef>
                <a:spcPts val="0"/>
              </a:spcBef>
              <a:spcAft>
                <a:spcPts val="0"/>
              </a:spcAft>
            </a:pPr>
            <a:r>
              <a:rPr lang="en-US" altLang="zh-CN" sz="1800" dirty="0">
                <a:solidFill>
                  <a:srgbClr val="FF0000"/>
                </a:solidFill>
                <a:sym typeface="+mn-ea"/>
              </a:rPr>
              <a:t>      [,..n]</a:t>
            </a:r>
            <a:endParaRPr lang="en-US" altLang="zh-CN" sz="1800" dirty="0">
              <a:solidFill>
                <a:srgbClr val="FF0000"/>
              </a:solidFill>
              <a:sym typeface="+mn-ea"/>
            </a:endParaRPr>
          </a:p>
          <a:p>
            <a:pPr>
              <a:lnSpc>
                <a:spcPct val="120000"/>
              </a:lnSpc>
              <a:spcBef>
                <a:spcPts val="0"/>
              </a:spcBef>
              <a:spcAft>
                <a:spcPts val="0"/>
              </a:spcAft>
            </a:pPr>
            <a:r>
              <a:rPr lang="en-US" altLang="zh-CN" sz="1800" dirty="0">
                <a:solidFill>
                  <a:srgbClr val="FF0000"/>
                </a:solidFill>
                <a:sym typeface="+mn-ea"/>
              </a:rPr>
              <a:t>      [ELSE </a:t>
            </a:r>
            <a:r>
              <a:rPr lang="zh-CN" altLang="en-US" sz="1800" dirty="0">
                <a:solidFill>
                  <a:srgbClr val="FF0000"/>
                </a:solidFill>
                <a:sym typeface="+mn-ea"/>
              </a:rPr>
              <a:t>结果表达式</a:t>
            </a:r>
            <a:r>
              <a:rPr lang="en-US" altLang="zh-CN" sz="1800" dirty="0">
                <a:solidFill>
                  <a:srgbClr val="FF0000"/>
                </a:solidFill>
                <a:sym typeface="+mn-ea"/>
              </a:rPr>
              <a:t>]</a:t>
            </a:r>
            <a:endParaRPr lang="en-US" altLang="zh-CN" sz="1800" dirty="0">
              <a:solidFill>
                <a:srgbClr val="FF0000"/>
              </a:solidFill>
              <a:sym typeface="+mn-ea"/>
            </a:endParaRPr>
          </a:p>
          <a:p>
            <a:pPr>
              <a:lnSpc>
                <a:spcPct val="120000"/>
              </a:lnSpc>
              <a:spcBef>
                <a:spcPts val="0"/>
              </a:spcBef>
              <a:spcAft>
                <a:spcPts val="0"/>
              </a:spcAft>
            </a:pPr>
            <a:r>
              <a:rPr lang="en-US" altLang="zh-CN" sz="1800" dirty="0">
                <a:solidFill>
                  <a:srgbClr val="FF0000"/>
                </a:solidFill>
                <a:sym typeface="+mn-ea"/>
              </a:rPr>
              <a:t>END</a:t>
            </a:r>
            <a:endParaRPr lang="en-US" altLang="zh-CN" sz="1800" dirty="0">
              <a:solidFill>
                <a:srgbClr val="FF0000"/>
              </a:solidFill>
              <a:sym typeface="+mn-ea"/>
            </a:endParaRPr>
          </a:p>
        </p:txBody>
      </p:sp>
      <p:sp>
        <p:nvSpPr>
          <p:cNvPr id="8" name="文本框 20"/>
          <p:cNvSpPr txBox="1"/>
          <p:nvPr/>
        </p:nvSpPr>
        <p:spPr>
          <a:xfrm>
            <a:off x="501650" y="4772025"/>
            <a:ext cx="8418830" cy="476885"/>
          </a:xfrm>
          <a:prstGeom prst="rect">
            <a:avLst/>
          </a:prstGeom>
          <a:noFill/>
          <a:ln w="9525">
            <a:noFill/>
          </a:ln>
        </p:spPr>
        <p:txBody>
          <a:bodyPr wrap="square">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ts val="0"/>
              </a:spcBef>
              <a:spcAft>
                <a:spcPts val="0"/>
              </a:spcAft>
              <a:buClrTx/>
              <a:buSzTx/>
              <a:buFont typeface="Arial" panose="020B0604020202020204" pitchFamily="34" charset="0"/>
              <a:buNone/>
            </a:pPr>
            <a:r>
              <a:rPr lang="en-US" altLang="zh-CN" dirty="0">
                <a:sym typeface="+mn-ea"/>
              </a:rPr>
              <a:t>      </a:t>
            </a:r>
            <a:r>
              <a:rPr lang="zh-CN" altLang="en-US" dirty="0">
                <a:sym typeface="+mn-ea"/>
              </a:rPr>
              <a:t>当</a:t>
            </a:r>
            <a:r>
              <a:rPr lang="en-US" altLang="zh-CN" dirty="0">
                <a:sym typeface="+mn-ea"/>
              </a:rPr>
              <a:t>“</a:t>
            </a:r>
            <a:r>
              <a:rPr lang="zh-CN" altLang="en-US" dirty="0">
                <a:sym typeface="+mn-ea"/>
              </a:rPr>
              <a:t>输入表达式</a:t>
            </a:r>
            <a:r>
              <a:rPr lang="en-US" altLang="zh-CN" dirty="0">
                <a:sym typeface="+mn-ea"/>
              </a:rPr>
              <a:t>”</a:t>
            </a:r>
            <a:r>
              <a:rPr lang="zh-CN" altLang="en-US" dirty="0">
                <a:sym typeface="+mn-ea"/>
              </a:rPr>
              <a:t>等于第</a:t>
            </a:r>
            <a:r>
              <a:rPr lang="en-US" altLang="zh-CN" dirty="0">
                <a:sym typeface="+mn-ea"/>
              </a:rPr>
              <a:t>i</a:t>
            </a:r>
            <a:r>
              <a:rPr lang="zh-CN" altLang="en-US" dirty="0">
                <a:sym typeface="+mn-ea"/>
              </a:rPr>
              <a:t>个</a:t>
            </a:r>
            <a:r>
              <a:rPr lang="en-US" altLang="zh-CN" dirty="0">
                <a:sym typeface="+mn-ea"/>
              </a:rPr>
              <a:t>WHEN</a:t>
            </a:r>
            <a:r>
              <a:rPr lang="zh-CN" altLang="en-US" dirty="0">
                <a:sym typeface="+mn-ea"/>
              </a:rPr>
              <a:t>的</a:t>
            </a:r>
            <a:r>
              <a:rPr lang="en-US" altLang="zh-CN" dirty="0">
                <a:sym typeface="+mn-ea"/>
              </a:rPr>
              <a:t>“</a:t>
            </a:r>
            <a:r>
              <a:rPr lang="zh-CN" altLang="en-US" dirty="0">
                <a:sym typeface="+mn-ea"/>
              </a:rPr>
              <a:t>表达式</a:t>
            </a:r>
            <a:r>
              <a:rPr lang="en-US" altLang="zh-CN" dirty="0">
                <a:sym typeface="+mn-ea"/>
              </a:rPr>
              <a:t>”</a:t>
            </a:r>
            <a:r>
              <a:rPr lang="zh-CN" altLang="en-US" dirty="0">
                <a:sym typeface="+mn-ea"/>
              </a:rPr>
              <a:t>时，返回第</a:t>
            </a:r>
            <a:r>
              <a:rPr lang="en-US" altLang="zh-CN" dirty="0">
                <a:sym typeface="+mn-ea"/>
              </a:rPr>
              <a:t>i</a:t>
            </a:r>
            <a:r>
              <a:rPr lang="zh-CN" altLang="en-US" dirty="0">
                <a:sym typeface="+mn-ea"/>
              </a:rPr>
              <a:t>个</a:t>
            </a:r>
            <a:r>
              <a:rPr lang="en-US" altLang="zh-CN" dirty="0">
                <a:sym typeface="+mn-ea"/>
              </a:rPr>
              <a:t>“</a:t>
            </a:r>
            <a:r>
              <a:rPr lang="zh-CN" altLang="en-US" dirty="0">
                <a:sym typeface="+mn-ea"/>
              </a:rPr>
              <a:t>结果表达式</a:t>
            </a:r>
            <a:r>
              <a:rPr lang="en-US" altLang="zh-CN" dirty="0">
                <a:sym typeface="+mn-ea"/>
              </a:rPr>
              <a:t>”</a:t>
            </a:r>
            <a:r>
              <a:rPr lang="zh-CN" altLang="en-US" dirty="0">
                <a:sym typeface="+mn-ea"/>
              </a:rPr>
              <a:t>。当所有</a:t>
            </a:r>
            <a:r>
              <a:rPr lang="en-US" altLang="zh-CN" dirty="0">
                <a:sym typeface="+mn-ea"/>
              </a:rPr>
              <a:t>WHEN</a:t>
            </a:r>
            <a:r>
              <a:rPr lang="zh-CN" altLang="en-US" dirty="0">
                <a:sym typeface="+mn-ea"/>
              </a:rPr>
              <a:t>的比较都不满足时，如果有</a:t>
            </a:r>
            <a:r>
              <a:rPr lang="en-US" altLang="zh-CN" dirty="0">
                <a:sym typeface="+mn-ea"/>
              </a:rPr>
              <a:t>ELSE</a:t>
            </a:r>
            <a:r>
              <a:rPr lang="zh-CN" altLang="en-US" dirty="0">
                <a:sym typeface="+mn-ea"/>
              </a:rPr>
              <a:t>，返回</a:t>
            </a:r>
            <a:r>
              <a:rPr lang="en-US" altLang="zh-CN" dirty="0">
                <a:sym typeface="+mn-ea"/>
              </a:rPr>
              <a:t>ELSE</a:t>
            </a:r>
            <a:r>
              <a:rPr lang="zh-CN" altLang="en-US" dirty="0">
                <a:sym typeface="+mn-ea"/>
              </a:rPr>
              <a:t>的结果表达式；否则，返回</a:t>
            </a:r>
            <a:r>
              <a:rPr lang="en-US" altLang="zh-CN" dirty="0">
                <a:sym typeface="+mn-ea"/>
              </a:rPr>
              <a:t>NULL</a:t>
            </a:r>
            <a:r>
              <a:rPr lang="zh-CN" altLang="en-US" dirty="0">
                <a:sym typeface="+mn-ea"/>
              </a:rPr>
              <a:t>。</a:t>
            </a:r>
            <a:endParaRPr lang="zh-CN" altLang="en-US" dirty="0">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
                                          </p:val>
                                        </p:tav>
                                        <p:tav tm="100000">
                                          <p:val>
                                            <p:strVal val="#ppt_x"/>
                                          </p:val>
                                        </p:tav>
                                      </p:tavLst>
                                    </p:anim>
                                    <p:anim calcmode="lin" valueType="num">
                                      <p:cBhvr additive="base">
                                        <p:cTn id="18" dur="500" fill="hold"/>
                                        <p:tgtEl>
                                          <p:spTgt spid="4"/>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additive="base">
                                        <p:cTn id="21" dur="500" fill="hold"/>
                                        <p:tgtEl>
                                          <p:spTgt spid="8"/>
                                        </p:tgtEl>
                                        <p:attrNameLst>
                                          <p:attrName>ppt_x</p:attrName>
                                        </p:attrNameLst>
                                      </p:cBhvr>
                                      <p:tavLst>
                                        <p:tav tm="0">
                                          <p:val>
                                            <p:strVal val="#ppt_x"/>
                                          </p:val>
                                        </p:tav>
                                        <p:tav tm="100000">
                                          <p:val>
                                            <p:strVal val="#ppt_x"/>
                                          </p:val>
                                        </p:tav>
                                      </p:tavLst>
                                    </p:anim>
                                    <p:anim calcmode="lin" valueType="num">
                                      <p:cBhvr additive="base">
                                        <p:cTn id="2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3" grpId="0"/>
      <p:bldP spid="3" grpId="1"/>
      <p:bldP spid="4" grpId="0"/>
      <p:bldP spid="4" grpId="1"/>
      <p:bldP spid="8" grpId="0"/>
      <p:bldP spid="8" grpId="1"/>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5"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1" charset="-122"/>
              </a:rPr>
              <a:t>四、</a:t>
            </a:r>
            <a:r>
              <a:rPr lang="en-US" altLang="zh-CN" sz="3200" dirty="0">
                <a:solidFill>
                  <a:srgbClr val="FF0000"/>
                </a:solidFill>
                <a:ea typeface="黑体" panose="02010609060101010101" pitchFamily="1" charset="-122"/>
              </a:rPr>
              <a:t>T-SQL</a:t>
            </a:r>
            <a:r>
              <a:rPr lang="zh-CN" altLang="en-US" sz="3200" dirty="0">
                <a:solidFill>
                  <a:srgbClr val="FF0000"/>
                </a:solidFill>
                <a:ea typeface="黑体" panose="02010609060101010101" pitchFamily="1" charset="-122"/>
              </a:rPr>
              <a:t>编程</a:t>
            </a:r>
            <a:endParaRPr lang="zh-CN" altLang="en-US" sz="3200" dirty="0">
              <a:solidFill>
                <a:srgbClr val="FF0000"/>
              </a:solidFill>
              <a:ea typeface="黑体" panose="02010609060101010101" pitchFamily="1" charset="-122"/>
            </a:endParaRPr>
          </a:p>
        </p:txBody>
      </p:sp>
      <p:sp>
        <p:nvSpPr>
          <p:cNvPr id="17" name="文本框 16"/>
          <p:cNvSpPr txBox="1"/>
          <p:nvPr/>
        </p:nvSpPr>
        <p:spPr>
          <a:xfrm>
            <a:off x="556895" y="810260"/>
            <a:ext cx="7890510" cy="2515235"/>
          </a:xfrm>
          <a:prstGeom prst="rect">
            <a:avLst/>
          </a:prstGeom>
          <a:noFill/>
        </p:spPr>
        <p:txBody>
          <a:bodyPr wrap="square" rtlCol="0" anchor="t">
            <a:spAutoFit/>
          </a:bodyPr>
          <a:p>
            <a:pPr>
              <a:lnSpc>
                <a:spcPct val="125000"/>
              </a:lnSpc>
              <a:spcBef>
                <a:spcPts val="0"/>
              </a:spcBef>
              <a:spcAft>
                <a:spcPts val="0"/>
              </a:spcAft>
            </a:pPr>
            <a:r>
              <a:t>SELECT '学期'=</a:t>
            </a:r>
          </a:p>
          <a:p>
            <a:pPr>
              <a:lnSpc>
                <a:spcPct val="125000"/>
              </a:lnSpc>
              <a:spcBef>
                <a:spcPts val="0"/>
              </a:spcBef>
              <a:spcAft>
                <a:spcPts val="0"/>
              </a:spcAft>
            </a:pPr>
            <a:r>
              <a:t>      CASE term</a:t>
            </a:r>
          </a:p>
          <a:p>
            <a:pPr>
              <a:lnSpc>
                <a:spcPct val="125000"/>
              </a:lnSpc>
              <a:spcBef>
                <a:spcPts val="0"/>
              </a:spcBef>
              <a:spcAft>
                <a:spcPts val="0"/>
              </a:spcAft>
            </a:pPr>
            <a:r>
              <a:t>          WHEN '第1学期' THEN '1st'</a:t>
            </a:r>
          </a:p>
          <a:p>
            <a:pPr>
              <a:lnSpc>
                <a:spcPct val="125000"/>
              </a:lnSpc>
              <a:spcBef>
                <a:spcPts val="0"/>
              </a:spcBef>
              <a:spcAft>
                <a:spcPts val="0"/>
              </a:spcAft>
            </a:pPr>
            <a:r>
              <a:t>          ELSE  '2st'</a:t>
            </a:r>
          </a:p>
          <a:p>
            <a:pPr>
              <a:lnSpc>
                <a:spcPct val="125000"/>
              </a:lnSpc>
              <a:spcBef>
                <a:spcPts val="0"/>
              </a:spcBef>
              <a:spcAft>
                <a:spcPts val="0"/>
              </a:spcAft>
            </a:pPr>
            <a:r>
              <a:t>      END,</a:t>
            </a:r>
          </a:p>
          <a:p>
            <a:pPr>
              <a:lnSpc>
                <a:spcPct val="125000"/>
              </a:lnSpc>
              <a:spcBef>
                <a:spcPts val="0"/>
              </a:spcBef>
              <a:spcAft>
                <a:spcPts val="0"/>
              </a:spcAft>
            </a:pPr>
            <a:r>
              <a:t>   CAST(term AS varchar(20)) AS  '学期'</a:t>
            </a:r>
          </a:p>
          <a:p>
            <a:pPr>
              <a:lnSpc>
                <a:spcPct val="125000"/>
              </a:lnSpc>
              <a:spcBef>
                <a:spcPts val="0"/>
              </a:spcBef>
              <a:spcAft>
                <a:spcPts val="0"/>
              </a:spcAft>
            </a:pPr>
            <a:r>
              <a:t>FROM course ORDER BY CID</a:t>
            </a:r>
          </a:p>
        </p:txBody>
      </p:sp>
      <p:sp>
        <p:nvSpPr>
          <p:cNvPr id="4" name="文本框 3"/>
          <p:cNvSpPr txBox="1"/>
          <p:nvPr>
            <p:custDataLst>
              <p:tags r:id="rId1"/>
            </p:custDataLst>
          </p:nvPr>
        </p:nvSpPr>
        <p:spPr>
          <a:xfrm>
            <a:off x="661670" y="4453255"/>
            <a:ext cx="5026025" cy="1751965"/>
          </a:xfrm>
          <a:prstGeom prst="rect">
            <a:avLst/>
          </a:prstGeom>
          <a:noFill/>
        </p:spPr>
        <p:txBody>
          <a:bodyPr wrap="square" rtlCol="0" anchor="t">
            <a:spAutoFit/>
          </a:bodyPr>
          <a:p>
            <a:pPr>
              <a:lnSpc>
                <a:spcPct val="120000"/>
              </a:lnSpc>
              <a:spcBef>
                <a:spcPts val="0"/>
              </a:spcBef>
              <a:spcAft>
                <a:spcPts val="0"/>
              </a:spcAft>
            </a:pPr>
            <a:r>
              <a:rPr lang="en-US" altLang="zh-CN" sz="1800" dirty="0">
                <a:solidFill>
                  <a:srgbClr val="FF0000"/>
                </a:solidFill>
                <a:sym typeface="+mn-ea"/>
              </a:rPr>
              <a:t>CASE </a:t>
            </a:r>
            <a:endParaRPr lang="zh-CN" altLang="en-US" sz="1800" dirty="0">
              <a:solidFill>
                <a:srgbClr val="FF0000"/>
              </a:solidFill>
              <a:sym typeface="+mn-ea"/>
            </a:endParaRPr>
          </a:p>
          <a:p>
            <a:pPr>
              <a:lnSpc>
                <a:spcPct val="120000"/>
              </a:lnSpc>
              <a:spcBef>
                <a:spcPts val="0"/>
              </a:spcBef>
              <a:spcAft>
                <a:spcPts val="0"/>
              </a:spcAft>
            </a:pPr>
            <a:r>
              <a:rPr lang="en-US" altLang="zh-CN" sz="1800" dirty="0">
                <a:solidFill>
                  <a:srgbClr val="FF0000"/>
                </a:solidFill>
                <a:sym typeface="+mn-ea"/>
              </a:rPr>
              <a:t>      WHEN </a:t>
            </a:r>
            <a:r>
              <a:rPr lang="zh-CN" altLang="en-US" sz="1800" dirty="0">
                <a:solidFill>
                  <a:srgbClr val="FF0000"/>
                </a:solidFill>
                <a:sym typeface="+mn-ea"/>
              </a:rPr>
              <a:t>表达式</a:t>
            </a:r>
            <a:r>
              <a:rPr lang="en-US" altLang="zh-CN" sz="1800" dirty="0">
                <a:solidFill>
                  <a:srgbClr val="FF0000"/>
                </a:solidFill>
                <a:sym typeface="+mn-ea"/>
              </a:rPr>
              <a:t>1 THEN </a:t>
            </a:r>
            <a:r>
              <a:rPr lang="zh-CN" altLang="en-US" sz="1800" dirty="0">
                <a:solidFill>
                  <a:srgbClr val="FF0000"/>
                </a:solidFill>
                <a:sym typeface="+mn-ea"/>
              </a:rPr>
              <a:t>结果表达式</a:t>
            </a:r>
            <a:r>
              <a:rPr lang="en-US" altLang="zh-CN" sz="1800" dirty="0">
                <a:solidFill>
                  <a:srgbClr val="FF0000"/>
                </a:solidFill>
                <a:sym typeface="+mn-ea"/>
              </a:rPr>
              <a:t>1</a:t>
            </a:r>
            <a:endParaRPr lang="en-US" altLang="zh-CN" sz="1800" dirty="0">
              <a:solidFill>
                <a:srgbClr val="FF0000"/>
              </a:solidFill>
              <a:sym typeface="+mn-ea"/>
            </a:endParaRPr>
          </a:p>
          <a:p>
            <a:pPr>
              <a:lnSpc>
                <a:spcPct val="120000"/>
              </a:lnSpc>
              <a:spcBef>
                <a:spcPts val="0"/>
              </a:spcBef>
              <a:spcAft>
                <a:spcPts val="0"/>
              </a:spcAft>
            </a:pPr>
            <a:r>
              <a:rPr lang="en-US" altLang="zh-CN" sz="1800" dirty="0">
                <a:solidFill>
                  <a:srgbClr val="FF0000"/>
                </a:solidFill>
                <a:sym typeface="+mn-ea"/>
              </a:rPr>
              <a:t>      [,..n]</a:t>
            </a:r>
            <a:endParaRPr lang="en-US" altLang="zh-CN" sz="1800" dirty="0">
              <a:solidFill>
                <a:srgbClr val="FF0000"/>
              </a:solidFill>
              <a:sym typeface="+mn-ea"/>
            </a:endParaRPr>
          </a:p>
          <a:p>
            <a:pPr>
              <a:lnSpc>
                <a:spcPct val="120000"/>
              </a:lnSpc>
              <a:spcBef>
                <a:spcPts val="0"/>
              </a:spcBef>
              <a:spcAft>
                <a:spcPts val="0"/>
              </a:spcAft>
            </a:pPr>
            <a:r>
              <a:rPr lang="en-US" altLang="zh-CN" sz="1800" dirty="0">
                <a:solidFill>
                  <a:srgbClr val="FF0000"/>
                </a:solidFill>
                <a:sym typeface="+mn-ea"/>
              </a:rPr>
              <a:t>      [ELSE </a:t>
            </a:r>
            <a:r>
              <a:rPr lang="zh-CN" altLang="en-US" sz="1800" dirty="0">
                <a:solidFill>
                  <a:srgbClr val="FF0000"/>
                </a:solidFill>
                <a:sym typeface="+mn-ea"/>
              </a:rPr>
              <a:t>结果表达式</a:t>
            </a:r>
            <a:r>
              <a:rPr lang="en-US" altLang="zh-CN" sz="1800" dirty="0">
                <a:solidFill>
                  <a:srgbClr val="FF0000"/>
                </a:solidFill>
                <a:sym typeface="+mn-ea"/>
              </a:rPr>
              <a:t>]</a:t>
            </a:r>
            <a:endParaRPr lang="en-US" altLang="zh-CN" sz="1800" dirty="0">
              <a:solidFill>
                <a:srgbClr val="FF0000"/>
              </a:solidFill>
              <a:sym typeface="+mn-ea"/>
            </a:endParaRPr>
          </a:p>
          <a:p>
            <a:pPr>
              <a:lnSpc>
                <a:spcPct val="120000"/>
              </a:lnSpc>
              <a:spcBef>
                <a:spcPts val="0"/>
              </a:spcBef>
              <a:spcAft>
                <a:spcPts val="0"/>
              </a:spcAft>
            </a:pPr>
            <a:r>
              <a:rPr lang="en-US" altLang="zh-CN" sz="1800" dirty="0">
                <a:solidFill>
                  <a:srgbClr val="FF0000"/>
                </a:solidFill>
                <a:sym typeface="+mn-ea"/>
              </a:rPr>
              <a:t>END</a:t>
            </a:r>
            <a:endParaRPr lang="en-US" altLang="zh-CN" sz="1800" dirty="0">
              <a:solidFill>
                <a:srgbClr val="FF0000"/>
              </a:solidFill>
              <a:sym typeface="+mn-ea"/>
            </a:endParaRPr>
          </a:p>
        </p:txBody>
      </p:sp>
      <p:sp>
        <p:nvSpPr>
          <p:cNvPr id="5" name="文本框 20"/>
          <p:cNvSpPr txBox="1"/>
          <p:nvPr/>
        </p:nvSpPr>
        <p:spPr>
          <a:xfrm>
            <a:off x="457200" y="4017645"/>
            <a:ext cx="8418830" cy="476885"/>
          </a:xfrm>
          <a:prstGeom prst="rect">
            <a:avLst/>
          </a:prstGeom>
          <a:noFill/>
          <a:ln w="9525">
            <a:noFill/>
          </a:ln>
        </p:spPr>
        <p:txBody>
          <a:bodyPr wrap="square">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ts val="0"/>
              </a:spcBef>
              <a:spcAft>
                <a:spcPts val="0"/>
              </a:spcAft>
              <a:buClrTx/>
              <a:buSzTx/>
              <a:buFont typeface="Arial" panose="020B0604020202020204" pitchFamily="34" charset="0"/>
              <a:buNone/>
            </a:pPr>
            <a:r>
              <a:rPr lang="en-US" altLang="zh-CN" dirty="0">
                <a:sym typeface="+mn-ea"/>
              </a:rPr>
              <a:t> </a:t>
            </a:r>
            <a:r>
              <a:rPr lang="en-US" dirty="0">
                <a:sym typeface="+mn-ea"/>
              </a:rPr>
              <a:t>2</a:t>
            </a:r>
            <a:r>
              <a:rPr lang="zh-CN" altLang="en-US" dirty="0">
                <a:sym typeface="+mn-ea"/>
              </a:rPr>
              <a:t>）搜索</a:t>
            </a:r>
            <a:r>
              <a:rPr lang="en-US" altLang="zh-CN" dirty="0">
                <a:sym typeface="+mn-ea"/>
              </a:rPr>
              <a:t>CASE</a:t>
            </a:r>
            <a:r>
              <a:rPr lang="zh-CN" altLang="en-US" dirty="0">
                <a:sym typeface="+mn-ea"/>
              </a:rPr>
              <a:t>。计算一组布尔表达式以决定</a:t>
            </a:r>
            <a:r>
              <a:rPr lang="zh-CN" altLang="en-US" dirty="0">
                <a:sym typeface="+mn-ea"/>
              </a:rPr>
              <a:t>结果。</a:t>
            </a:r>
            <a:endParaRPr lang="zh-CN" altLang="en-US" dirty="0">
              <a:sym typeface="+mn-ea"/>
            </a:endParaRPr>
          </a:p>
        </p:txBody>
      </p:sp>
      <p:pic>
        <p:nvPicPr>
          <p:cNvPr id="2" name="图片 1"/>
          <p:cNvPicPr>
            <a:picLocks noChangeAspect="1"/>
          </p:cNvPicPr>
          <p:nvPr/>
        </p:nvPicPr>
        <p:blipFill>
          <a:blip r:embed="rId2"/>
          <a:srcRect r="7593"/>
          <a:stretch>
            <a:fillRect/>
          </a:stretch>
        </p:blipFill>
        <p:spPr>
          <a:xfrm>
            <a:off x="5016500" y="810260"/>
            <a:ext cx="3802380" cy="2832100"/>
          </a:xfrm>
          <a:prstGeom prst="rect">
            <a:avLst/>
          </a:prstGeom>
          <a:ln>
            <a:solidFill>
              <a:schemeClr val="accent1"/>
            </a:solidFill>
          </a:ln>
        </p:spPr>
      </p:pic>
      <p:sp>
        <p:nvSpPr>
          <p:cNvPr id="9" name="文本框 8"/>
          <p:cNvSpPr txBox="1"/>
          <p:nvPr/>
        </p:nvSpPr>
        <p:spPr>
          <a:xfrm>
            <a:off x="2587625" y="2997835"/>
            <a:ext cx="6231255" cy="3207385"/>
          </a:xfrm>
          <a:prstGeom prst="rect">
            <a:avLst/>
          </a:prstGeom>
          <a:solidFill>
            <a:schemeClr val="bg1"/>
          </a:solidFill>
          <a:ln>
            <a:solidFill>
              <a:schemeClr val="accent1"/>
            </a:solidFill>
          </a:ln>
        </p:spPr>
        <p:txBody>
          <a:bodyPr wrap="square" rtlCol="0" anchor="t">
            <a:spAutoFit/>
          </a:bodyPr>
          <a:p>
            <a:pPr>
              <a:lnSpc>
                <a:spcPct val="125000"/>
              </a:lnSpc>
              <a:spcBef>
                <a:spcPts val="0"/>
              </a:spcBef>
              <a:spcAft>
                <a:spcPts val="0"/>
              </a:spcAft>
            </a:pPr>
            <a:r>
              <a:t>SELECT '成绩等级'=</a:t>
            </a:r>
          </a:p>
          <a:p>
            <a:pPr>
              <a:lnSpc>
                <a:spcPct val="125000"/>
              </a:lnSpc>
              <a:spcBef>
                <a:spcPts val="0"/>
              </a:spcBef>
              <a:spcAft>
                <a:spcPts val="0"/>
              </a:spcAft>
            </a:pPr>
            <a:r>
              <a:t>      CASE </a:t>
            </a:r>
          </a:p>
          <a:p>
            <a:pPr>
              <a:lnSpc>
                <a:spcPct val="125000"/>
              </a:lnSpc>
              <a:spcBef>
                <a:spcPts val="0"/>
              </a:spcBef>
              <a:spcAft>
                <a:spcPts val="0"/>
              </a:spcAft>
            </a:pPr>
            <a:r>
              <a:t>          WHEN mark&lt;60 THEN '差'</a:t>
            </a:r>
          </a:p>
          <a:p>
            <a:pPr>
              <a:lnSpc>
                <a:spcPct val="125000"/>
              </a:lnSpc>
              <a:spcBef>
                <a:spcPts val="0"/>
              </a:spcBef>
              <a:spcAft>
                <a:spcPts val="0"/>
              </a:spcAft>
            </a:pPr>
            <a:r>
              <a:t>          WHEN mark&lt;75  THEN '及格'</a:t>
            </a:r>
          </a:p>
          <a:p>
            <a:pPr>
              <a:lnSpc>
                <a:spcPct val="125000"/>
              </a:lnSpc>
              <a:spcBef>
                <a:spcPts val="0"/>
              </a:spcBef>
              <a:spcAft>
                <a:spcPts val="0"/>
              </a:spcAft>
            </a:pPr>
            <a:r>
              <a:t>          WHEN mark&lt;90 THEN '优良'</a:t>
            </a:r>
          </a:p>
          <a:p>
            <a:pPr>
              <a:lnSpc>
                <a:spcPct val="125000"/>
              </a:lnSpc>
              <a:spcBef>
                <a:spcPts val="0"/>
              </a:spcBef>
              <a:spcAft>
                <a:spcPts val="0"/>
              </a:spcAft>
            </a:pPr>
            <a:r>
              <a:t>          ELSE  '优秀'</a:t>
            </a:r>
          </a:p>
          <a:p>
            <a:pPr>
              <a:lnSpc>
                <a:spcPct val="125000"/>
              </a:lnSpc>
              <a:spcBef>
                <a:spcPts val="0"/>
              </a:spcBef>
              <a:spcAft>
                <a:spcPts val="0"/>
              </a:spcAft>
            </a:pPr>
            <a:r>
              <a:t>      END,</a:t>
            </a:r>
          </a:p>
          <a:p>
            <a:pPr>
              <a:lnSpc>
                <a:spcPct val="125000"/>
              </a:lnSpc>
              <a:spcBef>
                <a:spcPts val="0"/>
              </a:spcBef>
              <a:spcAft>
                <a:spcPts val="0"/>
              </a:spcAft>
            </a:pPr>
            <a:r>
              <a:t>   CAST(mark AS varchar(20)) AS  '成绩等级'</a:t>
            </a:r>
          </a:p>
          <a:p>
            <a:pPr>
              <a:lnSpc>
                <a:spcPct val="125000"/>
              </a:lnSpc>
              <a:spcBef>
                <a:spcPts val="0"/>
              </a:spcBef>
              <a:spcAft>
                <a:spcPts val="0"/>
              </a:spcAft>
            </a:pPr>
            <a:r>
              <a:t>FROM ctake WHERE CID='bk1001' ORDER BY mark</a:t>
            </a:r>
          </a:p>
        </p:txBody>
      </p:sp>
      <p:pic>
        <p:nvPicPr>
          <p:cNvPr id="3" name="图片 2"/>
          <p:cNvPicPr>
            <a:picLocks noChangeAspect="1"/>
          </p:cNvPicPr>
          <p:nvPr/>
        </p:nvPicPr>
        <p:blipFill>
          <a:blip r:embed="rId3"/>
          <a:srcRect t="15731"/>
          <a:stretch>
            <a:fillRect/>
          </a:stretch>
        </p:blipFill>
        <p:spPr>
          <a:xfrm>
            <a:off x="4159250" y="1916430"/>
            <a:ext cx="4716780" cy="4347210"/>
          </a:xfrm>
          <a:prstGeom prst="rect">
            <a:avLst/>
          </a:prstGeom>
          <a:ln>
            <a:solidFill>
              <a:schemeClr val="accent1"/>
            </a:solid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ppt_x"/>
                                          </p:val>
                                        </p:tav>
                                        <p:tav tm="100000">
                                          <p:val>
                                            <p:strVal val="#ppt_x"/>
                                          </p:val>
                                        </p:tav>
                                      </p:tavLst>
                                    </p:anim>
                                    <p:anim calcmode="lin" valueType="num">
                                      <p:cBhvr additive="base">
                                        <p:cTn id="1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additive="base">
                                        <p:cTn id="23" dur="500" fill="hold"/>
                                        <p:tgtEl>
                                          <p:spTgt spid="3"/>
                                        </p:tgtEl>
                                        <p:attrNameLst>
                                          <p:attrName>ppt_x</p:attrName>
                                        </p:attrNameLst>
                                      </p:cBhvr>
                                      <p:tavLst>
                                        <p:tav tm="0">
                                          <p:val>
                                            <p:strVal val="#ppt_x"/>
                                          </p:val>
                                        </p:tav>
                                        <p:tav tm="100000">
                                          <p:val>
                                            <p:strVal val="#ppt_x"/>
                                          </p:val>
                                        </p:tav>
                                      </p:tavLst>
                                    </p:anim>
                                    <p:anim calcmode="lin" valueType="num">
                                      <p:cBhvr additive="base">
                                        <p:cTn id="2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4" grpId="1"/>
      <p:bldP spid="5" grpId="1"/>
      <p:bldP spid="9" grpId="0" animBg="1"/>
      <p:bldP spid="9" grpId="1" animBg="1"/>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5"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1" charset="-122"/>
              </a:rPr>
              <a:t>四、</a:t>
            </a:r>
            <a:r>
              <a:rPr lang="en-US" altLang="zh-CN" sz="3200" dirty="0">
                <a:solidFill>
                  <a:srgbClr val="FF0000"/>
                </a:solidFill>
                <a:ea typeface="黑体" panose="02010609060101010101" pitchFamily="1" charset="-122"/>
              </a:rPr>
              <a:t>T-SQL</a:t>
            </a:r>
            <a:r>
              <a:rPr lang="zh-CN" altLang="en-US" sz="3200" dirty="0">
                <a:solidFill>
                  <a:srgbClr val="FF0000"/>
                </a:solidFill>
                <a:ea typeface="黑体" panose="02010609060101010101" pitchFamily="1" charset="-122"/>
              </a:rPr>
              <a:t>编程</a:t>
            </a:r>
            <a:endParaRPr lang="zh-CN" altLang="en-US" sz="3200" dirty="0">
              <a:solidFill>
                <a:srgbClr val="FF0000"/>
              </a:solidFill>
              <a:ea typeface="黑体" panose="02010609060101010101" pitchFamily="1" charset="-122"/>
            </a:endParaRPr>
          </a:p>
        </p:txBody>
      </p:sp>
      <p:sp>
        <p:nvSpPr>
          <p:cNvPr id="101379" name="Rectangle 3"/>
          <p:cNvSpPr txBox="1"/>
          <p:nvPr/>
        </p:nvSpPr>
        <p:spPr>
          <a:xfrm>
            <a:off x="501650" y="1342708"/>
            <a:ext cx="8642350" cy="747712"/>
          </a:xfrm>
          <a:prstGeom prst="rect">
            <a:avLst/>
          </a:prstGeom>
          <a:noFill/>
          <a:ln w="9525">
            <a:noFill/>
          </a:ln>
        </p:spPr>
        <p:txBody>
          <a:bodyPr anchor="t" anchorCtr="0"/>
          <a:p>
            <a:pPr marL="342900" indent="-342900" algn="l">
              <a:buClrTx/>
              <a:buSzTx/>
            </a:pPr>
            <a:r>
              <a:rPr lang="zh-CN" altLang="en-US" sz="2200" dirty="0">
                <a:solidFill>
                  <a:srgbClr val="0000FF"/>
                </a:solidFill>
                <a:latin typeface="华文中宋" panose="02010600040101010101" charset="-122"/>
                <a:ea typeface="华文中宋" panose="02010600040101010101" charset="-122"/>
                <a:cs typeface="华文中宋" panose="02010600040101010101" charset="-122"/>
              </a:rPr>
              <a:t>（4）循环控制语句</a:t>
            </a:r>
            <a:endParaRPr lang="zh-CN" altLang="en-US" sz="2200" dirty="0">
              <a:solidFill>
                <a:srgbClr val="0000FF"/>
              </a:solidFill>
              <a:latin typeface="华文中宋" panose="02010600040101010101" charset="-122"/>
              <a:ea typeface="华文中宋" panose="02010600040101010101" charset="-122"/>
              <a:cs typeface="华文中宋" panose="02010600040101010101" charset="-122"/>
            </a:endParaRPr>
          </a:p>
        </p:txBody>
      </p:sp>
      <p:sp>
        <p:nvSpPr>
          <p:cNvPr id="4" name="文本框 3"/>
          <p:cNvSpPr txBox="1"/>
          <p:nvPr>
            <p:custDataLst>
              <p:tags r:id="rId1"/>
            </p:custDataLst>
          </p:nvPr>
        </p:nvSpPr>
        <p:spPr>
          <a:xfrm>
            <a:off x="687705" y="1739900"/>
            <a:ext cx="5123180" cy="460375"/>
          </a:xfrm>
          <a:prstGeom prst="rect">
            <a:avLst/>
          </a:prstGeom>
          <a:noFill/>
        </p:spPr>
        <p:txBody>
          <a:bodyPr wrap="square" rtlCol="0" anchor="t">
            <a:spAutoFit/>
          </a:bodyPr>
          <a:p>
            <a:pPr>
              <a:lnSpc>
                <a:spcPct val="120000"/>
              </a:lnSpc>
              <a:spcBef>
                <a:spcPts val="0"/>
              </a:spcBef>
              <a:spcAft>
                <a:spcPts val="0"/>
              </a:spcAft>
            </a:pPr>
            <a:r>
              <a:rPr lang="en-US" altLang="zh-CN" sz="2000" dirty="0">
                <a:solidFill>
                  <a:srgbClr val="FF0000"/>
                </a:solidFill>
                <a:sym typeface="+mn-ea"/>
              </a:rPr>
              <a:t>WHILE…BREAK/CONTINUE</a:t>
            </a:r>
            <a:endParaRPr lang="en-US" altLang="zh-CN" sz="2000" dirty="0">
              <a:solidFill>
                <a:srgbClr val="FF0000"/>
              </a:solidFill>
              <a:sym typeface="+mn-ea"/>
            </a:endParaRPr>
          </a:p>
        </p:txBody>
      </p:sp>
      <p:sp>
        <p:nvSpPr>
          <p:cNvPr id="18" name="文本框 17"/>
          <p:cNvSpPr txBox="1"/>
          <p:nvPr/>
        </p:nvSpPr>
        <p:spPr>
          <a:xfrm>
            <a:off x="687705" y="2200275"/>
            <a:ext cx="690880" cy="46037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0"/>
              </a:spcBef>
              <a:buClrTx/>
              <a:buSzTx/>
              <a:buFont typeface="Arial" panose="020B0604020202020204" pitchFamily="34" charset="0"/>
              <a:buNone/>
            </a:pPr>
            <a:r>
              <a:rPr lang="zh-CN" altLang="en-US" dirty="0">
                <a:solidFill>
                  <a:srgbClr val="0000FF"/>
                </a:solidFill>
                <a:sym typeface="+mn-ea"/>
              </a:rPr>
              <a:t>例</a:t>
            </a:r>
            <a:r>
              <a:rPr lang="en-US" altLang="zh-CN" dirty="0">
                <a:solidFill>
                  <a:srgbClr val="0000FF"/>
                </a:solidFill>
                <a:sym typeface="+mn-ea"/>
              </a:rPr>
              <a:t>8</a:t>
            </a:r>
            <a:r>
              <a:rPr lang="zh-CN" altLang="en-US" dirty="0">
                <a:solidFill>
                  <a:srgbClr val="0000FF"/>
                </a:solidFill>
                <a:sym typeface="+mn-ea"/>
              </a:rPr>
              <a:t>：</a:t>
            </a:r>
            <a:endParaRPr lang="zh-CN" altLang="en-US" dirty="0">
              <a:solidFill>
                <a:srgbClr val="0000FF"/>
              </a:solidFill>
              <a:sym typeface="+mn-ea"/>
            </a:endParaRPr>
          </a:p>
        </p:txBody>
      </p:sp>
      <p:sp>
        <p:nvSpPr>
          <p:cNvPr id="17" name="文本框 16"/>
          <p:cNvSpPr txBox="1"/>
          <p:nvPr/>
        </p:nvSpPr>
        <p:spPr>
          <a:xfrm>
            <a:off x="1337310" y="2200275"/>
            <a:ext cx="7484110" cy="2317750"/>
          </a:xfrm>
          <a:prstGeom prst="rect">
            <a:avLst/>
          </a:prstGeom>
          <a:noFill/>
        </p:spPr>
        <p:txBody>
          <a:bodyPr wrap="square" rtlCol="0" anchor="t">
            <a:spAutoFit/>
          </a:bodyPr>
          <a:p>
            <a:pPr>
              <a:lnSpc>
                <a:spcPct val="115000"/>
              </a:lnSpc>
              <a:spcBef>
                <a:spcPts val="0"/>
              </a:spcBef>
              <a:spcAft>
                <a:spcPts val="0"/>
              </a:spcAft>
            </a:pPr>
            <a:r>
              <a:rPr lang="en-US" altLang="zh-CN">
                <a:solidFill>
                  <a:srgbClr val="0000FF"/>
                </a:solidFill>
              </a:rPr>
              <a:t>WHILE</a:t>
            </a:r>
            <a:r>
              <a:rPr lang="en-US" altLang="zh-CN">
                <a:solidFill>
                  <a:schemeClr val="tx1"/>
                </a:solidFill>
              </a:rPr>
              <a:t>(</a:t>
            </a:r>
            <a:r>
              <a:rPr lang="en-US" altLang="zh-CN">
                <a:solidFill>
                  <a:srgbClr val="0000FF"/>
                </a:solidFill>
              </a:rPr>
              <a:t> SELECT </a:t>
            </a:r>
            <a:r>
              <a:rPr lang="en-US" altLang="zh-CN">
                <a:solidFill>
                  <a:schemeClr val="tx1"/>
                </a:solidFill>
              </a:rPr>
              <a:t>AVG(mark) </a:t>
            </a:r>
            <a:r>
              <a:rPr lang="en-US" altLang="zh-CN">
                <a:solidFill>
                  <a:srgbClr val="0000FF"/>
                </a:solidFill>
              </a:rPr>
              <a:t>FROM </a:t>
            </a:r>
            <a:r>
              <a:rPr lang="en-US" altLang="zh-CN">
                <a:solidFill>
                  <a:schemeClr val="tx1"/>
                </a:solidFill>
              </a:rPr>
              <a:t>ctake where CID=’BK1001’)&lt;85</a:t>
            </a:r>
            <a:endParaRPr lang="en-US" altLang="zh-CN">
              <a:solidFill>
                <a:schemeClr val="tx1"/>
              </a:solidFill>
            </a:endParaRPr>
          </a:p>
          <a:p>
            <a:pPr>
              <a:lnSpc>
                <a:spcPct val="115000"/>
              </a:lnSpc>
              <a:spcBef>
                <a:spcPts val="0"/>
              </a:spcBef>
              <a:spcAft>
                <a:spcPts val="0"/>
              </a:spcAft>
            </a:pPr>
            <a:r>
              <a:rPr lang="en-US" altLang="zh-CN">
                <a:solidFill>
                  <a:srgbClr val="0000FF"/>
                </a:solidFill>
              </a:rPr>
              <a:t>BEGIN </a:t>
            </a:r>
            <a:endParaRPr lang="en-US" altLang="zh-CN">
              <a:solidFill>
                <a:srgbClr val="0000FF"/>
              </a:solidFill>
            </a:endParaRPr>
          </a:p>
          <a:p>
            <a:pPr>
              <a:lnSpc>
                <a:spcPct val="115000"/>
              </a:lnSpc>
              <a:spcBef>
                <a:spcPts val="0"/>
              </a:spcBef>
              <a:spcAft>
                <a:spcPts val="0"/>
              </a:spcAft>
            </a:pPr>
            <a:r>
              <a:rPr lang="en-US" altLang="zh-CN">
                <a:solidFill>
                  <a:srgbClr val="0000FF"/>
                </a:solidFill>
              </a:rPr>
              <a:t>     UPDATE </a:t>
            </a:r>
            <a:r>
              <a:rPr lang="en-US" altLang="zh-CN">
                <a:sym typeface="+mn-ea"/>
              </a:rPr>
              <a:t>ctake</a:t>
            </a:r>
            <a:r>
              <a:rPr lang="en-US" altLang="zh-CN">
                <a:solidFill>
                  <a:srgbClr val="0000FF"/>
                </a:solidFill>
              </a:rPr>
              <a:t> SET mark=</a:t>
            </a:r>
            <a:r>
              <a:rPr lang="en-US" altLang="zh-CN">
                <a:solidFill>
                  <a:srgbClr val="0000FF"/>
                </a:solidFill>
              </a:rPr>
              <a:t>mark*1.1</a:t>
            </a:r>
            <a:endParaRPr lang="en-US" altLang="zh-CN">
              <a:solidFill>
                <a:srgbClr val="0000FF"/>
              </a:solidFill>
            </a:endParaRPr>
          </a:p>
          <a:p>
            <a:pPr>
              <a:lnSpc>
                <a:spcPct val="115000"/>
              </a:lnSpc>
              <a:spcBef>
                <a:spcPts val="0"/>
              </a:spcBef>
              <a:spcAft>
                <a:spcPts val="0"/>
              </a:spcAft>
            </a:pPr>
            <a:r>
              <a:rPr lang="en-US" altLang="zh-CN">
                <a:solidFill>
                  <a:srgbClr val="0000FF"/>
                </a:solidFill>
              </a:rPr>
              <a:t>     IF(</a:t>
            </a:r>
            <a:r>
              <a:rPr lang="en-US" altLang="zh-CN">
                <a:solidFill>
                  <a:srgbClr val="0000FF"/>
                </a:solidFill>
                <a:sym typeface="+mn-ea"/>
              </a:rPr>
              <a:t>SELECT </a:t>
            </a:r>
            <a:r>
              <a:rPr lang="en-US" altLang="zh-CN">
                <a:solidFill>
                  <a:srgbClr val="FF0000"/>
                </a:solidFill>
                <a:sym typeface="+mn-ea"/>
              </a:rPr>
              <a:t>MAX(</a:t>
            </a:r>
            <a:r>
              <a:rPr lang="en-US" altLang="zh-CN">
                <a:sym typeface="+mn-ea"/>
              </a:rPr>
              <a:t>mark</a:t>
            </a:r>
            <a:r>
              <a:rPr lang="en-US" altLang="zh-CN">
                <a:solidFill>
                  <a:srgbClr val="FF0000"/>
                </a:solidFill>
                <a:sym typeface="+mn-ea"/>
              </a:rPr>
              <a:t>) </a:t>
            </a:r>
            <a:r>
              <a:rPr lang="en-US" altLang="zh-CN">
                <a:solidFill>
                  <a:srgbClr val="0000FF"/>
                </a:solidFill>
                <a:sym typeface="+mn-ea"/>
              </a:rPr>
              <a:t>FROM </a:t>
            </a:r>
            <a:r>
              <a:rPr lang="en-US" altLang="zh-CN">
                <a:sym typeface="+mn-ea"/>
              </a:rPr>
              <a:t>ctake)&gt;100</a:t>
            </a:r>
            <a:endParaRPr lang="en-US" altLang="zh-CN">
              <a:sym typeface="+mn-ea"/>
            </a:endParaRPr>
          </a:p>
          <a:p>
            <a:pPr>
              <a:lnSpc>
                <a:spcPct val="115000"/>
              </a:lnSpc>
              <a:spcBef>
                <a:spcPts val="0"/>
              </a:spcBef>
              <a:spcAft>
                <a:spcPts val="0"/>
              </a:spcAft>
            </a:pPr>
            <a:r>
              <a:rPr lang="en-US" altLang="zh-CN">
                <a:solidFill>
                  <a:srgbClr val="0000FF"/>
                </a:solidFill>
              </a:rPr>
              <a:t>         BREAK</a:t>
            </a:r>
            <a:endParaRPr lang="en-US" altLang="zh-CN">
              <a:solidFill>
                <a:srgbClr val="0000FF"/>
              </a:solidFill>
            </a:endParaRPr>
          </a:p>
          <a:p>
            <a:pPr>
              <a:lnSpc>
                <a:spcPct val="115000"/>
              </a:lnSpc>
              <a:spcBef>
                <a:spcPts val="0"/>
              </a:spcBef>
              <a:spcAft>
                <a:spcPts val="0"/>
              </a:spcAft>
            </a:pPr>
            <a:r>
              <a:rPr lang="en-US" altLang="zh-CN">
                <a:solidFill>
                  <a:srgbClr val="0000FF"/>
                </a:solidFill>
              </a:rPr>
              <a:t>END</a:t>
            </a:r>
            <a:endParaRPr lang="en-US" altLang="zh-CN">
              <a:solidFill>
                <a:srgbClr val="0000FF"/>
              </a:solidFill>
            </a:endParaRPr>
          </a:p>
          <a:p>
            <a:pPr>
              <a:lnSpc>
                <a:spcPct val="115000"/>
              </a:lnSpc>
              <a:spcBef>
                <a:spcPts val="0"/>
              </a:spcBef>
              <a:spcAft>
                <a:spcPts val="0"/>
              </a:spcAft>
            </a:pPr>
            <a:r>
              <a:rPr lang="en-US" altLang="zh-CN">
                <a:solidFill>
                  <a:srgbClr val="0000FF"/>
                </a:solidFill>
              </a:rPr>
              <a:t>SELECT </a:t>
            </a:r>
            <a:r>
              <a:rPr lang="en-US" altLang="zh-CN" sz="1800"/>
              <a:t>sid,cid,mark</a:t>
            </a:r>
            <a:r>
              <a:rPr lang="en-US" altLang="zh-CN">
                <a:solidFill>
                  <a:srgbClr val="0000FF"/>
                </a:solidFill>
              </a:rPr>
              <a:t> FROM </a:t>
            </a:r>
            <a:r>
              <a:rPr lang="en-US" altLang="zh-CN" sz="1800"/>
              <a:t>ctake where CID=’bk1001’</a:t>
            </a:r>
            <a:endParaRPr lang="en-US" altLang="zh-CN" sz="1800"/>
          </a:p>
        </p:txBody>
      </p:sp>
      <p:sp>
        <p:nvSpPr>
          <p:cNvPr id="5" name="Rectangle 3"/>
          <p:cNvSpPr txBox="1"/>
          <p:nvPr/>
        </p:nvSpPr>
        <p:spPr>
          <a:xfrm>
            <a:off x="501650" y="4645025"/>
            <a:ext cx="6886575" cy="747395"/>
          </a:xfrm>
          <a:prstGeom prst="rect">
            <a:avLst/>
          </a:prstGeom>
          <a:noFill/>
          <a:ln w="9525">
            <a:noFill/>
          </a:ln>
        </p:spPr>
        <p:txBody>
          <a:bodyPr anchor="t" anchorCtr="0"/>
          <a:p>
            <a:pPr marL="342900" indent="-342900" algn="l">
              <a:buClrTx/>
              <a:buSzTx/>
            </a:pPr>
            <a:r>
              <a:rPr lang="zh-CN" altLang="en-US" sz="2200" dirty="0">
                <a:solidFill>
                  <a:srgbClr val="0000FF"/>
                </a:solidFill>
                <a:latin typeface="华文中宋" panose="02010600040101010101" charset="-122"/>
                <a:ea typeface="华文中宋" panose="02010600040101010101" charset="-122"/>
                <a:cs typeface="华文中宋" panose="02010600040101010101" charset="-122"/>
              </a:rPr>
              <a:t>（</a:t>
            </a:r>
            <a:r>
              <a:rPr lang="zh-CN" altLang="en-US" sz="2200" dirty="0">
                <a:solidFill>
                  <a:srgbClr val="0000FF"/>
                </a:solidFill>
                <a:latin typeface="华文中宋" panose="02010600040101010101" charset="-122"/>
                <a:ea typeface="华文中宋" panose="02010600040101010101" charset="-122"/>
                <a:cs typeface="华文中宋" panose="02010600040101010101" charset="-122"/>
              </a:rPr>
              <a:t>5）无条件返回</a:t>
            </a:r>
            <a:endParaRPr lang="zh-CN" altLang="en-US" sz="2200" dirty="0">
              <a:solidFill>
                <a:srgbClr val="0000FF"/>
              </a:solidFill>
              <a:latin typeface="华文中宋" panose="02010600040101010101" charset="-122"/>
              <a:ea typeface="华文中宋" panose="02010600040101010101" charset="-122"/>
              <a:cs typeface="华文中宋" panose="02010600040101010101" charset="-122"/>
            </a:endParaRPr>
          </a:p>
        </p:txBody>
      </p:sp>
      <p:sp>
        <p:nvSpPr>
          <p:cNvPr id="6" name="文本框 5"/>
          <p:cNvSpPr txBox="1"/>
          <p:nvPr>
            <p:custDataLst>
              <p:tags r:id="rId2"/>
            </p:custDataLst>
          </p:nvPr>
        </p:nvSpPr>
        <p:spPr>
          <a:xfrm>
            <a:off x="761365" y="5099050"/>
            <a:ext cx="5123180" cy="423545"/>
          </a:xfrm>
          <a:prstGeom prst="rect">
            <a:avLst/>
          </a:prstGeom>
          <a:noFill/>
        </p:spPr>
        <p:txBody>
          <a:bodyPr wrap="square" rtlCol="0" anchor="t">
            <a:spAutoFit/>
          </a:bodyPr>
          <a:p>
            <a:pPr>
              <a:lnSpc>
                <a:spcPct val="120000"/>
              </a:lnSpc>
              <a:spcBef>
                <a:spcPts val="0"/>
              </a:spcBef>
              <a:spcAft>
                <a:spcPts val="0"/>
              </a:spcAft>
            </a:pPr>
            <a:r>
              <a:rPr lang="en-US" altLang="zh-CN" sz="1800" dirty="0">
                <a:solidFill>
                  <a:srgbClr val="FF0000"/>
                </a:solidFill>
                <a:sym typeface="+mn-ea"/>
              </a:rPr>
              <a:t>RETURN</a:t>
            </a:r>
            <a:endParaRPr lang="en-US" altLang="zh-CN" sz="1800" dirty="0">
              <a:solidFill>
                <a:srgbClr val="FF0000"/>
              </a:solidFill>
              <a:sym typeface="+mn-ea"/>
            </a:endParaRPr>
          </a:p>
        </p:txBody>
      </p:sp>
      <p:sp>
        <p:nvSpPr>
          <p:cNvPr id="7" name="文本框 20"/>
          <p:cNvSpPr txBox="1"/>
          <p:nvPr/>
        </p:nvSpPr>
        <p:spPr>
          <a:xfrm>
            <a:off x="613410" y="5445125"/>
            <a:ext cx="5271770" cy="476885"/>
          </a:xfrm>
          <a:prstGeom prst="rect">
            <a:avLst/>
          </a:prstGeom>
          <a:noFill/>
          <a:ln w="9525">
            <a:noFill/>
          </a:ln>
        </p:spPr>
        <p:txBody>
          <a:bodyPr wrap="square">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ts val="0"/>
              </a:spcBef>
              <a:spcAft>
                <a:spcPts val="0"/>
              </a:spcAft>
              <a:buClrTx/>
              <a:buSzTx/>
              <a:buFont typeface="Arial" panose="020B0604020202020204" pitchFamily="34" charset="0"/>
              <a:buNone/>
            </a:pPr>
            <a:r>
              <a:rPr lang="en-US" altLang="zh-CN" dirty="0">
                <a:sym typeface="+mn-ea"/>
              </a:rPr>
              <a:t> </a:t>
            </a:r>
            <a:r>
              <a:rPr lang="zh-CN" altLang="en-US" dirty="0">
                <a:sym typeface="+mn-ea"/>
              </a:rPr>
              <a:t>用途：无条件</a:t>
            </a:r>
            <a:r>
              <a:rPr lang="zh-CN" altLang="en-US" dirty="0">
                <a:sym typeface="+mn-ea"/>
              </a:rPr>
              <a:t>返回。</a:t>
            </a:r>
            <a:endParaRPr lang="zh-CN" altLang="en-US" dirty="0">
              <a:sym typeface="+mn-ea"/>
            </a:endParaRPr>
          </a:p>
          <a:p>
            <a:pPr marL="0" lvl="0" indent="0" eaLnBrk="1" hangingPunct="1">
              <a:lnSpc>
                <a:spcPct val="120000"/>
              </a:lnSpc>
              <a:spcBef>
                <a:spcPts val="0"/>
              </a:spcBef>
              <a:spcAft>
                <a:spcPts val="0"/>
              </a:spcAft>
              <a:buClrTx/>
              <a:buSzTx/>
              <a:buFont typeface="Arial" panose="020B0604020202020204" pitchFamily="34" charset="0"/>
              <a:buNone/>
            </a:pPr>
            <a:endParaRPr lang="zh-CN" altLang="en-US" dirty="0">
              <a:sym typeface="+mn-ea"/>
            </a:endParaRPr>
          </a:p>
        </p:txBody>
      </p:sp>
      <p:sp>
        <p:nvSpPr>
          <p:cNvPr id="8" name="Rectangle 3"/>
          <p:cNvSpPr txBox="1"/>
          <p:nvPr/>
        </p:nvSpPr>
        <p:spPr>
          <a:xfrm>
            <a:off x="501650" y="855980"/>
            <a:ext cx="8642350" cy="469900"/>
          </a:xfrm>
          <a:prstGeom prst="rect">
            <a:avLst/>
          </a:prstGeom>
          <a:noFill/>
          <a:ln w="9525">
            <a:noFill/>
          </a:ln>
        </p:spPr>
        <p:txBody>
          <a:bodyPr anchor="t" anchorCtr="0"/>
          <a:p>
            <a:pPr>
              <a:buFont typeface="Wingdings" panose="05000000000000000000" pitchFamily="2" charset="2"/>
            </a:pPr>
            <a:r>
              <a:rPr lang="en-US" altLang="zh-CN" sz="2400" dirty="0">
                <a:solidFill>
                  <a:srgbClr val="3333CC"/>
                </a:solidFill>
                <a:latin typeface="宋体" panose="02010600030101010101" pitchFamily="2" charset="-122"/>
                <a:ea typeface="黑体" panose="02010609060101010101" pitchFamily="1" charset="-122"/>
              </a:rPr>
              <a:t>3.</a:t>
            </a:r>
            <a:r>
              <a:rPr lang="zh-CN" altLang="en-US" sz="2400" dirty="0">
                <a:solidFill>
                  <a:srgbClr val="3333CC"/>
                </a:solidFill>
                <a:latin typeface="宋体" panose="02010600030101010101" pitchFamily="2" charset="-122"/>
                <a:ea typeface="黑体" panose="02010609060101010101" pitchFamily="1" charset="-122"/>
              </a:rPr>
              <a:t>流程控制</a:t>
            </a:r>
            <a:r>
              <a:rPr lang="zh-CN" altLang="en-US" sz="2400" dirty="0">
                <a:solidFill>
                  <a:srgbClr val="3333CC"/>
                </a:solidFill>
                <a:latin typeface="宋体" panose="02010600030101010101" pitchFamily="2" charset="-122"/>
                <a:ea typeface="黑体" panose="02010609060101010101" pitchFamily="1" charset="-122"/>
              </a:rPr>
              <a:t>语句</a:t>
            </a:r>
            <a:endParaRPr lang="zh-CN" altLang="en-US" sz="2400" dirty="0">
              <a:solidFill>
                <a:srgbClr val="3333CC"/>
              </a:solidFill>
              <a:latin typeface="宋体" panose="02010600030101010101" pitchFamily="2" charset="-122"/>
              <a:ea typeface="黑体" panose="02010609060101010101" pitchFamily="1" charset="-122"/>
            </a:endParaRPr>
          </a:p>
        </p:txBody>
      </p:sp>
      <p:pic>
        <p:nvPicPr>
          <p:cNvPr id="2" name="图片 1"/>
          <p:cNvPicPr>
            <a:picLocks noChangeAspect="1"/>
          </p:cNvPicPr>
          <p:nvPr/>
        </p:nvPicPr>
        <p:blipFill>
          <a:blip r:embed="rId3"/>
          <a:stretch>
            <a:fillRect/>
          </a:stretch>
        </p:blipFill>
        <p:spPr>
          <a:xfrm>
            <a:off x="4965700" y="56515"/>
            <a:ext cx="3471545" cy="1906270"/>
          </a:xfrm>
          <a:prstGeom prst="rect">
            <a:avLst/>
          </a:prstGeom>
          <a:ln>
            <a:solidFill>
              <a:schemeClr val="accent1"/>
            </a:solidFill>
          </a:ln>
        </p:spPr>
      </p:pic>
      <p:pic>
        <p:nvPicPr>
          <p:cNvPr id="3" name="图片 2"/>
          <p:cNvPicPr>
            <a:picLocks noChangeAspect="1"/>
          </p:cNvPicPr>
          <p:nvPr/>
        </p:nvPicPr>
        <p:blipFill>
          <a:blip r:embed="rId4"/>
          <a:stretch>
            <a:fillRect/>
          </a:stretch>
        </p:blipFill>
        <p:spPr>
          <a:xfrm>
            <a:off x="3406140" y="2147570"/>
            <a:ext cx="5293626" cy="3024000"/>
          </a:xfrm>
          <a:prstGeom prst="rect">
            <a:avLst/>
          </a:prstGeom>
          <a:ln>
            <a:solidFill>
              <a:schemeClr val="accent1"/>
            </a:solidFill>
          </a:ln>
        </p:spPr>
      </p:pic>
      <p:sp>
        <p:nvSpPr>
          <p:cNvPr id="9" name="文本框 8"/>
          <p:cNvSpPr txBox="1"/>
          <p:nvPr/>
        </p:nvSpPr>
        <p:spPr>
          <a:xfrm>
            <a:off x="3406140" y="2857500"/>
            <a:ext cx="5478780" cy="3415030"/>
          </a:xfrm>
          <a:prstGeom prst="rect">
            <a:avLst/>
          </a:prstGeom>
          <a:solidFill>
            <a:schemeClr val="accent1"/>
          </a:solidFill>
        </p:spPr>
        <p:txBody>
          <a:bodyPr wrap="square" rtlCol="0" anchor="t">
            <a:spAutoFit/>
          </a:bodyPr>
          <a:p>
            <a:r>
              <a:rPr lang="zh-CN" altLang="en-US"/>
              <a:t>WHILE( SELECT AVG(mark) FROM ctake  where CID='bk1001')&lt;85</a:t>
            </a:r>
            <a:endParaRPr lang="zh-CN" altLang="en-US"/>
          </a:p>
          <a:p>
            <a:r>
              <a:rPr lang="zh-CN" altLang="en-US"/>
              <a:t>BEGIN </a:t>
            </a:r>
            <a:endParaRPr lang="zh-CN" altLang="en-US"/>
          </a:p>
          <a:p>
            <a:r>
              <a:rPr lang="zh-CN" altLang="en-US"/>
              <a:t>     UPDATE ctake SET mark=mark*1.1</a:t>
            </a:r>
            <a:endParaRPr lang="zh-CN" altLang="en-US"/>
          </a:p>
          <a:p>
            <a:r>
              <a:rPr lang="zh-CN" altLang="en-US"/>
              <a:t>     </a:t>
            </a:r>
            <a:r>
              <a:rPr lang="zh-CN" altLang="en-US">
                <a:solidFill>
                  <a:srgbClr val="C00000"/>
                </a:solidFill>
              </a:rPr>
              <a:t>IF(SELECT MAX(mark) FROM ctake)&gt;100</a:t>
            </a:r>
            <a:endParaRPr lang="zh-CN" altLang="en-US">
              <a:solidFill>
                <a:srgbClr val="C00000"/>
              </a:solidFill>
            </a:endParaRPr>
          </a:p>
          <a:p>
            <a:r>
              <a:rPr lang="en-US" altLang="zh-CN">
                <a:solidFill>
                  <a:srgbClr val="C00000"/>
                </a:solidFill>
              </a:rPr>
              <a:t>     </a:t>
            </a:r>
            <a:r>
              <a:rPr lang="zh-CN" altLang="en-US">
                <a:solidFill>
                  <a:srgbClr val="C00000"/>
                </a:solidFill>
              </a:rPr>
              <a:t>BEGIN</a:t>
            </a:r>
            <a:endParaRPr lang="zh-CN" altLang="en-US">
              <a:solidFill>
                <a:srgbClr val="C00000"/>
              </a:solidFill>
            </a:endParaRPr>
          </a:p>
          <a:p>
            <a:r>
              <a:rPr lang="zh-CN" altLang="en-US">
                <a:solidFill>
                  <a:srgbClr val="C00000"/>
                </a:solidFill>
              </a:rPr>
              <a:t>        </a:t>
            </a:r>
            <a:r>
              <a:rPr lang="en-US" altLang="zh-CN">
                <a:solidFill>
                  <a:srgbClr val="C00000"/>
                </a:solidFill>
              </a:rPr>
              <a:t>   </a:t>
            </a:r>
            <a:r>
              <a:rPr lang="zh-CN" altLang="en-US">
                <a:solidFill>
                  <a:srgbClr val="C00000"/>
                </a:solidFill>
              </a:rPr>
              <a:t> ROLLBACK TRANSACTION</a:t>
            </a:r>
            <a:endParaRPr lang="zh-CN" altLang="en-US">
              <a:solidFill>
                <a:srgbClr val="C00000"/>
              </a:solidFill>
            </a:endParaRPr>
          </a:p>
          <a:p>
            <a:r>
              <a:rPr lang="en-US" altLang="zh-CN">
                <a:solidFill>
                  <a:srgbClr val="C00000"/>
                </a:solidFill>
              </a:rPr>
              <a:t>            </a:t>
            </a:r>
            <a:r>
              <a:rPr lang="zh-CN" altLang="en-US">
                <a:solidFill>
                  <a:srgbClr val="C00000"/>
                </a:solidFill>
              </a:rPr>
              <a:t>BREAK</a:t>
            </a:r>
            <a:endParaRPr lang="zh-CN" altLang="en-US">
              <a:solidFill>
                <a:srgbClr val="C00000"/>
              </a:solidFill>
            </a:endParaRPr>
          </a:p>
          <a:p>
            <a:r>
              <a:rPr lang="zh-CN" altLang="en-US">
                <a:solidFill>
                  <a:srgbClr val="C00000"/>
                </a:solidFill>
              </a:rPr>
              <a:t>     END</a:t>
            </a:r>
            <a:endParaRPr lang="zh-CN" altLang="en-US">
              <a:solidFill>
                <a:srgbClr val="C00000"/>
              </a:solidFill>
            </a:endParaRPr>
          </a:p>
          <a:p>
            <a:r>
              <a:rPr lang="zh-CN" altLang="en-US"/>
              <a:t>END</a:t>
            </a:r>
            <a:endParaRPr lang="zh-CN" altLang="en-US"/>
          </a:p>
          <a:p>
            <a:r>
              <a:rPr lang="zh-CN" altLang="en-US"/>
              <a:t>SELECT sid,cid,mark FROM ctake where CID='bk1001'</a:t>
            </a:r>
            <a:endParaRPr lang="zh-CN" altLang="en-US"/>
          </a:p>
        </p:txBody>
      </p:sp>
      <p:sp>
        <p:nvSpPr>
          <p:cNvPr id="10" name="Rectangle 3"/>
          <p:cNvSpPr txBox="1"/>
          <p:nvPr/>
        </p:nvSpPr>
        <p:spPr>
          <a:xfrm>
            <a:off x="3406140" y="2385060"/>
            <a:ext cx="5479415" cy="460375"/>
          </a:xfrm>
          <a:prstGeom prst="rect">
            <a:avLst/>
          </a:prstGeom>
          <a:solidFill>
            <a:schemeClr val="accent2">
              <a:lumMod val="20000"/>
              <a:lumOff val="80000"/>
            </a:schemeClr>
          </a:solidFill>
          <a:ln w="9525">
            <a:noFill/>
          </a:ln>
        </p:spPr>
        <p:txBody>
          <a:bodyPr anchor="t" anchorCtr="0"/>
          <a:p>
            <a:pPr marL="342900" indent="-342900" algn="l">
              <a:buClrTx/>
              <a:buSzTx/>
              <a:buFont typeface="Wingdings" panose="05000000000000000000" charset="0"/>
              <a:buChar char="p"/>
            </a:pPr>
            <a:r>
              <a:rPr lang="zh-CN" altLang="en-US" sz="2200" dirty="0">
                <a:solidFill>
                  <a:srgbClr val="0000FF"/>
                </a:solidFill>
                <a:latin typeface="华文中宋" panose="02010600040101010101" charset="-122"/>
                <a:ea typeface="华文中宋" panose="02010600040101010101" charset="-122"/>
                <a:cs typeface="华文中宋" panose="02010600040101010101" charset="-122"/>
              </a:rPr>
              <a:t>会不会成绩超过</a:t>
            </a:r>
            <a:r>
              <a:rPr lang="en-US" altLang="zh-CN" sz="2200" dirty="0">
                <a:solidFill>
                  <a:srgbClr val="0000FF"/>
                </a:solidFill>
                <a:latin typeface="华文中宋" panose="02010600040101010101" charset="-122"/>
                <a:ea typeface="华文中宋" panose="02010600040101010101" charset="-122"/>
                <a:cs typeface="华文中宋" panose="02010600040101010101" charset="-122"/>
              </a:rPr>
              <a:t>100</a:t>
            </a:r>
            <a:r>
              <a:rPr lang="zh-CN" altLang="en-US" sz="2200" dirty="0">
                <a:solidFill>
                  <a:srgbClr val="0000FF"/>
                </a:solidFill>
                <a:latin typeface="华文中宋" panose="02010600040101010101" charset="-122"/>
                <a:ea typeface="华文中宋" panose="02010600040101010101" charset="-122"/>
                <a:cs typeface="华文中宋" panose="02010600040101010101" charset="-122"/>
              </a:rPr>
              <a:t>？</a:t>
            </a:r>
            <a:endParaRPr lang="zh-CN" altLang="en-US" sz="2200" dirty="0">
              <a:solidFill>
                <a:srgbClr val="0000FF"/>
              </a:solidFill>
              <a:latin typeface="华文中宋" panose="02010600040101010101" charset="-122"/>
              <a:ea typeface="华文中宋" panose="02010600040101010101" charset="-122"/>
              <a:cs typeface="华文中宋" panose="0201060004010101010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ppt_x"/>
                                          </p:val>
                                        </p:tav>
                                        <p:tav tm="100000">
                                          <p:val>
                                            <p:strVal val="#ppt_x"/>
                                          </p:val>
                                        </p:tav>
                                      </p:tavLst>
                                    </p:anim>
                                    <p:anim calcmode="lin" valueType="num">
                                      <p:cBhvr additive="base">
                                        <p:cTn id="2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P spid="10" grpId="1" animBg="1"/>
      <p:bldP spid="9" grpId="0" bldLvl="0" animBg="1"/>
      <p:bldP spid="9" grpId="1" animBg="1"/>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 name="表格 2"/>
          <p:cNvGraphicFramePr/>
          <p:nvPr/>
        </p:nvGraphicFramePr>
        <p:xfrm>
          <a:off x="2159000" y="1477328"/>
          <a:ext cx="4519613" cy="381000"/>
        </p:xfrm>
        <a:graphic>
          <a:graphicData uri="http://schemas.openxmlformats.org/drawingml/2006/table">
            <a:tbl>
              <a:tblPr firstRow="1" bandRow="1">
                <a:tableStyleId>{5C22544A-7EE6-4342-B048-85BDC9FD1C3A}</a:tableStyleId>
              </a:tblPr>
              <a:tblGrid>
                <a:gridCol w="1067845"/>
                <a:gridCol w="1224657"/>
                <a:gridCol w="1124348"/>
                <a:gridCol w="1102763"/>
              </a:tblGrid>
              <a:tr h="381000">
                <a:tc>
                  <a:txBody>
                    <a:bodyPr/>
                    <a:lstStyle/>
                    <a:p>
                      <a:pPr>
                        <a:buNone/>
                      </a:pPr>
                      <a:r>
                        <a:rPr lang="zh-CN" altLang="en-US" sz="2000" u="sng">
                          <a:solidFill>
                            <a:schemeClr val="tx1"/>
                          </a:solidFill>
                        </a:rPr>
                        <a:t>sno</a:t>
                      </a:r>
                      <a:endParaRPr lang="zh-CN" altLang="en-US" sz="2000" u="sng">
                        <a:solidFill>
                          <a:schemeClr val="tx1"/>
                        </a:solidFill>
                      </a:endParaRPr>
                    </a:p>
                  </a:txBody>
                  <a:tcPr marL="91421" marR="91421"/>
                </a:tc>
                <a:tc>
                  <a:txBody>
                    <a:bodyPr/>
                    <a:lstStyle/>
                    <a:p>
                      <a:pPr>
                        <a:buNone/>
                      </a:pPr>
                      <a:r>
                        <a:rPr lang="en-US" altLang="zh-CN" sz="2000">
                          <a:solidFill>
                            <a:schemeClr val="tx1"/>
                          </a:solidFill>
                        </a:rPr>
                        <a:t>sname</a:t>
                      </a:r>
                      <a:endParaRPr lang="en-US" altLang="zh-CN" sz="2000">
                        <a:solidFill>
                          <a:schemeClr val="tx1"/>
                        </a:solidFill>
                      </a:endParaRPr>
                    </a:p>
                  </a:txBody>
                  <a:tcPr marL="91421" marR="91421"/>
                </a:tc>
                <a:tc>
                  <a:txBody>
                    <a:bodyPr/>
                    <a:lstStyle/>
                    <a:p>
                      <a:pPr>
                        <a:buNone/>
                      </a:pPr>
                      <a:r>
                        <a:rPr lang="en-US" altLang="zh-CN" sz="2000">
                          <a:solidFill>
                            <a:schemeClr val="tx1"/>
                          </a:solidFill>
                        </a:rPr>
                        <a:t>sage</a:t>
                      </a:r>
                      <a:endParaRPr lang="en-US" altLang="zh-CN" sz="2000">
                        <a:solidFill>
                          <a:schemeClr val="tx1"/>
                        </a:solidFill>
                      </a:endParaRPr>
                    </a:p>
                  </a:txBody>
                  <a:tcPr marL="91421" marR="91421"/>
                </a:tc>
                <a:tc>
                  <a:txBody>
                    <a:bodyPr/>
                    <a:lstStyle/>
                    <a:p>
                      <a:pPr>
                        <a:buNone/>
                      </a:pPr>
                      <a:r>
                        <a:rPr lang="en-US" altLang="zh-CN" sz="2000">
                          <a:solidFill>
                            <a:schemeClr val="tx1"/>
                          </a:solidFill>
                        </a:rPr>
                        <a:t>gender</a:t>
                      </a:r>
                      <a:endParaRPr lang="en-US" altLang="zh-CN" sz="2000">
                        <a:solidFill>
                          <a:schemeClr val="tx1"/>
                        </a:solidFill>
                      </a:endParaRPr>
                    </a:p>
                  </a:txBody>
                  <a:tcPr marL="91421" marR="91421"/>
                </a:tc>
              </a:tr>
            </a:tbl>
          </a:graphicData>
        </a:graphic>
      </p:graphicFrame>
      <p:sp>
        <p:nvSpPr>
          <p:cNvPr id="121870" name="文本框 3"/>
          <p:cNvSpPr txBox="1"/>
          <p:nvPr/>
        </p:nvSpPr>
        <p:spPr>
          <a:xfrm>
            <a:off x="757238" y="1391603"/>
            <a:ext cx="1401762" cy="42989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t>stu</a:t>
            </a:r>
            <a:endParaRPr lang="zh-CN" altLang="en-US" sz="2200" dirty="0"/>
          </a:p>
        </p:txBody>
      </p:sp>
      <p:sp>
        <p:nvSpPr>
          <p:cNvPr id="121880" name="文本框 15"/>
          <p:cNvSpPr txBox="1"/>
          <p:nvPr/>
        </p:nvSpPr>
        <p:spPr>
          <a:xfrm>
            <a:off x="755650" y="1882140"/>
            <a:ext cx="1403350" cy="546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t>course</a:t>
            </a:r>
            <a:endParaRPr lang="zh-CN" altLang="en-US" sz="2200" dirty="0"/>
          </a:p>
        </p:txBody>
      </p:sp>
      <p:graphicFrame>
        <p:nvGraphicFramePr>
          <p:cNvPr id="17" name="表格 16"/>
          <p:cNvGraphicFramePr/>
          <p:nvPr/>
        </p:nvGraphicFramePr>
        <p:xfrm>
          <a:off x="2159000" y="1967865"/>
          <a:ext cx="3417888" cy="381000"/>
        </p:xfrm>
        <a:graphic>
          <a:graphicData uri="http://schemas.openxmlformats.org/drawingml/2006/table">
            <a:tbl>
              <a:tblPr firstRow="1" bandRow="1">
                <a:tableStyleId>{5C22544A-7EE6-4342-B048-85BDC9FD1C3A}</a:tableStyleId>
              </a:tblPr>
              <a:tblGrid>
                <a:gridCol w="1068169"/>
                <a:gridCol w="1225029"/>
                <a:gridCol w="1124690"/>
              </a:tblGrid>
              <a:tr h="381000">
                <a:tc>
                  <a:txBody>
                    <a:bodyPr/>
                    <a:lstStyle/>
                    <a:p>
                      <a:pPr>
                        <a:buNone/>
                      </a:pPr>
                      <a:r>
                        <a:rPr lang="en-US" altLang="zh-CN" sz="2000" u="sng">
                          <a:solidFill>
                            <a:schemeClr val="tx1"/>
                          </a:solidFill>
                        </a:rPr>
                        <a:t>c</a:t>
                      </a:r>
                      <a:r>
                        <a:rPr lang="zh-CN" altLang="en-US" sz="2000" u="sng">
                          <a:solidFill>
                            <a:schemeClr val="tx1"/>
                          </a:solidFill>
                        </a:rPr>
                        <a:t>no</a:t>
                      </a:r>
                      <a:endParaRPr lang="zh-CN" altLang="en-US" sz="2000" u="sng">
                        <a:solidFill>
                          <a:schemeClr val="tx1"/>
                        </a:solidFill>
                      </a:endParaRPr>
                    </a:p>
                  </a:txBody>
                  <a:tcPr marL="91449" marR="91449"/>
                </a:tc>
                <a:tc>
                  <a:txBody>
                    <a:bodyPr/>
                    <a:lstStyle/>
                    <a:p>
                      <a:pPr>
                        <a:buNone/>
                      </a:pPr>
                      <a:r>
                        <a:rPr lang="en-US" altLang="zh-CN" sz="2000">
                          <a:solidFill>
                            <a:schemeClr val="tx1"/>
                          </a:solidFill>
                        </a:rPr>
                        <a:t>cname</a:t>
                      </a:r>
                      <a:endParaRPr lang="en-US" altLang="zh-CN" sz="2000">
                        <a:solidFill>
                          <a:schemeClr val="tx1"/>
                        </a:solidFill>
                      </a:endParaRPr>
                    </a:p>
                  </a:txBody>
                  <a:tcPr marL="91449" marR="91449"/>
                </a:tc>
                <a:tc>
                  <a:txBody>
                    <a:bodyPr/>
                    <a:lstStyle/>
                    <a:p>
                      <a:pPr>
                        <a:buNone/>
                      </a:pPr>
                      <a:r>
                        <a:rPr lang="en-US" altLang="zh-CN" sz="2000">
                          <a:solidFill>
                            <a:schemeClr val="tx1"/>
                          </a:solidFill>
                        </a:rPr>
                        <a:t>credit</a:t>
                      </a:r>
                      <a:endParaRPr lang="en-US" altLang="zh-CN" sz="2000">
                        <a:solidFill>
                          <a:schemeClr val="tx1"/>
                        </a:solidFill>
                      </a:endParaRPr>
                    </a:p>
                  </a:txBody>
                  <a:tcPr marL="91449" marR="91449"/>
                </a:tc>
              </a:tr>
            </a:tbl>
          </a:graphicData>
        </a:graphic>
      </p:graphicFrame>
      <p:sp>
        <p:nvSpPr>
          <p:cNvPr id="121891" name="文本框 17"/>
          <p:cNvSpPr txBox="1"/>
          <p:nvPr/>
        </p:nvSpPr>
        <p:spPr>
          <a:xfrm>
            <a:off x="771525" y="2328228"/>
            <a:ext cx="1401763" cy="42989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200" dirty="0"/>
              <a:t>ctake</a:t>
            </a:r>
            <a:endParaRPr lang="en-US" altLang="zh-CN" sz="2200" dirty="0"/>
          </a:p>
        </p:txBody>
      </p:sp>
      <p:graphicFrame>
        <p:nvGraphicFramePr>
          <p:cNvPr id="19" name="表格 18"/>
          <p:cNvGraphicFramePr/>
          <p:nvPr/>
        </p:nvGraphicFramePr>
        <p:xfrm>
          <a:off x="2159000" y="2475865"/>
          <a:ext cx="3416300" cy="460375"/>
        </p:xfrm>
        <a:graphic>
          <a:graphicData uri="http://schemas.openxmlformats.org/drawingml/2006/table">
            <a:tbl>
              <a:tblPr firstRow="1" bandRow="1">
                <a:tableStyleId>{5C22544A-7EE6-4342-B048-85BDC9FD1C3A}</a:tableStyleId>
              </a:tblPr>
              <a:tblGrid>
                <a:gridCol w="1067673"/>
                <a:gridCol w="1224460"/>
                <a:gridCol w="1124167"/>
              </a:tblGrid>
              <a:tr h="460375">
                <a:tc>
                  <a:txBody>
                    <a:bodyPr/>
                    <a:lstStyle/>
                    <a:p>
                      <a:pPr>
                        <a:buNone/>
                      </a:pPr>
                      <a:r>
                        <a:rPr lang="en-US" altLang="zh-CN" sz="2000" u="sng">
                          <a:solidFill>
                            <a:srgbClr val="0033CC"/>
                          </a:solidFill>
                        </a:rPr>
                        <a:t>s</a:t>
                      </a:r>
                      <a:r>
                        <a:rPr lang="zh-CN" altLang="en-US" sz="2000" u="sng">
                          <a:solidFill>
                            <a:srgbClr val="0033CC"/>
                          </a:solidFill>
                        </a:rPr>
                        <a:t>no</a:t>
                      </a:r>
                      <a:endParaRPr lang="zh-CN" altLang="en-US" sz="2000" u="sng">
                        <a:solidFill>
                          <a:srgbClr val="0033CC"/>
                        </a:solidFill>
                      </a:endParaRPr>
                    </a:p>
                  </a:txBody>
                  <a:tcPr marL="91406" marR="91406" marT="45594" marB="45594"/>
                </a:tc>
                <a:tc>
                  <a:txBody>
                    <a:bodyPr/>
                    <a:lstStyle/>
                    <a:p>
                      <a:pPr>
                        <a:buNone/>
                      </a:pPr>
                      <a:r>
                        <a:rPr lang="en-US" altLang="zh-CN" sz="2000" u="sng">
                          <a:solidFill>
                            <a:srgbClr val="0033CC"/>
                          </a:solidFill>
                        </a:rPr>
                        <a:t>cno</a:t>
                      </a:r>
                      <a:endParaRPr lang="en-US" altLang="zh-CN" sz="2000" u="sng">
                        <a:solidFill>
                          <a:srgbClr val="0033CC"/>
                        </a:solidFill>
                      </a:endParaRPr>
                    </a:p>
                  </a:txBody>
                  <a:tcPr marL="91406" marR="91406" marT="45594" marB="45594"/>
                </a:tc>
                <a:tc>
                  <a:txBody>
                    <a:bodyPr/>
                    <a:lstStyle/>
                    <a:p>
                      <a:pPr>
                        <a:buNone/>
                      </a:pPr>
                      <a:r>
                        <a:rPr lang="en-US" altLang="zh-CN" sz="2000">
                          <a:solidFill>
                            <a:schemeClr val="tx1"/>
                          </a:solidFill>
                        </a:rPr>
                        <a:t>mark</a:t>
                      </a:r>
                      <a:endParaRPr lang="en-US" altLang="zh-CN" sz="2000">
                        <a:solidFill>
                          <a:schemeClr val="tx1"/>
                        </a:solidFill>
                      </a:endParaRPr>
                    </a:p>
                  </a:txBody>
                  <a:tcPr marL="91406" marR="91406" marT="45594" marB="45594"/>
                </a:tc>
              </a:tr>
            </a:tbl>
          </a:graphicData>
        </a:graphic>
      </p:graphicFrame>
      <p:sp>
        <p:nvSpPr>
          <p:cNvPr id="121902" name="文本框 19"/>
          <p:cNvSpPr txBox="1"/>
          <p:nvPr/>
        </p:nvSpPr>
        <p:spPr>
          <a:xfrm>
            <a:off x="604838" y="860425"/>
            <a:ext cx="4331335" cy="55308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ct val="0"/>
              </a:spcBef>
              <a:buClrTx/>
              <a:buSzTx/>
              <a:buFont typeface="Arial" panose="020B0604020202020204" pitchFamily="34" charset="0"/>
              <a:buNone/>
            </a:pPr>
            <a:r>
              <a:rPr lang="en-US" altLang="zh-CN" sz="2400" dirty="0">
                <a:sym typeface="+mn-ea"/>
              </a:rPr>
              <a:t>1</a:t>
            </a:r>
            <a:r>
              <a:rPr lang="zh-CN" altLang="en-US" sz="2400" dirty="0">
                <a:sym typeface="+mn-ea"/>
              </a:rPr>
              <a:t>、设学生数据库有如下关系：</a:t>
            </a:r>
            <a:endParaRPr lang="zh-CN" altLang="en-US" sz="2400" dirty="0">
              <a:sym typeface="+mn-ea"/>
            </a:endParaRPr>
          </a:p>
        </p:txBody>
      </p:sp>
      <p:sp>
        <p:nvSpPr>
          <p:cNvPr id="121903" name="文本框 20"/>
          <p:cNvSpPr txBox="1"/>
          <p:nvPr/>
        </p:nvSpPr>
        <p:spPr>
          <a:xfrm>
            <a:off x="415925" y="3048000"/>
            <a:ext cx="8312150" cy="42989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sym typeface="+mn-ea"/>
              </a:rPr>
              <a:t>（</a:t>
            </a:r>
            <a:r>
              <a:rPr lang="en-US" altLang="zh-CN" sz="2200" dirty="0">
                <a:sym typeface="+mn-ea"/>
              </a:rPr>
              <a:t>1</a:t>
            </a:r>
            <a:r>
              <a:rPr lang="zh-CN" altLang="en-US" sz="2200" dirty="0">
                <a:sym typeface="+mn-ea"/>
              </a:rPr>
              <a:t>）查询每门课程被选修的学生数和及格率</a:t>
            </a:r>
            <a:endParaRPr lang="zh-CN" altLang="en-US" sz="2200" dirty="0">
              <a:sym typeface="+mn-ea"/>
            </a:endParaRPr>
          </a:p>
        </p:txBody>
      </p:sp>
      <p:sp>
        <p:nvSpPr>
          <p:cNvPr id="22" name="文本框 21"/>
          <p:cNvSpPr txBox="1"/>
          <p:nvPr/>
        </p:nvSpPr>
        <p:spPr>
          <a:xfrm>
            <a:off x="604838" y="3442018"/>
            <a:ext cx="8259762" cy="120713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0"/>
              </a:spcBef>
              <a:spcAft>
                <a:spcPts val="0"/>
              </a:spcAft>
              <a:buClrTx/>
              <a:buSzTx/>
              <a:buFont typeface="Arial" panose="020B0604020202020204" pitchFamily="34" charset="0"/>
              <a:buNone/>
            </a:pPr>
            <a:r>
              <a:rPr sz="2200" dirty="0">
                <a:sym typeface="+mn-ea"/>
              </a:rPr>
              <a:t>select c.cid,count(s.sid), </a:t>
            </a:r>
            <a:r>
              <a:rPr sz="2200" dirty="0">
                <a:solidFill>
                  <a:srgbClr val="FF0000"/>
                </a:solidFill>
                <a:sym typeface="+mn-ea"/>
              </a:rPr>
              <a:t>sum(case when mark&gt;60 then 1 else 0 end)/convert(float,count(sid)) rate </a:t>
            </a:r>
            <a:endParaRPr sz="2200" dirty="0">
              <a:sym typeface="+mn-ea"/>
            </a:endParaRPr>
          </a:p>
          <a:p>
            <a:pPr marL="0" lvl="0" indent="0" eaLnBrk="1" hangingPunct="1">
              <a:lnSpc>
                <a:spcPct val="110000"/>
              </a:lnSpc>
              <a:spcBef>
                <a:spcPts val="0"/>
              </a:spcBef>
              <a:spcAft>
                <a:spcPts val="0"/>
              </a:spcAft>
              <a:buClrTx/>
              <a:buSzTx/>
              <a:buFont typeface="Arial" panose="020B0604020202020204" pitchFamily="34" charset="0"/>
              <a:buNone/>
            </a:pPr>
            <a:r>
              <a:rPr sz="2200" dirty="0">
                <a:sym typeface="+mn-ea"/>
              </a:rPr>
              <a:t> from course c left join ctake s on c.cid=s.cid group by c.cid</a:t>
            </a:r>
            <a:endParaRPr sz="2200" dirty="0">
              <a:sym typeface="+mn-ea"/>
            </a:endParaRPr>
          </a:p>
        </p:txBody>
      </p:sp>
      <p:sp>
        <p:nvSpPr>
          <p:cNvPr id="121905" name="文本框 22"/>
          <p:cNvSpPr txBox="1"/>
          <p:nvPr/>
        </p:nvSpPr>
        <p:spPr>
          <a:xfrm>
            <a:off x="415925" y="4687253"/>
            <a:ext cx="8312150" cy="42989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sym typeface="+mn-ea"/>
              </a:rPr>
              <a:t>（</a:t>
            </a:r>
            <a:r>
              <a:rPr lang="en-US" altLang="zh-CN" sz="2200" dirty="0">
                <a:sym typeface="+mn-ea"/>
              </a:rPr>
              <a:t>2</a:t>
            </a:r>
            <a:r>
              <a:rPr lang="zh-CN" altLang="en-US" sz="2200" dirty="0">
                <a:sym typeface="+mn-ea"/>
              </a:rPr>
              <a:t>）查询两门以上不及格课程的同学的学号及其平均成绩</a:t>
            </a:r>
            <a:endParaRPr lang="zh-CN" altLang="en-US" sz="2200" dirty="0">
              <a:sym typeface="+mn-ea"/>
            </a:endParaRPr>
          </a:p>
        </p:txBody>
      </p:sp>
      <p:sp>
        <p:nvSpPr>
          <p:cNvPr id="121906" name="文本框 23"/>
          <p:cNvSpPr txBox="1"/>
          <p:nvPr/>
        </p:nvSpPr>
        <p:spPr>
          <a:xfrm>
            <a:off x="552450" y="5112703"/>
            <a:ext cx="8362950" cy="110680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00000"/>
              </a:lnSpc>
              <a:spcBef>
                <a:spcPct val="0"/>
              </a:spcBef>
              <a:buClrTx/>
              <a:buSzTx/>
              <a:buFont typeface="Arial" panose="020B0604020202020204" pitchFamily="34" charset="0"/>
              <a:buNone/>
            </a:pPr>
            <a:r>
              <a:rPr sz="2200" dirty="0">
                <a:sym typeface="+mn-ea"/>
              </a:rPr>
              <a:t>select c.sid,avg(c.mark) from(select s.sid,s.cid,s.mark from ctake s  where s.mark&lt;60) c </a:t>
            </a:r>
            <a:r>
              <a:rPr sz="2200" dirty="0">
                <a:solidFill>
                  <a:srgbClr val="FF0000"/>
                </a:solidFill>
                <a:sym typeface="+mn-ea"/>
              </a:rPr>
              <a:t>group by c.sid</a:t>
            </a:r>
            <a:r>
              <a:rPr sz="2200" dirty="0">
                <a:sym typeface="+mn-ea"/>
              </a:rPr>
              <a:t> </a:t>
            </a:r>
            <a:r>
              <a:rPr sz="2200" dirty="0">
                <a:solidFill>
                  <a:srgbClr val="0000FF"/>
                </a:solidFill>
                <a:sym typeface="+mn-ea"/>
              </a:rPr>
              <a:t>having count(c.cid)&gt;=2</a:t>
            </a:r>
            <a:endParaRPr sz="2200" dirty="0">
              <a:solidFill>
                <a:srgbClr val="0000FF"/>
              </a:solidFill>
              <a:sym typeface="+mn-ea"/>
            </a:endParaRPr>
          </a:p>
        </p:txBody>
      </p:sp>
      <p:sp>
        <p:nvSpPr>
          <p:cNvPr id="15" name="文本框 14"/>
          <p:cNvSpPr txBox="1"/>
          <p:nvPr/>
        </p:nvSpPr>
        <p:spPr>
          <a:xfrm>
            <a:off x="406400" y="-19050"/>
            <a:ext cx="2681288" cy="830263"/>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问题研讨：</a:t>
            </a:r>
            <a:endParaRPr kumimoji="0" lang="zh-CN" altLang="en-US" sz="3200" kern="1200" cap="none" spc="0" normalizeH="0" baseline="0" noProof="0" dirty="0">
              <a:latin typeface="Arial" panose="020B0604020202020204" pitchFamily="34" charset="0"/>
              <a:ea typeface="宋体" panose="02010600030101010101" pitchFamily="2" charset="-122"/>
              <a:cs typeface="+mn-cs"/>
            </a:endParaRPr>
          </a:p>
        </p:txBody>
      </p:sp>
      <p:pic>
        <p:nvPicPr>
          <p:cNvPr id="2" name="图片 1"/>
          <p:cNvPicPr>
            <a:picLocks noChangeAspect="1"/>
          </p:cNvPicPr>
          <p:nvPr/>
        </p:nvPicPr>
        <p:blipFill>
          <a:blip r:embed="rId1"/>
          <a:stretch>
            <a:fillRect/>
          </a:stretch>
        </p:blipFill>
        <p:spPr>
          <a:xfrm>
            <a:off x="950595" y="1625600"/>
            <a:ext cx="7566660" cy="2529840"/>
          </a:xfrm>
          <a:prstGeom prst="rect">
            <a:avLst/>
          </a:prstGeom>
          <a:ln>
            <a:solidFill>
              <a:schemeClr val="accent1"/>
            </a:solidFill>
          </a:ln>
        </p:spPr>
      </p:pic>
      <p:pic>
        <p:nvPicPr>
          <p:cNvPr id="4" name="图片 3"/>
          <p:cNvPicPr>
            <a:picLocks noChangeAspect="1"/>
          </p:cNvPicPr>
          <p:nvPr/>
        </p:nvPicPr>
        <p:blipFill>
          <a:blip r:embed="rId2"/>
          <a:stretch>
            <a:fillRect/>
          </a:stretch>
        </p:blipFill>
        <p:spPr>
          <a:xfrm>
            <a:off x="1374775" y="4614545"/>
            <a:ext cx="7353300" cy="1607820"/>
          </a:xfrm>
          <a:prstGeom prst="rect">
            <a:avLst/>
          </a:prstGeom>
          <a:ln>
            <a:solidFill>
              <a:schemeClr val="accent1"/>
            </a:solid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ppt_x"/>
                                          </p:val>
                                        </p:tav>
                                        <p:tav tm="100000">
                                          <p:val>
                                            <p:strVal val="#ppt_x"/>
                                          </p:val>
                                        </p:tav>
                                      </p:tavLst>
                                    </p:anim>
                                    <p:anim calcmode="lin" valueType="num">
                                      <p:cBhvr additive="base">
                                        <p:cTn id="8"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21906"/>
                                        </p:tgtEl>
                                        <p:attrNameLst>
                                          <p:attrName>style.visibility</p:attrName>
                                        </p:attrNameLst>
                                      </p:cBhvr>
                                      <p:to>
                                        <p:strVal val="visible"/>
                                      </p:to>
                                    </p:set>
                                    <p:anim calcmode="lin" valueType="num">
                                      <p:cBhvr additive="base">
                                        <p:cTn id="19" dur="500" fill="hold"/>
                                        <p:tgtEl>
                                          <p:spTgt spid="121906"/>
                                        </p:tgtEl>
                                        <p:attrNameLst>
                                          <p:attrName>ppt_x</p:attrName>
                                        </p:attrNameLst>
                                      </p:cBhvr>
                                      <p:tavLst>
                                        <p:tav tm="0">
                                          <p:val>
                                            <p:strVal val="#ppt_x"/>
                                          </p:val>
                                        </p:tav>
                                        <p:tav tm="100000">
                                          <p:val>
                                            <p:strVal val="#ppt_x"/>
                                          </p:val>
                                        </p:tav>
                                      </p:tavLst>
                                    </p:anim>
                                    <p:anim calcmode="lin" valueType="num">
                                      <p:cBhvr additive="base">
                                        <p:cTn id="20" dur="500" fill="hold"/>
                                        <p:tgtEl>
                                          <p:spTgt spid="12190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121906" grpId="0"/>
      <p:bldP spid="121906" grpId="1"/>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629285" y="3357880"/>
            <a:ext cx="7885430" cy="3136900"/>
          </a:xfrm>
          <a:prstGeom prst="rect">
            <a:avLst/>
          </a:prstGeom>
          <a:noFill/>
        </p:spPr>
        <p:txBody>
          <a:bodyPr wrap="square" rtlCol="0" anchor="t">
            <a:spAutoFit/>
          </a:bodyPr>
          <a:p>
            <a:pPr>
              <a:lnSpc>
                <a:spcPct val="90000"/>
              </a:lnSpc>
              <a:spcBef>
                <a:spcPts val="0"/>
              </a:spcBef>
              <a:spcAft>
                <a:spcPts val="0"/>
              </a:spcAft>
            </a:pPr>
            <a:r>
              <a:rPr lang="en-US" altLang="zh-CN" sz="2200">
                <a:solidFill>
                  <a:srgbClr val="0000FF"/>
                </a:solidFill>
              </a:rPr>
              <a:t>SELECT</a:t>
            </a:r>
            <a:endParaRPr lang="en-US" altLang="zh-CN" sz="2200">
              <a:solidFill>
                <a:srgbClr val="0000FF"/>
              </a:solidFill>
            </a:endParaRPr>
          </a:p>
          <a:p>
            <a:pPr>
              <a:lnSpc>
                <a:spcPct val="90000"/>
              </a:lnSpc>
              <a:spcBef>
                <a:spcPts val="0"/>
              </a:spcBef>
              <a:spcAft>
                <a:spcPts val="0"/>
              </a:spcAft>
            </a:pPr>
            <a:r>
              <a:rPr lang="en-US" altLang="zh-CN" sz="2200"/>
              <a:t>   </a:t>
            </a:r>
            <a:r>
              <a:rPr lang="en-US" altLang="zh-CN" sz="2200">
                <a:solidFill>
                  <a:srgbClr val="0000FF"/>
                </a:solidFill>
              </a:rPr>
              <a:t> </a:t>
            </a:r>
            <a:r>
              <a:rPr lang="zh-CN" altLang="en-US" sz="2200">
                <a:solidFill>
                  <a:srgbClr val="0000FF"/>
                </a:solidFill>
              </a:rPr>
              <a:t>sum</a:t>
            </a:r>
            <a:r>
              <a:rPr lang="zh-CN" altLang="en-US" sz="2200"/>
              <a:t>(</a:t>
            </a:r>
            <a:r>
              <a:rPr lang="zh-CN" altLang="en-US" sz="2200">
                <a:solidFill>
                  <a:srgbClr val="CC0000"/>
                </a:solidFill>
              </a:rPr>
              <a:t>case when</a:t>
            </a:r>
            <a:r>
              <a:rPr lang="zh-CN" altLang="en-US" sz="2200"/>
              <a:t> Sage&lt;20 and SGender='F'</a:t>
            </a:r>
            <a:r>
              <a:rPr lang="en-US" altLang="zh-CN" sz="2200"/>
              <a:t> </a:t>
            </a:r>
            <a:r>
              <a:rPr lang="zh-CN" altLang="en-US" sz="2200">
                <a:solidFill>
                  <a:srgbClr val="CC0000"/>
                </a:solidFill>
              </a:rPr>
              <a:t>then</a:t>
            </a:r>
            <a:r>
              <a:rPr lang="zh-CN" altLang="en-US" sz="2200"/>
              <a:t> 1</a:t>
            </a:r>
            <a:endParaRPr lang="zh-CN" altLang="en-US" sz="2200"/>
          </a:p>
          <a:p>
            <a:pPr>
              <a:lnSpc>
                <a:spcPct val="90000"/>
              </a:lnSpc>
              <a:spcBef>
                <a:spcPts val="0"/>
              </a:spcBef>
              <a:spcAft>
                <a:spcPts val="0"/>
              </a:spcAft>
            </a:pPr>
            <a:r>
              <a:rPr lang="zh-CN" altLang="en-US" sz="2200"/>
              <a:t> </a:t>
            </a:r>
            <a:r>
              <a:rPr lang="en-US" altLang="zh-CN" sz="2200"/>
              <a:t> </a:t>
            </a:r>
            <a:r>
              <a:rPr lang="zh-CN" altLang="en-US" sz="2200"/>
              <a:t> </a:t>
            </a:r>
            <a:r>
              <a:rPr lang="en-US" altLang="zh-CN" sz="2200">
                <a:solidFill>
                  <a:srgbClr val="CC0000"/>
                </a:solidFill>
              </a:rPr>
              <a:t> </a:t>
            </a:r>
            <a:r>
              <a:rPr lang="zh-CN" altLang="en-US" sz="2200">
                <a:solidFill>
                  <a:srgbClr val="CC0000"/>
                </a:solidFill>
              </a:rPr>
              <a:t>else</a:t>
            </a:r>
            <a:r>
              <a:rPr lang="zh-CN" altLang="en-US" sz="2200"/>
              <a:t> 0 </a:t>
            </a:r>
            <a:r>
              <a:rPr lang="zh-CN" altLang="en-US" sz="2200">
                <a:solidFill>
                  <a:srgbClr val="CC0000"/>
                </a:solidFill>
              </a:rPr>
              <a:t>end</a:t>
            </a:r>
            <a:r>
              <a:rPr lang="zh-CN" altLang="en-US" sz="2200"/>
              <a:t>)女生20岁下,</a:t>
            </a:r>
            <a:endParaRPr lang="zh-CN" altLang="en-US" sz="2200"/>
          </a:p>
          <a:p>
            <a:pPr>
              <a:lnSpc>
                <a:spcPct val="90000"/>
              </a:lnSpc>
              <a:spcBef>
                <a:spcPts val="0"/>
              </a:spcBef>
              <a:spcAft>
                <a:spcPts val="0"/>
              </a:spcAft>
            </a:pPr>
            <a:r>
              <a:rPr lang="en-US" altLang="zh-CN" sz="2200"/>
              <a:t>    </a:t>
            </a:r>
            <a:r>
              <a:rPr lang="zh-CN" altLang="en-US" sz="2200">
                <a:solidFill>
                  <a:srgbClr val="0000FF"/>
                </a:solidFill>
              </a:rPr>
              <a:t>sum</a:t>
            </a:r>
            <a:r>
              <a:rPr lang="zh-CN" altLang="en-US" sz="2200"/>
              <a:t>(</a:t>
            </a:r>
            <a:r>
              <a:rPr lang="zh-CN" altLang="en-US" sz="2200">
                <a:solidFill>
                  <a:srgbClr val="CC0000"/>
                </a:solidFill>
              </a:rPr>
              <a:t>case when</a:t>
            </a:r>
            <a:r>
              <a:rPr lang="zh-CN" altLang="en-US" sz="2200"/>
              <a:t> Sage&gt;=20 and SGender='F'</a:t>
            </a:r>
            <a:r>
              <a:rPr lang="en-US" altLang="zh-CN" sz="2200"/>
              <a:t> </a:t>
            </a:r>
            <a:r>
              <a:rPr lang="zh-CN" altLang="en-US" sz="2200">
                <a:solidFill>
                  <a:srgbClr val="CC0000"/>
                </a:solidFill>
              </a:rPr>
              <a:t>then </a:t>
            </a:r>
            <a:r>
              <a:rPr lang="zh-CN" altLang="en-US" sz="2200"/>
              <a:t>1</a:t>
            </a:r>
            <a:endParaRPr lang="zh-CN" altLang="en-US" sz="2200"/>
          </a:p>
          <a:p>
            <a:pPr>
              <a:lnSpc>
                <a:spcPct val="90000"/>
              </a:lnSpc>
              <a:spcBef>
                <a:spcPts val="0"/>
              </a:spcBef>
              <a:spcAft>
                <a:spcPts val="0"/>
              </a:spcAft>
            </a:pPr>
            <a:r>
              <a:rPr lang="zh-CN" altLang="en-US" sz="2200"/>
              <a:t> </a:t>
            </a:r>
            <a:r>
              <a:rPr lang="en-US" altLang="zh-CN" sz="2200"/>
              <a:t>  </a:t>
            </a:r>
            <a:r>
              <a:rPr lang="zh-CN" altLang="en-US" sz="2200"/>
              <a:t> else 0 </a:t>
            </a:r>
            <a:r>
              <a:rPr lang="zh-CN" altLang="en-US" sz="2200">
                <a:solidFill>
                  <a:srgbClr val="CC0000"/>
                </a:solidFill>
              </a:rPr>
              <a:t>end</a:t>
            </a:r>
            <a:r>
              <a:rPr lang="zh-CN" altLang="en-US" sz="2200"/>
              <a:t>)女生20岁及以上,</a:t>
            </a:r>
            <a:endParaRPr lang="zh-CN" altLang="en-US" sz="2200"/>
          </a:p>
          <a:p>
            <a:pPr>
              <a:lnSpc>
                <a:spcPct val="90000"/>
              </a:lnSpc>
              <a:spcBef>
                <a:spcPts val="0"/>
              </a:spcBef>
              <a:spcAft>
                <a:spcPts val="0"/>
              </a:spcAft>
            </a:pPr>
            <a:r>
              <a:rPr lang="en-US" altLang="zh-CN" sz="2200"/>
              <a:t>   </a:t>
            </a:r>
            <a:r>
              <a:rPr lang="en-US" altLang="zh-CN" sz="2200">
                <a:solidFill>
                  <a:srgbClr val="0000FF"/>
                </a:solidFill>
              </a:rPr>
              <a:t> </a:t>
            </a:r>
            <a:r>
              <a:rPr lang="zh-CN" altLang="en-US" sz="2200">
                <a:solidFill>
                  <a:srgbClr val="0000FF"/>
                </a:solidFill>
              </a:rPr>
              <a:t>sum</a:t>
            </a:r>
            <a:r>
              <a:rPr lang="zh-CN" altLang="en-US" sz="2200"/>
              <a:t>(</a:t>
            </a:r>
            <a:r>
              <a:rPr lang="zh-CN" altLang="en-US" sz="2200">
                <a:solidFill>
                  <a:srgbClr val="CC0000"/>
                </a:solidFill>
              </a:rPr>
              <a:t>case when</a:t>
            </a:r>
            <a:r>
              <a:rPr lang="zh-CN" altLang="en-US" sz="2200"/>
              <a:t> Sage&lt;20 and SGender='M'</a:t>
            </a:r>
            <a:r>
              <a:rPr lang="en-US" altLang="zh-CN" sz="2200"/>
              <a:t> </a:t>
            </a:r>
            <a:r>
              <a:rPr lang="zh-CN" altLang="en-US" sz="2200">
                <a:solidFill>
                  <a:srgbClr val="CC0000"/>
                </a:solidFill>
              </a:rPr>
              <a:t>then </a:t>
            </a:r>
            <a:r>
              <a:rPr lang="zh-CN" altLang="en-US" sz="2200"/>
              <a:t>1</a:t>
            </a:r>
            <a:endParaRPr lang="zh-CN" altLang="en-US" sz="2200"/>
          </a:p>
          <a:p>
            <a:pPr>
              <a:lnSpc>
                <a:spcPct val="90000"/>
              </a:lnSpc>
              <a:spcBef>
                <a:spcPts val="0"/>
              </a:spcBef>
              <a:spcAft>
                <a:spcPts val="0"/>
              </a:spcAft>
            </a:pPr>
            <a:r>
              <a:rPr lang="zh-CN" altLang="en-US" sz="2200"/>
              <a:t> </a:t>
            </a:r>
            <a:r>
              <a:rPr lang="en-US" altLang="zh-CN" sz="2200"/>
              <a:t>  </a:t>
            </a:r>
            <a:r>
              <a:rPr lang="zh-CN" altLang="en-US" sz="2200"/>
              <a:t> else 0 </a:t>
            </a:r>
            <a:r>
              <a:rPr lang="zh-CN" altLang="en-US" sz="2200">
                <a:solidFill>
                  <a:srgbClr val="CC0000"/>
                </a:solidFill>
              </a:rPr>
              <a:t>end</a:t>
            </a:r>
            <a:r>
              <a:rPr lang="zh-CN" altLang="en-US" sz="2200"/>
              <a:t>)男生20岁以下,</a:t>
            </a:r>
            <a:endParaRPr lang="zh-CN" altLang="en-US" sz="2200"/>
          </a:p>
          <a:p>
            <a:pPr>
              <a:lnSpc>
                <a:spcPct val="90000"/>
              </a:lnSpc>
              <a:spcBef>
                <a:spcPts val="0"/>
              </a:spcBef>
              <a:spcAft>
                <a:spcPts val="0"/>
              </a:spcAft>
            </a:pPr>
            <a:r>
              <a:rPr lang="en-US" altLang="zh-CN" sz="2200"/>
              <a:t>    </a:t>
            </a:r>
            <a:r>
              <a:rPr lang="zh-CN" altLang="en-US" sz="2200">
                <a:solidFill>
                  <a:srgbClr val="0000FF"/>
                </a:solidFill>
              </a:rPr>
              <a:t>sum</a:t>
            </a:r>
            <a:r>
              <a:rPr lang="zh-CN" altLang="en-US" sz="2200"/>
              <a:t>(</a:t>
            </a:r>
            <a:r>
              <a:rPr lang="zh-CN" altLang="en-US" sz="2200">
                <a:solidFill>
                  <a:srgbClr val="CC0000"/>
                </a:solidFill>
              </a:rPr>
              <a:t>case when</a:t>
            </a:r>
            <a:r>
              <a:rPr lang="zh-CN" altLang="en-US" sz="2200"/>
              <a:t> Sage&gt;=20 and SGender='M'</a:t>
            </a:r>
            <a:r>
              <a:rPr lang="en-US" altLang="zh-CN" sz="2200"/>
              <a:t> </a:t>
            </a:r>
            <a:r>
              <a:rPr lang="zh-CN" altLang="en-US" sz="2200">
                <a:solidFill>
                  <a:srgbClr val="CC0000"/>
                </a:solidFill>
              </a:rPr>
              <a:t>then</a:t>
            </a:r>
            <a:r>
              <a:rPr lang="zh-CN" altLang="en-US" sz="2200"/>
              <a:t> 1</a:t>
            </a:r>
            <a:endParaRPr lang="zh-CN" altLang="en-US" sz="2200"/>
          </a:p>
          <a:p>
            <a:pPr>
              <a:lnSpc>
                <a:spcPct val="90000"/>
              </a:lnSpc>
              <a:spcBef>
                <a:spcPts val="0"/>
              </a:spcBef>
              <a:spcAft>
                <a:spcPts val="0"/>
              </a:spcAft>
            </a:pPr>
            <a:r>
              <a:rPr lang="zh-CN" altLang="en-US" sz="2200"/>
              <a:t> </a:t>
            </a:r>
            <a:r>
              <a:rPr lang="en-US" altLang="zh-CN" sz="2200"/>
              <a:t>  </a:t>
            </a:r>
            <a:r>
              <a:rPr lang="zh-CN" altLang="en-US" sz="2200"/>
              <a:t> else 0 </a:t>
            </a:r>
            <a:r>
              <a:rPr lang="zh-CN" altLang="en-US" sz="2200">
                <a:solidFill>
                  <a:srgbClr val="CC0000"/>
                </a:solidFill>
              </a:rPr>
              <a:t>end</a:t>
            </a:r>
            <a:r>
              <a:rPr lang="zh-CN" altLang="en-US" sz="2200"/>
              <a:t>)男生20岁及以上 </a:t>
            </a:r>
            <a:endParaRPr lang="zh-CN" altLang="en-US" sz="2200"/>
          </a:p>
          <a:p>
            <a:pPr>
              <a:lnSpc>
                <a:spcPct val="90000"/>
              </a:lnSpc>
              <a:spcBef>
                <a:spcPts val="0"/>
              </a:spcBef>
              <a:spcAft>
                <a:spcPts val="0"/>
              </a:spcAft>
            </a:pPr>
            <a:r>
              <a:rPr lang="en-US" altLang="zh-CN" sz="2200">
                <a:solidFill>
                  <a:srgbClr val="0000FF"/>
                </a:solidFill>
              </a:rPr>
              <a:t>FROM</a:t>
            </a:r>
            <a:r>
              <a:rPr lang="zh-CN" altLang="en-US" sz="2200"/>
              <a:t> stu </a:t>
            </a:r>
            <a:endParaRPr lang="zh-CN" altLang="en-US" sz="2200"/>
          </a:p>
        </p:txBody>
      </p:sp>
      <p:sp>
        <p:nvSpPr>
          <p:cNvPr id="121903" name="文本框 20"/>
          <p:cNvSpPr txBox="1"/>
          <p:nvPr/>
        </p:nvSpPr>
        <p:spPr>
          <a:xfrm>
            <a:off x="690880" y="855980"/>
            <a:ext cx="8312150" cy="42989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sym typeface="+mn-ea"/>
              </a:rPr>
              <a:t>（</a:t>
            </a:r>
            <a:r>
              <a:rPr lang="en-US" altLang="zh-CN" sz="2200" dirty="0">
                <a:sym typeface="+mn-ea"/>
              </a:rPr>
              <a:t>3</a:t>
            </a:r>
            <a:r>
              <a:rPr lang="zh-CN" altLang="en-US" sz="2200" dirty="0">
                <a:sym typeface="+mn-ea"/>
              </a:rPr>
              <a:t>）查询女生和男生</a:t>
            </a:r>
            <a:r>
              <a:rPr lang="en-US" altLang="zh-CN" sz="2200" dirty="0">
                <a:sym typeface="+mn-ea"/>
              </a:rPr>
              <a:t>20</a:t>
            </a:r>
            <a:r>
              <a:rPr lang="zh-CN" altLang="en-US" sz="2200" dirty="0">
                <a:sym typeface="+mn-ea"/>
              </a:rPr>
              <a:t>岁及以上和</a:t>
            </a:r>
            <a:r>
              <a:rPr lang="en-US" altLang="zh-CN" sz="2200" dirty="0">
                <a:sym typeface="+mn-ea"/>
              </a:rPr>
              <a:t>20</a:t>
            </a:r>
            <a:r>
              <a:rPr lang="zh-CN" altLang="en-US" sz="2200" dirty="0">
                <a:sym typeface="+mn-ea"/>
              </a:rPr>
              <a:t>岁以下人员的</a:t>
            </a:r>
            <a:r>
              <a:rPr lang="zh-CN" altLang="en-US" sz="2200" dirty="0">
                <a:sym typeface="+mn-ea"/>
              </a:rPr>
              <a:t>分布</a:t>
            </a:r>
            <a:endParaRPr lang="zh-CN" altLang="en-US" sz="2200" dirty="0">
              <a:sym typeface="+mn-ea"/>
            </a:endParaRPr>
          </a:p>
        </p:txBody>
      </p:sp>
      <p:sp>
        <p:nvSpPr>
          <p:cNvPr id="15" name="文本框 14"/>
          <p:cNvSpPr txBox="1"/>
          <p:nvPr/>
        </p:nvSpPr>
        <p:spPr>
          <a:xfrm>
            <a:off x="406400" y="-19050"/>
            <a:ext cx="2681288" cy="830263"/>
          </a:xfrm>
          <a:prstGeom prst="rect">
            <a:avLst/>
          </a:prstGeom>
          <a:noFill/>
        </p:spPr>
        <p:txBody>
          <a:bodyPr wrap="none">
            <a:spAutoFit/>
          </a:bodyPr>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问题研讨：</a:t>
            </a:r>
            <a:endParaRPr kumimoji="0" lang="zh-CN" altLang="en-US" sz="3200" kern="1200" cap="none" spc="0" normalizeH="0" baseline="0" noProof="0" dirty="0">
              <a:latin typeface="Arial" panose="020B0604020202020204" pitchFamily="34" charset="0"/>
              <a:ea typeface="宋体" panose="02010600030101010101" pitchFamily="2" charset="-122"/>
              <a:cs typeface="+mn-cs"/>
            </a:endParaRPr>
          </a:p>
        </p:txBody>
      </p:sp>
      <p:pic>
        <p:nvPicPr>
          <p:cNvPr id="4" name="图片 3"/>
          <p:cNvPicPr>
            <a:picLocks noChangeAspect="1"/>
          </p:cNvPicPr>
          <p:nvPr/>
        </p:nvPicPr>
        <p:blipFill>
          <a:blip r:embed="rId1"/>
          <a:stretch>
            <a:fillRect/>
          </a:stretch>
        </p:blipFill>
        <p:spPr>
          <a:xfrm>
            <a:off x="768350" y="1252220"/>
            <a:ext cx="3300199" cy="1980000"/>
          </a:xfrm>
          <a:prstGeom prst="rect">
            <a:avLst/>
          </a:prstGeom>
        </p:spPr>
      </p:pic>
      <p:pic>
        <p:nvPicPr>
          <p:cNvPr id="5" name="图片 4"/>
          <p:cNvPicPr>
            <a:picLocks noChangeAspect="1"/>
          </p:cNvPicPr>
          <p:nvPr/>
        </p:nvPicPr>
        <p:blipFill>
          <a:blip r:embed="rId2"/>
          <a:stretch>
            <a:fillRect/>
          </a:stretch>
        </p:blipFill>
        <p:spPr>
          <a:xfrm>
            <a:off x="629285" y="3985260"/>
            <a:ext cx="8328660" cy="2354580"/>
          </a:xfrm>
          <a:prstGeom prst="rect">
            <a:avLst/>
          </a:prstGeom>
          <a:ln>
            <a:solidFill>
              <a:schemeClr val="accent1"/>
            </a:solid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5"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1" charset="-122"/>
              </a:rPr>
              <a:t>四、</a:t>
            </a:r>
            <a:r>
              <a:rPr lang="en-US" altLang="zh-CN" sz="3200" dirty="0">
                <a:solidFill>
                  <a:srgbClr val="FF0000"/>
                </a:solidFill>
                <a:ea typeface="黑体" panose="02010609060101010101" pitchFamily="1" charset="-122"/>
              </a:rPr>
              <a:t>T-SQL</a:t>
            </a:r>
            <a:r>
              <a:rPr lang="zh-CN" altLang="en-US" sz="3200" dirty="0">
                <a:solidFill>
                  <a:srgbClr val="FF0000"/>
                </a:solidFill>
                <a:ea typeface="黑体" panose="02010609060101010101" pitchFamily="1" charset="-122"/>
              </a:rPr>
              <a:t>编程</a:t>
            </a:r>
            <a:endParaRPr lang="zh-CN" altLang="en-US" sz="3200" dirty="0">
              <a:solidFill>
                <a:srgbClr val="FF0000"/>
              </a:solidFill>
              <a:ea typeface="黑体" panose="02010609060101010101" pitchFamily="1" charset="-122"/>
            </a:endParaRPr>
          </a:p>
        </p:txBody>
      </p:sp>
      <p:sp>
        <p:nvSpPr>
          <p:cNvPr id="101379" name="Rectangle 3"/>
          <p:cNvSpPr txBox="1"/>
          <p:nvPr/>
        </p:nvSpPr>
        <p:spPr>
          <a:xfrm>
            <a:off x="457200" y="1325563"/>
            <a:ext cx="8642350" cy="747712"/>
          </a:xfrm>
          <a:prstGeom prst="rect">
            <a:avLst/>
          </a:prstGeom>
          <a:noFill/>
          <a:ln w="9525">
            <a:noFill/>
          </a:ln>
        </p:spPr>
        <p:txBody>
          <a:bodyPr anchor="t" anchorCtr="0"/>
          <a:p>
            <a:pPr>
              <a:buFont typeface="Wingdings" panose="05000000000000000000" pitchFamily="2" charset="2"/>
            </a:pPr>
            <a:r>
              <a:rPr lang="zh-CN" altLang="en-US" sz="2200" dirty="0">
                <a:solidFill>
                  <a:srgbClr val="0000FF"/>
                </a:solidFill>
                <a:latin typeface="华文中宋" panose="02010600040101010101" charset="-122"/>
                <a:ea typeface="华文中宋" panose="02010600040101010101" charset="-122"/>
                <a:cs typeface="华文中宋" panose="02010600040101010101" charset="-122"/>
              </a:rPr>
              <a:t>（6）界定语句块</a:t>
            </a:r>
            <a:endParaRPr lang="zh-CN" altLang="en-US" sz="2400" dirty="0">
              <a:solidFill>
                <a:srgbClr val="3333CC"/>
              </a:solidFill>
              <a:latin typeface="宋体" panose="02010600030101010101" pitchFamily="2" charset="-122"/>
              <a:ea typeface="黑体" panose="02010609060101010101" pitchFamily="1" charset="-122"/>
            </a:endParaRPr>
          </a:p>
        </p:txBody>
      </p:sp>
      <p:sp>
        <p:nvSpPr>
          <p:cNvPr id="4" name="文本框 3"/>
          <p:cNvSpPr txBox="1"/>
          <p:nvPr>
            <p:custDataLst>
              <p:tags r:id="rId1"/>
            </p:custDataLst>
          </p:nvPr>
        </p:nvSpPr>
        <p:spPr>
          <a:xfrm>
            <a:off x="3027680" y="1284605"/>
            <a:ext cx="2423160" cy="460375"/>
          </a:xfrm>
          <a:prstGeom prst="rect">
            <a:avLst/>
          </a:prstGeom>
          <a:noFill/>
        </p:spPr>
        <p:txBody>
          <a:bodyPr wrap="square" rtlCol="0" anchor="t">
            <a:spAutoFit/>
          </a:bodyPr>
          <a:p>
            <a:pPr>
              <a:lnSpc>
                <a:spcPct val="120000"/>
              </a:lnSpc>
              <a:spcBef>
                <a:spcPts val="0"/>
              </a:spcBef>
              <a:spcAft>
                <a:spcPts val="0"/>
              </a:spcAft>
            </a:pPr>
            <a:r>
              <a:rPr lang="en-US" altLang="zh-CN" sz="2000" dirty="0">
                <a:solidFill>
                  <a:srgbClr val="FF0000"/>
                </a:solidFill>
                <a:sym typeface="+mn-ea"/>
              </a:rPr>
              <a:t>BEGIN…END</a:t>
            </a:r>
            <a:endParaRPr lang="en-US" altLang="zh-CN" sz="2000" dirty="0">
              <a:solidFill>
                <a:srgbClr val="FF0000"/>
              </a:solidFill>
              <a:sym typeface="+mn-ea"/>
            </a:endParaRPr>
          </a:p>
        </p:txBody>
      </p:sp>
      <p:sp>
        <p:nvSpPr>
          <p:cNvPr id="7" name="文本框 20"/>
          <p:cNvSpPr txBox="1"/>
          <p:nvPr/>
        </p:nvSpPr>
        <p:spPr>
          <a:xfrm>
            <a:off x="501650" y="1728470"/>
            <a:ext cx="8418830" cy="476885"/>
          </a:xfrm>
          <a:prstGeom prst="rect">
            <a:avLst/>
          </a:prstGeom>
          <a:noFill/>
          <a:ln w="9525">
            <a:noFill/>
          </a:ln>
        </p:spPr>
        <p:txBody>
          <a:bodyPr wrap="square">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ts val="0"/>
              </a:spcBef>
              <a:spcAft>
                <a:spcPts val="0"/>
              </a:spcAft>
              <a:buClrTx/>
              <a:buSzTx/>
              <a:buFont typeface="Arial" panose="020B0604020202020204" pitchFamily="34" charset="0"/>
              <a:buNone/>
            </a:pPr>
            <a:r>
              <a:rPr lang="en-US" altLang="zh-CN" dirty="0">
                <a:sym typeface="+mn-ea"/>
              </a:rPr>
              <a:t> </a:t>
            </a:r>
            <a:r>
              <a:rPr lang="zh-CN" altLang="en-US" dirty="0">
                <a:sym typeface="+mn-ea"/>
              </a:rPr>
              <a:t>用途：界定由多条</a:t>
            </a:r>
            <a:r>
              <a:rPr lang="en-US" altLang="zh-CN" dirty="0">
                <a:sym typeface="+mn-ea"/>
              </a:rPr>
              <a:t>SQL</a:t>
            </a:r>
            <a:r>
              <a:rPr lang="zh-CN" altLang="en-US" dirty="0">
                <a:sym typeface="+mn-ea"/>
              </a:rPr>
              <a:t>语句组成的</a:t>
            </a:r>
            <a:r>
              <a:rPr lang="zh-CN" altLang="en-US" dirty="0">
                <a:sym typeface="+mn-ea"/>
              </a:rPr>
              <a:t>语句块。</a:t>
            </a:r>
            <a:endParaRPr lang="zh-CN" altLang="en-US" dirty="0">
              <a:sym typeface="+mn-ea"/>
            </a:endParaRPr>
          </a:p>
          <a:p>
            <a:pPr marL="0" lvl="0" indent="0" eaLnBrk="1" hangingPunct="1">
              <a:lnSpc>
                <a:spcPct val="120000"/>
              </a:lnSpc>
              <a:spcBef>
                <a:spcPts val="0"/>
              </a:spcBef>
              <a:spcAft>
                <a:spcPts val="0"/>
              </a:spcAft>
              <a:buClrTx/>
              <a:buSzTx/>
              <a:buFont typeface="Arial" panose="020B0604020202020204" pitchFamily="34" charset="0"/>
              <a:buNone/>
            </a:pPr>
            <a:endParaRPr lang="zh-CN" altLang="en-US" dirty="0">
              <a:sym typeface="+mn-ea"/>
            </a:endParaRPr>
          </a:p>
        </p:txBody>
      </p:sp>
      <p:sp>
        <p:nvSpPr>
          <p:cNvPr id="17" name="文本框 16"/>
          <p:cNvSpPr txBox="1"/>
          <p:nvPr/>
        </p:nvSpPr>
        <p:spPr>
          <a:xfrm>
            <a:off x="1298575" y="2205355"/>
            <a:ext cx="5214620" cy="3969385"/>
          </a:xfrm>
          <a:prstGeom prst="rect">
            <a:avLst/>
          </a:prstGeom>
          <a:noFill/>
        </p:spPr>
        <p:txBody>
          <a:bodyPr wrap="square" rtlCol="0" anchor="t">
            <a:spAutoFit/>
          </a:bodyPr>
          <a:p>
            <a:pPr>
              <a:lnSpc>
                <a:spcPct val="100000"/>
              </a:lnSpc>
              <a:spcBef>
                <a:spcPts val="0"/>
              </a:spcBef>
              <a:spcAft>
                <a:spcPts val="0"/>
              </a:spcAft>
            </a:pPr>
            <a:r>
              <a:rPr lang="en-US" altLang="zh-CN">
                <a:solidFill>
                  <a:srgbClr val="0000FF"/>
                </a:solidFill>
              </a:rPr>
              <a:t>DECLARE</a:t>
            </a:r>
            <a:r>
              <a:rPr lang="en-US" altLang="zh-CN"/>
              <a:t> @avg_price </a:t>
            </a:r>
            <a:r>
              <a:rPr lang="en-US" altLang="zh-CN">
                <a:solidFill>
                  <a:srgbClr val="0000FF"/>
                </a:solidFill>
              </a:rPr>
              <a:t>money</a:t>
            </a:r>
            <a:endParaRPr lang="en-US" altLang="zh-CN">
              <a:solidFill>
                <a:srgbClr val="0000FF"/>
              </a:solidFill>
            </a:endParaRPr>
          </a:p>
          <a:p>
            <a:pPr>
              <a:lnSpc>
                <a:spcPct val="100000"/>
              </a:lnSpc>
              <a:spcBef>
                <a:spcPts val="0"/>
              </a:spcBef>
              <a:spcAft>
                <a:spcPts val="0"/>
              </a:spcAft>
            </a:pPr>
            <a:r>
              <a:rPr lang="en-US" altLang="zh-CN">
                <a:solidFill>
                  <a:srgbClr val="0000FF"/>
                </a:solidFill>
              </a:rPr>
              <a:t>SELECT</a:t>
            </a:r>
            <a:r>
              <a:rPr lang="en-US" altLang="zh-CN"/>
              <a:t> </a:t>
            </a:r>
            <a:r>
              <a:rPr lang="en-US" altLang="zh-CN">
                <a:sym typeface="+mn-ea"/>
              </a:rPr>
              <a:t>@avg_price=AVG(price) </a:t>
            </a:r>
            <a:r>
              <a:rPr lang="en-US" altLang="zh-CN">
                <a:solidFill>
                  <a:srgbClr val="0000FF"/>
                </a:solidFill>
                <a:sym typeface="+mn-ea"/>
              </a:rPr>
              <a:t>FROM</a:t>
            </a:r>
            <a:r>
              <a:rPr lang="en-US" altLang="zh-CN">
                <a:sym typeface="+mn-ea"/>
              </a:rPr>
              <a:t> titles</a:t>
            </a:r>
            <a:endParaRPr lang="en-US" altLang="zh-CN">
              <a:sym typeface="+mn-ea"/>
            </a:endParaRPr>
          </a:p>
          <a:p>
            <a:pPr>
              <a:lnSpc>
                <a:spcPct val="100000"/>
              </a:lnSpc>
              <a:spcBef>
                <a:spcPts val="0"/>
              </a:spcBef>
              <a:spcAft>
                <a:spcPts val="0"/>
              </a:spcAft>
            </a:pPr>
            <a:r>
              <a:rPr lang="en-US" altLang="zh-CN">
                <a:solidFill>
                  <a:srgbClr val="0000FF"/>
                </a:solidFill>
                <a:sym typeface="+mn-ea"/>
              </a:rPr>
              <a:t>IF</a:t>
            </a:r>
            <a:r>
              <a:rPr lang="en-US" altLang="zh-CN">
                <a:sym typeface="+mn-ea"/>
              </a:rPr>
              <a:t> @</a:t>
            </a:r>
            <a:r>
              <a:rPr lang="en-US" altLang="zh-CN">
                <a:sym typeface="+mn-ea"/>
              </a:rPr>
              <a:t>avg_price&lt;20</a:t>
            </a:r>
            <a:endParaRPr lang="en-US" altLang="zh-CN">
              <a:sym typeface="+mn-ea"/>
            </a:endParaRPr>
          </a:p>
          <a:p>
            <a:pPr>
              <a:lnSpc>
                <a:spcPct val="100000"/>
              </a:lnSpc>
              <a:spcBef>
                <a:spcPts val="0"/>
              </a:spcBef>
              <a:spcAft>
                <a:spcPts val="0"/>
              </a:spcAft>
            </a:pPr>
            <a:r>
              <a:rPr lang="en-US" altLang="zh-CN">
                <a:solidFill>
                  <a:srgbClr val="0000FF"/>
                </a:solidFill>
                <a:sym typeface="+mn-ea"/>
              </a:rPr>
              <a:t>BEGIN</a:t>
            </a:r>
            <a:endParaRPr lang="en-US" altLang="zh-CN">
              <a:solidFill>
                <a:srgbClr val="0000FF"/>
              </a:solidFill>
              <a:sym typeface="+mn-ea"/>
            </a:endParaRPr>
          </a:p>
          <a:p>
            <a:pPr>
              <a:lnSpc>
                <a:spcPct val="100000"/>
              </a:lnSpc>
              <a:spcBef>
                <a:spcPts val="0"/>
              </a:spcBef>
              <a:spcAft>
                <a:spcPts val="0"/>
              </a:spcAft>
            </a:pPr>
            <a:r>
              <a:rPr lang="en-US" altLang="zh-CN">
                <a:solidFill>
                  <a:srgbClr val="0000FF"/>
                </a:solidFill>
                <a:sym typeface="+mn-ea"/>
              </a:rPr>
              <a:t>    UPDATE </a:t>
            </a:r>
            <a:r>
              <a:rPr lang="en-US" altLang="zh-CN">
                <a:solidFill>
                  <a:schemeClr val="tx1"/>
                </a:solidFill>
                <a:sym typeface="+mn-ea"/>
              </a:rPr>
              <a:t>titles</a:t>
            </a:r>
            <a:r>
              <a:rPr lang="en-US" altLang="zh-CN">
                <a:solidFill>
                  <a:srgbClr val="0000FF"/>
                </a:solidFill>
                <a:sym typeface="+mn-ea"/>
              </a:rPr>
              <a:t> SET </a:t>
            </a:r>
            <a:r>
              <a:rPr lang="en-US" altLang="zh-CN">
                <a:solidFill>
                  <a:schemeClr val="tx1"/>
                </a:solidFill>
                <a:sym typeface="+mn-ea"/>
              </a:rPr>
              <a:t>price=price*1.5</a:t>
            </a:r>
            <a:endParaRPr lang="en-US" altLang="zh-CN">
              <a:solidFill>
                <a:schemeClr val="tx1"/>
              </a:solidFill>
              <a:sym typeface="+mn-ea"/>
            </a:endParaRPr>
          </a:p>
          <a:p>
            <a:pPr>
              <a:lnSpc>
                <a:spcPct val="100000"/>
              </a:lnSpc>
              <a:spcBef>
                <a:spcPts val="0"/>
              </a:spcBef>
              <a:spcAft>
                <a:spcPts val="0"/>
              </a:spcAft>
            </a:pPr>
            <a:r>
              <a:rPr lang="en-US" altLang="zh-CN">
                <a:solidFill>
                  <a:srgbClr val="0000FF"/>
                </a:solidFill>
                <a:sym typeface="+mn-ea"/>
              </a:rPr>
              <a:t>    PRINT ‘</a:t>
            </a:r>
            <a:r>
              <a:rPr lang="zh-CN" altLang="en-US">
                <a:solidFill>
                  <a:srgbClr val="0000FF"/>
                </a:solidFill>
                <a:sym typeface="+mn-ea"/>
              </a:rPr>
              <a:t>价格提高</a:t>
            </a:r>
            <a:r>
              <a:rPr lang="en-US" altLang="zh-CN">
                <a:solidFill>
                  <a:srgbClr val="0000FF"/>
                </a:solidFill>
                <a:sym typeface="+mn-ea"/>
              </a:rPr>
              <a:t>50%’</a:t>
            </a:r>
            <a:endParaRPr lang="en-US" altLang="zh-CN">
              <a:solidFill>
                <a:srgbClr val="0000FF"/>
              </a:solidFill>
              <a:sym typeface="+mn-ea"/>
            </a:endParaRPr>
          </a:p>
          <a:p>
            <a:pPr>
              <a:lnSpc>
                <a:spcPct val="100000"/>
              </a:lnSpc>
              <a:spcBef>
                <a:spcPts val="0"/>
              </a:spcBef>
              <a:spcAft>
                <a:spcPts val="0"/>
              </a:spcAft>
            </a:pPr>
            <a:r>
              <a:rPr lang="en-US" altLang="zh-CN">
                <a:solidFill>
                  <a:srgbClr val="0000FF"/>
                </a:solidFill>
                <a:sym typeface="+mn-ea"/>
              </a:rPr>
              <a:t>END</a:t>
            </a:r>
            <a:endParaRPr lang="en-US" altLang="zh-CN">
              <a:solidFill>
                <a:srgbClr val="0000FF"/>
              </a:solidFill>
              <a:sym typeface="+mn-ea"/>
            </a:endParaRPr>
          </a:p>
          <a:p>
            <a:pPr>
              <a:lnSpc>
                <a:spcPct val="100000"/>
              </a:lnSpc>
              <a:spcBef>
                <a:spcPts val="0"/>
              </a:spcBef>
              <a:spcAft>
                <a:spcPts val="0"/>
              </a:spcAft>
            </a:pPr>
            <a:r>
              <a:rPr lang="en-US" altLang="zh-CN">
                <a:solidFill>
                  <a:srgbClr val="0000FF"/>
                </a:solidFill>
                <a:sym typeface="+mn-ea"/>
              </a:rPr>
              <a:t>ELSE IF </a:t>
            </a:r>
            <a:r>
              <a:rPr lang="en-US" altLang="zh-CN">
                <a:sym typeface="+mn-ea"/>
              </a:rPr>
              <a:t>@avg_price&gt;=20</a:t>
            </a:r>
            <a:endParaRPr lang="en-US" altLang="zh-CN">
              <a:sym typeface="+mn-ea"/>
            </a:endParaRPr>
          </a:p>
          <a:p>
            <a:pPr>
              <a:lnSpc>
                <a:spcPct val="100000"/>
              </a:lnSpc>
              <a:spcBef>
                <a:spcPts val="0"/>
              </a:spcBef>
              <a:spcAft>
                <a:spcPts val="0"/>
              </a:spcAft>
            </a:pPr>
            <a:r>
              <a:rPr lang="en-US" altLang="zh-CN">
                <a:solidFill>
                  <a:srgbClr val="0000FF"/>
                </a:solidFill>
                <a:sym typeface="+mn-ea"/>
              </a:rPr>
              <a:t>BEGIN</a:t>
            </a:r>
            <a:endParaRPr lang="en-US" altLang="zh-CN">
              <a:solidFill>
                <a:srgbClr val="0000FF"/>
              </a:solidFill>
              <a:sym typeface="+mn-ea"/>
            </a:endParaRPr>
          </a:p>
          <a:p>
            <a:pPr>
              <a:lnSpc>
                <a:spcPct val="100000"/>
              </a:lnSpc>
              <a:spcBef>
                <a:spcPts val="0"/>
              </a:spcBef>
              <a:spcAft>
                <a:spcPts val="0"/>
              </a:spcAft>
            </a:pPr>
            <a:r>
              <a:rPr lang="en-US" altLang="zh-CN">
                <a:solidFill>
                  <a:srgbClr val="0000FF"/>
                </a:solidFill>
                <a:sym typeface="+mn-ea"/>
              </a:rPr>
              <a:t>    UPDATE </a:t>
            </a:r>
            <a:r>
              <a:rPr lang="en-US" altLang="zh-CN">
                <a:sym typeface="+mn-ea"/>
              </a:rPr>
              <a:t>titles</a:t>
            </a:r>
            <a:r>
              <a:rPr lang="en-US" altLang="zh-CN">
                <a:solidFill>
                  <a:srgbClr val="0000FF"/>
                </a:solidFill>
                <a:sym typeface="+mn-ea"/>
              </a:rPr>
              <a:t> SET </a:t>
            </a:r>
            <a:r>
              <a:rPr lang="en-US" altLang="zh-CN">
                <a:sym typeface="+mn-ea"/>
              </a:rPr>
              <a:t>price=price*1.3</a:t>
            </a:r>
            <a:endParaRPr lang="en-US" altLang="zh-CN">
              <a:solidFill>
                <a:schemeClr val="tx1"/>
              </a:solidFill>
              <a:sym typeface="+mn-ea"/>
            </a:endParaRPr>
          </a:p>
          <a:p>
            <a:pPr>
              <a:lnSpc>
                <a:spcPct val="100000"/>
              </a:lnSpc>
              <a:spcBef>
                <a:spcPts val="0"/>
              </a:spcBef>
              <a:spcAft>
                <a:spcPts val="0"/>
              </a:spcAft>
            </a:pPr>
            <a:r>
              <a:rPr lang="en-US" altLang="zh-CN">
                <a:solidFill>
                  <a:srgbClr val="0000FF"/>
                </a:solidFill>
                <a:sym typeface="+mn-ea"/>
              </a:rPr>
              <a:t>    PRINT ‘</a:t>
            </a:r>
            <a:r>
              <a:rPr lang="zh-CN" altLang="en-US">
                <a:solidFill>
                  <a:srgbClr val="0000FF"/>
                </a:solidFill>
                <a:sym typeface="+mn-ea"/>
              </a:rPr>
              <a:t>价格提高</a:t>
            </a:r>
            <a:r>
              <a:rPr lang="en-US" altLang="zh-CN">
                <a:solidFill>
                  <a:srgbClr val="0000FF"/>
                </a:solidFill>
                <a:sym typeface="+mn-ea"/>
              </a:rPr>
              <a:t>3</a:t>
            </a:r>
            <a:r>
              <a:rPr lang="en-US" altLang="zh-CN">
                <a:solidFill>
                  <a:srgbClr val="0000FF"/>
                </a:solidFill>
                <a:sym typeface="+mn-ea"/>
              </a:rPr>
              <a:t>0%’</a:t>
            </a:r>
            <a:endParaRPr lang="en-US" altLang="zh-CN">
              <a:solidFill>
                <a:srgbClr val="0000FF"/>
              </a:solidFill>
              <a:sym typeface="+mn-ea"/>
            </a:endParaRPr>
          </a:p>
          <a:p>
            <a:pPr>
              <a:lnSpc>
                <a:spcPct val="100000"/>
              </a:lnSpc>
              <a:spcBef>
                <a:spcPts val="0"/>
              </a:spcBef>
              <a:spcAft>
                <a:spcPts val="0"/>
              </a:spcAft>
            </a:pPr>
            <a:r>
              <a:rPr lang="en-US" altLang="zh-CN">
                <a:solidFill>
                  <a:srgbClr val="0000FF"/>
                </a:solidFill>
                <a:sym typeface="+mn-ea"/>
              </a:rPr>
              <a:t>END</a:t>
            </a:r>
            <a:endParaRPr lang="en-US" altLang="zh-CN">
              <a:solidFill>
                <a:srgbClr val="0000FF"/>
              </a:solidFill>
              <a:sym typeface="+mn-ea"/>
            </a:endParaRPr>
          </a:p>
          <a:p>
            <a:pPr>
              <a:lnSpc>
                <a:spcPct val="100000"/>
              </a:lnSpc>
              <a:spcBef>
                <a:spcPts val="0"/>
              </a:spcBef>
              <a:spcAft>
                <a:spcPts val="0"/>
              </a:spcAft>
            </a:pPr>
            <a:r>
              <a:rPr lang="en-US" altLang="zh-CN">
                <a:solidFill>
                  <a:srgbClr val="0000FF"/>
                </a:solidFill>
                <a:sym typeface="+mn-ea"/>
              </a:rPr>
              <a:t>ELSE</a:t>
            </a:r>
            <a:endParaRPr lang="en-US" altLang="zh-CN">
              <a:solidFill>
                <a:srgbClr val="0000FF"/>
              </a:solidFill>
              <a:sym typeface="+mn-ea"/>
            </a:endParaRPr>
          </a:p>
          <a:p>
            <a:pPr>
              <a:lnSpc>
                <a:spcPct val="100000"/>
              </a:lnSpc>
              <a:spcBef>
                <a:spcPts val="0"/>
              </a:spcBef>
              <a:spcAft>
                <a:spcPts val="0"/>
              </a:spcAft>
            </a:pPr>
            <a:r>
              <a:rPr lang="en-US" altLang="zh-CN">
                <a:solidFill>
                  <a:srgbClr val="0000FF"/>
                </a:solidFill>
                <a:sym typeface="+mn-ea"/>
              </a:rPr>
              <a:t>    </a:t>
            </a:r>
            <a:r>
              <a:rPr lang="en-US" altLang="zh-CN">
                <a:solidFill>
                  <a:srgbClr val="0000FF"/>
                </a:solidFill>
                <a:sym typeface="+mn-ea"/>
              </a:rPr>
              <a:t>PRINT ‘</a:t>
            </a:r>
            <a:r>
              <a:rPr lang="zh-CN" altLang="en-US">
                <a:solidFill>
                  <a:srgbClr val="0000FF"/>
                </a:solidFill>
                <a:sym typeface="+mn-ea"/>
              </a:rPr>
              <a:t>平均价格未知</a:t>
            </a:r>
            <a:r>
              <a:rPr lang="en-US" altLang="zh-CN">
                <a:solidFill>
                  <a:srgbClr val="0000FF"/>
                </a:solidFill>
                <a:sym typeface="+mn-ea"/>
              </a:rPr>
              <a:t>’</a:t>
            </a:r>
            <a:endParaRPr lang="en-US" altLang="zh-CN">
              <a:solidFill>
                <a:srgbClr val="0000FF"/>
              </a:solidFill>
              <a:sym typeface="+mn-ea"/>
            </a:endParaRPr>
          </a:p>
        </p:txBody>
      </p:sp>
      <p:sp>
        <p:nvSpPr>
          <p:cNvPr id="18" name="文本框 17"/>
          <p:cNvSpPr txBox="1"/>
          <p:nvPr/>
        </p:nvSpPr>
        <p:spPr>
          <a:xfrm>
            <a:off x="607695" y="2205355"/>
            <a:ext cx="690880" cy="46037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0"/>
              </a:spcBef>
              <a:buClrTx/>
              <a:buSzTx/>
              <a:buFont typeface="Arial" panose="020B0604020202020204" pitchFamily="34" charset="0"/>
              <a:buNone/>
            </a:pPr>
            <a:r>
              <a:rPr lang="zh-CN" altLang="en-US" dirty="0">
                <a:solidFill>
                  <a:srgbClr val="0000FF"/>
                </a:solidFill>
                <a:sym typeface="+mn-ea"/>
              </a:rPr>
              <a:t>例</a:t>
            </a:r>
            <a:r>
              <a:rPr lang="en-US" altLang="zh-CN" dirty="0">
                <a:solidFill>
                  <a:srgbClr val="0000FF"/>
                </a:solidFill>
                <a:sym typeface="+mn-ea"/>
              </a:rPr>
              <a:t>9</a:t>
            </a:r>
            <a:r>
              <a:rPr lang="zh-CN" altLang="en-US" dirty="0">
                <a:solidFill>
                  <a:srgbClr val="0000FF"/>
                </a:solidFill>
                <a:sym typeface="+mn-ea"/>
              </a:rPr>
              <a:t>：</a:t>
            </a:r>
            <a:endParaRPr lang="zh-CN" altLang="en-US" dirty="0">
              <a:solidFill>
                <a:srgbClr val="0000FF"/>
              </a:solidFill>
              <a:sym typeface="+mn-ea"/>
            </a:endParaRPr>
          </a:p>
        </p:txBody>
      </p:sp>
      <p:sp>
        <p:nvSpPr>
          <p:cNvPr id="8" name="Rectangle 3"/>
          <p:cNvSpPr txBox="1"/>
          <p:nvPr/>
        </p:nvSpPr>
        <p:spPr>
          <a:xfrm>
            <a:off x="501650" y="855980"/>
            <a:ext cx="8642350" cy="469900"/>
          </a:xfrm>
          <a:prstGeom prst="rect">
            <a:avLst/>
          </a:prstGeom>
          <a:noFill/>
          <a:ln w="9525">
            <a:noFill/>
          </a:ln>
        </p:spPr>
        <p:txBody>
          <a:bodyPr anchor="t" anchorCtr="0"/>
          <a:p>
            <a:pPr>
              <a:buFont typeface="Wingdings" panose="05000000000000000000" pitchFamily="2" charset="2"/>
            </a:pPr>
            <a:r>
              <a:rPr lang="en-US" altLang="zh-CN" sz="2400" dirty="0">
                <a:solidFill>
                  <a:srgbClr val="3333CC"/>
                </a:solidFill>
                <a:latin typeface="宋体" panose="02010600030101010101" pitchFamily="2" charset="-122"/>
                <a:ea typeface="黑体" panose="02010609060101010101" pitchFamily="1" charset="-122"/>
              </a:rPr>
              <a:t>3.</a:t>
            </a:r>
            <a:r>
              <a:rPr lang="zh-CN" altLang="en-US" sz="2400" dirty="0">
                <a:solidFill>
                  <a:srgbClr val="3333CC"/>
                </a:solidFill>
                <a:latin typeface="宋体" panose="02010600030101010101" pitchFamily="2" charset="-122"/>
                <a:ea typeface="黑体" panose="02010609060101010101" pitchFamily="1" charset="-122"/>
              </a:rPr>
              <a:t>流程控制</a:t>
            </a:r>
            <a:r>
              <a:rPr lang="zh-CN" altLang="en-US" sz="2400" dirty="0">
                <a:solidFill>
                  <a:srgbClr val="3333CC"/>
                </a:solidFill>
                <a:latin typeface="宋体" panose="02010600030101010101" pitchFamily="2" charset="-122"/>
                <a:ea typeface="黑体" panose="02010609060101010101" pitchFamily="1" charset="-122"/>
              </a:rPr>
              <a:t>语句</a:t>
            </a:r>
            <a:endParaRPr lang="zh-CN" altLang="en-US" sz="2400" dirty="0">
              <a:solidFill>
                <a:srgbClr val="3333CC"/>
              </a:solidFill>
              <a:latin typeface="宋体" panose="02010600030101010101" pitchFamily="2" charset="-122"/>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500" fill="hold"/>
                                        <p:tgtEl>
                                          <p:spTgt spid="18"/>
                                        </p:tgtEl>
                                        <p:attrNameLst>
                                          <p:attrName>ppt_x</p:attrName>
                                        </p:attrNameLst>
                                      </p:cBhvr>
                                      <p:tavLst>
                                        <p:tav tm="0">
                                          <p:val>
                                            <p:strVal val="#ppt_x"/>
                                          </p:val>
                                        </p:tav>
                                        <p:tav tm="100000">
                                          <p:val>
                                            <p:strVal val="#ppt_x"/>
                                          </p:val>
                                        </p:tav>
                                      </p:tavLst>
                                    </p:anim>
                                    <p:anim calcmode="lin" valueType="num">
                                      <p:cBhvr additive="base">
                                        <p:cTn id="12"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17" grpId="1"/>
      <p:bldP spid="18" grpId="1"/>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5"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1" charset="-122"/>
              </a:rPr>
              <a:t>四、</a:t>
            </a:r>
            <a:r>
              <a:rPr lang="en-US" altLang="zh-CN" sz="3200" dirty="0">
                <a:solidFill>
                  <a:srgbClr val="FF0000"/>
                </a:solidFill>
                <a:ea typeface="黑体" panose="02010609060101010101" pitchFamily="1" charset="-122"/>
              </a:rPr>
              <a:t>T-SQL</a:t>
            </a:r>
            <a:r>
              <a:rPr lang="zh-CN" altLang="en-US" sz="3200" dirty="0">
                <a:solidFill>
                  <a:srgbClr val="FF0000"/>
                </a:solidFill>
                <a:ea typeface="黑体" panose="02010609060101010101" pitchFamily="1" charset="-122"/>
              </a:rPr>
              <a:t>编程</a:t>
            </a:r>
            <a:endParaRPr lang="zh-CN" altLang="en-US" sz="3200" dirty="0">
              <a:solidFill>
                <a:srgbClr val="FF0000"/>
              </a:solidFill>
              <a:ea typeface="黑体" panose="02010609060101010101" pitchFamily="1" charset="-122"/>
            </a:endParaRPr>
          </a:p>
        </p:txBody>
      </p:sp>
      <p:sp>
        <p:nvSpPr>
          <p:cNvPr id="101379" name="Rectangle 3"/>
          <p:cNvSpPr txBox="1"/>
          <p:nvPr/>
        </p:nvSpPr>
        <p:spPr>
          <a:xfrm>
            <a:off x="501650" y="855663"/>
            <a:ext cx="8642350" cy="747712"/>
          </a:xfrm>
          <a:prstGeom prst="rect">
            <a:avLst/>
          </a:prstGeom>
          <a:noFill/>
          <a:ln w="9525">
            <a:noFill/>
          </a:ln>
        </p:spPr>
        <p:txBody>
          <a:bodyPr anchor="t" anchorCtr="0"/>
          <a:p>
            <a:pPr>
              <a:buFont typeface="Wingdings" panose="05000000000000000000" pitchFamily="2" charset="2"/>
            </a:pPr>
            <a:r>
              <a:rPr lang="en-US" altLang="zh-CN" sz="2400" dirty="0">
                <a:solidFill>
                  <a:srgbClr val="3333CC"/>
                </a:solidFill>
                <a:latin typeface="宋体" panose="02010600030101010101" pitchFamily="2" charset="-122"/>
                <a:ea typeface="黑体" panose="02010609060101010101" pitchFamily="1" charset="-122"/>
              </a:rPr>
              <a:t>4.</a:t>
            </a:r>
            <a:r>
              <a:rPr lang="zh-CN" altLang="en-US" sz="2400" dirty="0">
                <a:solidFill>
                  <a:srgbClr val="3333CC"/>
                </a:solidFill>
                <a:latin typeface="宋体" panose="02010600030101010101" pitchFamily="2" charset="-122"/>
                <a:ea typeface="黑体" panose="02010609060101010101" pitchFamily="1" charset="-122"/>
              </a:rPr>
              <a:t>错误信息及</a:t>
            </a:r>
            <a:r>
              <a:rPr lang="zh-CN" altLang="en-US" sz="2400" dirty="0">
                <a:solidFill>
                  <a:srgbClr val="3333CC"/>
                </a:solidFill>
                <a:latin typeface="宋体" panose="02010600030101010101" pitchFamily="2" charset="-122"/>
                <a:ea typeface="黑体" panose="02010609060101010101" pitchFamily="1" charset="-122"/>
              </a:rPr>
              <a:t>代码</a:t>
            </a:r>
            <a:endParaRPr lang="zh-CN" altLang="en-US" sz="2400" dirty="0">
              <a:solidFill>
                <a:srgbClr val="3333CC"/>
              </a:solidFill>
              <a:latin typeface="宋体" panose="02010600030101010101" pitchFamily="2" charset="-122"/>
              <a:ea typeface="黑体" panose="02010609060101010101" pitchFamily="1" charset="-122"/>
            </a:endParaRPr>
          </a:p>
        </p:txBody>
      </p:sp>
      <p:sp>
        <p:nvSpPr>
          <p:cNvPr id="5" name="文本框 4"/>
          <p:cNvSpPr txBox="1"/>
          <p:nvPr>
            <p:custDataLst>
              <p:tags r:id="rId1"/>
            </p:custDataLst>
          </p:nvPr>
        </p:nvSpPr>
        <p:spPr>
          <a:xfrm>
            <a:off x="631825" y="1289050"/>
            <a:ext cx="8238490" cy="829945"/>
          </a:xfrm>
          <a:prstGeom prst="rect">
            <a:avLst/>
          </a:prstGeom>
          <a:noFill/>
        </p:spPr>
        <p:txBody>
          <a:bodyPr wrap="square" rtlCol="0" anchor="t">
            <a:spAutoFit/>
          </a:bodyPr>
          <a:p>
            <a:pPr>
              <a:lnSpc>
                <a:spcPct val="120000"/>
              </a:lnSpc>
              <a:spcBef>
                <a:spcPts val="0"/>
              </a:spcBef>
              <a:spcAft>
                <a:spcPts val="0"/>
              </a:spcAft>
            </a:pPr>
            <a:r>
              <a:rPr lang="en-US" altLang="zh-CN" sz="2000" dirty="0">
                <a:solidFill>
                  <a:srgbClr val="FF0000"/>
                </a:solidFill>
                <a:sym typeface="+mn-ea"/>
              </a:rPr>
              <a:t>RAISERROR({</a:t>
            </a:r>
            <a:r>
              <a:rPr lang="zh-CN" altLang="en-US" sz="2000" dirty="0">
                <a:solidFill>
                  <a:srgbClr val="FF0000"/>
                </a:solidFill>
                <a:sym typeface="+mn-ea"/>
              </a:rPr>
              <a:t>错误代码</a:t>
            </a:r>
            <a:r>
              <a:rPr lang="en-US" altLang="zh-CN" sz="2000" dirty="0">
                <a:solidFill>
                  <a:srgbClr val="FF0000"/>
                </a:solidFill>
                <a:sym typeface="+mn-ea"/>
              </a:rPr>
              <a:t> | ‘</a:t>
            </a:r>
            <a:r>
              <a:rPr lang="zh-CN" altLang="en-US" sz="2000" dirty="0">
                <a:solidFill>
                  <a:srgbClr val="FF0000"/>
                </a:solidFill>
                <a:sym typeface="+mn-ea"/>
              </a:rPr>
              <a:t>用户定义格式化错误信息</a:t>
            </a:r>
            <a:r>
              <a:rPr lang="en-US" altLang="zh-CN" sz="2000" dirty="0">
                <a:solidFill>
                  <a:srgbClr val="FF0000"/>
                </a:solidFill>
                <a:sym typeface="+mn-ea"/>
              </a:rPr>
              <a:t>’ | </a:t>
            </a:r>
            <a:r>
              <a:rPr lang="zh-CN" altLang="en-US" sz="2000" dirty="0">
                <a:solidFill>
                  <a:srgbClr val="FF0000"/>
                </a:solidFill>
                <a:sym typeface="+mn-ea"/>
              </a:rPr>
              <a:t>字符型局部变量</a:t>
            </a:r>
            <a:r>
              <a:rPr lang="en-US" altLang="zh-CN" sz="2000" dirty="0">
                <a:solidFill>
                  <a:srgbClr val="FF0000"/>
                </a:solidFill>
                <a:sym typeface="+mn-ea"/>
              </a:rPr>
              <a:t>}</a:t>
            </a:r>
            <a:endParaRPr lang="en-US" altLang="zh-CN" sz="2000" dirty="0">
              <a:solidFill>
                <a:srgbClr val="FF0000"/>
              </a:solidFill>
              <a:sym typeface="+mn-ea"/>
            </a:endParaRPr>
          </a:p>
          <a:p>
            <a:pPr>
              <a:lnSpc>
                <a:spcPct val="120000"/>
              </a:lnSpc>
              <a:spcBef>
                <a:spcPts val="0"/>
              </a:spcBef>
              <a:spcAft>
                <a:spcPts val="0"/>
              </a:spcAft>
            </a:pPr>
            <a:r>
              <a:rPr lang="en-US" altLang="zh-CN" sz="2000" dirty="0">
                <a:solidFill>
                  <a:srgbClr val="FF0000"/>
                </a:solidFill>
                <a:sym typeface="+mn-ea"/>
              </a:rPr>
              <a:t>                       {,</a:t>
            </a:r>
            <a:r>
              <a:rPr lang="zh-CN" altLang="en-US" sz="2000" dirty="0">
                <a:solidFill>
                  <a:srgbClr val="FF0000"/>
                </a:solidFill>
                <a:sym typeface="+mn-ea"/>
              </a:rPr>
              <a:t>严重级别</a:t>
            </a:r>
            <a:r>
              <a:rPr lang="en-US" altLang="zh-CN" sz="2000" dirty="0">
                <a:solidFill>
                  <a:srgbClr val="FF0000"/>
                </a:solidFill>
                <a:sym typeface="+mn-ea"/>
              </a:rPr>
              <a:t>,</a:t>
            </a:r>
            <a:r>
              <a:rPr lang="zh-CN" altLang="en-US" sz="2000" dirty="0">
                <a:solidFill>
                  <a:srgbClr val="FF0000"/>
                </a:solidFill>
                <a:sym typeface="+mn-ea"/>
              </a:rPr>
              <a:t>状态</a:t>
            </a:r>
            <a:r>
              <a:rPr lang="en-US" altLang="zh-CN" sz="2000" dirty="0">
                <a:solidFill>
                  <a:srgbClr val="FF0000"/>
                </a:solidFill>
                <a:sym typeface="+mn-ea"/>
              </a:rPr>
              <a:t>}[,</a:t>
            </a:r>
            <a:r>
              <a:rPr lang="zh-CN" altLang="en-US" sz="2000" dirty="0">
                <a:solidFill>
                  <a:srgbClr val="FF0000"/>
                </a:solidFill>
                <a:sym typeface="+mn-ea"/>
              </a:rPr>
              <a:t>参数</a:t>
            </a:r>
            <a:r>
              <a:rPr lang="en-US" altLang="zh-CN" sz="2000" dirty="0">
                <a:solidFill>
                  <a:srgbClr val="FF0000"/>
                </a:solidFill>
                <a:sym typeface="+mn-ea"/>
              </a:rPr>
              <a:t>[,...n])</a:t>
            </a:r>
            <a:endParaRPr lang="en-US" altLang="zh-CN" sz="2000" dirty="0">
              <a:solidFill>
                <a:srgbClr val="FF0000"/>
              </a:solidFill>
              <a:sym typeface="+mn-ea"/>
            </a:endParaRPr>
          </a:p>
        </p:txBody>
      </p:sp>
      <p:sp>
        <p:nvSpPr>
          <p:cNvPr id="7" name="文本框 20"/>
          <p:cNvSpPr txBox="1"/>
          <p:nvPr/>
        </p:nvSpPr>
        <p:spPr>
          <a:xfrm>
            <a:off x="598170" y="2069465"/>
            <a:ext cx="8047990" cy="476885"/>
          </a:xfrm>
          <a:prstGeom prst="rect">
            <a:avLst/>
          </a:prstGeom>
          <a:noFill/>
          <a:ln w="9525">
            <a:noFill/>
          </a:ln>
        </p:spPr>
        <p:txBody>
          <a:bodyPr wrap="square">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ts val="0"/>
              </a:spcBef>
              <a:spcAft>
                <a:spcPts val="0"/>
              </a:spcAft>
              <a:buClrTx/>
              <a:buSzTx/>
              <a:buFont typeface="Arial" panose="020B0604020202020204" pitchFamily="34" charset="0"/>
              <a:buNone/>
            </a:pPr>
            <a:r>
              <a:rPr lang="zh-CN" altLang="en-US" dirty="0">
                <a:sym typeface="+mn-ea"/>
              </a:rPr>
              <a:t>用途：用户可以用</a:t>
            </a:r>
            <a:r>
              <a:rPr lang="en-US" altLang="zh-CN" dirty="0">
                <a:sym typeface="+mn-ea"/>
              </a:rPr>
              <a:t>RAISEERROR</a:t>
            </a:r>
            <a:r>
              <a:rPr lang="zh-CN" altLang="en-US" dirty="0">
                <a:sym typeface="+mn-ea"/>
              </a:rPr>
              <a:t>，自己定义错误信息及代码（代码值应在</a:t>
            </a:r>
            <a:r>
              <a:rPr lang="en-US" altLang="zh-CN" dirty="0">
                <a:sym typeface="+mn-ea"/>
              </a:rPr>
              <a:t>50000</a:t>
            </a:r>
            <a:r>
              <a:rPr lang="zh-CN" altLang="en-US" dirty="0">
                <a:sym typeface="+mn-ea"/>
              </a:rPr>
              <a:t>以上，因为系统信息代码在</a:t>
            </a:r>
            <a:r>
              <a:rPr lang="en-US" altLang="zh-CN" dirty="0">
                <a:sym typeface="+mn-ea"/>
              </a:rPr>
              <a:t>50000</a:t>
            </a:r>
            <a:r>
              <a:rPr lang="zh-CN" altLang="en-US" dirty="0">
                <a:sym typeface="+mn-ea"/>
              </a:rPr>
              <a:t>以下）。</a:t>
            </a:r>
            <a:endParaRPr lang="zh-CN" altLang="en-US" dirty="0">
              <a:sym typeface="+mn-ea"/>
            </a:endParaRPr>
          </a:p>
          <a:p>
            <a:pPr marL="0" lvl="0" indent="0" eaLnBrk="1" hangingPunct="1">
              <a:lnSpc>
                <a:spcPct val="120000"/>
              </a:lnSpc>
              <a:spcBef>
                <a:spcPts val="0"/>
              </a:spcBef>
              <a:spcAft>
                <a:spcPts val="0"/>
              </a:spcAft>
              <a:buClrTx/>
              <a:buSzTx/>
              <a:buFont typeface="Arial" panose="020B0604020202020204" pitchFamily="34" charset="0"/>
              <a:buNone/>
            </a:pPr>
            <a:endParaRPr lang="zh-CN" altLang="en-US" dirty="0">
              <a:sym typeface="+mn-ea"/>
            </a:endParaRPr>
          </a:p>
        </p:txBody>
      </p:sp>
      <p:sp>
        <p:nvSpPr>
          <p:cNvPr id="17" name="文本框 16"/>
          <p:cNvSpPr txBox="1"/>
          <p:nvPr/>
        </p:nvSpPr>
        <p:spPr>
          <a:xfrm>
            <a:off x="1506855" y="2901950"/>
            <a:ext cx="6230620" cy="2676525"/>
          </a:xfrm>
          <a:prstGeom prst="rect">
            <a:avLst/>
          </a:prstGeom>
          <a:noFill/>
        </p:spPr>
        <p:txBody>
          <a:bodyPr wrap="square" rtlCol="0" anchor="t">
            <a:spAutoFit/>
          </a:bodyPr>
          <a:p>
            <a:pPr>
              <a:lnSpc>
                <a:spcPct val="120000"/>
              </a:lnSpc>
              <a:spcBef>
                <a:spcPts val="0"/>
              </a:spcBef>
              <a:spcAft>
                <a:spcPts val="0"/>
              </a:spcAft>
            </a:pPr>
            <a:r>
              <a:rPr lang="en-US" sz="2000">
                <a:solidFill>
                  <a:srgbClr val="0000FF"/>
                </a:solidFill>
              </a:rPr>
              <a:t>DECLARE </a:t>
            </a:r>
            <a:r>
              <a:rPr lang="en-US" sz="2000"/>
              <a:t>@table_name </a:t>
            </a:r>
            <a:r>
              <a:rPr lang="en-US" sz="2000">
                <a:solidFill>
                  <a:srgbClr val="0000FF"/>
                </a:solidFill>
              </a:rPr>
              <a:t>varchar(30)</a:t>
            </a:r>
            <a:endParaRPr lang="en-US" sz="2000">
              <a:solidFill>
                <a:srgbClr val="0000FF"/>
              </a:solidFill>
            </a:endParaRPr>
          </a:p>
          <a:p>
            <a:pPr>
              <a:lnSpc>
                <a:spcPct val="120000"/>
              </a:lnSpc>
              <a:spcBef>
                <a:spcPts val="0"/>
              </a:spcBef>
              <a:spcAft>
                <a:spcPts val="0"/>
              </a:spcAft>
            </a:pPr>
            <a:r>
              <a:rPr lang="en-US" sz="2000">
                <a:solidFill>
                  <a:srgbClr val="0000FF"/>
                </a:solidFill>
              </a:rPr>
              <a:t>SELECT</a:t>
            </a:r>
            <a:r>
              <a:rPr lang="en-US" sz="2000"/>
              <a:t> @table_name='TAB'</a:t>
            </a:r>
            <a:endParaRPr lang="en-US" sz="2000"/>
          </a:p>
          <a:p>
            <a:pPr>
              <a:lnSpc>
                <a:spcPct val="120000"/>
              </a:lnSpc>
              <a:spcBef>
                <a:spcPts val="0"/>
              </a:spcBef>
              <a:spcAft>
                <a:spcPts val="0"/>
              </a:spcAft>
            </a:pPr>
            <a:r>
              <a:rPr lang="en-US" sz="2000">
                <a:solidFill>
                  <a:srgbClr val="CC0000"/>
                </a:solidFill>
              </a:rPr>
              <a:t>IF </a:t>
            </a:r>
            <a:r>
              <a:rPr lang="en-US" sz="2000"/>
              <a:t>(</a:t>
            </a:r>
            <a:r>
              <a:rPr lang="en-US" sz="2000">
                <a:solidFill>
                  <a:srgbClr val="0000FF"/>
                </a:solidFill>
              </a:rPr>
              <a:t>SELECT </a:t>
            </a:r>
            <a:r>
              <a:rPr lang="en-US" sz="2000"/>
              <a:t>name </a:t>
            </a:r>
            <a:r>
              <a:rPr lang="en-US" sz="2000">
                <a:solidFill>
                  <a:srgbClr val="0000FF"/>
                </a:solidFill>
              </a:rPr>
              <a:t>from sysobjects</a:t>
            </a:r>
            <a:r>
              <a:rPr lang="en-US" sz="2000"/>
              <a:t> </a:t>
            </a:r>
            <a:r>
              <a:rPr lang="en-US" sz="2000">
                <a:solidFill>
                  <a:srgbClr val="0000FF"/>
                </a:solidFill>
              </a:rPr>
              <a:t>where </a:t>
            </a:r>
            <a:r>
              <a:rPr lang="en-US" sz="2000">
                <a:solidFill>
                  <a:srgbClr val="FF0000"/>
                </a:solidFill>
              </a:rPr>
              <a:t>type='U' </a:t>
            </a:r>
            <a:r>
              <a:rPr lang="en-US" sz="2000"/>
              <a:t>and name=@table_name)</a:t>
            </a:r>
            <a:r>
              <a:rPr lang="en-US" sz="2000">
                <a:solidFill>
                  <a:srgbClr val="0000FF"/>
                </a:solidFill>
              </a:rPr>
              <a:t> is null</a:t>
            </a:r>
            <a:endParaRPr lang="en-US" sz="2000"/>
          </a:p>
          <a:p>
            <a:pPr>
              <a:lnSpc>
                <a:spcPct val="120000"/>
              </a:lnSpc>
              <a:spcBef>
                <a:spcPts val="0"/>
              </a:spcBef>
              <a:spcAft>
                <a:spcPts val="0"/>
              </a:spcAft>
            </a:pPr>
            <a:r>
              <a:rPr lang="en-US" sz="2000"/>
              <a:t>    </a:t>
            </a:r>
            <a:r>
              <a:rPr lang="en-US" sz="2000">
                <a:solidFill>
                  <a:srgbClr val="FF0000"/>
                </a:solidFill>
              </a:rPr>
              <a:t>RAISERROR</a:t>
            </a:r>
            <a:r>
              <a:rPr lang="en-US" sz="2000"/>
              <a:t>('表%s不存在',8,1,@table_name)</a:t>
            </a:r>
            <a:endParaRPr lang="en-US" sz="2000"/>
          </a:p>
          <a:p>
            <a:pPr>
              <a:lnSpc>
                <a:spcPct val="120000"/>
              </a:lnSpc>
              <a:spcBef>
                <a:spcPts val="0"/>
              </a:spcBef>
              <a:spcAft>
                <a:spcPts val="0"/>
              </a:spcAft>
            </a:pPr>
            <a:r>
              <a:rPr lang="en-US" sz="2000">
                <a:solidFill>
                  <a:srgbClr val="FF0000"/>
                </a:solidFill>
              </a:rPr>
              <a:t>ELSE</a:t>
            </a:r>
            <a:endParaRPr lang="en-US" sz="2000">
              <a:solidFill>
                <a:srgbClr val="FF0000"/>
              </a:solidFill>
            </a:endParaRPr>
          </a:p>
          <a:p>
            <a:pPr>
              <a:lnSpc>
                <a:spcPct val="120000"/>
              </a:lnSpc>
              <a:spcBef>
                <a:spcPts val="0"/>
              </a:spcBef>
              <a:spcAft>
                <a:spcPts val="0"/>
              </a:spcAft>
            </a:pPr>
            <a:r>
              <a:rPr lang="en-US" sz="2000"/>
              <a:t>    print @table_name</a:t>
            </a:r>
            <a:endParaRPr lang="en-US" sz="2000"/>
          </a:p>
        </p:txBody>
      </p:sp>
      <p:sp>
        <p:nvSpPr>
          <p:cNvPr id="18" name="文本框 17"/>
          <p:cNvSpPr txBox="1"/>
          <p:nvPr>
            <p:custDataLst>
              <p:tags r:id="rId2"/>
            </p:custDataLst>
          </p:nvPr>
        </p:nvSpPr>
        <p:spPr>
          <a:xfrm>
            <a:off x="597535" y="2901950"/>
            <a:ext cx="779145" cy="49720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0"/>
              </a:spcBef>
              <a:buClrTx/>
              <a:buSzTx/>
              <a:buFont typeface="Arial" panose="020B0604020202020204" pitchFamily="34" charset="0"/>
              <a:buNone/>
            </a:pPr>
            <a:r>
              <a:rPr lang="zh-CN" altLang="en-US" sz="2200" dirty="0">
                <a:solidFill>
                  <a:srgbClr val="0000FF"/>
                </a:solidFill>
                <a:sym typeface="+mn-ea"/>
              </a:rPr>
              <a:t>例</a:t>
            </a:r>
            <a:r>
              <a:rPr lang="en-US" altLang="zh-CN" sz="2200" dirty="0">
                <a:solidFill>
                  <a:srgbClr val="0000FF"/>
                </a:solidFill>
                <a:sym typeface="+mn-ea"/>
              </a:rPr>
              <a:t>10</a:t>
            </a:r>
            <a:r>
              <a:rPr lang="zh-CN" altLang="en-US" sz="2200" dirty="0">
                <a:solidFill>
                  <a:srgbClr val="0000FF"/>
                </a:solidFill>
                <a:sym typeface="+mn-ea"/>
              </a:rPr>
              <a:t>：</a:t>
            </a:r>
            <a:endParaRPr lang="zh-CN" altLang="en-US" sz="2200" dirty="0">
              <a:solidFill>
                <a:srgbClr val="0000FF"/>
              </a:solidFill>
              <a:sym typeface="+mn-ea"/>
            </a:endParaRPr>
          </a:p>
        </p:txBody>
      </p:sp>
      <p:pic>
        <p:nvPicPr>
          <p:cNvPr id="2" name="图片 1"/>
          <p:cNvPicPr>
            <a:picLocks noChangeAspect="1"/>
          </p:cNvPicPr>
          <p:nvPr/>
        </p:nvPicPr>
        <p:blipFill>
          <a:blip r:embed="rId3"/>
          <a:stretch>
            <a:fillRect/>
          </a:stretch>
        </p:blipFill>
        <p:spPr>
          <a:xfrm>
            <a:off x="631825" y="3012440"/>
            <a:ext cx="4975860" cy="2720340"/>
          </a:xfrm>
          <a:prstGeom prst="rect">
            <a:avLst/>
          </a:prstGeom>
          <a:ln>
            <a:solidFill>
              <a:schemeClr val="accent1"/>
            </a:solidFill>
          </a:ln>
        </p:spPr>
      </p:pic>
      <p:pic>
        <p:nvPicPr>
          <p:cNvPr id="3" name="图片 2"/>
          <p:cNvPicPr>
            <a:picLocks noChangeAspect="1"/>
          </p:cNvPicPr>
          <p:nvPr/>
        </p:nvPicPr>
        <p:blipFill>
          <a:blip r:embed="rId4"/>
          <a:stretch>
            <a:fillRect/>
          </a:stretch>
        </p:blipFill>
        <p:spPr>
          <a:xfrm>
            <a:off x="3580130" y="3679825"/>
            <a:ext cx="5006340" cy="2446020"/>
          </a:xfrm>
          <a:prstGeom prst="rect">
            <a:avLst/>
          </a:prstGeom>
          <a:ln>
            <a:solidFill>
              <a:schemeClr val="accent1"/>
            </a:solid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500" fill="hold"/>
                                        <p:tgtEl>
                                          <p:spTgt spid="18"/>
                                        </p:tgtEl>
                                        <p:attrNameLst>
                                          <p:attrName>ppt_x</p:attrName>
                                        </p:attrNameLst>
                                      </p:cBhvr>
                                      <p:tavLst>
                                        <p:tav tm="0">
                                          <p:val>
                                            <p:strVal val="#ppt_x"/>
                                          </p:val>
                                        </p:tav>
                                        <p:tav tm="100000">
                                          <p:val>
                                            <p:strVal val="#ppt_x"/>
                                          </p:val>
                                        </p:tav>
                                      </p:tavLst>
                                    </p:anim>
                                    <p:anim calcmode="lin" valueType="num">
                                      <p:cBhvr additive="base">
                                        <p:cTn id="12"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ppt_x"/>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additive="base">
                                        <p:cTn id="23" dur="500" fill="hold"/>
                                        <p:tgtEl>
                                          <p:spTgt spid="3"/>
                                        </p:tgtEl>
                                        <p:attrNameLst>
                                          <p:attrName>ppt_x</p:attrName>
                                        </p:attrNameLst>
                                      </p:cBhvr>
                                      <p:tavLst>
                                        <p:tav tm="0">
                                          <p:val>
                                            <p:strVal val="#ppt_x"/>
                                          </p:val>
                                        </p:tav>
                                        <p:tav tm="100000">
                                          <p:val>
                                            <p:strVal val="#ppt_x"/>
                                          </p:val>
                                        </p:tav>
                                      </p:tavLst>
                                    </p:anim>
                                    <p:anim calcmode="lin" valueType="num">
                                      <p:cBhvr additive="base">
                                        <p:cTn id="2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17" grpId="1"/>
      <p:bldP spid="18" grpId="1"/>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5"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1" charset="-122"/>
              </a:rPr>
              <a:t>四、</a:t>
            </a:r>
            <a:r>
              <a:rPr lang="en-US" altLang="zh-CN" sz="3200" dirty="0">
                <a:solidFill>
                  <a:srgbClr val="FF0000"/>
                </a:solidFill>
                <a:ea typeface="黑体" panose="02010609060101010101" pitchFamily="1" charset="-122"/>
              </a:rPr>
              <a:t>T-SQL</a:t>
            </a:r>
            <a:r>
              <a:rPr lang="zh-CN" altLang="en-US" sz="3200" dirty="0">
                <a:solidFill>
                  <a:srgbClr val="FF0000"/>
                </a:solidFill>
                <a:ea typeface="黑体" panose="02010609060101010101" pitchFamily="1" charset="-122"/>
              </a:rPr>
              <a:t>编程</a:t>
            </a:r>
            <a:endParaRPr lang="zh-CN" altLang="en-US" sz="3200" dirty="0">
              <a:solidFill>
                <a:srgbClr val="FF0000"/>
              </a:solidFill>
              <a:ea typeface="黑体" panose="02010609060101010101" pitchFamily="1" charset="-122"/>
            </a:endParaRPr>
          </a:p>
        </p:txBody>
      </p:sp>
      <p:sp>
        <p:nvSpPr>
          <p:cNvPr id="6" name="Rectangle 3"/>
          <p:cNvSpPr txBox="1"/>
          <p:nvPr/>
        </p:nvSpPr>
        <p:spPr>
          <a:xfrm>
            <a:off x="534670" y="882650"/>
            <a:ext cx="8047990" cy="747395"/>
          </a:xfrm>
          <a:prstGeom prst="rect">
            <a:avLst/>
          </a:prstGeom>
          <a:noFill/>
          <a:ln w="9525">
            <a:noFill/>
          </a:ln>
        </p:spPr>
        <p:txBody>
          <a:bodyPr anchor="t" anchorCtr="0"/>
          <a:p>
            <a:pPr>
              <a:buFont typeface="Wingdings" panose="05000000000000000000" pitchFamily="2" charset="2"/>
            </a:pPr>
            <a:r>
              <a:rPr lang="en-US" altLang="zh-CN" sz="2400" dirty="0">
                <a:solidFill>
                  <a:srgbClr val="3333CC"/>
                </a:solidFill>
                <a:latin typeface="宋体" panose="02010600030101010101" pitchFamily="2" charset="-122"/>
                <a:ea typeface="黑体" panose="02010609060101010101" pitchFamily="1" charset="-122"/>
              </a:rPr>
              <a:t>5.</a:t>
            </a:r>
            <a:r>
              <a:rPr lang="zh-CN" altLang="en-US" sz="2400" dirty="0">
                <a:solidFill>
                  <a:srgbClr val="3333CC"/>
                </a:solidFill>
                <a:latin typeface="宋体" panose="02010600030101010101" pitchFamily="2" charset="-122"/>
                <a:ea typeface="黑体" panose="02010609060101010101" pitchFamily="1" charset="-122"/>
              </a:rPr>
              <a:t>信息</a:t>
            </a:r>
            <a:r>
              <a:rPr lang="zh-CN" altLang="en-US" sz="2400" dirty="0">
                <a:solidFill>
                  <a:srgbClr val="3333CC"/>
                </a:solidFill>
                <a:latin typeface="宋体" panose="02010600030101010101" pitchFamily="2" charset="-122"/>
                <a:ea typeface="黑体" panose="02010609060101010101" pitchFamily="1" charset="-122"/>
              </a:rPr>
              <a:t>显示</a:t>
            </a:r>
            <a:endParaRPr lang="zh-CN" altLang="en-US" sz="2400" dirty="0">
              <a:solidFill>
                <a:srgbClr val="3333CC"/>
              </a:solidFill>
              <a:latin typeface="宋体" panose="02010600030101010101" pitchFamily="2" charset="-122"/>
              <a:ea typeface="黑体" panose="02010609060101010101" pitchFamily="1" charset="-122"/>
            </a:endParaRPr>
          </a:p>
        </p:txBody>
      </p:sp>
      <p:sp>
        <p:nvSpPr>
          <p:cNvPr id="8" name="文本框 7"/>
          <p:cNvSpPr txBox="1"/>
          <p:nvPr>
            <p:custDataLst>
              <p:tags r:id="rId1"/>
            </p:custDataLst>
          </p:nvPr>
        </p:nvSpPr>
        <p:spPr>
          <a:xfrm>
            <a:off x="636270" y="1369695"/>
            <a:ext cx="6852920" cy="429895"/>
          </a:xfrm>
          <a:prstGeom prst="rect">
            <a:avLst/>
          </a:prstGeom>
          <a:noFill/>
        </p:spPr>
        <p:txBody>
          <a:bodyPr wrap="square" rtlCol="0" anchor="t">
            <a:spAutoFit/>
          </a:bodyPr>
          <a:p>
            <a:r>
              <a:rPr lang="en-US" altLang="zh-CN" sz="2200" dirty="0">
                <a:solidFill>
                  <a:srgbClr val="FF0000"/>
                </a:solidFill>
                <a:sym typeface="+mn-ea"/>
              </a:rPr>
              <a:t>PRINT ’</a:t>
            </a:r>
            <a:r>
              <a:rPr lang="zh-CN" altLang="en-US" sz="2200" dirty="0">
                <a:solidFill>
                  <a:srgbClr val="FF0000"/>
                </a:solidFill>
                <a:sym typeface="+mn-ea"/>
              </a:rPr>
              <a:t>字符串</a:t>
            </a:r>
            <a:r>
              <a:rPr lang="en-US" altLang="zh-CN" sz="2200" dirty="0">
                <a:solidFill>
                  <a:srgbClr val="FF0000"/>
                </a:solidFill>
                <a:sym typeface="+mn-ea"/>
              </a:rPr>
              <a:t>’ | </a:t>
            </a:r>
            <a:r>
              <a:rPr lang="zh-CN" altLang="en-US" sz="2200" dirty="0">
                <a:solidFill>
                  <a:srgbClr val="FF0000"/>
                </a:solidFill>
                <a:sym typeface="+mn-ea"/>
              </a:rPr>
              <a:t>局部变量</a:t>
            </a:r>
            <a:r>
              <a:rPr lang="en-US" altLang="zh-CN" sz="2200" dirty="0">
                <a:solidFill>
                  <a:srgbClr val="FF0000"/>
                </a:solidFill>
                <a:sym typeface="+mn-ea"/>
              </a:rPr>
              <a:t> |</a:t>
            </a:r>
            <a:r>
              <a:rPr lang="zh-CN" altLang="en-US" sz="2200" dirty="0">
                <a:solidFill>
                  <a:srgbClr val="FF0000"/>
                </a:solidFill>
                <a:sym typeface="+mn-ea"/>
              </a:rPr>
              <a:t>字符串</a:t>
            </a:r>
            <a:r>
              <a:rPr lang="zh-CN" altLang="en-US" sz="2200" dirty="0">
                <a:solidFill>
                  <a:srgbClr val="FF0000"/>
                </a:solidFill>
                <a:sym typeface="+mn-ea"/>
              </a:rPr>
              <a:t>表达式</a:t>
            </a:r>
            <a:endParaRPr lang="zh-CN" altLang="en-US" sz="2200" dirty="0">
              <a:solidFill>
                <a:srgbClr val="FF0000"/>
              </a:solidFill>
              <a:sym typeface="+mn-ea"/>
            </a:endParaRPr>
          </a:p>
        </p:txBody>
      </p:sp>
      <p:sp>
        <p:nvSpPr>
          <p:cNvPr id="9" name="文本框 20"/>
          <p:cNvSpPr txBox="1"/>
          <p:nvPr/>
        </p:nvSpPr>
        <p:spPr>
          <a:xfrm>
            <a:off x="568960" y="1751330"/>
            <a:ext cx="8103235" cy="476885"/>
          </a:xfrm>
          <a:prstGeom prst="rect">
            <a:avLst/>
          </a:prstGeom>
          <a:noFill/>
          <a:ln w="9525">
            <a:noFill/>
          </a:ln>
        </p:spPr>
        <p:txBody>
          <a:bodyPr wrap="square">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ts val="0"/>
              </a:spcBef>
              <a:spcAft>
                <a:spcPts val="0"/>
              </a:spcAft>
              <a:buClrTx/>
              <a:buSzTx/>
              <a:buFont typeface="Arial" panose="020B0604020202020204" pitchFamily="34" charset="0"/>
              <a:buNone/>
            </a:pPr>
            <a:r>
              <a:rPr lang="en-US" altLang="zh-CN" dirty="0">
                <a:sym typeface="+mn-ea"/>
              </a:rPr>
              <a:t> </a:t>
            </a:r>
            <a:r>
              <a:rPr lang="zh-CN" altLang="en-US" dirty="0">
                <a:sym typeface="+mn-ea"/>
              </a:rPr>
              <a:t>用途：进行信息</a:t>
            </a:r>
            <a:r>
              <a:rPr lang="zh-CN" altLang="en-US" dirty="0">
                <a:sym typeface="+mn-ea"/>
              </a:rPr>
              <a:t>显示。</a:t>
            </a:r>
            <a:endParaRPr lang="zh-CN" altLang="en-US" dirty="0">
              <a:sym typeface="+mn-ea"/>
            </a:endParaRPr>
          </a:p>
          <a:p>
            <a:pPr marL="0" lvl="0" indent="0" eaLnBrk="1" hangingPunct="1">
              <a:lnSpc>
                <a:spcPct val="120000"/>
              </a:lnSpc>
              <a:spcBef>
                <a:spcPts val="0"/>
              </a:spcBef>
              <a:spcAft>
                <a:spcPts val="0"/>
              </a:spcAft>
              <a:buClrTx/>
              <a:buSzTx/>
              <a:buFont typeface="Arial" panose="020B0604020202020204" pitchFamily="34" charset="0"/>
              <a:buNone/>
            </a:pPr>
            <a:endParaRPr lang="zh-CN" altLang="en-US" dirty="0">
              <a:sym typeface="+mn-ea"/>
            </a:endParaRPr>
          </a:p>
        </p:txBody>
      </p:sp>
      <p:sp>
        <p:nvSpPr>
          <p:cNvPr id="10" name="文本框 9"/>
          <p:cNvSpPr txBox="1"/>
          <p:nvPr/>
        </p:nvSpPr>
        <p:spPr>
          <a:xfrm>
            <a:off x="1556385" y="2265680"/>
            <a:ext cx="7068820" cy="475615"/>
          </a:xfrm>
          <a:prstGeom prst="rect">
            <a:avLst/>
          </a:prstGeom>
          <a:noFill/>
        </p:spPr>
        <p:txBody>
          <a:bodyPr wrap="square" rtlCol="0" anchor="t">
            <a:spAutoFit/>
          </a:bodyPr>
          <a:p>
            <a:pPr>
              <a:lnSpc>
                <a:spcPct val="125000"/>
              </a:lnSpc>
              <a:spcBef>
                <a:spcPts val="0"/>
              </a:spcBef>
              <a:spcAft>
                <a:spcPts val="0"/>
              </a:spcAft>
            </a:pPr>
            <a:r>
              <a:rPr lang="en-US" altLang="zh-CN" sz="2000">
                <a:solidFill>
                  <a:srgbClr val="0000FF"/>
                </a:solidFill>
              </a:rPr>
              <a:t>PRINT </a:t>
            </a:r>
            <a:r>
              <a:rPr lang="en-US" altLang="zh-CN" sz="2000">
                <a:solidFill>
                  <a:schemeClr val="tx1"/>
                </a:solidFill>
              </a:rPr>
              <a:t>‘Hello</a:t>
            </a:r>
            <a:r>
              <a:rPr lang="zh-CN" altLang="en-US" sz="2000">
                <a:solidFill>
                  <a:schemeClr val="tx1"/>
                </a:solidFill>
              </a:rPr>
              <a:t>！</a:t>
            </a:r>
            <a:r>
              <a:rPr lang="en-US" altLang="zh-CN" sz="2000">
                <a:solidFill>
                  <a:schemeClr val="tx1"/>
                </a:solidFill>
                <a:sym typeface="+mn-ea"/>
              </a:rPr>
              <a:t>’</a:t>
            </a:r>
            <a:endParaRPr lang="zh-CN" altLang="en-US" sz="2000"/>
          </a:p>
        </p:txBody>
      </p:sp>
      <p:sp>
        <p:nvSpPr>
          <p:cNvPr id="11" name="文本框 10"/>
          <p:cNvSpPr txBox="1"/>
          <p:nvPr>
            <p:custDataLst>
              <p:tags r:id="rId2"/>
            </p:custDataLst>
          </p:nvPr>
        </p:nvSpPr>
        <p:spPr>
          <a:xfrm>
            <a:off x="636270" y="2217420"/>
            <a:ext cx="920115" cy="49720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0"/>
              </a:spcBef>
              <a:buClrTx/>
              <a:buSzTx/>
              <a:buFont typeface="Arial" panose="020B0604020202020204" pitchFamily="34" charset="0"/>
              <a:buNone/>
            </a:pPr>
            <a:r>
              <a:rPr lang="zh-CN" altLang="en-US" sz="2200" dirty="0">
                <a:solidFill>
                  <a:srgbClr val="0000FF"/>
                </a:solidFill>
                <a:sym typeface="+mn-ea"/>
              </a:rPr>
              <a:t>例</a:t>
            </a:r>
            <a:r>
              <a:rPr lang="en-US" altLang="zh-CN" sz="2200" dirty="0">
                <a:solidFill>
                  <a:srgbClr val="0000FF"/>
                </a:solidFill>
                <a:sym typeface="+mn-ea"/>
              </a:rPr>
              <a:t>11</a:t>
            </a:r>
            <a:r>
              <a:rPr lang="zh-CN" altLang="en-US" sz="2200" dirty="0">
                <a:solidFill>
                  <a:srgbClr val="0000FF"/>
                </a:solidFill>
                <a:sym typeface="+mn-ea"/>
              </a:rPr>
              <a:t>：</a:t>
            </a:r>
            <a:endParaRPr lang="zh-CN" altLang="en-US" sz="2200" dirty="0">
              <a:solidFill>
                <a:srgbClr val="0000FF"/>
              </a:solidFill>
              <a:sym typeface="+mn-ea"/>
            </a:endParaRPr>
          </a:p>
        </p:txBody>
      </p:sp>
      <p:pic>
        <p:nvPicPr>
          <p:cNvPr id="2" name="图片 1"/>
          <p:cNvPicPr>
            <a:picLocks noChangeAspect="1"/>
          </p:cNvPicPr>
          <p:nvPr/>
        </p:nvPicPr>
        <p:blipFill>
          <a:blip r:embed="rId3"/>
          <a:stretch>
            <a:fillRect/>
          </a:stretch>
        </p:blipFill>
        <p:spPr>
          <a:xfrm>
            <a:off x="1456690" y="4473575"/>
            <a:ext cx="5958621" cy="1440000"/>
          </a:xfrm>
          <a:prstGeom prst="rect">
            <a:avLst/>
          </a:prstGeom>
        </p:spPr>
      </p:pic>
      <p:sp>
        <p:nvSpPr>
          <p:cNvPr id="3" name="文本框 2"/>
          <p:cNvSpPr txBox="1"/>
          <p:nvPr/>
        </p:nvSpPr>
        <p:spPr>
          <a:xfrm>
            <a:off x="1513840" y="3429000"/>
            <a:ext cx="7068820" cy="860425"/>
          </a:xfrm>
          <a:prstGeom prst="rect">
            <a:avLst/>
          </a:prstGeom>
          <a:noFill/>
        </p:spPr>
        <p:txBody>
          <a:bodyPr wrap="square" rtlCol="0" anchor="t">
            <a:spAutoFit/>
          </a:bodyPr>
          <a:p>
            <a:pPr>
              <a:lnSpc>
                <a:spcPct val="125000"/>
              </a:lnSpc>
              <a:spcBef>
                <a:spcPts val="0"/>
              </a:spcBef>
              <a:spcAft>
                <a:spcPts val="0"/>
              </a:spcAft>
            </a:pPr>
            <a:r>
              <a:rPr lang="en-US" altLang="zh-CN" sz="2000">
                <a:solidFill>
                  <a:srgbClr val="0000FF"/>
                </a:solidFill>
                <a:sym typeface="+mn-ea"/>
              </a:rPr>
              <a:t>PRINT </a:t>
            </a:r>
            <a:r>
              <a:rPr lang="en-US" altLang="zh-CN" sz="2000">
                <a:solidFill>
                  <a:schemeClr val="tx1"/>
                </a:solidFill>
                <a:sym typeface="+mn-ea"/>
              </a:rPr>
              <a:t>‘THIS MESSAGE WAS PRINTED ON’</a:t>
            </a:r>
            <a:r>
              <a:rPr lang="en-US" altLang="zh-CN" sz="2000">
                <a:solidFill>
                  <a:srgbClr val="0000FF"/>
                </a:solidFill>
                <a:sym typeface="+mn-ea"/>
              </a:rPr>
              <a:t>+</a:t>
            </a:r>
            <a:endParaRPr lang="en-US" altLang="zh-CN" sz="2000">
              <a:solidFill>
                <a:srgbClr val="0000FF"/>
              </a:solidFill>
              <a:sym typeface="+mn-ea"/>
            </a:endParaRPr>
          </a:p>
          <a:p>
            <a:pPr>
              <a:lnSpc>
                <a:spcPct val="125000"/>
              </a:lnSpc>
              <a:spcBef>
                <a:spcPts val="0"/>
              </a:spcBef>
              <a:spcAft>
                <a:spcPts val="0"/>
              </a:spcAft>
            </a:pPr>
            <a:r>
              <a:rPr lang="en-US" altLang="zh-CN" sz="2000">
                <a:solidFill>
                  <a:srgbClr val="0000FF"/>
                </a:solidFill>
                <a:sym typeface="+mn-ea"/>
              </a:rPr>
              <a:t>     RTRIM(CAST(GETDATE() AS NVARCHAR(30)))+’.’</a:t>
            </a:r>
            <a:endParaRPr lang="zh-CN" altLang="en-US" sz="2000"/>
          </a:p>
        </p:txBody>
      </p:sp>
      <p:pic>
        <p:nvPicPr>
          <p:cNvPr id="4" name="图片 3"/>
          <p:cNvPicPr>
            <a:picLocks noChangeAspect="1"/>
          </p:cNvPicPr>
          <p:nvPr/>
        </p:nvPicPr>
        <p:blipFill>
          <a:blip r:embed="rId4"/>
          <a:stretch>
            <a:fillRect/>
          </a:stretch>
        </p:blipFill>
        <p:spPr>
          <a:xfrm>
            <a:off x="4558665" y="2217420"/>
            <a:ext cx="2002235" cy="1116000"/>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5"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1" charset="-122"/>
              </a:rPr>
              <a:t>四、</a:t>
            </a:r>
            <a:r>
              <a:rPr lang="en-US" altLang="zh-CN" sz="3200" dirty="0">
                <a:solidFill>
                  <a:srgbClr val="FF0000"/>
                </a:solidFill>
                <a:ea typeface="黑体" panose="02010609060101010101" pitchFamily="1" charset="-122"/>
              </a:rPr>
              <a:t>T-SQL</a:t>
            </a:r>
            <a:r>
              <a:rPr lang="zh-CN" altLang="en-US" sz="3200" dirty="0">
                <a:solidFill>
                  <a:srgbClr val="FF0000"/>
                </a:solidFill>
                <a:ea typeface="黑体" panose="02010609060101010101" pitchFamily="1" charset="-122"/>
              </a:rPr>
              <a:t>编程</a:t>
            </a:r>
            <a:endParaRPr lang="zh-CN" altLang="en-US" sz="3200" dirty="0">
              <a:solidFill>
                <a:srgbClr val="FF0000"/>
              </a:solidFill>
              <a:ea typeface="黑体" panose="02010609060101010101" pitchFamily="1" charset="-122"/>
            </a:endParaRPr>
          </a:p>
        </p:txBody>
      </p:sp>
      <p:sp>
        <p:nvSpPr>
          <p:cNvPr id="5" name="Rectangle 3"/>
          <p:cNvSpPr txBox="1"/>
          <p:nvPr/>
        </p:nvSpPr>
        <p:spPr>
          <a:xfrm>
            <a:off x="501650" y="897255"/>
            <a:ext cx="6886575" cy="747395"/>
          </a:xfrm>
          <a:prstGeom prst="rect">
            <a:avLst/>
          </a:prstGeom>
          <a:noFill/>
          <a:ln w="9525">
            <a:noFill/>
          </a:ln>
        </p:spPr>
        <p:txBody>
          <a:bodyPr anchor="t" anchorCtr="0"/>
          <a:p>
            <a:pPr>
              <a:buFont typeface="Wingdings" panose="05000000000000000000" pitchFamily="2" charset="2"/>
            </a:pPr>
            <a:r>
              <a:rPr lang="en-US" altLang="zh-CN" sz="2400" dirty="0">
                <a:solidFill>
                  <a:srgbClr val="3333CC"/>
                </a:solidFill>
                <a:latin typeface="宋体" panose="02010600030101010101" pitchFamily="2" charset="-122"/>
                <a:ea typeface="黑体" panose="02010609060101010101" pitchFamily="1" charset="-122"/>
              </a:rPr>
              <a:t>6.</a:t>
            </a:r>
            <a:r>
              <a:rPr lang="zh-CN" altLang="en-US" sz="2400" dirty="0">
                <a:solidFill>
                  <a:srgbClr val="3333CC"/>
                </a:solidFill>
                <a:latin typeface="宋体" panose="02010600030101010101" pitchFamily="2" charset="-122"/>
                <a:ea typeface="黑体" panose="02010609060101010101" pitchFamily="1" charset="-122"/>
              </a:rPr>
              <a:t>异常处理</a:t>
            </a:r>
            <a:r>
              <a:rPr lang="zh-CN" altLang="en-US" sz="2400" dirty="0">
                <a:solidFill>
                  <a:srgbClr val="3333CC"/>
                </a:solidFill>
                <a:latin typeface="宋体" panose="02010600030101010101" pitchFamily="2" charset="-122"/>
                <a:ea typeface="黑体" panose="02010609060101010101" pitchFamily="1" charset="-122"/>
              </a:rPr>
              <a:t>结构</a:t>
            </a:r>
            <a:endParaRPr lang="zh-CN" altLang="en-US" sz="2400" dirty="0">
              <a:solidFill>
                <a:srgbClr val="3333CC"/>
              </a:solidFill>
              <a:latin typeface="宋体" panose="02010600030101010101" pitchFamily="2" charset="-122"/>
              <a:ea typeface="黑体" panose="02010609060101010101" pitchFamily="1" charset="-122"/>
            </a:endParaRPr>
          </a:p>
        </p:txBody>
      </p:sp>
      <p:sp>
        <p:nvSpPr>
          <p:cNvPr id="4" name="文本框 3"/>
          <p:cNvSpPr txBox="1"/>
          <p:nvPr>
            <p:custDataLst>
              <p:tags r:id="rId1"/>
            </p:custDataLst>
          </p:nvPr>
        </p:nvSpPr>
        <p:spPr>
          <a:xfrm>
            <a:off x="626110" y="1305560"/>
            <a:ext cx="5123180" cy="2306955"/>
          </a:xfrm>
          <a:prstGeom prst="rect">
            <a:avLst/>
          </a:prstGeom>
          <a:noFill/>
        </p:spPr>
        <p:txBody>
          <a:bodyPr wrap="square" rtlCol="0" anchor="t">
            <a:spAutoFit/>
          </a:bodyPr>
          <a:p>
            <a:pPr>
              <a:lnSpc>
                <a:spcPct val="120000"/>
              </a:lnSpc>
              <a:spcBef>
                <a:spcPts val="0"/>
              </a:spcBef>
              <a:spcAft>
                <a:spcPts val="0"/>
              </a:spcAft>
            </a:pPr>
            <a:r>
              <a:rPr lang="en-US" altLang="zh-CN" sz="2000" dirty="0">
                <a:solidFill>
                  <a:srgbClr val="FF0000"/>
                </a:solidFill>
                <a:sym typeface="+mn-ea"/>
              </a:rPr>
              <a:t>BEGIN TR</a:t>
            </a:r>
            <a:r>
              <a:rPr lang="en-US" altLang="zh-CN" sz="2000" dirty="0">
                <a:solidFill>
                  <a:srgbClr val="FF0000"/>
                </a:solidFill>
                <a:sym typeface="+mn-ea"/>
              </a:rPr>
              <a:t>Y</a:t>
            </a:r>
            <a:endParaRPr lang="en-US" altLang="zh-CN" sz="2000" dirty="0">
              <a:solidFill>
                <a:srgbClr val="FF0000"/>
              </a:solidFill>
              <a:sym typeface="+mn-ea"/>
            </a:endParaRPr>
          </a:p>
          <a:p>
            <a:pPr>
              <a:lnSpc>
                <a:spcPct val="120000"/>
              </a:lnSpc>
              <a:spcBef>
                <a:spcPts val="0"/>
              </a:spcBef>
              <a:spcAft>
                <a:spcPts val="0"/>
              </a:spcAft>
            </a:pPr>
            <a:r>
              <a:rPr lang="en-US" altLang="zh-CN" sz="2000" dirty="0">
                <a:solidFill>
                  <a:srgbClr val="FF0000"/>
                </a:solidFill>
                <a:sym typeface="+mn-ea"/>
              </a:rPr>
              <a:t>     { SQL</a:t>
            </a:r>
            <a:r>
              <a:rPr lang="zh-CN" altLang="en-US" sz="2000" dirty="0">
                <a:solidFill>
                  <a:srgbClr val="FF0000"/>
                </a:solidFill>
                <a:sym typeface="+mn-ea"/>
              </a:rPr>
              <a:t>语句</a:t>
            </a:r>
            <a:r>
              <a:rPr lang="en-US" altLang="zh-CN" sz="2000" dirty="0">
                <a:solidFill>
                  <a:srgbClr val="FF0000"/>
                </a:solidFill>
                <a:sym typeface="+mn-ea"/>
              </a:rPr>
              <a:t> |</a:t>
            </a:r>
            <a:r>
              <a:rPr lang="zh-CN" altLang="en-US" sz="2000" dirty="0">
                <a:solidFill>
                  <a:srgbClr val="FF0000"/>
                </a:solidFill>
                <a:sym typeface="+mn-ea"/>
              </a:rPr>
              <a:t>语句块</a:t>
            </a:r>
            <a:r>
              <a:rPr lang="en-US" altLang="zh-CN" sz="2000" dirty="0">
                <a:solidFill>
                  <a:srgbClr val="FF0000"/>
                </a:solidFill>
                <a:sym typeface="+mn-ea"/>
              </a:rPr>
              <a:t> }</a:t>
            </a:r>
            <a:endParaRPr lang="en-US" altLang="zh-CN" sz="2000" dirty="0">
              <a:solidFill>
                <a:srgbClr val="FF0000"/>
              </a:solidFill>
              <a:sym typeface="+mn-ea"/>
            </a:endParaRPr>
          </a:p>
          <a:p>
            <a:pPr>
              <a:lnSpc>
                <a:spcPct val="120000"/>
              </a:lnSpc>
              <a:spcBef>
                <a:spcPts val="0"/>
              </a:spcBef>
              <a:spcAft>
                <a:spcPts val="0"/>
              </a:spcAft>
            </a:pPr>
            <a:r>
              <a:rPr lang="en-US" altLang="zh-CN" sz="2000" dirty="0">
                <a:solidFill>
                  <a:srgbClr val="FF0000"/>
                </a:solidFill>
                <a:sym typeface="+mn-ea"/>
              </a:rPr>
              <a:t>END </a:t>
            </a:r>
            <a:r>
              <a:rPr lang="en-US" altLang="zh-CN" sz="2000" dirty="0">
                <a:solidFill>
                  <a:srgbClr val="FF0000"/>
                </a:solidFill>
                <a:sym typeface="+mn-ea"/>
              </a:rPr>
              <a:t>TRY</a:t>
            </a:r>
            <a:endParaRPr lang="en-US" altLang="zh-CN" sz="2000" dirty="0">
              <a:solidFill>
                <a:srgbClr val="FF0000"/>
              </a:solidFill>
              <a:sym typeface="+mn-ea"/>
            </a:endParaRPr>
          </a:p>
          <a:p>
            <a:pPr>
              <a:lnSpc>
                <a:spcPct val="120000"/>
              </a:lnSpc>
              <a:spcBef>
                <a:spcPts val="0"/>
              </a:spcBef>
              <a:spcAft>
                <a:spcPts val="0"/>
              </a:spcAft>
            </a:pPr>
            <a:r>
              <a:rPr lang="en-US" altLang="zh-CN" sz="2000" dirty="0">
                <a:solidFill>
                  <a:srgbClr val="FF0000"/>
                </a:solidFill>
                <a:sym typeface="+mn-ea"/>
              </a:rPr>
              <a:t>BEGIN </a:t>
            </a:r>
            <a:r>
              <a:rPr lang="en-US" altLang="zh-CN" sz="2000" dirty="0">
                <a:solidFill>
                  <a:srgbClr val="FF0000"/>
                </a:solidFill>
                <a:sym typeface="+mn-ea"/>
              </a:rPr>
              <a:t>CATCH</a:t>
            </a:r>
            <a:endParaRPr lang="en-US" altLang="zh-CN" sz="2000" dirty="0">
              <a:solidFill>
                <a:srgbClr val="FF0000"/>
              </a:solidFill>
              <a:sym typeface="+mn-ea"/>
            </a:endParaRPr>
          </a:p>
          <a:p>
            <a:pPr>
              <a:lnSpc>
                <a:spcPct val="120000"/>
              </a:lnSpc>
              <a:spcBef>
                <a:spcPts val="0"/>
              </a:spcBef>
              <a:spcAft>
                <a:spcPts val="0"/>
              </a:spcAft>
            </a:pPr>
            <a:r>
              <a:rPr lang="en-US" altLang="zh-CN" sz="2000" dirty="0">
                <a:solidFill>
                  <a:srgbClr val="FF0000"/>
                </a:solidFill>
                <a:sym typeface="+mn-ea"/>
              </a:rPr>
              <a:t>     [{SQL </a:t>
            </a:r>
            <a:r>
              <a:rPr lang="zh-CN" altLang="en-US" sz="2000" dirty="0">
                <a:solidFill>
                  <a:srgbClr val="FF0000"/>
                </a:solidFill>
                <a:sym typeface="+mn-ea"/>
              </a:rPr>
              <a:t>语句</a:t>
            </a:r>
            <a:r>
              <a:rPr lang="en-US" altLang="zh-CN" sz="2000" dirty="0">
                <a:solidFill>
                  <a:srgbClr val="FF0000"/>
                </a:solidFill>
                <a:sym typeface="+mn-ea"/>
              </a:rPr>
              <a:t> |</a:t>
            </a:r>
            <a:r>
              <a:rPr lang="zh-CN" altLang="en-US" sz="2000" dirty="0">
                <a:solidFill>
                  <a:srgbClr val="FF0000"/>
                </a:solidFill>
                <a:sym typeface="+mn-ea"/>
              </a:rPr>
              <a:t>语句块</a:t>
            </a:r>
            <a:r>
              <a:rPr lang="en-US" altLang="zh-CN" sz="2000" dirty="0">
                <a:solidFill>
                  <a:srgbClr val="FF0000"/>
                </a:solidFill>
                <a:sym typeface="+mn-ea"/>
              </a:rPr>
              <a:t>}]</a:t>
            </a:r>
            <a:endParaRPr lang="en-US" altLang="zh-CN" sz="2000" dirty="0">
              <a:solidFill>
                <a:srgbClr val="FF0000"/>
              </a:solidFill>
              <a:sym typeface="+mn-ea"/>
            </a:endParaRPr>
          </a:p>
          <a:p>
            <a:pPr>
              <a:lnSpc>
                <a:spcPct val="120000"/>
              </a:lnSpc>
              <a:spcBef>
                <a:spcPts val="0"/>
              </a:spcBef>
              <a:spcAft>
                <a:spcPts val="0"/>
              </a:spcAft>
            </a:pPr>
            <a:r>
              <a:rPr lang="en-US" altLang="zh-CN" sz="2000" dirty="0">
                <a:solidFill>
                  <a:srgbClr val="FF0000"/>
                </a:solidFill>
                <a:sym typeface="+mn-ea"/>
              </a:rPr>
              <a:t>END CATCH</a:t>
            </a:r>
            <a:endParaRPr lang="en-US" altLang="zh-CN" sz="2000" dirty="0">
              <a:solidFill>
                <a:srgbClr val="FF0000"/>
              </a:solidFill>
              <a:sym typeface="+mn-ea"/>
            </a:endParaRPr>
          </a:p>
        </p:txBody>
      </p:sp>
      <p:sp>
        <p:nvSpPr>
          <p:cNvPr id="7" name="文本框 20"/>
          <p:cNvSpPr txBox="1"/>
          <p:nvPr/>
        </p:nvSpPr>
        <p:spPr>
          <a:xfrm>
            <a:off x="3677285" y="1305560"/>
            <a:ext cx="5106670" cy="476885"/>
          </a:xfrm>
          <a:prstGeom prst="rect">
            <a:avLst/>
          </a:prstGeom>
          <a:noFill/>
          <a:ln w="9525">
            <a:noFill/>
          </a:ln>
        </p:spPr>
        <p:txBody>
          <a:bodyPr wrap="square">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l" eaLnBrk="1" hangingPunct="1">
              <a:lnSpc>
                <a:spcPct val="120000"/>
              </a:lnSpc>
              <a:spcBef>
                <a:spcPts val="0"/>
              </a:spcBef>
              <a:spcAft>
                <a:spcPts val="0"/>
              </a:spcAft>
              <a:buClrTx/>
              <a:buSzTx/>
              <a:buFont typeface="Arial" panose="020B0604020202020204" pitchFamily="34" charset="0"/>
              <a:buNone/>
            </a:pPr>
            <a:r>
              <a:rPr lang="zh-CN" altLang="en-US" sz="1800" dirty="0">
                <a:sym typeface="+mn-ea"/>
              </a:rPr>
              <a:t>用途：如果</a:t>
            </a:r>
            <a:r>
              <a:rPr lang="en-US" altLang="zh-CN" sz="1800" dirty="0">
                <a:sym typeface="+mn-ea"/>
              </a:rPr>
              <a:t>TRY</a:t>
            </a:r>
            <a:r>
              <a:rPr lang="zh-CN" altLang="en-US" sz="1800" dirty="0">
                <a:sym typeface="+mn-ea"/>
              </a:rPr>
              <a:t>块内部发生错误，则会将控制传递给</a:t>
            </a:r>
            <a:r>
              <a:rPr lang="en-US" altLang="zh-CN" sz="1800" dirty="0">
                <a:sym typeface="+mn-ea"/>
              </a:rPr>
              <a:t>CATCH</a:t>
            </a:r>
            <a:r>
              <a:rPr lang="zh-CN" altLang="en-US" sz="1800" dirty="0">
                <a:sym typeface="+mn-ea"/>
              </a:rPr>
              <a:t>块中包含的另一个语句组。</a:t>
            </a:r>
            <a:r>
              <a:rPr lang="en-US" altLang="zh-CN" sz="1800" dirty="0">
                <a:sym typeface="+mn-ea"/>
              </a:rPr>
              <a:t>TRY…CATCH</a:t>
            </a:r>
            <a:r>
              <a:rPr lang="zh-CN" altLang="en-US" sz="1800" dirty="0">
                <a:sym typeface="+mn-ea"/>
              </a:rPr>
              <a:t>构造可对严重级别高于</a:t>
            </a:r>
            <a:r>
              <a:rPr lang="en-US" altLang="zh-CN" sz="1800" dirty="0">
                <a:sym typeface="+mn-ea"/>
              </a:rPr>
              <a:t>10</a:t>
            </a:r>
            <a:r>
              <a:rPr lang="zh-CN" altLang="en-US" sz="1800" dirty="0">
                <a:sym typeface="+mn-ea"/>
              </a:rPr>
              <a:t>但不关闭数据库连接的所有执行错误进行缓存。</a:t>
            </a:r>
            <a:endParaRPr lang="zh-CN" altLang="en-US" dirty="0">
              <a:sym typeface="+mn-ea"/>
            </a:endParaRPr>
          </a:p>
          <a:p>
            <a:pPr marL="0" lvl="0" indent="0" algn="just" eaLnBrk="1" hangingPunct="1">
              <a:lnSpc>
                <a:spcPct val="120000"/>
              </a:lnSpc>
              <a:spcBef>
                <a:spcPts val="0"/>
              </a:spcBef>
              <a:spcAft>
                <a:spcPts val="0"/>
              </a:spcAft>
              <a:buClrTx/>
              <a:buSzTx/>
              <a:buFont typeface="Arial" panose="020B0604020202020204" pitchFamily="34" charset="0"/>
              <a:buNone/>
            </a:pPr>
            <a:endParaRPr lang="zh-CN" altLang="en-US" dirty="0">
              <a:sym typeface="+mn-ea"/>
            </a:endParaRPr>
          </a:p>
        </p:txBody>
      </p:sp>
      <p:sp>
        <p:nvSpPr>
          <p:cNvPr id="8" name="文本框 20"/>
          <p:cNvSpPr txBox="1"/>
          <p:nvPr/>
        </p:nvSpPr>
        <p:spPr>
          <a:xfrm>
            <a:off x="3677285" y="2826385"/>
            <a:ext cx="5106670" cy="476885"/>
          </a:xfrm>
          <a:prstGeom prst="rect">
            <a:avLst/>
          </a:prstGeom>
          <a:noFill/>
          <a:ln w="9525">
            <a:noFill/>
          </a:ln>
        </p:spPr>
        <p:txBody>
          <a:bodyPr wrap="square">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just" eaLnBrk="1" hangingPunct="1">
              <a:lnSpc>
                <a:spcPct val="120000"/>
              </a:lnSpc>
              <a:spcBef>
                <a:spcPts val="0"/>
              </a:spcBef>
              <a:spcAft>
                <a:spcPts val="0"/>
              </a:spcAft>
              <a:buClrTx/>
              <a:buSzTx/>
              <a:buFont typeface="Arial" panose="020B0604020202020204" pitchFamily="34" charset="0"/>
              <a:buNone/>
            </a:pPr>
            <a:r>
              <a:rPr lang="zh-CN" altLang="en-US" sz="1800" dirty="0">
                <a:sym typeface="+mn-ea"/>
              </a:rPr>
              <a:t>在</a:t>
            </a:r>
            <a:r>
              <a:rPr lang="en-US" altLang="zh-CN" sz="1800" dirty="0">
                <a:sym typeface="+mn-ea"/>
              </a:rPr>
              <a:t>CATCH</a:t>
            </a:r>
            <a:r>
              <a:rPr lang="zh-CN" altLang="en-US" sz="1800" dirty="0">
                <a:sym typeface="+mn-ea"/>
              </a:rPr>
              <a:t>块作用域内，可使用以下系统函数来获取</a:t>
            </a:r>
            <a:r>
              <a:rPr lang="en-US" altLang="zh-CN" sz="1800" dirty="0">
                <a:sym typeface="+mn-ea"/>
              </a:rPr>
              <a:t>CATCH</a:t>
            </a:r>
            <a:r>
              <a:rPr lang="zh-CN" altLang="en-US" sz="1800" dirty="0">
                <a:sym typeface="+mn-ea"/>
              </a:rPr>
              <a:t>块执行的错误信息：</a:t>
            </a:r>
            <a:endParaRPr lang="zh-CN" altLang="en-US" sz="1800" dirty="0">
              <a:sym typeface="+mn-ea"/>
            </a:endParaRPr>
          </a:p>
        </p:txBody>
      </p:sp>
      <p:sp>
        <p:nvSpPr>
          <p:cNvPr id="9" name="文本框 8"/>
          <p:cNvSpPr txBox="1"/>
          <p:nvPr/>
        </p:nvSpPr>
        <p:spPr>
          <a:xfrm>
            <a:off x="532765" y="3645535"/>
            <a:ext cx="8154035" cy="2486025"/>
          </a:xfrm>
          <a:prstGeom prst="rect">
            <a:avLst/>
          </a:prstGeom>
          <a:noFill/>
        </p:spPr>
        <p:txBody>
          <a:bodyPr wrap="square" rtlCol="0" anchor="t">
            <a:noAutofit/>
          </a:bodyPr>
          <a:p>
            <a:pPr marL="285750" indent="-285750">
              <a:lnSpc>
                <a:spcPct val="120000"/>
              </a:lnSpc>
              <a:spcBef>
                <a:spcPts val="0"/>
              </a:spcBef>
              <a:spcAft>
                <a:spcPts val="0"/>
              </a:spcAft>
              <a:buFont typeface="Wingdings" panose="05000000000000000000" charset="0"/>
              <a:buChar char="p"/>
            </a:pPr>
            <a:r>
              <a:rPr lang="en-US" altLang="zh-CN" dirty="0">
                <a:solidFill>
                  <a:srgbClr val="0000FF"/>
                </a:solidFill>
                <a:sym typeface="+mn-ea"/>
              </a:rPr>
              <a:t>ERROR_NUMBER()</a:t>
            </a:r>
            <a:r>
              <a:rPr lang="zh-CN" altLang="en-US" dirty="0">
                <a:solidFill>
                  <a:srgbClr val="0000FF"/>
                </a:solidFill>
                <a:sym typeface="+mn-ea"/>
              </a:rPr>
              <a:t>：</a:t>
            </a:r>
            <a:r>
              <a:rPr lang="zh-CN" altLang="en-US" dirty="0">
                <a:sym typeface="+mn-ea"/>
              </a:rPr>
              <a:t>返回错误</a:t>
            </a:r>
            <a:r>
              <a:rPr lang="zh-CN" altLang="en-US" dirty="0">
                <a:sym typeface="+mn-ea"/>
              </a:rPr>
              <a:t>号。</a:t>
            </a:r>
            <a:endParaRPr lang="zh-CN" altLang="en-US" dirty="0">
              <a:sym typeface="+mn-ea"/>
            </a:endParaRPr>
          </a:p>
          <a:p>
            <a:pPr marL="285750" indent="-285750">
              <a:lnSpc>
                <a:spcPct val="120000"/>
              </a:lnSpc>
              <a:spcBef>
                <a:spcPts val="0"/>
              </a:spcBef>
              <a:spcAft>
                <a:spcPts val="0"/>
              </a:spcAft>
              <a:buFont typeface="Wingdings" panose="05000000000000000000" charset="0"/>
              <a:buChar char="p"/>
            </a:pPr>
            <a:r>
              <a:rPr lang="en-US" altLang="zh-CN" sz="1800" dirty="0">
                <a:solidFill>
                  <a:srgbClr val="0000FF"/>
                </a:solidFill>
                <a:sym typeface="+mn-ea"/>
              </a:rPr>
              <a:t>ERROR_SERVERITY()</a:t>
            </a:r>
            <a:r>
              <a:rPr lang="en-US" altLang="zh-CN" sz="1800" dirty="0">
                <a:solidFill>
                  <a:srgbClr val="0000FF"/>
                </a:solidFill>
                <a:sym typeface="+mn-ea"/>
              </a:rPr>
              <a:t>：</a:t>
            </a:r>
            <a:r>
              <a:rPr lang="zh-CN" altLang="en-US" dirty="0">
                <a:sym typeface="+mn-ea"/>
              </a:rPr>
              <a:t>返回严重</a:t>
            </a:r>
            <a:r>
              <a:rPr lang="zh-CN" altLang="en-US" dirty="0">
                <a:sym typeface="+mn-ea"/>
              </a:rPr>
              <a:t>级别。</a:t>
            </a:r>
            <a:endParaRPr lang="zh-CN" altLang="en-US" dirty="0">
              <a:sym typeface="+mn-ea"/>
            </a:endParaRPr>
          </a:p>
          <a:p>
            <a:pPr marL="285750" indent="-285750">
              <a:lnSpc>
                <a:spcPct val="120000"/>
              </a:lnSpc>
              <a:spcBef>
                <a:spcPts val="0"/>
              </a:spcBef>
              <a:spcAft>
                <a:spcPts val="0"/>
              </a:spcAft>
              <a:buFont typeface="Wingdings" panose="05000000000000000000" charset="0"/>
              <a:buChar char="p"/>
            </a:pPr>
            <a:r>
              <a:rPr lang="en-US" altLang="zh-CN" dirty="0">
                <a:solidFill>
                  <a:srgbClr val="0000FF"/>
                </a:solidFill>
                <a:sym typeface="+mn-ea"/>
              </a:rPr>
              <a:t>ERROR_STATE()：</a:t>
            </a:r>
            <a:r>
              <a:rPr lang="zh-CN" altLang="en-US" sz="1800" dirty="0">
                <a:sym typeface="+mn-ea"/>
              </a:rPr>
              <a:t>返回错误状态</a:t>
            </a:r>
            <a:r>
              <a:rPr lang="zh-CN" altLang="en-US" sz="1800" dirty="0">
                <a:sym typeface="+mn-ea"/>
              </a:rPr>
              <a:t>号。</a:t>
            </a:r>
            <a:endParaRPr lang="zh-CN" altLang="en-US" sz="1800" dirty="0">
              <a:sym typeface="+mn-ea"/>
            </a:endParaRPr>
          </a:p>
          <a:p>
            <a:pPr marL="285750" indent="-285750" algn="l">
              <a:lnSpc>
                <a:spcPct val="120000"/>
              </a:lnSpc>
              <a:spcBef>
                <a:spcPts val="0"/>
              </a:spcBef>
              <a:spcAft>
                <a:spcPts val="0"/>
              </a:spcAft>
              <a:buClrTx/>
              <a:buSzTx/>
              <a:buFont typeface="Wingdings" panose="05000000000000000000" charset="0"/>
              <a:buChar char="p"/>
            </a:pPr>
            <a:r>
              <a:rPr lang="en-US" altLang="zh-CN" dirty="0">
                <a:solidFill>
                  <a:srgbClr val="0000FF"/>
                </a:solidFill>
                <a:sym typeface="+mn-ea"/>
              </a:rPr>
              <a:t>ERROR_PROCEDURE()：</a:t>
            </a:r>
            <a:r>
              <a:rPr lang="zh-CN" altLang="en-US" sz="1800" dirty="0">
                <a:sym typeface="+mn-ea"/>
              </a:rPr>
              <a:t>返回出现错误的存储过程或触发器的</a:t>
            </a:r>
            <a:r>
              <a:rPr lang="zh-CN" altLang="en-US" sz="1800" dirty="0">
                <a:sym typeface="+mn-ea"/>
              </a:rPr>
              <a:t>名称。</a:t>
            </a:r>
            <a:endParaRPr lang="zh-CN" altLang="en-US" sz="1800" dirty="0">
              <a:sym typeface="+mn-ea"/>
            </a:endParaRPr>
          </a:p>
          <a:p>
            <a:pPr marL="285750" indent="-285750" algn="l">
              <a:lnSpc>
                <a:spcPct val="120000"/>
              </a:lnSpc>
              <a:spcBef>
                <a:spcPts val="0"/>
              </a:spcBef>
              <a:spcAft>
                <a:spcPts val="0"/>
              </a:spcAft>
              <a:buClrTx/>
              <a:buSzTx/>
              <a:buFont typeface="Wingdings" panose="05000000000000000000" charset="0"/>
              <a:buChar char="p"/>
            </a:pPr>
            <a:r>
              <a:rPr lang="en-US" altLang="zh-CN" sz="1800" dirty="0">
                <a:solidFill>
                  <a:srgbClr val="0000FF"/>
                </a:solidFill>
                <a:sym typeface="+mn-ea"/>
              </a:rPr>
              <a:t>ERROR_LINE()：</a:t>
            </a:r>
            <a:r>
              <a:rPr lang="zh-CN" altLang="en-US" sz="1800" dirty="0">
                <a:sym typeface="+mn-ea"/>
              </a:rPr>
              <a:t>返回导致错误的程序中的</a:t>
            </a:r>
            <a:r>
              <a:rPr lang="zh-CN" altLang="en-US" sz="1800" dirty="0">
                <a:sym typeface="+mn-ea"/>
              </a:rPr>
              <a:t>行号。</a:t>
            </a:r>
            <a:endParaRPr lang="zh-CN" altLang="en-US" sz="1800" dirty="0">
              <a:sym typeface="+mn-ea"/>
            </a:endParaRPr>
          </a:p>
          <a:p>
            <a:pPr marL="285750" indent="-285750" algn="l">
              <a:lnSpc>
                <a:spcPct val="120000"/>
              </a:lnSpc>
              <a:spcBef>
                <a:spcPts val="0"/>
              </a:spcBef>
              <a:spcAft>
                <a:spcPts val="0"/>
              </a:spcAft>
              <a:buClrTx/>
              <a:buSzTx/>
              <a:buFont typeface="Wingdings" panose="05000000000000000000" charset="0"/>
              <a:buChar char="p"/>
            </a:pPr>
            <a:r>
              <a:rPr lang="en-US" altLang="zh-CN" sz="1800" dirty="0">
                <a:solidFill>
                  <a:srgbClr val="0000FF"/>
                </a:solidFill>
                <a:sym typeface="+mn-ea"/>
              </a:rPr>
              <a:t>ERROR_MESSAGE()：</a:t>
            </a:r>
            <a:r>
              <a:rPr lang="zh-CN" altLang="en-US" sz="1800" dirty="0">
                <a:solidFill>
                  <a:schemeClr val="tx1"/>
                </a:solidFill>
                <a:sym typeface="+mn-ea"/>
              </a:rPr>
              <a:t>返回错误信息。该消息可包括任何可替换参数所提供的值，如长度、对象名或</a:t>
            </a:r>
            <a:r>
              <a:rPr lang="zh-CN" altLang="en-US" sz="1800" dirty="0">
                <a:solidFill>
                  <a:schemeClr val="tx1"/>
                </a:solidFill>
                <a:sym typeface="+mn-ea"/>
              </a:rPr>
              <a:t>时间。</a:t>
            </a:r>
            <a:endParaRPr lang="zh-CN" altLang="en-US" sz="1800" dirty="0">
              <a:solidFill>
                <a:schemeClr val="tx1"/>
              </a:solidFill>
              <a:sym typeface="+mn-ea"/>
            </a:endParaRPr>
          </a:p>
        </p:txBody>
      </p:sp>
      <p:sp>
        <p:nvSpPr>
          <p:cNvPr id="10" name="文本框 9"/>
          <p:cNvSpPr txBox="1"/>
          <p:nvPr/>
        </p:nvSpPr>
        <p:spPr>
          <a:xfrm>
            <a:off x="1137285" y="2656205"/>
            <a:ext cx="7734935" cy="3589655"/>
          </a:xfrm>
          <a:prstGeom prst="rect">
            <a:avLst/>
          </a:prstGeom>
          <a:solidFill>
            <a:schemeClr val="bg1"/>
          </a:solidFill>
          <a:ln>
            <a:solidFill>
              <a:schemeClr val="tx1">
                <a:lumMod val="95000"/>
                <a:lumOff val="5000"/>
              </a:schemeClr>
            </a:solidFill>
          </a:ln>
        </p:spPr>
        <p:txBody>
          <a:bodyPr wrap="square" rtlCol="0" anchor="t">
            <a:spAutoFit/>
          </a:bodyPr>
          <a:p>
            <a:pPr>
              <a:lnSpc>
                <a:spcPct val="115000"/>
              </a:lnSpc>
              <a:spcBef>
                <a:spcPts val="0"/>
              </a:spcBef>
              <a:spcAft>
                <a:spcPts val="0"/>
              </a:spcAft>
            </a:pPr>
            <a:r>
              <a:rPr lang="en-US" altLang="zh-CN">
                <a:solidFill>
                  <a:srgbClr val="0000FF"/>
                </a:solidFill>
              </a:rPr>
              <a:t>BEGIN TRY</a:t>
            </a:r>
            <a:endParaRPr lang="en-US" altLang="zh-CN">
              <a:solidFill>
                <a:srgbClr val="0000FF"/>
              </a:solidFill>
            </a:endParaRPr>
          </a:p>
          <a:p>
            <a:pPr>
              <a:lnSpc>
                <a:spcPct val="115000"/>
              </a:lnSpc>
              <a:spcBef>
                <a:spcPts val="0"/>
              </a:spcBef>
              <a:spcAft>
                <a:spcPts val="0"/>
              </a:spcAft>
            </a:pPr>
            <a:r>
              <a:rPr lang="en-US" altLang="zh-CN"/>
              <a:t>     RAISERROR(‘Error raised in TRY block’,13,1);</a:t>
            </a:r>
            <a:endParaRPr lang="en-US" altLang="zh-CN"/>
          </a:p>
          <a:p>
            <a:pPr>
              <a:lnSpc>
                <a:spcPct val="115000"/>
              </a:lnSpc>
              <a:spcBef>
                <a:spcPts val="0"/>
              </a:spcBef>
              <a:spcAft>
                <a:spcPts val="0"/>
              </a:spcAft>
            </a:pPr>
            <a:r>
              <a:rPr lang="en-US" altLang="zh-CN">
                <a:solidFill>
                  <a:srgbClr val="0000FF"/>
                </a:solidFill>
              </a:rPr>
              <a:t>END TRY</a:t>
            </a:r>
            <a:endParaRPr lang="en-US" altLang="zh-CN">
              <a:solidFill>
                <a:srgbClr val="0000FF"/>
              </a:solidFill>
            </a:endParaRPr>
          </a:p>
          <a:p>
            <a:pPr>
              <a:lnSpc>
                <a:spcPct val="115000"/>
              </a:lnSpc>
              <a:spcBef>
                <a:spcPts val="0"/>
              </a:spcBef>
              <a:spcAft>
                <a:spcPts val="0"/>
              </a:spcAft>
            </a:pPr>
            <a:r>
              <a:rPr lang="en-US" altLang="zh-CN">
                <a:solidFill>
                  <a:srgbClr val="0000FF"/>
                </a:solidFill>
                <a:sym typeface="+mn-ea"/>
              </a:rPr>
              <a:t>BEGIN CATCH</a:t>
            </a:r>
            <a:endParaRPr lang="en-US" altLang="zh-CN">
              <a:solidFill>
                <a:srgbClr val="0000FF"/>
              </a:solidFill>
            </a:endParaRPr>
          </a:p>
          <a:p>
            <a:pPr>
              <a:lnSpc>
                <a:spcPct val="115000"/>
              </a:lnSpc>
              <a:spcBef>
                <a:spcPts val="0"/>
              </a:spcBef>
              <a:spcAft>
                <a:spcPts val="0"/>
              </a:spcAft>
            </a:pPr>
            <a:r>
              <a:rPr lang="en-US" altLang="zh-CN"/>
              <a:t>        </a:t>
            </a:r>
            <a:r>
              <a:rPr lang="en-US" altLang="zh-CN">
                <a:solidFill>
                  <a:srgbClr val="0000FF"/>
                </a:solidFill>
              </a:rPr>
              <a:t> DECLARE </a:t>
            </a:r>
            <a:r>
              <a:rPr lang="en-US" altLang="zh-CN">
                <a:solidFill>
                  <a:schemeClr val="tx1"/>
                </a:solidFill>
              </a:rPr>
              <a:t>@ErrorMessage</a:t>
            </a:r>
            <a:r>
              <a:rPr lang="en-US" altLang="zh-CN">
                <a:solidFill>
                  <a:srgbClr val="0000FF"/>
                </a:solidFill>
              </a:rPr>
              <a:t> NVARCHAR(4000);</a:t>
            </a:r>
            <a:endParaRPr lang="en-US" altLang="zh-CN"/>
          </a:p>
          <a:p>
            <a:pPr>
              <a:lnSpc>
                <a:spcPct val="115000"/>
              </a:lnSpc>
              <a:spcBef>
                <a:spcPts val="0"/>
              </a:spcBef>
              <a:spcAft>
                <a:spcPts val="0"/>
              </a:spcAft>
            </a:pPr>
            <a:r>
              <a:rPr lang="en-US" altLang="zh-CN">
                <a:solidFill>
                  <a:srgbClr val="0000FF"/>
                </a:solidFill>
                <a:sym typeface="+mn-ea"/>
              </a:rPr>
              <a:t>         </a:t>
            </a:r>
            <a:r>
              <a:rPr lang="en-US" altLang="zh-CN">
                <a:solidFill>
                  <a:srgbClr val="0000FF"/>
                </a:solidFill>
                <a:sym typeface="+mn-ea"/>
              </a:rPr>
              <a:t>DECLARE </a:t>
            </a:r>
            <a:r>
              <a:rPr lang="en-US" altLang="zh-CN">
                <a:sym typeface="+mn-ea"/>
              </a:rPr>
              <a:t>@ErrorSeverity</a:t>
            </a:r>
            <a:r>
              <a:rPr lang="en-US" altLang="zh-CN">
                <a:solidFill>
                  <a:srgbClr val="0000FF"/>
                </a:solidFill>
                <a:sym typeface="+mn-ea"/>
              </a:rPr>
              <a:t> INT;</a:t>
            </a:r>
            <a:endParaRPr lang="en-US" altLang="zh-CN">
              <a:solidFill>
                <a:srgbClr val="0000FF"/>
              </a:solidFill>
              <a:sym typeface="+mn-ea"/>
            </a:endParaRPr>
          </a:p>
          <a:p>
            <a:pPr>
              <a:lnSpc>
                <a:spcPct val="115000"/>
              </a:lnSpc>
              <a:spcBef>
                <a:spcPts val="0"/>
              </a:spcBef>
              <a:spcAft>
                <a:spcPts val="0"/>
              </a:spcAft>
            </a:pPr>
            <a:r>
              <a:rPr lang="en-US" altLang="zh-CN">
                <a:solidFill>
                  <a:srgbClr val="0000FF"/>
                </a:solidFill>
                <a:sym typeface="+mn-ea"/>
              </a:rPr>
              <a:t>         DECLARE </a:t>
            </a:r>
            <a:r>
              <a:rPr lang="en-US" altLang="zh-CN">
                <a:sym typeface="+mn-ea"/>
              </a:rPr>
              <a:t>@ErrorState</a:t>
            </a:r>
            <a:r>
              <a:rPr lang="en-US" altLang="zh-CN">
                <a:solidFill>
                  <a:srgbClr val="0000FF"/>
                </a:solidFill>
                <a:sym typeface="+mn-ea"/>
              </a:rPr>
              <a:t> INT;</a:t>
            </a:r>
            <a:endParaRPr lang="en-US" altLang="zh-CN">
              <a:solidFill>
                <a:srgbClr val="0000FF"/>
              </a:solidFill>
              <a:sym typeface="+mn-ea"/>
            </a:endParaRPr>
          </a:p>
          <a:p>
            <a:pPr>
              <a:lnSpc>
                <a:spcPct val="115000"/>
              </a:lnSpc>
              <a:spcBef>
                <a:spcPts val="0"/>
              </a:spcBef>
              <a:spcAft>
                <a:spcPts val="0"/>
              </a:spcAft>
            </a:pPr>
            <a:r>
              <a:rPr lang="en-US" altLang="zh-CN">
                <a:solidFill>
                  <a:srgbClr val="0000FF"/>
                </a:solidFill>
                <a:sym typeface="+mn-ea"/>
              </a:rPr>
              <a:t>         SELECT </a:t>
            </a:r>
            <a:r>
              <a:rPr lang="en-US" altLang="zh-CN">
                <a:sym typeface="+mn-ea"/>
              </a:rPr>
              <a:t>@ErrorMessage=</a:t>
            </a:r>
            <a:r>
              <a:rPr lang="en-US" altLang="zh-CN">
                <a:solidFill>
                  <a:srgbClr val="0000FF"/>
                </a:solidFill>
                <a:sym typeface="+mn-ea"/>
              </a:rPr>
              <a:t>ERROR_MESSAGE()</a:t>
            </a:r>
            <a:r>
              <a:rPr lang="en-US" altLang="zh-CN">
                <a:sym typeface="+mn-ea"/>
              </a:rPr>
              <a:t>,</a:t>
            </a:r>
            <a:r>
              <a:rPr lang="en-US" altLang="zh-CN">
                <a:sym typeface="+mn-ea"/>
              </a:rPr>
              <a:t>@ErrorSeverity=</a:t>
            </a:r>
            <a:endParaRPr lang="en-US" altLang="zh-CN">
              <a:sym typeface="+mn-ea"/>
            </a:endParaRPr>
          </a:p>
          <a:p>
            <a:pPr>
              <a:lnSpc>
                <a:spcPct val="115000"/>
              </a:lnSpc>
              <a:spcBef>
                <a:spcPts val="0"/>
              </a:spcBef>
              <a:spcAft>
                <a:spcPts val="0"/>
              </a:spcAft>
            </a:pPr>
            <a:r>
              <a:rPr lang="en-US" altLang="zh-CN">
                <a:sym typeface="+mn-ea"/>
              </a:rPr>
              <a:t>               </a:t>
            </a:r>
            <a:r>
              <a:rPr lang="en-US" altLang="zh-CN" dirty="0">
                <a:solidFill>
                  <a:srgbClr val="0000FF"/>
                </a:solidFill>
                <a:sym typeface="+mn-ea"/>
              </a:rPr>
              <a:t>ERROR_SERVERITY(),</a:t>
            </a:r>
            <a:r>
              <a:rPr lang="en-US" altLang="zh-CN">
                <a:sym typeface="+mn-ea"/>
              </a:rPr>
              <a:t>@ErrorState=</a:t>
            </a:r>
            <a:r>
              <a:rPr lang="en-US" altLang="zh-CN" dirty="0">
                <a:solidFill>
                  <a:srgbClr val="0000FF"/>
                </a:solidFill>
                <a:sym typeface="+mn-ea"/>
              </a:rPr>
              <a:t>ERROR_STATE();</a:t>
            </a:r>
            <a:endParaRPr lang="en-US" altLang="zh-CN" dirty="0">
              <a:solidFill>
                <a:srgbClr val="0000FF"/>
              </a:solidFill>
              <a:sym typeface="+mn-ea"/>
            </a:endParaRPr>
          </a:p>
          <a:p>
            <a:pPr>
              <a:lnSpc>
                <a:spcPct val="115000"/>
              </a:lnSpc>
              <a:spcBef>
                <a:spcPts val="0"/>
              </a:spcBef>
              <a:spcAft>
                <a:spcPts val="0"/>
              </a:spcAft>
            </a:pPr>
            <a:r>
              <a:rPr lang="en-US" altLang="zh-CN" dirty="0">
                <a:solidFill>
                  <a:srgbClr val="0000FF"/>
                </a:solidFill>
                <a:sym typeface="+mn-ea"/>
              </a:rPr>
              <a:t>         RAISERROR (</a:t>
            </a:r>
            <a:r>
              <a:rPr lang="en-US" altLang="zh-CN">
                <a:sym typeface="+mn-ea"/>
              </a:rPr>
              <a:t>@ErrorMessage,</a:t>
            </a:r>
            <a:r>
              <a:rPr lang="en-US" altLang="zh-CN">
                <a:sym typeface="+mn-ea"/>
              </a:rPr>
              <a:t>@ErrorSeverity,@ErrorState</a:t>
            </a:r>
            <a:r>
              <a:rPr lang="en-US" altLang="zh-CN">
                <a:solidFill>
                  <a:srgbClr val="0000FF"/>
                </a:solidFill>
                <a:sym typeface="+mn-ea"/>
              </a:rPr>
              <a:t>)</a:t>
            </a:r>
            <a:endParaRPr lang="en-US" altLang="zh-CN">
              <a:sym typeface="+mn-ea"/>
            </a:endParaRPr>
          </a:p>
          <a:p>
            <a:pPr>
              <a:lnSpc>
                <a:spcPct val="115000"/>
              </a:lnSpc>
              <a:spcBef>
                <a:spcPts val="0"/>
              </a:spcBef>
              <a:spcAft>
                <a:spcPts val="0"/>
              </a:spcAft>
            </a:pPr>
            <a:r>
              <a:rPr lang="en-US" altLang="zh-CN">
                <a:solidFill>
                  <a:srgbClr val="0000FF"/>
                </a:solidFill>
              </a:rPr>
              <a:t>END </a:t>
            </a:r>
            <a:r>
              <a:rPr lang="en-US" altLang="zh-CN">
                <a:solidFill>
                  <a:srgbClr val="0000FF"/>
                </a:solidFill>
                <a:sym typeface="+mn-ea"/>
              </a:rPr>
              <a:t>CATCH</a:t>
            </a:r>
            <a:endParaRPr lang="en-US" altLang="zh-CN">
              <a:solidFill>
                <a:schemeClr val="tx1"/>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8" grpId="0"/>
      <p:bldP spid="8" grpId="1"/>
      <p:bldP spid="10" grpId="0" bldLvl="0" animBg="1"/>
      <p:bldP spid="10" grpId="1" animBg="1"/>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5"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1" charset="-122"/>
              </a:rPr>
              <a:t>四、</a:t>
            </a:r>
            <a:r>
              <a:rPr lang="en-US" altLang="zh-CN" sz="3200" dirty="0">
                <a:solidFill>
                  <a:srgbClr val="FF0000"/>
                </a:solidFill>
                <a:ea typeface="黑体" panose="02010609060101010101" pitchFamily="1" charset="-122"/>
              </a:rPr>
              <a:t>T-SQL</a:t>
            </a:r>
            <a:r>
              <a:rPr lang="zh-CN" altLang="en-US" sz="3200" dirty="0">
                <a:solidFill>
                  <a:srgbClr val="FF0000"/>
                </a:solidFill>
                <a:ea typeface="黑体" panose="02010609060101010101" pitchFamily="1" charset="-122"/>
              </a:rPr>
              <a:t>编程</a:t>
            </a:r>
            <a:endParaRPr lang="zh-CN" altLang="en-US" sz="3200" dirty="0">
              <a:solidFill>
                <a:srgbClr val="FF0000"/>
              </a:solidFill>
              <a:ea typeface="黑体" panose="02010609060101010101" pitchFamily="1" charset="-122"/>
            </a:endParaRPr>
          </a:p>
        </p:txBody>
      </p:sp>
      <p:sp>
        <p:nvSpPr>
          <p:cNvPr id="5" name="Rectangle 3"/>
          <p:cNvSpPr txBox="1"/>
          <p:nvPr/>
        </p:nvSpPr>
        <p:spPr>
          <a:xfrm>
            <a:off x="501650" y="897255"/>
            <a:ext cx="6886575" cy="747395"/>
          </a:xfrm>
          <a:prstGeom prst="rect">
            <a:avLst/>
          </a:prstGeom>
          <a:noFill/>
          <a:ln w="9525">
            <a:noFill/>
          </a:ln>
        </p:spPr>
        <p:txBody>
          <a:bodyPr anchor="t" anchorCtr="0"/>
          <a:p>
            <a:pPr>
              <a:buFont typeface="Wingdings" panose="05000000000000000000" pitchFamily="2" charset="2"/>
            </a:pPr>
            <a:r>
              <a:rPr lang="en-US" altLang="zh-CN" sz="2400" dirty="0">
                <a:solidFill>
                  <a:srgbClr val="3333CC"/>
                </a:solidFill>
                <a:latin typeface="宋体" panose="02010600030101010101" pitchFamily="2" charset="-122"/>
                <a:ea typeface="黑体" panose="02010609060101010101" pitchFamily="1" charset="-122"/>
              </a:rPr>
              <a:t>7.</a:t>
            </a:r>
            <a:r>
              <a:rPr lang="zh-CN" altLang="en-US" sz="2400" dirty="0">
                <a:solidFill>
                  <a:srgbClr val="3333CC"/>
                </a:solidFill>
                <a:latin typeface="宋体" panose="02010600030101010101" pitchFamily="2" charset="-122"/>
                <a:ea typeface="黑体" panose="02010609060101010101" pitchFamily="1" charset="-122"/>
              </a:rPr>
              <a:t>自定义</a:t>
            </a:r>
            <a:r>
              <a:rPr lang="zh-CN" altLang="en-US" sz="2400" dirty="0">
                <a:solidFill>
                  <a:srgbClr val="3333CC"/>
                </a:solidFill>
                <a:latin typeface="宋体" panose="02010600030101010101" pitchFamily="2" charset="-122"/>
                <a:ea typeface="黑体" panose="02010609060101010101" pitchFamily="1" charset="-122"/>
              </a:rPr>
              <a:t>函数</a:t>
            </a:r>
            <a:endParaRPr lang="zh-CN" altLang="en-US" sz="2400" dirty="0">
              <a:solidFill>
                <a:srgbClr val="3333CC"/>
              </a:solidFill>
              <a:latin typeface="宋体" panose="02010600030101010101" pitchFamily="2" charset="-122"/>
              <a:ea typeface="黑体" panose="02010609060101010101" pitchFamily="1" charset="-122"/>
            </a:endParaRPr>
          </a:p>
        </p:txBody>
      </p:sp>
      <p:sp>
        <p:nvSpPr>
          <p:cNvPr id="7" name="文本框 20"/>
          <p:cNvSpPr txBox="1"/>
          <p:nvPr/>
        </p:nvSpPr>
        <p:spPr>
          <a:xfrm>
            <a:off x="598170" y="1318895"/>
            <a:ext cx="8047990" cy="476885"/>
          </a:xfrm>
          <a:prstGeom prst="rect">
            <a:avLst/>
          </a:prstGeom>
          <a:noFill/>
          <a:ln w="9525">
            <a:noFill/>
          </a:ln>
        </p:spPr>
        <p:txBody>
          <a:bodyPr wrap="square">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ts val="0"/>
              </a:spcBef>
              <a:spcAft>
                <a:spcPts val="0"/>
              </a:spcAft>
              <a:buClrTx/>
              <a:buSzTx/>
              <a:buFont typeface="Arial" panose="020B0604020202020204" pitchFamily="34" charset="0"/>
              <a:buNone/>
            </a:pPr>
            <a:r>
              <a:rPr lang="zh-CN" dirty="0">
                <a:sym typeface="+mn-ea"/>
              </a:rPr>
              <a:t>（</a:t>
            </a:r>
            <a:r>
              <a:rPr lang="en-US" altLang="zh-CN" dirty="0">
                <a:sym typeface="+mn-ea"/>
              </a:rPr>
              <a:t>1</a:t>
            </a:r>
            <a:r>
              <a:rPr lang="zh-CN" altLang="en-US" dirty="0">
                <a:sym typeface="+mn-ea"/>
              </a:rPr>
              <a:t>）返回标量值的</a:t>
            </a:r>
            <a:r>
              <a:rPr lang="zh-CN" altLang="en-US" dirty="0">
                <a:sym typeface="+mn-ea"/>
              </a:rPr>
              <a:t>函数</a:t>
            </a:r>
            <a:endParaRPr lang="zh-CN" altLang="en-US" dirty="0">
              <a:sym typeface="+mn-ea"/>
            </a:endParaRPr>
          </a:p>
        </p:txBody>
      </p:sp>
      <p:sp>
        <p:nvSpPr>
          <p:cNvPr id="4" name="文本框 3"/>
          <p:cNvSpPr txBox="1"/>
          <p:nvPr>
            <p:custDataLst>
              <p:tags r:id="rId1"/>
            </p:custDataLst>
          </p:nvPr>
        </p:nvSpPr>
        <p:spPr>
          <a:xfrm>
            <a:off x="721995" y="1703070"/>
            <a:ext cx="6746875" cy="2223135"/>
          </a:xfrm>
          <a:prstGeom prst="rect">
            <a:avLst/>
          </a:prstGeom>
          <a:noFill/>
        </p:spPr>
        <p:txBody>
          <a:bodyPr wrap="square" rtlCol="0" anchor="t">
            <a:spAutoFit/>
          </a:bodyPr>
          <a:p>
            <a:pPr>
              <a:lnSpc>
                <a:spcPct val="110000"/>
              </a:lnSpc>
              <a:spcBef>
                <a:spcPts val="0"/>
              </a:spcBef>
              <a:spcAft>
                <a:spcPts val="0"/>
              </a:spcAft>
            </a:pPr>
            <a:r>
              <a:rPr lang="en-US" altLang="zh-CN" sz="1800" dirty="0">
                <a:solidFill>
                  <a:srgbClr val="FF0000"/>
                </a:solidFill>
                <a:sym typeface="+mn-ea"/>
              </a:rPr>
              <a:t>CREATE Function </a:t>
            </a:r>
            <a:r>
              <a:rPr lang="zh-CN" altLang="en-US" sz="1800" dirty="0">
                <a:solidFill>
                  <a:srgbClr val="FF0000"/>
                </a:solidFill>
                <a:sym typeface="+mn-ea"/>
              </a:rPr>
              <a:t>函数名</a:t>
            </a:r>
            <a:r>
              <a:rPr lang="en-US" altLang="zh-CN" sz="1800" dirty="0">
                <a:solidFill>
                  <a:srgbClr val="FF0000"/>
                </a:solidFill>
                <a:sym typeface="+mn-ea"/>
              </a:rPr>
              <a:t>(@</a:t>
            </a:r>
            <a:r>
              <a:rPr lang="zh-CN" altLang="en-US" sz="1800" dirty="0">
                <a:solidFill>
                  <a:srgbClr val="FF0000"/>
                </a:solidFill>
                <a:sym typeface="+mn-ea"/>
              </a:rPr>
              <a:t>变量</a:t>
            </a:r>
            <a:r>
              <a:rPr lang="en-US" altLang="zh-CN" sz="1800" dirty="0">
                <a:solidFill>
                  <a:srgbClr val="FF0000"/>
                </a:solidFill>
                <a:sym typeface="+mn-ea"/>
              </a:rPr>
              <a:t> </a:t>
            </a:r>
            <a:r>
              <a:rPr lang="zh-CN" altLang="en-US" sz="1800" dirty="0">
                <a:solidFill>
                  <a:srgbClr val="FF0000"/>
                </a:solidFill>
                <a:sym typeface="+mn-ea"/>
              </a:rPr>
              <a:t>类型</a:t>
            </a:r>
            <a:r>
              <a:rPr lang="en-US" altLang="zh-CN" sz="1800" dirty="0">
                <a:solidFill>
                  <a:srgbClr val="FF0000"/>
                </a:solidFill>
                <a:sym typeface="+mn-ea"/>
              </a:rPr>
              <a:t>[,…n])</a:t>
            </a:r>
            <a:endParaRPr lang="en-US" altLang="zh-CN" sz="1800" dirty="0">
              <a:solidFill>
                <a:srgbClr val="FF0000"/>
              </a:solidFill>
              <a:sym typeface="+mn-ea"/>
            </a:endParaRPr>
          </a:p>
          <a:p>
            <a:pPr>
              <a:lnSpc>
                <a:spcPct val="110000"/>
              </a:lnSpc>
              <a:spcBef>
                <a:spcPts val="0"/>
              </a:spcBef>
              <a:spcAft>
                <a:spcPts val="0"/>
              </a:spcAft>
            </a:pPr>
            <a:r>
              <a:rPr lang="en-US" altLang="zh-CN" sz="1800" dirty="0">
                <a:solidFill>
                  <a:srgbClr val="FF0000"/>
                </a:solidFill>
                <a:sym typeface="+mn-ea"/>
              </a:rPr>
              <a:t>    Returns </a:t>
            </a:r>
            <a:r>
              <a:rPr lang="zh-CN" altLang="en-US" sz="1800" dirty="0">
                <a:solidFill>
                  <a:srgbClr val="FF0000"/>
                </a:solidFill>
                <a:sym typeface="+mn-ea"/>
              </a:rPr>
              <a:t>返回值的数据类型</a:t>
            </a:r>
            <a:endParaRPr lang="zh-CN" altLang="en-US" sz="1800" dirty="0">
              <a:solidFill>
                <a:srgbClr val="FF0000"/>
              </a:solidFill>
              <a:sym typeface="+mn-ea"/>
            </a:endParaRPr>
          </a:p>
          <a:p>
            <a:pPr>
              <a:lnSpc>
                <a:spcPct val="110000"/>
              </a:lnSpc>
              <a:spcBef>
                <a:spcPts val="0"/>
              </a:spcBef>
              <a:spcAft>
                <a:spcPts val="0"/>
              </a:spcAft>
            </a:pPr>
            <a:r>
              <a:rPr lang="en-US" altLang="zh-CN" sz="1800" dirty="0">
                <a:solidFill>
                  <a:srgbClr val="FF0000"/>
                </a:solidFill>
                <a:sym typeface="+mn-ea"/>
              </a:rPr>
              <a:t>    [AS]</a:t>
            </a:r>
            <a:endParaRPr lang="en-US" altLang="zh-CN" sz="1800" dirty="0">
              <a:solidFill>
                <a:srgbClr val="FF0000"/>
              </a:solidFill>
              <a:sym typeface="+mn-ea"/>
            </a:endParaRPr>
          </a:p>
          <a:p>
            <a:pPr>
              <a:lnSpc>
                <a:spcPct val="110000"/>
              </a:lnSpc>
              <a:spcBef>
                <a:spcPts val="0"/>
              </a:spcBef>
              <a:spcAft>
                <a:spcPts val="0"/>
              </a:spcAft>
            </a:pPr>
            <a:r>
              <a:rPr lang="en-US" altLang="zh-CN" sz="1800" dirty="0">
                <a:solidFill>
                  <a:srgbClr val="FF0000"/>
                </a:solidFill>
                <a:sym typeface="+mn-ea"/>
              </a:rPr>
              <a:t>    BEGIN</a:t>
            </a:r>
            <a:endParaRPr lang="en-US" altLang="zh-CN" sz="1800" dirty="0">
              <a:solidFill>
                <a:srgbClr val="FF0000"/>
              </a:solidFill>
              <a:sym typeface="+mn-ea"/>
            </a:endParaRPr>
          </a:p>
          <a:p>
            <a:pPr>
              <a:lnSpc>
                <a:spcPct val="110000"/>
              </a:lnSpc>
              <a:spcBef>
                <a:spcPts val="0"/>
              </a:spcBef>
              <a:spcAft>
                <a:spcPts val="0"/>
              </a:spcAft>
            </a:pPr>
            <a:r>
              <a:rPr lang="en-US" altLang="zh-CN" sz="1800" dirty="0">
                <a:solidFill>
                  <a:srgbClr val="FF0000"/>
                </a:solidFill>
                <a:sym typeface="+mn-ea"/>
              </a:rPr>
              <a:t>        </a:t>
            </a:r>
            <a:r>
              <a:rPr lang="zh-CN" altLang="en-US" sz="1800" dirty="0">
                <a:solidFill>
                  <a:srgbClr val="FF0000"/>
                </a:solidFill>
                <a:sym typeface="+mn-ea"/>
              </a:rPr>
              <a:t>函数体</a:t>
            </a:r>
            <a:endParaRPr lang="zh-CN" altLang="en-US" sz="1800" dirty="0">
              <a:solidFill>
                <a:srgbClr val="FF0000"/>
              </a:solidFill>
              <a:sym typeface="+mn-ea"/>
            </a:endParaRPr>
          </a:p>
          <a:p>
            <a:pPr>
              <a:lnSpc>
                <a:spcPct val="110000"/>
              </a:lnSpc>
              <a:spcBef>
                <a:spcPts val="0"/>
              </a:spcBef>
              <a:spcAft>
                <a:spcPts val="0"/>
              </a:spcAft>
            </a:pPr>
            <a:r>
              <a:rPr lang="en-US" altLang="zh-CN" sz="1800" dirty="0">
                <a:solidFill>
                  <a:srgbClr val="FF0000"/>
                </a:solidFill>
                <a:sym typeface="+mn-ea"/>
              </a:rPr>
              <a:t>        RETURN </a:t>
            </a:r>
            <a:r>
              <a:rPr lang="zh-CN" altLang="en-US" sz="1800" dirty="0">
                <a:solidFill>
                  <a:srgbClr val="FF0000"/>
                </a:solidFill>
                <a:sym typeface="+mn-ea"/>
              </a:rPr>
              <a:t>表达式</a:t>
            </a:r>
            <a:endParaRPr lang="zh-CN" altLang="en-US" sz="1800" dirty="0">
              <a:solidFill>
                <a:srgbClr val="FF0000"/>
              </a:solidFill>
              <a:sym typeface="+mn-ea"/>
            </a:endParaRPr>
          </a:p>
          <a:p>
            <a:pPr>
              <a:lnSpc>
                <a:spcPct val="110000"/>
              </a:lnSpc>
              <a:spcBef>
                <a:spcPts val="0"/>
              </a:spcBef>
              <a:spcAft>
                <a:spcPts val="0"/>
              </a:spcAft>
            </a:pPr>
            <a:r>
              <a:rPr lang="en-US" altLang="zh-CN" sz="1800" dirty="0">
                <a:solidFill>
                  <a:srgbClr val="FF0000"/>
                </a:solidFill>
                <a:sym typeface="+mn-ea"/>
              </a:rPr>
              <a:t>    END</a:t>
            </a:r>
            <a:endParaRPr lang="en-US" altLang="zh-CN" sz="1800" dirty="0">
              <a:solidFill>
                <a:srgbClr val="FF0000"/>
              </a:solidFill>
              <a:sym typeface="+mn-ea"/>
            </a:endParaRPr>
          </a:p>
        </p:txBody>
      </p:sp>
      <p:sp>
        <p:nvSpPr>
          <p:cNvPr id="3" name="文本框 20"/>
          <p:cNvSpPr txBox="1"/>
          <p:nvPr/>
        </p:nvSpPr>
        <p:spPr>
          <a:xfrm>
            <a:off x="598170" y="3837305"/>
            <a:ext cx="5109845" cy="476885"/>
          </a:xfrm>
          <a:prstGeom prst="rect">
            <a:avLst/>
          </a:prstGeom>
          <a:noFill/>
          <a:ln w="9525">
            <a:noFill/>
          </a:ln>
        </p:spPr>
        <p:txBody>
          <a:bodyPr wrap="square">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ts val="0"/>
              </a:spcBef>
              <a:spcAft>
                <a:spcPts val="0"/>
              </a:spcAft>
              <a:buClrTx/>
              <a:buSzTx/>
              <a:buFont typeface="Arial" panose="020B0604020202020204" pitchFamily="34" charset="0"/>
              <a:buNone/>
            </a:pPr>
            <a:r>
              <a:rPr lang="zh-CN" dirty="0">
                <a:sym typeface="+mn-ea"/>
              </a:rPr>
              <a:t>（</a:t>
            </a:r>
            <a:r>
              <a:rPr lang="en-US" altLang="zh-CN" dirty="0">
                <a:sym typeface="+mn-ea"/>
              </a:rPr>
              <a:t>2</a:t>
            </a:r>
            <a:r>
              <a:rPr lang="zh-CN" altLang="en-US" dirty="0">
                <a:sym typeface="+mn-ea"/>
              </a:rPr>
              <a:t>）返回表</a:t>
            </a:r>
            <a:r>
              <a:rPr lang="zh-CN" altLang="en-US" dirty="0">
                <a:sym typeface="+mn-ea"/>
              </a:rPr>
              <a:t>的函数</a:t>
            </a:r>
            <a:endParaRPr lang="zh-CN" altLang="en-US" dirty="0">
              <a:sym typeface="+mn-ea"/>
            </a:endParaRPr>
          </a:p>
        </p:txBody>
      </p:sp>
      <p:sp>
        <p:nvSpPr>
          <p:cNvPr id="8" name="文本框 7"/>
          <p:cNvSpPr txBox="1"/>
          <p:nvPr>
            <p:custDataLst>
              <p:tags r:id="rId2"/>
            </p:custDataLst>
          </p:nvPr>
        </p:nvSpPr>
        <p:spPr>
          <a:xfrm>
            <a:off x="777875" y="4201160"/>
            <a:ext cx="6746875" cy="1419860"/>
          </a:xfrm>
          <a:prstGeom prst="rect">
            <a:avLst/>
          </a:prstGeom>
          <a:noFill/>
        </p:spPr>
        <p:txBody>
          <a:bodyPr wrap="square" rtlCol="0" anchor="t">
            <a:spAutoFit/>
          </a:bodyPr>
          <a:p>
            <a:pPr>
              <a:lnSpc>
                <a:spcPct val="120000"/>
              </a:lnSpc>
              <a:spcBef>
                <a:spcPts val="0"/>
              </a:spcBef>
              <a:spcAft>
                <a:spcPts val="0"/>
              </a:spcAft>
            </a:pPr>
            <a:r>
              <a:rPr lang="en-US" altLang="zh-CN" sz="1800" dirty="0">
                <a:solidFill>
                  <a:srgbClr val="FF0000"/>
                </a:solidFill>
                <a:sym typeface="+mn-ea"/>
              </a:rPr>
              <a:t>CREATE Function </a:t>
            </a:r>
            <a:r>
              <a:rPr lang="zh-CN" altLang="en-US" sz="1800" dirty="0">
                <a:solidFill>
                  <a:srgbClr val="FF0000"/>
                </a:solidFill>
                <a:sym typeface="+mn-ea"/>
              </a:rPr>
              <a:t>函数名</a:t>
            </a:r>
            <a:r>
              <a:rPr lang="en-US" altLang="zh-CN" sz="1800" dirty="0">
                <a:solidFill>
                  <a:srgbClr val="FF0000"/>
                </a:solidFill>
                <a:sym typeface="+mn-ea"/>
              </a:rPr>
              <a:t>(@</a:t>
            </a:r>
            <a:r>
              <a:rPr lang="zh-CN" altLang="en-US" sz="1800" dirty="0">
                <a:solidFill>
                  <a:srgbClr val="FF0000"/>
                </a:solidFill>
                <a:sym typeface="+mn-ea"/>
              </a:rPr>
              <a:t>变量</a:t>
            </a:r>
            <a:r>
              <a:rPr lang="en-US" altLang="zh-CN" sz="1800" dirty="0">
                <a:solidFill>
                  <a:srgbClr val="FF0000"/>
                </a:solidFill>
                <a:sym typeface="+mn-ea"/>
              </a:rPr>
              <a:t> </a:t>
            </a:r>
            <a:r>
              <a:rPr lang="zh-CN" altLang="en-US" sz="1800" dirty="0">
                <a:solidFill>
                  <a:srgbClr val="FF0000"/>
                </a:solidFill>
                <a:sym typeface="+mn-ea"/>
              </a:rPr>
              <a:t>类型</a:t>
            </a:r>
            <a:r>
              <a:rPr lang="en-US" altLang="zh-CN" sz="1800" dirty="0">
                <a:solidFill>
                  <a:srgbClr val="FF0000"/>
                </a:solidFill>
                <a:sym typeface="+mn-ea"/>
              </a:rPr>
              <a:t>[,…</a:t>
            </a:r>
            <a:r>
              <a:rPr lang="en-US" altLang="zh-CN" sz="1800" dirty="0">
                <a:solidFill>
                  <a:srgbClr val="FF0000"/>
                </a:solidFill>
                <a:sym typeface="+mn-ea"/>
              </a:rPr>
              <a:t>n])</a:t>
            </a:r>
            <a:endParaRPr lang="en-US" altLang="zh-CN" sz="1800" dirty="0">
              <a:solidFill>
                <a:srgbClr val="FF0000"/>
              </a:solidFill>
              <a:sym typeface="+mn-ea"/>
            </a:endParaRPr>
          </a:p>
          <a:p>
            <a:pPr>
              <a:lnSpc>
                <a:spcPct val="120000"/>
              </a:lnSpc>
              <a:spcBef>
                <a:spcPts val="0"/>
              </a:spcBef>
              <a:spcAft>
                <a:spcPts val="0"/>
              </a:spcAft>
            </a:pPr>
            <a:r>
              <a:rPr lang="en-US" altLang="zh-CN" sz="1800" dirty="0">
                <a:solidFill>
                  <a:srgbClr val="FF0000"/>
                </a:solidFill>
                <a:sym typeface="+mn-ea"/>
              </a:rPr>
              <a:t>    Returns TABLE</a:t>
            </a:r>
            <a:endParaRPr lang="zh-CN" altLang="en-US" sz="1800" dirty="0">
              <a:solidFill>
                <a:srgbClr val="FF0000"/>
              </a:solidFill>
              <a:sym typeface="+mn-ea"/>
            </a:endParaRPr>
          </a:p>
          <a:p>
            <a:pPr>
              <a:lnSpc>
                <a:spcPct val="120000"/>
              </a:lnSpc>
              <a:spcBef>
                <a:spcPts val="0"/>
              </a:spcBef>
              <a:spcAft>
                <a:spcPts val="0"/>
              </a:spcAft>
            </a:pPr>
            <a:r>
              <a:rPr lang="en-US" altLang="zh-CN" sz="1800" dirty="0">
                <a:solidFill>
                  <a:srgbClr val="FF0000"/>
                </a:solidFill>
                <a:sym typeface="+mn-ea"/>
              </a:rPr>
              <a:t>    [AS]</a:t>
            </a:r>
            <a:endParaRPr lang="en-US" altLang="zh-CN" sz="1800" dirty="0">
              <a:solidFill>
                <a:srgbClr val="FF0000"/>
              </a:solidFill>
              <a:sym typeface="+mn-ea"/>
            </a:endParaRPr>
          </a:p>
          <a:p>
            <a:pPr>
              <a:lnSpc>
                <a:spcPct val="120000"/>
              </a:lnSpc>
              <a:spcBef>
                <a:spcPts val="0"/>
              </a:spcBef>
              <a:spcAft>
                <a:spcPts val="0"/>
              </a:spcAft>
            </a:pPr>
            <a:r>
              <a:rPr lang="en-US" altLang="zh-CN" sz="1800" dirty="0">
                <a:solidFill>
                  <a:srgbClr val="FF0000"/>
                </a:solidFill>
                <a:sym typeface="+mn-ea"/>
              </a:rPr>
              <a:t>    RETURN  SELECT </a:t>
            </a:r>
            <a:r>
              <a:rPr lang="zh-CN" altLang="en-US" sz="1800" dirty="0">
                <a:solidFill>
                  <a:srgbClr val="FF0000"/>
                </a:solidFill>
                <a:sym typeface="+mn-ea"/>
              </a:rPr>
              <a:t>查询语句</a:t>
            </a:r>
            <a:endParaRPr lang="zh-CN" altLang="en-US" sz="1800" dirty="0">
              <a:solidFill>
                <a:srgbClr val="FF0000"/>
              </a:solidFill>
              <a:sym typeface="+mn-ea"/>
            </a:endParaRPr>
          </a:p>
        </p:txBody>
      </p:sp>
      <p:sp>
        <p:nvSpPr>
          <p:cNvPr id="10" name="文本框 20"/>
          <p:cNvSpPr txBox="1"/>
          <p:nvPr/>
        </p:nvSpPr>
        <p:spPr>
          <a:xfrm>
            <a:off x="598170" y="5621020"/>
            <a:ext cx="2258060" cy="476885"/>
          </a:xfrm>
          <a:prstGeom prst="rect">
            <a:avLst/>
          </a:prstGeom>
          <a:noFill/>
          <a:ln w="9525">
            <a:noFill/>
          </a:ln>
        </p:spPr>
        <p:txBody>
          <a:bodyPr wrap="square">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ts val="0"/>
              </a:spcBef>
              <a:spcAft>
                <a:spcPts val="0"/>
              </a:spcAft>
              <a:buClrTx/>
              <a:buSzTx/>
              <a:buFont typeface="Arial" panose="020B0604020202020204" pitchFamily="34" charset="0"/>
              <a:buNone/>
            </a:pPr>
            <a:r>
              <a:rPr lang="zh-CN" dirty="0">
                <a:sym typeface="+mn-ea"/>
              </a:rPr>
              <a:t>（</a:t>
            </a:r>
            <a:r>
              <a:rPr lang="en-US" altLang="zh-CN" dirty="0">
                <a:sym typeface="+mn-ea"/>
              </a:rPr>
              <a:t>3</a:t>
            </a:r>
            <a:r>
              <a:rPr lang="zh-CN" altLang="en-US" dirty="0">
                <a:sym typeface="+mn-ea"/>
              </a:rPr>
              <a:t>）函数的</a:t>
            </a:r>
            <a:r>
              <a:rPr lang="zh-CN" altLang="en-US" dirty="0">
                <a:sym typeface="+mn-ea"/>
              </a:rPr>
              <a:t>执行</a:t>
            </a:r>
            <a:endParaRPr lang="zh-CN" altLang="en-US" dirty="0">
              <a:sym typeface="+mn-ea"/>
            </a:endParaRPr>
          </a:p>
        </p:txBody>
      </p:sp>
      <p:sp>
        <p:nvSpPr>
          <p:cNvPr id="11" name="文本框 10"/>
          <p:cNvSpPr txBox="1"/>
          <p:nvPr>
            <p:custDataLst>
              <p:tags r:id="rId3"/>
            </p:custDataLst>
          </p:nvPr>
        </p:nvSpPr>
        <p:spPr>
          <a:xfrm>
            <a:off x="2855595" y="5621020"/>
            <a:ext cx="3463290" cy="423545"/>
          </a:xfrm>
          <a:prstGeom prst="rect">
            <a:avLst/>
          </a:prstGeom>
          <a:noFill/>
        </p:spPr>
        <p:txBody>
          <a:bodyPr wrap="square" rtlCol="0" anchor="t">
            <a:spAutoFit/>
          </a:bodyPr>
          <a:p>
            <a:pPr>
              <a:lnSpc>
                <a:spcPct val="120000"/>
              </a:lnSpc>
              <a:spcBef>
                <a:spcPts val="0"/>
              </a:spcBef>
              <a:spcAft>
                <a:spcPts val="0"/>
              </a:spcAft>
            </a:pPr>
            <a:r>
              <a:rPr lang="zh-CN" altLang="en-US" sz="1800" dirty="0">
                <a:solidFill>
                  <a:srgbClr val="FF0000"/>
                </a:solidFill>
                <a:sym typeface="+mn-ea"/>
              </a:rPr>
              <a:t>用户自定义函数直接调用</a:t>
            </a:r>
            <a:r>
              <a:rPr lang="zh-CN" altLang="en-US" sz="1800" dirty="0">
                <a:solidFill>
                  <a:srgbClr val="FF0000"/>
                </a:solidFill>
                <a:sym typeface="+mn-ea"/>
              </a:rPr>
              <a:t>执行。</a:t>
            </a:r>
            <a:endParaRPr lang="zh-CN" altLang="en-US" sz="1800" dirty="0">
              <a:solidFill>
                <a:srgbClr val="FF0000"/>
              </a:solidFill>
              <a:sym typeface="+mn-ea"/>
            </a:endParaRPr>
          </a:p>
        </p:txBody>
      </p:sp>
      <p:sp>
        <p:nvSpPr>
          <p:cNvPr id="13" name="文本框 12"/>
          <p:cNvSpPr txBox="1"/>
          <p:nvPr/>
        </p:nvSpPr>
        <p:spPr>
          <a:xfrm>
            <a:off x="1075690" y="2755265"/>
            <a:ext cx="7734935" cy="3660775"/>
          </a:xfrm>
          <a:prstGeom prst="rect">
            <a:avLst/>
          </a:prstGeom>
          <a:solidFill>
            <a:schemeClr val="bg1"/>
          </a:solidFill>
          <a:ln>
            <a:solidFill>
              <a:schemeClr val="tx1">
                <a:lumMod val="95000"/>
                <a:lumOff val="5000"/>
              </a:schemeClr>
            </a:solidFill>
          </a:ln>
        </p:spPr>
        <p:txBody>
          <a:bodyPr wrap="square" rtlCol="0" anchor="t">
            <a:spAutoFit/>
          </a:bodyPr>
          <a:p>
            <a:pPr>
              <a:lnSpc>
                <a:spcPct val="115000"/>
              </a:lnSpc>
              <a:spcBef>
                <a:spcPts val="0"/>
              </a:spcBef>
              <a:spcAft>
                <a:spcPts val="0"/>
              </a:spcAft>
            </a:pPr>
            <a:r>
              <a:rPr lang="zh-CN" altLang="en-US" sz="2200">
                <a:solidFill>
                  <a:srgbClr val="0000FF"/>
                </a:solidFill>
              </a:rPr>
              <a:t>例</a:t>
            </a:r>
            <a:r>
              <a:rPr lang="en-US" altLang="zh-CN" sz="2200">
                <a:solidFill>
                  <a:srgbClr val="0000FF"/>
                </a:solidFill>
              </a:rPr>
              <a:t>12</a:t>
            </a:r>
            <a:endParaRPr lang="en-US" altLang="zh-CN" sz="2200">
              <a:solidFill>
                <a:srgbClr val="0000FF"/>
              </a:solidFill>
            </a:endParaRPr>
          </a:p>
          <a:p>
            <a:pPr>
              <a:lnSpc>
                <a:spcPct val="115000"/>
              </a:lnSpc>
              <a:spcBef>
                <a:spcPts val="0"/>
              </a:spcBef>
              <a:spcAft>
                <a:spcPts val="0"/>
              </a:spcAft>
            </a:pPr>
            <a:r>
              <a:rPr lang="zh-CN" altLang="en-US">
                <a:solidFill>
                  <a:srgbClr val="0000FF"/>
                </a:solidFill>
              </a:rPr>
              <a:t>定义函数</a:t>
            </a:r>
            <a:endParaRPr lang="en-US" altLang="zh-CN">
              <a:solidFill>
                <a:srgbClr val="0000FF"/>
              </a:solidFill>
            </a:endParaRPr>
          </a:p>
          <a:p>
            <a:pPr>
              <a:lnSpc>
                <a:spcPct val="115000"/>
              </a:lnSpc>
              <a:spcBef>
                <a:spcPts val="0"/>
              </a:spcBef>
              <a:spcAft>
                <a:spcPts val="0"/>
              </a:spcAft>
            </a:pPr>
            <a:r>
              <a:rPr lang="en-US" altLang="zh-CN">
                <a:solidFill>
                  <a:srgbClr val="0000FF"/>
                </a:solidFill>
              </a:rPr>
              <a:t>CREATE FUNCTION </a:t>
            </a:r>
            <a:r>
              <a:rPr lang="en-US" altLang="zh-CN">
                <a:solidFill>
                  <a:schemeClr val="tx1"/>
                </a:solidFill>
              </a:rPr>
              <a:t>ScoreSearch</a:t>
            </a:r>
            <a:endParaRPr lang="en-US" altLang="zh-CN">
              <a:solidFill>
                <a:schemeClr val="tx1"/>
              </a:solidFill>
            </a:endParaRPr>
          </a:p>
          <a:p>
            <a:pPr>
              <a:lnSpc>
                <a:spcPct val="115000"/>
              </a:lnSpc>
              <a:spcBef>
                <a:spcPts val="0"/>
              </a:spcBef>
              <a:spcAft>
                <a:spcPts val="0"/>
              </a:spcAft>
            </a:pPr>
            <a:r>
              <a:rPr lang="en-US" altLang="zh-CN">
                <a:solidFill>
                  <a:srgbClr val="0000FF"/>
                </a:solidFill>
              </a:rPr>
              <a:t>  </a:t>
            </a:r>
            <a:r>
              <a:rPr lang="en-US" altLang="zh-CN">
                <a:solidFill>
                  <a:schemeClr val="tx1"/>
                </a:solidFill>
              </a:rPr>
              <a:t> (</a:t>
            </a:r>
            <a:r>
              <a:rPr lang="en-US" altLang="zh-CN">
                <a:solidFill>
                  <a:srgbClr val="FF0000"/>
                </a:solidFill>
              </a:rPr>
              <a:t>@SNo</a:t>
            </a:r>
            <a:r>
              <a:rPr lang="en-US" altLang="zh-CN">
                <a:solidFill>
                  <a:srgbClr val="0000FF"/>
                </a:solidFill>
              </a:rPr>
              <a:t> varchar(30)</a:t>
            </a:r>
            <a:r>
              <a:rPr lang="en-US" altLang="zh-CN">
                <a:solidFill>
                  <a:schemeClr val="tx1"/>
                </a:solidFill>
              </a:rPr>
              <a:t>)</a:t>
            </a:r>
            <a:endParaRPr lang="en-US" altLang="zh-CN">
              <a:solidFill>
                <a:srgbClr val="0000FF"/>
              </a:solidFill>
            </a:endParaRPr>
          </a:p>
          <a:p>
            <a:pPr>
              <a:lnSpc>
                <a:spcPct val="115000"/>
              </a:lnSpc>
              <a:spcBef>
                <a:spcPts val="0"/>
              </a:spcBef>
              <a:spcAft>
                <a:spcPts val="0"/>
              </a:spcAft>
            </a:pPr>
            <a:r>
              <a:rPr lang="en-US" altLang="zh-CN">
                <a:solidFill>
                  <a:srgbClr val="0000FF"/>
                </a:solidFill>
              </a:rPr>
              <a:t>   RETURNS TABLE</a:t>
            </a:r>
            <a:endParaRPr lang="en-US" altLang="zh-CN">
              <a:solidFill>
                <a:srgbClr val="0000FF"/>
              </a:solidFill>
            </a:endParaRPr>
          </a:p>
          <a:p>
            <a:pPr>
              <a:lnSpc>
                <a:spcPct val="115000"/>
              </a:lnSpc>
              <a:spcBef>
                <a:spcPts val="0"/>
              </a:spcBef>
              <a:spcAft>
                <a:spcPts val="0"/>
              </a:spcAft>
            </a:pPr>
            <a:r>
              <a:rPr lang="en-US" altLang="zh-CN">
                <a:solidFill>
                  <a:srgbClr val="0000FF"/>
                </a:solidFill>
              </a:rPr>
              <a:t>   AS</a:t>
            </a:r>
            <a:endParaRPr lang="en-US" altLang="zh-CN">
              <a:solidFill>
                <a:srgbClr val="0000FF"/>
              </a:solidFill>
            </a:endParaRPr>
          </a:p>
          <a:p>
            <a:pPr>
              <a:lnSpc>
                <a:spcPct val="115000"/>
              </a:lnSpc>
              <a:spcBef>
                <a:spcPts val="0"/>
              </a:spcBef>
              <a:spcAft>
                <a:spcPts val="0"/>
              </a:spcAft>
            </a:pPr>
            <a:r>
              <a:rPr lang="en-US" altLang="zh-CN">
                <a:solidFill>
                  <a:srgbClr val="0000FF"/>
                </a:solidFill>
              </a:rPr>
              <a:t>   RETURN(SELECT </a:t>
            </a:r>
            <a:r>
              <a:rPr lang="en-US" altLang="zh-CN">
                <a:solidFill>
                  <a:schemeClr val="tx1"/>
                </a:solidFill>
              </a:rPr>
              <a:t>Ctake.CID as 课程编码,CName 名称,mark 成绩 </a:t>
            </a:r>
            <a:r>
              <a:rPr lang="en-US" altLang="zh-CN">
                <a:solidFill>
                  <a:srgbClr val="0000FF"/>
                </a:solidFill>
              </a:rPr>
              <a:t>FROM </a:t>
            </a:r>
            <a:r>
              <a:rPr lang="en-US" altLang="zh-CN">
                <a:solidFill>
                  <a:schemeClr val="tx1"/>
                </a:solidFill>
              </a:rPr>
              <a:t>Ctake,Course </a:t>
            </a:r>
            <a:r>
              <a:rPr lang="en-US" altLang="zh-CN">
                <a:solidFill>
                  <a:srgbClr val="0000FF"/>
                </a:solidFill>
              </a:rPr>
              <a:t>WHERE</a:t>
            </a:r>
            <a:endParaRPr lang="en-US" altLang="zh-CN">
              <a:solidFill>
                <a:srgbClr val="0000FF"/>
              </a:solidFill>
            </a:endParaRPr>
          </a:p>
          <a:p>
            <a:pPr>
              <a:lnSpc>
                <a:spcPct val="115000"/>
              </a:lnSpc>
              <a:spcBef>
                <a:spcPts val="0"/>
              </a:spcBef>
              <a:spcAft>
                <a:spcPts val="0"/>
              </a:spcAft>
            </a:pPr>
            <a:r>
              <a:rPr lang="en-US" altLang="zh-CN">
                <a:solidFill>
                  <a:srgbClr val="0000FF"/>
                </a:solidFill>
              </a:rPr>
              <a:t>           </a:t>
            </a:r>
            <a:r>
              <a:rPr lang="en-US" altLang="zh-CN">
                <a:solidFill>
                  <a:schemeClr val="tx1"/>
                </a:solidFill>
              </a:rPr>
              <a:t>Ctake.SID=</a:t>
            </a:r>
            <a:r>
              <a:rPr lang="en-US" altLang="zh-CN">
                <a:solidFill>
                  <a:srgbClr val="FF0000"/>
                </a:solidFill>
              </a:rPr>
              <a:t>@SNo</a:t>
            </a:r>
            <a:r>
              <a:rPr lang="en-US" altLang="zh-CN">
                <a:solidFill>
                  <a:srgbClr val="0000FF"/>
                </a:solidFill>
              </a:rPr>
              <a:t> and </a:t>
            </a:r>
            <a:r>
              <a:rPr lang="en-US" altLang="zh-CN">
                <a:solidFill>
                  <a:schemeClr val="tx1"/>
                </a:solidFill>
              </a:rPr>
              <a:t>Ctake.Cid=course.Cid</a:t>
            </a:r>
            <a:r>
              <a:rPr lang="en-US" altLang="zh-CN">
                <a:solidFill>
                  <a:srgbClr val="0000FF"/>
                </a:solidFill>
              </a:rPr>
              <a:t>)</a:t>
            </a:r>
            <a:endParaRPr lang="en-US" altLang="zh-CN">
              <a:solidFill>
                <a:srgbClr val="0000FF"/>
              </a:solidFill>
            </a:endParaRPr>
          </a:p>
          <a:p>
            <a:pPr>
              <a:lnSpc>
                <a:spcPct val="115000"/>
              </a:lnSpc>
              <a:spcBef>
                <a:spcPts val="0"/>
              </a:spcBef>
              <a:spcAft>
                <a:spcPts val="0"/>
              </a:spcAft>
            </a:pPr>
            <a:r>
              <a:rPr lang="zh-CN" altLang="en-US">
                <a:solidFill>
                  <a:schemeClr val="tx1"/>
                </a:solidFill>
              </a:rPr>
              <a:t>执行</a:t>
            </a:r>
            <a:r>
              <a:rPr lang="zh-CN" altLang="en-US">
                <a:solidFill>
                  <a:schemeClr val="tx1"/>
                </a:solidFill>
              </a:rPr>
              <a:t>函数：</a:t>
            </a:r>
            <a:endParaRPr lang="zh-CN" altLang="en-US">
              <a:solidFill>
                <a:schemeClr val="tx1"/>
              </a:solidFill>
            </a:endParaRPr>
          </a:p>
          <a:p>
            <a:pPr>
              <a:lnSpc>
                <a:spcPct val="115000"/>
              </a:lnSpc>
              <a:spcBef>
                <a:spcPts val="0"/>
              </a:spcBef>
              <a:spcAft>
                <a:spcPts val="0"/>
              </a:spcAft>
            </a:pPr>
            <a:r>
              <a:rPr lang="en-US" altLang="zh-CN">
                <a:solidFill>
                  <a:schemeClr val="tx1"/>
                </a:solidFill>
              </a:rPr>
              <a:t>SELECT * FROM </a:t>
            </a:r>
            <a:r>
              <a:rPr lang="en-US" altLang="zh-CN">
                <a:sym typeface="+mn-ea"/>
              </a:rPr>
              <a:t>ScoreSearch</a:t>
            </a:r>
            <a:r>
              <a:rPr lang="en-US" altLang="zh-CN">
                <a:solidFill>
                  <a:srgbClr val="0000FF"/>
                </a:solidFill>
                <a:sym typeface="+mn-ea"/>
              </a:rPr>
              <a:t>(‘2015031001’)</a:t>
            </a:r>
            <a:endParaRPr lang="zh-CN" altLang="en-US">
              <a:solidFill>
                <a:srgbClr val="0000FF"/>
              </a:solidFill>
              <a:sym typeface="+mn-ea"/>
            </a:endParaRPr>
          </a:p>
        </p:txBody>
      </p:sp>
      <p:pic>
        <p:nvPicPr>
          <p:cNvPr id="2" name="图片 1"/>
          <p:cNvPicPr>
            <a:picLocks noChangeAspect="1"/>
          </p:cNvPicPr>
          <p:nvPr/>
        </p:nvPicPr>
        <p:blipFill>
          <a:blip r:embed="rId4"/>
          <a:stretch>
            <a:fillRect/>
          </a:stretch>
        </p:blipFill>
        <p:spPr>
          <a:xfrm>
            <a:off x="4546600" y="832485"/>
            <a:ext cx="4320540" cy="1851660"/>
          </a:xfrm>
          <a:prstGeom prst="rect">
            <a:avLst/>
          </a:prstGeom>
          <a:ln>
            <a:solidFill>
              <a:schemeClr val="accent1"/>
            </a:solid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ldLvl="0" animBg="1"/>
      <p:bldP spid="13" grpId="1" animBg="1"/>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 name="文本框 14"/>
          <p:cNvSpPr txBox="1"/>
          <p:nvPr/>
        </p:nvSpPr>
        <p:spPr>
          <a:xfrm>
            <a:off x="406400" y="-19050"/>
            <a:ext cx="2681288" cy="830263"/>
          </a:xfrm>
          <a:prstGeom prst="rect">
            <a:avLst/>
          </a:prstGeom>
          <a:noFill/>
        </p:spPr>
        <p:txBody>
          <a:bodyPr wrap="none">
            <a:spAutoFit/>
          </a:bodyPr>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问题研讨：</a:t>
            </a:r>
            <a:endParaRPr kumimoji="0" lang="zh-CN" altLang="en-US" sz="3200" kern="1200" cap="none" spc="0" normalizeH="0" baseline="0" noProof="0" dirty="0">
              <a:latin typeface="Arial" panose="020B0604020202020204" pitchFamily="34" charset="0"/>
              <a:ea typeface="宋体" panose="02010600030101010101" pitchFamily="2" charset="-122"/>
              <a:cs typeface="+mn-cs"/>
            </a:endParaRPr>
          </a:p>
        </p:txBody>
      </p:sp>
      <p:graphicFrame>
        <p:nvGraphicFramePr>
          <p:cNvPr id="3" name="表格 2"/>
          <p:cNvGraphicFramePr/>
          <p:nvPr/>
        </p:nvGraphicFramePr>
        <p:xfrm>
          <a:off x="2159000" y="1477328"/>
          <a:ext cx="4519613" cy="381000"/>
        </p:xfrm>
        <a:graphic>
          <a:graphicData uri="http://schemas.openxmlformats.org/drawingml/2006/table">
            <a:tbl>
              <a:tblPr firstRow="1" bandRow="1">
                <a:tableStyleId>{5C22544A-7EE6-4342-B048-85BDC9FD1C3A}</a:tableStyleId>
              </a:tblPr>
              <a:tblGrid>
                <a:gridCol w="1067845"/>
                <a:gridCol w="1224657"/>
                <a:gridCol w="1124348"/>
                <a:gridCol w="1102763"/>
              </a:tblGrid>
              <a:tr h="381000">
                <a:tc>
                  <a:txBody>
                    <a:bodyPr/>
                    <a:lstStyle/>
                    <a:p>
                      <a:pPr>
                        <a:buNone/>
                      </a:pPr>
                      <a:r>
                        <a:rPr lang="zh-CN" altLang="en-US" sz="2000" u="sng">
                          <a:solidFill>
                            <a:schemeClr val="tx1"/>
                          </a:solidFill>
                        </a:rPr>
                        <a:t>sno</a:t>
                      </a:r>
                      <a:endParaRPr lang="zh-CN" altLang="en-US" sz="2000" u="sng">
                        <a:solidFill>
                          <a:schemeClr val="tx1"/>
                        </a:solidFill>
                      </a:endParaRPr>
                    </a:p>
                  </a:txBody>
                  <a:tcPr marL="91421" marR="91421"/>
                </a:tc>
                <a:tc>
                  <a:txBody>
                    <a:bodyPr/>
                    <a:lstStyle/>
                    <a:p>
                      <a:pPr>
                        <a:buNone/>
                      </a:pPr>
                      <a:r>
                        <a:rPr lang="en-US" altLang="zh-CN" sz="2000">
                          <a:solidFill>
                            <a:schemeClr val="tx1"/>
                          </a:solidFill>
                        </a:rPr>
                        <a:t>sname</a:t>
                      </a:r>
                      <a:endParaRPr lang="en-US" altLang="zh-CN" sz="2000">
                        <a:solidFill>
                          <a:schemeClr val="tx1"/>
                        </a:solidFill>
                      </a:endParaRPr>
                    </a:p>
                  </a:txBody>
                  <a:tcPr marL="91421" marR="91421"/>
                </a:tc>
                <a:tc>
                  <a:txBody>
                    <a:bodyPr/>
                    <a:lstStyle/>
                    <a:p>
                      <a:pPr>
                        <a:buNone/>
                      </a:pPr>
                      <a:r>
                        <a:rPr lang="en-US" altLang="zh-CN" sz="2000">
                          <a:solidFill>
                            <a:schemeClr val="tx1"/>
                          </a:solidFill>
                        </a:rPr>
                        <a:t>sage</a:t>
                      </a:r>
                      <a:endParaRPr lang="en-US" altLang="zh-CN" sz="2000">
                        <a:solidFill>
                          <a:schemeClr val="tx1"/>
                        </a:solidFill>
                      </a:endParaRPr>
                    </a:p>
                  </a:txBody>
                  <a:tcPr marL="91421" marR="91421"/>
                </a:tc>
                <a:tc>
                  <a:txBody>
                    <a:bodyPr/>
                    <a:lstStyle/>
                    <a:p>
                      <a:pPr>
                        <a:buNone/>
                      </a:pPr>
                      <a:r>
                        <a:rPr lang="en-US" altLang="zh-CN" sz="2000">
                          <a:solidFill>
                            <a:schemeClr val="tx1"/>
                          </a:solidFill>
                        </a:rPr>
                        <a:t>gender</a:t>
                      </a:r>
                      <a:endParaRPr lang="en-US" altLang="zh-CN" sz="2000">
                        <a:solidFill>
                          <a:schemeClr val="tx1"/>
                        </a:solidFill>
                      </a:endParaRPr>
                    </a:p>
                  </a:txBody>
                  <a:tcPr marL="91421" marR="91421"/>
                </a:tc>
              </a:tr>
            </a:tbl>
          </a:graphicData>
        </a:graphic>
      </p:graphicFrame>
      <p:sp>
        <p:nvSpPr>
          <p:cNvPr id="121870" name="文本框 3"/>
          <p:cNvSpPr txBox="1"/>
          <p:nvPr/>
        </p:nvSpPr>
        <p:spPr>
          <a:xfrm>
            <a:off x="757238" y="1391603"/>
            <a:ext cx="1401762" cy="42989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t>stu</a:t>
            </a:r>
            <a:endParaRPr lang="zh-CN" altLang="en-US" sz="2200" dirty="0"/>
          </a:p>
        </p:txBody>
      </p:sp>
      <p:sp>
        <p:nvSpPr>
          <p:cNvPr id="121880" name="文本框 15"/>
          <p:cNvSpPr txBox="1"/>
          <p:nvPr/>
        </p:nvSpPr>
        <p:spPr>
          <a:xfrm>
            <a:off x="755650" y="1882140"/>
            <a:ext cx="1403350" cy="546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t>course</a:t>
            </a:r>
            <a:endParaRPr lang="zh-CN" altLang="en-US" sz="2200" dirty="0"/>
          </a:p>
        </p:txBody>
      </p:sp>
      <p:graphicFrame>
        <p:nvGraphicFramePr>
          <p:cNvPr id="17" name="表格 16"/>
          <p:cNvGraphicFramePr/>
          <p:nvPr/>
        </p:nvGraphicFramePr>
        <p:xfrm>
          <a:off x="2159000" y="1967865"/>
          <a:ext cx="3417888" cy="381000"/>
        </p:xfrm>
        <a:graphic>
          <a:graphicData uri="http://schemas.openxmlformats.org/drawingml/2006/table">
            <a:tbl>
              <a:tblPr firstRow="1" bandRow="1">
                <a:tableStyleId>{5C22544A-7EE6-4342-B048-85BDC9FD1C3A}</a:tableStyleId>
              </a:tblPr>
              <a:tblGrid>
                <a:gridCol w="1068169"/>
                <a:gridCol w="1225029"/>
                <a:gridCol w="1124690"/>
              </a:tblGrid>
              <a:tr h="381000">
                <a:tc>
                  <a:txBody>
                    <a:bodyPr/>
                    <a:lstStyle/>
                    <a:p>
                      <a:pPr>
                        <a:buNone/>
                      </a:pPr>
                      <a:r>
                        <a:rPr lang="en-US" altLang="zh-CN" sz="2000" u="sng">
                          <a:solidFill>
                            <a:schemeClr val="tx1"/>
                          </a:solidFill>
                        </a:rPr>
                        <a:t>c</a:t>
                      </a:r>
                      <a:r>
                        <a:rPr lang="zh-CN" altLang="en-US" sz="2000" u="sng">
                          <a:solidFill>
                            <a:schemeClr val="tx1"/>
                          </a:solidFill>
                        </a:rPr>
                        <a:t>no</a:t>
                      </a:r>
                      <a:endParaRPr lang="zh-CN" altLang="en-US" sz="2000" u="sng">
                        <a:solidFill>
                          <a:schemeClr val="tx1"/>
                        </a:solidFill>
                      </a:endParaRPr>
                    </a:p>
                  </a:txBody>
                  <a:tcPr marL="91449" marR="91449"/>
                </a:tc>
                <a:tc>
                  <a:txBody>
                    <a:bodyPr/>
                    <a:lstStyle/>
                    <a:p>
                      <a:pPr>
                        <a:buNone/>
                      </a:pPr>
                      <a:r>
                        <a:rPr lang="en-US" altLang="zh-CN" sz="2000">
                          <a:solidFill>
                            <a:schemeClr val="tx1"/>
                          </a:solidFill>
                        </a:rPr>
                        <a:t>cname</a:t>
                      </a:r>
                      <a:endParaRPr lang="en-US" altLang="zh-CN" sz="2000">
                        <a:solidFill>
                          <a:schemeClr val="tx1"/>
                        </a:solidFill>
                      </a:endParaRPr>
                    </a:p>
                  </a:txBody>
                  <a:tcPr marL="91449" marR="91449"/>
                </a:tc>
                <a:tc>
                  <a:txBody>
                    <a:bodyPr/>
                    <a:lstStyle/>
                    <a:p>
                      <a:pPr>
                        <a:buNone/>
                      </a:pPr>
                      <a:r>
                        <a:rPr lang="en-US" altLang="zh-CN" sz="2000">
                          <a:solidFill>
                            <a:schemeClr val="tx1"/>
                          </a:solidFill>
                        </a:rPr>
                        <a:t>credit</a:t>
                      </a:r>
                      <a:endParaRPr lang="en-US" altLang="zh-CN" sz="2000">
                        <a:solidFill>
                          <a:schemeClr val="tx1"/>
                        </a:solidFill>
                      </a:endParaRPr>
                    </a:p>
                  </a:txBody>
                  <a:tcPr marL="91449" marR="91449"/>
                </a:tc>
              </a:tr>
            </a:tbl>
          </a:graphicData>
        </a:graphic>
      </p:graphicFrame>
      <p:sp>
        <p:nvSpPr>
          <p:cNvPr id="121891" name="文本框 17"/>
          <p:cNvSpPr txBox="1"/>
          <p:nvPr/>
        </p:nvSpPr>
        <p:spPr>
          <a:xfrm>
            <a:off x="771525" y="2328228"/>
            <a:ext cx="1401763" cy="42989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200" dirty="0"/>
              <a:t>ctake</a:t>
            </a:r>
            <a:endParaRPr lang="en-US" altLang="zh-CN" sz="2200" dirty="0"/>
          </a:p>
        </p:txBody>
      </p:sp>
      <p:graphicFrame>
        <p:nvGraphicFramePr>
          <p:cNvPr id="19" name="表格 18"/>
          <p:cNvGraphicFramePr/>
          <p:nvPr>
            <p:custDataLst>
              <p:tags r:id="rId1"/>
            </p:custDataLst>
          </p:nvPr>
        </p:nvGraphicFramePr>
        <p:xfrm>
          <a:off x="2159000" y="2475865"/>
          <a:ext cx="3416300" cy="398145"/>
        </p:xfrm>
        <a:graphic>
          <a:graphicData uri="http://schemas.openxmlformats.org/drawingml/2006/table">
            <a:tbl>
              <a:tblPr firstRow="1" bandRow="1">
                <a:tableStyleId>{5C22544A-7EE6-4342-B048-85BDC9FD1C3A}</a:tableStyleId>
              </a:tblPr>
              <a:tblGrid>
                <a:gridCol w="1067435"/>
                <a:gridCol w="1224915"/>
                <a:gridCol w="1123950"/>
              </a:tblGrid>
              <a:tr h="398145">
                <a:tc>
                  <a:txBody>
                    <a:bodyPr/>
                    <a:lstStyle/>
                    <a:p>
                      <a:pPr>
                        <a:buNone/>
                      </a:pPr>
                      <a:r>
                        <a:rPr lang="en-US" altLang="zh-CN" sz="2000" u="sng">
                          <a:solidFill>
                            <a:srgbClr val="0033CC"/>
                          </a:solidFill>
                        </a:rPr>
                        <a:t>s</a:t>
                      </a:r>
                      <a:r>
                        <a:rPr lang="zh-CN" altLang="en-US" sz="2000" u="sng">
                          <a:solidFill>
                            <a:srgbClr val="0033CC"/>
                          </a:solidFill>
                        </a:rPr>
                        <a:t>no</a:t>
                      </a:r>
                      <a:endParaRPr lang="zh-CN" altLang="en-US" sz="2000" u="sng">
                        <a:solidFill>
                          <a:srgbClr val="0033CC"/>
                        </a:solidFill>
                      </a:endParaRPr>
                    </a:p>
                  </a:txBody>
                  <a:tcPr marL="91406" marR="91406" marT="45594" marB="45594"/>
                </a:tc>
                <a:tc>
                  <a:txBody>
                    <a:bodyPr/>
                    <a:lstStyle/>
                    <a:p>
                      <a:pPr>
                        <a:buNone/>
                      </a:pPr>
                      <a:r>
                        <a:rPr lang="en-US" altLang="zh-CN" sz="2000" u="sng">
                          <a:solidFill>
                            <a:srgbClr val="0033CC"/>
                          </a:solidFill>
                        </a:rPr>
                        <a:t>cno</a:t>
                      </a:r>
                      <a:endParaRPr lang="en-US" altLang="zh-CN" sz="2000" u="sng">
                        <a:solidFill>
                          <a:srgbClr val="0033CC"/>
                        </a:solidFill>
                      </a:endParaRPr>
                    </a:p>
                  </a:txBody>
                  <a:tcPr marL="91406" marR="91406" marT="45594" marB="45594"/>
                </a:tc>
                <a:tc>
                  <a:txBody>
                    <a:bodyPr/>
                    <a:lstStyle/>
                    <a:p>
                      <a:pPr>
                        <a:buNone/>
                      </a:pPr>
                      <a:r>
                        <a:rPr lang="en-US" altLang="zh-CN" sz="2000">
                          <a:solidFill>
                            <a:schemeClr val="tx1"/>
                          </a:solidFill>
                        </a:rPr>
                        <a:t>mark</a:t>
                      </a:r>
                      <a:endParaRPr lang="en-US" altLang="zh-CN" sz="2000">
                        <a:solidFill>
                          <a:schemeClr val="tx1"/>
                        </a:solidFill>
                      </a:endParaRPr>
                    </a:p>
                  </a:txBody>
                  <a:tcPr marL="91406" marR="91406" marT="45594" marB="45594"/>
                </a:tc>
              </a:tr>
            </a:tbl>
          </a:graphicData>
        </a:graphic>
      </p:graphicFrame>
      <p:sp>
        <p:nvSpPr>
          <p:cNvPr id="121903" name="文本框 20"/>
          <p:cNvSpPr txBox="1"/>
          <p:nvPr/>
        </p:nvSpPr>
        <p:spPr>
          <a:xfrm>
            <a:off x="415925" y="2976880"/>
            <a:ext cx="8509635" cy="42989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sym typeface="+mn-ea"/>
              </a:rPr>
              <a:t>（</a:t>
            </a:r>
            <a:r>
              <a:rPr lang="en-US" altLang="zh-CN" sz="2200" dirty="0">
                <a:sym typeface="+mn-ea"/>
              </a:rPr>
              <a:t>1</a:t>
            </a:r>
            <a:r>
              <a:rPr lang="zh-CN" altLang="en-US" sz="2200" dirty="0">
                <a:sym typeface="+mn-ea"/>
              </a:rPr>
              <a:t>）定义查询任课教师按课程号查询学生成绩的函数</a:t>
            </a:r>
            <a:r>
              <a:rPr lang="en-US" altLang="zh-CN" sz="2200">
                <a:sym typeface="+mn-ea"/>
              </a:rPr>
              <a:t>T_C_Search</a:t>
            </a:r>
            <a:endParaRPr lang="zh-CN" altLang="en-US" sz="2200" dirty="0">
              <a:sym typeface="+mn-ea"/>
            </a:endParaRPr>
          </a:p>
        </p:txBody>
      </p:sp>
      <p:sp>
        <p:nvSpPr>
          <p:cNvPr id="121902" name="文本框 19"/>
          <p:cNvSpPr txBox="1"/>
          <p:nvPr/>
        </p:nvSpPr>
        <p:spPr>
          <a:xfrm>
            <a:off x="604838" y="860425"/>
            <a:ext cx="4331335" cy="55308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ct val="0"/>
              </a:spcBef>
              <a:buClrTx/>
              <a:buSzTx/>
              <a:buFont typeface="Arial" panose="020B0604020202020204" pitchFamily="34" charset="0"/>
              <a:buNone/>
            </a:pPr>
            <a:r>
              <a:rPr lang="en-US" altLang="zh-CN" sz="2400" dirty="0">
                <a:sym typeface="+mn-ea"/>
              </a:rPr>
              <a:t>1</a:t>
            </a:r>
            <a:r>
              <a:rPr lang="zh-CN" altLang="en-US" sz="2400" dirty="0">
                <a:sym typeface="+mn-ea"/>
              </a:rPr>
              <a:t>、设学生数据库有如下关系：</a:t>
            </a:r>
            <a:endParaRPr lang="zh-CN" altLang="en-US" sz="2400" dirty="0">
              <a:sym typeface="+mn-ea"/>
            </a:endParaRPr>
          </a:p>
        </p:txBody>
      </p:sp>
      <p:sp>
        <p:nvSpPr>
          <p:cNvPr id="2" name="文本框 1"/>
          <p:cNvSpPr txBox="1"/>
          <p:nvPr/>
        </p:nvSpPr>
        <p:spPr>
          <a:xfrm>
            <a:off x="605155" y="3475990"/>
            <a:ext cx="8397875" cy="2214880"/>
          </a:xfrm>
          <a:prstGeom prst="rect">
            <a:avLst/>
          </a:prstGeom>
          <a:noFill/>
        </p:spPr>
        <p:txBody>
          <a:bodyPr wrap="square" rtlCol="0" anchor="t">
            <a:spAutoFit/>
          </a:bodyPr>
          <a:p>
            <a:pPr>
              <a:lnSpc>
                <a:spcPct val="115000"/>
              </a:lnSpc>
              <a:spcBef>
                <a:spcPts val="0"/>
              </a:spcBef>
              <a:spcAft>
                <a:spcPts val="0"/>
              </a:spcAft>
            </a:pPr>
            <a:r>
              <a:rPr lang="en-US" altLang="zh-CN" sz="2000">
                <a:solidFill>
                  <a:srgbClr val="0000FF"/>
                </a:solidFill>
                <a:sym typeface="+mn-ea"/>
              </a:rPr>
              <a:t>CREATE FUNCTION</a:t>
            </a:r>
            <a:r>
              <a:rPr lang="en-US" altLang="zh-CN" sz="2000">
                <a:sym typeface="+mn-ea"/>
              </a:rPr>
              <a:t> T_C_Search</a:t>
            </a:r>
            <a:endParaRPr lang="en-US" altLang="zh-CN" sz="2000">
              <a:sym typeface="+mn-ea"/>
            </a:endParaRPr>
          </a:p>
          <a:p>
            <a:pPr>
              <a:lnSpc>
                <a:spcPct val="115000"/>
              </a:lnSpc>
              <a:spcBef>
                <a:spcPts val="0"/>
              </a:spcBef>
              <a:spcAft>
                <a:spcPts val="0"/>
              </a:spcAft>
            </a:pPr>
            <a:r>
              <a:rPr lang="en-US" altLang="zh-CN" sz="2000">
                <a:sym typeface="+mn-ea"/>
              </a:rPr>
              <a:t>   (</a:t>
            </a:r>
            <a:r>
              <a:rPr lang="en-US" altLang="zh-CN" sz="2000">
                <a:solidFill>
                  <a:srgbClr val="FF0000"/>
                </a:solidFill>
                <a:sym typeface="+mn-ea"/>
              </a:rPr>
              <a:t>@CNo</a:t>
            </a:r>
            <a:r>
              <a:rPr lang="en-US" altLang="zh-CN" sz="2000">
                <a:sym typeface="+mn-ea"/>
              </a:rPr>
              <a:t> </a:t>
            </a:r>
            <a:r>
              <a:rPr lang="en-US" altLang="zh-CN" sz="2000">
                <a:solidFill>
                  <a:srgbClr val="0000FF"/>
                </a:solidFill>
                <a:sym typeface="+mn-ea"/>
              </a:rPr>
              <a:t>varchar(30)</a:t>
            </a:r>
            <a:r>
              <a:rPr lang="en-US" altLang="zh-CN" sz="2000">
                <a:sym typeface="+mn-ea"/>
              </a:rPr>
              <a:t>)</a:t>
            </a:r>
            <a:endParaRPr lang="en-US" altLang="zh-CN" sz="2000">
              <a:sym typeface="+mn-ea"/>
            </a:endParaRPr>
          </a:p>
          <a:p>
            <a:pPr>
              <a:lnSpc>
                <a:spcPct val="115000"/>
              </a:lnSpc>
              <a:spcBef>
                <a:spcPts val="0"/>
              </a:spcBef>
              <a:spcAft>
                <a:spcPts val="0"/>
              </a:spcAft>
            </a:pPr>
            <a:r>
              <a:rPr lang="en-US" altLang="zh-CN" sz="2000">
                <a:sym typeface="+mn-ea"/>
              </a:rPr>
              <a:t>   </a:t>
            </a:r>
            <a:r>
              <a:rPr lang="en-US" altLang="zh-CN" sz="2000">
                <a:solidFill>
                  <a:srgbClr val="0000FF"/>
                </a:solidFill>
                <a:sym typeface="+mn-ea"/>
              </a:rPr>
              <a:t>RETURNS TABLE</a:t>
            </a:r>
            <a:endParaRPr lang="en-US" altLang="zh-CN" sz="2000">
              <a:solidFill>
                <a:srgbClr val="0000FF"/>
              </a:solidFill>
              <a:sym typeface="+mn-ea"/>
            </a:endParaRPr>
          </a:p>
          <a:p>
            <a:pPr>
              <a:lnSpc>
                <a:spcPct val="115000"/>
              </a:lnSpc>
              <a:spcBef>
                <a:spcPts val="0"/>
              </a:spcBef>
              <a:spcAft>
                <a:spcPts val="0"/>
              </a:spcAft>
            </a:pPr>
            <a:r>
              <a:rPr lang="en-US" altLang="zh-CN" sz="2000">
                <a:sym typeface="+mn-ea"/>
              </a:rPr>
              <a:t>   </a:t>
            </a:r>
            <a:r>
              <a:rPr lang="en-US" altLang="zh-CN" sz="2000">
                <a:solidFill>
                  <a:srgbClr val="0000FF"/>
                </a:solidFill>
                <a:sym typeface="+mn-ea"/>
              </a:rPr>
              <a:t>AS</a:t>
            </a:r>
            <a:endParaRPr lang="en-US" altLang="zh-CN" sz="2000">
              <a:solidFill>
                <a:srgbClr val="0000FF"/>
              </a:solidFill>
              <a:sym typeface="+mn-ea"/>
            </a:endParaRPr>
          </a:p>
          <a:p>
            <a:pPr>
              <a:lnSpc>
                <a:spcPct val="115000"/>
              </a:lnSpc>
              <a:spcBef>
                <a:spcPts val="0"/>
              </a:spcBef>
              <a:spcAft>
                <a:spcPts val="0"/>
              </a:spcAft>
            </a:pPr>
            <a:r>
              <a:rPr lang="en-US" altLang="zh-CN" sz="2000">
                <a:solidFill>
                  <a:srgbClr val="0000FF"/>
                </a:solidFill>
                <a:sym typeface="+mn-ea"/>
              </a:rPr>
              <a:t>   RETURN</a:t>
            </a:r>
            <a:r>
              <a:rPr lang="en-US" altLang="zh-CN" sz="2000">
                <a:sym typeface="+mn-ea"/>
              </a:rPr>
              <a:t>(</a:t>
            </a:r>
            <a:r>
              <a:rPr lang="en-US" altLang="zh-CN" sz="2000">
                <a:solidFill>
                  <a:srgbClr val="0000FF"/>
                </a:solidFill>
                <a:sym typeface="+mn-ea"/>
              </a:rPr>
              <a:t>SELECT</a:t>
            </a:r>
            <a:r>
              <a:rPr lang="en-US" altLang="zh-CN" sz="2000">
                <a:sym typeface="+mn-ea"/>
              </a:rPr>
              <a:t> Ctake.SID as 学号,SName 姓名,mark 成绩 </a:t>
            </a:r>
            <a:r>
              <a:rPr lang="en-US" altLang="zh-CN" sz="2000">
                <a:solidFill>
                  <a:srgbClr val="0000FF"/>
                </a:solidFill>
                <a:sym typeface="+mn-ea"/>
              </a:rPr>
              <a:t>FROM</a:t>
            </a:r>
            <a:r>
              <a:rPr lang="en-US" altLang="zh-CN" sz="2000">
                <a:sym typeface="+mn-ea"/>
              </a:rPr>
              <a:t>   </a:t>
            </a:r>
            <a:endParaRPr lang="en-US" altLang="zh-CN" sz="2000">
              <a:sym typeface="+mn-ea"/>
            </a:endParaRPr>
          </a:p>
          <a:p>
            <a:pPr>
              <a:lnSpc>
                <a:spcPct val="115000"/>
              </a:lnSpc>
              <a:spcBef>
                <a:spcPts val="0"/>
              </a:spcBef>
              <a:spcAft>
                <a:spcPts val="0"/>
              </a:spcAft>
            </a:pPr>
            <a:r>
              <a:rPr lang="en-US" altLang="zh-CN" sz="2000">
                <a:sym typeface="+mn-ea"/>
              </a:rPr>
              <a:t>      Ctake,Stu </a:t>
            </a:r>
            <a:r>
              <a:rPr lang="en-US" altLang="zh-CN" sz="2000">
                <a:solidFill>
                  <a:srgbClr val="0000FF"/>
                </a:solidFill>
                <a:sym typeface="+mn-ea"/>
              </a:rPr>
              <a:t>WHERE</a:t>
            </a:r>
            <a:r>
              <a:rPr lang="en-US" altLang="zh-CN" sz="2000">
                <a:sym typeface="+mn-ea"/>
              </a:rPr>
              <a:t>  Ctake.CID=@CNo and Ctake.Sid=stu.Sid)</a:t>
            </a:r>
            <a:endParaRPr lang="en-US" altLang="zh-CN" sz="2000">
              <a:solidFill>
                <a:srgbClr val="0000FF"/>
              </a:solidFill>
              <a:sym typeface="+mn-ea"/>
            </a:endParaRPr>
          </a:p>
        </p:txBody>
      </p:sp>
      <p:sp>
        <p:nvSpPr>
          <p:cNvPr id="4" name="文本框 3"/>
          <p:cNvSpPr txBox="1"/>
          <p:nvPr/>
        </p:nvSpPr>
        <p:spPr>
          <a:xfrm>
            <a:off x="755650" y="5697855"/>
            <a:ext cx="7519035" cy="445135"/>
          </a:xfrm>
          <a:prstGeom prst="rect">
            <a:avLst/>
          </a:prstGeom>
          <a:noFill/>
        </p:spPr>
        <p:txBody>
          <a:bodyPr wrap="square" rtlCol="0" anchor="t">
            <a:spAutoFit/>
          </a:bodyPr>
          <a:p>
            <a:pPr>
              <a:lnSpc>
                <a:spcPct val="115000"/>
              </a:lnSpc>
              <a:spcBef>
                <a:spcPts val="0"/>
              </a:spcBef>
              <a:spcAft>
                <a:spcPts val="0"/>
              </a:spcAft>
            </a:pPr>
            <a:r>
              <a:rPr lang="zh-CN" altLang="en-US" sz="2000">
                <a:sym typeface="+mn-ea"/>
              </a:rPr>
              <a:t>执行函数：</a:t>
            </a:r>
            <a:r>
              <a:rPr lang="en-US" altLang="zh-CN" sz="2000">
                <a:sym typeface="+mn-ea"/>
              </a:rPr>
              <a:t>SELECT * FROM ScoreSearch</a:t>
            </a:r>
            <a:r>
              <a:rPr lang="en-US" altLang="zh-CN" sz="2000">
                <a:solidFill>
                  <a:srgbClr val="0000FF"/>
                </a:solidFill>
                <a:sym typeface="+mn-ea"/>
              </a:rPr>
              <a:t>(‘2015031001’)</a:t>
            </a:r>
            <a:endParaRPr lang="en-US" altLang="zh-CN" sz="2000">
              <a:solidFill>
                <a:srgbClr val="0000FF"/>
              </a:solidFill>
              <a:sym typeface="+mn-ea"/>
            </a:endParaRPr>
          </a:p>
        </p:txBody>
      </p:sp>
      <p:pic>
        <p:nvPicPr>
          <p:cNvPr id="5" name="图片 4"/>
          <p:cNvPicPr>
            <a:picLocks noChangeAspect="1"/>
          </p:cNvPicPr>
          <p:nvPr/>
        </p:nvPicPr>
        <p:blipFill>
          <a:blip r:embed="rId2"/>
          <a:stretch>
            <a:fillRect/>
          </a:stretch>
        </p:blipFill>
        <p:spPr>
          <a:xfrm>
            <a:off x="4036060" y="4019550"/>
            <a:ext cx="4824294" cy="2052000"/>
          </a:xfrm>
          <a:prstGeom prst="rect">
            <a:avLst/>
          </a:prstGeom>
          <a:ln>
            <a:solidFill>
              <a:schemeClr val="accent1"/>
            </a:solid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4" grpId="0"/>
      <p:bldP spid="4" grpId="1"/>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5"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1" charset="-122"/>
              </a:rPr>
              <a:t>四、</a:t>
            </a:r>
            <a:r>
              <a:rPr lang="en-US" altLang="zh-CN" sz="3200" dirty="0">
                <a:solidFill>
                  <a:srgbClr val="FF0000"/>
                </a:solidFill>
                <a:ea typeface="黑体" panose="02010609060101010101" pitchFamily="1" charset="-122"/>
              </a:rPr>
              <a:t>T-SQL</a:t>
            </a:r>
            <a:r>
              <a:rPr lang="zh-CN" altLang="en-US" sz="3200" dirty="0">
                <a:solidFill>
                  <a:srgbClr val="FF0000"/>
                </a:solidFill>
                <a:ea typeface="黑体" panose="02010609060101010101" pitchFamily="1" charset="-122"/>
              </a:rPr>
              <a:t>编程</a:t>
            </a:r>
            <a:endParaRPr lang="zh-CN" altLang="en-US" sz="3200" dirty="0">
              <a:solidFill>
                <a:srgbClr val="FF0000"/>
              </a:solidFill>
              <a:ea typeface="黑体" panose="02010609060101010101" pitchFamily="1" charset="-122"/>
            </a:endParaRPr>
          </a:p>
        </p:txBody>
      </p:sp>
      <p:sp>
        <p:nvSpPr>
          <p:cNvPr id="5" name="Rectangle 3"/>
          <p:cNvSpPr txBox="1"/>
          <p:nvPr/>
        </p:nvSpPr>
        <p:spPr>
          <a:xfrm>
            <a:off x="501650" y="897255"/>
            <a:ext cx="6886575" cy="747395"/>
          </a:xfrm>
          <a:prstGeom prst="rect">
            <a:avLst/>
          </a:prstGeom>
          <a:noFill/>
          <a:ln w="9525">
            <a:noFill/>
          </a:ln>
        </p:spPr>
        <p:txBody>
          <a:bodyPr anchor="t" anchorCtr="0"/>
          <a:p>
            <a:pPr>
              <a:buFont typeface="Wingdings" panose="05000000000000000000" pitchFamily="2" charset="2"/>
            </a:pPr>
            <a:r>
              <a:rPr lang="en-US" altLang="zh-CN" sz="2400" dirty="0">
                <a:solidFill>
                  <a:srgbClr val="3333CC"/>
                </a:solidFill>
                <a:latin typeface="宋体" panose="02010600030101010101" pitchFamily="2" charset="-122"/>
                <a:ea typeface="黑体" panose="02010609060101010101" pitchFamily="1" charset="-122"/>
              </a:rPr>
              <a:t>8.</a:t>
            </a:r>
            <a:r>
              <a:rPr lang="zh-CN" altLang="en-US" sz="2400" dirty="0">
                <a:solidFill>
                  <a:srgbClr val="3333CC"/>
                </a:solidFill>
                <a:latin typeface="宋体" panose="02010600030101010101" pitchFamily="2" charset="-122"/>
                <a:ea typeface="黑体" panose="02010609060101010101" pitchFamily="1" charset="-122"/>
              </a:rPr>
              <a:t>存储</a:t>
            </a:r>
            <a:r>
              <a:rPr lang="zh-CN" altLang="en-US" sz="2400" dirty="0">
                <a:solidFill>
                  <a:srgbClr val="3333CC"/>
                </a:solidFill>
                <a:latin typeface="宋体" panose="02010600030101010101" pitchFamily="2" charset="-122"/>
                <a:ea typeface="黑体" panose="02010609060101010101" pitchFamily="1" charset="-122"/>
              </a:rPr>
              <a:t>过程</a:t>
            </a:r>
            <a:endParaRPr lang="zh-CN" altLang="en-US" sz="2400" dirty="0">
              <a:solidFill>
                <a:srgbClr val="3333CC"/>
              </a:solidFill>
              <a:latin typeface="宋体" panose="02010600030101010101" pitchFamily="2" charset="-122"/>
              <a:ea typeface="黑体" panose="02010609060101010101" pitchFamily="1" charset="-122"/>
            </a:endParaRPr>
          </a:p>
        </p:txBody>
      </p:sp>
      <p:sp>
        <p:nvSpPr>
          <p:cNvPr id="7" name="文本框 20"/>
          <p:cNvSpPr txBox="1"/>
          <p:nvPr/>
        </p:nvSpPr>
        <p:spPr>
          <a:xfrm>
            <a:off x="501650" y="1344295"/>
            <a:ext cx="8282940" cy="476885"/>
          </a:xfrm>
          <a:prstGeom prst="rect">
            <a:avLst/>
          </a:prstGeom>
          <a:noFill/>
          <a:ln w="9525">
            <a:noFill/>
          </a:ln>
        </p:spPr>
        <p:txBody>
          <a:bodyPr wrap="square">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just" eaLnBrk="1" hangingPunct="1">
              <a:lnSpc>
                <a:spcPct val="120000"/>
              </a:lnSpc>
              <a:spcBef>
                <a:spcPts val="0"/>
              </a:spcBef>
              <a:spcAft>
                <a:spcPts val="0"/>
              </a:spcAft>
              <a:buClrTx/>
              <a:buSzTx/>
              <a:buFont typeface="Arial" panose="020B0604020202020204" pitchFamily="34" charset="0"/>
              <a:buNone/>
            </a:pPr>
            <a:r>
              <a:rPr lang="en-US" altLang="zh-CN" sz="1800" dirty="0">
                <a:sym typeface="+mn-ea"/>
              </a:rPr>
              <a:t>      </a:t>
            </a:r>
            <a:r>
              <a:rPr lang="zh-CN" altLang="en-US" dirty="0">
                <a:sym typeface="+mn-ea"/>
              </a:rPr>
              <a:t>存储过程是存储在</a:t>
            </a:r>
            <a:r>
              <a:rPr lang="en-US" altLang="zh-CN" dirty="0">
                <a:sym typeface="+mn-ea"/>
              </a:rPr>
              <a:t>RDBMS</a:t>
            </a:r>
            <a:r>
              <a:rPr lang="zh-CN" altLang="en-US" dirty="0">
                <a:sym typeface="+mn-ea"/>
              </a:rPr>
              <a:t>中的一段由</a:t>
            </a:r>
            <a:r>
              <a:rPr lang="en-US" altLang="zh-CN" dirty="0">
                <a:sym typeface="+mn-ea"/>
              </a:rPr>
              <a:t>SQL</a:t>
            </a:r>
            <a:r>
              <a:rPr lang="zh-CN" altLang="en-US" dirty="0">
                <a:sym typeface="+mn-ea"/>
              </a:rPr>
              <a:t>语句组成的程序，它在建立时由</a:t>
            </a:r>
            <a:r>
              <a:rPr lang="en-US" altLang="zh-CN" dirty="0">
                <a:sym typeface="+mn-ea"/>
              </a:rPr>
              <a:t>RDBMS</a:t>
            </a:r>
            <a:r>
              <a:rPr lang="zh-CN" altLang="en-US" dirty="0">
                <a:sym typeface="+mn-ea"/>
              </a:rPr>
              <a:t>编译和优化、其执行代码存储于数据库中。存储过程分为两类：</a:t>
            </a:r>
            <a:r>
              <a:rPr lang="zh-CN" altLang="en-US" u="sng" dirty="0">
                <a:solidFill>
                  <a:srgbClr val="0000FF"/>
                </a:solidFill>
                <a:latin typeface="华文中宋" panose="02010600040101010101" charset="-122"/>
                <a:ea typeface="华文中宋" panose="02010600040101010101" charset="-122"/>
                <a:sym typeface="+mn-ea"/>
              </a:rPr>
              <a:t>系统存储过程</a:t>
            </a:r>
            <a:r>
              <a:rPr lang="zh-CN" altLang="en-US" dirty="0">
                <a:sym typeface="+mn-ea"/>
              </a:rPr>
              <a:t>和</a:t>
            </a:r>
            <a:r>
              <a:rPr lang="zh-CN" altLang="en-US" u="sng" dirty="0">
                <a:solidFill>
                  <a:srgbClr val="0000FF"/>
                </a:solidFill>
                <a:latin typeface="华文中宋" panose="02010600040101010101" charset="-122"/>
                <a:ea typeface="华文中宋" panose="02010600040101010101" charset="-122"/>
                <a:sym typeface="+mn-ea"/>
              </a:rPr>
              <a:t>用户自定义存储过程</a:t>
            </a:r>
            <a:r>
              <a:rPr lang="zh-CN" altLang="en-US" dirty="0">
                <a:sym typeface="+mn-ea"/>
              </a:rPr>
              <a:t>。</a:t>
            </a:r>
            <a:endParaRPr lang="zh-CN" altLang="en-US" dirty="0">
              <a:sym typeface="+mn-ea"/>
            </a:endParaRPr>
          </a:p>
          <a:p>
            <a:pPr marL="0" lvl="0" indent="0" algn="just" eaLnBrk="1" hangingPunct="1">
              <a:lnSpc>
                <a:spcPct val="120000"/>
              </a:lnSpc>
              <a:spcBef>
                <a:spcPts val="0"/>
              </a:spcBef>
              <a:spcAft>
                <a:spcPts val="0"/>
              </a:spcAft>
              <a:buClrTx/>
              <a:buSzTx/>
              <a:buFont typeface="Arial" panose="020B0604020202020204" pitchFamily="34" charset="0"/>
              <a:buNone/>
            </a:pPr>
            <a:endParaRPr lang="zh-CN" altLang="en-US" u="sng" dirty="0">
              <a:solidFill>
                <a:srgbClr val="0000FF"/>
              </a:solidFill>
              <a:latin typeface="华文中宋" panose="02010600040101010101" charset="-122"/>
              <a:ea typeface="华文中宋" panose="02010600040101010101" charset="-122"/>
              <a:sym typeface="+mn-ea"/>
            </a:endParaRPr>
          </a:p>
        </p:txBody>
      </p:sp>
      <p:sp>
        <p:nvSpPr>
          <p:cNvPr id="4" name="文本框 20"/>
          <p:cNvSpPr txBox="1"/>
          <p:nvPr/>
        </p:nvSpPr>
        <p:spPr>
          <a:xfrm>
            <a:off x="457200" y="2567940"/>
            <a:ext cx="8282940" cy="3565525"/>
          </a:xfrm>
          <a:prstGeom prst="rect">
            <a:avLst/>
          </a:prstGeom>
          <a:noFill/>
          <a:ln w="9525">
            <a:noFill/>
          </a:ln>
        </p:spPr>
        <p:txBody>
          <a:bodyPr wrap="square">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lvl="0" algn="just" eaLnBrk="1" hangingPunct="1">
              <a:lnSpc>
                <a:spcPct val="110000"/>
              </a:lnSpc>
              <a:spcBef>
                <a:spcPts val="400"/>
              </a:spcBef>
              <a:spcAft>
                <a:spcPts val="0"/>
              </a:spcAft>
              <a:buClrTx/>
              <a:buSzTx/>
              <a:buFont typeface="Wingdings" panose="05000000000000000000" charset="0"/>
              <a:buChar char="ü"/>
            </a:pPr>
            <a:r>
              <a:rPr lang="zh-CN" altLang="en-US" u="sng" dirty="0">
                <a:solidFill>
                  <a:srgbClr val="0000FF"/>
                </a:solidFill>
                <a:latin typeface="华文中宋" panose="02010600040101010101" charset="-122"/>
                <a:ea typeface="华文中宋" panose="02010600040101010101" charset="-122"/>
                <a:sym typeface="+mn-ea"/>
              </a:rPr>
              <a:t>提高性能：</a:t>
            </a:r>
            <a:r>
              <a:rPr lang="zh-CN" altLang="en-US" dirty="0">
                <a:sym typeface="+mn-ea"/>
              </a:rPr>
              <a:t>存储过程通常会被编译和缓存，因此执行速度比等效的逐个SQL语句更快。</a:t>
            </a:r>
            <a:endParaRPr lang="zh-CN" altLang="en-US" dirty="0">
              <a:sym typeface="+mn-ea"/>
            </a:endParaRPr>
          </a:p>
          <a:p>
            <a:pPr lvl="0" algn="just" eaLnBrk="1" hangingPunct="1">
              <a:lnSpc>
                <a:spcPct val="110000"/>
              </a:lnSpc>
              <a:spcBef>
                <a:spcPts val="400"/>
              </a:spcBef>
              <a:spcAft>
                <a:spcPts val="0"/>
              </a:spcAft>
              <a:buClrTx/>
              <a:buSzTx/>
              <a:buFont typeface="Wingdings" panose="05000000000000000000" charset="0"/>
              <a:buChar char="ü"/>
            </a:pPr>
            <a:r>
              <a:rPr lang="zh-CN" altLang="en-US" u="sng" dirty="0">
                <a:solidFill>
                  <a:srgbClr val="0000FF"/>
                </a:solidFill>
                <a:latin typeface="华文中宋" panose="02010600040101010101" charset="-122"/>
                <a:ea typeface="华文中宋" panose="02010600040101010101" charset="-122"/>
                <a:sym typeface="+mn-ea"/>
              </a:rPr>
              <a:t>简化复杂操作：</a:t>
            </a:r>
            <a:r>
              <a:rPr lang="zh-CN" altLang="en-US" dirty="0">
                <a:sym typeface="+mn-ea"/>
              </a:rPr>
              <a:t>存储过程可以包含一系列SQL语句和控制结构，从而使复杂的操作变得更容易管理和理解。</a:t>
            </a:r>
            <a:endParaRPr lang="zh-CN" altLang="en-US" dirty="0">
              <a:sym typeface="+mn-ea"/>
            </a:endParaRPr>
          </a:p>
          <a:p>
            <a:pPr lvl="0" algn="just" eaLnBrk="1" hangingPunct="1">
              <a:lnSpc>
                <a:spcPct val="110000"/>
              </a:lnSpc>
              <a:spcBef>
                <a:spcPts val="400"/>
              </a:spcBef>
              <a:spcAft>
                <a:spcPts val="0"/>
              </a:spcAft>
              <a:buClrTx/>
              <a:buSzTx/>
              <a:buFont typeface="Wingdings" panose="05000000000000000000" charset="0"/>
              <a:buChar char="ü"/>
            </a:pPr>
            <a:r>
              <a:rPr lang="zh-CN" altLang="en-US" u="sng" dirty="0">
                <a:solidFill>
                  <a:srgbClr val="0000FF"/>
                </a:solidFill>
                <a:latin typeface="华文中宋" panose="02010600040101010101" charset="-122"/>
                <a:ea typeface="华文中宋" panose="02010600040101010101" charset="-122"/>
                <a:sym typeface="+mn-ea"/>
              </a:rPr>
              <a:t>提高安全性：</a:t>
            </a:r>
            <a:r>
              <a:rPr lang="zh-CN" altLang="en-US" dirty="0">
                <a:sym typeface="+mn-ea"/>
              </a:rPr>
              <a:t>通过存储过程，可以将对数据库的访问权限控制在存储过程中，而不是直接在表上。</a:t>
            </a:r>
            <a:endParaRPr lang="zh-CN" altLang="en-US" dirty="0">
              <a:sym typeface="+mn-ea"/>
            </a:endParaRPr>
          </a:p>
          <a:p>
            <a:pPr lvl="0" algn="just" eaLnBrk="1" hangingPunct="1">
              <a:lnSpc>
                <a:spcPct val="110000"/>
              </a:lnSpc>
              <a:spcBef>
                <a:spcPts val="400"/>
              </a:spcBef>
              <a:spcAft>
                <a:spcPts val="0"/>
              </a:spcAft>
              <a:buClrTx/>
              <a:buSzTx/>
              <a:buFont typeface="Wingdings" panose="05000000000000000000" charset="0"/>
              <a:buChar char="ü"/>
            </a:pPr>
            <a:r>
              <a:rPr lang="zh-CN" altLang="en-US" u="sng" dirty="0">
                <a:solidFill>
                  <a:srgbClr val="0000FF"/>
                </a:solidFill>
                <a:latin typeface="华文中宋" panose="02010600040101010101" charset="-122"/>
                <a:ea typeface="华文中宋" panose="02010600040101010101" charset="-122"/>
                <a:sym typeface="+mn-ea"/>
              </a:rPr>
              <a:t>减少重复工作：</a:t>
            </a:r>
            <a:r>
              <a:rPr lang="zh-CN" altLang="en-US" dirty="0">
                <a:sym typeface="+mn-ea"/>
              </a:rPr>
              <a:t>存储过程可以被多个应用程序调用，从而避免在不同应用程序中重复实现相同的逻辑。</a:t>
            </a:r>
            <a:endParaRPr lang="zh-CN" altLang="en-US" dirty="0">
              <a:sym typeface="+mn-ea"/>
            </a:endParaRPr>
          </a:p>
          <a:p>
            <a:pPr lvl="0" algn="just" eaLnBrk="1" hangingPunct="1">
              <a:lnSpc>
                <a:spcPct val="110000"/>
              </a:lnSpc>
              <a:spcBef>
                <a:spcPts val="400"/>
              </a:spcBef>
              <a:spcAft>
                <a:spcPts val="0"/>
              </a:spcAft>
              <a:buClrTx/>
              <a:buSzTx/>
              <a:buFont typeface="Wingdings" panose="05000000000000000000" charset="0"/>
              <a:buChar char="ü"/>
            </a:pPr>
            <a:r>
              <a:rPr lang="zh-CN" altLang="en-US" u="sng" dirty="0">
                <a:solidFill>
                  <a:srgbClr val="0000FF"/>
                </a:solidFill>
                <a:latin typeface="华文中宋" panose="02010600040101010101" charset="-122"/>
                <a:ea typeface="华文中宋" panose="02010600040101010101" charset="-122"/>
                <a:sym typeface="+mn-ea"/>
              </a:rPr>
              <a:t>减少网络流量：</a:t>
            </a:r>
            <a:r>
              <a:rPr lang="zh-CN" altLang="en-US" dirty="0">
                <a:sym typeface="+mn-ea"/>
              </a:rPr>
              <a:t>用户执行存储过程，只需要在网络上传送一条调用存储过程的语句</a:t>
            </a:r>
            <a:r>
              <a:rPr lang="zh-CN" altLang="en-US" dirty="0">
                <a:sym typeface="+mn-ea"/>
              </a:rPr>
              <a:t>即可。</a:t>
            </a:r>
            <a:endParaRPr lang="zh-CN" altLang="en-US" dirty="0">
              <a:sym typeface="+mn-ea"/>
            </a:endParaRPr>
          </a:p>
        </p:txBody>
      </p:sp>
    </p:spTree>
  </p:cSld>
  <p:clrMapOvr>
    <a:masterClrMapping/>
  </p:clrMapOvr>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5"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1" charset="-122"/>
              </a:rPr>
              <a:t>四、</a:t>
            </a:r>
            <a:r>
              <a:rPr lang="en-US" altLang="zh-CN" sz="3200" dirty="0">
                <a:solidFill>
                  <a:srgbClr val="FF0000"/>
                </a:solidFill>
                <a:ea typeface="黑体" panose="02010609060101010101" pitchFamily="1" charset="-122"/>
              </a:rPr>
              <a:t>T-SQL</a:t>
            </a:r>
            <a:r>
              <a:rPr lang="zh-CN" altLang="en-US" sz="3200" dirty="0">
                <a:solidFill>
                  <a:srgbClr val="FF0000"/>
                </a:solidFill>
                <a:ea typeface="黑体" panose="02010609060101010101" pitchFamily="1" charset="-122"/>
              </a:rPr>
              <a:t>编程</a:t>
            </a:r>
            <a:endParaRPr lang="zh-CN" altLang="en-US" sz="3200" dirty="0">
              <a:solidFill>
                <a:srgbClr val="FF0000"/>
              </a:solidFill>
              <a:ea typeface="黑体" panose="02010609060101010101" pitchFamily="1" charset="-122"/>
            </a:endParaRPr>
          </a:p>
        </p:txBody>
      </p:sp>
      <p:sp>
        <p:nvSpPr>
          <p:cNvPr id="7" name="文本框 20"/>
          <p:cNvSpPr txBox="1"/>
          <p:nvPr/>
        </p:nvSpPr>
        <p:spPr>
          <a:xfrm>
            <a:off x="598170" y="1318895"/>
            <a:ext cx="8047990" cy="476885"/>
          </a:xfrm>
          <a:prstGeom prst="rect">
            <a:avLst/>
          </a:prstGeom>
          <a:noFill/>
          <a:ln w="9525">
            <a:noFill/>
          </a:ln>
        </p:spPr>
        <p:txBody>
          <a:bodyPr wrap="square">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ts val="0"/>
              </a:spcBef>
              <a:spcAft>
                <a:spcPts val="0"/>
              </a:spcAft>
              <a:buClrTx/>
              <a:buSzTx/>
              <a:buFont typeface="Arial" panose="020B0604020202020204" pitchFamily="34" charset="0"/>
              <a:buNone/>
            </a:pPr>
            <a:r>
              <a:rPr lang="zh-CN" dirty="0">
                <a:sym typeface="+mn-ea"/>
              </a:rPr>
              <a:t>（</a:t>
            </a:r>
            <a:r>
              <a:rPr lang="en-US" altLang="zh-CN" dirty="0">
                <a:sym typeface="+mn-ea"/>
              </a:rPr>
              <a:t>1</a:t>
            </a:r>
            <a:r>
              <a:rPr lang="zh-CN" altLang="en-US" dirty="0">
                <a:sym typeface="+mn-ea"/>
              </a:rPr>
              <a:t>）创建。用户自定义存储过程，可像程序设计语言的函数那样，进行</a:t>
            </a:r>
            <a:r>
              <a:rPr lang="en-US" altLang="zh-CN" dirty="0">
                <a:sym typeface="+mn-ea"/>
              </a:rPr>
              <a:t>I/O</a:t>
            </a:r>
            <a:r>
              <a:rPr lang="zh-CN" altLang="en-US" dirty="0">
                <a:sym typeface="+mn-ea"/>
              </a:rPr>
              <a:t>参数</a:t>
            </a:r>
            <a:r>
              <a:rPr lang="zh-CN" altLang="en-US" dirty="0">
                <a:sym typeface="+mn-ea"/>
              </a:rPr>
              <a:t>传递。</a:t>
            </a:r>
            <a:endParaRPr lang="zh-CN" altLang="en-US" dirty="0">
              <a:sym typeface="+mn-ea"/>
            </a:endParaRPr>
          </a:p>
        </p:txBody>
      </p:sp>
      <p:sp>
        <p:nvSpPr>
          <p:cNvPr id="5" name="Rectangle 3"/>
          <p:cNvSpPr txBox="1"/>
          <p:nvPr/>
        </p:nvSpPr>
        <p:spPr>
          <a:xfrm>
            <a:off x="501650" y="897255"/>
            <a:ext cx="6886575" cy="421640"/>
          </a:xfrm>
          <a:prstGeom prst="rect">
            <a:avLst/>
          </a:prstGeom>
          <a:noFill/>
          <a:ln w="9525">
            <a:noFill/>
          </a:ln>
        </p:spPr>
        <p:txBody>
          <a:bodyPr anchor="t" anchorCtr="0"/>
          <a:p>
            <a:pPr>
              <a:buFont typeface="Wingdings" panose="05000000000000000000" pitchFamily="2" charset="2"/>
            </a:pPr>
            <a:r>
              <a:rPr lang="en-US" altLang="zh-CN" sz="2400" dirty="0">
                <a:solidFill>
                  <a:srgbClr val="3333CC"/>
                </a:solidFill>
                <a:latin typeface="宋体" panose="02010600030101010101" pitchFamily="2" charset="-122"/>
                <a:ea typeface="黑体" panose="02010609060101010101" pitchFamily="1" charset="-122"/>
              </a:rPr>
              <a:t>8.</a:t>
            </a:r>
            <a:r>
              <a:rPr lang="zh-CN" altLang="en-US" sz="2400" dirty="0">
                <a:solidFill>
                  <a:srgbClr val="3333CC"/>
                </a:solidFill>
                <a:latin typeface="宋体" panose="02010600030101010101" pitchFamily="2" charset="-122"/>
                <a:ea typeface="黑体" panose="02010609060101010101" pitchFamily="1" charset="-122"/>
              </a:rPr>
              <a:t>存储</a:t>
            </a:r>
            <a:r>
              <a:rPr lang="zh-CN" altLang="en-US" sz="2400" dirty="0">
                <a:solidFill>
                  <a:srgbClr val="3333CC"/>
                </a:solidFill>
                <a:latin typeface="宋体" panose="02010600030101010101" pitchFamily="2" charset="-122"/>
                <a:ea typeface="黑体" panose="02010609060101010101" pitchFamily="1" charset="-122"/>
              </a:rPr>
              <a:t>过程</a:t>
            </a:r>
            <a:endParaRPr lang="zh-CN" altLang="en-US" sz="2400" dirty="0">
              <a:solidFill>
                <a:srgbClr val="3333CC"/>
              </a:solidFill>
              <a:latin typeface="宋体" panose="02010600030101010101" pitchFamily="2" charset="-122"/>
              <a:ea typeface="黑体" panose="02010609060101010101" pitchFamily="1" charset="-122"/>
            </a:endParaRPr>
          </a:p>
        </p:txBody>
      </p:sp>
      <p:sp>
        <p:nvSpPr>
          <p:cNvPr id="4" name="文本框 3"/>
          <p:cNvSpPr txBox="1"/>
          <p:nvPr>
            <p:custDataLst>
              <p:tags r:id="rId1"/>
            </p:custDataLst>
          </p:nvPr>
        </p:nvSpPr>
        <p:spPr>
          <a:xfrm>
            <a:off x="641350" y="2117725"/>
            <a:ext cx="8004810" cy="2317750"/>
          </a:xfrm>
          <a:prstGeom prst="rect">
            <a:avLst/>
          </a:prstGeom>
          <a:noFill/>
        </p:spPr>
        <p:txBody>
          <a:bodyPr wrap="square" rtlCol="0" anchor="t">
            <a:spAutoFit/>
          </a:bodyPr>
          <a:p>
            <a:pPr>
              <a:lnSpc>
                <a:spcPct val="115000"/>
              </a:lnSpc>
              <a:spcBef>
                <a:spcPts val="0"/>
              </a:spcBef>
              <a:spcAft>
                <a:spcPts val="0"/>
              </a:spcAft>
            </a:pPr>
            <a:r>
              <a:rPr lang="en-US" altLang="zh-CN" sz="1800" dirty="0">
                <a:solidFill>
                  <a:srgbClr val="FF0000"/>
                </a:solidFill>
                <a:sym typeface="+mn-ea"/>
              </a:rPr>
              <a:t>CREATE PROC </a:t>
            </a:r>
            <a:r>
              <a:rPr lang="zh-CN" altLang="en-US" sz="1800" dirty="0">
                <a:solidFill>
                  <a:srgbClr val="FF0000"/>
                </a:solidFill>
                <a:sym typeface="+mn-ea"/>
              </a:rPr>
              <a:t>过程名</a:t>
            </a:r>
            <a:endParaRPr lang="zh-CN" altLang="en-US" sz="1800" dirty="0">
              <a:solidFill>
                <a:srgbClr val="FF0000"/>
              </a:solidFill>
              <a:sym typeface="+mn-ea"/>
            </a:endParaRPr>
          </a:p>
          <a:p>
            <a:pPr>
              <a:lnSpc>
                <a:spcPct val="115000"/>
              </a:lnSpc>
              <a:spcBef>
                <a:spcPts val="0"/>
              </a:spcBef>
              <a:spcAft>
                <a:spcPts val="0"/>
              </a:spcAft>
            </a:pPr>
            <a:r>
              <a:rPr lang="en-US" altLang="zh-CN" sz="1800" dirty="0">
                <a:solidFill>
                  <a:srgbClr val="FF0000"/>
                </a:solidFill>
                <a:sym typeface="+mn-ea"/>
              </a:rPr>
              <a:t>( @</a:t>
            </a:r>
            <a:r>
              <a:rPr lang="zh-CN" altLang="en-US" sz="1800" dirty="0">
                <a:solidFill>
                  <a:srgbClr val="FF0000"/>
                </a:solidFill>
                <a:sym typeface="+mn-ea"/>
              </a:rPr>
              <a:t>参数变量</a:t>
            </a:r>
            <a:r>
              <a:rPr lang="en-US" altLang="zh-CN" sz="1800" dirty="0">
                <a:solidFill>
                  <a:srgbClr val="FF0000"/>
                </a:solidFill>
                <a:sym typeface="+mn-ea"/>
              </a:rPr>
              <a:t> </a:t>
            </a:r>
            <a:r>
              <a:rPr lang="zh-CN" altLang="en-US" sz="1800" dirty="0">
                <a:solidFill>
                  <a:srgbClr val="FF0000"/>
                </a:solidFill>
                <a:sym typeface="+mn-ea"/>
              </a:rPr>
              <a:t>类型</a:t>
            </a:r>
            <a:r>
              <a:rPr lang="en-US" altLang="zh-CN" sz="1800" dirty="0">
                <a:solidFill>
                  <a:srgbClr val="FF0000"/>
                </a:solidFill>
                <a:sym typeface="+mn-ea"/>
              </a:rPr>
              <a:t>[=DEFAULT] [,...n]  </a:t>
            </a:r>
            <a:r>
              <a:rPr lang="en-US" altLang="zh-CN" sz="1800" dirty="0">
                <a:solidFill>
                  <a:schemeClr val="tx1"/>
                </a:solidFill>
                <a:sym typeface="+mn-ea"/>
              </a:rPr>
              <a:t> /*</a:t>
            </a:r>
            <a:r>
              <a:rPr lang="zh-CN" altLang="en-US" sz="1800" dirty="0">
                <a:solidFill>
                  <a:schemeClr val="tx1"/>
                </a:solidFill>
                <a:sym typeface="+mn-ea"/>
              </a:rPr>
              <a:t>输入参数</a:t>
            </a:r>
            <a:r>
              <a:rPr lang="en-US" altLang="zh-CN" sz="1800" dirty="0">
                <a:solidFill>
                  <a:schemeClr val="tx1"/>
                </a:solidFill>
                <a:sym typeface="+mn-ea"/>
              </a:rPr>
              <a:t>*/</a:t>
            </a:r>
            <a:endParaRPr lang="en-US" altLang="zh-CN" sz="1800" dirty="0">
              <a:solidFill>
                <a:schemeClr val="tx1"/>
              </a:solidFill>
              <a:sym typeface="+mn-ea"/>
            </a:endParaRPr>
          </a:p>
          <a:p>
            <a:pPr>
              <a:lnSpc>
                <a:spcPct val="115000"/>
              </a:lnSpc>
              <a:spcBef>
                <a:spcPts val="0"/>
              </a:spcBef>
              <a:spcAft>
                <a:spcPts val="0"/>
              </a:spcAft>
            </a:pPr>
            <a:r>
              <a:rPr lang="en-US" altLang="zh-CN" sz="1800" dirty="0">
                <a:solidFill>
                  <a:srgbClr val="FF0000"/>
                </a:solidFill>
                <a:sym typeface="+mn-ea"/>
              </a:rPr>
              <a:t>  </a:t>
            </a:r>
            <a:r>
              <a:rPr lang="en-US" altLang="zh-CN" sz="1800" dirty="0">
                <a:solidFill>
                  <a:srgbClr val="FF0000"/>
                </a:solidFill>
                <a:sym typeface="+mn-ea"/>
              </a:rPr>
              <a:t>@</a:t>
            </a:r>
            <a:r>
              <a:rPr lang="zh-CN" altLang="en-US" sz="1800" dirty="0">
                <a:solidFill>
                  <a:srgbClr val="FF0000"/>
                </a:solidFill>
                <a:sym typeface="+mn-ea"/>
              </a:rPr>
              <a:t>参数变量</a:t>
            </a:r>
            <a:r>
              <a:rPr lang="en-US" altLang="zh-CN" sz="1800" dirty="0">
                <a:solidFill>
                  <a:srgbClr val="FF0000"/>
                </a:solidFill>
                <a:sym typeface="+mn-ea"/>
              </a:rPr>
              <a:t> </a:t>
            </a:r>
            <a:r>
              <a:rPr lang="zh-CN" altLang="en-US" sz="1800" dirty="0">
                <a:solidFill>
                  <a:srgbClr val="FF0000"/>
                </a:solidFill>
                <a:sym typeface="+mn-ea"/>
              </a:rPr>
              <a:t>类型</a:t>
            </a:r>
            <a:r>
              <a:rPr lang="en-US" altLang="zh-CN" sz="1800" dirty="0">
                <a:solidFill>
                  <a:srgbClr val="FF0000"/>
                </a:solidFill>
                <a:sym typeface="+mn-ea"/>
              </a:rPr>
              <a:t> OUTPUT )  </a:t>
            </a:r>
            <a:r>
              <a:rPr lang="en-US" altLang="zh-CN" sz="1800" dirty="0">
                <a:solidFill>
                  <a:schemeClr val="tx1"/>
                </a:solidFill>
                <a:sym typeface="+mn-ea"/>
              </a:rPr>
              <a:t> /*</a:t>
            </a:r>
            <a:r>
              <a:rPr lang="zh-CN" altLang="en-US" sz="1800" dirty="0">
                <a:solidFill>
                  <a:schemeClr val="tx1"/>
                </a:solidFill>
                <a:sym typeface="+mn-ea"/>
              </a:rPr>
              <a:t>输出参数</a:t>
            </a:r>
            <a:r>
              <a:rPr lang="en-US" altLang="zh-CN" sz="1800" dirty="0">
                <a:solidFill>
                  <a:schemeClr val="tx1"/>
                </a:solidFill>
                <a:sym typeface="+mn-ea"/>
              </a:rPr>
              <a:t>,</a:t>
            </a:r>
            <a:r>
              <a:rPr lang="zh-CN" altLang="en-US" sz="1800" dirty="0">
                <a:solidFill>
                  <a:schemeClr val="tx1"/>
                </a:solidFill>
                <a:sym typeface="+mn-ea"/>
              </a:rPr>
              <a:t>需要用</a:t>
            </a:r>
            <a:r>
              <a:rPr lang="en-US" altLang="zh-CN" sz="1800" dirty="0">
                <a:solidFill>
                  <a:schemeClr val="tx1"/>
                </a:solidFill>
                <a:sym typeface="+mn-ea"/>
              </a:rPr>
              <a:t>OUTPUT</a:t>
            </a:r>
            <a:r>
              <a:rPr lang="zh-CN" altLang="en-US" sz="1800" dirty="0">
                <a:solidFill>
                  <a:schemeClr val="tx1"/>
                </a:solidFill>
                <a:sym typeface="+mn-ea"/>
              </a:rPr>
              <a:t>标明</a:t>
            </a:r>
            <a:r>
              <a:rPr lang="en-US" altLang="zh-CN" sz="1800" dirty="0">
                <a:solidFill>
                  <a:schemeClr val="tx1"/>
                </a:solidFill>
                <a:sym typeface="+mn-ea"/>
              </a:rPr>
              <a:t>*/</a:t>
            </a:r>
            <a:endParaRPr lang="en-US" altLang="zh-CN" sz="1800" dirty="0">
              <a:solidFill>
                <a:schemeClr val="tx1"/>
              </a:solidFill>
              <a:sym typeface="+mn-ea"/>
            </a:endParaRPr>
          </a:p>
          <a:p>
            <a:pPr>
              <a:lnSpc>
                <a:spcPct val="115000"/>
              </a:lnSpc>
              <a:spcBef>
                <a:spcPts val="0"/>
              </a:spcBef>
              <a:spcAft>
                <a:spcPts val="0"/>
              </a:spcAft>
            </a:pPr>
            <a:r>
              <a:rPr lang="en-US" altLang="zh-CN" sz="1800" dirty="0">
                <a:solidFill>
                  <a:srgbClr val="FF0000"/>
                </a:solidFill>
                <a:sym typeface="+mn-ea"/>
              </a:rPr>
              <a:t> [WITH RECOMPILE] </a:t>
            </a:r>
            <a:r>
              <a:rPr lang="en-US" altLang="zh-CN" sz="1800" dirty="0">
                <a:solidFill>
                  <a:srgbClr val="FF0000"/>
                </a:solidFill>
                <a:sym typeface="+mn-ea"/>
              </a:rPr>
              <a:t>  </a:t>
            </a:r>
            <a:r>
              <a:rPr lang="en-US" altLang="zh-CN" sz="1800" dirty="0">
                <a:solidFill>
                  <a:schemeClr val="tx1"/>
                </a:solidFill>
                <a:sym typeface="+mn-ea"/>
              </a:rPr>
              <a:t>/*</a:t>
            </a:r>
            <a:r>
              <a:rPr lang="zh-CN" altLang="en-US" sz="1800" dirty="0">
                <a:solidFill>
                  <a:schemeClr val="tx1"/>
                </a:solidFill>
                <a:sym typeface="+mn-ea"/>
              </a:rPr>
              <a:t>如果选择该选项，则每次执行时要重新编译</a:t>
            </a:r>
            <a:r>
              <a:rPr lang="en-US" altLang="zh-CN" sz="1800" dirty="0">
                <a:solidFill>
                  <a:schemeClr val="tx1"/>
                </a:solidFill>
                <a:sym typeface="+mn-ea"/>
              </a:rPr>
              <a:t>*/</a:t>
            </a:r>
            <a:endParaRPr lang="en-US" altLang="zh-CN" sz="1800" dirty="0">
              <a:solidFill>
                <a:schemeClr val="tx1"/>
              </a:solidFill>
              <a:sym typeface="+mn-ea"/>
            </a:endParaRPr>
          </a:p>
          <a:p>
            <a:pPr>
              <a:lnSpc>
                <a:spcPct val="115000"/>
              </a:lnSpc>
              <a:spcBef>
                <a:spcPts val="0"/>
              </a:spcBef>
              <a:spcAft>
                <a:spcPts val="0"/>
              </a:spcAft>
            </a:pPr>
            <a:r>
              <a:rPr lang="en-US" altLang="zh-CN" sz="1800" dirty="0">
                <a:solidFill>
                  <a:srgbClr val="FF0000"/>
                </a:solidFill>
                <a:sym typeface="+mn-ea"/>
              </a:rPr>
              <a:t> </a:t>
            </a:r>
            <a:r>
              <a:rPr lang="en-US" altLang="zh-CN" sz="1800" dirty="0">
                <a:solidFill>
                  <a:srgbClr val="FF0000"/>
                </a:solidFill>
                <a:sym typeface="+mn-ea"/>
              </a:rPr>
              <a:t>AS</a:t>
            </a:r>
            <a:endParaRPr lang="en-US" altLang="zh-CN" sz="1800" dirty="0">
              <a:solidFill>
                <a:srgbClr val="FF0000"/>
              </a:solidFill>
              <a:sym typeface="+mn-ea"/>
            </a:endParaRPr>
          </a:p>
          <a:p>
            <a:pPr>
              <a:lnSpc>
                <a:spcPct val="115000"/>
              </a:lnSpc>
              <a:spcBef>
                <a:spcPts val="0"/>
              </a:spcBef>
              <a:spcAft>
                <a:spcPts val="0"/>
              </a:spcAft>
            </a:pPr>
            <a:r>
              <a:rPr lang="en-US" altLang="zh-CN" sz="1800" dirty="0">
                <a:solidFill>
                  <a:srgbClr val="FF0000"/>
                </a:solidFill>
                <a:sym typeface="+mn-ea"/>
              </a:rPr>
              <a:t>       SQL</a:t>
            </a:r>
            <a:r>
              <a:rPr lang="zh-CN" altLang="en-US" sz="1800" dirty="0">
                <a:solidFill>
                  <a:srgbClr val="FF0000"/>
                </a:solidFill>
                <a:sym typeface="+mn-ea"/>
              </a:rPr>
              <a:t>语句</a:t>
            </a:r>
            <a:endParaRPr lang="zh-CN" altLang="en-US" sz="1800" dirty="0">
              <a:solidFill>
                <a:srgbClr val="FF0000"/>
              </a:solidFill>
              <a:sym typeface="+mn-ea"/>
            </a:endParaRPr>
          </a:p>
          <a:p>
            <a:pPr>
              <a:lnSpc>
                <a:spcPct val="115000"/>
              </a:lnSpc>
              <a:spcBef>
                <a:spcPts val="0"/>
              </a:spcBef>
              <a:spcAft>
                <a:spcPts val="0"/>
              </a:spcAft>
            </a:pPr>
            <a:r>
              <a:rPr lang="en-US" altLang="zh-CN" sz="1800" dirty="0">
                <a:solidFill>
                  <a:srgbClr val="FF0000"/>
                </a:solidFill>
                <a:sym typeface="+mn-ea"/>
              </a:rPr>
              <a:t>RETURN [</a:t>
            </a:r>
            <a:r>
              <a:rPr lang="zh-CN" altLang="en-US" sz="1800" dirty="0">
                <a:solidFill>
                  <a:srgbClr val="FF0000"/>
                </a:solidFill>
                <a:sym typeface="+mn-ea"/>
              </a:rPr>
              <a:t>存储过程执行状态值</a:t>
            </a:r>
            <a:r>
              <a:rPr lang="en-US" altLang="zh-CN" sz="1800" dirty="0">
                <a:solidFill>
                  <a:srgbClr val="FF0000"/>
                </a:solidFill>
                <a:sym typeface="+mn-ea"/>
              </a:rPr>
              <a:t>]</a:t>
            </a:r>
            <a:endParaRPr lang="en-US" altLang="zh-CN" sz="1800" dirty="0">
              <a:solidFill>
                <a:srgbClr val="FF0000"/>
              </a:solidFill>
              <a:sym typeface="+mn-ea"/>
            </a:endParaRPr>
          </a:p>
        </p:txBody>
      </p:sp>
      <p:sp>
        <p:nvSpPr>
          <p:cNvPr id="8" name="文本框 20"/>
          <p:cNvSpPr txBox="1"/>
          <p:nvPr/>
        </p:nvSpPr>
        <p:spPr>
          <a:xfrm>
            <a:off x="457200" y="4435475"/>
            <a:ext cx="8047990" cy="476885"/>
          </a:xfrm>
          <a:prstGeom prst="rect">
            <a:avLst/>
          </a:prstGeom>
          <a:noFill/>
          <a:ln w="9525">
            <a:noFill/>
          </a:ln>
        </p:spPr>
        <p:txBody>
          <a:bodyPr wrap="square">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ts val="0"/>
              </a:spcBef>
              <a:spcAft>
                <a:spcPts val="0"/>
              </a:spcAft>
              <a:buClrTx/>
              <a:buSzTx/>
              <a:buFont typeface="Arial" panose="020B0604020202020204" pitchFamily="34" charset="0"/>
              <a:buNone/>
            </a:pPr>
            <a:r>
              <a:rPr lang="zh-CN" dirty="0">
                <a:sym typeface="+mn-ea"/>
              </a:rPr>
              <a:t>（</a:t>
            </a:r>
            <a:r>
              <a:rPr lang="en-US" altLang="zh-CN" dirty="0">
                <a:sym typeface="+mn-ea"/>
              </a:rPr>
              <a:t>2</a:t>
            </a:r>
            <a:r>
              <a:rPr lang="zh-CN" altLang="en-US" dirty="0">
                <a:sym typeface="+mn-ea"/>
              </a:rPr>
              <a:t>）传递参数和调用</a:t>
            </a:r>
            <a:r>
              <a:rPr lang="zh-CN" altLang="en-US" dirty="0">
                <a:sym typeface="+mn-ea"/>
              </a:rPr>
              <a:t>执行。</a:t>
            </a:r>
            <a:endParaRPr lang="zh-CN" altLang="en-US" dirty="0">
              <a:sym typeface="+mn-ea"/>
            </a:endParaRPr>
          </a:p>
        </p:txBody>
      </p:sp>
      <p:sp>
        <p:nvSpPr>
          <p:cNvPr id="9" name="文本框 8"/>
          <p:cNvSpPr txBox="1"/>
          <p:nvPr>
            <p:custDataLst>
              <p:tags r:id="rId2"/>
            </p:custDataLst>
          </p:nvPr>
        </p:nvSpPr>
        <p:spPr>
          <a:xfrm>
            <a:off x="598170" y="4832985"/>
            <a:ext cx="8152765" cy="1419860"/>
          </a:xfrm>
          <a:prstGeom prst="rect">
            <a:avLst/>
          </a:prstGeom>
          <a:noFill/>
        </p:spPr>
        <p:txBody>
          <a:bodyPr wrap="square" rtlCol="0" anchor="t">
            <a:spAutoFit/>
          </a:bodyPr>
          <a:p>
            <a:pPr>
              <a:lnSpc>
                <a:spcPct val="120000"/>
              </a:lnSpc>
              <a:spcBef>
                <a:spcPts val="0"/>
              </a:spcBef>
              <a:spcAft>
                <a:spcPts val="0"/>
              </a:spcAft>
            </a:pPr>
            <a:r>
              <a:rPr lang="en-US" altLang="zh-CN" sz="1800" dirty="0">
                <a:solidFill>
                  <a:srgbClr val="FF0000"/>
                </a:solidFill>
                <a:sym typeface="+mn-ea"/>
              </a:rPr>
              <a:t>[EXEC] [@</a:t>
            </a:r>
            <a:r>
              <a:rPr lang="zh-CN" altLang="en-US" sz="1800" dirty="0">
                <a:solidFill>
                  <a:srgbClr val="FF0000"/>
                </a:solidFill>
                <a:sym typeface="+mn-ea"/>
              </a:rPr>
              <a:t>状态接收变量</a:t>
            </a:r>
            <a:r>
              <a:rPr lang="en-US" altLang="zh-CN" sz="1800" dirty="0">
                <a:solidFill>
                  <a:srgbClr val="FF0000"/>
                </a:solidFill>
                <a:sym typeface="+mn-ea"/>
              </a:rPr>
              <a:t>=] </a:t>
            </a:r>
            <a:r>
              <a:rPr lang="zh-CN" altLang="en-US" sz="1800" dirty="0">
                <a:solidFill>
                  <a:srgbClr val="FF0000"/>
                </a:solidFill>
                <a:sym typeface="+mn-ea"/>
              </a:rPr>
              <a:t>过程</a:t>
            </a:r>
            <a:r>
              <a:rPr lang="zh-CN" altLang="en-US" sz="1800" dirty="0">
                <a:solidFill>
                  <a:srgbClr val="FF0000"/>
                </a:solidFill>
                <a:sym typeface="+mn-ea"/>
              </a:rPr>
              <a:t>名</a:t>
            </a:r>
            <a:endParaRPr lang="zh-CN" altLang="en-US" sz="1800" dirty="0">
              <a:solidFill>
                <a:srgbClr val="FF0000"/>
              </a:solidFill>
              <a:sym typeface="+mn-ea"/>
            </a:endParaRPr>
          </a:p>
          <a:p>
            <a:pPr>
              <a:lnSpc>
                <a:spcPct val="120000"/>
              </a:lnSpc>
              <a:spcBef>
                <a:spcPts val="0"/>
              </a:spcBef>
              <a:spcAft>
                <a:spcPts val="0"/>
              </a:spcAft>
            </a:pPr>
            <a:r>
              <a:rPr lang="en-US" altLang="zh-CN" sz="1800" dirty="0">
                <a:solidFill>
                  <a:srgbClr val="FF0000"/>
                </a:solidFill>
                <a:sym typeface="+mn-ea"/>
              </a:rPr>
              <a:t>[@</a:t>
            </a:r>
            <a:r>
              <a:rPr lang="zh-CN" altLang="en-US" sz="1800" dirty="0">
                <a:solidFill>
                  <a:srgbClr val="FF0000"/>
                </a:solidFill>
                <a:sym typeface="+mn-ea"/>
              </a:rPr>
              <a:t>参数变量</a:t>
            </a:r>
            <a:r>
              <a:rPr lang="en-US" altLang="zh-CN" sz="1800" dirty="0">
                <a:solidFill>
                  <a:srgbClr val="FF0000"/>
                </a:solidFill>
                <a:sym typeface="+mn-ea"/>
              </a:rPr>
              <a:t>=] {</a:t>
            </a:r>
            <a:r>
              <a:rPr lang="zh-CN" altLang="en-US" sz="1800" dirty="0">
                <a:solidFill>
                  <a:srgbClr val="FF0000"/>
                </a:solidFill>
                <a:sym typeface="+mn-ea"/>
              </a:rPr>
              <a:t>参数值</a:t>
            </a:r>
            <a:r>
              <a:rPr lang="en-US" altLang="zh-CN" sz="1800" dirty="0">
                <a:solidFill>
                  <a:srgbClr val="FF0000"/>
                </a:solidFill>
                <a:sym typeface="+mn-ea"/>
              </a:rPr>
              <a:t> | @</a:t>
            </a:r>
            <a:r>
              <a:rPr lang="zh-CN" altLang="en-US" sz="1800" dirty="0">
                <a:solidFill>
                  <a:srgbClr val="FF0000"/>
                </a:solidFill>
                <a:sym typeface="+mn-ea"/>
              </a:rPr>
              <a:t>局部变量</a:t>
            </a:r>
            <a:r>
              <a:rPr lang="en-US" altLang="zh-CN" sz="1800" dirty="0">
                <a:solidFill>
                  <a:srgbClr val="FF0000"/>
                </a:solidFill>
                <a:sym typeface="+mn-ea"/>
              </a:rPr>
              <a:t>} [,...n]</a:t>
            </a:r>
            <a:endParaRPr lang="en-US" altLang="zh-CN" sz="1800" dirty="0">
              <a:solidFill>
                <a:srgbClr val="FF0000"/>
              </a:solidFill>
              <a:sym typeface="+mn-ea"/>
            </a:endParaRPr>
          </a:p>
          <a:p>
            <a:pPr>
              <a:lnSpc>
                <a:spcPct val="120000"/>
              </a:lnSpc>
              <a:spcBef>
                <a:spcPts val="0"/>
              </a:spcBef>
              <a:spcAft>
                <a:spcPts val="0"/>
              </a:spcAft>
            </a:pPr>
            <a:r>
              <a:rPr lang="en-US" altLang="zh-CN" sz="1800" dirty="0">
                <a:solidFill>
                  <a:srgbClr val="FF0000"/>
                </a:solidFill>
                <a:sym typeface="+mn-ea"/>
              </a:rPr>
              <a:t>[,@</a:t>
            </a:r>
            <a:r>
              <a:rPr lang="zh-CN" altLang="en-US" sz="1800" dirty="0">
                <a:solidFill>
                  <a:srgbClr val="FF0000"/>
                </a:solidFill>
                <a:sym typeface="+mn-ea"/>
              </a:rPr>
              <a:t>接收输出的局部变量</a:t>
            </a:r>
            <a:r>
              <a:rPr lang="en-US" altLang="zh-CN" sz="1800" dirty="0">
                <a:solidFill>
                  <a:srgbClr val="FF0000"/>
                </a:solidFill>
                <a:sym typeface="+mn-ea"/>
              </a:rPr>
              <a:t> OUTPUT] </a:t>
            </a:r>
            <a:r>
              <a:rPr lang="en-US" altLang="zh-CN" sz="1800" dirty="0">
                <a:sym typeface="+mn-ea"/>
              </a:rPr>
              <a:t>/*</a:t>
            </a:r>
            <a:r>
              <a:rPr lang="zh-CN" altLang="en-US" sz="1800" dirty="0">
                <a:sym typeface="+mn-ea"/>
              </a:rPr>
              <a:t>如有输出值，则接收输出变量后应加关键字</a:t>
            </a:r>
            <a:r>
              <a:rPr lang="en-US" altLang="zh-CN" sz="1800" dirty="0">
                <a:sym typeface="+mn-ea"/>
              </a:rPr>
              <a:t>OUTPUT*/</a:t>
            </a:r>
            <a:endParaRPr lang="en-US" altLang="zh-CN" sz="1800" dirty="0">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8" grpId="0"/>
      <p:bldP spid="8" grpId="1"/>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5"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1" charset="-122"/>
              </a:rPr>
              <a:t>四、</a:t>
            </a:r>
            <a:r>
              <a:rPr lang="en-US" altLang="zh-CN" sz="3200" dirty="0">
                <a:solidFill>
                  <a:srgbClr val="FF0000"/>
                </a:solidFill>
                <a:ea typeface="黑体" panose="02010609060101010101" pitchFamily="1" charset="-122"/>
              </a:rPr>
              <a:t>T-SQL</a:t>
            </a:r>
            <a:r>
              <a:rPr lang="zh-CN" altLang="en-US" sz="3200" dirty="0">
                <a:solidFill>
                  <a:srgbClr val="FF0000"/>
                </a:solidFill>
                <a:ea typeface="黑体" panose="02010609060101010101" pitchFamily="1" charset="-122"/>
              </a:rPr>
              <a:t>编程</a:t>
            </a:r>
            <a:endParaRPr lang="zh-CN" altLang="en-US" sz="3200" dirty="0">
              <a:solidFill>
                <a:srgbClr val="FF0000"/>
              </a:solidFill>
              <a:ea typeface="黑体" panose="02010609060101010101" pitchFamily="1" charset="-122"/>
            </a:endParaRPr>
          </a:p>
        </p:txBody>
      </p:sp>
      <p:sp>
        <p:nvSpPr>
          <p:cNvPr id="7" name="文本框 20"/>
          <p:cNvSpPr txBox="1"/>
          <p:nvPr/>
        </p:nvSpPr>
        <p:spPr>
          <a:xfrm>
            <a:off x="598170" y="1318895"/>
            <a:ext cx="2364105" cy="476885"/>
          </a:xfrm>
          <a:prstGeom prst="rect">
            <a:avLst/>
          </a:prstGeom>
          <a:noFill/>
          <a:ln w="9525">
            <a:noFill/>
          </a:ln>
        </p:spPr>
        <p:txBody>
          <a:bodyPr wrap="square">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ts val="0"/>
              </a:spcBef>
              <a:spcAft>
                <a:spcPts val="0"/>
              </a:spcAft>
              <a:buClrTx/>
              <a:buSzTx/>
              <a:buFont typeface="Arial" panose="020B0604020202020204" pitchFamily="34" charset="0"/>
              <a:buNone/>
            </a:pPr>
            <a:r>
              <a:rPr lang="zh-CN" altLang="en-US" sz="2200" dirty="0">
                <a:solidFill>
                  <a:srgbClr val="0000FF"/>
                </a:solidFill>
                <a:sym typeface="+mn-ea"/>
              </a:rPr>
              <a:t>例</a:t>
            </a:r>
            <a:r>
              <a:rPr lang="en-US" altLang="zh-CN" sz="2200" dirty="0">
                <a:solidFill>
                  <a:srgbClr val="0000FF"/>
                </a:solidFill>
                <a:sym typeface="+mn-ea"/>
              </a:rPr>
              <a:t>13.</a:t>
            </a:r>
            <a:r>
              <a:rPr lang="zh-CN" dirty="0">
                <a:sym typeface="+mn-ea"/>
              </a:rPr>
              <a:t>（</a:t>
            </a:r>
            <a:r>
              <a:rPr lang="en-US" altLang="zh-CN" dirty="0">
                <a:sym typeface="+mn-ea"/>
              </a:rPr>
              <a:t>1</a:t>
            </a:r>
            <a:r>
              <a:rPr lang="zh-CN" altLang="en-US" dirty="0">
                <a:sym typeface="+mn-ea"/>
              </a:rPr>
              <a:t>）创建。</a:t>
            </a:r>
            <a:endParaRPr lang="zh-CN" altLang="en-US" dirty="0">
              <a:sym typeface="+mn-ea"/>
            </a:endParaRPr>
          </a:p>
        </p:txBody>
      </p:sp>
      <p:sp>
        <p:nvSpPr>
          <p:cNvPr id="5" name="Rectangle 3"/>
          <p:cNvSpPr txBox="1"/>
          <p:nvPr/>
        </p:nvSpPr>
        <p:spPr>
          <a:xfrm>
            <a:off x="501650" y="897255"/>
            <a:ext cx="6886575" cy="421640"/>
          </a:xfrm>
          <a:prstGeom prst="rect">
            <a:avLst/>
          </a:prstGeom>
          <a:noFill/>
          <a:ln w="9525">
            <a:noFill/>
          </a:ln>
        </p:spPr>
        <p:txBody>
          <a:bodyPr anchor="t" anchorCtr="0"/>
          <a:p>
            <a:pPr>
              <a:buFont typeface="Wingdings" panose="05000000000000000000" pitchFamily="2" charset="2"/>
            </a:pPr>
            <a:r>
              <a:rPr lang="en-US" altLang="zh-CN" sz="2400" dirty="0">
                <a:solidFill>
                  <a:srgbClr val="3333CC"/>
                </a:solidFill>
                <a:latin typeface="宋体" panose="02010600030101010101" pitchFamily="2" charset="-122"/>
                <a:ea typeface="黑体" panose="02010609060101010101" pitchFamily="1" charset="-122"/>
              </a:rPr>
              <a:t>8.</a:t>
            </a:r>
            <a:r>
              <a:rPr lang="zh-CN" altLang="en-US" sz="2400" dirty="0">
                <a:solidFill>
                  <a:srgbClr val="3333CC"/>
                </a:solidFill>
                <a:latin typeface="宋体" panose="02010600030101010101" pitchFamily="2" charset="-122"/>
                <a:ea typeface="黑体" panose="02010609060101010101" pitchFamily="1" charset="-122"/>
              </a:rPr>
              <a:t>存储</a:t>
            </a:r>
            <a:r>
              <a:rPr lang="zh-CN" altLang="en-US" sz="2400" dirty="0">
                <a:solidFill>
                  <a:srgbClr val="3333CC"/>
                </a:solidFill>
                <a:latin typeface="宋体" panose="02010600030101010101" pitchFamily="2" charset="-122"/>
                <a:ea typeface="黑体" panose="02010609060101010101" pitchFamily="1" charset="-122"/>
              </a:rPr>
              <a:t>过程</a:t>
            </a:r>
            <a:endParaRPr lang="zh-CN" altLang="en-US" sz="2400" dirty="0">
              <a:solidFill>
                <a:srgbClr val="3333CC"/>
              </a:solidFill>
              <a:latin typeface="宋体" panose="02010600030101010101" pitchFamily="2" charset="-122"/>
              <a:ea typeface="黑体" panose="02010609060101010101" pitchFamily="1" charset="-122"/>
            </a:endParaRPr>
          </a:p>
        </p:txBody>
      </p:sp>
      <p:sp>
        <p:nvSpPr>
          <p:cNvPr id="4" name="文本框 3"/>
          <p:cNvSpPr txBox="1"/>
          <p:nvPr>
            <p:custDataLst>
              <p:tags r:id="rId1"/>
            </p:custDataLst>
          </p:nvPr>
        </p:nvSpPr>
        <p:spPr>
          <a:xfrm>
            <a:off x="2791460" y="1131570"/>
            <a:ext cx="6036945" cy="2861310"/>
          </a:xfrm>
          <a:prstGeom prst="rect">
            <a:avLst/>
          </a:prstGeom>
          <a:noFill/>
        </p:spPr>
        <p:txBody>
          <a:bodyPr wrap="square" rtlCol="0" anchor="t">
            <a:spAutoFit/>
          </a:bodyPr>
          <a:p>
            <a:pPr>
              <a:lnSpc>
                <a:spcPct val="100000"/>
              </a:lnSpc>
              <a:spcBef>
                <a:spcPts val="0"/>
              </a:spcBef>
              <a:spcAft>
                <a:spcPts val="0"/>
              </a:spcAft>
            </a:pPr>
            <a:r>
              <a:rPr lang="en-US" altLang="zh-CN" sz="2000" dirty="0">
                <a:solidFill>
                  <a:srgbClr val="0000FF"/>
                </a:solidFill>
                <a:sym typeface="+mn-ea"/>
              </a:rPr>
              <a:t>CREATE PROC</a:t>
            </a:r>
            <a:r>
              <a:rPr lang="en-US" altLang="zh-CN" sz="2000" dirty="0">
                <a:sym typeface="+mn-ea"/>
              </a:rPr>
              <a:t> num_ctake</a:t>
            </a:r>
            <a:endParaRPr lang="en-US" altLang="zh-CN" sz="2000" dirty="0">
              <a:sym typeface="+mn-ea"/>
            </a:endParaRPr>
          </a:p>
          <a:p>
            <a:pPr>
              <a:lnSpc>
                <a:spcPct val="100000"/>
              </a:lnSpc>
              <a:spcBef>
                <a:spcPts val="0"/>
              </a:spcBef>
              <a:spcAft>
                <a:spcPts val="0"/>
              </a:spcAft>
            </a:pPr>
            <a:r>
              <a:rPr lang="en-US" altLang="zh-CN" sz="2000" dirty="0">
                <a:sym typeface="+mn-ea"/>
              </a:rPr>
              <a:t>( @cid </a:t>
            </a:r>
            <a:r>
              <a:rPr lang="en-US" altLang="zh-CN" sz="2000" dirty="0">
                <a:solidFill>
                  <a:srgbClr val="0000FF"/>
                </a:solidFill>
                <a:sym typeface="+mn-ea"/>
              </a:rPr>
              <a:t>char(6</a:t>
            </a:r>
            <a:r>
              <a:rPr lang="en-US" altLang="zh-CN" sz="2000" dirty="0">
                <a:sym typeface="+mn-ea"/>
              </a:rPr>
              <a:t>),                         /*输入参数*/</a:t>
            </a:r>
            <a:endParaRPr lang="en-US" altLang="zh-CN" sz="2000" dirty="0">
              <a:sym typeface="+mn-ea"/>
            </a:endParaRPr>
          </a:p>
          <a:p>
            <a:pPr>
              <a:lnSpc>
                <a:spcPct val="100000"/>
              </a:lnSpc>
              <a:spcBef>
                <a:spcPts val="0"/>
              </a:spcBef>
              <a:spcAft>
                <a:spcPts val="0"/>
              </a:spcAft>
            </a:pPr>
            <a:r>
              <a:rPr lang="en-US" altLang="zh-CN" sz="2000" dirty="0">
                <a:sym typeface="+mn-ea"/>
              </a:rPr>
              <a:t>  @tot_ctake </a:t>
            </a:r>
            <a:r>
              <a:rPr lang="en-US" altLang="zh-CN" sz="2000" dirty="0">
                <a:solidFill>
                  <a:srgbClr val="0000FF"/>
                </a:solidFill>
                <a:sym typeface="+mn-ea"/>
              </a:rPr>
              <a:t>int OUTPUT</a:t>
            </a:r>
            <a:r>
              <a:rPr lang="en-US" altLang="zh-CN" sz="2000" dirty="0">
                <a:sym typeface="+mn-ea"/>
              </a:rPr>
              <a:t>)               /*输出参数*/</a:t>
            </a:r>
            <a:endParaRPr lang="en-US" altLang="zh-CN" sz="2000" dirty="0">
              <a:sym typeface="+mn-ea"/>
            </a:endParaRPr>
          </a:p>
          <a:p>
            <a:pPr>
              <a:lnSpc>
                <a:spcPct val="100000"/>
              </a:lnSpc>
              <a:spcBef>
                <a:spcPts val="0"/>
              </a:spcBef>
              <a:spcAft>
                <a:spcPts val="0"/>
              </a:spcAft>
            </a:pPr>
            <a:r>
              <a:rPr lang="en-US" altLang="zh-CN" sz="2000" dirty="0">
                <a:sym typeface="+mn-ea"/>
              </a:rPr>
              <a:t>AS</a:t>
            </a:r>
            <a:endParaRPr lang="en-US" altLang="zh-CN" sz="2000" dirty="0">
              <a:sym typeface="+mn-ea"/>
            </a:endParaRPr>
          </a:p>
          <a:p>
            <a:pPr>
              <a:lnSpc>
                <a:spcPct val="100000"/>
              </a:lnSpc>
              <a:spcBef>
                <a:spcPts val="0"/>
              </a:spcBef>
              <a:spcAft>
                <a:spcPts val="0"/>
              </a:spcAft>
            </a:pPr>
            <a:r>
              <a:rPr lang="en-US" altLang="zh-CN" sz="2000" dirty="0">
                <a:sym typeface="+mn-ea"/>
              </a:rPr>
              <a:t>  </a:t>
            </a:r>
            <a:r>
              <a:rPr lang="en-US" altLang="zh-CN" sz="2000" dirty="0">
                <a:solidFill>
                  <a:srgbClr val="0000FF"/>
                </a:solidFill>
                <a:sym typeface="+mn-ea"/>
              </a:rPr>
              <a:t>BEGIN</a:t>
            </a:r>
            <a:endParaRPr lang="en-US" altLang="zh-CN" sz="2000" dirty="0">
              <a:solidFill>
                <a:srgbClr val="0000FF"/>
              </a:solidFill>
              <a:sym typeface="+mn-ea"/>
            </a:endParaRPr>
          </a:p>
          <a:p>
            <a:pPr>
              <a:lnSpc>
                <a:spcPct val="100000"/>
              </a:lnSpc>
              <a:spcBef>
                <a:spcPts val="0"/>
              </a:spcBef>
              <a:spcAft>
                <a:spcPts val="0"/>
              </a:spcAft>
            </a:pPr>
            <a:r>
              <a:rPr lang="en-US" altLang="zh-CN" sz="2000" dirty="0">
                <a:sym typeface="+mn-ea"/>
              </a:rPr>
              <a:t>     </a:t>
            </a:r>
            <a:r>
              <a:rPr lang="en-US" altLang="zh-CN" sz="2000" dirty="0">
                <a:solidFill>
                  <a:srgbClr val="0000FF"/>
                </a:solidFill>
                <a:sym typeface="+mn-ea"/>
              </a:rPr>
              <a:t>SELECT </a:t>
            </a:r>
            <a:r>
              <a:rPr lang="en-US" altLang="zh-CN" sz="2000" dirty="0">
                <a:sym typeface="+mn-ea"/>
              </a:rPr>
              <a:t>@tot_ctake=count(SID) </a:t>
            </a:r>
            <a:endParaRPr lang="en-US" altLang="zh-CN" sz="2000" dirty="0">
              <a:sym typeface="+mn-ea"/>
            </a:endParaRPr>
          </a:p>
          <a:p>
            <a:pPr>
              <a:lnSpc>
                <a:spcPct val="100000"/>
              </a:lnSpc>
              <a:spcBef>
                <a:spcPts val="0"/>
              </a:spcBef>
              <a:spcAft>
                <a:spcPts val="0"/>
              </a:spcAft>
            </a:pPr>
            <a:r>
              <a:rPr lang="en-US" altLang="zh-CN" sz="2000" dirty="0">
                <a:sym typeface="+mn-ea"/>
              </a:rPr>
              <a:t>     </a:t>
            </a:r>
            <a:r>
              <a:rPr lang="en-US" altLang="zh-CN" sz="2000" dirty="0">
                <a:solidFill>
                  <a:srgbClr val="0000FF"/>
                </a:solidFill>
                <a:sym typeface="+mn-ea"/>
              </a:rPr>
              <a:t>FROM</a:t>
            </a:r>
            <a:r>
              <a:rPr lang="en-US" altLang="zh-CN" sz="2000" dirty="0">
                <a:sym typeface="+mn-ea"/>
              </a:rPr>
              <a:t> ctake  </a:t>
            </a:r>
            <a:r>
              <a:rPr lang="en-US" altLang="zh-CN" sz="2000" dirty="0">
                <a:solidFill>
                  <a:srgbClr val="0000FF"/>
                </a:solidFill>
                <a:sym typeface="+mn-ea"/>
              </a:rPr>
              <a:t>  WHERE</a:t>
            </a:r>
            <a:r>
              <a:rPr lang="en-US" altLang="zh-CN" sz="2000" dirty="0">
                <a:sym typeface="+mn-ea"/>
              </a:rPr>
              <a:t> cid=@cid</a:t>
            </a:r>
            <a:endParaRPr lang="en-US" altLang="zh-CN" sz="2000" dirty="0">
              <a:sym typeface="+mn-ea"/>
            </a:endParaRPr>
          </a:p>
          <a:p>
            <a:pPr>
              <a:lnSpc>
                <a:spcPct val="100000"/>
              </a:lnSpc>
              <a:spcBef>
                <a:spcPts val="0"/>
              </a:spcBef>
              <a:spcAft>
                <a:spcPts val="0"/>
              </a:spcAft>
            </a:pPr>
            <a:r>
              <a:rPr lang="en-US" altLang="zh-CN" sz="2000" dirty="0">
                <a:solidFill>
                  <a:srgbClr val="0000FF"/>
                </a:solidFill>
                <a:sym typeface="+mn-ea"/>
              </a:rPr>
              <a:t>     SELECT</a:t>
            </a:r>
            <a:r>
              <a:rPr lang="en-US" altLang="zh-CN" sz="2000" dirty="0">
                <a:sym typeface="+mn-ea"/>
              </a:rPr>
              <a:t> @tot_ctake as '选课人数'</a:t>
            </a:r>
            <a:endParaRPr lang="en-US" altLang="zh-CN" sz="2000" dirty="0">
              <a:sym typeface="+mn-ea"/>
            </a:endParaRPr>
          </a:p>
          <a:p>
            <a:pPr>
              <a:lnSpc>
                <a:spcPct val="100000"/>
              </a:lnSpc>
              <a:spcBef>
                <a:spcPts val="0"/>
              </a:spcBef>
              <a:spcAft>
                <a:spcPts val="0"/>
              </a:spcAft>
            </a:pPr>
            <a:r>
              <a:rPr lang="en-US" altLang="zh-CN" sz="2000" dirty="0">
                <a:sym typeface="+mn-ea"/>
              </a:rPr>
              <a:t>   END</a:t>
            </a:r>
            <a:endParaRPr lang="en-US" altLang="zh-CN" sz="2000" dirty="0">
              <a:sym typeface="+mn-ea"/>
            </a:endParaRPr>
          </a:p>
        </p:txBody>
      </p:sp>
      <p:sp>
        <p:nvSpPr>
          <p:cNvPr id="3" name="文本框 20"/>
          <p:cNvSpPr txBox="1"/>
          <p:nvPr/>
        </p:nvSpPr>
        <p:spPr>
          <a:xfrm>
            <a:off x="327660" y="3943985"/>
            <a:ext cx="2364105" cy="476885"/>
          </a:xfrm>
          <a:prstGeom prst="rect">
            <a:avLst/>
          </a:prstGeom>
          <a:noFill/>
          <a:ln w="9525">
            <a:noFill/>
          </a:ln>
        </p:spPr>
        <p:txBody>
          <a:bodyPr wrap="square">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ts val="0"/>
              </a:spcBef>
              <a:spcAft>
                <a:spcPts val="0"/>
              </a:spcAft>
              <a:buClrTx/>
              <a:buSzTx/>
              <a:buFont typeface="Arial" panose="020B0604020202020204" pitchFamily="34" charset="0"/>
              <a:buNone/>
            </a:pPr>
            <a:r>
              <a:rPr lang="zh-CN" dirty="0">
                <a:sym typeface="+mn-ea"/>
              </a:rPr>
              <a:t>（</a:t>
            </a:r>
            <a:r>
              <a:rPr lang="en-US" altLang="zh-CN" dirty="0">
                <a:sym typeface="+mn-ea"/>
              </a:rPr>
              <a:t>2</a:t>
            </a:r>
            <a:r>
              <a:rPr lang="zh-CN" altLang="en-US" dirty="0">
                <a:sym typeface="+mn-ea"/>
              </a:rPr>
              <a:t>）</a:t>
            </a:r>
            <a:r>
              <a:rPr lang="zh-CN" altLang="en-US" dirty="0">
                <a:sym typeface="+mn-ea"/>
              </a:rPr>
              <a:t>调用。</a:t>
            </a:r>
            <a:endParaRPr lang="zh-CN" altLang="en-US" dirty="0">
              <a:sym typeface="+mn-ea"/>
            </a:endParaRPr>
          </a:p>
        </p:txBody>
      </p:sp>
      <p:sp>
        <p:nvSpPr>
          <p:cNvPr id="8" name="文本框 7"/>
          <p:cNvSpPr txBox="1"/>
          <p:nvPr>
            <p:custDataLst>
              <p:tags r:id="rId2"/>
            </p:custDataLst>
          </p:nvPr>
        </p:nvSpPr>
        <p:spPr>
          <a:xfrm>
            <a:off x="1917065" y="4051935"/>
            <a:ext cx="6769100" cy="1506855"/>
          </a:xfrm>
          <a:prstGeom prst="rect">
            <a:avLst/>
          </a:prstGeom>
          <a:noFill/>
        </p:spPr>
        <p:txBody>
          <a:bodyPr wrap="square" rtlCol="0" anchor="t">
            <a:spAutoFit/>
          </a:bodyPr>
          <a:p>
            <a:pPr>
              <a:lnSpc>
                <a:spcPct val="115000"/>
              </a:lnSpc>
              <a:spcBef>
                <a:spcPts val="0"/>
              </a:spcBef>
              <a:spcAft>
                <a:spcPts val="0"/>
              </a:spcAft>
            </a:pPr>
            <a:r>
              <a:rPr lang="en-US" altLang="zh-CN" sz="2000" dirty="0">
                <a:solidFill>
                  <a:srgbClr val="0000FF"/>
                </a:solidFill>
                <a:sym typeface="+mn-ea"/>
              </a:rPr>
              <a:t>DECLARE </a:t>
            </a:r>
            <a:r>
              <a:rPr lang="en-US" altLang="zh-CN" sz="2000" dirty="0">
                <a:solidFill>
                  <a:schemeClr val="tx1"/>
                </a:solidFill>
                <a:sym typeface="+mn-ea"/>
              </a:rPr>
              <a:t>@ret</a:t>
            </a:r>
            <a:r>
              <a:rPr lang="en-US" altLang="zh-CN" sz="2000" dirty="0">
                <a:solidFill>
                  <a:srgbClr val="0000FF"/>
                </a:solidFill>
                <a:sym typeface="+mn-ea"/>
              </a:rPr>
              <a:t> </a:t>
            </a:r>
            <a:r>
              <a:rPr lang="en-US" altLang="zh-CN" sz="2000" dirty="0">
                <a:solidFill>
                  <a:srgbClr val="0000FF"/>
                </a:solidFill>
                <a:sym typeface="+mn-ea"/>
              </a:rPr>
              <a:t>int</a:t>
            </a:r>
            <a:endParaRPr lang="en-US" altLang="zh-CN" sz="2000" dirty="0">
              <a:solidFill>
                <a:srgbClr val="0000FF"/>
              </a:solidFill>
              <a:sym typeface="+mn-ea"/>
            </a:endParaRPr>
          </a:p>
          <a:p>
            <a:pPr>
              <a:lnSpc>
                <a:spcPct val="115000"/>
              </a:lnSpc>
              <a:spcBef>
                <a:spcPts val="0"/>
              </a:spcBef>
              <a:spcAft>
                <a:spcPts val="0"/>
              </a:spcAft>
            </a:pPr>
            <a:r>
              <a:rPr lang="en-US" altLang="zh-CN" sz="2000" dirty="0">
                <a:solidFill>
                  <a:srgbClr val="0000FF"/>
                </a:solidFill>
                <a:sym typeface="+mn-ea"/>
              </a:rPr>
              <a:t>DECLARE </a:t>
            </a:r>
            <a:r>
              <a:rPr lang="en-US" altLang="zh-CN" sz="2000" dirty="0">
                <a:solidFill>
                  <a:schemeClr val="tx1"/>
                </a:solidFill>
                <a:sym typeface="+mn-ea"/>
              </a:rPr>
              <a:t>@total</a:t>
            </a:r>
            <a:r>
              <a:rPr lang="en-US" altLang="zh-CN" sz="2000" dirty="0">
                <a:solidFill>
                  <a:srgbClr val="0000FF"/>
                </a:solidFill>
                <a:sym typeface="+mn-ea"/>
              </a:rPr>
              <a:t> </a:t>
            </a:r>
            <a:r>
              <a:rPr lang="en-US" altLang="zh-CN" sz="2000" dirty="0">
                <a:solidFill>
                  <a:srgbClr val="0000FF"/>
                </a:solidFill>
                <a:sym typeface="+mn-ea"/>
              </a:rPr>
              <a:t>int</a:t>
            </a:r>
            <a:endParaRPr lang="en-US" altLang="zh-CN" sz="2000" dirty="0">
              <a:solidFill>
                <a:srgbClr val="0000FF"/>
              </a:solidFill>
              <a:sym typeface="+mn-ea"/>
            </a:endParaRPr>
          </a:p>
          <a:p>
            <a:pPr>
              <a:lnSpc>
                <a:spcPct val="115000"/>
              </a:lnSpc>
              <a:spcBef>
                <a:spcPts val="0"/>
              </a:spcBef>
              <a:spcAft>
                <a:spcPts val="0"/>
              </a:spcAft>
            </a:pPr>
            <a:r>
              <a:rPr lang="en-US" altLang="zh-CN" sz="2000" dirty="0">
                <a:solidFill>
                  <a:srgbClr val="0000FF"/>
                </a:solidFill>
                <a:sym typeface="+mn-ea"/>
              </a:rPr>
              <a:t>EXEC </a:t>
            </a:r>
            <a:r>
              <a:rPr lang="en-US" altLang="zh-CN" sz="2000" dirty="0">
                <a:solidFill>
                  <a:schemeClr val="tx1"/>
                </a:solidFill>
                <a:sym typeface="+mn-ea"/>
              </a:rPr>
              <a:t>@ret=</a:t>
            </a:r>
            <a:r>
              <a:rPr lang="en-US" altLang="zh-CN" sz="2000" dirty="0">
                <a:sym typeface="+mn-ea"/>
              </a:rPr>
              <a:t>num_ctake</a:t>
            </a:r>
            <a:r>
              <a:rPr lang="en-US" altLang="zh-CN" sz="2000" dirty="0">
                <a:solidFill>
                  <a:srgbClr val="0000FF"/>
                </a:solidFill>
                <a:sym typeface="+mn-ea"/>
              </a:rPr>
              <a:t> </a:t>
            </a:r>
            <a:r>
              <a:rPr lang="en-US" altLang="zh-CN" sz="2000" dirty="0">
                <a:sym typeface="+mn-ea"/>
              </a:rPr>
              <a:t>@</a:t>
            </a:r>
            <a:r>
              <a:rPr lang="en-US" altLang="zh-CN" sz="2000" dirty="0">
                <a:sym typeface="+mn-ea"/>
              </a:rPr>
              <a:t>cid</a:t>
            </a:r>
            <a:r>
              <a:rPr lang="en-US" altLang="zh-CN" sz="2000" dirty="0">
                <a:sym typeface="+mn-ea"/>
              </a:rPr>
              <a:t>=’bk1001’,</a:t>
            </a:r>
            <a:r>
              <a:rPr lang="en-US" altLang="zh-CN" sz="2000" dirty="0">
                <a:sym typeface="+mn-ea"/>
              </a:rPr>
              <a:t>@tot_ctake</a:t>
            </a:r>
            <a:r>
              <a:rPr lang="en-US" altLang="zh-CN" sz="2000" dirty="0">
                <a:sym typeface="+mn-ea"/>
              </a:rPr>
              <a:t>=@total </a:t>
            </a:r>
            <a:r>
              <a:rPr lang="en-US" altLang="zh-CN" sz="2000" dirty="0">
                <a:solidFill>
                  <a:srgbClr val="0000FF"/>
                </a:solidFill>
                <a:sym typeface="+mn-ea"/>
              </a:rPr>
              <a:t>OUTPUT</a:t>
            </a:r>
            <a:r>
              <a:rPr lang="en-US" altLang="zh-CN" sz="2000" dirty="0">
                <a:solidFill>
                  <a:srgbClr val="0000FF"/>
                </a:solidFill>
                <a:sym typeface="+mn-ea"/>
              </a:rPr>
              <a:t>   </a:t>
            </a:r>
            <a:endParaRPr lang="en-US" altLang="zh-CN" sz="2000" dirty="0">
              <a:solidFill>
                <a:srgbClr val="0000FF"/>
              </a:solidFill>
              <a:sym typeface="+mn-ea"/>
            </a:endParaRPr>
          </a:p>
        </p:txBody>
      </p:sp>
      <p:sp>
        <p:nvSpPr>
          <p:cNvPr id="9" name="文本框 20"/>
          <p:cNvSpPr txBox="1"/>
          <p:nvPr/>
        </p:nvSpPr>
        <p:spPr>
          <a:xfrm>
            <a:off x="958850" y="5539740"/>
            <a:ext cx="859790" cy="476885"/>
          </a:xfrm>
          <a:prstGeom prst="rect">
            <a:avLst/>
          </a:prstGeom>
          <a:noFill/>
          <a:ln w="9525">
            <a:noFill/>
          </a:ln>
        </p:spPr>
        <p:txBody>
          <a:bodyPr wrap="square">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ts val="0"/>
              </a:spcBef>
              <a:spcAft>
                <a:spcPts val="0"/>
              </a:spcAft>
              <a:buClrTx/>
              <a:buSzTx/>
              <a:buFont typeface="Arial" panose="020B0604020202020204" pitchFamily="34" charset="0"/>
              <a:buNone/>
            </a:pPr>
            <a:r>
              <a:rPr lang="zh-CN" sz="2200" dirty="0">
                <a:sym typeface="+mn-ea"/>
              </a:rPr>
              <a:t>或</a:t>
            </a:r>
            <a:endParaRPr lang="zh-CN" sz="2200" dirty="0">
              <a:sym typeface="+mn-ea"/>
            </a:endParaRPr>
          </a:p>
        </p:txBody>
      </p:sp>
      <p:sp>
        <p:nvSpPr>
          <p:cNvPr id="10" name="文本框 9"/>
          <p:cNvSpPr txBox="1"/>
          <p:nvPr/>
        </p:nvSpPr>
        <p:spPr>
          <a:xfrm>
            <a:off x="1671320" y="5617845"/>
            <a:ext cx="6661785" cy="398780"/>
          </a:xfrm>
          <a:prstGeom prst="rect">
            <a:avLst/>
          </a:prstGeom>
          <a:noFill/>
        </p:spPr>
        <p:txBody>
          <a:bodyPr wrap="square" rtlCol="0" anchor="t">
            <a:spAutoFit/>
          </a:bodyPr>
          <a:p>
            <a:r>
              <a:rPr lang="en-US" altLang="zh-CN" sz="2000" dirty="0">
                <a:solidFill>
                  <a:srgbClr val="0000FF"/>
                </a:solidFill>
                <a:sym typeface="+mn-ea"/>
              </a:rPr>
              <a:t>EXEC</a:t>
            </a:r>
            <a:r>
              <a:rPr lang="en-US" altLang="zh-CN" sz="2000" dirty="0">
                <a:sym typeface="+mn-ea"/>
              </a:rPr>
              <a:t> @ret= num_ctake 'bk1001',@total </a:t>
            </a:r>
            <a:r>
              <a:rPr lang="en-US" altLang="zh-CN" sz="2000" dirty="0">
                <a:solidFill>
                  <a:srgbClr val="0000FF"/>
                </a:solidFill>
                <a:sym typeface="+mn-ea"/>
              </a:rPr>
              <a:t>OUTPUT </a:t>
            </a:r>
            <a:endParaRPr lang="en-US" altLang="zh-CN" sz="2000" dirty="0">
              <a:solidFill>
                <a:srgbClr val="0000FF"/>
              </a:solidFill>
              <a:sym typeface="+mn-ea"/>
            </a:endParaRPr>
          </a:p>
        </p:txBody>
      </p:sp>
      <p:pic>
        <p:nvPicPr>
          <p:cNvPr id="6" name="图片 5"/>
          <p:cNvPicPr>
            <a:picLocks noChangeAspect="1"/>
          </p:cNvPicPr>
          <p:nvPr/>
        </p:nvPicPr>
        <p:blipFill>
          <a:blip r:embed="rId3"/>
          <a:stretch>
            <a:fillRect/>
          </a:stretch>
        </p:blipFill>
        <p:spPr>
          <a:xfrm>
            <a:off x="2437130" y="4051935"/>
            <a:ext cx="6096000" cy="2026920"/>
          </a:xfrm>
          <a:prstGeom prst="rect">
            <a:avLst/>
          </a:prstGeom>
          <a:ln>
            <a:solidFill>
              <a:schemeClr val="accent1"/>
            </a:solid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ppt_x"/>
                                          </p:val>
                                        </p:tav>
                                        <p:tav tm="100000">
                                          <p:val>
                                            <p:strVal val="#ppt_x"/>
                                          </p:val>
                                        </p:tav>
                                      </p:tavLst>
                                    </p:anim>
                                    <p:anim calcmode="lin" valueType="num">
                                      <p:cBhvr additive="base">
                                        <p:cTn id="16" dur="500" fill="hold"/>
                                        <p:tgtEl>
                                          <p:spTgt spid="9"/>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ppt_x"/>
                                          </p:val>
                                        </p:tav>
                                        <p:tav tm="100000">
                                          <p:val>
                                            <p:strVal val="#ppt_x"/>
                                          </p:val>
                                        </p:tav>
                                      </p:tavLst>
                                    </p:anim>
                                    <p:anim calcmode="lin" valueType="num">
                                      <p:cBhvr additive="base">
                                        <p:cTn id="2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P spid="9" grpId="0"/>
      <p:bldP spid="10" grpId="0"/>
      <p:bldP spid="3" grpId="1"/>
      <p:bldP spid="8" grpId="1"/>
      <p:bldP spid="9" grpId="1"/>
      <p:bldP spid="10" grpId="1"/>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82" name="Rectangle 4"/>
          <p:cNvSpPr txBox="1"/>
          <p:nvPr/>
        </p:nvSpPr>
        <p:spPr>
          <a:xfrm>
            <a:off x="530225" y="101600"/>
            <a:ext cx="8229600" cy="706438"/>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3333CC"/>
                </a:solidFill>
                <a:latin typeface="楷体_GB2312" pitchFamily="1" charset="-122"/>
                <a:ea typeface="楷体_GB2312" pitchFamily="1" charset="-122"/>
              </a:rPr>
              <a:t>本章小结</a:t>
            </a:r>
            <a:endParaRPr lang="de-DE" altLang="en-US" sz="3200" dirty="0">
              <a:solidFill>
                <a:srgbClr val="3333CC"/>
              </a:solidFill>
              <a:latin typeface="楷体_GB2312" pitchFamily="1" charset="-122"/>
              <a:ea typeface="楷体_GB2312" pitchFamily="1" charset="-122"/>
            </a:endParaRPr>
          </a:p>
        </p:txBody>
      </p:sp>
      <p:sp>
        <p:nvSpPr>
          <p:cNvPr id="122883" name="Rectangle 3"/>
          <p:cNvSpPr txBox="1"/>
          <p:nvPr/>
        </p:nvSpPr>
        <p:spPr>
          <a:xfrm>
            <a:off x="584200" y="987425"/>
            <a:ext cx="8152130" cy="512445"/>
          </a:xfrm>
          <a:prstGeom prst="rect">
            <a:avLst/>
          </a:prstGeom>
          <a:noFill/>
          <a:ln w="9525">
            <a:noFill/>
          </a:ln>
        </p:spPr>
        <p:txBody>
          <a:bodyPr/>
          <a:lstStyle/>
          <a:p>
            <a:pPr marL="342900" marR="0" indent="-342900" defTabSz="914400" eaLnBrk="1" hangingPunct="1">
              <a:spcBef>
                <a:spcPct val="50000"/>
              </a:spcBef>
              <a:buClr>
                <a:srgbClr val="0033CC"/>
              </a:buClr>
              <a:buSzTx/>
              <a:buFont typeface="Wingdings" panose="05000000000000000000" pitchFamily="2" charset="2"/>
              <a:buChar char="p"/>
              <a:defRPr/>
            </a:pPr>
            <a:r>
              <a:rPr kumimoji="0" lang="en-US" altLang="x-none" sz="2400" kern="1200" cap="none" spc="0" normalizeH="0" baseline="0" noProof="1">
                <a:latin typeface="华文楷体" panose="02010600040101010101" pitchFamily="2" charset="-122"/>
                <a:ea typeface="宋体" panose="02010600030101010101" pitchFamily="2" charset="-122"/>
                <a:cs typeface="+mn-ea"/>
              </a:rPr>
              <a:t>SQL</a:t>
            </a:r>
            <a:r>
              <a:rPr kumimoji="0" lang="zh-CN" altLang="en-US" sz="2400" kern="1200" cap="none" spc="0" normalizeH="0" baseline="0" noProof="1">
                <a:latin typeface="华文楷体" panose="02010600040101010101" pitchFamily="2" charset="-122"/>
                <a:ea typeface="宋体" panose="02010600030101010101" pitchFamily="2" charset="-122"/>
                <a:cs typeface="+mn-ea"/>
              </a:rPr>
              <a:t>语言介绍</a:t>
            </a:r>
            <a:endParaRPr kumimoji="0" lang="zh-CN" altLang="en-US" sz="2400" kern="1200" cap="none" spc="0" normalizeH="0" baseline="0" noProof="1">
              <a:latin typeface="华文楷体" panose="02010600040101010101" pitchFamily="2" charset="-122"/>
              <a:ea typeface="宋体" panose="02010600030101010101" pitchFamily="2" charset="-122"/>
              <a:cs typeface="+mn-cs"/>
            </a:endParaRPr>
          </a:p>
          <a:p>
            <a:pPr marL="742950" marR="0" lvl="1" indent="-285750" algn="l" defTabSz="914400" rtl="0" eaLnBrk="1" fontAlgn="base" latinLnBrk="0" hangingPunct="1">
              <a:lnSpc>
                <a:spcPct val="100000"/>
              </a:lnSpc>
              <a:spcBef>
                <a:spcPts val="600"/>
              </a:spcBef>
              <a:spcAft>
                <a:spcPct val="0"/>
              </a:spcAft>
              <a:buClr>
                <a:schemeClr val="accent2"/>
              </a:buClr>
              <a:buSzPct val="70000"/>
              <a:buFont typeface="Arial" panose="020B0604020202020204" pitchFamily="34" charset="0"/>
              <a:buNone/>
              <a:defRPr/>
            </a:pPr>
            <a:endParaRPr kumimoji="0" lang="zh-CN" altLang="en-US" sz="2400" b="0" i="0" u="none" strike="noStrike" kern="1200" cap="none" spc="0" normalizeH="0" baseline="0" noProof="1">
              <a:ln>
                <a:noFill/>
              </a:ln>
              <a:solidFill>
                <a:schemeClr val="tx1"/>
              </a:solidFill>
              <a:effectLst/>
              <a:uLnTx/>
              <a:uFillTx/>
              <a:latin typeface="楷体" panose="02010609060101010101" pitchFamily="1" charset="-122"/>
              <a:ea typeface="楷体" panose="02010609060101010101" pitchFamily="1" charset="-122"/>
              <a:cs typeface="+mn-cs"/>
            </a:endParaRPr>
          </a:p>
        </p:txBody>
      </p:sp>
      <p:sp>
        <p:nvSpPr>
          <p:cNvPr id="2" name="Rectangle 3"/>
          <p:cNvSpPr txBox="1"/>
          <p:nvPr/>
        </p:nvSpPr>
        <p:spPr>
          <a:xfrm>
            <a:off x="584200" y="1548765"/>
            <a:ext cx="8152130" cy="1817370"/>
          </a:xfrm>
          <a:prstGeom prst="rect">
            <a:avLst/>
          </a:prstGeom>
          <a:noFill/>
          <a:ln w="9525">
            <a:noFill/>
          </a:ln>
        </p:spPr>
        <p:txBody>
          <a:bodyPr/>
          <a:p>
            <a:pPr marL="342900" marR="0" indent="-342900" defTabSz="914400" eaLnBrk="1" hangingPunct="1">
              <a:spcBef>
                <a:spcPct val="50000"/>
              </a:spcBef>
              <a:buClr>
                <a:srgbClr val="0033CC"/>
              </a:buClr>
              <a:buSzTx/>
              <a:buFont typeface="Wingdings" panose="05000000000000000000" pitchFamily="2" charset="2"/>
              <a:buChar char="p"/>
              <a:defRPr/>
            </a:pPr>
            <a:r>
              <a:rPr kumimoji="0" lang="zh-CN" altLang="en-US" sz="2400" kern="1200" cap="none" spc="0" normalizeH="0" baseline="0" noProof="1">
                <a:latin typeface="华文楷体" panose="02010600040101010101" pitchFamily="2" charset="-122"/>
                <a:ea typeface="宋体" panose="02010600030101010101" pitchFamily="2" charset="-122"/>
                <a:cs typeface="+mn-ea"/>
              </a:rPr>
              <a:t>定义子语言</a:t>
            </a:r>
            <a:r>
              <a:rPr kumimoji="0" lang="en-US" altLang="x-none" sz="2400" kern="1200" cap="none" spc="0" normalizeH="0" baseline="0" noProof="1">
                <a:latin typeface="华文楷体" panose="02010600040101010101" pitchFamily="2" charset="-122"/>
                <a:ea typeface="宋体" panose="02010600030101010101" pitchFamily="2" charset="-122"/>
                <a:cs typeface="+mn-ea"/>
              </a:rPr>
              <a:t>DDL</a:t>
            </a:r>
            <a:r>
              <a:rPr kumimoji="0" lang="zh-CN" altLang="en-US" sz="2400" kern="1200" cap="none" spc="0" normalizeH="0" baseline="0" noProof="1">
                <a:latin typeface="华文楷体" panose="02010600040101010101" pitchFamily="2" charset="-122"/>
                <a:ea typeface="宋体" panose="02010600030101010101" pitchFamily="2" charset="-122"/>
                <a:cs typeface="+mn-ea"/>
              </a:rPr>
              <a:t>的使用</a:t>
            </a:r>
            <a:endParaRPr kumimoji="0" lang="zh-CN" altLang="en-US" sz="2400" kern="1200" cap="none" spc="0" normalizeH="0" baseline="0" noProof="1">
              <a:latin typeface="华文楷体" panose="02010600040101010101" pitchFamily="2" charset="-122"/>
              <a:ea typeface="宋体" panose="02010600030101010101" pitchFamily="2" charset="-122"/>
              <a:cs typeface="+mn-cs"/>
            </a:endParaRPr>
          </a:p>
          <a:p>
            <a:pPr marL="742950" marR="0" lvl="1" indent="-285750" algn="l" defTabSz="914400" rtl="0" eaLnBrk="1" fontAlgn="base" latinLnBrk="0" hangingPunct="1">
              <a:lnSpc>
                <a:spcPct val="100000"/>
              </a:lnSpc>
              <a:spcBef>
                <a:spcPct val="50000"/>
              </a:spcBef>
              <a:spcAft>
                <a:spcPct val="0"/>
              </a:spcAft>
              <a:buClr>
                <a:schemeClr val="accent2"/>
              </a:buClr>
              <a:buSzPct val="70000"/>
              <a:buFont typeface="Wingdings" panose="05000000000000000000" pitchFamily="2" charset="2"/>
              <a:buChar char="ü"/>
              <a:defRPr/>
            </a:pPr>
            <a:r>
              <a:rPr kumimoji="0" lang="zh-CN" altLang="en-US" sz="2400" b="0" i="0" u="none" strike="noStrike" kern="1200" cap="none" spc="0" normalizeH="0" baseline="0" noProof="1">
                <a:ln>
                  <a:noFill/>
                </a:ln>
                <a:solidFill>
                  <a:schemeClr val="tx1"/>
                </a:solidFill>
                <a:effectLst/>
                <a:uLnTx/>
                <a:uFillTx/>
                <a:latin typeface="楷体" panose="02010609060101010101" pitchFamily="1" charset="-122"/>
                <a:ea typeface="楷体" panose="02010609060101010101" pitchFamily="1" charset="-122"/>
                <a:cs typeface="+mn-ea"/>
              </a:rPr>
              <a:t>熟练掌握创建、删除、修改三个命令针对数据库、日志、表、视图、索引各对象的操作命令，以及如何在创建表时定义各种约束。</a:t>
            </a:r>
            <a:endParaRPr kumimoji="0" lang="zh-CN" altLang="en-US" sz="2400" b="0" i="0" u="none" strike="noStrike" kern="1200" cap="none" spc="0" normalizeH="0" baseline="0" noProof="1">
              <a:ln>
                <a:noFill/>
              </a:ln>
              <a:solidFill>
                <a:schemeClr val="tx1"/>
              </a:solidFill>
              <a:effectLst/>
              <a:uLnTx/>
              <a:uFillTx/>
              <a:latin typeface="楷体" panose="02010609060101010101" pitchFamily="1" charset="-122"/>
              <a:ea typeface="楷体" panose="02010609060101010101" pitchFamily="1" charset="-122"/>
              <a:cs typeface="+mn-cs"/>
            </a:endParaRPr>
          </a:p>
        </p:txBody>
      </p:sp>
      <p:sp>
        <p:nvSpPr>
          <p:cNvPr id="3" name="Rectangle 3"/>
          <p:cNvSpPr txBox="1"/>
          <p:nvPr/>
        </p:nvSpPr>
        <p:spPr>
          <a:xfrm>
            <a:off x="596265" y="3429000"/>
            <a:ext cx="8152130" cy="2298065"/>
          </a:xfrm>
          <a:prstGeom prst="rect">
            <a:avLst/>
          </a:prstGeom>
          <a:noFill/>
          <a:ln w="9525">
            <a:noFill/>
          </a:ln>
        </p:spPr>
        <p:txBody>
          <a:bodyPr/>
          <a:p>
            <a:pPr marL="342900" marR="0" indent="-342900" defTabSz="914400" eaLnBrk="1" hangingPunct="1">
              <a:spcBef>
                <a:spcPct val="50000"/>
              </a:spcBef>
              <a:buClr>
                <a:srgbClr val="0033CC"/>
              </a:buClr>
              <a:buSzTx/>
              <a:buFont typeface="Wingdings" panose="05000000000000000000" pitchFamily="2" charset="2"/>
              <a:buChar char="p"/>
              <a:defRPr/>
            </a:pPr>
            <a:r>
              <a:rPr kumimoji="0" lang="en-US" altLang="x-none" sz="2400" kern="1200" cap="none" spc="0" normalizeH="0" baseline="0" noProof="1">
                <a:latin typeface="华文楷体" panose="02010600040101010101" pitchFamily="2" charset="-122"/>
                <a:ea typeface="宋体" panose="02010600030101010101" pitchFamily="2" charset="-122"/>
                <a:cs typeface="+mn-ea"/>
              </a:rPr>
              <a:t>DML</a:t>
            </a:r>
            <a:r>
              <a:rPr kumimoji="0" lang="zh-CN" altLang="en-US" sz="2400" kern="1200" cap="none" spc="0" normalizeH="0" baseline="0" noProof="1">
                <a:latin typeface="华文楷体" panose="02010600040101010101" pitchFamily="2" charset="-122"/>
                <a:ea typeface="宋体" panose="02010600030101010101" pitchFamily="2" charset="-122"/>
                <a:cs typeface="+mn-ea"/>
              </a:rPr>
              <a:t>的使用</a:t>
            </a:r>
            <a:endParaRPr kumimoji="0" lang="zh-CN" altLang="en-US" sz="2400" kern="1200" cap="none" spc="0" normalizeH="0" baseline="0" noProof="1">
              <a:latin typeface="华文楷体" panose="02010600040101010101" pitchFamily="2" charset="-122"/>
              <a:ea typeface="宋体" panose="02010600030101010101" pitchFamily="2" charset="-122"/>
              <a:cs typeface="+mn-cs"/>
            </a:endParaRPr>
          </a:p>
          <a:p>
            <a:pPr marL="742950" marR="0" lvl="1" indent="-285750" algn="l" defTabSz="914400" rtl="0" eaLnBrk="1" fontAlgn="base" latinLnBrk="0" hangingPunct="1">
              <a:lnSpc>
                <a:spcPct val="100000"/>
              </a:lnSpc>
              <a:spcBef>
                <a:spcPts val="600"/>
              </a:spcBef>
              <a:spcAft>
                <a:spcPct val="0"/>
              </a:spcAft>
              <a:buClr>
                <a:schemeClr val="accent2"/>
              </a:buClr>
              <a:buSzPct val="70000"/>
              <a:buFont typeface="Wingdings" panose="05000000000000000000" pitchFamily="2" charset="2"/>
              <a:buChar char="ü"/>
              <a:defRPr/>
            </a:pPr>
            <a:r>
              <a:rPr kumimoji="0" lang="zh-CN" altLang="en-US" sz="2400" b="0" i="0" u="none" strike="noStrike" kern="1200" cap="none" spc="0" normalizeH="0" baseline="0" noProof="1">
                <a:ln>
                  <a:noFill/>
                </a:ln>
                <a:solidFill>
                  <a:schemeClr val="tx1"/>
                </a:solidFill>
                <a:effectLst/>
                <a:uLnTx/>
                <a:uFillTx/>
                <a:latin typeface="楷体" panose="02010609060101010101" pitchFamily="1" charset="-122"/>
                <a:ea typeface="楷体" panose="02010609060101010101" pitchFamily="1" charset="-122"/>
                <a:cs typeface="+mn-ea"/>
              </a:rPr>
              <a:t>熟练掌握四个命令关键字：增、删、改、查询对表和视图的操作命令。</a:t>
            </a:r>
            <a:endParaRPr kumimoji="0" lang="zh-CN" altLang="en-US" sz="2400" b="0" i="0" u="none" strike="noStrike" kern="1200" cap="none" spc="0" normalizeH="0" baseline="0" noProof="1">
              <a:ln>
                <a:noFill/>
              </a:ln>
              <a:solidFill>
                <a:schemeClr val="tx1"/>
              </a:solidFill>
              <a:effectLst/>
              <a:uLnTx/>
              <a:uFillTx/>
              <a:latin typeface="楷体" panose="02010609060101010101" pitchFamily="1" charset="-122"/>
              <a:ea typeface="楷体" panose="02010609060101010101" pitchFamily="1" charset="-122"/>
              <a:cs typeface="+mn-cs"/>
            </a:endParaRPr>
          </a:p>
          <a:p>
            <a:pPr marL="742950" marR="0" lvl="1" indent="-285750" algn="l" defTabSz="914400" rtl="0" eaLnBrk="1" fontAlgn="base" latinLnBrk="0" hangingPunct="1">
              <a:lnSpc>
                <a:spcPct val="100000"/>
              </a:lnSpc>
              <a:spcBef>
                <a:spcPts val="600"/>
              </a:spcBef>
              <a:spcAft>
                <a:spcPct val="0"/>
              </a:spcAft>
              <a:buClr>
                <a:schemeClr val="accent2"/>
              </a:buClr>
              <a:buSzPct val="70000"/>
              <a:buFont typeface="Wingdings" panose="05000000000000000000" pitchFamily="2" charset="2"/>
              <a:buChar char="ü"/>
              <a:defRPr/>
            </a:pPr>
            <a:r>
              <a:rPr kumimoji="0" lang="zh-CN" altLang="en-US" sz="2400" b="0" i="0" u="none" strike="noStrike" kern="1200" cap="none" spc="0" normalizeH="0" baseline="0" noProof="1">
                <a:ln>
                  <a:noFill/>
                </a:ln>
                <a:solidFill>
                  <a:schemeClr val="tx1"/>
                </a:solidFill>
                <a:effectLst/>
                <a:uLnTx/>
                <a:uFillTx/>
                <a:latin typeface="楷体" panose="02010609060101010101" pitchFamily="1" charset="-122"/>
                <a:ea typeface="楷体" panose="02010609060101010101" pitchFamily="1" charset="-122"/>
                <a:cs typeface="+mn-ea"/>
              </a:rPr>
              <a:t>熟练使用</a:t>
            </a:r>
            <a:r>
              <a:rPr kumimoji="0" lang="en-US" altLang="x-none" sz="2400" b="0" i="0" u="none" strike="noStrike" kern="1200" cap="none" spc="0" normalizeH="0" baseline="0" noProof="1">
                <a:ln>
                  <a:noFill/>
                </a:ln>
                <a:solidFill>
                  <a:schemeClr val="tx1"/>
                </a:solidFill>
                <a:effectLst/>
                <a:uLnTx/>
                <a:uFillTx/>
                <a:latin typeface="楷体" panose="02010609060101010101" pitchFamily="1" charset="-122"/>
                <a:ea typeface="楷体" panose="02010609060101010101" pitchFamily="1" charset="-122"/>
                <a:cs typeface="+mn-ea"/>
              </a:rPr>
              <a:t>SELECT-FROM-WHERE</a:t>
            </a:r>
            <a:r>
              <a:rPr kumimoji="0" lang="zh-CN" altLang="en-US" sz="2400" b="0" i="0" u="none" strike="noStrike" kern="1200" cap="none" spc="0" normalizeH="0" baseline="0" noProof="1">
                <a:ln>
                  <a:noFill/>
                </a:ln>
                <a:solidFill>
                  <a:schemeClr val="tx1"/>
                </a:solidFill>
                <a:effectLst/>
                <a:uLnTx/>
                <a:uFillTx/>
                <a:latin typeface="楷体" panose="02010609060101010101" pitchFamily="1" charset="-122"/>
                <a:ea typeface="楷体" panose="02010609060101010101" pitchFamily="1" charset="-122"/>
                <a:cs typeface="+mn-ea"/>
              </a:rPr>
              <a:t>语句进行各种查询。</a:t>
            </a:r>
            <a:endParaRPr kumimoji="0" lang="zh-CN" altLang="en-US" sz="2400" b="0" i="0" u="none" strike="noStrike" kern="1200" cap="none" spc="0" normalizeH="0" baseline="0" noProof="1">
              <a:ln>
                <a:noFill/>
              </a:ln>
              <a:solidFill>
                <a:schemeClr val="tx1"/>
              </a:solidFill>
              <a:effectLst/>
              <a:uLnTx/>
              <a:uFillTx/>
              <a:latin typeface="楷体" panose="02010609060101010101" pitchFamily="1" charset="-122"/>
              <a:ea typeface="楷体" panose="02010609060101010101" pitchFamily="1" charset="-122"/>
              <a:cs typeface="+mn-cs"/>
            </a:endParaRPr>
          </a:p>
          <a:p>
            <a:pPr marL="457200" marR="0" lvl="1" indent="0" algn="l" defTabSz="914400" rtl="0" eaLnBrk="1" fontAlgn="base" latinLnBrk="0" hangingPunct="1">
              <a:lnSpc>
                <a:spcPct val="100000"/>
              </a:lnSpc>
              <a:spcBef>
                <a:spcPct val="50000"/>
              </a:spcBef>
              <a:spcAft>
                <a:spcPct val="0"/>
              </a:spcAft>
              <a:buClr>
                <a:srgbClr val="0033CC"/>
              </a:buClr>
              <a:buSzTx/>
              <a:buFont typeface="Wingdings" panose="05000000000000000000" pitchFamily="2" charset="2"/>
              <a:buNone/>
              <a:defRPr/>
            </a:pPr>
            <a:endParaRPr kumimoji="0" lang="zh-CN" altLang="en-US" sz="2400" b="1" i="0" u="none" strike="noStrike" kern="1200" cap="none" spc="0" normalizeH="0" baseline="0" noProof="1">
              <a:ln>
                <a:noFill/>
              </a:ln>
              <a:solidFill>
                <a:schemeClr val="tx1"/>
              </a:solidFill>
              <a:effectLst/>
              <a:uLnTx/>
              <a:uFillTx/>
              <a:latin typeface="华文楷体" panose="02010600040101010101" pitchFamily="2" charset="-122"/>
              <a:ea typeface="宋体" panose="02010600030101010101" pitchFamily="2" charset="-122"/>
              <a:cs typeface="+mn-cs"/>
            </a:endParaRPr>
          </a:p>
          <a:p>
            <a:pPr marL="742950" marR="0" lvl="1" indent="-285750" algn="l" defTabSz="914400" rtl="0" eaLnBrk="1" fontAlgn="base" latinLnBrk="0" hangingPunct="1">
              <a:lnSpc>
                <a:spcPct val="100000"/>
              </a:lnSpc>
              <a:spcBef>
                <a:spcPts val="600"/>
              </a:spcBef>
              <a:spcAft>
                <a:spcPct val="0"/>
              </a:spcAft>
              <a:buClr>
                <a:schemeClr val="accent2"/>
              </a:buClr>
              <a:buSzPct val="70000"/>
              <a:buFont typeface="Arial" panose="020B0604020202020204" pitchFamily="34" charset="0"/>
              <a:buNone/>
              <a:defRPr/>
            </a:pPr>
            <a:endParaRPr kumimoji="0" lang="zh-CN" altLang="en-US" sz="2400" b="0" i="0" u="none" strike="noStrike" kern="1200" cap="none" spc="0" normalizeH="0" baseline="0" noProof="1">
              <a:ln>
                <a:noFill/>
              </a:ln>
              <a:solidFill>
                <a:schemeClr val="tx1"/>
              </a:solidFill>
              <a:effectLst/>
              <a:uLnTx/>
              <a:uFillTx/>
              <a:latin typeface="楷体" panose="02010609060101010101" pitchFamily="1" charset="-122"/>
              <a:ea typeface="楷体" panose="02010609060101010101" pitchFamily="1"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22883">
                                            <p:txEl>
                                              <p:charRg st="0" end="8"/>
                                            </p:txEl>
                                          </p:spTgt>
                                        </p:tgtEl>
                                        <p:attrNameLst>
                                          <p:attrName>style.visibility</p:attrName>
                                        </p:attrNameLst>
                                      </p:cBhvr>
                                      <p:to>
                                        <p:strVal val="visible"/>
                                      </p:to>
                                    </p:set>
                                    <p:animEffect transition="in" filter="box(out)">
                                      <p:cBhvr>
                                        <p:cTn id="7" dur="500"/>
                                        <p:tgtEl>
                                          <p:spTgt spid="122883">
                                            <p:txEl>
                                              <p:charRg st="0" end="8"/>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additive="base">
                                        <p:cTn id="18" dur="500" fill="hold"/>
                                        <p:tgtEl>
                                          <p:spTgt spid="3"/>
                                        </p:tgtEl>
                                        <p:attrNameLst>
                                          <p:attrName>ppt_x</p:attrName>
                                        </p:attrNameLst>
                                      </p:cBhvr>
                                      <p:tavLst>
                                        <p:tav tm="0">
                                          <p:val>
                                            <p:strVal val="#ppt_x"/>
                                          </p:val>
                                        </p:tav>
                                        <p:tav tm="100000">
                                          <p:val>
                                            <p:strVal val="#ppt_x"/>
                                          </p:val>
                                        </p:tav>
                                      </p:tavLst>
                                    </p:anim>
                                    <p:anim calcmode="lin" valueType="num">
                                      <p:cBhvr additive="base">
                                        <p:cTn id="19"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83" grpId="0" bldLvl="2" build="p"/>
      <p:bldP spid="2" grpId="0"/>
      <p:bldP spid="2" grpId="1"/>
      <p:bldP spid="3" grpId="0"/>
      <p:bldP spid="3" grpId="1"/>
    </p:bldLst>
  </p:timing>
</p:sld>
</file>

<file path=ppt/tags/tag1.xml><?xml version="1.0" encoding="utf-8"?>
<p:tagLst xmlns:p="http://schemas.openxmlformats.org/presentationml/2006/main">
  <p:tag name="REFSHAPE" val="471124684"/>
  <p:tag name="KSO_WM_UNIT_PLACING_PICTURE_USER_VIEWPORT" val="{&quot;height&quot;:7230,&quot;width&quot;:10160}"/>
</p:tagLst>
</file>

<file path=ppt/tags/tag2.xml><?xml version="1.0" encoding="utf-8"?>
<p:tagLst xmlns:p="http://schemas.openxmlformats.org/presentationml/2006/main">
  <p:tag name="TABLE_ENDDRAG_ORIGIN_RECT" val="486*46"/>
  <p:tag name="TABLE_ENDDRAG_RECT" val="170*122*486*46"/>
</p:tagLst>
</file>

<file path=ppt/tags/tag3.xml><?xml version="1.0" encoding="utf-8"?>
<p:tagLst xmlns:p="http://schemas.openxmlformats.org/presentationml/2006/main">
  <p:tag name="TABLE_ENDDRAG_ORIGIN_RECT" val="402*34"/>
  <p:tag name="TABLE_ENDDRAG_RECT" val="170*114*402*34"/>
</p:tagLst>
</file>

<file path=ppt/tags/tag4.xml><?xml version="1.0" encoding="utf-8"?>
<p:tagLst xmlns:p="http://schemas.openxmlformats.org/presentationml/2006/main">
  <p:tag name="TABLE_ENDDRAG_ORIGIN_RECT" val="135*41"/>
  <p:tag name="TABLE_ENDDRAG_RECT" val="14*316*135*41"/>
</p:tagLst>
</file>

<file path=ppt/tags/tag5.xml><?xml version="1.0" encoding="utf-8"?>
<p:tagLst xmlns:p="http://schemas.openxmlformats.org/presentationml/2006/main">
  <p:tag name="TABLE_ENDDRAG_ORIGIN_RECT" val="135*34"/>
  <p:tag name="TABLE_ENDDRAG_RECT" val="14*477*135*34"/>
</p:tagLst>
</file>

<file path=ppt/tags/tag6.xml><?xml version="1.0" encoding="utf-8"?>
<p:tagLst xmlns:p="http://schemas.openxmlformats.org/presentationml/2006/main">
  <p:tag name="TABLE_ENDDRAG_ORIGIN_RECT" val="135*34"/>
  <p:tag name="TABLE_ENDDRAG_RECT" val="14*477*135*34"/>
</p:tagLst>
</file>

<file path=ppt/tags/tag7.xml><?xml version="1.0" encoding="utf-8"?>
<p:tagLst xmlns:p="http://schemas.openxmlformats.org/presentationml/2006/main">
  <p:tag name="TABLE_ENDDRAG_ORIGIN_RECT" val="135*34"/>
  <p:tag name="TABLE_ENDDRAG_RECT" val="14*477*135*34"/>
</p:tagLst>
</file>

<file path=ppt/tags/tag8.xml><?xml version="1.0" encoding="utf-8"?>
<p:tagLst xmlns:p="http://schemas.openxmlformats.org/presentationml/2006/main">
  <p:tag name="KSO_WM_DIAGRAM_VIRTUALLY_FRAME" val="{&quot;height&quot;:136.6,&quot;left&quot;:34.05,&quot;top&quot;:72.5,&quot;width&quot;:649.95}"/>
</p:tagLst>
</file>

<file path=ppt/tags/tag9.xml><?xml version="1.0" encoding="utf-8"?>
<p:tagLst xmlns:p="http://schemas.openxmlformats.org/presentationml/2006/main">
  <p:tag name="KSO_WM_DIAGRAM_VIRTUALLY_FRAME" val="{&quot;height&quot;:136.6,&quot;left&quot;:34.05,&quot;top&quot;:72.5,&quot;width&quot;:649.95}"/>
</p:tagLst>
</file>

<file path=ppt/tags/tag10.xml><?xml version="1.0" encoding="utf-8"?>
<p:tagLst xmlns:p="http://schemas.openxmlformats.org/presentationml/2006/main">
  <p:tag name="KSO_WM_DIAGRAM_VIRTUALLY_FRAME" val="{&quot;height&quot;:136.6,&quot;left&quot;:34.05,&quot;top&quot;:72.5,&quot;width&quot;:649.95}"/>
</p:tagLst>
</file>

<file path=ppt/tags/tag11.xml><?xml version="1.0" encoding="utf-8"?>
<p:tagLst xmlns:p="http://schemas.openxmlformats.org/presentationml/2006/main">
  <p:tag name="KSO_WM_DIAGRAM_VIRTUALLY_FRAME" val="{&quot;height&quot;:136.6,&quot;left&quot;:34.05,&quot;top&quot;:72.5,&quot;width&quot;:649.95}"/>
</p:tagLst>
</file>

<file path=ppt/tags/tag12.xml><?xml version="1.0" encoding="utf-8"?>
<p:tagLst xmlns:p="http://schemas.openxmlformats.org/presentationml/2006/main">
  <p:tag name="KSO_WM_DIAGRAM_VIRTUALLY_FRAME" val="{&quot;height&quot;:136.6,&quot;left&quot;:34.05,&quot;top&quot;:72.5,&quot;width&quot;:649.95}"/>
</p:tagLst>
</file>

<file path=ppt/tags/tag13.xml><?xml version="1.0" encoding="utf-8"?>
<p:tagLst xmlns:p="http://schemas.openxmlformats.org/presentationml/2006/main">
  <p:tag name="KSO_WM_DIAGRAM_VIRTUALLY_FRAME" val="{&quot;height&quot;:136.6,&quot;left&quot;:34.05,&quot;top&quot;:72.5,&quot;width&quot;:649.95}"/>
</p:tagLst>
</file>

<file path=ppt/tags/tag14.xml><?xml version="1.0" encoding="utf-8"?>
<p:tagLst xmlns:p="http://schemas.openxmlformats.org/presentationml/2006/main">
  <p:tag name="TABLE_ENDDRAG_ORIGIN_RECT" val="676*225"/>
  <p:tag name="TABLE_ENDDRAG_RECT" val="26*290*676*225"/>
</p:tagLst>
</file>

<file path=ppt/tags/tag15.xml><?xml version="1.0" encoding="utf-8"?>
<p:tagLst xmlns:p="http://schemas.openxmlformats.org/presentationml/2006/main">
  <p:tag name="TABLE_ENDDRAG_ORIGIN_RECT" val="676*225"/>
  <p:tag name="TABLE_ENDDRAG_RECT" val="26*290*676*225"/>
</p:tagLst>
</file>

<file path=ppt/tags/tag16.xml><?xml version="1.0" encoding="utf-8"?>
<p:tagLst xmlns:p="http://schemas.openxmlformats.org/presentationml/2006/main">
  <p:tag name="TABLE_ENDDRAG_ORIGIN_RECT" val="655*222"/>
  <p:tag name="TABLE_ENDDRAG_RECT" val="39*174*655*222"/>
</p:tagLst>
</file>

<file path=ppt/tags/tag17.xml><?xml version="1.0" encoding="utf-8"?>
<p:tagLst xmlns:p="http://schemas.openxmlformats.org/presentationml/2006/main">
  <p:tag name="KSO_WM_DIAGRAM_VIRTUALLY_FRAME" val="{&quot;height&quot;:136.6,&quot;left&quot;:34.05,&quot;top&quot;:72.5,&quot;width&quot;:649.95}"/>
</p:tagLst>
</file>

<file path=ppt/tags/tag18.xml><?xml version="1.0" encoding="utf-8"?>
<p:tagLst xmlns:p="http://schemas.openxmlformats.org/presentationml/2006/main">
  <p:tag name="KSO_WM_DIAGRAM_VIRTUALLY_FRAME" val="{&quot;height&quot;:136.6,&quot;left&quot;:34.05,&quot;top&quot;:72.5,&quot;width&quot;:649.95}"/>
</p:tagLst>
</file>

<file path=ppt/tags/tag19.xml><?xml version="1.0" encoding="utf-8"?>
<p:tagLst xmlns:p="http://schemas.openxmlformats.org/presentationml/2006/main">
  <p:tag name="TABLE_ENDDRAG_ORIGIN_RECT" val="633*186"/>
  <p:tag name="TABLE_ENDDRAG_RECT" val="56*300*633*186"/>
</p:tagLst>
</file>

<file path=ppt/tags/tag20.xml><?xml version="1.0" encoding="utf-8"?>
<p:tagLst xmlns:p="http://schemas.openxmlformats.org/presentationml/2006/main">
  <p:tag name="KSO_WM_DIAGRAM_VIRTUALLY_FRAME" val="{&quot;height&quot;:136.6,&quot;left&quot;:34.05,&quot;top&quot;:72.5,&quot;width&quot;:649.95}"/>
</p:tagLst>
</file>

<file path=ppt/tags/tag21.xml><?xml version="1.0" encoding="utf-8"?>
<p:tagLst xmlns:p="http://schemas.openxmlformats.org/presentationml/2006/main">
  <p:tag name="TABLE_ENDDRAG_ORIGIN_RECT" val="653*339"/>
  <p:tag name="TABLE_ENDDRAG_RECT" val="36*137*653*339"/>
</p:tagLst>
</file>

<file path=ppt/tags/tag22.xml><?xml version="1.0" encoding="utf-8"?>
<p:tagLst xmlns:p="http://schemas.openxmlformats.org/presentationml/2006/main">
  <p:tag name="TABLE_ENDDRAG_ORIGIN_RECT" val="390*55"/>
  <p:tag name="TABLE_ENDDRAG_RECT" val="170*116*390*55"/>
</p:tagLst>
</file>

<file path=ppt/tags/tag23.xml><?xml version="1.0" encoding="utf-8"?>
<p:tagLst xmlns:p="http://schemas.openxmlformats.org/presentationml/2006/main">
  <p:tag name="KSO_WM_DIAGRAM_VIRTUALLY_FRAME" val="{&quot;height&quot;:134.2,&quot;left&quot;:34.05,&quot;top&quot;:72.5,&quot;width&quot;:649.95}"/>
</p:tagLst>
</file>

<file path=ppt/tags/tag24.xml><?xml version="1.0" encoding="utf-8"?>
<p:tagLst xmlns:p="http://schemas.openxmlformats.org/presentationml/2006/main">
  <p:tag name="KSO_WM_DIAGRAM_VIRTUALLY_FRAME" val="{&quot;height&quot;:134.2,&quot;left&quot;:34.05,&quot;top&quot;:72.5,&quot;width&quot;:649.95}"/>
</p:tagLst>
</file>

<file path=ppt/tags/tag25.xml><?xml version="1.0" encoding="utf-8"?>
<p:tagLst xmlns:p="http://schemas.openxmlformats.org/presentationml/2006/main">
  <p:tag name="KSO_WM_DIAGRAM_VIRTUALLY_FRAME" val="{&quot;height&quot;:134.2,&quot;left&quot;:34.05,&quot;top&quot;:72.5,&quot;width&quot;:649.95}"/>
</p:tagLst>
</file>

<file path=ppt/tags/tag26.xml><?xml version="1.0" encoding="utf-8"?>
<p:tagLst xmlns:p="http://schemas.openxmlformats.org/presentationml/2006/main">
  <p:tag name="KSO_WM_DIAGRAM_VIRTUALLY_FRAME" val="{&quot;height&quot;:134.2,&quot;left&quot;:34.05,&quot;top&quot;:72.5,&quot;width&quot;:649.95}"/>
</p:tagLst>
</file>

<file path=ppt/tags/tag27.xml><?xml version="1.0" encoding="utf-8"?>
<p:tagLst xmlns:p="http://schemas.openxmlformats.org/presentationml/2006/main">
  <p:tag name="KSO_WM_DIAGRAM_VIRTUALLY_FRAME" val="{&quot;height&quot;:134.2,&quot;left&quot;:34.05,&quot;top&quot;:72.5,&quot;width&quot;:649.95}"/>
</p:tagLst>
</file>

<file path=ppt/tags/tag28.xml><?xml version="1.0" encoding="utf-8"?>
<p:tagLst xmlns:p="http://schemas.openxmlformats.org/presentationml/2006/main">
  <p:tag name="KSO_WM_DIAGRAM_VIRTUALLY_FRAME" val="{&quot;height&quot;:134.2,&quot;left&quot;:34.05,&quot;top&quot;:72.5,&quot;width&quot;:649.95}"/>
</p:tagLst>
</file>

<file path=ppt/tags/tag29.xml><?xml version="1.0" encoding="utf-8"?>
<p:tagLst xmlns:p="http://schemas.openxmlformats.org/presentationml/2006/main">
  <p:tag name="KSO_WM_DIAGRAM_VIRTUALLY_FRAME" val="{&quot;height&quot;:136.6,&quot;left&quot;:34.05,&quot;top&quot;:72.5,&quot;width&quot;:649.95}"/>
</p:tagLst>
</file>

<file path=ppt/tags/tag30.xml><?xml version="1.0" encoding="utf-8"?>
<p:tagLst xmlns:p="http://schemas.openxmlformats.org/presentationml/2006/main">
  <p:tag name="KSO_WM_DIAGRAM_VIRTUALLY_FRAME" val="{&quot;height&quot;:136.6,&quot;left&quot;:34.05,&quot;top&quot;:72.5,&quot;width&quot;:649.95}"/>
</p:tagLst>
</file>

<file path=ppt/tags/tag31.xml><?xml version="1.0" encoding="utf-8"?>
<p:tagLst xmlns:p="http://schemas.openxmlformats.org/presentationml/2006/main">
  <p:tag name="KSO_WM_DIAGRAM_VIRTUALLY_FRAME" val="{&quot;height&quot;:136.6,&quot;left&quot;:34.05,&quot;top&quot;:72.5,&quot;width&quot;:649.95}"/>
</p:tagLst>
</file>

<file path=ppt/tags/tag32.xml><?xml version="1.0" encoding="utf-8"?>
<p:tagLst xmlns:p="http://schemas.openxmlformats.org/presentationml/2006/main">
  <p:tag name="KSO_WM_DIAGRAM_VIRTUALLY_FRAME" val="{&quot;height&quot;:136.6,&quot;left&quot;:34.05,&quot;top&quot;:72.5,&quot;width&quot;:649.95}"/>
</p:tagLst>
</file>

<file path=ppt/tags/tag33.xml><?xml version="1.0" encoding="utf-8"?>
<p:tagLst xmlns:p="http://schemas.openxmlformats.org/presentationml/2006/main">
  <p:tag name="KSO_WM_DIAGRAM_VIRTUALLY_FRAME" val="{&quot;height&quot;:134.2,&quot;left&quot;:34.05,&quot;top&quot;:72.5,&quot;width&quot;:649.95}"/>
</p:tagLst>
</file>

<file path=ppt/tags/tag34.xml><?xml version="1.0" encoding="utf-8"?>
<p:tagLst xmlns:p="http://schemas.openxmlformats.org/presentationml/2006/main">
  <p:tag name="KSO_WM_DIAGRAM_VIRTUALLY_FRAME" val="{&quot;height&quot;:134.2,&quot;left&quot;:34.05,&quot;top&quot;:72.5,&quot;width&quot;:649.95}"/>
</p:tagLst>
</file>

<file path=ppt/tags/tag35.xml><?xml version="1.0" encoding="utf-8"?>
<p:tagLst xmlns:p="http://schemas.openxmlformats.org/presentationml/2006/main">
  <p:tag name="KSO_WM_DIAGRAM_VIRTUALLY_FRAME" val="{&quot;height&quot;:134.2,&quot;left&quot;:34.05,&quot;top&quot;:72.5,&quot;width&quot;:649.95}"/>
</p:tagLst>
</file>

<file path=ppt/tags/tag36.xml><?xml version="1.0" encoding="utf-8"?>
<p:tagLst xmlns:p="http://schemas.openxmlformats.org/presentationml/2006/main">
  <p:tag name="KSO_WM_DIAGRAM_VIRTUALLY_FRAME" val="{&quot;height&quot;:134.2,&quot;left&quot;:34.05,&quot;top&quot;:72.5,&quot;width&quot;:649.95}"/>
</p:tagLst>
</file>

<file path=ppt/tags/tag37.xml><?xml version="1.0" encoding="utf-8"?>
<p:tagLst xmlns:p="http://schemas.openxmlformats.org/presentationml/2006/main">
  <p:tag name="TABLE_ENDDRAG_ORIGIN_RECT" val="269*31"/>
  <p:tag name="TABLE_ENDDRAG_RECT" val="170*194*269*31"/>
</p:tagLst>
</file>

<file path=ppt/tags/tag38.xml><?xml version="1.0" encoding="utf-8"?>
<p:tagLst xmlns:p="http://schemas.openxmlformats.org/presentationml/2006/main">
  <p:tag name="KSO_WM_DIAGRAM_VIRTUALLY_FRAME" val="{&quot;height&quot;:134.2,&quot;left&quot;:34.05,&quot;top&quot;:72.5,&quot;width&quot;:649.95}"/>
</p:tagLst>
</file>

<file path=ppt/tags/tag39.xml><?xml version="1.0" encoding="utf-8"?>
<p:tagLst xmlns:p="http://schemas.openxmlformats.org/presentationml/2006/main">
  <p:tag name="KSO_WM_DIAGRAM_VIRTUALLY_FRAME" val="{&quot;height&quot;:134.2,&quot;left&quot;:34.05,&quot;top&quot;:72.5,&quot;width&quot;:649.95}"/>
</p:tagLst>
</file>

<file path=ppt/tags/tag40.xml><?xml version="1.0" encoding="utf-8"?>
<p:tagLst xmlns:p="http://schemas.openxmlformats.org/presentationml/2006/main">
  <p:tag name="KSO_WM_DIAGRAM_VIRTUALLY_FRAME" val="{&quot;height&quot;:134.2,&quot;left&quot;:34.05,&quot;top&quot;:72.5,&quot;width&quot;:649.95}"/>
</p:tagLst>
</file>

<file path=ppt/tags/tag41.xml><?xml version="1.0" encoding="utf-8"?>
<p:tagLst xmlns:p="http://schemas.openxmlformats.org/presentationml/2006/main">
  <p:tag name="KSO_WM_DIAGRAM_VIRTUALLY_FRAME" val="{&quot;height&quot;:134.2,&quot;left&quot;:34.05,&quot;top&quot;:72.5,&quot;width&quot;:649.95}"/>
</p:tagLst>
</file>

<file path=ppt/tags/tag42.xml><?xml version="1.0" encoding="utf-8"?>
<p:tagLst xmlns:p="http://schemas.openxmlformats.org/presentationml/2006/main">
  <p:tag name="commondata" val="eyJoZGlkIjoiN2MwNGZlODUyOThjOGE4NWQyMjhmMDY2NzI1NjFkNGEifQ=="/>
</p:tagLst>
</file>

<file path=ppt/theme/theme1.xml><?xml version="1.0" encoding="utf-8"?>
<a:theme xmlns:a="http://schemas.openxmlformats.org/drawingml/2006/main" name="1_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黑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l">
          <a:lnSpc>
            <a:spcPct val="90000"/>
          </a:lnSpc>
          <a:buNone/>
          <a:defRPr lang="zh-CN" altLang="en-US" sz="1600" strike="noStrike" noProof="1">
            <a:solidFill>
              <a:srgbClr val="FF0000"/>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黑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3C1DA"/>
      </a:accent5>
      <a:accent6>
        <a:srgbClr val="AC4744"/>
      </a:accent6>
      <a:hlink>
        <a:srgbClr val="0000FF"/>
      </a:hlink>
      <a:folHlink>
        <a:srgbClr val="800080"/>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Balance</Template>
  <TotalTime>0</TotalTime>
  <Words>47099</Words>
  <Application>WPS 演示</Application>
  <PresentationFormat>全屏显示(4:3)</PresentationFormat>
  <Paragraphs>3582</Paragraphs>
  <Slides>137</Slides>
  <Notes>7</Notes>
  <HiddenSlides>0</HiddenSlides>
  <MMClips>0</MMClips>
  <ScaleCrop>false</ScaleCrop>
  <HeadingPairs>
    <vt:vector size="8" baseType="variant">
      <vt:variant>
        <vt:lpstr>已用的字体</vt:lpstr>
      </vt:variant>
      <vt:variant>
        <vt:i4>18</vt:i4>
      </vt:variant>
      <vt:variant>
        <vt:lpstr>主题</vt:lpstr>
      </vt:variant>
      <vt:variant>
        <vt:i4>2</vt:i4>
      </vt:variant>
      <vt:variant>
        <vt:lpstr>嵌入 OLE 服务器</vt:lpstr>
      </vt:variant>
      <vt:variant>
        <vt:i4>7</vt:i4>
      </vt:variant>
      <vt:variant>
        <vt:lpstr>幻灯片标题</vt:lpstr>
      </vt:variant>
      <vt:variant>
        <vt:i4>137</vt:i4>
      </vt:variant>
    </vt:vector>
  </HeadingPairs>
  <TitlesOfParts>
    <vt:vector size="164" baseType="lpstr">
      <vt:lpstr>Arial</vt:lpstr>
      <vt:lpstr>宋体</vt:lpstr>
      <vt:lpstr>Wingdings</vt:lpstr>
      <vt:lpstr>楷体_GB2312</vt:lpstr>
      <vt:lpstr>Times New Roman</vt:lpstr>
      <vt:lpstr>黑体</vt:lpstr>
      <vt:lpstr>新宋体</vt:lpstr>
      <vt:lpstr>楷体</vt:lpstr>
      <vt:lpstr>方正舒体</vt:lpstr>
      <vt:lpstr>华文楷体</vt:lpstr>
      <vt:lpstr>方正姚体</vt:lpstr>
      <vt:lpstr>Wingdings</vt:lpstr>
      <vt:lpstr>华文中宋</vt:lpstr>
      <vt:lpstr>微软雅黑</vt:lpstr>
      <vt:lpstr>Arial Unicode MS</vt:lpstr>
      <vt:lpstr>Calibri</vt:lpstr>
      <vt:lpstr>Arial Black</vt:lpstr>
      <vt:lpstr>Tahoma</vt:lpstr>
      <vt:lpstr>1_默认设计模板</vt:lpstr>
      <vt:lpstr>2_默认设计模板</vt:lpstr>
      <vt:lpstr>Paint.Picture</vt:lpstr>
      <vt:lpstr>Paint.Picture</vt:lpstr>
      <vt:lpstr>Paint.Picture</vt:lpstr>
      <vt:lpstr>Paint.Picture</vt:lpstr>
      <vt:lpstr>Paint.Picture</vt:lpstr>
      <vt:lpstr>Paint.Picture</vt:lpstr>
      <vt:lpstr>Paint.Picture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王淑营</dc:creator>
  <cp:lastModifiedBy>youzc</cp:lastModifiedBy>
  <cp:revision>3000</cp:revision>
  <dcterms:created xsi:type="dcterms:W3CDTF">2001-06-18T05:13:00Z</dcterms:created>
  <dcterms:modified xsi:type="dcterms:W3CDTF">2026-03-05T06:25:48Z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486045D9F2CE4630A625CFC15784ECC6_13</vt:lpwstr>
  </property>
</Properties>
</file>